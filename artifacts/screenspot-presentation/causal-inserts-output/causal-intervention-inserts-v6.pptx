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158ca2838b4ee2" /><Relationship Type="http://schemas.openxmlformats.org/officeDocument/2006/relationships/extended-properties" Target="/docProps/app.xml" Id="R27eba13539344138" /><Relationship Type="http://schemas.openxmlformats.org/officeDocument/2006/relationships/officeDocument" Target="/ppt/presentation.xml" Id="R1d5f0dbea1284f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e41af5fea84317"/>
  </p:sldMasterIdLst>
  <p:notesMasterIdLst>
    <p:notesMasterId xmlns:r="http://schemas.openxmlformats.org/officeDocument/2006/relationships" r:id="R7f0c3ae10e2143d7"/>
  </p:notesMasterIdLst>
  <p:sldIdLst>
    <p:sldId xmlns:r="http://schemas.openxmlformats.org/officeDocument/2006/relationships" id="256" r:id="R065db98a45e34348"/>
    <p:sldId xmlns:r="http://schemas.openxmlformats.org/officeDocument/2006/relationships" id="257" r:id="R6fa9e3245db64c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b71502c5024036" /><Relationship Type="http://schemas.openxmlformats.org/officeDocument/2006/relationships/slideMaster" Target="/ppt/slideMasters/slideMaster1.xml" Id="R72e41af5fea84317" /><Relationship Type="http://schemas.openxmlformats.org/officeDocument/2006/relationships/notesMaster" Target="/ppt/notesMasters/notesMaster1.xml" Id="R7f0c3ae10e2143d7" /><Relationship Type="http://schemas.openxmlformats.org/officeDocument/2006/relationships/presProps" Target="/ppt/presProps.xml" Id="R50079df1f17b4451" /><Relationship Type="http://schemas.openxmlformats.org/officeDocument/2006/relationships/tableStyles" Target="/ppt/tableStyles.xml" Id="Rbbeea5f6eb764234" /><Relationship Type="http://schemas.openxmlformats.org/officeDocument/2006/relationships/slide" Target="/ppt/slides/slide1.xml" Id="R065db98a45e34348" /><Relationship Type="http://schemas.openxmlformats.org/officeDocument/2006/relationships/slide" Target="/ppt/slides/slide2.xml" Id="R6fa9e3245db64c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54e3d722ca4c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c2daa316e4cc8" /><Relationship Type="http://schemas.openxmlformats.org/officeDocument/2006/relationships/notesMaster" Target="/ppt/notesMasters/notesMaster1.xml" Id="Rb7732815357247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d3ebbcd7ce144c8" /><Relationship Type="http://schemas.openxmlformats.org/officeDocument/2006/relationships/notesMaster" Target="/ppt/notesMasters/notesMaster1.xml" Id="R258b2bab4de44d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Completed preregistered experiment. Prompt contract: src/demo/screenspot.py build_screenspot_request. Phase-A manifests: benchmarks/activation_patching/qwen_holo_action_panel_v1. Phase-B manifests: benchmarks/activation_patching/qwen_holo_action_panel_v1_phase_b_layer15. Native 2880x1800; image tokens precede instruction tokens.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Phase A results: 8 mirrored official localization requests, native 2880x1800. Layer-15 full coordinate residual restoration median: Holo 1.254 nats vs Qwen 0.298. Phase B was preregistered after the Phase-A Holo gate: x-only residual and all 16 heads at layer 15. Phase-B residual medians: Holo restoration 1.010 nats, recovery 0.067, ablation 4.514; Qwen restoration 0.102, recovery 0.013, ablation 6.274. Paired Holo-Qwen restoration difference median +0.718 in 7/8. Head 1: Holo median +0.535 vs Qwen +0.356, so no Holo-exclusive head. Sources: data/remote-results/qwen-holo-action-panel-v1-20260922 and data/remote-results/qwen-holo-action-panel-v1-20260922-phase-b-layer15.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79df57aac4f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b3717d954e4e73" /><Relationship Type="http://schemas.openxmlformats.org/officeDocument/2006/relationships/slideLayout" Target="/ppt/slideLayouts/slideLayout1.xml" Id="Rca41faafeb5443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41faafeb5443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bdbb4736040d3" /><Relationship Type="http://schemas.openxmlformats.org/officeDocument/2006/relationships/image" Target="/ppt/media/image.png" Id="R43d199f3e8e14c70" /><Relationship Type="http://schemas.openxmlformats.org/officeDocument/2006/relationships/image" Target="/ppt/media/image2.png" Id="R9c50a7307bcb416d" /><Relationship Type="http://schemas.openxmlformats.org/officeDocument/2006/relationships/notesSlide" Target="/ppt/notesSlides/notesSlide1.xml" Id="Rbb8f916197474d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58723c8c1434d" /><Relationship Type="http://schemas.openxmlformats.org/officeDocument/2006/relationships/notesSlide" Target="/ppt/notesSlides/notesSlide2.xml" Id="R3f1df9b96a3e4b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A233C7-0B5F-4E3C-B462-9B0DAF2B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rPr>
              <a:t>PRE-REGISTERED QWEN TO HOLO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256FB-E851-45ED-AF40-5DD503BB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Where visual evidence becomes a coordinate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2474F-BD55-4852-9283-EE8C9156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28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4D4C6-E491-4C97-B1D0-92FBAA78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Completed on eight mirrored prompts: same official request, native image resolution, and teacher-forced coordinate strings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FB39A-AA32-4A9A-A504-EA34DA9E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A87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BD2331-5E81-4FB7-93CA-35C95CF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647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CLEAN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d199f3e8e14c70"/>
          <a:srcRect xmlns:a="http://schemas.openxmlformats.org/drawingml/2006/main" l="16533" t="0" r="16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924050"/>
            <a:ext cx="2381250" cy="1581150"/>
          </a:xfrm>
          <a:prstGeom xmlns:a="http://schemas.openxmlformats.org/drawingml/2006/main" prst="roundRect">
            <a:avLst>
              <a:gd name="adj" fmla="val 72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E7E58-821F-4CEA-B090-3CA6C65B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D4C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285F6-158D-457B-A523-0B82C54B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Original image</a:t>
            </a:r>
          </a:p>
          <a:p xmlns:a="http://schemas.openxmlformats.org/drawingml/2006/main">
            <a:pPr algn="l">
              <a:defRPr sz="10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Psychedelic tile at x=482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6C7C1B-5B89-4D6D-B746-18E7EB90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800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E970C-A224-44F9-9CB3-3404815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6477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CORRUPT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0a7307bcb416d"/>
          <a:srcRect xmlns:a="http://schemas.openxmlformats.org/drawingml/2006/main" l="16533" t="0" r="16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4648200"/>
            <a:ext cx="2381250" cy="1581150"/>
          </a:xfrm>
          <a:prstGeom xmlns:a="http://schemas.openxmlformats.org/drawingml/2006/main" prst="roundRect">
            <a:avLst>
              <a:gd name="adj" fmla="val 7229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13820-3196-4D0A-A783-D2ADBCC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2381250" cy="1581150"/>
          </a:xfrm>
          <a:prstGeom xmlns:a="http://schemas.openxmlformats.org/drawingml/2006/main" prst="roundRect">
            <a:avLst>
              <a:gd name="adj" fmla="val 481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9D4C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0E9BB-5E9B-47E3-B5F4-22B87FA2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25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Only two 200×172 tiles swap</a:t>
            </a:r>
          </a:p>
          <a:p xmlns:a="http://schemas.openxmlformats.org/drawingml/2006/main">
            <a:pPr algn="l">
              <a:defRPr sz="90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No resize, no prompt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5FB45D-C452-4308-AB69-403392A9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305800" cy="4686300"/>
          </a:xfrm>
          <a:prstGeom xmlns:a="http://schemas.openxmlformats.org/drawingml/2006/main" prst="roundRect">
            <a:avLst>
              <a:gd name="adj" fmla="val 16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329CB-0F82-4EFA-A931-4DFD9F21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907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rPr>
              <a:t>ONE CAUSAL SEQUENCE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FEA192-E913-42E7-9588-18B3C43B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00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Image tokens precede the instruction. The final blocks cover every teacher-forced coordinate digit.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DD2320-7677-4100-AE63-8DE8ADC8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723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A9955-E180-4250-9C9C-716979EA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1638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CF9"/>
          </a:solidFill>
          <a:ln xmlns:a="http://schemas.openxmlformats.org/drawingml/2006/main" w="9525">
            <a:solidFill>
              <a:srgbClr val="2D84D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473CD-6DF9-49FF-B3F1-343559A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1750"/>
            <a:ext cx="1409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rPr>
              <a:t>VISION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76B4E-C860-450E-B6CF-67B4A66C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09875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patches → image residuals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787744-53BD-41E9-9D93-AD15CCC1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5E2F6-3CA9-4EA7-9F66-5B7761A6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457450"/>
            <a:ext cx="17907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1C273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821382-DAB2-453A-8DE1-A6F06C43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7175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rPr>
              <a:t>INSTRUCTION TOKENS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C20B0-ED09-4C2F-9ACA-C835CAE6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9875"/>
            <a:ext cx="160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Create a "Psychedelic"…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6BB0F-2FE4-4F88-B480-066C430A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86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0B5BEF-6616-498D-8399-001AD3CD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57450"/>
            <a:ext cx="895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2D9"/>
          </a:solidFill>
          <a:ln xmlns:a="http://schemas.openxmlformats.org/drawingml/2006/main" w="9525">
            <a:solidFill>
              <a:srgbClr val="F05A3C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81E78-C1D8-4D93-AA4F-49A058E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5A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05A3C"/>
                </a:solidFill>
                <a:latin typeface="Helvetica Neue"/>
                <a:ea typeface="Helvetica Neue"/>
                <a:cs typeface="Helvetica Neue"/>
              </a:rPr>
              <a:t>JSON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EC1C5C-3D0E-4025-BA7A-BDA9061E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098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{ "x": 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030938-3197-4CC3-8823-650B2626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057A5D-92F7-41CB-9E2F-A2052535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10668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2D9"/>
          </a:solidFill>
          <a:ln xmlns:a="http://schemas.openxmlformats.org/drawingml/2006/main" w="9525">
            <a:solidFill>
              <a:srgbClr val="F05A3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5F7BB3-2D91-42B8-9072-CE4B468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7175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05A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05A3C"/>
                </a:solidFill>
                <a:latin typeface="Helvetica Neue"/>
                <a:ea typeface="Helvetica Neue"/>
                <a:cs typeface="Helvetica Neue"/>
              </a:rPr>
              <a:t>X DIGITS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B03AF6-30FC-4F5B-86A8-B8985D8A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098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482  primary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15A335-D7BB-42F4-8CED-83FB1A59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860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56063B-377B-47AC-A779-92EC4341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457450"/>
            <a:ext cx="1009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18A875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C0FFE4-CF1D-493E-BF9C-FD21406D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717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8A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18A875"/>
                </a:solidFill>
                <a:latin typeface="Helvetica Neue"/>
                <a:ea typeface="Helvetica Neue"/>
                <a:cs typeface="Helvetica Neue"/>
              </a:rPr>
              <a:t>Y DIGITS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8FE85B-7782-4409-90F5-15B8570F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809875"/>
            <a:ext cx="819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351  matched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8AFE54-1FFB-4005-BD9C-839BE9A7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385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Interchange clean activation into the corrupted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101D2D-0DC5-4A33-8F32-105E3AA0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81450"/>
            <a:ext cx="3295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DECF9"/>
          </a:solidFill>
          <a:ln xmlns:a="http://schemas.openxmlformats.org/drawingml/2006/main" w="9525">
            <a:solidFill>
              <a:srgbClr val="2D84D3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F96EF8-B2BC-430A-A67C-88C6A84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719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D84D3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4ED154-9FFD-439A-8182-4EEE4B19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00525"/>
            <a:ext cx="1466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1. VISUAL EVIDENCE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C75681-E493-4713-9959-CA1C6793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2895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Patch the target or distractor image-region residual. This tests sensory evidence, not instruction selectivity.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E871D0-CD92-433E-8DB7-694916D8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39433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CE2D9"/>
          </a:solidFill>
          <a:ln xmlns:a="http://schemas.openxmlformats.org/drawingml/2006/main" w="9525">
            <a:solidFill>
              <a:srgbClr val="F05A3C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5C978C-4EC1-4448-A48D-0D1AFDF8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7195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89477E-25F1-4D1C-B177-DF288D42E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00525"/>
            <a:ext cx="1466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2. ACTION READOUT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62A9D16-3936-4AE8-811F-B02B85DA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Phase A patches all x+y positions. Phase B repeats the selected layer with x-only residual and head patches; y is matched in this horizontal panel.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493C88-E363-47E4-93C2-B1DB85D1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61975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Primary measure: Mxy = log p(target x,y) − log p(distractor x,y). Phase-B measure: Mx only. Compare clean→corrupt recovery and paired clean ablation in Qwen and Holo.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41A74B-EA88-4A0F-B1FB-0C7315D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A839DC-42F0-4CA9-AC41-2460E208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Four equal-tile pairs × two mirrored instructions. Native 2880×1800 input. Official VisualLocalizerOutput JSON contract.</a:t>
            </a:r>
          </a:p>
        </p:txBody>
      </p:sp>
    </p:spTree>
    <p:extLst>
      <p:ext uri="{BB962C8B-B14F-4D97-AF65-F5344CB8AC3E}">
        <p14:creationId xmlns:p14="http://schemas.microsoft.com/office/powerpoint/2010/main" val="1670564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5B241C-BDD4-4604-BECB-7B1B1137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81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rPr>
              <a:t>QWEN TO HOLO CAUSAL CONTRAST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41783-7EE8-4D1F-861D-1F3681E1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Fine-tuning strengthens a mid-layer action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FCE56E-F2D4-43F1-A768-641E4257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286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87142-C9F0-4684-A6E4-272FD67E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No single-head circuit: eight mirrored swaps; Holo processor, official JSON contract, and native 2880×1800 input held fixed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D2A97-C592-4B3C-A82B-E88D094E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18A87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DCFF7-5977-40C4-A6EF-796E43F1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247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A87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FBA3D8-F534-4588-8774-E441FCA0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43075"/>
            <a:ext cx="23241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PHASE B · LAYER 15 · X-ONLY RESIDUAL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26EF4-3112-4AC7-B10D-2DC84FCB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A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A875"/>
                </a:solidFill>
                <a:latin typeface="Helvetica Neue"/>
                <a:ea typeface="Helvetica Neue"/>
                <a:cs typeface="Helvetica Neue"/>
              </a:rPr>
              <a:t>Holo  +1.01 nats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95EB4-F28C-482E-985D-F1ABEE5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rPr>
              <a:t>Qwen  +0.10 nats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EEAA5-AD2B-4277-A172-95FC3FBB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66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88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Median clean→corrupt restoration · Holo positive in 7/8 pairs; paired Δ = +0.72 nats median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0A4D0-45E1-4C38-BE09-A79D5B9F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24000"/>
            <a:ext cx="5505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4C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1AE2C-8597-4636-89B2-13A5DE9E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1619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D84D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29379-A935-44F7-B22E-80AC3F9C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43075"/>
            <a:ext cx="14668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NORMALIZED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205BC7-9581-43C9-9A27-0E9E2005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rPr>
              <a:t>Holo  6.7%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91816B-F5D1-4255-9E46-1713D3F7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rPr>
              <a:t>Qwen  1.3%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4D796-6CBA-4D9A-99ED-07E56949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336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Median residual recovery fraction · x-token teacher-forcing 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9AF754-A456-40FE-84B2-5F56884F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2D84D3"/>
                </a:solidFill>
                <a:latin typeface="Helvetica Neue"/>
                <a:ea typeface="Helvetica Neue"/>
                <a:cs typeface="Helvetica Neue"/>
              </a:rPr>
              <a:t>WHAT THE INTERVENTIONS ESTABLISH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121B1F-30C0-4489-B3DC-8B0BDB01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18A87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4ECD6-A985-4566-8DCF-CC996109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28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8A87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74FDD-3C93-4713-8EB7-EA4D68A5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3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D1312A-BE6E-43B5-A92D-FCDE5501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48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A8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8A875"/>
                </a:solidFill>
                <a:latin typeface="Helvetica Neue"/>
                <a:ea typeface="Helvetica Neue"/>
                <a:cs typeface="Helvetica Neue"/>
              </a:rPr>
              <a:t>Mid-layer action state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296693-26CB-4A9A-A0D7-6E2D198B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Layer-15 coordinate residual from the clean run causally restores the corrupted Holo coordinate preference more than Qwen.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853D2-25D0-4E7E-971A-987DE6FE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1C273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0989CB-C9EF-4471-B756-E03A27AD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91025"/>
            <a:ext cx="28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C273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C38D6D-BA56-4469-9521-A14976B0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13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A9D7DD-1330-4646-83F3-8F07F333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C2733"/>
                </a:solidFill>
                <a:latin typeface="Helvetica Neue"/>
                <a:ea typeface="Helvetica Neue"/>
                <a:cs typeface="Helvetica Neue"/>
              </a:rPr>
              <a:t>Not stronger necessity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815197-E7DA-421F-9C78-5D1E7BCD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34340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Zero-ablation is positive in both models, but its median effect is smaller in Holo (4.51 vs 6.27 nats).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6847FB-B438-450E-8B77-0D002ADF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CE2D9"/>
          </a:solidFill>
          <a:ln xmlns:a="http://schemas.openxmlformats.org/drawingml/2006/main" w="9525">
            <a:solidFill>
              <a:srgbClr val="F05A3C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65F59B-9118-4879-BE3F-6E5B9340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2857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05A3C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951F4-048E-4529-83C5-5028CE6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24450"/>
            <a:ext cx="13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D7F3F4-ED5A-4760-96CA-CE799F9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577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05A3C"/>
                </a:solidFill>
                <a:latin typeface="Helvetica Neue"/>
                <a:ea typeface="Helvetica Neue"/>
                <a:cs typeface="Helvetica Neue"/>
              </a:rPr>
              <a:t>No single-head circuit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FB64A1-3382-4F7C-924E-F97CCDD4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771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0151C"/>
                </a:solidFill>
                <a:latin typeface="Helvetica Neue"/>
                <a:ea typeface="Helvetica Neue"/>
                <a:cs typeface="Helvetica Neue"/>
              </a:rPr>
              <a:t>All 16 heads were swept. Holo head 1 restores +0.54 nats, but Qwen also uses it (+0.36); the Holo effect is distributed.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59E84C-7626-4A89-9D37-445A132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C2733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647256-4678-48B3-97C3-F9B3843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1059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Working conclusion: Holo fine-tuning increases recoverability of a distributed layer-15 coordinate-action state. It does not justify a single-head circuit claim or a visual-understanding claim.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D9737B-9994-439D-96DE-C529DF2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4C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C19424-FEB2-47ED-AE44-64D79E83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6717D"/>
                </a:solidFill>
                <a:latin typeface="Helvetica Neue"/>
                <a:ea typeface="Helvetica Neue"/>
                <a:cs typeface="Helvetica Neue"/>
              </a:rPr>
              <a:t>Within-image causal panel only: 4 tile pairs × 2 mirrored instructions. Results are not a benchmark accuracy estimate or an independent-image generalization claim.</a:t>
            </a:r>
          </a:p>
        </p:txBody>
      </p:sp>
    </p:spTree>
    <p:extLst>
      <p:ext uri="{BB962C8B-B14F-4D97-AF65-F5344CB8AC3E}">
        <p14:creationId xmlns:p14="http://schemas.microsoft.com/office/powerpoint/2010/main" val="1502644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2026-09-22T07:49:26.2910000Z</dcterms:created>
  <dcterms:modified xsi:type="dcterms:W3CDTF">2026-09-22T07:49:26.2910000Z</dcterms:modified>
</coreProperties>
</file>