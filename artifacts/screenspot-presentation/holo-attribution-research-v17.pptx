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b32ff2c55294060" /><Relationship Type="http://schemas.openxmlformats.org/officeDocument/2006/relationships/extended-properties" Target="/docProps/app.xml" Id="Rd6a1501d11c747ca" /><Relationship Type="http://schemas.openxmlformats.org/officeDocument/2006/relationships/officeDocument" Target="/ppt/presentation.xml" Id="Rca25376fc9164197" /></Relationships>
</file>

<file path=ppt/presentation.xml><?xml version="1.0" encoding="utf-8"?>
<p:presentation xmlns:p="http://schemas.openxmlformats.org/presentationml/2006/main">
  <p:sldMasterIdLst>
    <p:sldMasterId xmlns:r="http://schemas.openxmlformats.org/officeDocument/2006/relationships" id="2147483648" r:id="R30712b7c0be8420b"/>
  </p:sldMasterIdLst>
  <p:notesMasterIdLst>
    <p:notesMasterId xmlns:r="http://schemas.openxmlformats.org/officeDocument/2006/relationships" r:id="R8de33343299341b4"/>
  </p:notesMasterIdLst>
  <p:sldIdLst>
    <p:sldId xmlns:r="http://schemas.openxmlformats.org/officeDocument/2006/relationships" id="256" r:id="R2f1c19314d6248d3"/>
    <p:sldId xmlns:r="http://schemas.openxmlformats.org/officeDocument/2006/relationships" id="257" r:id="Ra2b80d27760f433d"/>
    <p:sldId xmlns:r="http://schemas.openxmlformats.org/officeDocument/2006/relationships" id="258" r:id="R7f3392731aee4aaa"/>
    <p:sldId xmlns:r="http://schemas.openxmlformats.org/officeDocument/2006/relationships" id="259" r:id="Re4508e8de19540ef"/>
    <p:sldId xmlns:r="http://schemas.openxmlformats.org/officeDocument/2006/relationships" id="260" r:id="Rb158e5b941f9427b"/>
    <p:sldId xmlns:r="http://schemas.openxmlformats.org/officeDocument/2006/relationships" id="261" r:id="R9a93500e9333495f"/>
    <p:sldId xmlns:r="http://schemas.openxmlformats.org/officeDocument/2006/relationships" id="262" r:id="R7603350e26c44498"/>
    <p:sldId xmlns:r="http://schemas.openxmlformats.org/officeDocument/2006/relationships" id="263" r:id="R8633a77530ea4885"/>
    <p:sldId xmlns:r="http://schemas.openxmlformats.org/officeDocument/2006/relationships" id="264" r:id="R188dd5838288408d"/>
    <p:sldId xmlns:r="http://schemas.openxmlformats.org/officeDocument/2006/relationships" id="265" r:id="R0d3114032e3c49d5"/>
    <p:sldId xmlns:r="http://schemas.openxmlformats.org/officeDocument/2006/relationships" id="266" r:id="R49c9e4cda3f74b6a"/>
    <p:sldId xmlns:r="http://schemas.openxmlformats.org/officeDocument/2006/relationships" id="267" r:id="Ra1b7b5aa781e42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ab13763d3a4d03" /><Relationship Type="http://schemas.openxmlformats.org/officeDocument/2006/relationships/slideMaster" Target="/ppt/slideMasters/slideMaster1.xml" Id="R30712b7c0be8420b" /><Relationship Type="http://schemas.openxmlformats.org/officeDocument/2006/relationships/notesMaster" Target="/ppt/notesMasters/notesMaster1.xml" Id="R8de33343299341b4" /><Relationship Type="http://schemas.openxmlformats.org/officeDocument/2006/relationships/presProps" Target="/ppt/presProps.xml" Id="R36232467cd4b4c30" /><Relationship Type="http://schemas.openxmlformats.org/officeDocument/2006/relationships/tableStyles" Target="/ppt/tableStyles.xml" Id="R4c30bea6dfab4945" /><Relationship Type="http://schemas.openxmlformats.org/officeDocument/2006/relationships/slide" Target="/ppt/slides/slide1.xml" Id="R2f1c19314d6248d3" /><Relationship Type="http://schemas.openxmlformats.org/officeDocument/2006/relationships/slide" Target="/ppt/slides/slide2.xml" Id="Ra2b80d27760f433d" /><Relationship Type="http://schemas.openxmlformats.org/officeDocument/2006/relationships/slide" Target="/ppt/slides/slide3.xml" Id="R7f3392731aee4aaa" /><Relationship Type="http://schemas.openxmlformats.org/officeDocument/2006/relationships/slide" Target="/ppt/slides/slide4.xml" Id="Re4508e8de19540ef" /><Relationship Type="http://schemas.openxmlformats.org/officeDocument/2006/relationships/slide" Target="/ppt/slides/slide5.xml" Id="Rb158e5b941f9427b" /><Relationship Type="http://schemas.openxmlformats.org/officeDocument/2006/relationships/slide" Target="/ppt/slides/slide6.xml" Id="R9a93500e9333495f" /><Relationship Type="http://schemas.openxmlformats.org/officeDocument/2006/relationships/slide" Target="/ppt/slides/slide7.xml" Id="R7603350e26c44498" /><Relationship Type="http://schemas.openxmlformats.org/officeDocument/2006/relationships/slide" Target="/ppt/slides/slide8.xml" Id="R8633a77530ea4885" /><Relationship Type="http://schemas.openxmlformats.org/officeDocument/2006/relationships/slide" Target="/ppt/slides/slide9.xml" Id="R188dd5838288408d" /><Relationship Type="http://schemas.openxmlformats.org/officeDocument/2006/relationships/slide" Target="/ppt/slides/slide10.xml" Id="R0d3114032e3c49d5" /><Relationship Type="http://schemas.openxmlformats.org/officeDocument/2006/relationships/slide" Target="/ppt/slides/slide11.xml" Id="R49c9e4cda3f74b6a" /><Relationship Type="http://schemas.openxmlformats.org/officeDocument/2006/relationships/slide" Target="/ppt/slides/slide12.xml" Id="Ra1b7b5aa781e42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684410ca054a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b4d390c34c4e47" /><Relationship Type="http://schemas.openxmlformats.org/officeDocument/2006/relationships/notesMaster" Target="/ppt/notesMasters/notesMaster1.xml" Id="R3932ef2c618044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b1fc6ae0ee4d28" /><Relationship Type="http://schemas.openxmlformats.org/officeDocument/2006/relationships/notesMaster" Target="/ppt/notesMasters/notesMaster1.xml" Id="R957f0ed2061447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00ac3587c53437e" /><Relationship Type="http://schemas.openxmlformats.org/officeDocument/2006/relationships/notesMaster" Target="/ppt/notesMasters/notesMaster1.xml" Id="Rcce8dab09a954a94"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ec4993a8f447e2" /><Relationship Type="http://schemas.openxmlformats.org/officeDocument/2006/relationships/notesMaster" Target="/ppt/notesMasters/notesMaster1.xml" Id="R40337f39167248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46c322e5554da5" /><Relationship Type="http://schemas.openxmlformats.org/officeDocument/2006/relationships/notesMaster" Target="/ppt/notesMasters/notesMaster1.xml" Id="R1d51728e14cc40a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2624db03c8941a1" /><Relationship Type="http://schemas.openxmlformats.org/officeDocument/2006/relationships/notesMaster" Target="/ppt/notesMasters/notesMaster1.xml" Id="R0b87ca726a1f47b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e5268824c34005" /><Relationship Type="http://schemas.openxmlformats.org/officeDocument/2006/relationships/notesMaster" Target="/ppt/notesMasters/notesMaster1.xml" Id="R6c6a08a15faa415d"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4394283fe14df4" /><Relationship Type="http://schemas.openxmlformats.org/officeDocument/2006/relationships/notesMaster" Target="/ppt/notesMasters/notesMaster1.xml" Id="R33274b5afd6c454b" /></Relationships>
</file>

<file path=ppt/notesSlides/_rels/notesSlide9.xml.rels>&#65279;<?xml version="1.0" encoding="utf-8"?><Relationships xmlns="http://schemas.openxmlformats.org/package/2006/relationships"><Relationship Type="http://schemas.openxmlformats.org/officeDocument/2006/relationships/slide" Target="/ppt/slides/slide9.xml" Id="R33c92a0cb77e436a" /><Relationship Type="http://schemas.openxmlformats.org/officeDocument/2006/relationships/notesMaster" Target="/ppt/notesMasters/notesMaster1.xml" Id="Rb6ef9683bd3544a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9ad46d85459404d" /><Relationship Type="http://schemas.openxmlformats.org/officeDocument/2006/relationships/notesMaster" Target="/ppt/notesMasters/notesMaster1.xml" Id="R38f22d6db35849e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c5c0957e93e4251" /><Relationship Type="http://schemas.openxmlformats.org/officeDocument/2006/relationships/notesMaster" Target="/ppt/notesMasters/notesMaster1.xml" Id="R9a7c3a27c1324f5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973453b8e864f2c" /><Relationship Type="http://schemas.openxmlformats.org/officeDocument/2006/relationships/notesMaster" Target="/ppt/notesMasters/notesMaster1.xml" Id="Ra8adca38439046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 Frame the question: what is specific to the current instruction after removing generic image saliency, and can the same machinery follow evidence across a multi-turn trajectory? The visual is the final prompt-differential map for the ScreenSpot visual hit.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 — Separate the two settings. ScreenSpot gives real high-resolution grounding examples. The synthetic hotel task gives exact replay and multi-frame memory. The two PowerPoint examples are not a same-image success/failure pair, so use them to motivate hypotheses rather than causal claims. The hotel trace is a Holo failure after three scrolls and one click. Sources: docs/screenspot-case-study.md and data/attributions/traj-20260919T164806Z-ba81a14a16/trajectory.json.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1:15–2:10 — This is the complete local replication, not a selected subset: 1,581 items, 1,042 strict point-in-box successes, no request failures, and 100% valid JSON. The 65.9% result is 0.6 percentage point below the approximately 66.5% Holo3.1-4B reference supplied by the project owner. The large split is target representation: text targets reach 79.4%, while icons reach 44.0%. Windows icon targets are the largest weak platform cell at 39.6% over 379 items. The bottom matrix uses a deterministic diagnostic taxonomy: tokenize the English instruction, scan left to right, and assign the first recognized verb from a fixed dictionary. Icon plus file or transfer actions are lowest at 36.1% on 36 items. Icon plus navigation or reveal is the larger weak cell at 40.3% on 149 items. Text targets stay between 77.0% and 86.0% across action families. Sources: data/remote-results/run/screenspot-full-official/summary.json and scripts/summarize_screenspot_benchmark.py. The action taxonomy is not an official ScreenSpot-Pro label.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2:10–3:20 — Walk left to right. Value-norm changes the routing matrix before rollout. Rollout mixes attention and identity 50/50 and multiplies the eight conventional full-attention layers in model order. Then average only the generated x/y value tokens. Emphasize strict causality for the token baseline and exact same image/settings for prompt controls. Hybrid linear-attention blocks are omitted because they expose no square softmax matrix.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3:20–4:20 — This slide establishes the measurement we use from here onward. The raw map is dominated by stable top-left saliency. With four diverse same-image prompts averaged after per-request L1 normalization, the peak moves inside the annotated template and lift rises from 3.85× to 16.08×. Leave-one-control-out cosine is 0.925 mean and 0.828 minimum. The repaired click is visually correct at (1394, 632), but the original tool syntax is malformed, so official correctness remains false.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4:20–5:15 — From this point, headline the same-image instruction differential rather than raw attention. The differential favors the top-left slide and ribbon region, yet its peak is on the slide thumbnail and the click lands there. The target itself is only 0.074% of the frame. This is compatible with fine-grained binding or localization failure after coarse semantic routing. Source: data/attributions/screenspot-powerpoint_windows_48/analysis.json.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5:15–6:25 — Every probe receives the identical four screenshots and identical three-scroll action history. Only the requested click target changes. We normalize each request across every patch in all four frames, average three usable control maps, then subtract. The cheapest hotel button has 2.78× lift when it first appears at the bottom of frame 2 and 8.59× in the current frame. Yet the peak stays outside the button and Holo clicks (960,120), on the Signal Quay card rather than View details. Resolution is an important confound: after patch merging, this 105×65-pixel control spans only about 1.6×1.0 visual tokens, so coarse retrieval can survive while precise binding degrades. The four-frame history and longer prompt also co-vary, so this case does not isolate resolution causally. In a separate single-frame diagnostic, frozen item test-0035 moves the price column from roughly 80% to 58% of viewport width and enlarges the UI. The £122 target price receives 4.12× causal previous-token lift for x versus 0.81× on the £135 runner-up; y is 4.01× versus 0.91×. Holo still emits malformed, off-target coordinates. This supports position-robust price selection but is not a same-image prompt-baseline proof. Three controls are included in the multi-frame map; one is excluded because generation omitted a y span. LOO cosine is 0.898 mean / 0.769 minimum. Sources: data/attributions/hotel-cheapest-multiframe-contrast/analysis.json and data/attributions/hotel-test-0035-large-ui-final/target-viewer/viewer.html.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6:25–7:30 — This slide replaces the earlier three selected matrices with the balanced official-protocol pilot. Each item uses four visible same-image control instructions and the same 2,097,152-pixel eager-attention profile. Target lift is the positive target-minus-control mass inside the benchmark box divided by box area fraction; 1× is spatially uniform. Across the two hits and two misses, Layer 19 ranks first at 158.4× mean, but Layer 15 is close at 151.4×. Layer 19 is top on two of four items and has median per-item rank 2. The strongest heads are a cluster: H11, H14, H10, and H2 are the top four aggregate heads. H10 remains a strong intervention candidate, but it is third within Layer 19 and never the top Layer 19 head on an individual pilot item. The hit mean is 293.7× versus 23.2× for misses, a descriptive split that requires a larger frozen cohort. This is attention routing evidence, not a correctness classifier or causal effect. Source: data/remote-results/attention-layer19-balanced-v1/aggregate/aggregate.json.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7:30–8:20 — Introduce the matched causal pair. The pixel corruption crops both equal-size tiles from the original before either paste, then exchanges them without resizing or resampling; 0.91% of pixels change. This is activation patching: later slides inject one clean internal activation into the corrupted forward pass, then ablate the same component in the clean pass. The metric is a teacher-forced sequence log-likelihood ratio over six x/y value tokens. A nat is a natural-log unit, so exp(margin) is the target-to-distractor sequence-probability ratio. +1.70 nats means 5.47× target preference. −2.64 nats means 14.07× distractor preference. Source: artifacts/causal-intervention/powerpoint_windows_59_swap/results.json.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8:20–9:25 — Read the causal and fine-tuning tests together. Patching all clean layer-19 visual-token residuals into the corrupted run restores 1.85 nats, or 42.7% of the additive clean–corrupt log-margin gap. Restricting the patch to four target-overlapping tokens restores 1.44 nats, or 33.2%. Mean-replacing those same clean tokens removes 1.48 nats. The layer-19/head-10 patch restores only 0.024 nats, so the defensible causal claim stays regional and residual-stream level. The delta lens teacher-forces identical action candidates through official Qwen3.5-4B and Holo3.1-4B with the Holo processor and prompts held fixed. Across five ScreenSpot probes, every final oracle-margin shift is positive. The mean is +1.14 nats per scored token, with a +0.31 to +2.42 range, and three probes move from a negative base margin to a positive Holo margin. The hotel steps are mixed at −1.13, +6.37, and +0.37 nats per token. Each checkpoint uses its own final RMSNorm and language-model head, so the layerwise delta includes residual and readout changes. Four ScreenSpot distractors are exploratory prior Holo clicks. Source: artifacts/causal-intervention/powerpoint_windows_59_swap/results.json and data/remote-results/delta-lens-qwen35-vs-holo31-20260921-dcd8c5e5/run/delta-lens-qwen35-vs-holo31-20260921-dcd8c5e5/delta-lens.json.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9:25–10:20 — The single-case intervention and eight-case delta lens change the agenda. Scale the matched protocol across a frozen split and report effect distributions. Search causal subspaces because the salient head was not sufficient by itself. Extend patching across historical frames to separate memory retrieval from action binding. For the delta lens, separate residual-stream changes from changes in each checkpoint’s final norm and unembedding, then expand beyond five ScreenSpot probes and one hotel trace. The training program remains oracle SFT, measured causal effects, then GRPO plus LoRA with verifiable reward. Do not optimize the heatmap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10:20–11:30 — Close on three defensible conclusions. The prompt ensemble exposes target-specific routing. Correct and incorrect cases can share coarse routing while differing in precise binding. In the matched intervention, regional layer-19 residuals pass both restoration and ablation tests, while the strongest direct-attention head does not. In the live demo, show raw versus prompt differential on the hit, the static miss, the hotel frames, then the clean/corrupted pair and intervention chart. The result is one matched case, so the next claim requires a frozen evaluation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5e9cab237e4f9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db37b037d34104" /><Relationship Type="http://schemas.openxmlformats.org/officeDocument/2006/relationships/slideLayout" Target="/ppt/slideLayouts/slideLayout1.xml" Id="R9c1ddea8242242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1ddea8242242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51bd7bd9078453a" /><Relationship Type="http://schemas.openxmlformats.org/officeDocument/2006/relationships/image" Target="/ppt/media/image.png" Id="Rc4293f4aeae64688" /><Relationship Type="http://schemas.openxmlformats.org/officeDocument/2006/relationships/notesSlide" Target="/ppt/notesSlides/notesSlide1.xml" Id="R6deacccdb5bb42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86a452b95eb4102" /><Relationship Type="http://schemas.openxmlformats.org/officeDocument/2006/relationships/notesSlide" Target="/ppt/notesSlides/notesSlide2.xml" Id="Rf71cacba41254f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cae559ca7be444f" /><Relationship Type="http://schemas.openxmlformats.org/officeDocument/2006/relationships/chart" Target="/ppt/slides/charts/chart1.xml" Id="Rab7cc4b013c94e87" /><Relationship Type="http://schemas.openxmlformats.org/officeDocument/2006/relationships/notesSlide" Target="/ppt/notesSlides/notesSlide3.xml" Id="R1a5d2fb6437e44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11027146aec4394" /><Relationship Type="http://schemas.openxmlformats.org/officeDocument/2006/relationships/notesSlide" Target="/ppt/notesSlides/notesSlide4.xml" Id="R4ead9fb41a8349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f9e6913fbb14086" /><Relationship Type="http://schemas.openxmlformats.org/officeDocument/2006/relationships/image" Target="/ppt/media/image2.png" Id="R549c1887999e4409" /><Relationship Type="http://schemas.openxmlformats.org/officeDocument/2006/relationships/image" Target="/ppt/media/image3.png" Id="R6caee63fc3064a4f" /><Relationship Type="http://schemas.openxmlformats.org/officeDocument/2006/relationships/notesSlide" Target="/ppt/notesSlides/notesSlide5.xml" Id="Rbb752dcc40ad42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c3639828aa64f6b" /><Relationship Type="http://schemas.openxmlformats.org/officeDocument/2006/relationships/image" Target="/ppt/media/image4.png" Id="R7c3b57dab7144fba" /><Relationship Type="http://schemas.openxmlformats.org/officeDocument/2006/relationships/notesSlide" Target="/ppt/notesSlides/notesSlide6.xml" Id="Rf5d59d184313483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9922f06197b4f07" /><Relationship Type="http://schemas.openxmlformats.org/officeDocument/2006/relationships/image" Target="/ppt/media/image5.png" Id="R2a4fa3bf36914016" /><Relationship Type="http://schemas.openxmlformats.org/officeDocument/2006/relationships/image" Target="/ppt/media/image6.png" Id="Rc9f5a25957314501" /><Relationship Type="http://schemas.openxmlformats.org/officeDocument/2006/relationships/image" Target="/ppt/media/image7.png" Id="Reda647173250428e" /><Relationship Type="http://schemas.openxmlformats.org/officeDocument/2006/relationships/image" Target="/ppt/media/image8.png" Id="R9f4585cb0dab4e9f" /><Relationship Type="http://schemas.openxmlformats.org/officeDocument/2006/relationships/notesSlide" Target="/ppt/notesSlides/notesSlide7.xml" Id="Rcc6c3754848144f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f0b7e8eb4f24051" /><Relationship Type="http://schemas.openxmlformats.org/officeDocument/2006/relationships/notesSlide" Target="/ppt/notesSlides/notesSlide8.xml" Id="R3e1b96b1731b49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080b6d1cfd2496c" /><Relationship Type="http://schemas.openxmlformats.org/officeDocument/2006/relationships/image" Target="/ppt/media/image9.png" Id="Rbc42af8529234373" /><Relationship Type="http://schemas.openxmlformats.org/officeDocument/2006/relationships/image" Target="/ppt/media/image10.png" Id="Rf7fb31b588cf4094" /><Relationship Type="http://schemas.openxmlformats.org/officeDocument/2006/relationships/notesSlide" Target="/ppt/notesSlides/notesSlide9.xml" Id="Rd35801a8053b49a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8764e48f0a84c1e" /><Relationship Type="http://schemas.openxmlformats.org/officeDocument/2006/relationships/chart" Target="/ppt/slides/charts/chart2.xml" Id="Rf4c72e246d45405b" /><Relationship Type="http://schemas.openxmlformats.org/officeDocument/2006/relationships/notesSlide" Target="/ppt/notesSlides/notesSlide10.xml" Id="R6f7247f755dd4ee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3a043c31ccd49c9" /><Relationship Type="http://schemas.openxmlformats.org/officeDocument/2006/relationships/notesSlide" Target="/ppt/notesSlides/notesSlide11.xml" Id="R6988d0ccc8124d1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27b2a4b07a84623" /><Relationship Type="http://schemas.openxmlformats.org/officeDocument/2006/relationships/notesSlide" Target="/ppt/notesSlides/notesSlide12.xml" Id="R3a47a563bcfe426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Accuracy</c:v>
          </c:tx>
          <c:spPr>
            <a:solidFill xmlns:a="http://schemas.openxmlformats.org/drawingml/2006/main">
              <a:srgbClr val="2D84D3"/>
            </a:solidFill>
          </c:spPr>
          <c:cat>
            <c:strRef>
              <c:f>'Chart Data'!$A$2:$A$3</c:f>
              <c:strCache>
                <c:ptCount val="2"/>
                <c:pt idx="0">
                  <c:v>Text targets  n=977</c:v>
                </c:pt>
                <c:pt idx="1">
                  <c:v>Icon targets  n=604</c:v>
                </c:pt>
              </c:strCache>
            </c:strRef>
          </c:cat>
          <c:val>
            <c:numRef>
              <c:f>'Chart Data'!$B$2:$B$3</c:f>
              <c:numCache>
                <c:formatCode>General</c:formatCode>
                <c:ptCount val="2"/>
                <c:pt idx="0">
                  <c:v>0.7943</c:v>
                </c:pt>
                <c:pt idx="1">
                  <c:v>0.4404</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b="1">
                <a:solidFill>
                  <a:srgbClr val="10151C"/>
                </a:solidFill>
                <a:latin typeface="Helvetica Neue"/>
                <a:ea typeface="Helvetica Neue"/>
                <a:cs typeface="Helvetica Neue"/>
              </a:defRPr>
            </a:pPr>
          </a:p>
        </c:txPr>
        <c:crossAx val="48650112"/>
        <c:crossBetween val="between"/>
      </c:valAx>
      <c:spPr>
        <a:solidFill xmlns:a="http://schemas.openxmlformats.org/drawingml/2006/main">
          <a:srgbClr val="F5F2EB"/>
        </a:solidFill>
        <a:ln xmlns:a="http://schemas.openxmlformats.org/drawingml/2006/main" w="0">
          <a:noFill/>
        </a:ln>
      </c:spPr>
    </c:plotArea>
    <c:plotVisOnly val="1"/>
  </c:chart>
  <c:spPr>
    <a:solidFill xmlns:a="http://schemas.openxmlformats.org/drawingml/2006/main">
      <a:srgbClr val="F5F2EB"/>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Clean activation restoration</c:v>
          </c:tx>
          <c:spPr>
            <a:solidFill xmlns:a="http://schemas.openxmlformats.org/drawingml/2006/main">
              <a:srgbClr val="F05A3C"/>
            </a:solidFill>
          </c:spPr>
          <c:invertIfNegative val="0"/>
          <c:cat>
            <c:strRef>
              <c:f>'Chart Data'!$A$2:$A$8</c:f>
              <c:strCache>
                <c:ptCount val="7"/>
                <c:pt idx="0">
                  <c:v>All visual</c:v>
                </c:pt>
                <c:pt idx="1">
                  <c:v>Target patches</c:v>
                </c:pt>
                <c:pt idx="2">
                  <c:v>Distractor patches</c:v>
                </c:pt>
                <c:pt idx="3">
                  <c:v>L19 / H10</c:v>
                </c:pt>
                <c:pt idx="4">
                  <c:v>MLP 15</c:v>
                </c:pt>
                <c:pt idx="5">
                  <c:v>MLP 19</c:v>
                </c:pt>
                <c:pt idx="6">
                  <c:v>MLP 23</c:v>
                </c:pt>
              </c:strCache>
            </c:strRef>
          </c:cat>
          <c:val>
            <c:numRef>
              <c:f>'Chart Data'!$B$2:$B$8</c:f>
              <c:numCache>
                <c:formatCode>General</c:formatCode>
                <c:ptCount val="7"/>
                <c:pt idx="0">
                  <c:v>1.853</c:v>
                </c:pt>
                <c:pt idx="1">
                  <c:v>1.444</c:v>
                </c:pt>
                <c:pt idx="2">
                  <c:v>-0.13</c:v>
                </c:pt>
                <c:pt idx="3">
                  <c:v>0.024</c:v>
                </c:pt>
                <c:pt idx="4">
                  <c:v>0.082</c:v>
                </c:pt>
                <c:pt idx="5">
                  <c:v>-0.429</c:v>
                </c:pt>
                <c:pt idx="6">
                  <c:v>-0.479</c:v>
                </c:pt>
              </c:numCache>
            </c:numRef>
          </c:val>
        </c:ser>
        <c:ser>
          <c:idx val="1"/>
          <c:order val="1"/>
          <c:tx>
            <c:v>Clean-run ablation drop</c:v>
          </c:tx>
          <c:spPr>
            <a:solidFill xmlns:a="http://schemas.openxmlformats.org/drawingml/2006/main">
              <a:srgbClr val="2D84D3"/>
            </a:solidFill>
          </c:spPr>
          <c:invertIfNegative val="0"/>
          <c:cat>
            <c:strRef>
              <c:f>'Chart Data'!$C$2:$C$8</c:f>
              <c:strCache>
                <c:ptCount val="7"/>
                <c:pt idx="0">
                  <c:v>All visual</c:v>
                </c:pt>
                <c:pt idx="1">
                  <c:v>Target patches</c:v>
                </c:pt>
                <c:pt idx="2">
                  <c:v>Distractor patches</c:v>
                </c:pt>
                <c:pt idx="3">
                  <c:v>L19 / H10</c:v>
                </c:pt>
                <c:pt idx="4">
                  <c:v>MLP 15</c:v>
                </c:pt>
                <c:pt idx="5">
                  <c:v>MLP 19</c:v>
                </c:pt>
                <c:pt idx="6">
                  <c:v>MLP 23</c:v>
                </c:pt>
              </c:strCache>
            </c:strRef>
          </c:cat>
          <c:val>
            <c:numRef>
              <c:f>'Chart Data'!$D$2:$D$8</c:f>
              <c:numCache>
                <c:formatCode>General</c:formatCode>
                <c:ptCount val="7"/>
                <c:pt idx="0">
                  <c:v>0.846</c:v>
                </c:pt>
                <c:pt idx="1">
                  <c:v>1.481</c:v>
                </c:pt>
                <c:pt idx="2">
                  <c:v>-0.515</c:v>
                </c:pt>
                <c:pt idx="3">
                  <c:v>0.09</c:v>
                </c:pt>
                <c:pt idx="4">
                  <c:v>0.202</c:v>
                </c:pt>
                <c:pt idx="5">
                  <c:v>0.252</c:v>
                </c:pt>
                <c:pt idx="6">
                  <c:v>-1.055</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Change in log-likelihood ratio (nats)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4293f4aeae64688"/>
          <a:srcRect xmlns:a="http://schemas.openxmlformats.org/drawingml/2006/main" l="25000" t="0" r="25000" b="0"/>
          <a:stretch xmlns:a="http://schemas.openxmlformats.org/drawingml/2006/main">
            <a:fillRect l="0" t="0" r="0" b="0"/>
          </a:stretch>
        </p:blipFill>
        <p:spPr>
          <a:xfrm xmlns:a="http://schemas.openxmlformats.org/drawingml/2006/main">
            <a:off x="6705600" y="0"/>
            <a:ext cx="5486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DE53CBE-8A55-4B36-9A0D-16D4DA3A2E62}"/>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oundRect">
            <a:avLst>
              <a:gd name="adj" fmla="val 1389"/>
            </a:avLst>
          </a:prstGeom>
          <a:noFill xmlns:a="http://schemas.openxmlformats.org/drawingml/2006/main"/>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B0F62CA-0BF9-4BF6-AC60-59E90D69B42E}"/>
              </a:ext>
            </a:extLst>
          </p:cNvPr>
          <p:cNvSpPr>
            <a:spLocks xmlns:a="http://schemas.openxmlformats.org/drawingml/2006/main" noGrp="1"/>
          </p:cNvSpPr>
          <p:nvPr/>
        </p:nvSpPr>
        <p:spPr>
          <a:xfrm xmlns:a="http://schemas.openxmlformats.org/drawingml/2006/main">
            <a:off x="6096000" y="0"/>
            <a:ext cx="1200150" cy="6858000"/>
          </a:xfrm>
          <a:prstGeom xmlns:a="http://schemas.openxmlformats.org/drawingml/2006/main" prst="rect">
            <a:avLst/>
          </a:prstGeom>
          <a:gradFill xmlns:a="http://schemas.openxmlformats.org/drawingml/2006/main">
            <a:gsLst>
              <a:gs pos="0">
                <a:srgbClr val="10151C"/>
              </a:gs>
              <a:gs pos="100000">
                <a:srgbClr val="10151C">
                  <a:alpha val="0"/>
                </a:srgbClr>
              </a:gs>
            </a:gsLst>
            <a:lin ang="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F4847C8-37DB-4AF0-B612-F716C5BD7D1A}"/>
              </a:ext>
            </a:extLst>
          </p:cNvPr>
          <p:cNvSpPr>
            <a:spLocks xmlns:a="http://schemas.openxmlformats.org/drawingml/2006/main" noGrp="1"/>
          </p:cNvSpPr>
          <p:nvPr/>
        </p:nvSpPr>
        <p:spPr>
          <a:xfrm xmlns:a="http://schemas.openxmlformats.org/drawingml/2006/main">
            <a:off x="609600" y="590550"/>
            <a:ext cx="21336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AFBAB8E-7CC2-45E7-A708-08012529AB20}"/>
              </a:ext>
            </a:extLst>
          </p:cNvPr>
          <p:cNvSpPr>
            <a:spLocks xmlns:a="http://schemas.openxmlformats.org/drawingml/2006/main" noGrp="1"/>
          </p:cNvSpPr>
          <p:nvPr/>
        </p:nvSpPr>
        <p:spPr>
          <a:xfrm xmlns:a="http://schemas.openxmlformats.org/drawingml/2006/main">
            <a:off x="704850" y="60960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MECHANISTIC GUI ANALYSIS</a:t>
            </a:r>
          </a:p>
        </p:txBody>
      </p:sp>
      <p:sp>
        <p:nvSpPr>
          <p:cNvPr id="6" name="">
            <a:extLst xmlns:a="http://schemas.openxmlformats.org/drawingml/2006/main">
              <a:ext uri="{FF2B5EF4-FFF2-40B4-BE49-F238E27FC236}">
                <a16:creationId xmlns:a16="http://schemas.microsoft.com/office/drawing/2014/main" id="{D7E31617-38E7-4BC4-9269-7119B540FB5C}"/>
              </a:ext>
            </a:extLst>
          </p:cNvPr>
          <p:cNvSpPr>
            <a:spLocks xmlns:a="http://schemas.openxmlformats.org/drawingml/2006/main" noGrp="1"/>
          </p:cNvSpPr>
          <p:nvPr/>
        </p:nvSpPr>
        <p:spPr>
          <a:xfrm xmlns:a="http://schemas.openxmlformats.org/drawingml/2006/main">
            <a:off x="609600" y="13525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When attention</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stops being generic</a:t>
            </a:r>
          </a:p>
        </p:txBody>
      </p:sp>
      <p:sp>
        <p:nvSpPr>
          <p:cNvPr id="7" name="">
            <a:extLst xmlns:a="http://schemas.openxmlformats.org/drawingml/2006/main">
              <a:ext uri="{FF2B5EF4-FFF2-40B4-BE49-F238E27FC236}">
                <a16:creationId xmlns:a16="http://schemas.microsoft.com/office/drawing/2014/main" id="{D854AA0E-0350-415C-A3B7-835F4C2432C3}"/>
              </a:ext>
            </a:extLst>
          </p:cNvPr>
          <p:cNvSpPr>
            <a:spLocks xmlns:a="http://schemas.openxmlformats.org/drawingml/2006/main" noGrp="1"/>
          </p:cNvSpPr>
          <p:nvPr/>
        </p:nvSpPr>
        <p:spPr>
          <a:xfrm xmlns:a="http://schemas.openxmlformats.org/drawingml/2006/main">
            <a:off x="647700" y="32385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CBD3DB"/>
                </a:solidFill>
                <a:latin typeface="Helvetica Neue"/>
                <a:ea typeface="Helvetica Neue"/>
                <a:cs typeface="Helvetica Neue"/>
              </a:defRPr>
            </a:pPr>
            <a:r>
              <a:rPr sz="1800" b="0">
                <a:solidFill>
                  <a:srgbClr val="CBD3DB"/>
                </a:solidFill>
                <a:latin typeface="Helvetica Neue"/>
                <a:ea typeface="Helvetica Neue"/>
                <a:cs typeface="Helvetica Neue"/>
              </a:rPr>
              <a:t>Action-token attribution for static GUI grounding and multi-turn visual memory</a:t>
            </a:r>
          </a:p>
        </p:txBody>
      </p:sp>
      <p:sp>
        <p:nvSpPr>
          <p:cNvPr id="8" name="">
            <a:extLst xmlns:a="http://schemas.openxmlformats.org/drawingml/2006/main">
              <a:ext uri="{FF2B5EF4-FFF2-40B4-BE49-F238E27FC236}">
                <a16:creationId xmlns:a16="http://schemas.microsoft.com/office/drawing/2014/main" id="{2251CCB1-1A72-4D56-B955-FA878BED2281}"/>
              </a:ext>
            </a:extLst>
          </p:cNvPr>
          <p:cNvSpPr>
            <a:spLocks xmlns:a="http://schemas.openxmlformats.org/drawingml/2006/main" noGrp="1"/>
          </p:cNvSpPr>
          <p:nvPr/>
        </p:nvSpPr>
        <p:spPr>
          <a:xfrm xmlns:a="http://schemas.openxmlformats.org/drawingml/2006/main">
            <a:off x="647700" y="57626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7A4B2"/>
                </a:solidFill>
                <a:latin typeface="Helvetica Neue"/>
                <a:ea typeface="Helvetica Neue"/>
                <a:cs typeface="Helvetica Neue"/>
              </a:defRPr>
            </a:pPr>
            <a:r>
              <a:rPr sz="1050" b="1">
                <a:solidFill>
                  <a:srgbClr val="97A4B2"/>
                </a:solidFill>
                <a:latin typeface="Helvetica Neue"/>
                <a:ea typeface="Helvetica Neue"/>
                <a:cs typeface="Helvetica Neue"/>
              </a:rPr>
              <a:t>Holo 3.1 4B · local Metal traces · 21 Sep 2026</a:t>
            </a:r>
          </a:p>
        </p:txBody>
      </p:sp>
    </p:spTree>
    <p:extLst>
      <p:ext uri="{BB962C8B-B14F-4D97-AF65-F5344CB8AC3E}">
        <p14:creationId xmlns:p14="http://schemas.microsoft.com/office/powerpoint/2010/main" val="1511184771"/>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E7AC1360-36C6-4B79-9860-8C1C6F6D52E7}"/>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EVALUATION</a:t>
            </a:r>
          </a:p>
        </p:txBody>
      </p:sp>
      <p:sp>
        <p:nvSpPr>
          <p:cNvPr id="2" name="">
            <a:extLst xmlns:a="http://schemas.openxmlformats.org/drawingml/2006/main">
              <a:ext uri="{FF2B5EF4-FFF2-40B4-BE49-F238E27FC236}">
                <a16:creationId xmlns:a16="http://schemas.microsoft.com/office/drawing/2014/main" id="{C52A4DAF-3B77-4668-ABD4-123D6B145E3B}"/>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807"/>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Static grounding and trajectory memory expose different failures</a:t>
            </a:r>
          </a:p>
        </p:txBody>
      </p:sp>
      <p:sp>
        <p:nvSpPr>
          <p:cNvPr id="3" name="">
            <a:extLst xmlns:a="http://schemas.openxmlformats.org/drawingml/2006/main">
              <a:ext uri="{FF2B5EF4-FFF2-40B4-BE49-F238E27FC236}">
                <a16:creationId xmlns:a16="http://schemas.microsoft.com/office/drawing/2014/main" id="{1A0974BA-4061-406F-9FAD-BA5FCE33638D}"/>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55F0CDCB-746A-4145-997C-C4FABC299A42}"/>
              </a:ext>
            </a:extLst>
          </p:cNvPr>
          <p:cNvSpPr>
            <a:spLocks xmlns:a="http://schemas.openxmlformats.org/drawingml/2006/main" noGrp="1"/>
          </p:cNvSpPr>
          <p:nvPr/>
        </p:nvSpPr>
        <p:spPr>
          <a:xfrm xmlns:a="http://schemas.openxmlformats.org/drawingml/2006/main">
            <a:off x="609600" y="1371600"/>
            <a:ext cx="5219700" cy="4381500"/>
          </a:xfrm>
          <a:prstGeom xmlns:a="http://schemas.openxmlformats.org/drawingml/2006/main" prst="roundRect">
            <a:avLst>
              <a:gd name="adj" fmla="val 1739"/>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0ADD6688-5BCA-42C8-A82F-76B6027638DC}"/>
              </a:ext>
            </a:extLst>
          </p:cNvPr>
          <p:cNvSpPr>
            <a:spLocks xmlns:a="http://schemas.openxmlformats.org/drawingml/2006/main" noGrp="1"/>
          </p:cNvSpPr>
          <p:nvPr/>
        </p:nvSpPr>
        <p:spPr>
          <a:xfrm xmlns:a="http://schemas.openxmlformats.org/drawingml/2006/main">
            <a:off x="857250" y="1619250"/>
            <a:ext cx="819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FEB356D-04F2-46CA-91BC-E5D219A67F2C}"/>
              </a:ext>
            </a:extLst>
          </p:cNvPr>
          <p:cNvSpPr>
            <a:spLocks xmlns:a="http://schemas.openxmlformats.org/drawingml/2006/main" noGrp="1"/>
          </p:cNvSpPr>
          <p:nvPr/>
        </p:nvSpPr>
        <p:spPr>
          <a:xfrm xmlns:a="http://schemas.openxmlformats.org/drawingml/2006/main">
            <a:off x="952500" y="163830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STATIC</a:t>
            </a:r>
          </a:p>
        </p:txBody>
      </p:sp>
      <p:sp>
        <p:nvSpPr>
          <p:cNvPr id="7" name="">
            <a:extLst xmlns:a="http://schemas.openxmlformats.org/drawingml/2006/main">
              <a:ext uri="{FF2B5EF4-FFF2-40B4-BE49-F238E27FC236}">
                <a16:creationId xmlns:a16="http://schemas.microsoft.com/office/drawing/2014/main" id="{5F6BE85B-0474-4F5C-8BA6-317495A9A393}"/>
              </a:ext>
            </a:extLst>
          </p:cNvPr>
          <p:cNvSpPr>
            <a:spLocks xmlns:a="http://schemas.openxmlformats.org/drawingml/2006/main" noGrp="1"/>
          </p:cNvSpPr>
          <p:nvPr/>
        </p:nvSpPr>
        <p:spPr>
          <a:xfrm xmlns:a="http://schemas.openxmlformats.org/drawingml/2006/main">
            <a:off x="857250" y="20574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0151C"/>
                </a:solidFill>
                <a:latin typeface="Helvetica Neue"/>
                <a:ea typeface="Helvetica Neue"/>
                <a:cs typeface="Helvetica Neue"/>
              </a:defRPr>
            </a:pPr>
            <a:r>
              <a:rPr sz="2025" b="1">
                <a:solidFill>
                  <a:srgbClr val="10151C"/>
                </a:solidFill>
                <a:latin typeface="Helvetica Neue"/>
                <a:ea typeface="Helvetica Neue"/>
                <a:cs typeface="Helvetica Neue"/>
              </a:rPr>
              <a:t>ScreenSpot-Pro</a:t>
            </a:r>
          </a:p>
        </p:txBody>
      </p:sp>
      <p:sp>
        <p:nvSpPr>
          <p:cNvPr id="8" name="">
            <a:extLst xmlns:a="http://schemas.openxmlformats.org/drawingml/2006/main">
              <a:ext uri="{FF2B5EF4-FFF2-40B4-BE49-F238E27FC236}">
                <a16:creationId xmlns:a16="http://schemas.microsoft.com/office/drawing/2014/main" id="{EAD50740-3C16-4A97-A3A9-6CF7F765E438}"/>
              </a:ext>
            </a:extLst>
          </p:cNvPr>
          <p:cNvSpPr>
            <a:spLocks xmlns:a="http://schemas.openxmlformats.org/drawingml/2006/main" noGrp="1"/>
          </p:cNvSpPr>
          <p:nvPr/>
        </p:nvSpPr>
        <p:spPr>
          <a:xfrm xmlns:a="http://schemas.openxmlformats.org/drawingml/2006/main">
            <a:off x="857250" y="2457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6717D"/>
                </a:solidFill>
                <a:latin typeface="Helvetica Neue"/>
                <a:ea typeface="Helvetica Neue"/>
                <a:cs typeface="Helvetica Neue"/>
              </a:defRPr>
            </a:pPr>
            <a:r>
              <a:rPr sz="1350" b="0">
                <a:solidFill>
                  <a:srgbClr val="66717D"/>
                </a:solidFill>
                <a:latin typeface="Helvetica Neue"/>
                <a:ea typeface="Helvetica Neue"/>
                <a:cs typeface="Helvetica Neue"/>
              </a:rPr>
              <a:t>One screenshot, one instruction, one click</a:t>
            </a:r>
          </a:p>
        </p:txBody>
      </p:sp>
      <p:sp>
        <p:nvSpPr>
          <p:cNvPr id="9" name="">
            <a:extLst xmlns:a="http://schemas.openxmlformats.org/drawingml/2006/main">
              <a:ext uri="{FF2B5EF4-FFF2-40B4-BE49-F238E27FC236}">
                <a16:creationId xmlns:a16="http://schemas.microsoft.com/office/drawing/2014/main" id="{69B87047-EE23-43E0-B195-C6F54D2B4C20}"/>
              </a:ext>
            </a:extLst>
          </p:cNvPr>
          <p:cNvSpPr>
            <a:spLocks xmlns:a="http://schemas.openxmlformats.org/drawingml/2006/main" noGrp="1"/>
          </p:cNvSpPr>
          <p:nvPr/>
        </p:nvSpPr>
        <p:spPr>
          <a:xfrm xmlns:a="http://schemas.openxmlformats.org/drawingml/2006/main">
            <a:off x="857250" y="31432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8A875"/>
                </a:solidFill>
                <a:latin typeface="Helvetica Neue"/>
                <a:ea typeface="Helvetica Neue"/>
                <a:cs typeface="Helvetica Neue"/>
              </a:defRPr>
            </a:pPr>
            <a:r>
              <a:rPr sz="1050" b="1">
                <a:solidFill>
                  <a:srgbClr val="18A875"/>
                </a:solidFill>
                <a:latin typeface="Helvetica Neue"/>
                <a:ea typeface="Helvetica Neue"/>
                <a:cs typeface="Helvetica Neue"/>
              </a:rPr>
              <a:t>Visual hit</a:t>
            </a:r>
          </a:p>
        </p:txBody>
      </p:sp>
      <p:sp>
        <p:nvSpPr>
          <p:cNvPr id="10" name="">
            <a:extLst xmlns:a="http://schemas.openxmlformats.org/drawingml/2006/main">
              <a:ext uri="{FF2B5EF4-FFF2-40B4-BE49-F238E27FC236}">
                <a16:creationId xmlns:a16="http://schemas.microsoft.com/office/drawing/2014/main" id="{9E814F70-8822-4122-AFDC-C87378FEBF93}"/>
              </a:ext>
            </a:extLst>
          </p:cNvPr>
          <p:cNvSpPr>
            <a:spLocks xmlns:a="http://schemas.openxmlformats.org/drawingml/2006/main" noGrp="1"/>
          </p:cNvSpPr>
          <p:nvPr/>
        </p:nvSpPr>
        <p:spPr>
          <a:xfrm xmlns:a="http://schemas.openxmlformats.org/drawingml/2006/main">
            <a:off x="857250" y="340995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Psychedelic vibrant</a:t>
            </a:r>
          </a:p>
        </p:txBody>
      </p:sp>
      <p:sp>
        <p:nvSpPr>
          <p:cNvPr id="11" name="">
            <a:extLst xmlns:a="http://schemas.openxmlformats.org/drawingml/2006/main">
              <a:ext uri="{FF2B5EF4-FFF2-40B4-BE49-F238E27FC236}">
                <a16:creationId xmlns:a16="http://schemas.microsoft.com/office/drawing/2014/main" id="{DD8BD032-C7A1-48C4-B473-565CD5855035}"/>
              </a:ext>
            </a:extLst>
          </p:cNvPr>
          <p:cNvSpPr>
            <a:spLocks xmlns:a="http://schemas.openxmlformats.org/drawingml/2006/main" noGrp="1"/>
          </p:cNvSpPr>
          <p:nvPr/>
        </p:nvSpPr>
        <p:spPr>
          <a:xfrm xmlns:a="http://schemas.openxmlformats.org/drawingml/2006/main">
            <a:off x="3105150" y="3143250"/>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05A3C"/>
                </a:solidFill>
                <a:latin typeface="Helvetica Neue"/>
                <a:ea typeface="Helvetica Neue"/>
                <a:cs typeface="Helvetica Neue"/>
              </a:defRPr>
            </a:pPr>
            <a:r>
              <a:rPr sz="1050" b="1">
                <a:solidFill>
                  <a:srgbClr val="F05A3C"/>
                </a:solidFill>
                <a:latin typeface="Helvetica Neue"/>
                <a:ea typeface="Helvetica Neue"/>
                <a:cs typeface="Helvetica Neue"/>
              </a:rPr>
              <a:t>Grounding miss</a:t>
            </a:r>
          </a:p>
        </p:txBody>
      </p:sp>
      <p:sp>
        <p:nvSpPr>
          <p:cNvPr id="12" name="">
            <a:extLst xmlns:a="http://schemas.openxmlformats.org/drawingml/2006/main">
              <a:ext uri="{FF2B5EF4-FFF2-40B4-BE49-F238E27FC236}">
                <a16:creationId xmlns:a16="http://schemas.microsoft.com/office/drawing/2014/main" id="{56518021-5D46-4F7D-9347-3BCB5D94421A}"/>
              </a:ext>
            </a:extLst>
          </p:cNvPr>
          <p:cNvSpPr>
            <a:spLocks xmlns:a="http://schemas.openxmlformats.org/drawingml/2006/main" noGrp="1"/>
          </p:cNvSpPr>
          <p:nvPr/>
        </p:nvSpPr>
        <p:spPr>
          <a:xfrm xmlns:a="http://schemas.openxmlformats.org/drawingml/2006/main">
            <a:off x="3105150" y="3409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Create new slide</a:t>
            </a:r>
          </a:p>
        </p:txBody>
      </p:sp>
      <p:sp>
        <p:nvSpPr>
          <p:cNvPr id="13" name="">
            <a:extLst xmlns:a="http://schemas.openxmlformats.org/drawingml/2006/main">
              <a:ext uri="{FF2B5EF4-FFF2-40B4-BE49-F238E27FC236}">
                <a16:creationId xmlns:a16="http://schemas.microsoft.com/office/drawing/2014/main" id="{BB3B5906-BAA9-4634-B48F-EAAF06ADC216}"/>
              </a:ext>
            </a:extLst>
          </p:cNvPr>
          <p:cNvSpPr>
            <a:spLocks xmlns:a="http://schemas.openxmlformats.org/drawingml/2006/main" noGrp="1"/>
          </p:cNvSpPr>
          <p:nvPr/>
        </p:nvSpPr>
        <p:spPr>
          <a:xfrm xmlns:a="http://schemas.openxmlformats.org/drawingml/2006/main">
            <a:off x="857250" y="4000500"/>
            <a:ext cx="440055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83556E0-C99F-4B2E-B280-90A0264FC824}"/>
              </a:ext>
            </a:extLst>
          </p:cNvPr>
          <p:cNvSpPr>
            <a:spLocks xmlns:a="http://schemas.openxmlformats.org/drawingml/2006/main" noGrp="1"/>
          </p:cNvSpPr>
          <p:nvPr/>
        </p:nvSpPr>
        <p:spPr>
          <a:xfrm xmlns:a="http://schemas.openxmlformats.org/drawingml/2006/main">
            <a:off x="857250" y="4267200"/>
            <a:ext cx="44005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6717D"/>
                </a:solidFill>
                <a:latin typeface="Helvetica Neue"/>
                <a:ea typeface="Helvetica Neue"/>
                <a:cs typeface="Helvetica Neue"/>
              </a:defRPr>
            </a:pPr>
            <a:r>
              <a:rPr sz="1200" b="0">
                <a:solidFill>
                  <a:srgbClr val="66717D"/>
                </a:solidFill>
                <a:latin typeface="Helvetica Neue"/>
                <a:ea typeface="Helvetica Neue"/>
                <a:cs typeface="Helvetica Neue"/>
              </a:rPr>
              <a:t>These examples share PowerPoint on Windows, but use different images and prompts. They illustrate failure modes rather than form a matched causal pair.</a:t>
            </a:r>
          </a:p>
        </p:txBody>
      </p:sp>
      <p:sp>
        <p:nvSpPr>
          <p:cNvPr id="15" name="">
            <a:extLst xmlns:a="http://schemas.openxmlformats.org/drawingml/2006/main">
              <a:ext uri="{FF2B5EF4-FFF2-40B4-BE49-F238E27FC236}">
                <a16:creationId xmlns:a16="http://schemas.microsoft.com/office/drawing/2014/main" id="{7D11F1E2-135A-47A5-8280-05AEBC72F009}"/>
              </a:ext>
            </a:extLst>
          </p:cNvPr>
          <p:cNvSpPr>
            <a:spLocks xmlns:a="http://schemas.openxmlformats.org/drawingml/2006/main" noGrp="1"/>
          </p:cNvSpPr>
          <p:nvPr/>
        </p:nvSpPr>
        <p:spPr>
          <a:xfrm xmlns:a="http://schemas.openxmlformats.org/drawingml/2006/main">
            <a:off x="6191250" y="1371600"/>
            <a:ext cx="5391150" cy="4381500"/>
          </a:xfrm>
          <a:prstGeom xmlns:a="http://schemas.openxmlformats.org/drawingml/2006/main" prst="roundRect">
            <a:avLst>
              <a:gd name="adj" fmla="val 1739"/>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F097A85-C37B-4BBC-9F53-2CB41AB4A61C}"/>
              </a:ext>
            </a:extLst>
          </p:cNvPr>
          <p:cNvSpPr>
            <a:spLocks xmlns:a="http://schemas.openxmlformats.org/drawingml/2006/main" noGrp="1"/>
          </p:cNvSpPr>
          <p:nvPr/>
        </p:nvSpPr>
        <p:spPr>
          <a:xfrm xmlns:a="http://schemas.openxmlformats.org/drawingml/2006/main">
            <a:off x="6477000" y="1619250"/>
            <a:ext cx="11430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02C6491-847A-4D50-9729-E7A37B7EEC4E}"/>
              </a:ext>
            </a:extLst>
          </p:cNvPr>
          <p:cNvSpPr>
            <a:spLocks xmlns:a="http://schemas.openxmlformats.org/drawingml/2006/main" noGrp="1"/>
          </p:cNvSpPr>
          <p:nvPr/>
        </p:nvSpPr>
        <p:spPr>
          <a:xfrm xmlns:a="http://schemas.openxmlformats.org/drawingml/2006/main">
            <a:off x="6572250" y="16383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MULTI-TURN</a:t>
            </a:r>
          </a:p>
        </p:txBody>
      </p:sp>
      <p:sp>
        <p:nvSpPr>
          <p:cNvPr id="18" name="">
            <a:extLst xmlns:a="http://schemas.openxmlformats.org/drawingml/2006/main">
              <a:ext uri="{FF2B5EF4-FFF2-40B4-BE49-F238E27FC236}">
                <a16:creationId xmlns:a16="http://schemas.microsoft.com/office/drawing/2014/main" id="{636E8FCE-D24C-497B-A716-13A5EDBB0A4E}"/>
              </a:ext>
            </a:extLst>
          </p:cNvPr>
          <p:cNvSpPr>
            <a:spLocks xmlns:a="http://schemas.openxmlformats.org/drawingml/2006/main" noGrp="1"/>
          </p:cNvSpPr>
          <p:nvPr/>
        </p:nvSpPr>
        <p:spPr>
          <a:xfrm xmlns:a="http://schemas.openxmlformats.org/drawingml/2006/main">
            <a:off x="6477000" y="20574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Synthetic hotel search</a:t>
            </a:r>
          </a:p>
        </p:txBody>
      </p:sp>
      <p:sp>
        <p:nvSpPr>
          <p:cNvPr id="19" name="">
            <a:extLst xmlns:a="http://schemas.openxmlformats.org/drawingml/2006/main">
              <a:ext uri="{FF2B5EF4-FFF2-40B4-BE49-F238E27FC236}">
                <a16:creationId xmlns:a16="http://schemas.microsoft.com/office/drawing/2014/main" id="{C8D66326-A0F3-4CFD-901E-5A85E7448493}"/>
              </a:ext>
            </a:extLst>
          </p:cNvPr>
          <p:cNvSpPr>
            <a:spLocks xmlns:a="http://schemas.openxmlformats.org/drawingml/2006/main" noGrp="1"/>
          </p:cNvSpPr>
          <p:nvPr/>
        </p:nvSpPr>
        <p:spPr>
          <a:xfrm xmlns:a="http://schemas.openxmlformats.org/drawingml/2006/main">
            <a:off x="6477000" y="245745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9C3CD"/>
                </a:solidFill>
                <a:latin typeface="Helvetica Neue"/>
                <a:ea typeface="Helvetica Neue"/>
                <a:cs typeface="Helvetica Neue"/>
              </a:defRPr>
            </a:pPr>
            <a:r>
              <a:rPr sz="1350" b="0">
                <a:solidFill>
                  <a:srgbClr val="B9C3CD"/>
                </a:solidFill>
                <a:latin typeface="Helvetica Neue"/>
                <a:ea typeface="Helvetica Neue"/>
                <a:cs typeface="Helvetica Neue"/>
              </a:rPr>
              <a:t>Four model calls retain every earlier screenshot</a:t>
            </a:r>
          </a:p>
        </p:txBody>
      </p:sp>
      <p:sp>
        <p:nvSpPr>
          <p:cNvPr id="20" name="">
            <a:extLst xmlns:a="http://schemas.openxmlformats.org/drawingml/2006/main">
              <a:ext uri="{FF2B5EF4-FFF2-40B4-BE49-F238E27FC236}">
                <a16:creationId xmlns:a16="http://schemas.microsoft.com/office/drawing/2014/main" id="{94C2C8B2-287C-42B9-B01A-3A49069F03F6}"/>
              </a:ext>
            </a:extLst>
          </p:cNvPr>
          <p:cNvSpPr>
            <a:spLocks xmlns:a="http://schemas.openxmlformats.org/drawingml/2006/main" noGrp="1"/>
          </p:cNvSpPr>
          <p:nvPr/>
        </p:nvSpPr>
        <p:spPr>
          <a:xfrm xmlns:a="http://schemas.openxmlformats.org/drawingml/2006/main">
            <a:off x="6477000" y="30099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E4BE693-D12B-4292-BD91-AAD55FA6EADD}"/>
              </a:ext>
            </a:extLst>
          </p:cNvPr>
          <p:cNvSpPr>
            <a:spLocks xmlns:a="http://schemas.openxmlformats.org/drawingml/2006/main" noGrp="1"/>
          </p:cNvSpPr>
          <p:nvPr/>
        </p:nvSpPr>
        <p:spPr>
          <a:xfrm xmlns:a="http://schemas.openxmlformats.org/drawingml/2006/main">
            <a:off x="6572250" y="30289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22" name="">
            <a:extLst xmlns:a="http://schemas.openxmlformats.org/drawingml/2006/main">
              <a:ext uri="{FF2B5EF4-FFF2-40B4-BE49-F238E27FC236}">
                <a16:creationId xmlns:a16="http://schemas.microsoft.com/office/drawing/2014/main" id="{DC28A4FA-4182-40A9-AD57-1083A7ABFA72}"/>
              </a:ext>
            </a:extLst>
          </p:cNvPr>
          <p:cNvSpPr>
            <a:spLocks xmlns:a="http://schemas.openxmlformats.org/drawingml/2006/main" noGrp="1"/>
          </p:cNvSpPr>
          <p:nvPr/>
        </p:nvSpPr>
        <p:spPr>
          <a:xfrm xmlns:a="http://schemas.openxmlformats.org/drawingml/2006/main">
            <a:off x="7086600" y="30289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3" name="">
            <a:extLst xmlns:a="http://schemas.openxmlformats.org/drawingml/2006/main">
              <a:ext uri="{FF2B5EF4-FFF2-40B4-BE49-F238E27FC236}">
                <a16:creationId xmlns:a16="http://schemas.microsoft.com/office/drawing/2014/main" id="{1AB10C33-3340-4AEB-8007-6E2E65B412EE}"/>
              </a:ext>
            </a:extLst>
          </p:cNvPr>
          <p:cNvSpPr>
            <a:spLocks xmlns:a="http://schemas.openxmlformats.org/drawingml/2006/main" noGrp="1"/>
          </p:cNvSpPr>
          <p:nvPr/>
        </p:nvSpPr>
        <p:spPr>
          <a:xfrm xmlns:a="http://schemas.openxmlformats.org/drawingml/2006/main">
            <a:off x="9620250" y="30289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4" name="">
            <a:extLst xmlns:a="http://schemas.openxmlformats.org/drawingml/2006/main">
              <a:ext uri="{FF2B5EF4-FFF2-40B4-BE49-F238E27FC236}">
                <a16:creationId xmlns:a16="http://schemas.microsoft.com/office/drawing/2014/main" id="{4D3F5E05-259F-40A6-B87F-C1B0778E09B8}"/>
              </a:ext>
            </a:extLst>
          </p:cNvPr>
          <p:cNvSpPr>
            <a:spLocks xmlns:a="http://schemas.openxmlformats.org/drawingml/2006/main" noGrp="1"/>
          </p:cNvSpPr>
          <p:nvPr/>
        </p:nvSpPr>
        <p:spPr>
          <a:xfrm xmlns:a="http://schemas.openxmlformats.org/drawingml/2006/main">
            <a:off x="6477000" y="35433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DE39BDC-40C7-44A2-9F4E-D4DEBDCFC2BD}"/>
              </a:ext>
            </a:extLst>
          </p:cNvPr>
          <p:cNvSpPr>
            <a:spLocks xmlns:a="http://schemas.openxmlformats.org/drawingml/2006/main" noGrp="1"/>
          </p:cNvSpPr>
          <p:nvPr/>
        </p:nvSpPr>
        <p:spPr>
          <a:xfrm xmlns:a="http://schemas.openxmlformats.org/drawingml/2006/main">
            <a:off x="6572250" y="35623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26" name="">
            <a:extLst xmlns:a="http://schemas.openxmlformats.org/drawingml/2006/main">
              <a:ext uri="{FF2B5EF4-FFF2-40B4-BE49-F238E27FC236}">
                <a16:creationId xmlns:a16="http://schemas.microsoft.com/office/drawing/2014/main" id="{51CA144A-029C-4398-86B5-6F651F413545}"/>
              </a:ext>
            </a:extLst>
          </p:cNvPr>
          <p:cNvSpPr>
            <a:spLocks xmlns:a="http://schemas.openxmlformats.org/drawingml/2006/main" noGrp="1"/>
          </p:cNvSpPr>
          <p:nvPr/>
        </p:nvSpPr>
        <p:spPr>
          <a:xfrm xmlns:a="http://schemas.openxmlformats.org/drawingml/2006/main">
            <a:off x="7086600" y="35623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7" name="">
            <a:extLst xmlns:a="http://schemas.openxmlformats.org/drawingml/2006/main">
              <a:ext uri="{FF2B5EF4-FFF2-40B4-BE49-F238E27FC236}">
                <a16:creationId xmlns:a16="http://schemas.microsoft.com/office/drawing/2014/main" id="{57AF2928-D695-4AA9-8309-5E90DF17C7FD}"/>
              </a:ext>
            </a:extLst>
          </p:cNvPr>
          <p:cNvSpPr>
            <a:spLocks xmlns:a="http://schemas.openxmlformats.org/drawingml/2006/main" noGrp="1"/>
          </p:cNvSpPr>
          <p:nvPr/>
        </p:nvSpPr>
        <p:spPr>
          <a:xfrm xmlns:a="http://schemas.openxmlformats.org/drawingml/2006/main">
            <a:off x="9620250" y="35623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8" name="">
            <a:extLst xmlns:a="http://schemas.openxmlformats.org/drawingml/2006/main">
              <a:ext uri="{FF2B5EF4-FFF2-40B4-BE49-F238E27FC236}">
                <a16:creationId xmlns:a16="http://schemas.microsoft.com/office/drawing/2014/main" id="{C4676724-892F-43F0-89E6-BD0B5C4509CE}"/>
              </a:ext>
            </a:extLst>
          </p:cNvPr>
          <p:cNvSpPr>
            <a:spLocks xmlns:a="http://schemas.openxmlformats.org/drawingml/2006/main" noGrp="1"/>
          </p:cNvSpPr>
          <p:nvPr/>
        </p:nvSpPr>
        <p:spPr>
          <a:xfrm xmlns:a="http://schemas.openxmlformats.org/drawingml/2006/main">
            <a:off x="6477000" y="40767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AE24C2B8-DBC6-4F69-ADA3-5AB1DE8FB3F4}"/>
              </a:ext>
            </a:extLst>
          </p:cNvPr>
          <p:cNvSpPr>
            <a:spLocks xmlns:a="http://schemas.openxmlformats.org/drawingml/2006/main" noGrp="1"/>
          </p:cNvSpPr>
          <p:nvPr/>
        </p:nvSpPr>
        <p:spPr>
          <a:xfrm xmlns:a="http://schemas.openxmlformats.org/drawingml/2006/main">
            <a:off x="6572250" y="40957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30" name="">
            <a:extLst xmlns:a="http://schemas.openxmlformats.org/drawingml/2006/main">
              <a:ext uri="{FF2B5EF4-FFF2-40B4-BE49-F238E27FC236}">
                <a16:creationId xmlns:a16="http://schemas.microsoft.com/office/drawing/2014/main" id="{1ECCA70F-7A36-4FAF-A945-097EFC75CECD}"/>
              </a:ext>
            </a:extLst>
          </p:cNvPr>
          <p:cNvSpPr>
            <a:spLocks xmlns:a="http://schemas.openxmlformats.org/drawingml/2006/main" noGrp="1"/>
          </p:cNvSpPr>
          <p:nvPr/>
        </p:nvSpPr>
        <p:spPr>
          <a:xfrm xmlns:a="http://schemas.openxmlformats.org/drawingml/2006/main">
            <a:off x="7086600" y="40957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31" name="">
            <a:extLst xmlns:a="http://schemas.openxmlformats.org/drawingml/2006/main">
              <a:ext uri="{FF2B5EF4-FFF2-40B4-BE49-F238E27FC236}">
                <a16:creationId xmlns:a16="http://schemas.microsoft.com/office/drawing/2014/main" id="{8C8E2173-C2B7-47FA-9B96-E2A13F0103E4}"/>
              </a:ext>
            </a:extLst>
          </p:cNvPr>
          <p:cNvSpPr>
            <a:spLocks xmlns:a="http://schemas.openxmlformats.org/drawingml/2006/main" noGrp="1"/>
          </p:cNvSpPr>
          <p:nvPr/>
        </p:nvSpPr>
        <p:spPr>
          <a:xfrm xmlns:a="http://schemas.openxmlformats.org/drawingml/2006/main">
            <a:off x="9620250" y="40957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32" name="">
            <a:extLst xmlns:a="http://schemas.openxmlformats.org/drawingml/2006/main">
              <a:ext uri="{FF2B5EF4-FFF2-40B4-BE49-F238E27FC236}">
                <a16:creationId xmlns:a16="http://schemas.microsoft.com/office/drawing/2014/main" id="{A738DB60-5E9A-416E-900A-1A4BD009D861}"/>
              </a:ext>
            </a:extLst>
          </p:cNvPr>
          <p:cNvSpPr>
            <a:spLocks xmlns:a="http://schemas.openxmlformats.org/drawingml/2006/main" noGrp="1"/>
          </p:cNvSpPr>
          <p:nvPr/>
        </p:nvSpPr>
        <p:spPr>
          <a:xfrm xmlns:a="http://schemas.openxmlformats.org/drawingml/2006/main">
            <a:off x="6477000" y="4610100"/>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F0DA47D-BCA0-45F9-800C-175420080AB4}"/>
              </a:ext>
            </a:extLst>
          </p:cNvPr>
          <p:cNvSpPr>
            <a:spLocks xmlns:a="http://schemas.openxmlformats.org/drawingml/2006/main" noGrp="1"/>
          </p:cNvSpPr>
          <p:nvPr/>
        </p:nvSpPr>
        <p:spPr>
          <a:xfrm xmlns:a="http://schemas.openxmlformats.org/drawingml/2006/main">
            <a:off x="6572250" y="46291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34" name="">
            <a:extLst xmlns:a="http://schemas.openxmlformats.org/drawingml/2006/main">
              <a:ext uri="{FF2B5EF4-FFF2-40B4-BE49-F238E27FC236}">
                <a16:creationId xmlns:a16="http://schemas.microsoft.com/office/drawing/2014/main" id="{799C193B-1FEA-421F-81A5-E3571AD3DD19}"/>
              </a:ext>
            </a:extLst>
          </p:cNvPr>
          <p:cNvSpPr>
            <a:spLocks xmlns:a="http://schemas.openxmlformats.org/drawingml/2006/main" noGrp="1"/>
          </p:cNvSpPr>
          <p:nvPr/>
        </p:nvSpPr>
        <p:spPr>
          <a:xfrm xmlns:a="http://schemas.openxmlformats.org/drawingml/2006/main">
            <a:off x="7086600" y="46291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CLICK</a:t>
            </a:r>
          </a:p>
        </p:txBody>
      </p:sp>
      <p:sp>
        <p:nvSpPr>
          <p:cNvPr id="35" name="">
            <a:extLst xmlns:a="http://schemas.openxmlformats.org/drawingml/2006/main">
              <a:ext uri="{FF2B5EF4-FFF2-40B4-BE49-F238E27FC236}">
                <a16:creationId xmlns:a16="http://schemas.microsoft.com/office/drawing/2014/main" id="{84073E6C-C262-49EC-B69A-10BDAC0D9683}"/>
              </a:ext>
            </a:extLst>
          </p:cNvPr>
          <p:cNvSpPr>
            <a:spLocks xmlns:a="http://schemas.openxmlformats.org/drawingml/2006/main" noGrp="1"/>
          </p:cNvSpPr>
          <p:nvPr/>
        </p:nvSpPr>
        <p:spPr>
          <a:xfrm xmlns:a="http://schemas.openxmlformats.org/drawingml/2006/main">
            <a:off x="9620250" y="46291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F2BDAF"/>
                </a:solidFill>
                <a:latin typeface="Helvetica Neue"/>
                <a:ea typeface="Helvetica Neue"/>
                <a:cs typeface="Helvetica Neue"/>
              </a:defRPr>
            </a:pPr>
            <a:r>
              <a:rPr sz="1125" b="1">
                <a:solidFill>
                  <a:srgbClr val="F2BDAF"/>
                </a:solidFill>
                <a:latin typeface="Helvetica Neue"/>
                <a:ea typeface="Helvetica Neue"/>
                <a:cs typeface="Helvetica Neue"/>
              </a:rPr>
              <a:t>miss</a:t>
            </a:r>
          </a:p>
        </p:txBody>
      </p:sp>
      <p:sp>
        <p:nvSpPr>
          <p:cNvPr id="36" name="">
            <a:extLst xmlns:a="http://schemas.openxmlformats.org/drawingml/2006/main">
              <a:ext uri="{FF2B5EF4-FFF2-40B4-BE49-F238E27FC236}">
                <a16:creationId xmlns:a16="http://schemas.microsoft.com/office/drawing/2014/main" id="{5C8D8902-C551-4DD6-A265-77AE4ABE86BA}"/>
              </a:ext>
            </a:extLst>
          </p:cNvPr>
          <p:cNvSpPr>
            <a:spLocks xmlns:a="http://schemas.openxmlformats.org/drawingml/2006/main" noGrp="1"/>
          </p:cNvSpPr>
          <p:nvPr/>
        </p:nvSpPr>
        <p:spPr>
          <a:xfrm xmlns:a="http://schemas.openxmlformats.org/drawingml/2006/main">
            <a:off x="6477000" y="5286375"/>
            <a:ext cx="436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C7BC"/>
                </a:solidFill>
                <a:latin typeface="Helvetica Neue"/>
                <a:ea typeface="Helvetica Neue"/>
                <a:cs typeface="Helvetica Neue"/>
              </a:defRPr>
            </a:pPr>
            <a:r>
              <a:rPr sz="1125" b="1">
                <a:solidFill>
                  <a:srgbClr val="F0C7BC"/>
                </a:solidFill>
                <a:latin typeface="Helvetica Neue"/>
                <a:ea typeface="Helvetica Neue"/>
                <a:cs typeface="Helvetica Neue"/>
              </a:rPr>
              <a:t>Target: Signal Quay Rooms at $172</a:t>
            </a:r>
          </a:p>
        </p:txBody>
      </p:sp>
      <p:sp>
        <p:nvSpPr>
          <p:cNvPr id="37" name="">
            <a:extLst xmlns:a="http://schemas.openxmlformats.org/drawingml/2006/main">
              <a:ext uri="{FF2B5EF4-FFF2-40B4-BE49-F238E27FC236}">
                <a16:creationId xmlns:a16="http://schemas.microsoft.com/office/drawing/2014/main" id="{602F63ED-C9B6-4C38-AF5F-4DD265FE6696}"/>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D2E4C652-DF68-4829-B499-5ABC60E384E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ScreenSpot-Pro supplies real GUI cases · the deterministic hotel fixture supplies replayable trajectories</a:t>
            </a:r>
          </a:p>
        </p:txBody>
      </p:sp>
    </p:spTree>
    <p:extLst>
      <p:ext uri="{BB962C8B-B14F-4D97-AF65-F5344CB8AC3E}">
        <p14:creationId xmlns:p14="http://schemas.microsoft.com/office/powerpoint/2010/main" val="837671356"/>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72A0829-50FF-4C31-95CA-D1AC5DE55B16}"/>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FULL BENCHMARK REPLICATION</a:t>
            </a:r>
          </a:p>
        </p:txBody>
      </p:sp>
      <p:sp>
        <p:nvSpPr>
          <p:cNvPr id="2" name="">
            <a:extLst xmlns:a="http://schemas.openxmlformats.org/drawingml/2006/main">
              <a:ext uri="{FF2B5EF4-FFF2-40B4-BE49-F238E27FC236}">
                <a16:creationId xmlns:a16="http://schemas.microsoft.com/office/drawing/2014/main" id="{204E9AD9-4E8A-4C70-B2BE-D73B4606BFC4}"/>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65.9% overall, with icon targets driving most errors</a:t>
            </a:r>
          </a:p>
        </p:txBody>
      </p:sp>
      <p:sp>
        <p:nvSpPr>
          <p:cNvPr id="3" name="">
            <a:extLst xmlns:a="http://schemas.openxmlformats.org/drawingml/2006/main">
              <a:ext uri="{FF2B5EF4-FFF2-40B4-BE49-F238E27FC236}">
                <a16:creationId xmlns:a16="http://schemas.microsoft.com/office/drawing/2014/main" id="{EC94B155-EBB5-47AE-9A7F-592481FBA079}"/>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79D654C4-AEE2-4ECA-9BD7-41E9588A5F5C}"/>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Holo3.1-4B, official element-localization harness, all 1,581 ScreenSpot-Pro items</a:t>
            </a:r>
          </a:p>
        </p:txBody>
      </p:sp>
      <p:sp>
        <p:nvSpPr>
          <p:cNvPr id="5" name="">
            <a:extLst xmlns:a="http://schemas.openxmlformats.org/drawingml/2006/main">
              <a:ext uri="{FF2B5EF4-FFF2-40B4-BE49-F238E27FC236}">
                <a16:creationId xmlns:a16="http://schemas.microsoft.com/office/drawing/2014/main" id="{5C370DA2-6076-443A-88F2-050C2A5523D4}"/>
              </a:ext>
            </a:extLst>
          </p:cNvPr>
          <p:cNvSpPr>
            <a:spLocks xmlns:a="http://schemas.openxmlformats.org/drawingml/2006/main" noGrp="1"/>
          </p:cNvSpPr>
          <p:nvPr/>
        </p:nvSpPr>
        <p:spPr>
          <a:xfrm xmlns:a="http://schemas.openxmlformats.org/drawingml/2006/main">
            <a:off x="609600" y="1543050"/>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a:solidFill>
                  <a:srgbClr val="10151C"/>
                </a:solidFill>
                <a:latin typeface="Helvetica Neue"/>
                <a:ea typeface="Helvetica Neue"/>
                <a:cs typeface="Helvetica Neue"/>
              </a:defRPr>
            </a:pPr>
            <a:r>
              <a:rPr sz="4200" b="1">
                <a:solidFill>
                  <a:srgbClr val="10151C"/>
                </a:solidFill>
                <a:latin typeface="Helvetica Neue"/>
                <a:ea typeface="Helvetica Neue"/>
                <a:cs typeface="Helvetica Neue"/>
              </a:rPr>
              <a:t>65.9%</a:t>
            </a:r>
          </a:p>
        </p:txBody>
      </p:sp>
      <p:sp>
        <p:nvSpPr>
          <p:cNvPr id="6" name="">
            <a:extLst xmlns:a="http://schemas.openxmlformats.org/drawingml/2006/main">
              <a:ext uri="{FF2B5EF4-FFF2-40B4-BE49-F238E27FC236}">
                <a16:creationId xmlns:a16="http://schemas.microsoft.com/office/drawing/2014/main" id="{5FACEAFF-9B13-4002-9204-9264839BE2F7}"/>
              </a:ext>
            </a:extLst>
          </p:cNvPr>
          <p:cNvSpPr>
            <a:spLocks xmlns:a="http://schemas.openxmlformats.org/drawingml/2006/main" noGrp="1"/>
          </p:cNvSpPr>
          <p:nvPr/>
        </p:nvSpPr>
        <p:spPr>
          <a:xfrm xmlns:a="http://schemas.openxmlformats.org/drawingml/2006/main">
            <a:off x="647700" y="22098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1,042 correct out of 1,581</a:t>
            </a:r>
          </a:p>
        </p:txBody>
      </p:sp>
      <p:sp>
        <p:nvSpPr>
          <p:cNvPr id="7" name="">
            <a:extLst xmlns:a="http://schemas.openxmlformats.org/drawingml/2006/main">
              <a:ext uri="{FF2B5EF4-FFF2-40B4-BE49-F238E27FC236}">
                <a16:creationId xmlns:a16="http://schemas.microsoft.com/office/drawing/2014/main" id="{A5D8BDF3-F752-49A6-AC0D-0A885582C12B}"/>
              </a:ext>
            </a:extLst>
          </p:cNvPr>
          <p:cNvSpPr>
            <a:spLocks xmlns:a="http://schemas.openxmlformats.org/drawingml/2006/main" noGrp="1"/>
          </p:cNvSpPr>
          <p:nvPr/>
        </p:nvSpPr>
        <p:spPr>
          <a:xfrm xmlns:a="http://schemas.openxmlformats.org/drawingml/2006/main">
            <a:off x="647700" y="2619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D84D3"/>
                </a:solidFill>
                <a:latin typeface="Helvetica Neue"/>
                <a:ea typeface="Helvetica Neue"/>
                <a:cs typeface="Helvetica Neue"/>
              </a:defRPr>
            </a:pPr>
            <a:r>
              <a:rPr sz="1125" b="1">
                <a:solidFill>
                  <a:srgbClr val="2D84D3"/>
                </a:solidFill>
                <a:latin typeface="Helvetica Neue"/>
                <a:ea typeface="Helvetica Neue"/>
                <a:cs typeface="Helvetica Neue"/>
              </a:rPr>
              <a:t>Reported 4B reference ≈ 66.5%</a:t>
            </a:r>
          </a:p>
        </p:txBody>
      </p:sp>
      <p:sp>
        <p:nvSpPr>
          <p:cNvPr id="8" name="">
            <a:extLst xmlns:a="http://schemas.openxmlformats.org/drawingml/2006/main">
              <a:ext uri="{FF2B5EF4-FFF2-40B4-BE49-F238E27FC236}">
                <a16:creationId xmlns:a16="http://schemas.microsoft.com/office/drawing/2014/main" id="{35F7EC0E-1922-4D75-B7D1-A672843AC1BD}"/>
              </a:ext>
            </a:extLst>
          </p:cNvPr>
          <p:cNvSpPr>
            <a:spLocks xmlns:a="http://schemas.openxmlformats.org/drawingml/2006/main" noGrp="1"/>
          </p:cNvSpPr>
          <p:nvPr/>
        </p:nvSpPr>
        <p:spPr>
          <a:xfrm xmlns:a="http://schemas.openxmlformats.org/drawingml/2006/main">
            <a:off x="647700" y="28860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Difference: −0.6 percentage point</a:t>
            </a:r>
          </a:p>
        </p:txBody>
      </p:sp>
      <p:sp>
        <p:nvSpPr>
          <p:cNvPr id="9" name="">
            <a:extLst xmlns:a="http://schemas.openxmlformats.org/drawingml/2006/main">
              <a:ext uri="{FF2B5EF4-FFF2-40B4-BE49-F238E27FC236}">
                <a16:creationId xmlns:a16="http://schemas.microsoft.com/office/drawing/2014/main" id="{CAC95920-F241-47EE-83D7-C15DFB5647D3}"/>
              </a:ext>
            </a:extLst>
          </p:cNvPr>
          <p:cNvSpPr>
            <a:spLocks xmlns:a="http://schemas.openxmlformats.org/drawingml/2006/main" noGrp="1"/>
          </p:cNvSpPr>
          <p:nvPr/>
        </p:nvSpPr>
        <p:spPr>
          <a:xfrm xmlns:a="http://schemas.openxmlformats.org/drawingml/2006/main">
            <a:off x="647700" y="324802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100% valid JSON responses</a:t>
            </a:r>
          </a:p>
        </p:txBody>
      </p:sp>
      <p:sp>
        <p:nvSpPr>
          <p:cNvPr id="10" name="">
            <a:extLst xmlns:a="http://schemas.openxmlformats.org/drawingml/2006/main">
              <a:ext uri="{FF2B5EF4-FFF2-40B4-BE49-F238E27FC236}">
                <a16:creationId xmlns:a16="http://schemas.microsoft.com/office/drawing/2014/main" id="{E94134E2-F27A-443B-90D3-BD930234B624}"/>
              </a:ext>
            </a:extLst>
          </p:cNvPr>
          <p:cNvSpPr>
            <a:spLocks xmlns:a="http://schemas.openxmlformats.org/drawingml/2006/main" noGrp="1"/>
          </p:cNvSpPr>
          <p:nvPr/>
        </p:nvSpPr>
        <p:spPr>
          <a:xfrm xmlns:a="http://schemas.openxmlformats.org/drawingml/2006/main">
            <a:off x="3562350" y="1504950"/>
            <a:ext cx="9525" cy="2057400"/>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49FD463-A4CB-4463-82E1-B0DA1ADCC226}"/>
              </a:ext>
            </a:extLst>
          </p:cNvPr>
          <p:cNvSpPr>
            <a:spLocks xmlns:a="http://schemas.openxmlformats.org/drawingml/2006/main" noGrp="1"/>
          </p:cNvSpPr>
          <p:nvPr/>
        </p:nvSpPr>
        <p:spPr>
          <a:xfrm xmlns:a="http://schemas.openxmlformats.org/drawingml/2006/main">
            <a:off x="3848100" y="1504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ACCURACY BY TARGET UI</a:t>
            </a:r>
          </a:p>
        </p:txBody>
      </p:sp>
      <p:graphicFrame>
        <p:nvGraphicFramePr>
          <p:cNvPr id="37" name="Chart"/>
          <p:cNvGraphicFramePr/>
          <p:nvPr/>
        </p:nvGraphicFramePr>
        <p:xfrm>
          <a:off xmlns:a="http://schemas.openxmlformats.org/drawingml/2006/main" x="3733800" y="1752600"/>
          <a:ext xmlns:a="http://schemas.openxmlformats.org/drawingml/2006/main" cx="4819650" cy="1790700"/>
        </p:xfrm>
        <a:graphic xmlns:a="http://schemas.openxmlformats.org/drawingml/2006/main">
          <a:graphicData uri="http://schemas.openxmlformats.org/drawingml/2006/chart">
            <c:chart xmlns:r="http://schemas.openxmlformats.org/officeDocument/2006/relationships" xmlns:c="http://schemas.openxmlformats.org/drawingml/2006/chart" r:id="Rab7cc4b013c94e87"/>
          </a:graphicData>
        </a:graphic>
      </p:graphicFrame>
      <p:sp>
        <p:nvSpPr>
          <p:cNvPr id="13" name="">
            <a:extLst xmlns:a="http://schemas.openxmlformats.org/drawingml/2006/main">
              <a:ext uri="{FF2B5EF4-FFF2-40B4-BE49-F238E27FC236}">
                <a16:creationId xmlns:a16="http://schemas.microsoft.com/office/drawing/2014/main" id="{B033A851-DDC6-4777-837A-13DCE11F0BC0}"/>
              </a:ext>
            </a:extLst>
          </p:cNvPr>
          <p:cNvSpPr>
            <a:spLocks xmlns:a="http://schemas.openxmlformats.org/drawingml/2006/main" noGrp="1"/>
          </p:cNvSpPr>
          <p:nvPr/>
        </p:nvSpPr>
        <p:spPr>
          <a:xfrm xmlns:a="http://schemas.openxmlformats.org/drawingml/2006/main">
            <a:off x="6610350" y="207645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44.0%</a:t>
            </a:r>
          </a:p>
        </p:txBody>
      </p:sp>
      <p:sp>
        <p:nvSpPr>
          <p:cNvPr id="14" name="">
            <a:extLst xmlns:a="http://schemas.openxmlformats.org/drawingml/2006/main">
              <a:ext uri="{FF2B5EF4-FFF2-40B4-BE49-F238E27FC236}">
                <a16:creationId xmlns:a16="http://schemas.microsoft.com/office/drawing/2014/main" id="{7E399F06-FD3F-4005-AB5A-31D268883451}"/>
              </a:ext>
            </a:extLst>
          </p:cNvPr>
          <p:cNvSpPr>
            <a:spLocks xmlns:a="http://schemas.openxmlformats.org/drawingml/2006/main" noGrp="1"/>
          </p:cNvSpPr>
          <p:nvPr/>
        </p:nvSpPr>
        <p:spPr>
          <a:xfrm xmlns:a="http://schemas.openxmlformats.org/drawingml/2006/main">
            <a:off x="7800975" y="274320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79.4%</a:t>
            </a:r>
          </a:p>
        </p:txBody>
      </p:sp>
      <p:sp>
        <p:nvSpPr>
          <p:cNvPr id="15" name="">
            <a:extLst xmlns:a="http://schemas.openxmlformats.org/drawingml/2006/main">
              <a:ext uri="{FF2B5EF4-FFF2-40B4-BE49-F238E27FC236}">
                <a16:creationId xmlns:a16="http://schemas.microsoft.com/office/drawing/2014/main" id="{FA6A30A1-6B98-42DE-9ACD-34D52240999D}"/>
              </a:ext>
            </a:extLst>
          </p:cNvPr>
          <p:cNvSpPr>
            <a:spLocks xmlns:a="http://schemas.openxmlformats.org/drawingml/2006/main" noGrp="1"/>
          </p:cNvSpPr>
          <p:nvPr/>
        </p:nvSpPr>
        <p:spPr>
          <a:xfrm xmlns:a="http://schemas.openxmlformats.org/drawingml/2006/main">
            <a:off x="8858250" y="1504950"/>
            <a:ext cx="2724150" cy="2057400"/>
          </a:xfrm>
          <a:prstGeom xmlns:a="http://schemas.openxmlformats.org/drawingml/2006/main" prst="roundRect">
            <a:avLst>
              <a:gd name="adj" fmla="val 3704"/>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7DD5F2C-ECBA-480C-8689-F55C0517D1D0}"/>
              </a:ext>
            </a:extLst>
          </p:cNvPr>
          <p:cNvSpPr>
            <a:spLocks xmlns:a="http://schemas.openxmlformats.org/drawingml/2006/main" noGrp="1"/>
          </p:cNvSpPr>
          <p:nvPr/>
        </p:nvSpPr>
        <p:spPr>
          <a:xfrm xmlns:a="http://schemas.openxmlformats.org/drawingml/2006/main">
            <a:off x="9086850" y="173355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WEAKEST LABELED CELL</a:t>
            </a:r>
          </a:p>
        </p:txBody>
      </p:sp>
      <p:sp>
        <p:nvSpPr>
          <p:cNvPr id="17" name="">
            <a:extLst xmlns:a="http://schemas.openxmlformats.org/drawingml/2006/main">
              <a:ext uri="{FF2B5EF4-FFF2-40B4-BE49-F238E27FC236}">
                <a16:creationId xmlns:a16="http://schemas.microsoft.com/office/drawing/2014/main" id="{0332FA1B-DA8F-43E9-8B91-81AC81A1DBD3}"/>
              </a:ext>
            </a:extLst>
          </p:cNvPr>
          <p:cNvSpPr>
            <a:spLocks xmlns:a="http://schemas.openxmlformats.org/drawingml/2006/main" noGrp="1"/>
          </p:cNvSpPr>
          <p:nvPr/>
        </p:nvSpPr>
        <p:spPr>
          <a:xfrm xmlns:a="http://schemas.openxmlformats.org/drawingml/2006/main">
            <a:off x="9086850" y="20478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Icon + file actions</a:t>
            </a:r>
          </a:p>
        </p:txBody>
      </p:sp>
      <p:sp>
        <p:nvSpPr>
          <p:cNvPr id="18" name="">
            <a:extLst xmlns:a="http://schemas.openxmlformats.org/drawingml/2006/main">
              <a:ext uri="{FF2B5EF4-FFF2-40B4-BE49-F238E27FC236}">
                <a16:creationId xmlns:a16="http://schemas.microsoft.com/office/drawing/2014/main" id="{BE6A6807-F3C2-4323-B558-8893B4C805DD}"/>
              </a:ext>
            </a:extLst>
          </p:cNvPr>
          <p:cNvSpPr>
            <a:spLocks xmlns:a="http://schemas.openxmlformats.org/drawingml/2006/main" noGrp="1"/>
          </p:cNvSpPr>
          <p:nvPr/>
        </p:nvSpPr>
        <p:spPr>
          <a:xfrm xmlns:a="http://schemas.openxmlformats.org/drawingml/2006/main">
            <a:off x="9086850" y="2438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F05A3C"/>
                </a:solidFill>
                <a:latin typeface="Helvetica Neue"/>
                <a:ea typeface="Helvetica Neue"/>
                <a:cs typeface="Helvetica Neue"/>
              </a:defRPr>
            </a:pPr>
            <a:r>
              <a:rPr sz="2700" b="1">
                <a:solidFill>
                  <a:srgbClr val="F05A3C"/>
                </a:solidFill>
                <a:latin typeface="Helvetica Neue"/>
                <a:ea typeface="Helvetica Neue"/>
                <a:cs typeface="Helvetica Neue"/>
              </a:rPr>
              <a:t>36.1%</a:t>
            </a:r>
          </a:p>
        </p:txBody>
      </p:sp>
      <p:sp>
        <p:nvSpPr>
          <p:cNvPr id="19" name="">
            <a:extLst xmlns:a="http://schemas.openxmlformats.org/drawingml/2006/main">
              <a:ext uri="{FF2B5EF4-FFF2-40B4-BE49-F238E27FC236}">
                <a16:creationId xmlns:a16="http://schemas.microsoft.com/office/drawing/2014/main" id="{77F53410-0A3D-48DD-804D-56A5C3147E95}"/>
              </a:ext>
            </a:extLst>
          </p:cNvPr>
          <p:cNvSpPr>
            <a:spLocks xmlns:a="http://schemas.openxmlformats.org/drawingml/2006/main" noGrp="1"/>
          </p:cNvSpPr>
          <p:nvPr/>
        </p:nvSpPr>
        <p:spPr>
          <a:xfrm xmlns:a="http://schemas.openxmlformats.org/drawingml/2006/main">
            <a:off x="10267950" y="2552700"/>
            <a:ext cx="106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2BDAF"/>
                </a:solidFill>
                <a:latin typeface="Helvetica Neue"/>
                <a:ea typeface="Helvetica Neue"/>
                <a:cs typeface="Helvetica Neue"/>
              </a:defRPr>
            </a:pPr>
            <a:r>
              <a:rPr sz="1050" b="1">
                <a:solidFill>
                  <a:srgbClr val="F2BDAF"/>
                </a:solidFill>
                <a:latin typeface="Helvetica Neue"/>
                <a:ea typeface="Helvetica Neue"/>
                <a:cs typeface="Helvetica Neue"/>
              </a:rPr>
              <a:t>13 / 36 correct</a:t>
            </a:r>
          </a:p>
        </p:txBody>
      </p:sp>
      <p:sp>
        <p:nvSpPr>
          <p:cNvPr id="20" name="">
            <a:extLst xmlns:a="http://schemas.openxmlformats.org/drawingml/2006/main">
              <a:ext uri="{FF2B5EF4-FFF2-40B4-BE49-F238E27FC236}">
                <a16:creationId xmlns:a16="http://schemas.microsoft.com/office/drawing/2014/main" id="{E3161987-2687-41CE-8769-221A444F8891}"/>
              </a:ext>
            </a:extLst>
          </p:cNvPr>
          <p:cNvSpPr>
            <a:spLocks xmlns:a="http://schemas.openxmlformats.org/drawingml/2006/main" noGrp="1"/>
          </p:cNvSpPr>
          <p:nvPr/>
        </p:nvSpPr>
        <p:spPr>
          <a:xfrm xmlns:a="http://schemas.openxmlformats.org/drawingml/2006/main">
            <a:off x="9086850" y="30099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The larger icon + navigation cell is also low: 40.3% on 149 items.</a:t>
            </a:r>
          </a:p>
        </p:txBody>
      </p:sp>
      <p:sp>
        <p:nvSpPr>
          <p:cNvPr id="21" name="">
            <a:extLst xmlns:a="http://schemas.openxmlformats.org/drawingml/2006/main">
              <a:ext uri="{FF2B5EF4-FFF2-40B4-BE49-F238E27FC236}">
                <a16:creationId xmlns:a16="http://schemas.microsoft.com/office/drawing/2014/main" id="{75A56CE7-30F0-4BCE-9762-58721127214D}"/>
              </a:ext>
            </a:extLst>
          </p:cNvPr>
          <p:cNvSpPr>
            <a:spLocks xmlns:a="http://schemas.openxmlformats.org/drawingml/2006/main" noGrp="1"/>
          </p:cNvSpPr>
          <p:nvPr/>
        </p:nvSpPr>
        <p:spPr>
          <a:xfrm xmlns:a="http://schemas.openxmlformats.org/drawingml/2006/main">
            <a:off x="609600" y="38862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UI TYPE × INSTRUCTION ACTION FAMILY</a:t>
            </a:r>
          </a:p>
        </p:txBody>
      </p:sp>
      <p:sp>
        <p:nvSpPr>
          <p:cNvPr id="22" name="">
            <a:extLst xmlns:a="http://schemas.openxmlformats.org/drawingml/2006/main">
              <a:ext uri="{FF2B5EF4-FFF2-40B4-BE49-F238E27FC236}">
                <a16:creationId xmlns:a16="http://schemas.microsoft.com/office/drawing/2014/main" id="{DC15F65B-A04F-4CD1-84F0-247CAE5A754A}"/>
              </a:ext>
            </a:extLst>
          </p:cNvPr>
          <p:cNvSpPr>
            <a:spLocks xmlns:a="http://schemas.openxmlformats.org/drawingml/2006/main" noGrp="1"/>
          </p:cNvSpPr>
          <p:nvPr/>
        </p:nvSpPr>
        <p:spPr>
          <a:xfrm xmlns:a="http://schemas.openxmlformats.org/drawingml/2006/main">
            <a:off x="8353425" y="3886200"/>
            <a:ext cx="32289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Accuracy with item count in each cell</a:t>
            </a:r>
          </a:p>
        </p:txBody>
      </p:sp>
      <p:graphicFrame>
        <p:nvGraphicFramePr>
          <p:cNvPr id="48" name=""/>
          <p:cNvGraphicFramePr/>
          <p:nvPr/>
        </p:nvGraphicFramePr>
        <p:xfrm>
          <a:off xmlns:a="http://schemas.openxmlformats.org/drawingml/2006/main" x="609600" y="4171950"/>
          <a:ext xmlns:a="http://schemas.openxmlformats.org/drawingml/2006/main" cx="10972800" cy="1352550"/>
        </p:xfrm>
        <a:graphic xmlns:a="http://schemas.openxmlformats.org/drawingml/2006/main">
          <a:graphicData uri="http://schemas.openxmlformats.org/drawingml/2006/table">
            <a:tbl>
              <a:tblPr/>
              <a:tblGrid>
                <a:gridCol w="1104900"/>
                <a:gridCol w="1409700"/>
                <a:gridCol w="1409700"/>
                <a:gridCol w="1409700"/>
                <a:gridCol w="1409700"/>
                <a:gridCol w="1409700"/>
                <a:gridCol w="1409700"/>
                <a:gridCol w="1409700"/>
              </a:tblGrid>
              <a:tr h="450850">
                <a:tc>
                  <a:txBody>
                    <a:bodyPr>
                      <a:normAutofit/>
                    </a:bodyPr>
                    <a:lstStyle/>
                    <a:p>
                      <a:pPr algn="ctr"/>
                      <a:r>
                        <a:rPr sz="675" b="1">
                          <a:solidFill>
                            <a:srgbClr val="FFFFFF"/>
                          </a:solidFill>
                          <a:latin typeface="Helvetica Neue"/>
                          <a:ea typeface="Helvetica Neue"/>
                          <a:cs typeface="Helvetica Neue"/>
                        </a:rPr>
                        <a:t>UI TYPE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NAVIGATE</a:t>
                      </a:r>
                    </a:p>
                    <a:p>
                      <a:pPr algn="ctr"/>
                      <a:r>
                        <a:rPr sz="675" b="1">
                          <a:solidFill>
                            <a:srgbClr val="FFFFFF"/>
                          </a:solidFill>
                          <a:latin typeface="Helvetica Neue"/>
                          <a:ea typeface="Helvetica Neue"/>
                          <a:cs typeface="Helvetica Neue"/>
                        </a:rPr>
                        <a:t>REVEAL</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SELECT</a:t>
                      </a:r>
                    </a:p>
                    <a:p>
                      <a:pPr algn="ctr"/>
                      <a:r>
                        <a:rPr sz="675" b="1">
                          <a:solidFill>
                            <a:srgbClr val="FFFFFF"/>
                          </a:solidFill>
                          <a:latin typeface="Helvetica Neue"/>
                          <a:ea typeface="Helvetica Neue"/>
                          <a:cs typeface="Helvetica Neue"/>
                        </a:rPr>
                        <a:t>ACTIVATE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CREATE</a:t>
                      </a:r>
                    </a:p>
                    <a:p>
                      <a:pPr algn="ctr"/>
                      <a:r>
                        <a:rPr sz="675" b="1">
                          <a:solidFill>
                            <a:srgbClr val="FFFFFF"/>
                          </a:solidFill>
                          <a:latin typeface="Helvetica Neue"/>
                          <a:ea typeface="Helvetica Neue"/>
                          <a:cs typeface="Helvetica Neue"/>
                        </a:rPr>
                        <a:t>INSERT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EDIT</a:t>
                      </a:r>
                    </a:p>
                    <a:p>
                      <a:pPr algn="ctr"/>
                      <a:r>
                        <a:rPr sz="675" b="1">
                          <a:solidFill>
                            <a:srgbClr val="FFFFFF"/>
                          </a:solidFill>
                          <a:latin typeface="Helvetica Neue"/>
                          <a:ea typeface="Helvetica Neue"/>
                          <a:cs typeface="Helvetica Neue"/>
                        </a:rPr>
                        <a:t>FORMAT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REMOVE</a:t>
                      </a:r>
                    </a:p>
                    <a:p>
                      <a:pPr algn="ctr"/>
                      <a:r>
                        <a:rPr sz="675" b="1">
                          <a:solidFill>
                            <a:srgbClr val="FFFFFF"/>
                          </a:solidFill>
                          <a:latin typeface="Helvetica Neue"/>
                          <a:ea typeface="Helvetica Neue"/>
                          <a:cs typeface="Helvetica Neue"/>
                        </a:rPr>
                        <a:t>CLOSE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FILE</a:t>
                      </a:r>
                    </a:p>
                    <a:p>
                      <a:pPr algn="ctr"/>
                      <a:r>
                        <a:rPr sz="675" b="1">
                          <a:solidFill>
                            <a:srgbClr val="FFFFFF"/>
                          </a:solidFill>
                          <a:latin typeface="Helvetica Neue"/>
                          <a:ea typeface="Helvetica Neue"/>
                          <a:cs typeface="Helvetica Neue"/>
                        </a:rPr>
                        <a:t>TRANSFER</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OTHER</a:t>
                      </a:r>
                    </a:p>
                  </a:txBody>
                  <a:tcPr marL="47625" marR="47625" marT="19050" marB="19050" anchor="ctr">
                    <a:solidFill>
                      <a:srgbClr val="1C2733"/>
                    </a:solidFill>
                  </a:tcPr>
                </a:tc>
              </a:tr>
              <a:tr h="450850">
                <a:tc>
                  <a:txBody>
                    <a:bodyPr>
                      <a:normAutofit/>
                    </a:bodyPr>
                    <a:lstStyle/>
                    <a:p>
                      <a:pPr algn="ctr"/>
                      <a:r>
                        <a:rPr sz="900" b="1">
                          <a:solidFill>
                            <a:srgbClr val="FFFFFF"/>
                          </a:solidFill>
                          <a:latin typeface="Helvetica Neue"/>
                          <a:ea typeface="Helvetica Neue"/>
                          <a:cs typeface="Helvetica Neue"/>
                        </a:rPr>
                        <a:t>ICON</a:t>
                      </a:r>
                    </a:p>
                  </a:txBody>
                  <a:tcPr marL="47625" marR="47625" marT="19050" marB="19050" anchor="ctr">
                    <a:solidFill>
                      <a:srgbClr val="1C2733"/>
                    </a:solidFill>
                  </a:tcPr>
                </a:tc>
                <a:tc>
                  <a:txBody>
                    <a:bodyPr>
                      <a:normAutofit/>
                    </a:bodyPr>
                    <a:lstStyle/>
                    <a:p>
                      <a:pPr algn="ctr"/>
                      <a:r>
                        <a:rPr sz="900" b="1">
                          <a:solidFill>
                            <a:srgbClr val="A33D29"/>
                          </a:solidFill>
                          <a:latin typeface="Helvetica Neue"/>
                          <a:ea typeface="Helvetica Neue"/>
                          <a:cs typeface="Helvetica Neue"/>
                        </a:rPr>
                        <a:t>40.3%</a:t>
                      </a:r>
                    </a:p>
                    <a:p>
                      <a:pPr algn="ctr"/>
                      <a:r>
                        <a:rPr sz="900" b="1">
                          <a:solidFill>
                            <a:srgbClr val="A33D29"/>
                          </a:solidFill>
                          <a:latin typeface="Helvetica Neue"/>
                          <a:ea typeface="Helvetica Neue"/>
                          <a:cs typeface="Helvetica Neue"/>
                        </a:rPr>
                        <a:t>n=149</a:t>
                      </a:r>
                    </a:p>
                  </a:txBody>
                  <a:tcPr marL="47625" marR="47625" marT="19050" marB="19050" anchor="ctr">
                    <a:solidFill>
                      <a:srgbClr val="F7E4DB"/>
                    </a:solidFill>
                  </a:tcPr>
                </a:tc>
                <a:tc>
                  <a:txBody>
                    <a:bodyPr>
                      <a:normAutofit/>
                    </a:bodyPr>
                    <a:lstStyle/>
                    <a:p>
                      <a:pPr algn="ctr"/>
                      <a:r>
                        <a:rPr sz="900" b="1">
                          <a:solidFill>
                            <a:srgbClr val="10151C"/>
                          </a:solidFill>
                          <a:latin typeface="Helvetica Neue"/>
                          <a:ea typeface="Helvetica Neue"/>
                          <a:cs typeface="Helvetica Neue"/>
                        </a:rPr>
                        <a:t>52.6%</a:t>
                      </a:r>
                    </a:p>
                    <a:p>
                      <a:pPr algn="ctr"/>
                      <a:r>
                        <a:rPr sz="900" b="1">
                          <a:solidFill>
                            <a:srgbClr val="10151C"/>
                          </a:solidFill>
                          <a:latin typeface="Helvetica Neue"/>
                          <a:ea typeface="Helvetica Neue"/>
                          <a:cs typeface="Helvetica Neue"/>
                        </a:rPr>
                        <a:t>n=76</a:t>
                      </a:r>
                    </a:p>
                  </a:txBody>
                  <a:tcPr marL="47625" marR="47625" marT="19050" marB="19050" anchor="ctr">
                    <a:solidFill>
                      <a:srgbClr val="F0E7DE"/>
                    </a:solidFill>
                  </a:tcPr>
                </a:tc>
                <a:tc>
                  <a:txBody>
                    <a:bodyPr>
                      <a:normAutofit/>
                    </a:bodyPr>
                    <a:lstStyle/>
                    <a:p>
                      <a:pPr algn="ctr"/>
                      <a:r>
                        <a:rPr sz="900" b="1">
                          <a:solidFill>
                            <a:srgbClr val="A33D29"/>
                          </a:solidFill>
                          <a:latin typeface="Helvetica Neue"/>
                          <a:ea typeface="Helvetica Neue"/>
                          <a:cs typeface="Helvetica Neue"/>
                        </a:rPr>
                        <a:t>43.2%</a:t>
                      </a:r>
                    </a:p>
                    <a:p>
                      <a:pPr algn="ctr"/>
                      <a:r>
                        <a:rPr sz="900" b="1">
                          <a:solidFill>
                            <a:srgbClr val="A33D29"/>
                          </a:solidFill>
                          <a:latin typeface="Helvetica Neue"/>
                          <a:ea typeface="Helvetica Neue"/>
                          <a:cs typeface="Helvetica Neue"/>
                        </a:rPr>
                        <a:t>n=81</a:t>
                      </a:r>
                    </a:p>
                  </a:txBody>
                  <a:tcPr marL="47625" marR="47625" marT="19050" marB="19050" anchor="ctr">
                    <a:solidFill>
                      <a:srgbClr val="F5E5DC"/>
                    </a:solidFill>
                  </a:tcPr>
                </a:tc>
                <a:tc>
                  <a:txBody>
                    <a:bodyPr>
                      <a:normAutofit/>
                    </a:bodyPr>
                    <a:lstStyle/>
                    <a:p>
                      <a:pPr algn="ctr"/>
                      <a:r>
                        <a:rPr sz="900" b="1">
                          <a:solidFill>
                            <a:srgbClr val="10151C"/>
                          </a:solidFill>
                          <a:latin typeface="Helvetica Neue"/>
                          <a:ea typeface="Helvetica Neue"/>
                          <a:cs typeface="Helvetica Neue"/>
                        </a:rPr>
                        <a:t>45.0%</a:t>
                      </a:r>
                    </a:p>
                    <a:p>
                      <a:pPr algn="ctr"/>
                      <a:r>
                        <a:rPr sz="900" b="1">
                          <a:solidFill>
                            <a:srgbClr val="10151C"/>
                          </a:solidFill>
                          <a:latin typeface="Helvetica Neue"/>
                          <a:ea typeface="Helvetica Neue"/>
                          <a:cs typeface="Helvetica Neue"/>
                        </a:rPr>
                        <a:t>n=80</a:t>
                      </a:r>
                    </a:p>
                  </a:txBody>
                  <a:tcPr marL="47625" marR="47625" marT="19050" marB="19050" anchor="ctr">
                    <a:solidFill>
                      <a:srgbClr val="F4E5DD"/>
                    </a:solidFill>
                  </a:tcPr>
                </a:tc>
                <a:tc>
                  <a:txBody>
                    <a:bodyPr>
                      <a:normAutofit/>
                    </a:bodyPr>
                    <a:lstStyle/>
                    <a:p>
                      <a:pPr algn="ctr"/>
                      <a:r>
                        <a:rPr sz="900" b="1">
                          <a:solidFill>
                            <a:srgbClr val="10151C"/>
                          </a:solidFill>
                          <a:latin typeface="Helvetica Neue"/>
                          <a:ea typeface="Helvetica Neue"/>
                          <a:cs typeface="Helvetica Neue"/>
                        </a:rPr>
                        <a:t>59.6%</a:t>
                      </a:r>
                    </a:p>
                    <a:p>
                      <a:pPr algn="ctr"/>
                      <a:r>
                        <a:rPr sz="900" b="1">
                          <a:solidFill>
                            <a:srgbClr val="10151C"/>
                          </a:solidFill>
                          <a:latin typeface="Helvetica Neue"/>
                          <a:ea typeface="Helvetica Neue"/>
                          <a:cs typeface="Helvetica Neue"/>
                        </a:rPr>
                        <a:t>n=52</a:t>
                      </a:r>
                    </a:p>
                  </a:txBody>
                  <a:tcPr marL="47625" marR="47625" marT="19050" marB="19050" anchor="ctr">
                    <a:solidFill>
                      <a:srgbClr val="ECE8E0"/>
                    </a:solidFill>
                  </a:tcPr>
                </a:tc>
                <a:tc>
                  <a:txBody>
                    <a:bodyPr>
                      <a:normAutofit/>
                    </a:bodyPr>
                    <a:lstStyle/>
                    <a:p>
                      <a:pPr algn="ctr"/>
                      <a:r>
                        <a:rPr sz="900" b="1">
                          <a:solidFill>
                            <a:srgbClr val="A33D29"/>
                          </a:solidFill>
                          <a:latin typeface="Helvetica Neue"/>
                          <a:ea typeface="Helvetica Neue"/>
                          <a:cs typeface="Helvetica Neue"/>
                        </a:rPr>
                        <a:t>36.1%</a:t>
                      </a:r>
                    </a:p>
                    <a:p>
                      <a:pPr algn="ctr"/>
                      <a:r>
                        <a:rPr sz="900" b="1">
                          <a:solidFill>
                            <a:srgbClr val="A33D29"/>
                          </a:solidFill>
                          <a:latin typeface="Helvetica Neue"/>
                          <a:ea typeface="Helvetica Neue"/>
                          <a:cs typeface="Helvetica Neue"/>
                        </a:rPr>
                        <a:t>n=36</a:t>
                      </a:r>
                    </a:p>
                  </a:txBody>
                  <a:tcPr marL="47625" marR="47625" marT="19050" marB="19050" anchor="ctr">
                    <a:solidFill>
                      <a:srgbClr val="F9E3DA"/>
                    </a:solidFill>
                  </a:tcPr>
                </a:tc>
                <a:tc>
                  <a:txBody>
                    <a:bodyPr>
                      <a:normAutofit/>
                    </a:bodyPr>
                    <a:lstStyle/>
                    <a:p>
                      <a:pPr algn="ctr"/>
                      <a:r>
                        <a:rPr sz="900" b="1">
                          <a:solidFill>
                            <a:srgbClr val="A33D29"/>
                          </a:solidFill>
                          <a:latin typeface="Helvetica Neue"/>
                          <a:ea typeface="Helvetica Neue"/>
                          <a:cs typeface="Helvetica Neue"/>
                        </a:rPr>
                        <a:t>39.2%</a:t>
                      </a:r>
                    </a:p>
                    <a:p>
                      <a:pPr algn="ctr"/>
                      <a:r>
                        <a:rPr sz="900" b="1">
                          <a:solidFill>
                            <a:srgbClr val="A33D29"/>
                          </a:solidFill>
                          <a:latin typeface="Helvetica Neue"/>
                          <a:ea typeface="Helvetica Neue"/>
                          <a:cs typeface="Helvetica Neue"/>
                        </a:rPr>
                        <a:t>n=130</a:t>
                      </a:r>
                    </a:p>
                  </a:txBody>
                  <a:tcPr marL="47625" marR="47625" marT="19050" marB="19050" anchor="ctr">
                    <a:solidFill>
                      <a:srgbClr val="F7E4DB"/>
                    </a:solidFill>
                  </a:tcPr>
                </a:tc>
              </a:tr>
              <a:tr h="450850">
                <a:tc>
                  <a:txBody>
                    <a:bodyPr>
                      <a:normAutofit/>
                    </a:bodyPr>
                    <a:lstStyle/>
                    <a:p>
                      <a:pPr algn="ctr"/>
                      <a:r>
                        <a:rPr sz="900" b="1">
                          <a:solidFill>
                            <a:srgbClr val="FFFFFF"/>
                          </a:solidFill>
                          <a:latin typeface="Helvetica Neue"/>
                          <a:ea typeface="Helvetica Neue"/>
                          <a:cs typeface="Helvetica Neue"/>
                        </a:rPr>
                        <a:t>TEXT</a:t>
                      </a:r>
                    </a:p>
                  </a:txBody>
                  <a:tcPr marL="47625" marR="47625" marT="19050" marB="19050" anchor="ctr">
                    <a:solidFill>
                      <a:srgbClr val="1C2733"/>
                    </a:solidFill>
                  </a:tcPr>
                </a:tc>
                <a:tc>
                  <a:txBody>
                    <a:bodyPr>
                      <a:normAutofit/>
                    </a:bodyPr>
                    <a:lstStyle/>
                    <a:p>
                      <a:pPr algn="ctr"/>
                      <a:r>
                        <a:rPr sz="900" b="1">
                          <a:solidFill>
                            <a:srgbClr val="10151C"/>
                          </a:solidFill>
                          <a:latin typeface="Helvetica Neue"/>
                          <a:ea typeface="Helvetica Neue"/>
                          <a:cs typeface="Helvetica Neue"/>
                        </a:rPr>
                        <a:t>77.0%</a:t>
                      </a:r>
                    </a:p>
                    <a:p>
                      <a:pPr algn="ctr"/>
                      <a:r>
                        <a:rPr sz="900" b="1">
                          <a:solidFill>
                            <a:srgbClr val="10151C"/>
                          </a:solidFill>
                          <a:latin typeface="Helvetica Neue"/>
                          <a:ea typeface="Helvetica Neue"/>
                          <a:cs typeface="Helvetica Neue"/>
                        </a:rPr>
                        <a:t>n=161</a:t>
                      </a:r>
                    </a:p>
                  </a:txBody>
                  <a:tcPr marL="47625" marR="47625" marT="19050" marB="19050" anchor="ctr">
                    <a:solidFill>
                      <a:srgbClr val="E3ECE4"/>
                    </a:solidFill>
                  </a:tcPr>
                </a:tc>
                <a:tc>
                  <a:txBody>
                    <a:bodyPr>
                      <a:normAutofit/>
                    </a:bodyPr>
                    <a:lstStyle/>
                    <a:p>
                      <a:pPr algn="ctr"/>
                      <a:r>
                        <a:rPr sz="900" b="1">
                          <a:solidFill>
                            <a:srgbClr val="10151C"/>
                          </a:solidFill>
                          <a:latin typeface="Helvetica Neue"/>
                          <a:ea typeface="Helvetica Neue"/>
                          <a:cs typeface="Helvetica Neue"/>
                        </a:rPr>
                        <a:t>80.8%</a:t>
                      </a:r>
                    </a:p>
                    <a:p>
                      <a:pPr algn="ctr"/>
                      <a:r>
                        <a:rPr sz="900" b="1">
                          <a:solidFill>
                            <a:srgbClr val="10151C"/>
                          </a:solidFill>
                          <a:latin typeface="Helvetica Neue"/>
                          <a:ea typeface="Helvetica Neue"/>
                          <a:cs typeface="Helvetica Neue"/>
                        </a:rPr>
                        <a:t>n=151</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80.3%</a:t>
                      </a:r>
                    </a:p>
                    <a:p>
                      <a:pPr algn="ctr"/>
                      <a:r>
                        <a:rPr sz="900" b="1">
                          <a:solidFill>
                            <a:srgbClr val="10151C"/>
                          </a:solidFill>
                          <a:latin typeface="Helvetica Neue"/>
                          <a:ea typeface="Helvetica Neue"/>
                          <a:cs typeface="Helvetica Neue"/>
                        </a:rPr>
                        <a:t>n=152</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79.4%</a:t>
                      </a:r>
                    </a:p>
                    <a:p>
                      <a:pPr algn="ctr"/>
                      <a:r>
                        <a:rPr sz="900" b="1">
                          <a:solidFill>
                            <a:srgbClr val="10151C"/>
                          </a:solidFill>
                          <a:latin typeface="Helvetica Neue"/>
                          <a:ea typeface="Helvetica Neue"/>
                          <a:cs typeface="Helvetica Neue"/>
                        </a:rPr>
                        <a:t>n=180</a:t>
                      </a:r>
                    </a:p>
                  </a:txBody>
                  <a:tcPr marL="47625" marR="47625" marT="19050" marB="19050" anchor="ctr">
                    <a:solidFill>
                      <a:srgbClr val="E2EDE5"/>
                    </a:solidFill>
                  </a:tcPr>
                </a:tc>
                <a:tc>
                  <a:txBody>
                    <a:bodyPr>
                      <a:normAutofit/>
                    </a:bodyPr>
                    <a:lstStyle/>
                    <a:p>
                      <a:pPr algn="ctr"/>
                      <a:r>
                        <a:rPr sz="900" b="1">
                          <a:solidFill>
                            <a:srgbClr val="10151C"/>
                          </a:solidFill>
                          <a:latin typeface="Helvetica Neue"/>
                          <a:ea typeface="Helvetica Neue"/>
                          <a:cs typeface="Helvetica Neue"/>
                        </a:rPr>
                        <a:t>85.1%</a:t>
                      </a:r>
                    </a:p>
                    <a:p>
                      <a:pPr algn="ctr"/>
                      <a:r>
                        <a:rPr sz="900" b="1">
                          <a:solidFill>
                            <a:srgbClr val="10151C"/>
                          </a:solidFill>
                          <a:latin typeface="Helvetica Neue"/>
                          <a:ea typeface="Helvetica Neue"/>
                          <a:cs typeface="Helvetica Neue"/>
                        </a:rPr>
                        <a:t>n=47</a:t>
                      </a:r>
                    </a:p>
                  </a:txBody>
                  <a:tcPr marL="47625" marR="47625" marT="19050" marB="19050" anchor="ctr">
                    <a:solidFill>
                      <a:srgbClr val="DFEEE6"/>
                    </a:solidFill>
                  </a:tcPr>
                </a:tc>
                <a:tc>
                  <a:txBody>
                    <a:bodyPr>
                      <a:normAutofit/>
                    </a:bodyPr>
                    <a:lstStyle/>
                    <a:p>
                      <a:pPr algn="ctr"/>
                      <a:r>
                        <a:rPr sz="900" b="1">
                          <a:solidFill>
                            <a:srgbClr val="10151C"/>
                          </a:solidFill>
                          <a:latin typeface="Helvetica Neue"/>
                          <a:ea typeface="Helvetica Neue"/>
                          <a:cs typeface="Helvetica Neue"/>
                        </a:rPr>
                        <a:t>86.0%</a:t>
                      </a:r>
                    </a:p>
                    <a:p>
                      <a:pPr algn="ctr"/>
                      <a:r>
                        <a:rPr sz="900" b="1">
                          <a:solidFill>
                            <a:srgbClr val="10151C"/>
                          </a:solidFill>
                          <a:latin typeface="Helvetica Neue"/>
                          <a:ea typeface="Helvetica Neue"/>
                          <a:cs typeface="Helvetica Neue"/>
                        </a:rPr>
                        <a:t>n=43</a:t>
                      </a:r>
                    </a:p>
                  </a:txBody>
                  <a:tcPr marL="47625" marR="47625" marT="19050" marB="19050" anchor="ctr">
                    <a:solidFill>
                      <a:srgbClr val="DEEEE6"/>
                    </a:solidFill>
                  </a:tcPr>
                </a:tc>
                <a:tc>
                  <a:txBody>
                    <a:bodyPr>
                      <a:normAutofit/>
                    </a:bodyPr>
                    <a:lstStyle/>
                    <a:p>
                      <a:pPr algn="ctr"/>
                      <a:r>
                        <a:rPr sz="900" b="1">
                          <a:solidFill>
                            <a:srgbClr val="10151C"/>
                          </a:solidFill>
                          <a:latin typeface="Helvetica Neue"/>
                          <a:ea typeface="Helvetica Neue"/>
                          <a:cs typeface="Helvetica Neue"/>
                        </a:rPr>
                        <a:t>77.4%</a:t>
                      </a:r>
                    </a:p>
                    <a:p>
                      <a:pPr algn="ctr"/>
                      <a:r>
                        <a:rPr sz="900" b="1">
                          <a:solidFill>
                            <a:srgbClr val="10151C"/>
                          </a:solidFill>
                          <a:latin typeface="Helvetica Neue"/>
                          <a:ea typeface="Helvetica Neue"/>
                          <a:cs typeface="Helvetica Neue"/>
                        </a:rPr>
                        <a:t>n=243</a:t>
                      </a:r>
                    </a:p>
                  </a:txBody>
                  <a:tcPr marL="47625" marR="47625" marT="19050" marB="19050" anchor="ctr">
                    <a:solidFill>
                      <a:srgbClr val="E3ECE4"/>
                    </a:solidFill>
                  </a:tcPr>
                </a:tc>
              </a:tr>
            </a:tbl>
          </a:graphicData>
        </a:graphic>
      </p:graphicFrame>
      <p:sp>
        <p:nvSpPr>
          <p:cNvPr id="24" name="">
            <a:extLst xmlns:a="http://schemas.openxmlformats.org/drawingml/2006/main">
              <a:ext uri="{FF2B5EF4-FFF2-40B4-BE49-F238E27FC236}">
                <a16:creationId xmlns:a16="http://schemas.microsoft.com/office/drawing/2014/main" id="{D4C7A6DA-A79C-413C-B5D2-84E7C914935C}"/>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7442C80-7271-4879-B3A3-82ED77C865C3}"/>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Action families use a fixed keyword dictionary and are diagnostic, not official ScreenSpot-Pro labels. Windows icons: 39.6% on 379 items.</a:t>
            </a:r>
          </a:p>
        </p:txBody>
      </p:sp>
    </p:spTree>
    <p:extLst>
      <p:ext uri="{BB962C8B-B14F-4D97-AF65-F5344CB8AC3E}">
        <p14:creationId xmlns:p14="http://schemas.microsoft.com/office/powerpoint/2010/main" val="263501512"/>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9993EBB4-4973-4D60-8562-C1950BB23C10}"/>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CALCULATION</a:t>
            </a:r>
          </a:p>
        </p:txBody>
      </p:sp>
      <p:sp>
        <p:nvSpPr>
          <p:cNvPr id="2" name="">
            <a:extLst xmlns:a="http://schemas.openxmlformats.org/drawingml/2006/main">
              <a:ext uri="{FF2B5EF4-FFF2-40B4-BE49-F238E27FC236}">
                <a16:creationId xmlns:a16="http://schemas.microsoft.com/office/drawing/2014/main" id="{CAC28FD1-19F7-44A6-B6BF-D208380BE171}"/>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generated coordinate tokens back to image patches</a:t>
            </a:r>
          </a:p>
        </p:txBody>
      </p:sp>
      <p:sp>
        <p:nvSpPr>
          <p:cNvPr id="3" name="">
            <a:extLst xmlns:a="http://schemas.openxmlformats.org/drawingml/2006/main">
              <a:ext uri="{FF2B5EF4-FFF2-40B4-BE49-F238E27FC236}">
                <a16:creationId xmlns:a16="http://schemas.microsoft.com/office/drawing/2014/main" id="{4AFFB271-E7D3-47E3-AAE1-22FDDB5FE7F0}"/>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04F263D8-81BB-4039-8734-3FA2888B0F1E}"/>
              </a:ext>
            </a:extLst>
          </p:cNvPr>
          <p:cNvSpPr>
            <a:spLocks xmlns:a="http://schemas.openxmlformats.org/drawingml/2006/main" noGrp="1"/>
          </p:cNvSpPr>
          <p:nvPr/>
        </p:nvSpPr>
        <p:spPr>
          <a:xfrm xmlns:a="http://schemas.openxmlformats.org/drawingml/2006/main">
            <a:off x="60960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86AF6392-0D8D-4F0E-B7E8-B2660D816AF3}"/>
              </a:ext>
            </a:extLst>
          </p:cNvPr>
          <p:cNvSpPr>
            <a:spLocks xmlns:a="http://schemas.openxmlformats.org/drawingml/2006/main" noGrp="1"/>
          </p:cNvSpPr>
          <p:nvPr/>
        </p:nvSpPr>
        <p:spPr>
          <a:xfrm xmlns:a="http://schemas.openxmlformats.org/drawingml/2006/main">
            <a:off x="819150" y="1666875"/>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E9F8588-A187-4C9D-9B61-0C9C58F60BD2}"/>
              </a:ext>
            </a:extLst>
          </p:cNvPr>
          <p:cNvSpPr>
            <a:spLocks xmlns:a="http://schemas.openxmlformats.org/drawingml/2006/main" noGrp="1"/>
          </p:cNvSpPr>
          <p:nvPr/>
        </p:nvSpPr>
        <p:spPr>
          <a:xfrm xmlns:a="http://schemas.openxmlformats.org/drawingml/2006/main">
            <a:off x="91440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EE31673C-E7EB-436B-9462-D10042A60BF3}"/>
              </a:ext>
            </a:extLst>
          </p:cNvPr>
          <p:cNvSpPr>
            <a:spLocks xmlns:a="http://schemas.openxmlformats.org/drawingml/2006/main" noGrp="1"/>
          </p:cNvSpPr>
          <p:nvPr/>
        </p:nvSpPr>
        <p:spPr>
          <a:xfrm xmlns:a="http://schemas.openxmlformats.org/drawingml/2006/main">
            <a:off x="140970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VALUE-NORM</a:t>
            </a:r>
          </a:p>
        </p:txBody>
      </p:sp>
      <p:sp>
        <p:nvSpPr>
          <p:cNvPr id="8" name="">
            <a:extLst xmlns:a="http://schemas.openxmlformats.org/drawingml/2006/main">
              <a:ext uri="{FF2B5EF4-FFF2-40B4-BE49-F238E27FC236}">
                <a16:creationId xmlns:a16="http://schemas.microsoft.com/office/drawing/2014/main" id="{261C7C16-9F7B-4D3C-BE45-AD9D3FC29507}"/>
              </a:ext>
            </a:extLst>
          </p:cNvPr>
          <p:cNvSpPr>
            <a:spLocks xmlns:a="http://schemas.openxmlformats.org/drawingml/2006/main" noGrp="1"/>
          </p:cNvSpPr>
          <p:nvPr/>
        </p:nvSpPr>
        <p:spPr>
          <a:xfrm xmlns:a="http://schemas.openxmlformats.org/drawingml/2006/main">
            <a:off x="819150" y="2095500"/>
            <a:ext cx="2971800" cy="685800"/>
          </a:xfrm>
          <a:prstGeom xmlns:a="http://schemas.openxmlformats.org/drawingml/2006/main" prst="roundRect">
            <a:avLst>
              <a:gd name="adj" fmla="val 11111"/>
            </a:avLst>
          </a:prstGeom>
          <a:solidFill xmlns:a="http://schemas.openxmlformats.org/drawingml/2006/main">
            <a:srgbClr val="FCE2D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9C3D541-C67A-4105-A704-AB3BD7D2EE34}"/>
              </a:ext>
            </a:extLst>
          </p:cNvPr>
          <p:cNvSpPr>
            <a:spLocks xmlns:a="http://schemas.openxmlformats.org/drawingml/2006/main" noGrp="1"/>
          </p:cNvSpPr>
          <p:nvPr/>
        </p:nvSpPr>
        <p:spPr>
          <a:xfrm xmlns:a="http://schemas.openxmlformats.org/drawingml/2006/main">
            <a:off x="95250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A′ = normalize(A ⊙ ‖V‖₂)</a:t>
            </a:r>
          </a:p>
        </p:txBody>
      </p:sp>
      <p:sp>
        <p:nvSpPr>
          <p:cNvPr id="10" name="">
            <a:extLst xmlns:a="http://schemas.openxmlformats.org/drawingml/2006/main">
              <a:ext uri="{FF2B5EF4-FFF2-40B4-BE49-F238E27FC236}">
                <a16:creationId xmlns:a16="http://schemas.microsoft.com/office/drawing/2014/main" id="{97A90FEB-8C49-41AD-AF8F-78BB6B72D9E2}"/>
              </a:ext>
            </a:extLst>
          </p:cNvPr>
          <p:cNvSpPr>
            <a:spLocks xmlns:a="http://schemas.openxmlformats.org/drawingml/2006/main" noGrp="1"/>
          </p:cNvSpPr>
          <p:nvPr/>
        </p:nvSpPr>
        <p:spPr>
          <a:xfrm xmlns:a="http://schemas.openxmlformats.org/drawingml/2006/main">
            <a:off x="84772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Suppress high attention paths carrying little value signal</a:t>
            </a:r>
          </a:p>
        </p:txBody>
      </p:sp>
      <p:sp>
        <p:nvSpPr>
          <p:cNvPr id="11" name="">
            <a:extLst xmlns:a="http://schemas.openxmlformats.org/drawingml/2006/main">
              <a:ext uri="{FF2B5EF4-FFF2-40B4-BE49-F238E27FC236}">
                <a16:creationId xmlns:a16="http://schemas.microsoft.com/office/drawing/2014/main" id="{D9C1DE78-3B7D-498A-953F-E724ED29FC75}"/>
              </a:ext>
            </a:extLst>
          </p:cNvPr>
          <p:cNvSpPr>
            <a:spLocks xmlns:a="http://schemas.openxmlformats.org/drawingml/2006/main" noGrp="1"/>
          </p:cNvSpPr>
          <p:nvPr/>
        </p:nvSpPr>
        <p:spPr>
          <a:xfrm xmlns:a="http://schemas.openxmlformats.org/drawingml/2006/main">
            <a:off x="4371975"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2" name="">
            <a:extLst xmlns:a="http://schemas.openxmlformats.org/drawingml/2006/main">
              <a:ext uri="{FF2B5EF4-FFF2-40B4-BE49-F238E27FC236}">
                <a16:creationId xmlns:a16="http://schemas.microsoft.com/office/drawing/2014/main" id="{5AFF742F-C78A-40E1-9BA6-87B0B9F10BA1}"/>
              </a:ext>
            </a:extLst>
          </p:cNvPr>
          <p:cNvSpPr>
            <a:spLocks xmlns:a="http://schemas.openxmlformats.org/drawingml/2006/main" noGrp="1"/>
          </p:cNvSpPr>
          <p:nvPr/>
        </p:nvSpPr>
        <p:spPr>
          <a:xfrm xmlns:a="http://schemas.openxmlformats.org/drawingml/2006/main">
            <a:off x="4581525" y="1666875"/>
            <a:ext cx="438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CBDBBE8-0898-4F22-8F5D-7D9EF7D37AC6}"/>
              </a:ext>
            </a:extLst>
          </p:cNvPr>
          <p:cNvSpPr>
            <a:spLocks xmlns:a="http://schemas.openxmlformats.org/drawingml/2006/main" noGrp="1"/>
          </p:cNvSpPr>
          <p:nvPr/>
        </p:nvSpPr>
        <p:spPr>
          <a:xfrm xmlns:a="http://schemas.openxmlformats.org/drawingml/2006/main">
            <a:off x="4676775"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4" name="">
            <a:extLst xmlns:a="http://schemas.openxmlformats.org/drawingml/2006/main">
              <a:ext uri="{FF2B5EF4-FFF2-40B4-BE49-F238E27FC236}">
                <a16:creationId xmlns:a16="http://schemas.microsoft.com/office/drawing/2014/main" id="{8E7F930B-3EF0-43F5-A87F-9EF3D09D7440}"/>
              </a:ext>
            </a:extLst>
          </p:cNvPr>
          <p:cNvSpPr>
            <a:spLocks xmlns:a="http://schemas.openxmlformats.org/drawingml/2006/main" noGrp="1"/>
          </p:cNvSpPr>
          <p:nvPr/>
        </p:nvSpPr>
        <p:spPr>
          <a:xfrm xmlns:a="http://schemas.openxmlformats.org/drawingml/2006/main">
            <a:off x="5172075"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CROSS-LAYER ROLLOUT</a:t>
            </a:r>
          </a:p>
        </p:txBody>
      </p:sp>
      <p:sp>
        <p:nvSpPr>
          <p:cNvPr id="15" name="">
            <a:extLst xmlns:a="http://schemas.openxmlformats.org/drawingml/2006/main">
              <a:ext uri="{FF2B5EF4-FFF2-40B4-BE49-F238E27FC236}">
                <a16:creationId xmlns:a16="http://schemas.microsoft.com/office/drawing/2014/main" id="{4A9B171E-E152-4CB1-A19A-00B2D5F31DAB}"/>
              </a:ext>
            </a:extLst>
          </p:cNvPr>
          <p:cNvSpPr>
            <a:spLocks xmlns:a="http://schemas.openxmlformats.org/drawingml/2006/main" noGrp="1"/>
          </p:cNvSpPr>
          <p:nvPr/>
        </p:nvSpPr>
        <p:spPr>
          <a:xfrm xmlns:a="http://schemas.openxmlformats.org/drawingml/2006/main">
            <a:off x="4581525" y="2095500"/>
            <a:ext cx="2971800" cy="685800"/>
          </a:xfrm>
          <a:prstGeom xmlns:a="http://schemas.openxmlformats.org/drawingml/2006/main" prst="roundRect">
            <a:avLst>
              <a:gd name="adj" fmla="val 11111"/>
            </a:avLst>
          </a:prstGeom>
          <a:solidFill xmlns:a="http://schemas.openxmlformats.org/drawingml/2006/main">
            <a:srgbClr val="DDECF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B6610CF-C19C-4198-8D73-F5BF283F05AC}"/>
              </a:ext>
            </a:extLst>
          </p:cNvPr>
          <p:cNvSpPr>
            <a:spLocks xmlns:a="http://schemas.openxmlformats.org/drawingml/2006/main" noGrp="1"/>
          </p:cNvSpPr>
          <p:nvPr/>
        </p:nvSpPr>
        <p:spPr>
          <a:xfrm xmlns:a="http://schemas.openxmlformats.org/drawingml/2006/main">
            <a:off x="4714875"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Rₗ = ½I + ½A′ₗ</a:t>
            </a:r>
          </a:p>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 = Rₗ ··· R₁</a:t>
            </a:r>
          </a:p>
        </p:txBody>
      </p:sp>
      <p:sp>
        <p:nvSpPr>
          <p:cNvPr id="17" name="">
            <a:extLst xmlns:a="http://schemas.openxmlformats.org/drawingml/2006/main">
              <a:ext uri="{FF2B5EF4-FFF2-40B4-BE49-F238E27FC236}">
                <a16:creationId xmlns:a16="http://schemas.microsoft.com/office/drawing/2014/main" id="{BA621BBB-3BA0-4D92-8BC8-7B02B6043C3C}"/>
              </a:ext>
            </a:extLst>
          </p:cNvPr>
          <p:cNvSpPr>
            <a:spLocks xmlns:a="http://schemas.openxmlformats.org/drawingml/2006/main" noGrp="1"/>
          </p:cNvSpPr>
          <p:nvPr/>
        </p:nvSpPr>
        <p:spPr>
          <a:xfrm xmlns:a="http://schemas.openxmlformats.org/drawingml/2006/main">
            <a:off x="4610100"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Compose all 8 captured full-attention blocks with residual flow</a:t>
            </a:r>
          </a:p>
        </p:txBody>
      </p:sp>
      <p:sp>
        <p:nvSpPr>
          <p:cNvPr id="18" name="">
            <a:extLst xmlns:a="http://schemas.openxmlformats.org/drawingml/2006/main">
              <a:ext uri="{FF2B5EF4-FFF2-40B4-BE49-F238E27FC236}">
                <a16:creationId xmlns:a16="http://schemas.microsoft.com/office/drawing/2014/main" id="{3F5D7689-2869-46A1-8466-6763BD2E0575}"/>
              </a:ext>
            </a:extLst>
          </p:cNvPr>
          <p:cNvSpPr>
            <a:spLocks xmlns:a="http://schemas.openxmlformats.org/drawingml/2006/main" noGrp="1"/>
          </p:cNvSpPr>
          <p:nvPr/>
        </p:nvSpPr>
        <p:spPr>
          <a:xfrm xmlns:a="http://schemas.openxmlformats.org/drawingml/2006/main">
            <a:off x="813435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28882D1C-DA9C-45CF-90CD-35BEE0CE5712}"/>
              </a:ext>
            </a:extLst>
          </p:cNvPr>
          <p:cNvSpPr>
            <a:spLocks xmlns:a="http://schemas.openxmlformats.org/drawingml/2006/main" noGrp="1"/>
          </p:cNvSpPr>
          <p:nvPr/>
        </p:nvSpPr>
        <p:spPr>
          <a:xfrm xmlns:a="http://schemas.openxmlformats.org/drawingml/2006/main">
            <a:off x="8343900" y="1666875"/>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4A8029F-53A9-421E-902D-608C7813BC93}"/>
              </a:ext>
            </a:extLst>
          </p:cNvPr>
          <p:cNvSpPr>
            <a:spLocks xmlns:a="http://schemas.openxmlformats.org/drawingml/2006/main" noGrp="1"/>
          </p:cNvSpPr>
          <p:nvPr/>
        </p:nvSpPr>
        <p:spPr>
          <a:xfrm xmlns:a="http://schemas.openxmlformats.org/drawingml/2006/main">
            <a:off x="843915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1" name="">
            <a:extLst xmlns:a="http://schemas.openxmlformats.org/drawingml/2006/main">
              <a:ext uri="{FF2B5EF4-FFF2-40B4-BE49-F238E27FC236}">
                <a16:creationId xmlns:a16="http://schemas.microsoft.com/office/drawing/2014/main" id="{B06A2B4B-A080-410C-976C-F13A7AC9882E}"/>
              </a:ext>
            </a:extLst>
          </p:cNvPr>
          <p:cNvSpPr>
            <a:spLocks xmlns:a="http://schemas.openxmlformats.org/drawingml/2006/main" noGrp="1"/>
          </p:cNvSpPr>
          <p:nvPr/>
        </p:nvSpPr>
        <p:spPr>
          <a:xfrm xmlns:a="http://schemas.openxmlformats.org/drawingml/2006/main">
            <a:off x="893445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TOKEN → PARAMETER</a:t>
            </a:r>
          </a:p>
        </p:txBody>
      </p:sp>
      <p:sp>
        <p:nvSpPr>
          <p:cNvPr id="22" name="">
            <a:extLst xmlns:a="http://schemas.openxmlformats.org/drawingml/2006/main">
              <a:ext uri="{FF2B5EF4-FFF2-40B4-BE49-F238E27FC236}">
                <a16:creationId xmlns:a16="http://schemas.microsoft.com/office/drawing/2014/main" id="{9822BEA2-7679-4277-90BC-D9D474D2001F}"/>
              </a:ext>
            </a:extLst>
          </p:cNvPr>
          <p:cNvSpPr>
            <a:spLocks xmlns:a="http://schemas.openxmlformats.org/drawingml/2006/main" noGrp="1"/>
          </p:cNvSpPr>
          <p:nvPr/>
        </p:nvSpPr>
        <p:spPr>
          <a:xfrm xmlns:a="http://schemas.openxmlformats.org/drawingml/2006/main">
            <a:off x="8343900" y="2095500"/>
            <a:ext cx="2971800" cy="685800"/>
          </a:xfrm>
          <a:prstGeom xmlns:a="http://schemas.openxmlformats.org/drawingml/2006/main" prst="roundRect">
            <a:avLst>
              <a:gd name="adj" fmla="val 11111"/>
            </a:avLst>
          </a:prstGeom>
          <a:solidFill xmlns:a="http://schemas.openxmlformats.org/drawingml/2006/main">
            <a:srgbClr val="E4F4E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58E8504-B13E-4CE6-88EB-F3E50DFFDB32}"/>
              </a:ext>
            </a:extLst>
          </p:cNvPr>
          <p:cNvSpPr>
            <a:spLocks xmlns:a="http://schemas.openxmlformats.org/drawingml/2006/main" noGrp="1"/>
          </p:cNvSpPr>
          <p:nvPr/>
        </p:nvSpPr>
        <p:spPr>
          <a:xfrm xmlns:a="http://schemas.openxmlformats.org/drawingml/2006/main">
            <a:off x="847725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M(x,y) = meanₛ Rₛ</a:t>
            </a:r>
          </a:p>
        </p:txBody>
      </p:sp>
      <p:sp>
        <p:nvSpPr>
          <p:cNvPr id="24" name="">
            <a:extLst xmlns:a="http://schemas.openxmlformats.org/drawingml/2006/main">
              <a:ext uri="{FF2B5EF4-FFF2-40B4-BE49-F238E27FC236}">
                <a16:creationId xmlns:a16="http://schemas.microsoft.com/office/drawing/2014/main" id="{0B2296EA-3B41-499B-B0C7-BB88FCACC849}"/>
              </a:ext>
            </a:extLst>
          </p:cNvPr>
          <p:cNvSpPr>
            <a:spLocks xmlns:a="http://schemas.openxmlformats.org/drawingml/2006/main" noGrp="1"/>
          </p:cNvSpPr>
          <p:nvPr/>
        </p:nvSpPr>
        <p:spPr>
          <a:xfrm xmlns:a="http://schemas.openxmlformats.org/drawingml/2006/main">
            <a:off x="837247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Average x/y value-token maps; token length cannot inflate a parameter</a:t>
            </a:r>
          </a:p>
        </p:txBody>
      </p:sp>
      <p:sp>
        <p:nvSpPr>
          <p:cNvPr id="25" name="">
            <a:extLst xmlns:a="http://schemas.openxmlformats.org/drawingml/2006/main">
              <a:ext uri="{FF2B5EF4-FFF2-40B4-BE49-F238E27FC236}">
                <a16:creationId xmlns:a16="http://schemas.microsoft.com/office/drawing/2014/main" id="{00145A70-6698-4F38-BECA-19948CEB7BE6}"/>
              </a:ext>
            </a:extLst>
          </p:cNvPr>
          <p:cNvSpPr>
            <a:spLocks xmlns:a="http://schemas.openxmlformats.org/drawingml/2006/main" noGrp="1"/>
          </p:cNvSpPr>
          <p:nvPr/>
        </p:nvSpPr>
        <p:spPr>
          <a:xfrm xmlns:a="http://schemas.openxmlformats.org/drawingml/2006/main">
            <a:off x="6096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151C"/>
                </a:solidFill>
                <a:latin typeface="Helvetica Neue"/>
                <a:ea typeface="Helvetica Neue"/>
                <a:cs typeface="Helvetica Neue"/>
              </a:defRPr>
            </a:pPr>
            <a:r>
              <a:rPr sz="1650" b="1">
                <a:solidFill>
                  <a:srgbClr val="10151C"/>
                </a:solidFill>
                <a:latin typeface="Helvetica Neue"/>
                <a:ea typeface="Helvetica Neue"/>
                <a:cs typeface="Helvetica Neue"/>
              </a:rPr>
              <a:t>Two baselines ask different questions</a:t>
            </a:r>
          </a:p>
        </p:txBody>
      </p:sp>
      <p:sp>
        <p:nvSpPr>
          <p:cNvPr id="26" name="">
            <a:extLst xmlns:a="http://schemas.openxmlformats.org/drawingml/2006/main">
              <a:ext uri="{FF2B5EF4-FFF2-40B4-BE49-F238E27FC236}">
                <a16:creationId xmlns:a16="http://schemas.microsoft.com/office/drawing/2014/main" id="{3AE77A1F-2BA5-42A3-9D74-8C0779B35B60}"/>
              </a:ext>
            </a:extLst>
          </p:cNvPr>
          <p:cNvSpPr>
            <a:spLocks xmlns:a="http://schemas.openxmlformats.org/drawingml/2006/main" noGrp="1"/>
          </p:cNvSpPr>
          <p:nvPr/>
        </p:nvSpPr>
        <p:spPr>
          <a:xfrm xmlns:a="http://schemas.openxmlformats.org/drawingml/2006/main">
            <a:off x="609600" y="4457700"/>
            <a:ext cx="5219700" cy="1485900"/>
          </a:xfrm>
          <a:prstGeom xmlns:a="http://schemas.openxmlformats.org/drawingml/2006/main" prst="roundRect">
            <a:avLst>
              <a:gd name="adj" fmla="val 5128"/>
            </a:avLst>
          </a:prstGeom>
          <a:solidFill xmlns:a="http://schemas.openxmlformats.org/drawingml/2006/main">
            <a:srgbClr val="1C2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893BF16-AFA3-4ED5-82AB-91CA84BB98BC}"/>
              </a:ext>
            </a:extLst>
          </p:cNvPr>
          <p:cNvSpPr>
            <a:spLocks xmlns:a="http://schemas.openxmlformats.org/drawingml/2006/main" noGrp="1"/>
          </p:cNvSpPr>
          <p:nvPr/>
        </p:nvSpPr>
        <p:spPr>
          <a:xfrm xmlns:a="http://schemas.openxmlformats.org/drawingml/2006/main">
            <a:off x="838200" y="46672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C8F0"/>
                </a:solidFill>
                <a:latin typeface="Helvetica Neue"/>
                <a:ea typeface="Helvetica Neue"/>
                <a:cs typeface="Helvetica Neue"/>
              </a:defRPr>
            </a:pPr>
            <a:r>
              <a:rPr sz="975" b="1">
                <a:solidFill>
                  <a:srgbClr val="9FC8F0"/>
                </a:solidFill>
                <a:latin typeface="Helvetica Neue"/>
                <a:ea typeface="Helvetica Neue"/>
                <a:cs typeface="Helvetica Neue"/>
              </a:rPr>
              <a:t>CAUSAL PREVIOUS-TOKEN</a:t>
            </a:r>
          </a:p>
        </p:txBody>
      </p:sp>
      <p:sp>
        <p:nvSpPr>
          <p:cNvPr id="28" name="">
            <a:extLst xmlns:a="http://schemas.openxmlformats.org/drawingml/2006/main">
              <a:ext uri="{FF2B5EF4-FFF2-40B4-BE49-F238E27FC236}">
                <a16:creationId xmlns:a16="http://schemas.microsoft.com/office/drawing/2014/main" id="{07A15742-D25C-483E-B790-FCD7EF033739}"/>
              </a:ext>
            </a:extLst>
          </p:cNvPr>
          <p:cNvSpPr>
            <a:spLocks xmlns:a="http://schemas.openxmlformats.org/drawingml/2006/main" noGrp="1"/>
          </p:cNvSpPr>
          <p:nvPr/>
        </p:nvSpPr>
        <p:spPr>
          <a:xfrm xmlns:a="http://schemas.openxmlformats.org/drawingml/2006/main">
            <a:off x="838200" y="5010150"/>
            <a:ext cx="449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Dtoken = M(x,y) − mean(M(s &lt; start(x)))</a:t>
            </a:r>
          </a:p>
        </p:txBody>
      </p:sp>
      <p:sp>
        <p:nvSpPr>
          <p:cNvPr id="29" name="">
            <a:extLst xmlns:a="http://schemas.openxmlformats.org/drawingml/2006/main">
              <a:ext uri="{FF2B5EF4-FFF2-40B4-BE49-F238E27FC236}">
                <a16:creationId xmlns:a16="http://schemas.microsoft.com/office/drawing/2014/main" id="{E6A924DD-BE20-4E68-B58D-27EC76B66D1B}"/>
              </a:ext>
            </a:extLst>
          </p:cNvPr>
          <p:cNvSpPr>
            <a:spLocks xmlns:a="http://schemas.openxmlformats.org/drawingml/2006/main" noGrp="1"/>
          </p:cNvSpPr>
          <p:nvPr/>
        </p:nvSpPr>
        <p:spPr>
          <a:xfrm xmlns:a="http://schemas.openxmlformats.org/drawingml/2006/main">
            <a:off x="8382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What is above the generation state already present before the coordinate sequence?</a:t>
            </a:r>
          </a:p>
        </p:txBody>
      </p:sp>
      <p:sp>
        <p:nvSpPr>
          <p:cNvPr id="30" name="">
            <a:extLst xmlns:a="http://schemas.openxmlformats.org/drawingml/2006/main">
              <a:ext uri="{FF2B5EF4-FFF2-40B4-BE49-F238E27FC236}">
                <a16:creationId xmlns:a16="http://schemas.microsoft.com/office/drawing/2014/main" id="{B63F7015-8A96-4481-AF05-7B5993CCBE11}"/>
              </a:ext>
            </a:extLst>
          </p:cNvPr>
          <p:cNvSpPr>
            <a:spLocks xmlns:a="http://schemas.openxmlformats.org/drawingml/2006/main" noGrp="1"/>
          </p:cNvSpPr>
          <p:nvPr/>
        </p:nvSpPr>
        <p:spPr>
          <a:xfrm xmlns:a="http://schemas.openxmlformats.org/drawingml/2006/main">
            <a:off x="6191250" y="4457700"/>
            <a:ext cx="53911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9D4C8"/>
            </a:solidFill>
          </a:ln>
        </p:spPr>
      </p:sp>
      <p:sp>
        <p:nvSpPr>
          <p:cNvPr id="31" name="">
            <a:extLst xmlns:a="http://schemas.openxmlformats.org/drawingml/2006/main">
              <a:ext uri="{FF2B5EF4-FFF2-40B4-BE49-F238E27FC236}">
                <a16:creationId xmlns:a16="http://schemas.microsoft.com/office/drawing/2014/main" id="{B72ED057-50F0-48B0-9092-F803CF0B4433}"/>
              </a:ext>
            </a:extLst>
          </p:cNvPr>
          <p:cNvSpPr>
            <a:spLocks xmlns:a="http://schemas.openxmlformats.org/drawingml/2006/main" noGrp="1"/>
          </p:cNvSpPr>
          <p:nvPr/>
        </p:nvSpPr>
        <p:spPr>
          <a:xfrm xmlns:a="http://schemas.openxmlformats.org/drawingml/2006/main">
            <a:off x="6438900" y="46672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SAME-IMAGE INSTRUCTION ENSEMBLE</a:t>
            </a:r>
          </a:p>
        </p:txBody>
      </p:sp>
      <p:sp>
        <p:nvSpPr>
          <p:cNvPr id="32" name="">
            <a:extLst xmlns:a="http://schemas.openxmlformats.org/drawingml/2006/main">
              <a:ext uri="{FF2B5EF4-FFF2-40B4-BE49-F238E27FC236}">
                <a16:creationId xmlns:a16="http://schemas.microsoft.com/office/drawing/2014/main" id="{15442C81-0748-4EE3-BDF5-482ECB2A1094}"/>
              </a:ext>
            </a:extLst>
          </p:cNvPr>
          <p:cNvSpPr>
            <a:spLocks xmlns:a="http://schemas.openxmlformats.org/drawingml/2006/main" noGrp="1"/>
          </p:cNvSpPr>
          <p:nvPr/>
        </p:nvSpPr>
        <p:spPr>
          <a:xfrm xmlns:a="http://schemas.openxmlformats.org/drawingml/2006/main">
            <a:off x="6438900" y="50101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0151C"/>
                </a:solidFill>
                <a:latin typeface="Helvetica Neue"/>
                <a:ea typeface="Helvetica Neue"/>
                <a:cs typeface="Helvetica Neue"/>
              </a:defRPr>
            </a:pPr>
            <a:r>
              <a:rPr sz="1425" b="1">
                <a:solidFill>
                  <a:srgbClr val="10151C"/>
                </a:solidFill>
                <a:latin typeface="Helvetica Neue"/>
                <a:ea typeface="Helvetica Neue"/>
                <a:cs typeface="Helvetica Neue"/>
              </a:rPr>
              <a:t>Dprompt = Mtarget − mean(Mcontrol,k)</a:t>
            </a:r>
          </a:p>
        </p:txBody>
      </p:sp>
      <p:sp>
        <p:nvSpPr>
          <p:cNvPr id="33" name="">
            <a:extLst xmlns:a="http://schemas.openxmlformats.org/drawingml/2006/main">
              <a:ext uri="{FF2B5EF4-FFF2-40B4-BE49-F238E27FC236}">
                <a16:creationId xmlns:a16="http://schemas.microsoft.com/office/drawing/2014/main" id="{3E0A2E5F-4E7E-43EF-A0DE-39108C835BD7}"/>
              </a:ext>
            </a:extLst>
          </p:cNvPr>
          <p:cNvSpPr>
            <a:spLocks xmlns:a="http://schemas.openxmlformats.org/drawingml/2006/main" noGrp="1"/>
          </p:cNvSpPr>
          <p:nvPr/>
        </p:nvSpPr>
        <p:spPr>
          <a:xfrm xmlns:a="http://schemas.openxmlformats.org/drawingml/2006/main">
            <a:off x="64389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What is specific to this instruction after subtracting inherent image saliency?</a:t>
            </a:r>
          </a:p>
        </p:txBody>
      </p:sp>
      <p:sp>
        <p:nvSpPr>
          <p:cNvPr id="34" name="">
            <a:extLst xmlns:a="http://schemas.openxmlformats.org/drawingml/2006/main">
              <a:ext uri="{FF2B5EF4-FFF2-40B4-BE49-F238E27FC236}">
                <a16:creationId xmlns:a16="http://schemas.microsoft.com/office/drawing/2014/main" id="{FB7A4C7A-50D5-4262-B12C-34A51342AB8A}"/>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327ACE7D-0C69-4B24-A6C4-BDFC83E6B00F}"/>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Implementation: docs/attention-attribution.md · tests/test_attribution.py · tests/test_contrast.py</a:t>
            </a:r>
          </a:p>
        </p:txBody>
      </p:sp>
    </p:spTree>
    <p:extLst>
      <p:ext uri="{BB962C8B-B14F-4D97-AF65-F5344CB8AC3E}">
        <p14:creationId xmlns:p14="http://schemas.microsoft.com/office/powerpoint/2010/main" val="289051998"/>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88E67E4C-FF70-444C-BE06-5C420765F5C7}"/>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VISUAL GROUNDING HIT</a:t>
            </a:r>
          </a:p>
        </p:txBody>
      </p:sp>
      <p:sp>
        <p:nvSpPr>
          <p:cNvPr id="2" name="">
            <a:extLst xmlns:a="http://schemas.openxmlformats.org/drawingml/2006/main">
              <a:ext uri="{FF2B5EF4-FFF2-40B4-BE49-F238E27FC236}">
                <a16:creationId xmlns:a16="http://schemas.microsoft.com/office/drawing/2014/main" id="{6EE7574F-E425-41E0-ACE0-AC15A15EC8E9}"/>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Subtracting image saliency reveals the selected template</a:t>
            </a:r>
          </a:p>
        </p:txBody>
      </p:sp>
      <p:sp>
        <p:nvSpPr>
          <p:cNvPr id="3" name="">
            <a:extLst xmlns:a="http://schemas.openxmlformats.org/drawingml/2006/main">
              <a:ext uri="{FF2B5EF4-FFF2-40B4-BE49-F238E27FC236}">
                <a16:creationId xmlns:a16="http://schemas.microsoft.com/office/drawing/2014/main" id="{506D6C64-DF07-4B2C-9115-253C43FB2729}"/>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D3B70B07-261F-4B06-9FDE-5AFD78C01BCA}"/>
              </a:ext>
            </a:extLst>
          </p:cNvPr>
          <p:cNvSpPr>
            <a:spLocks xmlns:a="http://schemas.openxmlformats.org/drawingml/2006/main" noGrp="1"/>
          </p:cNvSpPr>
          <p:nvPr/>
        </p:nvSpPr>
        <p:spPr>
          <a:xfrm xmlns:a="http://schemas.openxmlformats.org/drawingml/2006/main">
            <a:off x="609600" y="1162050"/>
            <a:ext cx="742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6717D"/>
                </a:solidFill>
                <a:latin typeface="Helvetica Neue"/>
                <a:ea typeface="Helvetica Neue"/>
                <a:cs typeface="Helvetica Neue"/>
              </a:defRPr>
            </a:pPr>
            <a:r>
              <a:rPr sz="1425" b="1">
                <a:solidFill>
                  <a:srgbClr val="66717D"/>
                </a:solidFill>
                <a:latin typeface="Helvetica Neue"/>
                <a:ea typeface="Helvetica Neue"/>
                <a:cs typeface="Helvetica Neue"/>
              </a:rPr>
              <a:t>“Create a Psychedelic vibrant presentation”</a:t>
            </a:r>
          </a:p>
        </p:txBody>
      </p:sp>
      <p:sp>
        <p:nvSpPr>
          <p:cNvPr id="5" name="">
            <a:extLst xmlns:a="http://schemas.openxmlformats.org/drawingml/2006/main">
              <a:ext uri="{FF2B5EF4-FFF2-40B4-BE49-F238E27FC236}">
                <a16:creationId xmlns:a16="http://schemas.microsoft.com/office/drawing/2014/main" id="{E1570211-969B-4845-920B-EB77759D80F0}"/>
              </a:ext>
            </a:extLst>
          </p:cNvPr>
          <p:cNvSpPr>
            <a:spLocks xmlns:a="http://schemas.openxmlformats.org/drawingml/2006/main" noGrp="1"/>
          </p:cNvSpPr>
          <p:nvPr/>
        </p:nvSpPr>
        <p:spPr>
          <a:xfrm xmlns:a="http://schemas.openxmlformats.org/drawingml/2006/main">
            <a:off x="8953500" y="1133475"/>
            <a:ext cx="26289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24E0664-91B9-47C3-A4EF-E2ABEAD1A2C4}"/>
              </a:ext>
            </a:extLst>
          </p:cNvPr>
          <p:cNvSpPr>
            <a:spLocks xmlns:a="http://schemas.openxmlformats.org/drawingml/2006/main" noGrp="1"/>
          </p:cNvSpPr>
          <p:nvPr/>
        </p:nvSpPr>
        <p:spPr>
          <a:xfrm xmlns:a="http://schemas.openxmlformats.org/drawingml/2006/main">
            <a:off x="9048750" y="1152525"/>
            <a:ext cx="2438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WHITE RING = ISSUED CLICK</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549c1887999e4409"/>
          <a:srcRect xmlns:a="http://schemas.openxmlformats.org/drawingml/2006/main" l="0" t="73" r="0" b="73"/>
          <a:stretch xmlns:a="http://schemas.openxmlformats.org/drawingml/2006/main">
            <a:fillRect l="0" t="0" r="0" b="0"/>
          </a:stretch>
        </p:blipFill>
        <p:spPr>
          <a:xfrm xmlns:a="http://schemas.openxmlformats.org/drawingml/2006/main">
            <a:off x="609600" y="1657350"/>
            <a:ext cx="5219700" cy="3257550"/>
          </a:xfrm>
          <a:prstGeom xmlns:a="http://schemas.openxmlformats.org/drawingml/2006/main" prst="roundRect">
            <a:avLst>
              <a:gd name="adj" fmla="val 3509"/>
            </a:avLst>
          </a:prstGeom>
        </p:spPr>
      </p:pic>
      <p:sp>
        <p:nvSpPr>
          <p:cNvPr id="8" name="">
            <a:extLst xmlns:a="http://schemas.openxmlformats.org/drawingml/2006/main">
              <a:ext uri="{FF2B5EF4-FFF2-40B4-BE49-F238E27FC236}">
                <a16:creationId xmlns:a16="http://schemas.microsoft.com/office/drawing/2014/main" id="{1CA8CC93-1CD8-4168-A69E-FE9218100874}"/>
              </a:ext>
            </a:extLst>
          </p:cNvPr>
          <p:cNvSpPr>
            <a:spLocks xmlns:a="http://schemas.openxmlformats.org/drawingml/2006/main" noGrp="1"/>
          </p:cNvSpPr>
          <p:nvPr/>
        </p:nvSpPr>
        <p:spPr>
          <a:xfrm xmlns:a="http://schemas.openxmlformats.org/drawingml/2006/main">
            <a:off x="609600" y="1657350"/>
            <a:ext cx="5219700" cy="3257550"/>
          </a:xfrm>
          <a:prstGeom xmlns:a="http://schemas.openxmlformats.org/drawingml/2006/main" prst="roundRect">
            <a:avLst>
              <a:gd name="adj" fmla="val 2339"/>
            </a:avLst>
          </a:prstGeom>
          <a:noFill xmlns:a="http://schemas.openxmlformats.org/drawingml/2006/main"/>
          <a:ln xmlns:a="http://schemas.openxmlformats.org/drawingml/2006/main" w="9525">
            <a:solidFill>
              <a:srgbClr val="D9D4C8"/>
            </a:solidFill>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6caee63fc3064a4f"/>
          <a:srcRect xmlns:a="http://schemas.openxmlformats.org/drawingml/2006/main" l="0" t="73" r="0" b="73"/>
          <a:stretch xmlns:a="http://schemas.openxmlformats.org/drawingml/2006/main">
            <a:fillRect l="0" t="0" r="0" b="0"/>
          </a:stretch>
        </p:blipFill>
        <p:spPr>
          <a:xfrm xmlns:a="http://schemas.openxmlformats.org/drawingml/2006/main">
            <a:off x="6362700" y="1657350"/>
            <a:ext cx="5219700" cy="3257550"/>
          </a:xfrm>
          <a:prstGeom xmlns:a="http://schemas.openxmlformats.org/drawingml/2006/main" prst="roundRect">
            <a:avLst>
              <a:gd name="adj" fmla="val 3509"/>
            </a:avLst>
          </a:prstGeom>
        </p:spPr>
      </p:pic>
      <p:sp>
        <p:nvSpPr>
          <p:cNvPr id="10" name="">
            <a:extLst xmlns:a="http://schemas.openxmlformats.org/drawingml/2006/main">
              <a:ext uri="{FF2B5EF4-FFF2-40B4-BE49-F238E27FC236}">
                <a16:creationId xmlns:a16="http://schemas.microsoft.com/office/drawing/2014/main" id="{F77577CE-2BF4-441D-969A-0335D0406486}"/>
              </a:ext>
            </a:extLst>
          </p:cNvPr>
          <p:cNvSpPr>
            <a:spLocks xmlns:a="http://schemas.openxmlformats.org/drawingml/2006/main" noGrp="1"/>
          </p:cNvSpPr>
          <p:nvPr/>
        </p:nvSpPr>
        <p:spPr>
          <a:xfrm xmlns:a="http://schemas.openxmlformats.org/drawingml/2006/main">
            <a:off x="6362700" y="1657350"/>
            <a:ext cx="5219700" cy="3257550"/>
          </a:xfrm>
          <a:prstGeom xmlns:a="http://schemas.openxmlformats.org/drawingml/2006/main" prst="roundRect">
            <a:avLst>
              <a:gd name="adj" fmla="val 2339"/>
            </a:avLst>
          </a:prstGeom>
          <a:noFill xmlns:a="http://schemas.openxmlformats.org/drawingml/2006/main"/>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51516205-1AC7-4836-B950-883598A15308}"/>
              </a:ext>
            </a:extLst>
          </p:cNvPr>
          <p:cNvSpPr>
            <a:spLocks xmlns:a="http://schemas.openxmlformats.org/drawingml/2006/main" noGrp="1"/>
          </p:cNvSpPr>
          <p:nvPr/>
        </p:nvSpPr>
        <p:spPr>
          <a:xfrm xmlns:a="http://schemas.openxmlformats.org/drawingml/2006/main">
            <a:off x="800100" y="1828800"/>
            <a:ext cx="11620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B40E3F2-616E-4C06-B5AD-0E8AC5C5EF68}"/>
              </a:ext>
            </a:extLst>
          </p:cNvPr>
          <p:cNvSpPr>
            <a:spLocks xmlns:a="http://schemas.openxmlformats.org/drawingml/2006/main" noGrp="1"/>
          </p:cNvSpPr>
          <p:nvPr/>
        </p:nvSpPr>
        <p:spPr>
          <a:xfrm xmlns:a="http://schemas.openxmlformats.org/drawingml/2006/main">
            <a:off x="895350" y="1847850"/>
            <a:ext cx="971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RAW ROLLOUT</a:t>
            </a:r>
          </a:p>
        </p:txBody>
      </p:sp>
      <p:sp>
        <p:nvSpPr>
          <p:cNvPr id="13" name="">
            <a:extLst xmlns:a="http://schemas.openxmlformats.org/drawingml/2006/main">
              <a:ext uri="{FF2B5EF4-FFF2-40B4-BE49-F238E27FC236}">
                <a16:creationId xmlns:a16="http://schemas.microsoft.com/office/drawing/2014/main" id="{CFC861A8-6E53-407C-927C-265BA99B5082}"/>
              </a:ext>
            </a:extLst>
          </p:cNvPr>
          <p:cNvSpPr>
            <a:spLocks xmlns:a="http://schemas.openxmlformats.org/drawingml/2006/main" noGrp="1"/>
          </p:cNvSpPr>
          <p:nvPr/>
        </p:nvSpPr>
        <p:spPr>
          <a:xfrm xmlns:a="http://schemas.openxmlformats.org/drawingml/2006/main">
            <a:off x="6553200" y="1828800"/>
            <a:ext cx="21717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44AB352-7B05-48B3-99D2-33F807B7EE30}"/>
              </a:ext>
            </a:extLst>
          </p:cNvPr>
          <p:cNvSpPr>
            <a:spLocks xmlns:a="http://schemas.openxmlformats.org/drawingml/2006/main" noGrp="1"/>
          </p:cNvSpPr>
          <p:nvPr/>
        </p:nvSpPr>
        <p:spPr>
          <a:xfrm xmlns:a="http://schemas.openxmlformats.org/drawingml/2006/main">
            <a:off x="6648450" y="1847850"/>
            <a:ext cx="1981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 PROMPT BASELINE</a:t>
            </a:r>
          </a:p>
        </p:txBody>
      </p:sp>
      <p:sp>
        <p:nvSpPr>
          <p:cNvPr id="15" name="">
            <a:extLst xmlns:a="http://schemas.openxmlformats.org/drawingml/2006/main">
              <a:ext uri="{FF2B5EF4-FFF2-40B4-BE49-F238E27FC236}">
                <a16:creationId xmlns:a16="http://schemas.microsoft.com/office/drawing/2014/main" id="{E9B4C9A6-6E8B-4552-A692-39CDFDE3D099}"/>
              </a:ext>
            </a:extLst>
          </p:cNvPr>
          <p:cNvSpPr>
            <a:spLocks xmlns:a="http://schemas.openxmlformats.org/drawingml/2006/main" noGrp="1"/>
          </p:cNvSpPr>
          <p:nvPr/>
        </p:nvSpPr>
        <p:spPr>
          <a:xfrm xmlns:a="http://schemas.openxmlformats.org/drawingml/2006/main">
            <a:off x="609600" y="5143500"/>
            <a:ext cx="24003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C2A750CF-2669-4598-B4E7-FADECBDEEEE8}"/>
              </a:ext>
            </a:extLst>
          </p:cNvPr>
          <p:cNvSpPr>
            <a:spLocks xmlns:a="http://schemas.openxmlformats.org/drawingml/2006/main" noGrp="1"/>
          </p:cNvSpPr>
          <p:nvPr/>
        </p:nvSpPr>
        <p:spPr>
          <a:xfrm xmlns:a="http://schemas.openxmlformats.org/drawingml/2006/main">
            <a:off x="609600" y="5143500"/>
            <a:ext cx="66675" cy="10287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7271A34-8E60-4F01-B9B0-F6C889405FC1}"/>
              </a:ext>
            </a:extLst>
          </p:cNvPr>
          <p:cNvSpPr>
            <a:spLocks xmlns:a="http://schemas.openxmlformats.org/drawingml/2006/main" noGrp="1"/>
          </p:cNvSpPr>
          <p:nvPr/>
        </p:nvSpPr>
        <p:spPr>
          <a:xfrm xmlns:a="http://schemas.openxmlformats.org/drawingml/2006/main">
            <a:off x="800100" y="527685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TARGET LIFT</a:t>
            </a:r>
          </a:p>
        </p:txBody>
      </p:sp>
      <p:sp>
        <p:nvSpPr>
          <p:cNvPr id="18" name="">
            <a:extLst xmlns:a="http://schemas.openxmlformats.org/drawingml/2006/main">
              <a:ext uri="{FF2B5EF4-FFF2-40B4-BE49-F238E27FC236}">
                <a16:creationId xmlns:a16="http://schemas.microsoft.com/office/drawing/2014/main" id="{5EED54AC-4D2A-4B85-B23C-C80199119D0E}"/>
              </a:ext>
            </a:extLst>
          </p:cNvPr>
          <p:cNvSpPr>
            <a:spLocks xmlns:a="http://schemas.openxmlformats.org/drawingml/2006/main" noGrp="1"/>
          </p:cNvSpPr>
          <p:nvPr/>
        </p:nvSpPr>
        <p:spPr>
          <a:xfrm xmlns:a="http://schemas.openxmlformats.org/drawingml/2006/main">
            <a:off x="800100" y="54673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3.85×</a:t>
            </a:r>
          </a:p>
        </p:txBody>
      </p:sp>
      <p:sp>
        <p:nvSpPr>
          <p:cNvPr id="19" name="">
            <a:extLst xmlns:a="http://schemas.openxmlformats.org/drawingml/2006/main">
              <a:ext uri="{FF2B5EF4-FFF2-40B4-BE49-F238E27FC236}">
                <a16:creationId xmlns:a16="http://schemas.microsoft.com/office/drawing/2014/main" id="{54BB88FE-B9FF-4141-ABDD-6DA28EB22622}"/>
              </a:ext>
            </a:extLst>
          </p:cNvPr>
          <p:cNvSpPr>
            <a:spLocks xmlns:a="http://schemas.openxmlformats.org/drawingml/2006/main" noGrp="1"/>
          </p:cNvSpPr>
          <p:nvPr/>
        </p:nvSpPr>
        <p:spPr>
          <a:xfrm xmlns:a="http://schemas.openxmlformats.org/drawingml/2006/main">
            <a:off x="800100" y="587692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raw rollout</a:t>
            </a:r>
          </a:p>
        </p:txBody>
      </p:sp>
      <p:sp>
        <p:nvSpPr>
          <p:cNvPr id="20" name="">
            <a:extLst xmlns:a="http://schemas.openxmlformats.org/drawingml/2006/main">
              <a:ext uri="{FF2B5EF4-FFF2-40B4-BE49-F238E27FC236}">
                <a16:creationId xmlns:a16="http://schemas.microsoft.com/office/drawing/2014/main" id="{52DA9688-A1AB-4D08-B51C-BE58959CA843}"/>
              </a:ext>
            </a:extLst>
          </p:cNvPr>
          <p:cNvSpPr>
            <a:spLocks xmlns:a="http://schemas.openxmlformats.org/drawingml/2006/main" noGrp="1"/>
          </p:cNvSpPr>
          <p:nvPr/>
        </p:nvSpPr>
        <p:spPr>
          <a:xfrm xmlns:a="http://schemas.openxmlformats.org/drawingml/2006/main">
            <a:off x="3143250" y="5143500"/>
            <a:ext cx="26860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1" name="">
            <a:extLst xmlns:a="http://schemas.openxmlformats.org/drawingml/2006/main">
              <a:ext uri="{FF2B5EF4-FFF2-40B4-BE49-F238E27FC236}">
                <a16:creationId xmlns:a16="http://schemas.microsoft.com/office/drawing/2014/main" id="{B69C2FE2-CD3F-484F-AAE8-8BB55493232F}"/>
              </a:ext>
            </a:extLst>
          </p:cNvPr>
          <p:cNvSpPr>
            <a:spLocks xmlns:a="http://schemas.openxmlformats.org/drawingml/2006/main" noGrp="1"/>
          </p:cNvSpPr>
          <p:nvPr/>
        </p:nvSpPr>
        <p:spPr>
          <a:xfrm xmlns:a="http://schemas.openxmlformats.org/drawingml/2006/main">
            <a:off x="3143250" y="5143500"/>
            <a:ext cx="66675" cy="10287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38C86BC-A926-4F7E-810F-66ACE73B62C8}"/>
              </a:ext>
            </a:extLst>
          </p:cNvPr>
          <p:cNvSpPr>
            <a:spLocks xmlns:a="http://schemas.openxmlformats.org/drawingml/2006/main" noGrp="1"/>
          </p:cNvSpPr>
          <p:nvPr/>
        </p:nvSpPr>
        <p:spPr>
          <a:xfrm xmlns:a="http://schemas.openxmlformats.org/drawingml/2006/main">
            <a:off x="3333750" y="52768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PEAK</a:t>
            </a:r>
          </a:p>
        </p:txBody>
      </p:sp>
      <p:sp>
        <p:nvSpPr>
          <p:cNvPr id="23" name="">
            <a:extLst xmlns:a="http://schemas.openxmlformats.org/drawingml/2006/main">
              <a:ext uri="{FF2B5EF4-FFF2-40B4-BE49-F238E27FC236}">
                <a16:creationId xmlns:a16="http://schemas.microsoft.com/office/drawing/2014/main" id="{E7FD4C6E-3D65-455F-8FD4-3AC59A2BB474}"/>
              </a:ext>
            </a:extLst>
          </p:cNvPr>
          <p:cNvSpPr>
            <a:spLocks xmlns:a="http://schemas.openxmlformats.org/drawingml/2006/main" noGrp="1"/>
          </p:cNvSpPr>
          <p:nvPr/>
        </p:nvSpPr>
        <p:spPr>
          <a:xfrm xmlns:a="http://schemas.openxmlformats.org/drawingml/2006/main">
            <a:off x="3333750" y="54673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outside</a:t>
            </a:r>
          </a:p>
        </p:txBody>
      </p:sp>
      <p:sp>
        <p:nvSpPr>
          <p:cNvPr id="24" name="">
            <a:extLst xmlns:a="http://schemas.openxmlformats.org/drawingml/2006/main">
              <a:ext uri="{FF2B5EF4-FFF2-40B4-BE49-F238E27FC236}">
                <a16:creationId xmlns:a16="http://schemas.microsoft.com/office/drawing/2014/main" id="{CA2B8F64-41F6-48DE-9303-69355CB4B718}"/>
              </a:ext>
            </a:extLst>
          </p:cNvPr>
          <p:cNvSpPr>
            <a:spLocks xmlns:a="http://schemas.openxmlformats.org/drawingml/2006/main" noGrp="1"/>
          </p:cNvSpPr>
          <p:nvPr/>
        </p:nvSpPr>
        <p:spPr>
          <a:xfrm xmlns:a="http://schemas.openxmlformats.org/drawingml/2006/main">
            <a:off x="3333750" y="5876925"/>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generic top-left saliency</a:t>
            </a:r>
          </a:p>
        </p:txBody>
      </p:sp>
      <p:sp>
        <p:nvSpPr>
          <p:cNvPr id="25" name="">
            <a:extLst xmlns:a="http://schemas.openxmlformats.org/drawingml/2006/main">
              <a:ext uri="{FF2B5EF4-FFF2-40B4-BE49-F238E27FC236}">
                <a16:creationId xmlns:a16="http://schemas.microsoft.com/office/drawing/2014/main" id="{145846CF-1F5F-48EE-B437-F678986A069E}"/>
              </a:ext>
            </a:extLst>
          </p:cNvPr>
          <p:cNvSpPr>
            <a:spLocks xmlns:a="http://schemas.openxmlformats.org/drawingml/2006/main" noGrp="1"/>
          </p:cNvSpPr>
          <p:nvPr/>
        </p:nvSpPr>
        <p:spPr>
          <a:xfrm xmlns:a="http://schemas.openxmlformats.org/drawingml/2006/main">
            <a:off x="6362700" y="5143500"/>
            <a:ext cx="24003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6" name="">
            <a:extLst xmlns:a="http://schemas.openxmlformats.org/drawingml/2006/main">
              <a:ext uri="{FF2B5EF4-FFF2-40B4-BE49-F238E27FC236}">
                <a16:creationId xmlns:a16="http://schemas.microsoft.com/office/drawing/2014/main" id="{20825996-8AB8-4375-ADA3-DB46D60D69FB}"/>
              </a:ext>
            </a:extLst>
          </p:cNvPr>
          <p:cNvSpPr>
            <a:spLocks xmlns:a="http://schemas.openxmlformats.org/drawingml/2006/main" noGrp="1"/>
          </p:cNvSpPr>
          <p:nvPr/>
        </p:nvSpPr>
        <p:spPr>
          <a:xfrm xmlns:a="http://schemas.openxmlformats.org/drawingml/2006/main">
            <a:off x="6362700" y="5143500"/>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50C971E-DF59-4941-92F2-95684A056EA3}"/>
              </a:ext>
            </a:extLst>
          </p:cNvPr>
          <p:cNvSpPr>
            <a:spLocks xmlns:a="http://schemas.openxmlformats.org/drawingml/2006/main" noGrp="1"/>
          </p:cNvSpPr>
          <p:nvPr/>
        </p:nvSpPr>
        <p:spPr>
          <a:xfrm xmlns:a="http://schemas.openxmlformats.org/drawingml/2006/main">
            <a:off x="6553200" y="527685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TARGET LIFT</a:t>
            </a:r>
          </a:p>
        </p:txBody>
      </p:sp>
      <p:sp>
        <p:nvSpPr>
          <p:cNvPr id="28" name="">
            <a:extLst xmlns:a="http://schemas.openxmlformats.org/drawingml/2006/main">
              <a:ext uri="{FF2B5EF4-FFF2-40B4-BE49-F238E27FC236}">
                <a16:creationId xmlns:a16="http://schemas.microsoft.com/office/drawing/2014/main" id="{EEA99304-38AE-47A0-A80A-EA422601175C}"/>
              </a:ext>
            </a:extLst>
          </p:cNvPr>
          <p:cNvSpPr>
            <a:spLocks xmlns:a="http://schemas.openxmlformats.org/drawingml/2006/main" noGrp="1"/>
          </p:cNvSpPr>
          <p:nvPr/>
        </p:nvSpPr>
        <p:spPr>
          <a:xfrm xmlns:a="http://schemas.openxmlformats.org/drawingml/2006/main">
            <a:off x="6553200" y="54673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16.08×</a:t>
            </a:r>
          </a:p>
        </p:txBody>
      </p:sp>
      <p:sp>
        <p:nvSpPr>
          <p:cNvPr id="29" name="">
            <a:extLst xmlns:a="http://schemas.openxmlformats.org/drawingml/2006/main">
              <a:ext uri="{FF2B5EF4-FFF2-40B4-BE49-F238E27FC236}">
                <a16:creationId xmlns:a16="http://schemas.microsoft.com/office/drawing/2014/main" id="{B8285D2E-D7FF-4F7A-B3A5-0F5D15D4EE79}"/>
              </a:ext>
            </a:extLst>
          </p:cNvPr>
          <p:cNvSpPr>
            <a:spLocks xmlns:a="http://schemas.openxmlformats.org/drawingml/2006/main" noGrp="1"/>
          </p:cNvSpPr>
          <p:nvPr/>
        </p:nvSpPr>
        <p:spPr>
          <a:xfrm xmlns:a="http://schemas.openxmlformats.org/drawingml/2006/main">
            <a:off x="6553200" y="587692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instruction differential</a:t>
            </a:r>
          </a:p>
        </p:txBody>
      </p:sp>
      <p:sp>
        <p:nvSpPr>
          <p:cNvPr id="30" name="">
            <a:extLst xmlns:a="http://schemas.openxmlformats.org/drawingml/2006/main">
              <a:ext uri="{FF2B5EF4-FFF2-40B4-BE49-F238E27FC236}">
                <a16:creationId xmlns:a16="http://schemas.microsoft.com/office/drawing/2014/main" id="{554E5048-D6F1-4419-B953-02BD50BDC38F}"/>
              </a:ext>
            </a:extLst>
          </p:cNvPr>
          <p:cNvSpPr>
            <a:spLocks xmlns:a="http://schemas.openxmlformats.org/drawingml/2006/main" noGrp="1"/>
          </p:cNvSpPr>
          <p:nvPr/>
        </p:nvSpPr>
        <p:spPr>
          <a:xfrm xmlns:a="http://schemas.openxmlformats.org/drawingml/2006/main">
            <a:off x="8896350" y="5143500"/>
            <a:ext cx="26860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31" name="">
            <a:extLst xmlns:a="http://schemas.openxmlformats.org/drawingml/2006/main">
              <a:ext uri="{FF2B5EF4-FFF2-40B4-BE49-F238E27FC236}">
                <a16:creationId xmlns:a16="http://schemas.microsoft.com/office/drawing/2014/main" id="{BB1BE89E-1AD0-4E91-8A44-363C7D5E9332}"/>
              </a:ext>
            </a:extLst>
          </p:cNvPr>
          <p:cNvSpPr>
            <a:spLocks xmlns:a="http://schemas.openxmlformats.org/drawingml/2006/main" noGrp="1"/>
          </p:cNvSpPr>
          <p:nvPr/>
        </p:nvSpPr>
        <p:spPr>
          <a:xfrm xmlns:a="http://schemas.openxmlformats.org/drawingml/2006/main">
            <a:off x="8896350" y="5143500"/>
            <a:ext cx="66675" cy="1028700"/>
          </a:xfrm>
          <a:prstGeom xmlns:a="http://schemas.openxmlformats.org/drawingml/2006/main" prst="roundRect">
            <a:avLst>
              <a:gd name="adj" fmla="val 50000"/>
            </a:avLst>
          </a:prstGeom>
          <a:solidFill xmlns:a="http://schemas.openxmlformats.org/drawingml/2006/main">
            <a:srgbClr val="18A875"/>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09A0A74-F32E-4119-9A5E-C982FDB310CE}"/>
              </a:ext>
            </a:extLst>
          </p:cNvPr>
          <p:cNvSpPr>
            <a:spLocks xmlns:a="http://schemas.openxmlformats.org/drawingml/2006/main" noGrp="1"/>
          </p:cNvSpPr>
          <p:nvPr/>
        </p:nvSpPr>
        <p:spPr>
          <a:xfrm xmlns:a="http://schemas.openxmlformats.org/drawingml/2006/main">
            <a:off x="9086850" y="52768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PEAK</a:t>
            </a:r>
          </a:p>
        </p:txBody>
      </p:sp>
      <p:sp>
        <p:nvSpPr>
          <p:cNvPr id="33" name="">
            <a:extLst xmlns:a="http://schemas.openxmlformats.org/drawingml/2006/main">
              <a:ext uri="{FF2B5EF4-FFF2-40B4-BE49-F238E27FC236}">
                <a16:creationId xmlns:a16="http://schemas.microsoft.com/office/drawing/2014/main" id="{E88EE3C4-6FD6-4374-A3F6-6F83DA28E030}"/>
              </a:ext>
            </a:extLst>
          </p:cNvPr>
          <p:cNvSpPr>
            <a:spLocks xmlns:a="http://schemas.openxmlformats.org/drawingml/2006/main" noGrp="1"/>
          </p:cNvSpPr>
          <p:nvPr/>
        </p:nvSpPr>
        <p:spPr>
          <a:xfrm xmlns:a="http://schemas.openxmlformats.org/drawingml/2006/main">
            <a:off x="9086850" y="54673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inside</a:t>
            </a:r>
          </a:p>
        </p:txBody>
      </p:sp>
      <p:sp>
        <p:nvSpPr>
          <p:cNvPr id="34" name="">
            <a:extLst xmlns:a="http://schemas.openxmlformats.org/drawingml/2006/main">
              <a:ext uri="{FF2B5EF4-FFF2-40B4-BE49-F238E27FC236}">
                <a16:creationId xmlns:a16="http://schemas.microsoft.com/office/drawing/2014/main" id="{A888D565-C810-4BB6-BE4B-3D258B1CAD63}"/>
              </a:ext>
            </a:extLst>
          </p:cNvPr>
          <p:cNvSpPr>
            <a:spLocks xmlns:a="http://schemas.openxmlformats.org/drawingml/2006/main" noGrp="1"/>
          </p:cNvSpPr>
          <p:nvPr/>
        </p:nvSpPr>
        <p:spPr>
          <a:xfrm xmlns:a="http://schemas.openxmlformats.org/drawingml/2006/main">
            <a:off x="9086850" y="5876925"/>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3.2% of frame diagonal away</a:t>
            </a:r>
          </a:p>
        </p:txBody>
      </p:sp>
      <p:sp>
        <p:nvSpPr>
          <p:cNvPr id="35" name="">
            <a:extLst xmlns:a="http://schemas.openxmlformats.org/drawingml/2006/main">
              <a:ext uri="{FF2B5EF4-FFF2-40B4-BE49-F238E27FC236}">
                <a16:creationId xmlns:a16="http://schemas.microsoft.com/office/drawing/2014/main" id="{70353F31-4B42-4CE3-8E65-1DC1FC4BE94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9599E3E0-8007-4E41-8EBC-E4007188B680}"/>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Local trace: powerpoint_windows_59 · 4 same-image controls · LOO cosine 0.925 mean / 0.828 minimum</a:t>
            </a:r>
          </a:p>
        </p:txBody>
      </p:sp>
    </p:spTree>
    <p:extLst>
      <p:ext uri="{BB962C8B-B14F-4D97-AF65-F5344CB8AC3E}">
        <p14:creationId xmlns:p14="http://schemas.microsoft.com/office/powerpoint/2010/main" val="66039098"/>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6C50CDC-DD2E-4EDF-A606-1D0E5E293CE1}"/>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GROUNDING MISS</a:t>
            </a:r>
          </a:p>
        </p:txBody>
      </p:sp>
      <p:sp>
        <p:nvSpPr>
          <p:cNvPr id="2" name="">
            <a:extLst xmlns:a="http://schemas.openxmlformats.org/drawingml/2006/main">
              <a:ext uri="{FF2B5EF4-FFF2-40B4-BE49-F238E27FC236}">
                <a16:creationId xmlns:a16="http://schemas.microsoft.com/office/drawing/2014/main" id="{8247D196-2A7B-4E12-9997-E1A1296E1682}"/>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651"/>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The right region wins, but the wrong affordance receives the click</a:t>
            </a:r>
          </a:p>
        </p:txBody>
      </p:sp>
      <p:sp>
        <p:nvSpPr>
          <p:cNvPr id="3" name="">
            <a:extLst xmlns:a="http://schemas.openxmlformats.org/drawingml/2006/main">
              <a:ext uri="{FF2B5EF4-FFF2-40B4-BE49-F238E27FC236}">
                <a16:creationId xmlns:a16="http://schemas.microsoft.com/office/drawing/2014/main" id="{5B52D349-2F9F-454D-8A14-DAEC8270C1A4}"/>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5602C326-8BC2-44CA-B60E-3B628150FB5E}"/>
              </a:ext>
            </a:extLst>
          </p:cNvPr>
          <p:cNvSpPr>
            <a:spLocks xmlns:a="http://schemas.openxmlformats.org/drawingml/2006/main" noGrp="1"/>
          </p:cNvSpPr>
          <p:nvPr/>
        </p:nvSpPr>
        <p:spPr>
          <a:xfrm xmlns:a="http://schemas.openxmlformats.org/drawingml/2006/main">
            <a:off x="762000" y="12001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6717D"/>
                </a:solidFill>
                <a:latin typeface="Helvetica Neue"/>
                <a:ea typeface="Helvetica Neue"/>
                <a:cs typeface="Helvetica Neue"/>
              </a:defRPr>
            </a:pPr>
            <a:r>
              <a:rPr sz="1425" b="1">
                <a:solidFill>
                  <a:srgbClr val="66717D"/>
                </a:solidFill>
                <a:latin typeface="Helvetica Neue"/>
                <a:ea typeface="Helvetica Neue"/>
                <a:cs typeface="Helvetica Neue"/>
              </a:rPr>
              <a:t>Instruction: Create new slide</a:t>
            </a:r>
          </a:p>
        </p:txBody>
      </p:sp>
      <p:sp>
        <p:nvSpPr>
          <p:cNvPr id="5" name="">
            <a:extLst xmlns:a="http://schemas.openxmlformats.org/drawingml/2006/main">
              <a:ext uri="{FF2B5EF4-FFF2-40B4-BE49-F238E27FC236}">
                <a16:creationId xmlns:a16="http://schemas.microsoft.com/office/drawing/2014/main" id="{3AE1C3AA-C086-499F-B209-0FA573D462FB}"/>
              </a:ext>
            </a:extLst>
          </p:cNvPr>
          <p:cNvSpPr>
            <a:spLocks xmlns:a="http://schemas.openxmlformats.org/drawingml/2006/main" noGrp="1"/>
          </p:cNvSpPr>
          <p:nvPr/>
        </p:nvSpPr>
        <p:spPr>
          <a:xfrm xmlns:a="http://schemas.openxmlformats.org/drawingml/2006/main">
            <a:off x="5314950" y="1152525"/>
            <a:ext cx="26289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E04688C-564C-49B3-8E61-45F880F6DB9A}"/>
              </a:ext>
            </a:extLst>
          </p:cNvPr>
          <p:cNvSpPr>
            <a:spLocks xmlns:a="http://schemas.openxmlformats.org/drawingml/2006/main" noGrp="1"/>
          </p:cNvSpPr>
          <p:nvPr/>
        </p:nvSpPr>
        <p:spPr>
          <a:xfrm xmlns:a="http://schemas.openxmlformats.org/drawingml/2006/main">
            <a:off x="5410200" y="1171575"/>
            <a:ext cx="2438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WHITE RING = ISSUED CLICK</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c3b57dab7144fba"/>
          <a:srcRect xmlns:a="http://schemas.openxmlformats.org/drawingml/2006/main" l="0" t="4494" r="0" b="4494"/>
          <a:stretch xmlns:a="http://schemas.openxmlformats.org/drawingml/2006/main">
            <a:fillRect l="0" t="0" r="0" b="0"/>
          </a:stretch>
        </p:blipFill>
        <p:spPr>
          <a:xfrm xmlns:a="http://schemas.openxmlformats.org/drawingml/2006/main">
            <a:off x="609600" y="1562100"/>
            <a:ext cx="7334250" cy="4171950"/>
          </a:xfrm>
          <a:prstGeom xmlns:a="http://schemas.openxmlformats.org/drawingml/2006/main" prst="roundRect">
            <a:avLst>
              <a:gd name="adj" fmla="val 2740"/>
            </a:avLst>
          </a:prstGeom>
        </p:spPr>
      </p:pic>
      <p:sp>
        <p:nvSpPr>
          <p:cNvPr id="8" name="">
            <a:extLst xmlns:a="http://schemas.openxmlformats.org/drawingml/2006/main">
              <a:ext uri="{FF2B5EF4-FFF2-40B4-BE49-F238E27FC236}">
                <a16:creationId xmlns:a16="http://schemas.microsoft.com/office/drawing/2014/main" id="{109707BD-1DFC-4BDD-B226-386984513F2D}"/>
              </a:ext>
            </a:extLst>
          </p:cNvPr>
          <p:cNvSpPr>
            <a:spLocks xmlns:a="http://schemas.openxmlformats.org/drawingml/2006/main" noGrp="1"/>
          </p:cNvSpPr>
          <p:nvPr/>
        </p:nvSpPr>
        <p:spPr>
          <a:xfrm xmlns:a="http://schemas.openxmlformats.org/drawingml/2006/main">
            <a:off x="609600" y="1562100"/>
            <a:ext cx="7334250" cy="4171950"/>
          </a:xfrm>
          <a:prstGeom xmlns:a="http://schemas.openxmlformats.org/drawingml/2006/main" prst="roundRect">
            <a:avLst>
              <a:gd name="adj" fmla="val 1826"/>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37004BD5-E947-480B-B644-8F3FF83AF671}"/>
              </a:ext>
            </a:extLst>
          </p:cNvPr>
          <p:cNvSpPr>
            <a:spLocks xmlns:a="http://schemas.openxmlformats.org/drawingml/2006/main" noGrp="1"/>
          </p:cNvSpPr>
          <p:nvPr/>
        </p:nvSpPr>
        <p:spPr>
          <a:xfrm xmlns:a="http://schemas.openxmlformats.org/drawingml/2006/main">
            <a:off x="8305800" y="1562100"/>
            <a:ext cx="3276600" cy="4171950"/>
          </a:xfrm>
          <a:prstGeom xmlns:a="http://schemas.openxmlformats.org/drawingml/2006/main" prst="roundRect">
            <a:avLst>
              <a:gd name="adj" fmla="val 2326"/>
            </a:avLst>
          </a:prstGeom>
          <a:solidFill xmlns:a="http://schemas.openxmlformats.org/drawingml/2006/main">
            <a:srgbClr val="1C273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55FFD9D-2DCB-493E-AEEA-56385B8A4703}"/>
              </a:ext>
            </a:extLst>
          </p:cNvPr>
          <p:cNvSpPr>
            <a:spLocks xmlns:a="http://schemas.openxmlformats.org/drawingml/2006/main" noGrp="1"/>
          </p:cNvSpPr>
          <p:nvPr/>
        </p:nvSpPr>
        <p:spPr>
          <a:xfrm xmlns:a="http://schemas.openxmlformats.org/drawingml/2006/main">
            <a:off x="8572500" y="1809750"/>
            <a:ext cx="14287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38D2190-7455-4DAC-8093-1847D2598258}"/>
              </a:ext>
            </a:extLst>
          </p:cNvPr>
          <p:cNvSpPr>
            <a:spLocks xmlns:a="http://schemas.openxmlformats.org/drawingml/2006/main" noGrp="1"/>
          </p:cNvSpPr>
          <p:nvPr/>
        </p:nvSpPr>
        <p:spPr>
          <a:xfrm xmlns:a="http://schemas.openxmlformats.org/drawingml/2006/main">
            <a:off x="8667750" y="182880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GROUNDING MISS</a:t>
            </a:r>
          </a:p>
        </p:txBody>
      </p:sp>
      <p:sp>
        <p:nvSpPr>
          <p:cNvPr id="12" name="">
            <a:extLst xmlns:a="http://schemas.openxmlformats.org/drawingml/2006/main">
              <a:ext uri="{FF2B5EF4-FFF2-40B4-BE49-F238E27FC236}">
                <a16:creationId xmlns:a16="http://schemas.microsoft.com/office/drawing/2014/main" id="{4D56C701-6E80-4D42-8E4C-06DE0591AC24}"/>
              </a:ext>
            </a:extLst>
          </p:cNvPr>
          <p:cNvSpPr>
            <a:spLocks xmlns:a="http://schemas.openxmlformats.org/drawingml/2006/main" noGrp="1"/>
          </p:cNvSpPr>
          <p:nvPr/>
        </p:nvSpPr>
        <p:spPr>
          <a:xfrm xmlns:a="http://schemas.openxmlformats.org/drawingml/2006/main">
            <a:off x="8572500" y="2343150"/>
            <a:ext cx="2571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676"/>
          </a:bodyPr>
          <a:lstStyle xmlns:a="http://schemas.openxmlformats.org/drawingml/2006/main"/>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The differential map concentrates in the correct top-left task region…</a:t>
            </a:r>
          </a:p>
        </p:txBody>
      </p:sp>
      <p:sp>
        <p:nvSpPr>
          <p:cNvPr id="13" name="">
            <a:extLst xmlns:a="http://schemas.openxmlformats.org/drawingml/2006/main">
              <a:ext uri="{FF2B5EF4-FFF2-40B4-BE49-F238E27FC236}">
                <a16:creationId xmlns:a16="http://schemas.microsoft.com/office/drawing/2014/main" id="{D12C7FA5-D87A-434E-9C45-AB2F36B9C252}"/>
              </a:ext>
            </a:extLst>
          </p:cNvPr>
          <p:cNvSpPr>
            <a:spLocks xmlns:a="http://schemas.openxmlformats.org/drawingml/2006/main" noGrp="1"/>
          </p:cNvSpPr>
          <p:nvPr/>
        </p:nvSpPr>
        <p:spPr>
          <a:xfrm xmlns:a="http://schemas.openxmlformats.org/drawingml/2006/main">
            <a:off x="8572500" y="3295650"/>
            <a:ext cx="2571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C5CFD8"/>
                </a:solidFill>
                <a:latin typeface="Helvetica Neue"/>
                <a:ea typeface="Helvetica Neue"/>
                <a:cs typeface="Helvetica Neue"/>
              </a:defRPr>
            </a:pPr>
            <a:r>
              <a:rPr sz="1350" b="0">
                <a:solidFill>
                  <a:srgbClr val="C5CFD8"/>
                </a:solidFill>
                <a:latin typeface="Helvetica Neue"/>
                <a:ea typeface="Helvetica Neue"/>
                <a:cs typeface="Helvetica Neue"/>
              </a:rPr>
              <a:t>…but its peak lands on the slide thumbnail, not the tiny New Slide button.</a:t>
            </a:r>
          </a:p>
        </p:txBody>
      </p:sp>
      <p:sp>
        <p:nvSpPr>
          <p:cNvPr id="14" name="">
            <a:extLst xmlns:a="http://schemas.openxmlformats.org/drawingml/2006/main">
              <a:ext uri="{FF2B5EF4-FFF2-40B4-BE49-F238E27FC236}">
                <a16:creationId xmlns:a16="http://schemas.microsoft.com/office/drawing/2014/main" id="{01C53930-802C-401C-B45F-AA2BC9821BB5}"/>
              </a:ext>
            </a:extLst>
          </p:cNvPr>
          <p:cNvSpPr>
            <a:spLocks xmlns:a="http://schemas.openxmlformats.org/drawingml/2006/main" noGrp="1"/>
          </p:cNvSpPr>
          <p:nvPr/>
        </p:nvSpPr>
        <p:spPr>
          <a:xfrm xmlns:a="http://schemas.openxmlformats.org/drawingml/2006/main">
            <a:off x="8572500" y="4305300"/>
            <a:ext cx="25717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1734E14-DB9E-4E65-A8B0-137DFB00798A}"/>
              </a:ext>
            </a:extLst>
          </p:cNvPr>
          <p:cNvSpPr>
            <a:spLocks xmlns:a="http://schemas.openxmlformats.org/drawingml/2006/main" noGrp="1"/>
          </p:cNvSpPr>
          <p:nvPr/>
        </p:nvSpPr>
        <p:spPr>
          <a:xfrm xmlns:a="http://schemas.openxmlformats.org/drawingml/2006/main">
            <a:off x="8572500" y="4514850"/>
            <a:ext cx="1257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1A0AE"/>
                </a:solidFill>
                <a:latin typeface="Helvetica Neue"/>
                <a:ea typeface="Helvetica Neue"/>
                <a:cs typeface="Helvetica Neue"/>
              </a:defRPr>
            </a:pPr>
            <a:r>
              <a:rPr sz="900" b="1">
                <a:solidFill>
                  <a:srgbClr val="91A0AE"/>
                </a:solidFill>
                <a:latin typeface="Helvetica Neue"/>
                <a:ea typeface="Helvetica Neue"/>
                <a:cs typeface="Helvetica Neue"/>
              </a:rPr>
              <a:t>Predicted click</a:t>
            </a:r>
          </a:p>
        </p:txBody>
      </p:sp>
      <p:sp>
        <p:nvSpPr>
          <p:cNvPr id="16" name="">
            <a:extLst xmlns:a="http://schemas.openxmlformats.org/drawingml/2006/main">
              <a:ext uri="{FF2B5EF4-FFF2-40B4-BE49-F238E27FC236}">
                <a16:creationId xmlns:a16="http://schemas.microsoft.com/office/drawing/2014/main" id="{FA0357AB-6605-4F54-B964-E216624E909F}"/>
              </a:ext>
            </a:extLst>
          </p:cNvPr>
          <p:cNvSpPr>
            <a:spLocks xmlns:a="http://schemas.openxmlformats.org/drawingml/2006/main" noGrp="1"/>
          </p:cNvSpPr>
          <p:nvPr/>
        </p:nvSpPr>
        <p:spPr>
          <a:xfrm xmlns:a="http://schemas.openxmlformats.org/drawingml/2006/main">
            <a:off x="9848850" y="4486275"/>
            <a:ext cx="1295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(331, 270)</a:t>
            </a:r>
          </a:p>
        </p:txBody>
      </p:sp>
      <p:sp>
        <p:nvSpPr>
          <p:cNvPr id="17" name="">
            <a:extLst xmlns:a="http://schemas.openxmlformats.org/drawingml/2006/main">
              <a:ext uri="{FF2B5EF4-FFF2-40B4-BE49-F238E27FC236}">
                <a16:creationId xmlns:a16="http://schemas.microsoft.com/office/drawing/2014/main" id="{222EDD87-E253-40FA-958E-B740AB440669}"/>
              </a:ext>
            </a:extLst>
          </p:cNvPr>
          <p:cNvSpPr>
            <a:spLocks xmlns:a="http://schemas.openxmlformats.org/drawingml/2006/main" noGrp="1"/>
          </p:cNvSpPr>
          <p:nvPr/>
        </p:nvSpPr>
        <p:spPr>
          <a:xfrm xmlns:a="http://schemas.openxmlformats.org/drawingml/2006/main">
            <a:off x="8572500" y="48958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1A0AE"/>
                </a:solidFill>
                <a:latin typeface="Helvetica Neue"/>
                <a:ea typeface="Helvetica Neue"/>
                <a:cs typeface="Helvetica Neue"/>
              </a:defRPr>
            </a:pPr>
            <a:r>
              <a:rPr sz="900" b="1">
                <a:solidFill>
                  <a:srgbClr val="91A0AE"/>
                </a:solidFill>
                <a:latin typeface="Helvetica Neue"/>
                <a:ea typeface="Helvetica Neue"/>
                <a:cs typeface="Helvetica Neue"/>
              </a:rPr>
              <a:t>Prompt-diff peak</a:t>
            </a:r>
          </a:p>
        </p:txBody>
      </p:sp>
      <p:sp>
        <p:nvSpPr>
          <p:cNvPr id="18" name="">
            <a:extLst xmlns:a="http://schemas.openxmlformats.org/drawingml/2006/main">
              <a:ext uri="{FF2B5EF4-FFF2-40B4-BE49-F238E27FC236}">
                <a16:creationId xmlns:a16="http://schemas.microsoft.com/office/drawing/2014/main" id="{097D821F-2624-4BC7-A38E-19AC27F592F4}"/>
              </a:ext>
            </a:extLst>
          </p:cNvPr>
          <p:cNvSpPr>
            <a:spLocks xmlns:a="http://schemas.openxmlformats.org/drawingml/2006/main" noGrp="1"/>
          </p:cNvSpPr>
          <p:nvPr/>
        </p:nvSpPr>
        <p:spPr>
          <a:xfrm xmlns:a="http://schemas.openxmlformats.org/drawingml/2006/main">
            <a:off x="9829800" y="4867275"/>
            <a:ext cx="1314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F05A3C"/>
                </a:solidFill>
                <a:latin typeface="Helvetica Neue"/>
                <a:ea typeface="Helvetica Neue"/>
                <a:cs typeface="Helvetica Neue"/>
              </a:defRPr>
            </a:pPr>
            <a:r>
              <a:rPr sz="1350" b="1">
                <a:solidFill>
                  <a:srgbClr val="F05A3C"/>
                </a:solidFill>
                <a:latin typeface="Helvetica Neue"/>
                <a:ea typeface="Helvetica Neue"/>
                <a:cs typeface="Helvetica Neue"/>
              </a:rPr>
              <a:t>9.9% diag away</a:t>
            </a:r>
          </a:p>
        </p:txBody>
      </p:sp>
      <p:sp>
        <p:nvSpPr>
          <p:cNvPr id="19" name="">
            <a:extLst xmlns:a="http://schemas.openxmlformats.org/drawingml/2006/main">
              <a:ext uri="{FF2B5EF4-FFF2-40B4-BE49-F238E27FC236}">
                <a16:creationId xmlns:a16="http://schemas.microsoft.com/office/drawing/2014/main" id="{D20C24AE-CF86-4216-8AFB-5E4495E30E81}"/>
              </a:ext>
            </a:extLst>
          </p:cNvPr>
          <p:cNvSpPr>
            <a:spLocks xmlns:a="http://schemas.openxmlformats.org/drawingml/2006/main" noGrp="1"/>
          </p:cNvSpPr>
          <p:nvPr/>
        </p:nvSpPr>
        <p:spPr>
          <a:xfrm xmlns:a="http://schemas.openxmlformats.org/drawingml/2006/main">
            <a:off x="8572500" y="527685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F1C7BC"/>
                </a:solidFill>
                <a:latin typeface="Helvetica Neue"/>
                <a:ea typeface="Helvetica Neue"/>
                <a:cs typeface="Helvetica Neue"/>
              </a:defRPr>
            </a:pPr>
            <a:r>
              <a:rPr sz="975" b="0">
                <a:solidFill>
                  <a:srgbClr val="F1C7BC"/>
                </a:solidFill>
                <a:latin typeface="Helvetica Neue"/>
                <a:ea typeface="Helvetica Neue"/>
                <a:cs typeface="Helvetica Neue"/>
              </a:rPr>
              <a:t>The model resolves the intent class, but not the target binding needed for action.</a:t>
            </a:r>
          </a:p>
        </p:txBody>
      </p:sp>
      <p:sp>
        <p:nvSpPr>
          <p:cNvPr id="20" name="">
            <a:extLst xmlns:a="http://schemas.openxmlformats.org/drawingml/2006/main">
              <a:ext uri="{FF2B5EF4-FFF2-40B4-BE49-F238E27FC236}">
                <a16:creationId xmlns:a16="http://schemas.microsoft.com/office/drawing/2014/main" id="{E7719EAC-DDBB-4ACD-B730-A69F12E5E23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4BF2BD8-E0F4-4B8E-9C06-4A7F587D4CC2}"/>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Local trace: powerpoint_windows_48 · prompt-baseline stability 0.970 mean / 0.953 minimum</a:t>
            </a:r>
          </a:p>
        </p:txBody>
      </p:sp>
    </p:spTree>
    <p:extLst>
      <p:ext uri="{BB962C8B-B14F-4D97-AF65-F5344CB8AC3E}">
        <p14:creationId xmlns:p14="http://schemas.microsoft.com/office/powerpoint/2010/main" val="2140038105"/>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A30B6E04-8FF7-4F6D-BB03-952E94FAFD77}"/>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MULTI-TURN PROMPT BASELINE</a:t>
            </a:r>
          </a:p>
        </p:txBody>
      </p:sp>
      <p:sp>
        <p:nvSpPr>
          <p:cNvPr id="2" name="">
            <a:extLst xmlns:a="http://schemas.openxmlformats.org/drawingml/2006/main">
              <a:ext uri="{FF2B5EF4-FFF2-40B4-BE49-F238E27FC236}">
                <a16:creationId xmlns:a16="http://schemas.microsoft.com/office/drawing/2014/main" id="{39368D7C-9D1E-4E1F-AE75-7A1FB326FD2A}"/>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The right hotel is retrieved, then its button is missed</a:t>
            </a:r>
          </a:p>
        </p:txBody>
      </p:sp>
      <p:sp>
        <p:nvSpPr>
          <p:cNvPr id="3" name="">
            <a:extLst xmlns:a="http://schemas.openxmlformats.org/drawingml/2006/main">
              <a:ext uri="{FF2B5EF4-FFF2-40B4-BE49-F238E27FC236}">
                <a16:creationId xmlns:a16="http://schemas.microsoft.com/office/drawing/2014/main" id="{5D2CD851-D80C-47B0-AA7D-2162553BC682}"/>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A1C27E52-9B4F-4820-A4B6-253968D61EA2}"/>
              </a:ext>
            </a:extLst>
          </p:cNvPr>
          <p:cNvSpPr>
            <a:spLocks xmlns:a="http://schemas.openxmlformats.org/drawingml/2006/main" noGrp="1"/>
          </p:cNvSpPr>
          <p:nvPr/>
        </p:nvSpPr>
        <p:spPr>
          <a:xfrm xmlns:a="http://schemas.openxmlformats.org/drawingml/2006/main">
            <a:off x="609600" y="1162050"/>
            <a:ext cx="885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Target minus same-history instruction ensemble for the final x/y coordinate tokens</a:t>
            </a:r>
          </a:p>
        </p:txBody>
      </p:sp>
      <p:sp>
        <p:nvSpPr>
          <p:cNvPr id="5" name="">
            <a:extLst xmlns:a="http://schemas.openxmlformats.org/drawingml/2006/main">
              <a:ext uri="{FF2B5EF4-FFF2-40B4-BE49-F238E27FC236}">
                <a16:creationId xmlns:a16="http://schemas.microsoft.com/office/drawing/2014/main" id="{CBB2BA1E-556A-4024-8EAC-3E86A1A8CE82}"/>
              </a:ext>
            </a:extLst>
          </p:cNvPr>
          <p:cNvSpPr>
            <a:spLocks xmlns:a="http://schemas.openxmlformats.org/drawingml/2006/main" noGrp="1"/>
          </p:cNvSpPr>
          <p:nvPr/>
        </p:nvSpPr>
        <p:spPr>
          <a:xfrm xmlns:a="http://schemas.openxmlformats.org/drawingml/2006/main">
            <a:off x="9525000" y="1133475"/>
            <a:ext cx="20574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74EB3AD-5173-4278-B65D-3FC40814CC5B}"/>
              </a:ext>
            </a:extLst>
          </p:cNvPr>
          <p:cNvSpPr>
            <a:spLocks xmlns:a="http://schemas.openxmlformats.org/drawingml/2006/main" noGrp="1"/>
          </p:cNvSpPr>
          <p:nvPr/>
        </p:nvSpPr>
        <p:spPr>
          <a:xfrm xmlns:a="http://schemas.openxmlformats.org/drawingml/2006/main">
            <a:off x="9620250" y="1152525"/>
            <a:ext cx="1866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WHITE RING = CLICK</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2a4fa3bf36914016"/>
          <a:srcRect xmlns:a="http://schemas.openxmlformats.org/drawingml/2006/main" l="74" t="0" r="74" b="0"/>
          <a:stretch xmlns:a="http://schemas.openxmlformats.org/drawingml/2006/main">
            <a:fillRect l="0" t="0" r="0" b="0"/>
          </a:stretch>
        </p:blipFill>
        <p:spPr>
          <a:xfrm xmlns:a="http://schemas.openxmlformats.org/drawingml/2006/main">
            <a:off x="609600" y="1581150"/>
            <a:ext cx="2571750" cy="1609725"/>
          </a:xfrm>
          <a:prstGeom xmlns:a="http://schemas.openxmlformats.org/drawingml/2006/main" prst="roundRect">
            <a:avLst>
              <a:gd name="adj" fmla="val 7101"/>
            </a:avLst>
          </a:prstGeom>
        </p:spPr>
      </p:pic>
      <p:sp>
        <p:nvSpPr>
          <p:cNvPr id="8" name="">
            <a:extLst xmlns:a="http://schemas.openxmlformats.org/drawingml/2006/main">
              <a:ext uri="{FF2B5EF4-FFF2-40B4-BE49-F238E27FC236}">
                <a16:creationId xmlns:a16="http://schemas.microsoft.com/office/drawing/2014/main" id="{8E95E87B-0FB9-415B-83A7-82270F4B5F83}"/>
              </a:ext>
            </a:extLst>
          </p:cNvPr>
          <p:cNvSpPr>
            <a:spLocks xmlns:a="http://schemas.openxmlformats.org/drawingml/2006/main" noGrp="1"/>
          </p:cNvSpPr>
          <p:nvPr/>
        </p:nvSpPr>
        <p:spPr>
          <a:xfrm xmlns:a="http://schemas.openxmlformats.org/drawingml/2006/main">
            <a:off x="609600" y="1581150"/>
            <a:ext cx="2571750" cy="1609725"/>
          </a:xfrm>
          <a:prstGeom xmlns:a="http://schemas.openxmlformats.org/drawingml/2006/main" prst="roundRect">
            <a:avLst>
              <a:gd name="adj" fmla="val 4734"/>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0235C156-79CC-45AA-A95C-CF796D00FD13}"/>
              </a:ext>
            </a:extLst>
          </p:cNvPr>
          <p:cNvSpPr>
            <a:spLocks xmlns:a="http://schemas.openxmlformats.org/drawingml/2006/main" noGrp="1"/>
          </p:cNvSpPr>
          <p:nvPr/>
        </p:nvSpPr>
        <p:spPr>
          <a:xfrm xmlns:a="http://schemas.openxmlformats.org/drawingml/2006/main">
            <a:off x="704850" y="3295650"/>
            <a:ext cx="20955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C3965DF-9897-4C7B-9682-AF1C97A5C794}"/>
              </a:ext>
            </a:extLst>
          </p:cNvPr>
          <p:cNvSpPr>
            <a:spLocks xmlns:a="http://schemas.openxmlformats.org/drawingml/2006/main" noGrp="1"/>
          </p:cNvSpPr>
          <p:nvPr/>
        </p:nvSpPr>
        <p:spPr>
          <a:xfrm xmlns:a="http://schemas.openxmlformats.org/drawingml/2006/main">
            <a:off x="800100" y="3314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0 · START</a:t>
            </a:r>
          </a:p>
        </p:txBody>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c9f5a25957314501"/>
          <a:srcRect xmlns:a="http://schemas.openxmlformats.org/drawingml/2006/main" l="74" t="0" r="74" b="0"/>
          <a:stretch xmlns:a="http://schemas.openxmlformats.org/drawingml/2006/main">
            <a:fillRect l="0" t="0" r="0" b="0"/>
          </a:stretch>
        </p:blipFill>
        <p:spPr>
          <a:xfrm xmlns:a="http://schemas.openxmlformats.org/drawingml/2006/main">
            <a:off x="3333750" y="1581150"/>
            <a:ext cx="2571750" cy="1609725"/>
          </a:xfrm>
          <a:prstGeom xmlns:a="http://schemas.openxmlformats.org/drawingml/2006/main" prst="roundRect">
            <a:avLst>
              <a:gd name="adj" fmla="val 7101"/>
            </a:avLst>
          </a:prstGeom>
        </p:spPr>
      </p:pic>
      <p:sp>
        <p:nvSpPr>
          <p:cNvPr id="12" name="">
            <a:extLst xmlns:a="http://schemas.openxmlformats.org/drawingml/2006/main">
              <a:ext uri="{FF2B5EF4-FFF2-40B4-BE49-F238E27FC236}">
                <a16:creationId xmlns:a16="http://schemas.microsoft.com/office/drawing/2014/main" id="{709B7D62-5D3A-409E-91AA-51AFD6D82EEC}"/>
              </a:ext>
            </a:extLst>
          </p:cNvPr>
          <p:cNvSpPr>
            <a:spLocks xmlns:a="http://schemas.openxmlformats.org/drawingml/2006/main" noGrp="1"/>
          </p:cNvSpPr>
          <p:nvPr/>
        </p:nvSpPr>
        <p:spPr>
          <a:xfrm xmlns:a="http://schemas.openxmlformats.org/drawingml/2006/main">
            <a:off x="3333750" y="1581150"/>
            <a:ext cx="2571750" cy="1609725"/>
          </a:xfrm>
          <a:prstGeom xmlns:a="http://schemas.openxmlformats.org/drawingml/2006/main" prst="roundRect">
            <a:avLst>
              <a:gd name="adj" fmla="val 4734"/>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C7F23249-554C-46F4-BB62-E3B49D890E67}"/>
              </a:ext>
            </a:extLst>
          </p:cNvPr>
          <p:cNvSpPr>
            <a:spLocks xmlns:a="http://schemas.openxmlformats.org/drawingml/2006/main" noGrp="1"/>
          </p:cNvSpPr>
          <p:nvPr/>
        </p:nvSpPr>
        <p:spPr>
          <a:xfrm xmlns:a="http://schemas.openxmlformats.org/drawingml/2006/main">
            <a:off x="3429000" y="3295650"/>
            <a:ext cx="20955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C65E3F6-0B11-4202-A1EC-C7A4B714429B}"/>
              </a:ext>
            </a:extLst>
          </p:cNvPr>
          <p:cNvSpPr>
            <a:spLocks xmlns:a="http://schemas.openxmlformats.org/drawingml/2006/main" noGrp="1"/>
          </p:cNvSpPr>
          <p:nvPr/>
        </p:nvSpPr>
        <p:spPr>
          <a:xfrm xmlns:a="http://schemas.openxmlformats.org/drawingml/2006/main">
            <a:off x="3524250" y="3314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1 · SCROLL 500</a:t>
            </a:r>
          </a:p>
        </p:txBody>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eda647173250428e"/>
          <a:srcRect xmlns:a="http://schemas.openxmlformats.org/drawingml/2006/main" l="74" t="0" r="74" b="0"/>
          <a:stretch xmlns:a="http://schemas.openxmlformats.org/drawingml/2006/main">
            <a:fillRect l="0" t="0" r="0" b="0"/>
          </a:stretch>
        </p:blipFill>
        <p:spPr>
          <a:xfrm xmlns:a="http://schemas.openxmlformats.org/drawingml/2006/main">
            <a:off x="6057900" y="1581150"/>
            <a:ext cx="2571750" cy="1609725"/>
          </a:xfrm>
          <a:prstGeom xmlns:a="http://schemas.openxmlformats.org/drawingml/2006/main" prst="roundRect">
            <a:avLst>
              <a:gd name="adj" fmla="val 7101"/>
            </a:avLst>
          </a:prstGeom>
        </p:spPr>
      </p:pic>
      <p:sp>
        <p:nvSpPr>
          <p:cNvPr id="16" name="">
            <a:extLst xmlns:a="http://schemas.openxmlformats.org/drawingml/2006/main">
              <a:ext uri="{FF2B5EF4-FFF2-40B4-BE49-F238E27FC236}">
                <a16:creationId xmlns:a16="http://schemas.microsoft.com/office/drawing/2014/main" id="{DF9E5BC5-C82F-4691-9A08-F45B60CCB0A3}"/>
              </a:ext>
            </a:extLst>
          </p:cNvPr>
          <p:cNvSpPr>
            <a:spLocks xmlns:a="http://schemas.openxmlformats.org/drawingml/2006/main" noGrp="1"/>
          </p:cNvSpPr>
          <p:nvPr/>
        </p:nvSpPr>
        <p:spPr>
          <a:xfrm xmlns:a="http://schemas.openxmlformats.org/drawingml/2006/main">
            <a:off x="6057900" y="1581150"/>
            <a:ext cx="2571750" cy="1609725"/>
          </a:xfrm>
          <a:prstGeom xmlns:a="http://schemas.openxmlformats.org/drawingml/2006/main" prst="roundRect">
            <a:avLst>
              <a:gd name="adj" fmla="val 4734"/>
            </a:avLst>
          </a:prstGeom>
          <a:noFill xmlns:a="http://schemas.openxmlformats.org/drawingml/2006/main"/>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39A3591C-43E7-4739-8C60-940B5A5F823F}"/>
              </a:ext>
            </a:extLst>
          </p:cNvPr>
          <p:cNvSpPr>
            <a:spLocks xmlns:a="http://schemas.openxmlformats.org/drawingml/2006/main" noGrp="1"/>
          </p:cNvSpPr>
          <p:nvPr/>
        </p:nvSpPr>
        <p:spPr>
          <a:xfrm xmlns:a="http://schemas.openxmlformats.org/drawingml/2006/main">
            <a:off x="6153150" y="3295650"/>
            <a:ext cx="20955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274B76D-9DBD-48F1-A3D1-7A224E65EE28}"/>
              </a:ext>
            </a:extLst>
          </p:cNvPr>
          <p:cNvSpPr>
            <a:spLocks xmlns:a="http://schemas.openxmlformats.org/drawingml/2006/main" noGrp="1"/>
          </p:cNvSpPr>
          <p:nvPr/>
        </p:nvSpPr>
        <p:spPr>
          <a:xfrm xmlns:a="http://schemas.openxmlformats.org/drawingml/2006/main">
            <a:off x="6248400" y="3314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2 · TARGET APPEARS</a:t>
            </a:r>
          </a:p>
        </p:txBody>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9f4585cb0dab4e9f"/>
          <a:srcRect xmlns:a="http://schemas.openxmlformats.org/drawingml/2006/main" l="74" t="0" r="74" b="0"/>
          <a:stretch xmlns:a="http://schemas.openxmlformats.org/drawingml/2006/main">
            <a:fillRect l="0" t="0" r="0" b="0"/>
          </a:stretch>
        </p:blipFill>
        <p:spPr>
          <a:xfrm xmlns:a="http://schemas.openxmlformats.org/drawingml/2006/main">
            <a:off x="8782050" y="1581150"/>
            <a:ext cx="2571750" cy="1609725"/>
          </a:xfrm>
          <a:prstGeom xmlns:a="http://schemas.openxmlformats.org/drawingml/2006/main" prst="roundRect">
            <a:avLst>
              <a:gd name="adj" fmla="val 7101"/>
            </a:avLst>
          </a:prstGeom>
        </p:spPr>
      </p:pic>
      <p:sp>
        <p:nvSpPr>
          <p:cNvPr id="20" name="">
            <a:extLst xmlns:a="http://schemas.openxmlformats.org/drawingml/2006/main">
              <a:ext uri="{FF2B5EF4-FFF2-40B4-BE49-F238E27FC236}">
                <a16:creationId xmlns:a16="http://schemas.microsoft.com/office/drawing/2014/main" id="{210CDACE-632A-48BE-8FEE-F1307B836481}"/>
              </a:ext>
            </a:extLst>
          </p:cNvPr>
          <p:cNvSpPr>
            <a:spLocks xmlns:a="http://schemas.openxmlformats.org/drawingml/2006/main" noGrp="1"/>
          </p:cNvSpPr>
          <p:nvPr/>
        </p:nvSpPr>
        <p:spPr>
          <a:xfrm xmlns:a="http://schemas.openxmlformats.org/drawingml/2006/main">
            <a:off x="8782050" y="1581150"/>
            <a:ext cx="2571750" cy="1609725"/>
          </a:xfrm>
          <a:prstGeom xmlns:a="http://schemas.openxmlformats.org/drawingml/2006/main" prst="roundRect">
            <a:avLst>
              <a:gd name="adj" fmla="val 4734"/>
            </a:avLst>
          </a:prstGeom>
          <a:noFill xmlns:a="http://schemas.openxmlformats.org/drawingml/2006/main"/>
          <a:ln xmlns:a="http://schemas.openxmlformats.org/drawingml/2006/main" w="9525">
            <a:solidFill>
              <a:srgbClr val="D9D4C8"/>
            </a:solidFill>
          </a:ln>
        </p:spPr>
      </p:sp>
      <p:sp>
        <p:nvSpPr>
          <p:cNvPr id="21" name="">
            <a:extLst xmlns:a="http://schemas.openxmlformats.org/drawingml/2006/main">
              <a:ext uri="{FF2B5EF4-FFF2-40B4-BE49-F238E27FC236}">
                <a16:creationId xmlns:a16="http://schemas.microsoft.com/office/drawing/2014/main" id="{F6610818-506D-47A0-85DF-5A1B653903B2}"/>
              </a:ext>
            </a:extLst>
          </p:cNvPr>
          <p:cNvSpPr>
            <a:spLocks xmlns:a="http://schemas.openxmlformats.org/drawingml/2006/main" noGrp="1"/>
          </p:cNvSpPr>
          <p:nvPr/>
        </p:nvSpPr>
        <p:spPr>
          <a:xfrm xmlns:a="http://schemas.openxmlformats.org/drawingml/2006/main">
            <a:off x="8877300" y="3295650"/>
            <a:ext cx="20955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185EDA3-8677-475D-A55F-5BA6272BFCCD}"/>
              </a:ext>
            </a:extLst>
          </p:cNvPr>
          <p:cNvSpPr>
            <a:spLocks xmlns:a="http://schemas.openxmlformats.org/drawingml/2006/main" noGrp="1"/>
          </p:cNvSpPr>
          <p:nvPr/>
        </p:nvSpPr>
        <p:spPr>
          <a:xfrm xmlns:a="http://schemas.openxmlformats.org/drawingml/2006/main">
            <a:off x="8972550" y="3314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3 · CLICK</a:t>
            </a:r>
          </a:p>
        </p:txBody>
      </p:sp>
      <p:sp>
        <p:nvSpPr>
          <p:cNvPr id="23" name="">
            <a:extLst xmlns:a="http://schemas.openxmlformats.org/drawingml/2006/main">
              <a:ext uri="{FF2B5EF4-FFF2-40B4-BE49-F238E27FC236}">
                <a16:creationId xmlns:a16="http://schemas.microsoft.com/office/drawing/2014/main" id="{7B89F2FB-2509-4B9A-89B9-139DA916A07E}"/>
              </a:ext>
            </a:extLst>
          </p:cNvPr>
          <p:cNvSpPr>
            <a:spLocks xmlns:a="http://schemas.openxmlformats.org/drawingml/2006/main" noGrp="1"/>
          </p:cNvSpPr>
          <p:nvPr/>
        </p:nvSpPr>
        <p:spPr>
          <a:xfrm xmlns:a="http://schemas.openxmlformats.org/drawingml/2006/main">
            <a:off x="10558463" y="1670209"/>
            <a:ext cx="304800" cy="304800"/>
          </a:xfrm>
          <a:prstGeom xmlns:a="http://schemas.openxmlformats.org/drawingml/2006/main" prst="ellipse">
            <a:avLst/>
          </a:prstGeom>
          <a:noFill xmlns:a="http://schemas.openxmlformats.org/drawingml/2006/main"/>
          <a:ln xmlns:a="http://schemas.openxmlformats.org/drawingml/2006/main" w="76200">
            <a:solidFill>
              <a:srgbClr val="10151C"/>
            </a:solidFill>
          </a:ln>
        </p:spPr>
      </p:sp>
      <p:sp>
        <p:nvSpPr>
          <p:cNvPr id="24" name="">
            <a:extLst xmlns:a="http://schemas.openxmlformats.org/drawingml/2006/main">
              <a:ext uri="{FF2B5EF4-FFF2-40B4-BE49-F238E27FC236}">
                <a16:creationId xmlns:a16="http://schemas.microsoft.com/office/drawing/2014/main" id="{BAD12CED-276A-4932-9845-1858E27232F3}"/>
              </a:ext>
            </a:extLst>
          </p:cNvPr>
          <p:cNvSpPr>
            <a:spLocks xmlns:a="http://schemas.openxmlformats.org/drawingml/2006/main" noGrp="1"/>
          </p:cNvSpPr>
          <p:nvPr/>
        </p:nvSpPr>
        <p:spPr>
          <a:xfrm xmlns:a="http://schemas.openxmlformats.org/drawingml/2006/main">
            <a:off x="10558463" y="1670209"/>
            <a:ext cx="304800" cy="304800"/>
          </a:xfrm>
          <a:prstGeom xmlns:a="http://schemas.openxmlformats.org/drawingml/2006/main" prst="ellipse">
            <a:avLst/>
          </a:prstGeom>
          <a:noFill xmlns:a="http://schemas.openxmlformats.org/drawingml/2006/main"/>
          <a:ln xmlns:a="http://schemas.openxmlformats.org/drawingml/2006/main" w="28575">
            <a:solidFill>
              <a:srgbClr val="FFFFFF"/>
            </a:solidFill>
          </a:ln>
        </p:spPr>
      </p:sp>
      <p:sp>
        <p:nvSpPr>
          <p:cNvPr id="25" name="">
            <a:extLst xmlns:a="http://schemas.openxmlformats.org/drawingml/2006/main">
              <a:ext uri="{FF2B5EF4-FFF2-40B4-BE49-F238E27FC236}">
                <a16:creationId xmlns:a16="http://schemas.microsoft.com/office/drawing/2014/main" id="{8D5D1C1C-E874-4688-9D9C-9349E7FF0F8E}"/>
              </a:ext>
            </a:extLst>
          </p:cNvPr>
          <p:cNvSpPr>
            <a:spLocks xmlns:a="http://schemas.openxmlformats.org/drawingml/2006/main" noGrp="1"/>
          </p:cNvSpPr>
          <p:nvPr/>
        </p:nvSpPr>
        <p:spPr>
          <a:xfrm xmlns:a="http://schemas.openxmlformats.org/drawingml/2006/main">
            <a:off x="10501313" y="1784509"/>
            <a:ext cx="419100" cy="76200"/>
          </a:xfrm>
          <a:prstGeom xmlns:a="http://schemas.openxmlformats.org/drawingml/2006/main" prst="roundRect">
            <a:avLst>
              <a:gd name="adj" fmla="val 50000"/>
            </a:avLst>
          </a:prstGeom>
          <a:solidFill xmlns:a="http://schemas.openxmlformats.org/drawingml/2006/main">
            <a:srgbClr val="10151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4D2528B-9F20-4285-A55E-EF1F98340353}"/>
              </a:ext>
            </a:extLst>
          </p:cNvPr>
          <p:cNvSpPr>
            <a:spLocks xmlns:a="http://schemas.openxmlformats.org/drawingml/2006/main" noGrp="1"/>
          </p:cNvSpPr>
          <p:nvPr/>
        </p:nvSpPr>
        <p:spPr>
          <a:xfrm xmlns:a="http://schemas.openxmlformats.org/drawingml/2006/main">
            <a:off x="10672763" y="1613059"/>
            <a:ext cx="76200" cy="419100"/>
          </a:xfrm>
          <a:prstGeom xmlns:a="http://schemas.openxmlformats.org/drawingml/2006/main" prst="roundRect">
            <a:avLst>
              <a:gd name="adj" fmla="val 50000"/>
            </a:avLst>
          </a:prstGeom>
          <a:solidFill xmlns:a="http://schemas.openxmlformats.org/drawingml/2006/main">
            <a:srgbClr val="10151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341CCBE-C44B-412D-B3F4-A8F0235D1DC0}"/>
              </a:ext>
            </a:extLst>
          </p:cNvPr>
          <p:cNvSpPr>
            <a:spLocks xmlns:a="http://schemas.openxmlformats.org/drawingml/2006/main" noGrp="1"/>
          </p:cNvSpPr>
          <p:nvPr/>
        </p:nvSpPr>
        <p:spPr>
          <a:xfrm xmlns:a="http://schemas.openxmlformats.org/drawingml/2006/main">
            <a:off x="10501313" y="1808321"/>
            <a:ext cx="419100" cy="285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DEE33BD6-9DD1-488E-994B-3405283706B0}"/>
              </a:ext>
            </a:extLst>
          </p:cNvPr>
          <p:cNvSpPr>
            <a:spLocks xmlns:a="http://schemas.openxmlformats.org/drawingml/2006/main" noGrp="1"/>
          </p:cNvSpPr>
          <p:nvPr/>
        </p:nvSpPr>
        <p:spPr>
          <a:xfrm xmlns:a="http://schemas.openxmlformats.org/drawingml/2006/main">
            <a:off x="10696575" y="1613059"/>
            <a:ext cx="28575" cy="4191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E535A67B-F382-43AB-A593-148C657862CD}"/>
              </a:ext>
            </a:extLst>
          </p:cNvPr>
          <p:cNvSpPr>
            <a:spLocks xmlns:a="http://schemas.openxmlformats.org/drawingml/2006/main" noGrp="1"/>
          </p:cNvSpPr>
          <p:nvPr/>
        </p:nvSpPr>
        <p:spPr>
          <a:xfrm xmlns:a="http://schemas.openxmlformats.org/drawingml/2006/main">
            <a:off x="609600" y="3790950"/>
            <a:ext cx="3333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30" name="">
            <a:extLst xmlns:a="http://schemas.openxmlformats.org/drawingml/2006/main">
              <a:ext uri="{FF2B5EF4-FFF2-40B4-BE49-F238E27FC236}">
                <a16:creationId xmlns:a16="http://schemas.microsoft.com/office/drawing/2014/main" id="{1C4D0685-D439-490F-89B8-363501E9C4C2}"/>
              </a:ext>
            </a:extLst>
          </p:cNvPr>
          <p:cNvSpPr>
            <a:spLocks xmlns:a="http://schemas.openxmlformats.org/drawingml/2006/main" noGrp="1"/>
          </p:cNvSpPr>
          <p:nvPr/>
        </p:nvSpPr>
        <p:spPr>
          <a:xfrm xmlns:a="http://schemas.openxmlformats.org/drawingml/2006/main">
            <a:off x="609600" y="3790950"/>
            <a:ext cx="66675" cy="1028700"/>
          </a:xfrm>
          <a:prstGeom xmlns:a="http://schemas.openxmlformats.org/drawingml/2006/main" prst="roundRect">
            <a:avLst>
              <a:gd name="adj" fmla="val 50000"/>
            </a:avLst>
          </a:prstGeom>
          <a:solidFill xmlns:a="http://schemas.openxmlformats.org/drawingml/2006/main">
            <a:srgbClr val="2D84D3"/>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4A02A3E-A55A-490E-9AF6-2C6A041610CD}"/>
              </a:ext>
            </a:extLst>
          </p:cNvPr>
          <p:cNvSpPr>
            <a:spLocks xmlns:a="http://schemas.openxmlformats.org/drawingml/2006/main" noGrp="1"/>
          </p:cNvSpPr>
          <p:nvPr/>
        </p:nvSpPr>
        <p:spPr>
          <a:xfrm xmlns:a="http://schemas.openxmlformats.org/drawingml/2006/main">
            <a:off x="800100" y="3924300"/>
            <a:ext cx="3028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EARLIER-FRAME TARGET LIFT</a:t>
            </a:r>
          </a:p>
        </p:txBody>
      </p:sp>
      <p:sp>
        <p:nvSpPr>
          <p:cNvPr id="32" name="">
            <a:extLst xmlns:a="http://schemas.openxmlformats.org/drawingml/2006/main">
              <a:ext uri="{FF2B5EF4-FFF2-40B4-BE49-F238E27FC236}">
                <a16:creationId xmlns:a16="http://schemas.microsoft.com/office/drawing/2014/main" id="{038BB928-8F0F-4CD3-A794-8E42EA556BB3}"/>
              </a:ext>
            </a:extLst>
          </p:cNvPr>
          <p:cNvSpPr>
            <a:spLocks xmlns:a="http://schemas.openxmlformats.org/drawingml/2006/main" noGrp="1"/>
          </p:cNvSpPr>
          <p:nvPr/>
        </p:nvSpPr>
        <p:spPr>
          <a:xfrm xmlns:a="http://schemas.openxmlformats.org/drawingml/2006/main">
            <a:off x="800100" y="4114800"/>
            <a:ext cx="302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2.78×</a:t>
            </a:r>
          </a:p>
        </p:txBody>
      </p:sp>
      <p:sp>
        <p:nvSpPr>
          <p:cNvPr id="33" name="">
            <a:extLst xmlns:a="http://schemas.openxmlformats.org/drawingml/2006/main">
              <a:ext uri="{FF2B5EF4-FFF2-40B4-BE49-F238E27FC236}">
                <a16:creationId xmlns:a16="http://schemas.microsoft.com/office/drawing/2014/main" id="{5538D7B1-BF2B-4343-9654-820A54D9E595}"/>
              </a:ext>
            </a:extLst>
          </p:cNvPr>
          <p:cNvSpPr>
            <a:spLocks xmlns:a="http://schemas.openxmlformats.org/drawingml/2006/main" noGrp="1"/>
          </p:cNvSpPr>
          <p:nvPr/>
        </p:nvSpPr>
        <p:spPr>
          <a:xfrm xmlns:a="http://schemas.openxmlformats.org/drawingml/2006/main">
            <a:off x="800100" y="4524375"/>
            <a:ext cx="3028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frame 2: target button at viewport edge</a:t>
            </a:r>
          </a:p>
        </p:txBody>
      </p:sp>
      <p:sp>
        <p:nvSpPr>
          <p:cNvPr id="34" name="">
            <a:extLst xmlns:a="http://schemas.openxmlformats.org/drawingml/2006/main">
              <a:ext uri="{FF2B5EF4-FFF2-40B4-BE49-F238E27FC236}">
                <a16:creationId xmlns:a16="http://schemas.microsoft.com/office/drawing/2014/main" id="{7B91D2AC-5D27-43D8-A1E4-0D97F91112C8}"/>
              </a:ext>
            </a:extLst>
          </p:cNvPr>
          <p:cNvSpPr>
            <a:spLocks xmlns:a="http://schemas.openxmlformats.org/drawingml/2006/main" noGrp="1"/>
          </p:cNvSpPr>
          <p:nvPr/>
        </p:nvSpPr>
        <p:spPr>
          <a:xfrm xmlns:a="http://schemas.openxmlformats.org/drawingml/2006/main">
            <a:off x="4114800" y="3790950"/>
            <a:ext cx="3333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35" name="">
            <a:extLst xmlns:a="http://schemas.openxmlformats.org/drawingml/2006/main">
              <a:ext uri="{FF2B5EF4-FFF2-40B4-BE49-F238E27FC236}">
                <a16:creationId xmlns:a16="http://schemas.microsoft.com/office/drawing/2014/main" id="{E62EB24B-D683-433D-BDE5-9F7B5246D3D6}"/>
              </a:ext>
            </a:extLst>
          </p:cNvPr>
          <p:cNvSpPr>
            <a:spLocks xmlns:a="http://schemas.openxmlformats.org/drawingml/2006/main" noGrp="1"/>
          </p:cNvSpPr>
          <p:nvPr/>
        </p:nvSpPr>
        <p:spPr>
          <a:xfrm xmlns:a="http://schemas.openxmlformats.org/drawingml/2006/main">
            <a:off x="4114800" y="3790950"/>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190EA582-17A0-4378-A358-959591C6C96F}"/>
              </a:ext>
            </a:extLst>
          </p:cNvPr>
          <p:cNvSpPr>
            <a:spLocks xmlns:a="http://schemas.openxmlformats.org/drawingml/2006/main" noGrp="1"/>
          </p:cNvSpPr>
          <p:nvPr/>
        </p:nvSpPr>
        <p:spPr>
          <a:xfrm xmlns:a="http://schemas.openxmlformats.org/drawingml/2006/main">
            <a:off x="4305300" y="3924300"/>
            <a:ext cx="3028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CURRENT-FRAME TARGET LIFT</a:t>
            </a:r>
          </a:p>
        </p:txBody>
      </p:sp>
      <p:sp>
        <p:nvSpPr>
          <p:cNvPr id="37" name="">
            <a:extLst xmlns:a="http://schemas.openxmlformats.org/drawingml/2006/main">
              <a:ext uri="{FF2B5EF4-FFF2-40B4-BE49-F238E27FC236}">
                <a16:creationId xmlns:a16="http://schemas.microsoft.com/office/drawing/2014/main" id="{23DC37AD-655E-4A65-9924-2CF550C25783}"/>
              </a:ext>
            </a:extLst>
          </p:cNvPr>
          <p:cNvSpPr>
            <a:spLocks xmlns:a="http://schemas.openxmlformats.org/drawingml/2006/main" noGrp="1"/>
          </p:cNvSpPr>
          <p:nvPr/>
        </p:nvSpPr>
        <p:spPr>
          <a:xfrm xmlns:a="http://schemas.openxmlformats.org/drawingml/2006/main">
            <a:off x="4305300" y="4114800"/>
            <a:ext cx="302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8.59×</a:t>
            </a:r>
          </a:p>
        </p:txBody>
      </p:sp>
      <p:sp>
        <p:nvSpPr>
          <p:cNvPr id="38" name="">
            <a:extLst xmlns:a="http://schemas.openxmlformats.org/drawingml/2006/main">
              <a:ext uri="{FF2B5EF4-FFF2-40B4-BE49-F238E27FC236}">
                <a16:creationId xmlns:a16="http://schemas.microsoft.com/office/drawing/2014/main" id="{0082CDB4-2B02-4284-B603-797B242D174E}"/>
              </a:ext>
            </a:extLst>
          </p:cNvPr>
          <p:cNvSpPr>
            <a:spLocks xmlns:a="http://schemas.openxmlformats.org/drawingml/2006/main" noGrp="1"/>
          </p:cNvSpPr>
          <p:nvPr/>
        </p:nvSpPr>
        <p:spPr>
          <a:xfrm xmlns:a="http://schemas.openxmlformats.org/drawingml/2006/main">
            <a:off x="4305300" y="4524375"/>
            <a:ext cx="3028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frame 3: prompt differential</a:t>
            </a:r>
          </a:p>
        </p:txBody>
      </p:sp>
      <p:sp>
        <p:nvSpPr>
          <p:cNvPr id="39" name="">
            <a:extLst xmlns:a="http://schemas.openxmlformats.org/drawingml/2006/main">
              <a:ext uri="{FF2B5EF4-FFF2-40B4-BE49-F238E27FC236}">
                <a16:creationId xmlns:a16="http://schemas.microsoft.com/office/drawing/2014/main" id="{E70DB33B-D4B8-4E60-8835-C031DF52F0EA}"/>
              </a:ext>
            </a:extLst>
          </p:cNvPr>
          <p:cNvSpPr>
            <a:spLocks xmlns:a="http://schemas.openxmlformats.org/drawingml/2006/main" noGrp="1"/>
          </p:cNvSpPr>
          <p:nvPr/>
        </p:nvSpPr>
        <p:spPr>
          <a:xfrm xmlns:a="http://schemas.openxmlformats.org/drawingml/2006/main">
            <a:off x="7620000" y="3790950"/>
            <a:ext cx="39624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40" name="">
            <a:extLst xmlns:a="http://schemas.openxmlformats.org/drawingml/2006/main">
              <a:ext uri="{FF2B5EF4-FFF2-40B4-BE49-F238E27FC236}">
                <a16:creationId xmlns:a16="http://schemas.microsoft.com/office/drawing/2014/main" id="{63D7DED5-00E2-49F2-81BE-1F51A7E605F0}"/>
              </a:ext>
            </a:extLst>
          </p:cNvPr>
          <p:cNvSpPr>
            <a:spLocks xmlns:a="http://schemas.openxmlformats.org/drawingml/2006/main" noGrp="1"/>
          </p:cNvSpPr>
          <p:nvPr/>
        </p:nvSpPr>
        <p:spPr>
          <a:xfrm xmlns:a="http://schemas.openxmlformats.org/drawingml/2006/main">
            <a:off x="7620000" y="3790950"/>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CF0127DE-3FD7-45CA-9E08-94B0305C56B9}"/>
              </a:ext>
            </a:extLst>
          </p:cNvPr>
          <p:cNvSpPr>
            <a:spLocks xmlns:a="http://schemas.openxmlformats.org/drawingml/2006/main" noGrp="1"/>
          </p:cNvSpPr>
          <p:nvPr/>
        </p:nvSpPr>
        <p:spPr>
          <a:xfrm xmlns:a="http://schemas.openxmlformats.org/drawingml/2006/main">
            <a:off x="7810500" y="3924300"/>
            <a:ext cx="3657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ISSUED CLICK</a:t>
            </a:r>
          </a:p>
        </p:txBody>
      </p:sp>
      <p:sp>
        <p:nvSpPr>
          <p:cNvPr id="42" name="">
            <a:extLst xmlns:a="http://schemas.openxmlformats.org/drawingml/2006/main">
              <a:ext uri="{FF2B5EF4-FFF2-40B4-BE49-F238E27FC236}">
                <a16:creationId xmlns:a16="http://schemas.microsoft.com/office/drawing/2014/main" id="{4B6C4ECD-7181-44C2-9907-528A2B9BEDD1}"/>
              </a:ext>
            </a:extLst>
          </p:cNvPr>
          <p:cNvSpPr>
            <a:spLocks xmlns:a="http://schemas.openxmlformats.org/drawingml/2006/main" noGrp="1"/>
          </p:cNvSpPr>
          <p:nvPr/>
        </p:nvSpPr>
        <p:spPr>
          <a:xfrm xmlns:a="http://schemas.openxmlformats.org/drawingml/2006/main">
            <a:off x="7810500" y="4114800"/>
            <a:ext cx="365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MISS</a:t>
            </a:r>
          </a:p>
        </p:txBody>
      </p:sp>
      <p:sp>
        <p:nvSpPr>
          <p:cNvPr id="43" name="">
            <a:extLst xmlns:a="http://schemas.openxmlformats.org/drawingml/2006/main">
              <a:ext uri="{FF2B5EF4-FFF2-40B4-BE49-F238E27FC236}">
                <a16:creationId xmlns:a16="http://schemas.microsoft.com/office/drawing/2014/main" id="{271059B1-0F79-467A-8818-C4A853806B82}"/>
              </a:ext>
            </a:extLst>
          </p:cNvPr>
          <p:cNvSpPr>
            <a:spLocks xmlns:a="http://schemas.openxmlformats.org/drawingml/2006/main" noGrp="1"/>
          </p:cNvSpPr>
          <p:nvPr/>
        </p:nvSpPr>
        <p:spPr>
          <a:xfrm xmlns:a="http://schemas.openxmlformats.org/drawingml/2006/main">
            <a:off x="7810500" y="4524375"/>
            <a:ext cx="3657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(960,120): correct card, wrong affordance</a:t>
            </a:r>
          </a:p>
        </p:txBody>
      </p:sp>
      <p:sp>
        <p:nvSpPr>
          <p:cNvPr id="44" name="">
            <a:extLst xmlns:a="http://schemas.openxmlformats.org/drawingml/2006/main">
              <a:ext uri="{FF2B5EF4-FFF2-40B4-BE49-F238E27FC236}">
                <a16:creationId xmlns:a16="http://schemas.microsoft.com/office/drawing/2014/main" id="{7EA55786-9249-407B-819A-14677C25059D}"/>
              </a:ext>
            </a:extLst>
          </p:cNvPr>
          <p:cNvSpPr>
            <a:spLocks xmlns:a="http://schemas.openxmlformats.org/drawingml/2006/main" noGrp="1"/>
          </p:cNvSpPr>
          <p:nvPr/>
        </p:nvSpPr>
        <p:spPr>
          <a:xfrm xmlns:a="http://schemas.openxmlformats.org/drawingml/2006/main">
            <a:off x="609600" y="5048250"/>
            <a:ext cx="10972800" cy="1028700"/>
          </a:xfrm>
          <a:prstGeom xmlns:a="http://schemas.openxmlformats.org/drawingml/2006/main" prst="roundRect">
            <a:avLst>
              <a:gd name="adj" fmla="val 7407"/>
            </a:avLst>
          </a:prstGeom>
          <a:solidFill xmlns:a="http://schemas.openxmlformats.org/drawingml/2006/main">
            <a:srgbClr val="1C2733"/>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49377477-F376-454A-9BE5-D068AA48325A}"/>
              </a:ext>
            </a:extLst>
          </p:cNvPr>
          <p:cNvSpPr>
            <a:spLocks xmlns:a="http://schemas.openxmlformats.org/drawingml/2006/main" noGrp="1"/>
          </p:cNvSpPr>
          <p:nvPr/>
        </p:nvSpPr>
        <p:spPr>
          <a:xfrm xmlns:a="http://schemas.openxmlformats.org/drawingml/2006/main">
            <a:off x="857250" y="5248275"/>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Interpretation</a:t>
            </a:r>
          </a:p>
        </p:txBody>
      </p:sp>
      <p:sp>
        <p:nvSpPr>
          <p:cNvPr id="46" name="">
            <a:extLst xmlns:a="http://schemas.openxmlformats.org/drawingml/2006/main">
              <a:ext uri="{FF2B5EF4-FFF2-40B4-BE49-F238E27FC236}">
                <a16:creationId xmlns:a16="http://schemas.microsoft.com/office/drawing/2014/main" id="{B39E8A83-8708-4620-B03D-4604BDC76AA2}"/>
              </a:ext>
            </a:extLst>
          </p:cNvPr>
          <p:cNvSpPr>
            <a:spLocks xmlns:a="http://schemas.openxmlformats.org/drawingml/2006/main" noGrp="1"/>
          </p:cNvSpPr>
          <p:nvPr/>
        </p:nvSpPr>
        <p:spPr>
          <a:xfrm xmlns:a="http://schemas.openxmlformats.org/drawingml/2006/main">
            <a:off x="857250" y="5514975"/>
            <a:ext cx="647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252"/>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Semantic retrieval survives across frames; precise action binding does not.</a:t>
            </a:r>
          </a:p>
        </p:txBody>
      </p:sp>
      <p:sp>
        <p:nvSpPr>
          <p:cNvPr id="47" name="">
            <a:extLst xmlns:a="http://schemas.openxmlformats.org/drawingml/2006/main">
              <a:ext uri="{FF2B5EF4-FFF2-40B4-BE49-F238E27FC236}">
                <a16:creationId xmlns:a16="http://schemas.microsoft.com/office/drawing/2014/main" id="{CDEC3C80-058D-419D-AA63-6CC6DF20A66A}"/>
              </a:ext>
            </a:extLst>
          </p:cNvPr>
          <p:cNvSpPr>
            <a:spLocks xmlns:a="http://schemas.openxmlformats.org/drawingml/2006/main" noGrp="1"/>
          </p:cNvSpPr>
          <p:nvPr/>
        </p:nvSpPr>
        <p:spPr>
          <a:xfrm xmlns:a="http://schemas.openxmlformats.org/drawingml/2006/main">
            <a:off x="7620000" y="5219700"/>
            <a:ext cx="35623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Shifted-layout follow-up: £122 gets 4.12× causal lift vs 0.81× for £135, yet the malformed click still misses.</a:t>
            </a:r>
          </a:p>
        </p:txBody>
      </p:sp>
      <p:sp>
        <p:nvSpPr>
          <p:cNvPr id="48" name="">
            <a:extLst xmlns:a="http://schemas.openxmlformats.org/drawingml/2006/main">
              <a:ext uri="{FF2B5EF4-FFF2-40B4-BE49-F238E27FC236}">
                <a16:creationId xmlns:a16="http://schemas.microsoft.com/office/drawing/2014/main" id="{5FD879CF-F234-4386-9D21-24D1776B0F71}"/>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46A1EF60-7F93-4285-8F04-FB6147AE9B2E}"/>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Resolution caveat: 1280×800 source → 640×384 vision raster → 20×12 merged-token map · button ≈ 1.6×1.0 token</a:t>
            </a:r>
          </a:p>
        </p:txBody>
      </p:sp>
    </p:spTree>
    <p:extLst>
      <p:ext uri="{BB962C8B-B14F-4D97-AF65-F5344CB8AC3E}">
        <p14:creationId xmlns:p14="http://schemas.microsoft.com/office/powerpoint/2010/main" val="1446747220"/>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5B644EBF-BBA4-45B8-A9EC-36EA886927CB}"/>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BALANCED LAYER AND HEAD LENS</a:t>
            </a:r>
          </a:p>
        </p:txBody>
      </p:sp>
      <p:sp>
        <p:nvSpPr>
          <p:cNvPr id="2" name="">
            <a:extLst xmlns:a="http://schemas.openxmlformats.org/drawingml/2006/main">
              <a:ext uri="{FF2B5EF4-FFF2-40B4-BE49-F238E27FC236}">
                <a16:creationId xmlns:a16="http://schemas.microsoft.com/office/drawing/2014/main" id="{10A11F94-BE0B-45FD-8254-856C82641A60}"/>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Layer 19 survives the pilot, but not alone</a:t>
            </a:r>
          </a:p>
        </p:txBody>
      </p:sp>
      <p:sp>
        <p:nvSpPr>
          <p:cNvPr id="3" name="">
            <a:extLst xmlns:a="http://schemas.openxmlformats.org/drawingml/2006/main">
              <a:ext uri="{FF2B5EF4-FFF2-40B4-BE49-F238E27FC236}">
                <a16:creationId xmlns:a16="http://schemas.microsoft.com/office/drawing/2014/main" id="{460E3788-9391-4552-9FC3-95110AC86464}"/>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0F8D9381-9479-4DF8-B66F-F2F26287D178}"/>
              </a:ext>
            </a:extLst>
          </p:cNvPr>
          <p:cNvSpPr>
            <a:spLocks xmlns:a="http://schemas.openxmlformats.org/drawingml/2006/main" noGrp="1"/>
          </p:cNvSpPr>
          <p:nvPr/>
        </p:nvSpPr>
        <p:spPr>
          <a:xfrm xmlns:a="http://schemas.openxmlformats.org/drawingml/2006/main">
            <a:off x="609600" y="11239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Same-image prompt-differential target lift. 1× means spatially uniform positive residual mass. Official harness, n=4: 2 hits and 2 misses.</a:t>
            </a:r>
          </a:p>
        </p:txBody>
      </p:sp>
      <p:sp>
        <p:nvSpPr>
          <p:cNvPr id="5" name="">
            <a:extLst xmlns:a="http://schemas.openxmlformats.org/drawingml/2006/main">
              <a:ext uri="{FF2B5EF4-FFF2-40B4-BE49-F238E27FC236}">
                <a16:creationId xmlns:a16="http://schemas.microsoft.com/office/drawing/2014/main" id="{39E115C2-AEF4-4591-B05B-A30441EC8A5C}"/>
              </a:ext>
            </a:extLst>
          </p:cNvPr>
          <p:cNvSpPr>
            <a:spLocks xmlns:a="http://schemas.openxmlformats.org/drawingml/2006/main" noGrp="1"/>
          </p:cNvSpPr>
          <p:nvPr/>
        </p:nvSpPr>
        <p:spPr>
          <a:xfrm xmlns:a="http://schemas.openxmlformats.org/drawingml/2006/main">
            <a:off x="609600" y="1495425"/>
            <a:ext cx="5962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MEAN TARGET LIFT BY FULL-ATTENTION LAYER</a:t>
            </a:r>
          </a:p>
        </p:txBody>
      </p:sp>
      <p:sp>
        <p:nvSpPr>
          <p:cNvPr id="6" name="">
            <a:extLst xmlns:a="http://schemas.openxmlformats.org/drawingml/2006/main">
              <a:ext uri="{FF2B5EF4-FFF2-40B4-BE49-F238E27FC236}">
                <a16:creationId xmlns:a16="http://schemas.microsoft.com/office/drawing/2014/main" id="{6321382B-8FAB-40A0-8CA3-A29840A15A8A}"/>
              </a:ext>
            </a:extLst>
          </p:cNvPr>
          <p:cNvSpPr>
            <a:spLocks xmlns:a="http://schemas.openxmlformats.org/drawingml/2006/main" noGrp="1"/>
          </p:cNvSpPr>
          <p:nvPr/>
        </p:nvSpPr>
        <p:spPr>
          <a:xfrm xmlns:a="http://schemas.openxmlformats.org/drawingml/2006/main">
            <a:off x="609600" y="18097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L3</a:t>
            </a:r>
          </a:p>
        </p:txBody>
      </p:sp>
      <p:sp>
        <p:nvSpPr>
          <p:cNvPr id="7" name="">
            <a:extLst xmlns:a="http://schemas.openxmlformats.org/drawingml/2006/main">
              <a:ext uri="{FF2B5EF4-FFF2-40B4-BE49-F238E27FC236}">
                <a16:creationId xmlns:a16="http://schemas.microsoft.com/office/drawing/2014/main" id="{7B4F8F80-69FF-4F55-8E2F-D0ED0F22B48E}"/>
              </a:ext>
            </a:extLst>
          </p:cNvPr>
          <p:cNvSpPr>
            <a:spLocks xmlns:a="http://schemas.openxmlformats.org/drawingml/2006/main" noGrp="1"/>
          </p:cNvSpPr>
          <p:nvPr/>
        </p:nvSpPr>
        <p:spPr>
          <a:xfrm xmlns:a="http://schemas.openxmlformats.org/drawingml/2006/main">
            <a:off x="1047750" y="17907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3090297-117B-48C9-9173-DD9E5FA9493F}"/>
              </a:ext>
            </a:extLst>
          </p:cNvPr>
          <p:cNvSpPr>
            <a:spLocks xmlns:a="http://schemas.openxmlformats.org/drawingml/2006/main" noGrp="1"/>
          </p:cNvSpPr>
          <p:nvPr/>
        </p:nvSpPr>
        <p:spPr>
          <a:xfrm xmlns:a="http://schemas.openxmlformats.org/drawingml/2006/main">
            <a:off x="1047750" y="1790700"/>
            <a:ext cx="97622" cy="209550"/>
          </a:xfrm>
          <a:prstGeom xmlns:a="http://schemas.openxmlformats.org/drawingml/2006/main" prst="roundRect">
            <a:avLst>
              <a:gd name="adj" fmla="val 50000"/>
            </a:avLst>
          </a:prstGeom>
          <a:solidFill xmlns:a="http://schemas.openxmlformats.org/drawingml/2006/main">
            <a:srgbClr val="1C273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CAE00B0-E6D7-438E-9D4D-825CAF7B7002}"/>
              </a:ext>
            </a:extLst>
          </p:cNvPr>
          <p:cNvSpPr>
            <a:spLocks xmlns:a="http://schemas.openxmlformats.org/drawingml/2006/main" noGrp="1"/>
          </p:cNvSpPr>
          <p:nvPr/>
        </p:nvSpPr>
        <p:spPr>
          <a:xfrm xmlns:a="http://schemas.openxmlformats.org/drawingml/2006/main">
            <a:off x="5791200" y="18002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3.3×</a:t>
            </a:r>
          </a:p>
        </p:txBody>
      </p:sp>
      <p:sp>
        <p:nvSpPr>
          <p:cNvPr id="10" name="">
            <a:extLst xmlns:a="http://schemas.openxmlformats.org/drawingml/2006/main">
              <a:ext uri="{FF2B5EF4-FFF2-40B4-BE49-F238E27FC236}">
                <a16:creationId xmlns:a16="http://schemas.microsoft.com/office/drawing/2014/main" id="{70A34900-D2D6-445C-B069-4FB1E89EE0F3}"/>
              </a:ext>
            </a:extLst>
          </p:cNvPr>
          <p:cNvSpPr>
            <a:spLocks xmlns:a="http://schemas.openxmlformats.org/drawingml/2006/main" noGrp="1"/>
          </p:cNvSpPr>
          <p:nvPr/>
        </p:nvSpPr>
        <p:spPr>
          <a:xfrm xmlns:a="http://schemas.openxmlformats.org/drawingml/2006/main">
            <a:off x="609600" y="21145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L7</a:t>
            </a:r>
          </a:p>
        </p:txBody>
      </p:sp>
      <p:sp>
        <p:nvSpPr>
          <p:cNvPr id="11" name="">
            <a:extLst xmlns:a="http://schemas.openxmlformats.org/drawingml/2006/main">
              <a:ext uri="{FF2B5EF4-FFF2-40B4-BE49-F238E27FC236}">
                <a16:creationId xmlns:a16="http://schemas.microsoft.com/office/drawing/2014/main" id="{B853F9E8-2C9C-4090-B8FE-31350C8C0AB6}"/>
              </a:ext>
            </a:extLst>
          </p:cNvPr>
          <p:cNvSpPr>
            <a:spLocks xmlns:a="http://schemas.openxmlformats.org/drawingml/2006/main" noGrp="1"/>
          </p:cNvSpPr>
          <p:nvPr/>
        </p:nvSpPr>
        <p:spPr>
          <a:xfrm xmlns:a="http://schemas.openxmlformats.org/drawingml/2006/main">
            <a:off x="1047750" y="20955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EE1D614-1330-4BCF-88BE-4B69821A28F6}"/>
              </a:ext>
            </a:extLst>
          </p:cNvPr>
          <p:cNvSpPr>
            <a:spLocks xmlns:a="http://schemas.openxmlformats.org/drawingml/2006/main" noGrp="1"/>
          </p:cNvSpPr>
          <p:nvPr/>
        </p:nvSpPr>
        <p:spPr>
          <a:xfrm xmlns:a="http://schemas.openxmlformats.org/drawingml/2006/main">
            <a:off x="1047750" y="2095500"/>
            <a:ext cx="197378" cy="209550"/>
          </a:xfrm>
          <a:prstGeom xmlns:a="http://schemas.openxmlformats.org/drawingml/2006/main" prst="roundRect">
            <a:avLst>
              <a:gd name="adj" fmla="val 38606"/>
            </a:avLst>
          </a:prstGeom>
          <a:solidFill xmlns:a="http://schemas.openxmlformats.org/drawingml/2006/main">
            <a:srgbClr val="1C273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96157FC-1043-4F0A-BFA8-BCC64876E804}"/>
              </a:ext>
            </a:extLst>
          </p:cNvPr>
          <p:cNvSpPr>
            <a:spLocks xmlns:a="http://schemas.openxmlformats.org/drawingml/2006/main" noGrp="1"/>
          </p:cNvSpPr>
          <p:nvPr/>
        </p:nvSpPr>
        <p:spPr>
          <a:xfrm xmlns:a="http://schemas.openxmlformats.org/drawingml/2006/main">
            <a:off x="5791200" y="21050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6.8×</a:t>
            </a:r>
          </a:p>
        </p:txBody>
      </p:sp>
      <p:sp>
        <p:nvSpPr>
          <p:cNvPr id="14" name="">
            <a:extLst xmlns:a="http://schemas.openxmlformats.org/drawingml/2006/main">
              <a:ext uri="{FF2B5EF4-FFF2-40B4-BE49-F238E27FC236}">
                <a16:creationId xmlns:a16="http://schemas.microsoft.com/office/drawing/2014/main" id="{55824134-B8D1-42FD-B35D-3DE2CA01C6A9}"/>
              </a:ext>
            </a:extLst>
          </p:cNvPr>
          <p:cNvSpPr>
            <a:spLocks xmlns:a="http://schemas.openxmlformats.org/drawingml/2006/main" noGrp="1"/>
          </p:cNvSpPr>
          <p:nvPr/>
        </p:nvSpPr>
        <p:spPr>
          <a:xfrm xmlns:a="http://schemas.openxmlformats.org/drawingml/2006/main">
            <a:off x="609600" y="24193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L11</a:t>
            </a:r>
          </a:p>
        </p:txBody>
      </p:sp>
      <p:sp>
        <p:nvSpPr>
          <p:cNvPr id="15" name="">
            <a:extLst xmlns:a="http://schemas.openxmlformats.org/drawingml/2006/main">
              <a:ext uri="{FF2B5EF4-FFF2-40B4-BE49-F238E27FC236}">
                <a16:creationId xmlns:a16="http://schemas.microsoft.com/office/drawing/2014/main" id="{A46A5CAC-3F6C-4F6F-A0D2-F1562BAEC3FF}"/>
              </a:ext>
            </a:extLst>
          </p:cNvPr>
          <p:cNvSpPr>
            <a:spLocks xmlns:a="http://schemas.openxmlformats.org/drawingml/2006/main" noGrp="1"/>
          </p:cNvSpPr>
          <p:nvPr/>
        </p:nvSpPr>
        <p:spPr>
          <a:xfrm xmlns:a="http://schemas.openxmlformats.org/drawingml/2006/main">
            <a:off x="1047750" y="24003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B640711-204E-4FB0-A3C8-631AB8C5E768}"/>
              </a:ext>
            </a:extLst>
          </p:cNvPr>
          <p:cNvSpPr>
            <a:spLocks xmlns:a="http://schemas.openxmlformats.org/drawingml/2006/main" noGrp="1"/>
          </p:cNvSpPr>
          <p:nvPr/>
        </p:nvSpPr>
        <p:spPr>
          <a:xfrm xmlns:a="http://schemas.openxmlformats.org/drawingml/2006/main">
            <a:off x="1047750" y="2400300"/>
            <a:ext cx="2485144"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3490CB8-E2F9-4D2B-9D61-44CCF3FB3202}"/>
              </a:ext>
            </a:extLst>
          </p:cNvPr>
          <p:cNvSpPr>
            <a:spLocks xmlns:a="http://schemas.openxmlformats.org/drawingml/2006/main" noGrp="1"/>
          </p:cNvSpPr>
          <p:nvPr/>
        </p:nvSpPr>
        <p:spPr>
          <a:xfrm xmlns:a="http://schemas.openxmlformats.org/drawingml/2006/main">
            <a:off x="5791200" y="24098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85.1×</a:t>
            </a:r>
          </a:p>
        </p:txBody>
      </p:sp>
      <p:sp>
        <p:nvSpPr>
          <p:cNvPr id="18" name="">
            <a:extLst xmlns:a="http://schemas.openxmlformats.org/drawingml/2006/main">
              <a:ext uri="{FF2B5EF4-FFF2-40B4-BE49-F238E27FC236}">
                <a16:creationId xmlns:a16="http://schemas.microsoft.com/office/drawing/2014/main" id="{705400A6-4F10-4534-85B8-B692A0E51D2A}"/>
              </a:ext>
            </a:extLst>
          </p:cNvPr>
          <p:cNvSpPr>
            <a:spLocks xmlns:a="http://schemas.openxmlformats.org/drawingml/2006/main" noGrp="1"/>
          </p:cNvSpPr>
          <p:nvPr/>
        </p:nvSpPr>
        <p:spPr>
          <a:xfrm xmlns:a="http://schemas.openxmlformats.org/drawingml/2006/main">
            <a:off x="609600" y="27241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L15</a:t>
            </a:r>
          </a:p>
        </p:txBody>
      </p:sp>
      <p:sp>
        <p:nvSpPr>
          <p:cNvPr id="19" name="">
            <a:extLst xmlns:a="http://schemas.openxmlformats.org/drawingml/2006/main">
              <a:ext uri="{FF2B5EF4-FFF2-40B4-BE49-F238E27FC236}">
                <a16:creationId xmlns:a16="http://schemas.microsoft.com/office/drawing/2014/main" id="{2B536E27-ED30-4BF1-ADEA-473A9858F304}"/>
              </a:ext>
            </a:extLst>
          </p:cNvPr>
          <p:cNvSpPr>
            <a:spLocks xmlns:a="http://schemas.openxmlformats.org/drawingml/2006/main" noGrp="1"/>
          </p:cNvSpPr>
          <p:nvPr/>
        </p:nvSpPr>
        <p:spPr>
          <a:xfrm xmlns:a="http://schemas.openxmlformats.org/drawingml/2006/main">
            <a:off x="1047750" y="27051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3FF2906-CE2B-4D32-849A-C4681B7FCAAC}"/>
              </a:ext>
            </a:extLst>
          </p:cNvPr>
          <p:cNvSpPr>
            <a:spLocks xmlns:a="http://schemas.openxmlformats.org/drawingml/2006/main" noGrp="1"/>
          </p:cNvSpPr>
          <p:nvPr/>
        </p:nvSpPr>
        <p:spPr>
          <a:xfrm xmlns:a="http://schemas.openxmlformats.org/drawingml/2006/main">
            <a:off x="1047750" y="2705100"/>
            <a:ext cx="4422660"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3281BBE-315A-4DFA-9BC8-1537C14EB3E7}"/>
              </a:ext>
            </a:extLst>
          </p:cNvPr>
          <p:cNvSpPr>
            <a:spLocks xmlns:a="http://schemas.openxmlformats.org/drawingml/2006/main" noGrp="1"/>
          </p:cNvSpPr>
          <p:nvPr/>
        </p:nvSpPr>
        <p:spPr>
          <a:xfrm xmlns:a="http://schemas.openxmlformats.org/drawingml/2006/main">
            <a:off x="5791200" y="27146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151.4×</a:t>
            </a:r>
          </a:p>
        </p:txBody>
      </p:sp>
      <p:sp>
        <p:nvSpPr>
          <p:cNvPr id="22" name="">
            <a:extLst xmlns:a="http://schemas.openxmlformats.org/drawingml/2006/main">
              <a:ext uri="{FF2B5EF4-FFF2-40B4-BE49-F238E27FC236}">
                <a16:creationId xmlns:a16="http://schemas.microsoft.com/office/drawing/2014/main" id="{D90FD7DC-E88F-4B67-A34F-A6CA3BE7DCF9}"/>
              </a:ext>
            </a:extLst>
          </p:cNvPr>
          <p:cNvSpPr>
            <a:spLocks xmlns:a="http://schemas.openxmlformats.org/drawingml/2006/main" noGrp="1"/>
          </p:cNvSpPr>
          <p:nvPr/>
        </p:nvSpPr>
        <p:spPr>
          <a:xfrm xmlns:a="http://schemas.openxmlformats.org/drawingml/2006/main">
            <a:off x="609600" y="3028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L19</a:t>
            </a:r>
          </a:p>
        </p:txBody>
      </p:sp>
      <p:sp>
        <p:nvSpPr>
          <p:cNvPr id="23" name="">
            <a:extLst xmlns:a="http://schemas.openxmlformats.org/drawingml/2006/main">
              <a:ext uri="{FF2B5EF4-FFF2-40B4-BE49-F238E27FC236}">
                <a16:creationId xmlns:a16="http://schemas.microsoft.com/office/drawing/2014/main" id="{9D8E007B-CFFF-4970-A138-D2B20D406543}"/>
              </a:ext>
            </a:extLst>
          </p:cNvPr>
          <p:cNvSpPr>
            <a:spLocks xmlns:a="http://schemas.openxmlformats.org/drawingml/2006/main" noGrp="1"/>
          </p:cNvSpPr>
          <p:nvPr/>
        </p:nvSpPr>
        <p:spPr>
          <a:xfrm xmlns:a="http://schemas.openxmlformats.org/drawingml/2006/main">
            <a:off x="1047750" y="30099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75485F2-92F9-455E-BA8E-46401FF690CC}"/>
              </a:ext>
            </a:extLst>
          </p:cNvPr>
          <p:cNvSpPr>
            <a:spLocks xmlns:a="http://schemas.openxmlformats.org/drawingml/2006/main" noGrp="1"/>
          </p:cNvSpPr>
          <p:nvPr/>
        </p:nvSpPr>
        <p:spPr>
          <a:xfrm xmlns:a="http://schemas.openxmlformats.org/drawingml/2006/main">
            <a:off x="1047750" y="3009900"/>
            <a:ext cx="4629150" cy="209550"/>
          </a:xfrm>
          <a:prstGeom xmlns:a="http://schemas.openxmlformats.org/drawingml/2006/main" prst="roundRect">
            <a:avLst>
              <a:gd name="adj" fmla="val 36364"/>
            </a:avLst>
          </a:prstGeom>
          <a:solidFill xmlns:a="http://schemas.openxmlformats.org/drawingml/2006/main">
            <a:srgbClr val="F05A3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AF0285C6-0904-45B5-9172-140D47295D73}"/>
              </a:ext>
            </a:extLst>
          </p:cNvPr>
          <p:cNvSpPr>
            <a:spLocks xmlns:a="http://schemas.openxmlformats.org/drawingml/2006/main" noGrp="1"/>
          </p:cNvSpPr>
          <p:nvPr/>
        </p:nvSpPr>
        <p:spPr>
          <a:xfrm xmlns:a="http://schemas.openxmlformats.org/drawingml/2006/main">
            <a:off x="5791200" y="30194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158.4×</a:t>
            </a:r>
          </a:p>
        </p:txBody>
      </p:sp>
      <p:sp>
        <p:nvSpPr>
          <p:cNvPr id="26" name="">
            <a:extLst xmlns:a="http://schemas.openxmlformats.org/drawingml/2006/main">
              <a:ext uri="{FF2B5EF4-FFF2-40B4-BE49-F238E27FC236}">
                <a16:creationId xmlns:a16="http://schemas.microsoft.com/office/drawing/2014/main" id="{BC962529-382C-4D77-B188-0FE7DD256A80}"/>
              </a:ext>
            </a:extLst>
          </p:cNvPr>
          <p:cNvSpPr>
            <a:spLocks xmlns:a="http://schemas.openxmlformats.org/drawingml/2006/main" noGrp="1"/>
          </p:cNvSpPr>
          <p:nvPr/>
        </p:nvSpPr>
        <p:spPr>
          <a:xfrm xmlns:a="http://schemas.openxmlformats.org/drawingml/2006/main">
            <a:off x="609600" y="33337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L23</a:t>
            </a:r>
          </a:p>
        </p:txBody>
      </p:sp>
      <p:sp>
        <p:nvSpPr>
          <p:cNvPr id="27" name="">
            <a:extLst xmlns:a="http://schemas.openxmlformats.org/drawingml/2006/main">
              <a:ext uri="{FF2B5EF4-FFF2-40B4-BE49-F238E27FC236}">
                <a16:creationId xmlns:a16="http://schemas.microsoft.com/office/drawing/2014/main" id="{072451B0-4E2B-43A3-9ECA-7C13CA1C94D6}"/>
              </a:ext>
            </a:extLst>
          </p:cNvPr>
          <p:cNvSpPr>
            <a:spLocks xmlns:a="http://schemas.openxmlformats.org/drawingml/2006/main" noGrp="1"/>
          </p:cNvSpPr>
          <p:nvPr/>
        </p:nvSpPr>
        <p:spPr>
          <a:xfrm xmlns:a="http://schemas.openxmlformats.org/drawingml/2006/main">
            <a:off x="1047750" y="33147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F767D2F0-BD3A-4591-AAF0-9418546E1C99}"/>
              </a:ext>
            </a:extLst>
          </p:cNvPr>
          <p:cNvSpPr>
            <a:spLocks xmlns:a="http://schemas.openxmlformats.org/drawingml/2006/main" noGrp="1"/>
          </p:cNvSpPr>
          <p:nvPr/>
        </p:nvSpPr>
        <p:spPr>
          <a:xfrm xmlns:a="http://schemas.openxmlformats.org/drawingml/2006/main">
            <a:off x="1047750" y="3314700"/>
            <a:ext cx="3651576"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0B3C5A30-2825-4071-96EE-BAF6966E7344}"/>
              </a:ext>
            </a:extLst>
          </p:cNvPr>
          <p:cNvSpPr>
            <a:spLocks xmlns:a="http://schemas.openxmlformats.org/drawingml/2006/main" noGrp="1"/>
          </p:cNvSpPr>
          <p:nvPr/>
        </p:nvSpPr>
        <p:spPr>
          <a:xfrm xmlns:a="http://schemas.openxmlformats.org/drawingml/2006/main">
            <a:off x="5791200" y="33242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125.0×</a:t>
            </a:r>
          </a:p>
        </p:txBody>
      </p:sp>
      <p:sp>
        <p:nvSpPr>
          <p:cNvPr id="30" name="">
            <a:extLst xmlns:a="http://schemas.openxmlformats.org/drawingml/2006/main">
              <a:ext uri="{FF2B5EF4-FFF2-40B4-BE49-F238E27FC236}">
                <a16:creationId xmlns:a16="http://schemas.microsoft.com/office/drawing/2014/main" id="{A3C579C9-468B-49E2-8422-17E4DFE0C222}"/>
              </a:ext>
            </a:extLst>
          </p:cNvPr>
          <p:cNvSpPr>
            <a:spLocks xmlns:a="http://schemas.openxmlformats.org/drawingml/2006/main" noGrp="1"/>
          </p:cNvSpPr>
          <p:nvPr/>
        </p:nvSpPr>
        <p:spPr>
          <a:xfrm xmlns:a="http://schemas.openxmlformats.org/drawingml/2006/main">
            <a:off x="609600" y="36385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L27</a:t>
            </a:r>
          </a:p>
        </p:txBody>
      </p:sp>
      <p:sp>
        <p:nvSpPr>
          <p:cNvPr id="31" name="">
            <a:extLst xmlns:a="http://schemas.openxmlformats.org/drawingml/2006/main">
              <a:ext uri="{FF2B5EF4-FFF2-40B4-BE49-F238E27FC236}">
                <a16:creationId xmlns:a16="http://schemas.microsoft.com/office/drawing/2014/main" id="{69A73942-64C8-450B-8429-7F62CAC22335}"/>
              </a:ext>
            </a:extLst>
          </p:cNvPr>
          <p:cNvSpPr>
            <a:spLocks xmlns:a="http://schemas.openxmlformats.org/drawingml/2006/main" noGrp="1"/>
          </p:cNvSpPr>
          <p:nvPr/>
        </p:nvSpPr>
        <p:spPr>
          <a:xfrm xmlns:a="http://schemas.openxmlformats.org/drawingml/2006/main">
            <a:off x="1047750" y="36195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C1931027-87E3-40FA-B1EC-61AEAF52B73C}"/>
              </a:ext>
            </a:extLst>
          </p:cNvPr>
          <p:cNvSpPr>
            <a:spLocks xmlns:a="http://schemas.openxmlformats.org/drawingml/2006/main" noGrp="1"/>
          </p:cNvSpPr>
          <p:nvPr/>
        </p:nvSpPr>
        <p:spPr>
          <a:xfrm xmlns:a="http://schemas.openxmlformats.org/drawingml/2006/main">
            <a:off x="1047750" y="3619500"/>
            <a:ext cx="2765029"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2845A17-0D1B-46D9-8BD2-441075DC45DD}"/>
              </a:ext>
            </a:extLst>
          </p:cNvPr>
          <p:cNvSpPr>
            <a:spLocks xmlns:a="http://schemas.openxmlformats.org/drawingml/2006/main" noGrp="1"/>
          </p:cNvSpPr>
          <p:nvPr/>
        </p:nvSpPr>
        <p:spPr>
          <a:xfrm xmlns:a="http://schemas.openxmlformats.org/drawingml/2006/main">
            <a:off x="5791200" y="36290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94.6×</a:t>
            </a:r>
          </a:p>
        </p:txBody>
      </p:sp>
      <p:sp>
        <p:nvSpPr>
          <p:cNvPr id="34" name="">
            <a:extLst xmlns:a="http://schemas.openxmlformats.org/drawingml/2006/main">
              <a:ext uri="{FF2B5EF4-FFF2-40B4-BE49-F238E27FC236}">
                <a16:creationId xmlns:a16="http://schemas.microsoft.com/office/drawing/2014/main" id="{26F10138-DA9F-4DA9-98C0-F0C6AF722B0B}"/>
              </a:ext>
            </a:extLst>
          </p:cNvPr>
          <p:cNvSpPr>
            <a:spLocks xmlns:a="http://schemas.openxmlformats.org/drawingml/2006/main" noGrp="1"/>
          </p:cNvSpPr>
          <p:nvPr/>
        </p:nvSpPr>
        <p:spPr>
          <a:xfrm xmlns:a="http://schemas.openxmlformats.org/drawingml/2006/main">
            <a:off x="609600" y="39433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L31</a:t>
            </a:r>
          </a:p>
        </p:txBody>
      </p:sp>
      <p:sp>
        <p:nvSpPr>
          <p:cNvPr id="35" name="">
            <a:extLst xmlns:a="http://schemas.openxmlformats.org/drawingml/2006/main">
              <a:ext uri="{FF2B5EF4-FFF2-40B4-BE49-F238E27FC236}">
                <a16:creationId xmlns:a16="http://schemas.microsoft.com/office/drawing/2014/main" id="{9AE86C07-8B5E-4982-92FB-921988B2D944}"/>
              </a:ext>
            </a:extLst>
          </p:cNvPr>
          <p:cNvSpPr>
            <a:spLocks xmlns:a="http://schemas.openxmlformats.org/drawingml/2006/main" noGrp="1"/>
          </p:cNvSpPr>
          <p:nvPr/>
        </p:nvSpPr>
        <p:spPr>
          <a:xfrm xmlns:a="http://schemas.openxmlformats.org/drawingml/2006/main">
            <a:off x="1047750" y="39243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7543A161-95BB-4EFE-B1F2-48FE4AD28D80}"/>
              </a:ext>
            </a:extLst>
          </p:cNvPr>
          <p:cNvSpPr>
            <a:spLocks xmlns:a="http://schemas.openxmlformats.org/drawingml/2006/main" noGrp="1"/>
          </p:cNvSpPr>
          <p:nvPr/>
        </p:nvSpPr>
        <p:spPr>
          <a:xfrm xmlns:a="http://schemas.openxmlformats.org/drawingml/2006/main">
            <a:off x="1047750" y="3924300"/>
            <a:ext cx="1957754"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942887D2-CD2A-488F-9388-27986727A1EE}"/>
              </a:ext>
            </a:extLst>
          </p:cNvPr>
          <p:cNvSpPr>
            <a:spLocks xmlns:a="http://schemas.openxmlformats.org/drawingml/2006/main" noGrp="1"/>
          </p:cNvSpPr>
          <p:nvPr/>
        </p:nvSpPr>
        <p:spPr>
          <a:xfrm xmlns:a="http://schemas.openxmlformats.org/drawingml/2006/main">
            <a:off x="5791200" y="39338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67.0×</a:t>
            </a:r>
          </a:p>
        </p:txBody>
      </p:sp>
      <p:sp>
        <p:nvSpPr>
          <p:cNvPr id="38" name="">
            <a:extLst xmlns:a="http://schemas.openxmlformats.org/drawingml/2006/main">
              <a:ext uri="{FF2B5EF4-FFF2-40B4-BE49-F238E27FC236}">
                <a16:creationId xmlns:a16="http://schemas.microsoft.com/office/drawing/2014/main" id="{5FF0A426-EAD9-46BE-A91F-8B995CA1445D}"/>
              </a:ext>
            </a:extLst>
          </p:cNvPr>
          <p:cNvSpPr>
            <a:spLocks xmlns:a="http://schemas.openxmlformats.org/drawingml/2006/main" noGrp="1"/>
          </p:cNvSpPr>
          <p:nvPr/>
        </p:nvSpPr>
        <p:spPr>
          <a:xfrm xmlns:a="http://schemas.openxmlformats.org/drawingml/2006/main">
            <a:off x="6800850" y="1485900"/>
            <a:ext cx="4781550" cy="2724150"/>
          </a:xfrm>
          <a:prstGeom xmlns:a="http://schemas.openxmlformats.org/drawingml/2006/main" prst="roundRect">
            <a:avLst>
              <a:gd name="adj" fmla="val 2797"/>
            </a:avLst>
          </a:prstGeom>
          <a:solidFill xmlns:a="http://schemas.openxmlformats.org/drawingml/2006/main">
            <a:srgbClr val="1C2733"/>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0F1FCED6-EC68-4DC6-8DE4-9446695B502B}"/>
              </a:ext>
            </a:extLst>
          </p:cNvPr>
          <p:cNvSpPr>
            <a:spLocks xmlns:a="http://schemas.openxmlformats.org/drawingml/2006/main" noGrp="1"/>
          </p:cNvSpPr>
          <p:nvPr/>
        </p:nvSpPr>
        <p:spPr>
          <a:xfrm xmlns:a="http://schemas.openxmlformats.org/drawingml/2006/main">
            <a:off x="7048500" y="169545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WHAT REPLICATED</a:t>
            </a:r>
          </a:p>
        </p:txBody>
      </p:sp>
      <p:sp>
        <p:nvSpPr>
          <p:cNvPr id="40" name="">
            <a:extLst xmlns:a="http://schemas.openxmlformats.org/drawingml/2006/main">
              <a:ext uri="{FF2B5EF4-FFF2-40B4-BE49-F238E27FC236}">
                <a16:creationId xmlns:a16="http://schemas.microsoft.com/office/drawing/2014/main" id="{BB90D5E2-41F7-4433-9FEF-8E2EC03E2D0C}"/>
              </a:ext>
            </a:extLst>
          </p:cNvPr>
          <p:cNvSpPr>
            <a:spLocks xmlns:a="http://schemas.openxmlformats.org/drawingml/2006/main" noGrp="1"/>
          </p:cNvSpPr>
          <p:nvPr/>
        </p:nvSpPr>
        <p:spPr>
          <a:xfrm xmlns:a="http://schemas.openxmlformats.org/drawingml/2006/main">
            <a:off x="7048500" y="19716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L19 ranks #1</a:t>
            </a:r>
          </a:p>
        </p:txBody>
      </p:sp>
      <p:sp>
        <p:nvSpPr>
          <p:cNvPr id="41" name="">
            <a:extLst xmlns:a="http://schemas.openxmlformats.org/drawingml/2006/main">
              <a:ext uri="{FF2B5EF4-FFF2-40B4-BE49-F238E27FC236}">
                <a16:creationId xmlns:a16="http://schemas.microsoft.com/office/drawing/2014/main" id="{8CFB2EDA-AAAD-4CF9-8657-A345FBB8D927}"/>
              </a:ext>
            </a:extLst>
          </p:cNvPr>
          <p:cNvSpPr>
            <a:spLocks xmlns:a="http://schemas.openxmlformats.org/drawingml/2006/main" noGrp="1"/>
          </p:cNvSpPr>
          <p:nvPr/>
        </p:nvSpPr>
        <p:spPr>
          <a:xfrm xmlns:a="http://schemas.openxmlformats.org/drawingml/2006/main">
            <a:off x="7048500" y="23336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158.4× mean, only 1.05× above L15</a:t>
            </a:r>
          </a:p>
        </p:txBody>
      </p:sp>
      <p:sp>
        <p:nvSpPr>
          <p:cNvPr id="42" name="">
            <a:extLst xmlns:a="http://schemas.openxmlformats.org/drawingml/2006/main">
              <a:ext uri="{FF2B5EF4-FFF2-40B4-BE49-F238E27FC236}">
                <a16:creationId xmlns:a16="http://schemas.microsoft.com/office/drawing/2014/main" id="{44132367-87AB-4485-A80F-708B03C82116}"/>
              </a:ext>
            </a:extLst>
          </p:cNvPr>
          <p:cNvSpPr>
            <a:spLocks xmlns:a="http://schemas.openxmlformats.org/drawingml/2006/main" noGrp="1"/>
          </p:cNvSpPr>
          <p:nvPr/>
        </p:nvSpPr>
        <p:spPr>
          <a:xfrm xmlns:a="http://schemas.openxmlformats.org/drawingml/2006/main">
            <a:off x="7048500" y="2686050"/>
            <a:ext cx="42862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A0D1C342-E2FB-43C8-9595-C63854002FC8}"/>
              </a:ext>
            </a:extLst>
          </p:cNvPr>
          <p:cNvSpPr>
            <a:spLocks xmlns:a="http://schemas.openxmlformats.org/drawingml/2006/main" noGrp="1"/>
          </p:cNvSpPr>
          <p:nvPr/>
        </p:nvSpPr>
        <p:spPr>
          <a:xfrm xmlns:a="http://schemas.openxmlformats.org/drawingml/2006/main">
            <a:off x="7048500" y="2867025"/>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TOP HEADS FORM AN L19 CLUSTER</a:t>
            </a:r>
          </a:p>
        </p:txBody>
      </p:sp>
      <p:sp>
        <p:nvSpPr>
          <p:cNvPr id="44" name="">
            <a:extLst xmlns:a="http://schemas.openxmlformats.org/drawingml/2006/main">
              <a:ext uri="{FF2B5EF4-FFF2-40B4-BE49-F238E27FC236}">
                <a16:creationId xmlns:a16="http://schemas.microsoft.com/office/drawing/2014/main" id="{637DF91A-C433-455D-BD75-A6B3C90DA048}"/>
              </a:ext>
            </a:extLst>
          </p:cNvPr>
          <p:cNvSpPr>
            <a:spLocks xmlns:a="http://schemas.openxmlformats.org/drawingml/2006/main" noGrp="1"/>
          </p:cNvSpPr>
          <p:nvPr/>
        </p:nvSpPr>
        <p:spPr>
          <a:xfrm xmlns:a="http://schemas.openxmlformats.org/drawingml/2006/main">
            <a:off x="7048500" y="31432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H11 312.1×   H14 293.8×</a:t>
            </a:r>
          </a:p>
        </p:txBody>
      </p:sp>
      <p:sp>
        <p:nvSpPr>
          <p:cNvPr id="45" name="">
            <a:extLst xmlns:a="http://schemas.openxmlformats.org/drawingml/2006/main">
              <a:ext uri="{FF2B5EF4-FFF2-40B4-BE49-F238E27FC236}">
                <a16:creationId xmlns:a16="http://schemas.microsoft.com/office/drawing/2014/main" id="{213A4B29-DF77-4FCC-9A39-A69A5E4828FF}"/>
              </a:ext>
            </a:extLst>
          </p:cNvPr>
          <p:cNvSpPr>
            <a:spLocks xmlns:a="http://schemas.openxmlformats.org/drawingml/2006/main" noGrp="1"/>
          </p:cNvSpPr>
          <p:nvPr/>
        </p:nvSpPr>
        <p:spPr>
          <a:xfrm xmlns:a="http://schemas.openxmlformats.org/drawingml/2006/main">
            <a:off x="7048500" y="34385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H10 264.7×   H2 245.6×</a:t>
            </a:r>
          </a:p>
        </p:txBody>
      </p:sp>
      <p:sp>
        <p:nvSpPr>
          <p:cNvPr id="46" name="">
            <a:extLst xmlns:a="http://schemas.openxmlformats.org/drawingml/2006/main">
              <a:ext uri="{FF2B5EF4-FFF2-40B4-BE49-F238E27FC236}">
                <a16:creationId xmlns:a16="http://schemas.microsoft.com/office/drawing/2014/main" id="{0D2A4562-077A-4819-B1B9-112697C91221}"/>
              </a:ext>
            </a:extLst>
          </p:cNvPr>
          <p:cNvSpPr>
            <a:spLocks xmlns:a="http://schemas.openxmlformats.org/drawingml/2006/main" noGrp="1"/>
          </p:cNvSpPr>
          <p:nvPr/>
        </p:nvSpPr>
        <p:spPr>
          <a:xfrm xmlns:a="http://schemas.openxmlformats.org/drawingml/2006/main">
            <a:off x="7048500" y="3781425"/>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C4CED7"/>
                </a:solidFill>
                <a:latin typeface="Helvetica Neue"/>
                <a:ea typeface="Helvetica Neue"/>
                <a:cs typeface="Helvetica Neue"/>
              </a:defRPr>
            </a:pPr>
            <a:r>
              <a:rPr sz="900" b="0">
                <a:solidFill>
                  <a:srgbClr val="C4CED7"/>
                </a:solidFill>
                <a:latin typeface="Helvetica Neue"/>
                <a:ea typeface="Helvetica Neue"/>
                <a:cs typeface="Helvetica Neue"/>
              </a:rPr>
              <a:t>H10 ranks third within L19 and is never the top L19 head on an individual item.</a:t>
            </a:r>
          </a:p>
        </p:txBody>
      </p:sp>
      <p:graphicFrame>
        <p:nvGraphicFramePr>
          <p:cNvPr id="96" name=""/>
          <p:cNvGraphicFramePr/>
          <p:nvPr/>
        </p:nvGraphicFramePr>
        <p:xfrm>
          <a:off xmlns:a="http://schemas.openxmlformats.org/drawingml/2006/main" x="609600" y="4457700"/>
          <a:ext xmlns:a="http://schemas.openxmlformats.org/drawingml/2006/main" cx="10972800" cy="1352550"/>
        </p:xfrm>
        <a:graphic xmlns:a="http://schemas.openxmlformats.org/drawingml/2006/main">
          <a:graphicData uri="http://schemas.openxmlformats.org/drawingml/2006/table">
            <a:tbl>
              <a:tblPr/>
              <a:tblGrid>
                <a:gridCol w="2705100"/>
                <a:gridCol w="1238250"/>
                <a:gridCol w="1714500"/>
                <a:gridCol w="1619250"/>
                <a:gridCol w="1809750"/>
                <a:gridCol w="1885950"/>
              </a:tblGrid>
              <a:tr h="270510">
                <a:tc>
                  <a:txBody>
                    <a:bodyPr>
                      <a:normAutofit/>
                    </a:bodyPr>
                    <a:lstStyle/>
                    <a:p>
                      <a:pPr algn="l"/>
                      <a:r>
                        <a:rPr sz="750" b="1">
                          <a:solidFill>
                            <a:srgbClr val="FFFFFF"/>
                          </a:solidFill>
                          <a:latin typeface="Helvetica Neue"/>
                          <a:ea typeface="Helvetica Neue"/>
                          <a:cs typeface="Helvetica Neue"/>
                        </a:rPr>
                        <a:t>ITEM</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OUTCOME</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 LIFT</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 RANK</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L19/H10</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H10 RANK</a:t>
                      </a:r>
                    </a:p>
                  </a:txBody>
                  <a:tcPr marL="76200" marR="76200" marT="19050" marB="19050" anchor="ctr">
                    <a:solidFill>
                      <a:srgbClr val="1C2733"/>
                    </a:solidFill>
                  </a:tcPr>
                </a:tc>
              </a:tr>
              <a:tr h="270510">
                <a:tc>
                  <a:txBody>
                    <a:bodyPr>
                      <a:normAutofit/>
                    </a:bodyPr>
                    <a:lstStyle/>
                    <a:p>
                      <a:pPr algn="l"/>
                      <a:r>
                        <a:rPr sz="900" b="0">
                          <a:solidFill>
                            <a:srgbClr val="10151C"/>
                          </a:solidFill>
                          <a:latin typeface="Helvetica Neue"/>
                          <a:ea typeface="Helvetica Neue"/>
                          <a:cs typeface="Helvetica Neue"/>
                        </a:rPr>
                        <a:t>PowerPoint text</a:t>
                      </a:r>
                    </a:p>
                  </a:txBody>
                  <a:tcPr marL="76200" marR="76200" marT="19050" marB="19050" anchor="ctr">
                    <a:solidFill>
                      <a:srgbClr val="FFFFFF"/>
                    </a:solidFill>
                  </a:tcPr>
                </a:tc>
                <a:tc>
                  <a:txBody>
                    <a:bodyPr>
                      <a:normAutofit/>
                    </a:bodyPr>
                    <a:lstStyle/>
                    <a:p>
                      <a:pPr algn="ctr"/>
                      <a:r>
                        <a:rPr sz="900" b="1">
                          <a:solidFill>
                            <a:srgbClr val="10151C"/>
                          </a:solidFill>
                          <a:latin typeface="Helvetica Neue"/>
                          <a:ea typeface="Helvetica Neue"/>
                          <a:cs typeface="Helvetica Neue"/>
                        </a:rPr>
                        <a:t>HIT</a:t>
                      </a:r>
                    </a:p>
                  </a:txBody>
                  <a:tcPr marL="76200" marR="76200" marT="19050" marB="19050" anchor="ctr">
                    <a:solidFill>
                      <a:srgbClr val="DCEFE7"/>
                    </a:solidFill>
                  </a:tcPr>
                </a:tc>
                <a:tc>
                  <a:txBody>
                    <a:bodyPr>
                      <a:normAutofit/>
                    </a:bodyPr>
                    <a:lstStyle/>
                    <a:p>
                      <a:pPr algn="ctr"/>
                      <a:r>
                        <a:rPr sz="900" b="0">
                          <a:solidFill>
                            <a:srgbClr val="10151C"/>
                          </a:solidFill>
                          <a:latin typeface="Helvetica Neue"/>
                          <a:ea typeface="Helvetica Neue"/>
                          <a:cs typeface="Helvetica Neue"/>
                        </a:rPr>
                        <a:t>373.0×</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661.1×</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r>
              <a:tr h="270510">
                <a:tc>
                  <a:txBody>
                    <a:bodyPr>
                      <a:normAutofit/>
                    </a:bodyPr>
                    <a:lstStyle/>
                    <a:p>
                      <a:pPr algn="l"/>
                      <a:r>
                        <a:rPr sz="900" b="0">
                          <a:solidFill>
                            <a:srgbClr val="10151C"/>
                          </a:solidFill>
                          <a:latin typeface="Helvetica Neue"/>
                          <a:ea typeface="Helvetica Neue"/>
                          <a:cs typeface="Helvetica Neue"/>
                        </a:rPr>
                        <a:t>PowerPoint text</a:t>
                      </a:r>
                    </a:p>
                  </a:txBody>
                  <a:tcPr marL="76200" marR="76200" marT="19050" marB="19050" anchor="ctr">
                    <a:solidFill>
                      <a:srgbClr val="ECE7DD"/>
                    </a:solidFill>
                  </a:tcPr>
                </a:tc>
                <a:tc>
                  <a:txBody>
                    <a:bodyPr>
                      <a:normAutofit/>
                    </a:bodyPr>
                    <a:lstStyle/>
                    <a:p>
                      <a:pPr algn="ctr"/>
                      <a:r>
                        <a:rPr sz="900" b="1">
                          <a:solidFill>
                            <a:srgbClr val="10151C"/>
                          </a:solidFill>
                          <a:latin typeface="Helvetica Neue"/>
                          <a:ea typeface="Helvetica Neue"/>
                          <a:cs typeface="Helvetica Neue"/>
                        </a:rPr>
                        <a:t>MISS</a:t>
                      </a:r>
                    </a:p>
                  </a:txBody>
                  <a:tcPr marL="76200" marR="76200" marT="19050" marB="19050" anchor="ctr">
                    <a:solidFill>
                      <a:srgbClr val="FCE2D9"/>
                    </a:solidFill>
                  </a:tcPr>
                </a:tc>
                <a:tc>
                  <a:txBody>
                    <a:bodyPr>
                      <a:normAutofit/>
                    </a:bodyPr>
                    <a:lstStyle/>
                    <a:p>
                      <a:pPr algn="ctr"/>
                      <a:r>
                        <a:rPr sz="900" b="0">
                          <a:solidFill>
                            <a:srgbClr val="10151C"/>
                          </a:solidFill>
                          <a:latin typeface="Helvetica Neue"/>
                          <a:ea typeface="Helvetica Neue"/>
                          <a:cs typeface="Helvetica Neue"/>
                        </a:rPr>
                        <a:t>2.2×</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#5</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1.4×</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#7</a:t>
                      </a:r>
                    </a:p>
                  </a:txBody>
                  <a:tcPr marL="76200" marR="76200" marT="19050" marB="19050" anchor="ctr">
                    <a:solidFill>
                      <a:srgbClr val="ECE7DD"/>
                    </a:solidFill>
                  </a:tcPr>
                </a:tc>
              </a:tr>
              <a:tr h="270510">
                <a:tc>
                  <a:txBody>
                    <a:bodyPr>
                      <a:normAutofit/>
                    </a:bodyPr>
                    <a:lstStyle/>
                    <a:p>
                      <a:pPr algn="l"/>
                      <a:r>
                        <a:rPr sz="900" b="0">
                          <a:solidFill>
                            <a:srgbClr val="10151C"/>
                          </a:solidFill>
                          <a:latin typeface="Helvetica Neue"/>
                          <a:ea typeface="Helvetica Neue"/>
                          <a:cs typeface="Helvetica Neue"/>
                        </a:rPr>
                        <a:t>Windows icon</a:t>
                      </a:r>
                    </a:p>
                  </a:txBody>
                  <a:tcPr marL="76200" marR="76200" marT="19050" marB="19050" anchor="ctr">
                    <a:solidFill>
                      <a:srgbClr val="FFFFFF"/>
                    </a:solidFill>
                  </a:tcPr>
                </a:tc>
                <a:tc>
                  <a:txBody>
                    <a:bodyPr>
                      <a:normAutofit/>
                    </a:bodyPr>
                    <a:lstStyle/>
                    <a:p>
                      <a:pPr algn="ctr"/>
                      <a:r>
                        <a:rPr sz="900" b="1">
                          <a:solidFill>
                            <a:srgbClr val="10151C"/>
                          </a:solidFill>
                          <a:latin typeface="Helvetica Neue"/>
                          <a:ea typeface="Helvetica Neue"/>
                          <a:cs typeface="Helvetica Neue"/>
                        </a:rPr>
                        <a:t>HIT</a:t>
                      </a:r>
                    </a:p>
                  </a:txBody>
                  <a:tcPr marL="76200" marR="76200" marT="19050" marB="19050" anchor="ctr">
                    <a:solidFill>
                      <a:srgbClr val="DCEFE7"/>
                    </a:solidFill>
                  </a:tcPr>
                </a:tc>
                <a:tc>
                  <a:txBody>
                    <a:bodyPr>
                      <a:normAutofit/>
                    </a:bodyPr>
                    <a:lstStyle/>
                    <a:p>
                      <a:pPr algn="ctr"/>
                      <a:r>
                        <a:rPr sz="900" b="0">
                          <a:solidFill>
                            <a:srgbClr val="10151C"/>
                          </a:solidFill>
                          <a:latin typeface="Helvetica Neue"/>
                          <a:ea typeface="Helvetica Neue"/>
                          <a:cs typeface="Helvetica Neue"/>
                        </a:rPr>
                        <a:t>214.3×</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#1</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353.2×</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r>
              <a:tr h="270510">
                <a:tc>
                  <a:txBody>
                    <a:bodyPr>
                      <a:normAutofit/>
                    </a:bodyPr>
                    <a:lstStyle/>
                    <a:p>
                      <a:pPr algn="l"/>
                      <a:r>
                        <a:rPr sz="900" b="0">
                          <a:solidFill>
                            <a:srgbClr val="10151C"/>
                          </a:solidFill>
                          <a:latin typeface="Helvetica Neue"/>
                          <a:ea typeface="Helvetica Neue"/>
                          <a:cs typeface="Helvetica Neue"/>
                        </a:rPr>
                        <a:t>Windows icon</a:t>
                      </a:r>
                    </a:p>
                  </a:txBody>
                  <a:tcPr marL="76200" marR="76200" marT="19050" marB="19050" anchor="ctr">
                    <a:solidFill>
                      <a:srgbClr val="ECE7DD"/>
                    </a:solidFill>
                  </a:tcPr>
                </a:tc>
                <a:tc>
                  <a:txBody>
                    <a:bodyPr>
                      <a:normAutofit/>
                    </a:bodyPr>
                    <a:lstStyle/>
                    <a:p>
                      <a:pPr algn="ctr"/>
                      <a:r>
                        <a:rPr sz="900" b="1">
                          <a:solidFill>
                            <a:srgbClr val="10151C"/>
                          </a:solidFill>
                          <a:latin typeface="Helvetica Neue"/>
                          <a:ea typeface="Helvetica Neue"/>
                          <a:cs typeface="Helvetica Neue"/>
                        </a:rPr>
                        <a:t>MISS</a:t>
                      </a:r>
                    </a:p>
                  </a:txBody>
                  <a:tcPr marL="76200" marR="76200" marT="19050" marB="19050" anchor="ctr">
                    <a:solidFill>
                      <a:srgbClr val="FCE2D9"/>
                    </a:solidFill>
                  </a:tcPr>
                </a:tc>
                <a:tc>
                  <a:txBody>
                    <a:bodyPr>
                      <a:normAutofit/>
                    </a:bodyPr>
                    <a:lstStyle/>
                    <a:p>
                      <a:pPr algn="ctr"/>
                      <a:r>
                        <a:rPr sz="900" b="0">
                          <a:solidFill>
                            <a:srgbClr val="10151C"/>
                          </a:solidFill>
                          <a:latin typeface="Helvetica Neue"/>
                          <a:ea typeface="Helvetica Neue"/>
                          <a:cs typeface="Helvetica Neue"/>
                        </a:rPr>
                        <a:t>44.3×</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#1</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43.2×</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#6</a:t>
                      </a:r>
                    </a:p>
                  </a:txBody>
                  <a:tcPr marL="76200" marR="76200" marT="19050" marB="19050" anchor="ctr">
                    <a:solidFill>
                      <a:srgbClr val="ECE7DD"/>
                    </a:solidFill>
                  </a:tcPr>
                </a:tc>
              </a:tr>
            </a:tbl>
          </a:graphicData>
        </a:graphic>
      </p:graphicFrame>
      <p:sp>
        <p:nvSpPr>
          <p:cNvPr id="48" name="">
            <a:extLst xmlns:a="http://schemas.openxmlformats.org/drawingml/2006/main">
              <a:ext uri="{FF2B5EF4-FFF2-40B4-BE49-F238E27FC236}">
                <a16:creationId xmlns:a16="http://schemas.microsoft.com/office/drawing/2014/main" id="{120DBBD0-3D0C-45E9-A091-0A1B03D78E2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92E87EE4-FD28-49E8-8695-0FF934D208FF}"/>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Four-item matched pilot. L19 bootstrap range for this frozen cohort: 23.2× to 293.7×. Routing diagnostic, not causal proof.</a:t>
            </a:r>
          </a:p>
        </p:txBody>
      </p:sp>
    </p:spTree>
    <p:extLst>
      <p:ext uri="{BB962C8B-B14F-4D97-AF65-F5344CB8AC3E}">
        <p14:creationId xmlns:p14="http://schemas.microsoft.com/office/powerpoint/2010/main" val="1155569370"/>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B476E3CD-010E-4500-9DB6-7CDAE79BD227}"/>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TEST</a:t>
            </a:r>
          </a:p>
        </p:txBody>
      </p:sp>
      <p:sp>
        <p:nvSpPr>
          <p:cNvPr id="2" name="">
            <a:extLst xmlns:a="http://schemas.openxmlformats.org/drawingml/2006/main">
              <a:ext uri="{FF2B5EF4-FFF2-40B4-BE49-F238E27FC236}">
                <a16:creationId xmlns:a16="http://schemas.microsoft.com/office/drawing/2014/main" id="{44600E0F-A905-46D8-920A-E0C012EAA9F1}"/>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A tile swap isolates the coordinate decision</a:t>
            </a:r>
          </a:p>
        </p:txBody>
      </p:sp>
      <p:sp>
        <p:nvSpPr>
          <p:cNvPr id="3" name="">
            <a:extLst xmlns:a="http://schemas.openxmlformats.org/drawingml/2006/main">
              <a:ext uri="{FF2B5EF4-FFF2-40B4-BE49-F238E27FC236}">
                <a16:creationId xmlns:a16="http://schemas.microsoft.com/office/drawing/2014/main" id="{404711E8-62A8-4499-8AE8-76DBBBEC4025}"/>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D4EAC704-4336-4869-BABD-51B417DCACE0}"/>
              </a:ext>
            </a:extLst>
          </p:cNvPr>
          <p:cNvSpPr>
            <a:spLocks xmlns:a="http://schemas.openxmlformats.org/drawingml/2006/main" noGrp="1"/>
          </p:cNvSpPr>
          <p:nvPr/>
        </p:nvSpPr>
        <p:spPr>
          <a:xfrm xmlns:a="http://schemas.openxmlformats.org/drawingml/2006/main">
            <a:off x="609600" y="114300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Create a Psychedelic vibrant presentation</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bc42af8529234373"/>
          <a:srcRect xmlns:a="http://schemas.openxmlformats.org/drawingml/2006/main" l="2799" t="0" r="2799" b="0"/>
          <a:stretch xmlns:a="http://schemas.openxmlformats.org/drawingml/2006/main">
            <a:fillRect l="0" t="0" r="0" b="0"/>
          </a:stretch>
        </p:blipFill>
        <p:spPr>
          <a:xfrm xmlns:a="http://schemas.openxmlformats.org/drawingml/2006/main">
            <a:off x="609600" y="1562100"/>
            <a:ext cx="5219700" cy="2457450"/>
          </a:xfrm>
          <a:prstGeom xmlns:a="http://schemas.openxmlformats.org/drawingml/2006/main" prst="roundRect">
            <a:avLst>
              <a:gd name="adj" fmla="val 4651"/>
            </a:avLst>
          </a:prstGeom>
        </p:spPr>
      </p:pic>
      <p:sp>
        <p:nvSpPr>
          <p:cNvPr id="6" name="">
            <a:extLst xmlns:a="http://schemas.openxmlformats.org/drawingml/2006/main">
              <a:ext uri="{FF2B5EF4-FFF2-40B4-BE49-F238E27FC236}">
                <a16:creationId xmlns:a16="http://schemas.microsoft.com/office/drawing/2014/main" id="{CCB520C8-35E4-468B-9469-C247F58C8463}"/>
              </a:ext>
            </a:extLst>
          </p:cNvPr>
          <p:cNvSpPr>
            <a:spLocks xmlns:a="http://schemas.openxmlformats.org/drawingml/2006/main" noGrp="1"/>
          </p:cNvSpPr>
          <p:nvPr/>
        </p:nvSpPr>
        <p:spPr>
          <a:xfrm xmlns:a="http://schemas.openxmlformats.org/drawingml/2006/main">
            <a:off x="609600" y="1562100"/>
            <a:ext cx="5219700" cy="2457450"/>
          </a:xfrm>
          <a:prstGeom xmlns:a="http://schemas.openxmlformats.org/drawingml/2006/main" prst="roundRect">
            <a:avLst>
              <a:gd name="adj" fmla="val 3101"/>
            </a:avLst>
          </a:prstGeom>
          <a:noFill xmlns:a="http://schemas.openxmlformats.org/drawingml/2006/main"/>
          <a:ln xmlns:a="http://schemas.openxmlformats.org/drawingml/2006/main" w="9525">
            <a:solidFill>
              <a:srgbClr val="D9D4C8"/>
            </a:solidFill>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f7fb31b588cf4094"/>
          <a:srcRect xmlns:a="http://schemas.openxmlformats.org/drawingml/2006/main" l="2799" t="0" r="2799" b="0"/>
          <a:stretch xmlns:a="http://schemas.openxmlformats.org/drawingml/2006/main">
            <a:fillRect l="0" t="0" r="0" b="0"/>
          </a:stretch>
        </p:blipFill>
        <p:spPr>
          <a:xfrm xmlns:a="http://schemas.openxmlformats.org/drawingml/2006/main">
            <a:off x="6362700" y="1562100"/>
            <a:ext cx="5219700" cy="2457450"/>
          </a:xfrm>
          <a:prstGeom xmlns:a="http://schemas.openxmlformats.org/drawingml/2006/main" prst="roundRect">
            <a:avLst>
              <a:gd name="adj" fmla="val 4651"/>
            </a:avLst>
          </a:prstGeom>
        </p:spPr>
      </p:pic>
      <p:sp>
        <p:nvSpPr>
          <p:cNvPr id="8" name="">
            <a:extLst xmlns:a="http://schemas.openxmlformats.org/drawingml/2006/main">
              <a:ext uri="{FF2B5EF4-FFF2-40B4-BE49-F238E27FC236}">
                <a16:creationId xmlns:a16="http://schemas.microsoft.com/office/drawing/2014/main" id="{1CE37E62-0A15-40EA-AC93-9D2B733004DB}"/>
              </a:ext>
            </a:extLst>
          </p:cNvPr>
          <p:cNvSpPr>
            <a:spLocks xmlns:a="http://schemas.openxmlformats.org/drawingml/2006/main" noGrp="1"/>
          </p:cNvSpPr>
          <p:nvPr/>
        </p:nvSpPr>
        <p:spPr>
          <a:xfrm xmlns:a="http://schemas.openxmlformats.org/drawingml/2006/main">
            <a:off x="6362700" y="1562100"/>
            <a:ext cx="5219700" cy="2457450"/>
          </a:xfrm>
          <a:prstGeom xmlns:a="http://schemas.openxmlformats.org/drawingml/2006/main" prst="roundRect">
            <a:avLst>
              <a:gd name="adj" fmla="val 3101"/>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3D81F6DE-6F15-4EE3-8103-01700CEC3135}"/>
              </a:ext>
            </a:extLst>
          </p:cNvPr>
          <p:cNvSpPr>
            <a:spLocks xmlns:a="http://schemas.openxmlformats.org/drawingml/2006/main" noGrp="1"/>
          </p:cNvSpPr>
          <p:nvPr/>
        </p:nvSpPr>
        <p:spPr>
          <a:xfrm xmlns:a="http://schemas.openxmlformats.org/drawingml/2006/main">
            <a:off x="800100" y="1752600"/>
            <a:ext cx="742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729CA0C-7273-409F-9B1F-3AA8D5F2526C}"/>
              </a:ext>
            </a:extLst>
          </p:cNvPr>
          <p:cNvSpPr>
            <a:spLocks xmlns:a="http://schemas.openxmlformats.org/drawingml/2006/main" noGrp="1"/>
          </p:cNvSpPr>
          <p:nvPr/>
        </p:nvSpPr>
        <p:spPr>
          <a:xfrm xmlns:a="http://schemas.openxmlformats.org/drawingml/2006/main">
            <a:off x="895350" y="1771650"/>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CLEAN</a:t>
            </a:r>
          </a:p>
        </p:txBody>
      </p:sp>
      <p:sp>
        <p:nvSpPr>
          <p:cNvPr id="11" name="">
            <a:extLst xmlns:a="http://schemas.openxmlformats.org/drawingml/2006/main">
              <a:ext uri="{FF2B5EF4-FFF2-40B4-BE49-F238E27FC236}">
                <a16:creationId xmlns:a16="http://schemas.microsoft.com/office/drawing/2014/main" id="{210C562D-8520-46AB-ACD1-4288C3015AA6}"/>
              </a:ext>
            </a:extLst>
          </p:cNvPr>
          <p:cNvSpPr>
            <a:spLocks xmlns:a="http://schemas.openxmlformats.org/drawingml/2006/main" noGrp="1"/>
          </p:cNvSpPr>
          <p:nvPr/>
        </p:nvSpPr>
        <p:spPr>
          <a:xfrm xmlns:a="http://schemas.openxmlformats.org/drawingml/2006/main">
            <a:off x="6553200" y="1752600"/>
            <a:ext cx="1885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604869B-B51C-41DD-83D5-A4898F4AC806}"/>
              </a:ext>
            </a:extLst>
          </p:cNvPr>
          <p:cNvSpPr>
            <a:spLocks xmlns:a="http://schemas.openxmlformats.org/drawingml/2006/main" noGrp="1"/>
          </p:cNvSpPr>
          <p:nvPr/>
        </p:nvSpPr>
        <p:spPr>
          <a:xfrm xmlns:a="http://schemas.openxmlformats.org/drawingml/2006/main">
            <a:off x="6648450" y="1771650"/>
            <a:ext cx="1695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0.91% OF PIXELS SWAPPED</a:t>
            </a:r>
          </a:p>
        </p:txBody>
      </p:sp>
      <p:sp>
        <p:nvSpPr>
          <p:cNvPr id="13" name="">
            <a:extLst xmlns:a="http://schemas.openxmlformats.org/drawingml/2006/main">
              <a:ext uri="{FF2B5EF4-FFF2-40B4-BE49-F238E27FC236}">
                <a16:creationId xmlns:a16="http://schemas.microsoft.com/office/drawing/2014/main" id="{BECA5461-6614-4410-9836-BA867BCBAD60}"/>
              </a:ext>
            </a:extLst>
          </p:cNvPr>
          <p:cNvSpPr>
            <a:spLocks xmlns:a="http://schemas.openxmlformats.org/drawingml/2006/main" noGrp="1"/>
          </p:cNvSpPr>
          <p:nvPr/>
        </p:nvSpPr>
        <p:spPr>
          <a:xfrm xmlns:a="http://schemas.openxmlformats.org/drawingml/2006/main">
            <a:off x="609600" y="4095750"/>
            <a:ext cx="521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Requested tile at (482,351)</a:t>
            </a:r>
          </a:p>
        </p:txBody>
      </p:sp>
      <p:sp>
        <p:nvSpPr>
          <p:cNvPr id="14" name="">
            <a:extLst xmlns:a="http://schemas.openxmlformats.org/drawingml/2006/main">
              <a:ext uri="{FF2B5EF4-FFF2-40B4-BE49-F238E27FC236}">
                <a16:creationId xmlns:a16="http://schemas.microsoft.com/office/drawing/2014/main" id="{1A84AC09-4F37-4721-9CA4-E88D8AAD9E53}"/>
              </a:ext>
            </a:extLst>
          </p:cNvPr>
          <p:cNvSpPr>
            <a:spLocks xmlns:a="http://schemas.openxmlformats.org/drawingml/2006/main" noGrp="1"/>
          </p:cNvSpPr>
          <p:nvPr/>
        </p:nvSpPr>
        <p:spPr>
          <a:xfrm xmlns:a="http://schemas.openxmlformats.org/drawingml/2006/main">
            <a:off x="6362700" y="4095750"/>
            <a:ext cx="521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Requested tile moves to (406,351)</a:t>
            </a:r>
          </a:p>
        </p:txBody>
      </p:sp>
      <p:sp>
        <p:nvSpPr>
          <p:cNvPr id="15" name="">
            <a:extLst xmlns:a="http://schemas.openxmlformats.org/drawingml/2006/main">
              <a:ext uri="{FF2B5EF4-FFF2-40B4-BE49-F238E27FC236}">
                <a16:creationId xmlns:a16="http://schemas.microsoft.com/office/drawing/2014/main" id="{2E06F3C2-1DEF-4C6E-A18A-5FAE03AC2329}"/>
              </a:ext>
            </a:extLst>
          </p:cNvPr>
          <p:cNvSpPr>
            <a:spLocks xmlns:a="http://schemas.openxmlformats.org/drawingml/2006/main" noGrp="1"/>
          </p:cNvSpPr>
          <p:nvPr/>
        </p:nvSpPr>
        <p:spPr>
          <a:xfrm xmlns:a="http://schemas.openxmlformats.org/drawingml/2006/main">
            <a:off x="609600" y="4400550"/>
            <a:ext cx="10972800" cy="1466850"/>
          </a:xfrm>
          <a:prstGeom xmlns:a="http://schemas.openxmlformats.org/drawingml/2006/main" prst="roundRect">
            <a:avLst>
              <a:gd name="adj" fmla="val 5195"/>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7125C57-1873-4E3F-9ADB-E918FDD78FB2}"/>
              </a:ext>
            </a:extLst>
          </p:cNvPr>
          <p:cNvSpPr>
            <a:spLocks xmlns:a="http://schemas.openxmlformats.org/drawingml/2006/main" noGrp="1"/>
          </p:cNvSpPr>
          <p:nvPr/>
        </p:nvSpPr>
        <p:spPr>
          <a:xfrm xmlns:a="http://schemas.openxmlformats.org/drawingml/2006/main">
            <a:off x="857250" y="4581525"/>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SEQUENCE LOG-LIKELIHOOD RATIO</a:t>
            </a:r>
          </a:p>
        </p:txBody>
      </p:sp>
      <p:sp>
        <p:nvSpPr>
          <p:cNvPr id="17" name="">
            <a:extLst xmlns:a="http://schemas.openxmlformats.org/drawingml/2006/main">
              <a:ext uri="{FF2B5EF4-FFF2-40B4-BE49-F238E27FC236}">
                <a16:creationId xmlns:a16="http://schemas.microsoft.com/office/drawing/2014/main" id="{C70A43D1-F62D-4DDF-A291-48791F132AED}"/>
              </a:ext>
            </a:extLst>
          </p:cNvPr>
          <p:cNvSpPr>
            <a:spLocks xmlns:a="http://schemas.openxmlformats.org/drawingml/2006/main" noGrp="1"/>
          </p:cNvSpPr>
          <p:nvPr/>
        </p:nvSpPr>
        <p:spPr>
          <a:xfrm xmlns:a="http://schemas.openxmlformats.org/drawingml/2006/main">
            <a:off x="857250" y="4876800"/>
            <a:ext cx="733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Δcoord = Σ ln p(original target-slot x/y tokens) − Σ ln p(distractor-slot x/y tokens)</a:t>
            </a:r>
          </a:p>
        </p:txBody>
      </p:sp>
      <p:sp>
        <p:nvSpPr>
          <p:cNvPr id="18" name="">
            <a:extLst xmlns:a="http://schemas.openxmlformats.org/drawingml/2006/main">
              <a:ext uri="{FF2B5EF4-FFF2-40B4-BE49-F238E27FC236}">
                <a16:creationId xmlns:a16="http://schemas.microsoft.com/office/drawing/2014/main" id="{203229B5-077D-4787-BA15-284F1D77F6E4}"/>
              </a:ext>
            </a:extLst>
          </p:cNvPr>
          <p:cNvSpPr>
            <a:spLocks xmlns:a="http://schemas.openxmlformats.org/drawingml/2006/main" noGrp="1"/>
          </p:cNvSpPr>
          <p:nvPr/>
        </p:nvSpPr>
        <p:spPr>
          <a:xfrm xmlns:a="http://schemas.openxmlformats.org/drawingml/2006/main">
            <a:off x="857250" y="5238750"/>
            <a:ext cx="7334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E5B249"/>
                </a:solidFill>
                <a:latin typeface="Helvetica Neue"/>
                <a:ea typeface="Helvetica Neue"/>
                <a:cs typeface="Helvetica Neue"/>
              </a:defRPr>
            </a:pPr>
            <a:r>
              <a:rPr sz="1125" b="1">
                <a:solidFill>
                  <a:srgbClr val="E5B249"/>
                </a:solidFill>
                <a:latin typeface="Helvetica Neue"/>
                <a:ea typeface="Helvetica Neue"/>
                <a:cs typeface="Helvetica Neue"/>
              </a:rPr>
              <a:t>1 nat changes the probability ratio by e ≈ 2.72</a:t>
            </a:r>
          </a:p>
        </p:txBody>
      </p:sp>
      <p:sp>
        <p:nvSpPr>
          <p:cNvPr id="19" name="">
            <a:extLst xmlns:a="http://schemas.openxmlformats.org/drawingml/2006/main">
              <a:ext uri="{FF2B5EF4-FFF2-40B4-BE49-F238E27FC236}">
                <a16:creationId xmlns:a16="http://schemas.microsoft.com/office/drawing/2014/main" id="{323931C1-68F4-48AB-B8DC-64F22CFD6A9A}"/>
              </a:ext>
            </a:extLst>
          </p:cNvPr>
          <p:cNvSpPr>
            <a:spLocks xmlns:a="http://schemas.openxmlformats.org/drawingml/2006/main" noGrp="1"/>
          </p:cNvSpPr>
          <p:nvPr/>
        </p:nvSpPr>
        <p:spPr>
          <a:xfrm xmlns:a="http://schemas.openxmlformats.org/drawingml/2006/main">
            <a:off x="857250" y="5524500"/>
            <a:ext cx="7334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BBC6D0"/>
                </a:solidFill>
                <a:latin typeface="Helvetica Neue"/>
                <a:ea typeface="Helvetica Neue"/>
                <a:cs typeface="Helvetica Neue"/>
              </a:defRPr>
            </a:pPr>
            <a:r>
              <a:rPr sz="900" b="0">
                <a:solidFill>
                  <a:srgbClr val="BBC6D0"/>
                </a:solidFill>
                <a:latin typeface="Helvetica Neue"/>
                <a:ea typeface="Helvetica Neue"/>
                <a:cs typeface="Helvetica Neue"/>
              </a:rPr>
              <a:t>Six coordinate tokens per candidate; syntax excluded; later tokens use each candidate’s own prefix</a:t>
            </a:r>
          </a:p>
        </p:txBody>
      </p:sp>
      <p:sp>
        <p:nvSpPr>
          <p:cNvPr id="20" name="">
            <a:extLst xmlns:a="http://schemas.openxmlformats.org/drawingml/2006/main">
              <a:ext uri="{FF2B5EF4-FFF2-40B4-BE49-F238E27FC236}">
                <a16:creationId xmlns:a16="http://schemas.microsoft.com/office/drawing/2014/main" id="{6E056DB5-D625-4507-8A52-12CE85DB0DAB}"/>
              </a:ext>
            </a:extLst>
          </p:cNvPr>
          <p:cNvSpPr>
            <a:spLocks xmlns:a="http://schemas.openxmlformats.org/drawingml/2006/main" noGrp="1"/>
          </p:cNvSpPr>
          <p:nvPr/>
        </p:nvSpPr>
        <p:spPr>
          <a:xfrm xmlns:a="http://schemas.openxmlformats.org/drawingml/2006/main">
            <a:off x="8458200" y="4619625"/>
            <a:ext cx="12763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1" name="">
            <a:extLst xmlns:a="http://schemas.openxmlformats.org/drawingml/2006/main">
              <a:ext uri="{FF2B5EF4-FFF2-40B4-BE49-F238E27FC236}">
                <a16:creationId xmlns:a16="http://schemas.microsoft.com/office/drawing/2014/main" id="{61233B0E-5A86-42DA-8E68-9171478F2239}"/>
              </a:ext>
            </a:extLst>
          </p:cNvPr>
          <p:cNvSpPr>
            <a:spLocks xmlns:a="http://schemas.openxmlformats.org/drawingml/2006/main" noGrp="1"/>
          </p:cNvSpPr>
          <p:nvPr/>
        </p:nvSpPr>
        <p:spPr>
          <a:xfrm xmlns:a="http://schemas.openxmlformats.org/drawingml/2006/main">
            <a:off x="8458200" y="4619625"/>
            <a:ext cx="66675" cy="1028700"/>
          </a:xfrm>
          <a:prstGeom xmlns:a="http://schemas.openxmlformats.org/drawingml/2006/main" prst="roundRect">
            <a:avLst>
              <a:gd name="adj" fmla="val 50000"/>
            </a:avLst>
          </a:prstGeom>
          <a:solidFill xmlns:a="http://schemas.openxmlformats.org/drawingml/2006/main">
            <a:srgbClr val="18A87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2F7AEBB-B8E0-4312-BC4E-BB0A320D6484}"/>
              </a:ext>
            </a:extLst>
          </p:cNvPr>
          <p:cNvSpPr>
            <a:spLocks xmlns:a="http://schemas.openxmlformats.org/drawingml/2006/main" noGrp="1"/>
          </p:cNvSpPr>
          <p:nvPr/>
        </p:nvSpPr>
        <p:spPr>
          <a:xfrm xmlns:a="http://schemas.openxmlformats.org/drawingml/2006/main">
            <a:off x="8648700" y="4752975"/>
            <a:ext cx="971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CLEAN</a:t>
            </a:r>
          </a:p>
        </p:txBody>
      </p:sp>
      <p:sp>
        <p:nvSpPr>
          <p:cNvPr id="23" name="">
            <a:extLst xmlns:a="http://schemas.openxmlformats.org/drawingml/2006/main">
              <a:ext uri="{FF2B5EF4-FFF2-40B4-BE49-F238E27FC236}">
                <a16:creationId xmlns:a16="http://schemas.microsoft.com/office/drawing/2014/main" id="{82FE8730-BF8C-48D1-953A-2EDC599C9FB5}"/>
              </a:ext>
            </a:extLst>
          </p:cNvPr>
          <p:cNvSpPr>
            <a:spLocks xmlns:a="http://schemas.openxmlformats.org/drawingml/2006/main" noGrp="1"/>
          </p:cNvSpPr>
          <p:nvPr/>
        </p:nvSpPr>
        <p:spPr>
          <a:xfrm xmlns:a="http://schemas.openxmlformats.org/drawingml/2006/main">
            <a:off x="8648700" y="4943475"/>
            <a:ext cx="971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+1.70</a:t>
            </a:r>
          </a:p>
        </p:txBody>
      </p:sp>
      <p:sp>
        <p:nvSpPr>
          <p:cNvPr id="24" name="">
            <a:extLst xmlns:a="http://schemas.openxmlformats.org/drawingml/2006/main">
              <a:ext uri="{FF2B5EF4-FFF2-40B4-BE49-F238E27FC236}">
                <a16:creationId xmlns:a16="http://schemas.microsoft.com/office/drawing/2014/main" id="{CCD4E1B1-891A-447F-A63A-F17065590FB3}"/>
              </a:ext>
            </a:extLst>
          </p:cNvPr>
          <p:cNvSpPr>
            <a:spLocks xmlns:a="http://schemas.openxmlformats.org/drawingml/2006/main" noGrp="1"/>
          </p:cNvSpPr>
          <p:nvPr/>
        </p:nvSpPr>
        <p:spPr>
          <a:xfrm xmlns:a="http://schemas.openxmlformats.org/drawingml/2006/main">
            <a:off x="8648700" y="5353050"/>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5.47× target</a:t>
            </a:r>
          </a:p>
        </p:txBody>
      </p:sp>
      <p:sp>
        <p:nvSpPr>
          <p:cNvPr id="25" name="">
            <a:extLst xmlns:a="http://schemas.openxmlformats.org/drawingml/2006/main">
              <a:ext uri="{FF2B5EF4-FFF2-40B4-BE49-F238E27FC236}">
                <a16:creationId xmlns:a16="http://schemas.microsoft.com/office/drawing/2014/main" id="{9070350A-6D9E-4F93-83F5-187C0A45C07A}"/>
              </a:ext>
            </a:extLst>
          </p:cNvPr>
          <p:cNvSpPr>
            <a:spLocks xmlns:a="http://schemas.openxmlformats.org/drawingml/2006/main" noGrp="1"/>
          </p:cNvSpPr>
          <p:nvPr/>
        </p:nvSpPr>
        <p:spPr>
          <a:xfrm xmlns:a="http://schemas.openxmlformats.org/drawingml/2006/main">
            <a:off x="9886950" y="4619625"/>
            <a:ext cx="1428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6" name="">
            <a:extLst xmlns:a="http://schemas.openxmlformats.org/drawingml/2006/main">
              <a:ext uri="{FF2B5EF4-FFF2-40B4-BE49-F238E27FC236}">
                <a16:creationId xmlns:a16="http://schemas.microsoft.com/office/drawing/2014/main" id="{EE115E31-9E19-4F0F-82B1-218E6D2F70C0}"/>
              </a:ext>
            </a:extLst>
          </p:cNvPr>
          <p:cNvSpPr>
            <a:spLocks xmlns:a="http://schemas.openxmlformats.org/drawingml/2006/main" noGrp="1"/>
          </p:cNvSpPr>
          <p:nvPr/>
        </p:nvSpPr>
        <p:spPr>
          <a:xfrm xmlns:a="http://schemas.openxmlformats.org/drawingml/2006/main">
            <a:off x="9886950" y="4619625"/>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B2FE2AA-A3A8-4B3C-B016-B2E720211BBC}"/>
              </a:ext>
            </a:extLst>
          </p:cNvPr>
          <p:cNvSpPr>
            <a:spLocks xmlns:a="http://schemas.openxmlformats.org/drawingml/2006/main" noGrp="1"/>
          </p:cNvSpPr>
          <p:nvPr/>
        </p:nvSpPr>
        <p:spPr>
          <a:xfrm xmlns:a="http://schemas.openxmlformats.org/drawingml/2006/main">
            <a:off x="10077450" y="4752975"/>
            <a:ext cx="1123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CORRUPTED</a:t>
            </a:r>
          </a:p>
        </p:txBody>
      </p:sp>
      <p:sp>
        <p:nvSpPr>
          <p:cNvPr id="28" name="">
            <a:extLst xmlns:a="http://schemas.openxmlformats.org/drawingml/2006/main">
              <a:ext uri="{FF2B5EF4-FFF2-40B4-BE49-F238E27FC236}">
                <a16:creationId xmlns:a16="http://schemas.microsoft.com/office/drawing/2014/main" id="{41AF251F-2281-4D67-B4E3-D9D36A2EC4A8}"/>
              </a:ext>
            </a:extLst>
          </p:cNvPr>
          <p:cNvSpPr>
            <a:spLocks xmlns:a="http://schemas.openxmlformats.org/drawingml/2006/main" noGrp="1"/>
          </p:cNvSpPr>
          <p:nvPr/>
        </p:nvSpPr>
        <p:spPr>
          <a:xfrm xmlns:a="http://schemas.openxmlformats.org/drawingml/2006/main">
            <a:off x="10077450" y="4943475"/>
            <a:ext cx="112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−2.64</a:t>
            </a:r>
          </a:p>
        </p:txBody>
      </p:sp>
      <p:sp>
        <p:nvSpPr>
          <p:cNvPr id="29" name="">
            <a:extLst xmlns:a="http://schemas.openxmlformats.org/drawingml/2006/main">
              <a:ext uri="{FF2B5EF4-FFF2-40B4-BE49-F238E27FC236}">
                <a16:creationId xmlns:a16="http://schemas.microsoft.com/office/drawing/2014/main" id="{F32CE076-A395-434E-BA35-C1E5C57A4A6E}"/>
              </a:ext>
            </a:extLst>
          </p:cNvPr>
          <p:cNvSpPr>
            <a:spLocks xmlns:a="http://schemas.openxmlformats.org/drawingml/2006/main" noGrp="1"/>
          </p:cNvSpPr>
          <p:nvPr/>
        </p:nvSpPr>
        <p:spPr>
          <a:xfrm xmlns:a="http://schemas.openxmlformats.org/drawingml/2006/main">
            <a:off x="10077450" y="5353050"/>
            <a:ext cx="1123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14.07× distractor</a:t>
            </a:r>
          </a:p>
        </p:txBody>
      </p:sp>
      <p:sp>
        <p:nvSpPr>
          <p:cNvPr id="30" name="">
            <a:extLst xmlns:a="http://schemas.openxmlformats.org/drawingml/2006/main">
              <a:ext uri="{FF2B5EF4-FFF2-40B4-BE49-F238E27FC236}">
                <a16:creationId xmlns:a16="http://schemas.microsoft.com/office/drawing/2014/main" id="{16F40739-DF32-45E8-8B64-75D3A23D8863}"/>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C79C6199-4A0A-4983-9F41-5FEB95D8EEDD}"/>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Lossless equal-size tile swap · 12×20 visual-token grid · 4 target patches vs 4 matched distractor patches</a:t>
            </a:r>
          </a:p>
        </p:txBody>
      </p:sp>
    </p:spTree>
    <p:extLst>
      <p:ext uri="{BB962C8B-B14F-4D97-AF65-F5344CB8AC3E}">
        <p14:creationId xmlns:p14="http://schemas.microsoft.com/office/powerpoint/2010/main" val="1389968511"/>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52248AB-2C3C-4E6C-B0CA-0417F6D73EE6}"/>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MECHANISM AND FINE-TUNING</a:t>
            </a:r>
          </a:p>
        </p:txBody>
      </p:sp>
      <p:sp>
        <p:nvSpPr>
          <p:cNvPr id="2" name="">
            <a:extLst xmlns:a="http://schemas.openxmlformats.org/drawingml/2006/main">
              <a:ext uri="{FF2B5EF4-FFF2-40B4-BE49-F238E27FC236}">
                <a16:creationId xmlns:a16="http://schemas.microsoft.com/office/drawing/2014/main" id="{D562AEFA-0C53-41DA-8CA9-2E7C1BA39161}"/>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 residual causality and fine-tuning deltas</a:t>
            </a:r>
          </a:p>
        </p:txBody>
      </p:sp>
      <p:sp>
        <p:nvSpPr>
          <p:cNvPr id="3" name="">
            <a:extLst xmlns:a="http://schemas.openxmlformats.org/drawingml/2006/main">
              <a:ext uri="{FF2B5EF4-FFF2-40B4-BE49-F238E27FC236}">
                <a16:creationId xmlns:a16="http://schemas.microsoft.com/office/drawing/2014/main" id="{F4CFD6F0-265D-48A1-9B4F-3468169AFF43}"/>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10</a:t>
            </a:r>
          </a:p>
        </p:txBody>
      </p:sp>
      <p:graphicFrame>
        <p:nvGraphicFramePr>
          <p:cNvPr id="24" name="Chart"/>
          <p:cNvGraphicFramePr/>
          <p:nvPr/>
        </p:nvGraphicFramePr>
        <p:xfrm>
          <a:off xmlns:a="http://schemas.openxmlformats.org/drawingml/2006/main" x="609600" y="1428750"/>
          <a:ext xmlns:a="http://schemas.openxmlformats.org/drawingml/2006/main" cx="7086600" cy="4171950"/>
        </p:xfrm>
        <a:graphic xmlns:a="http://schemas.openxmlformats.org/drawingml/2006/main">
          <a:graphicData uri="http://schemas.openxmlformats.org/drawingml/2006/chart">
            <c:chart xmlns:r="http://schemas.openxmlformats.org/officeDocument/2006/relationships" xmlns:c="http://schemas.openxmlformats.org/drawingml/2006/chart" r:id="Rf4c72e246d45405b"/>
          </a:graphicData>
        </a:graphic>
      </p:graphicFrame>
      <p:sp>
        <p:nvSpPr>
          <p:cNvPr id="5" name="">
            <a:extLst xmlns:a="http://schemas.openxmlformats.org/drawingml/2006/main">
              <a:ext uri="{FF2B5EF4-FFF2-40B4-BE49-F238E27FC236}">
                <a16:creationId xmlns:a16="http://schemas.microsoft.com/office/drawing/2014/main" id="{F933A894-0CB6-4C3F-A4B2-687CEC0B3FC8}"/>
              </a:ext>
            </a:extLst>
          </p:cNvPr>
          <p:cNvSpPr>
            <a:spLocks xmlns:a="http://schemas.openxmlformats.org/drawingml/2006/main" noGrp="1"/>
          </p:cNvSpPr>
          <p:nvPr/>
        </p:nvSpPr>
        <p:spPr>
          <a:xfrm xmlns:a="http://schemas.openxmlformats.org/drawingml/2006/main">
            <a:off x="8001000" y="1428750"/>
            <a:ext cx="3581400" cy="4171950"/>
          </a:xfrm>
          <a:prstGeom xmlns:a="http://schemas.openxmlformats.org/drawingml/2006/main" prst="roundRect">
            <a:avLst>
              <a:gd name="adj" fmla="val 2128"/>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E2C04C2-4EF1-4F9E-BFA5-37276BA1BAE0}"/>
              </a:ext>
            </a:extLst>
          </p:cNvPr>
          <p:cNvSpPr>
            <a:spLocks xmlns:a="http://schemas.openxmlformats.org/drawingml/2006/main" noGrp="1"/>
          </p:cNvSpPr>
          <p:nvPr/>
        </p:nvSpPr>
        <p:spPr>
          <a:xfrm xmlns:a="http://schemas.openxmlformats.org/drawingml/2006/main">
            <a:off x="8286750" y="1695450"/>
            <a:ext cx="13906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068D339-F991-4C04-A4E7-A769B02D9EDB}"/>
              </a:ext>
            </a:extLst>
          </p:cNvPr>
          <p:cNvSpPr>
            <a:spLocks xmlns:a="http://schemas.openxmlformats.org/drawingml/2006/main" noGrp="1"/>
          </p:cNvSpPr>
          <p:nvPr/>
        </p:nvSpPr>
        <p:spPr>
          <a:xfrm xmlns:a="http://schemas.openxmlformats.org/drawingml/2006/main">
            <a:off x="8382000" y="1714500"/>
            <a:ext cx="1200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CAUSAL SUPPORT</a:t>
            </a:r>
          </a:p>
        </p:txBody>
      </p:sp>
      <p:sp>
        <p:nvSpPr>
          <p:cNvPr id="8" name="">
            <a:extLst xmlns:a="http://schemas.openxmlformats.org/drawingml/2006/main">
              <a:ext uri="{FF2B5EF4-FFF2-40B4-BE49-F238E27FC236}">
                <a16:creationId xmlns:a16="http://schemas.microsoft.com/office/drawing/2014/main" id="{30953FBC-75A8-441B-A548-5F78C83B333F}"/>
              </a:ext>
            </a:extLst>
          </p:cNvPr>
          <p:cNvSpPr>
            <a:spLocks xmlns:a="http://schemas.openxmlformats.org/drawingml/2006/main" noGrp="1"/>
          </p:cNvSpPr>
          <p:nvPr/>
        </p:nvSpPr>
        <p:spPr>
          <a:xfrm xmlns:a="http://schemas.openxmlformats.org/drawingml/2006/main">
            <a:off x="8286750" y="215265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33.2%</a:t>
            </a:r>
          </a:p>
        </p:txBody>
      </p:sp>
      <p:sp>
        <p:nvSpPr>
          <p:cNvPr id="9" name="">
            <a:extLst xmlns:a="http://schemas.openxmlformats.org/drawingml/2006/main">
              <a:ext uri="{FF2B5EF4-FFF2-40B4-BE49-F238E27FC236}">
                <a16:creationId xmlns:a16="http://schemas.microsoft.com/office/drawing/2014/main" id="{4404BE2F-35C2-41E3-927E-AF59BEAEB322}"/>
              </a:ext>
            </a:extLst>
          </p:cNvPr>
          <p:cNvSpPr>
            <a:spLocks xmlns:a="http://schemas.openxmlformats.org/drawingml/2006/main" noGrp="1"/>
          </p:cNvSpPr>
          <p:nvPr/>
        </p:nvSpPr>
        <p:spPr>
          <a:xfrm xmlns:a="http://schemas.openxmlformats.org/drawingml/2006/main">
            <a:off x="8286750" y="25717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BDE7D8"/>
                </a:solidFill>
                <a:latin typeface="Helvetica Neue"/>
                <a:ea typeface="Helvetica Neue"/>
                <a:cs typeface="Helvetica Neue"/>
              </a:defRPr>
            </a:pPr>
            <a:r>
              <a:rPr sz="1275" b="0">
                <a:solidFill>
                  <a:srgbClr val="BDE7D8"/>
                </a:solidFill>
                <a:latin typeface="Helvetica Neue"/>
                <a:ea typeface="Helvetica Neue"/>
                <a:cs typeface="Helvetica Neue"/>
              </a:rPr>
              <a:t>of the 4.34-nat gap recovered additively</a:t>
            </a:r>
          </a:p>
        </p:txBody>
      </p:sp>
      <p:sp>
        <p:nvSpPr>
          <p:cNvPr id="10" name="">
            <a:extLst xmlns:a="http://schemas.openxmlformats.org/drawingml/2006/main">
              <a:ext uri="{FF2B5EF4-FFF2-40B4-BE49-F238E27FC236}">
                <a16:creationId xmlns:a16="http://schemas.microsoft.com/office/drawing/2014/main" id="{F85E2BF9-9B9F-4D5C-85C9-2D213E7BD508}"/>
              </a:ext>
            </a:extLst>
          </p:cNvPr>
          <p:cNvSpPr>
            <a:spLocks xmlns:a="http://schemas.openxmlformats.org/drawingml/2006/main" noGrp="1"/>
          </p:cNvSpPr>
          <p:nvPr/>
        </p:nvSpPr>
        <p:spPr>
          <a:xfrm xmlns:a="http://schemas.openxmlformats.org/drawingml/2006/main">
            <a:off x="8286750" y="31813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1.48 nats</a:t>
            </a:r>
          </a:p>
        </p:txBody>
      </p:sp>
      <p:sp>
        <p:nvSpPr>
          <p:cNvPr id="11" name="">
            <a:extLst xmlns:a="http://schemas.openxmlformats.org/drawingml/2006/main">
              <a:ext uri="{FF2B5EF4-FFF2-40B4-BE49-F238E27FC236}">
                <a16:creationId xmlns:a16="http://schemas.microsoft.com/office/drawing/2014/main" id="{6CA8F99D-1FD4-445D-A589-4D1F5BE17708}"/>
              </a:ext>
            </a:extLst>
          </p:cNvPr>
          <p:cNvSpPr>
            <a:spLocks xmlns:a="http://schemas.openxmlformats.org/drawingml/2006/main" noGrp="1"/>
          </p:cNvSpPr>
          <p:nvPr/>
        </p:nvSpPr>
        <p:spPr>
          <a:xfrm xmlns:a="http://schemas.openxmlformats.org/drawingml/2006/main">
            <a:off x="8286750" y="352425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BDE7D8"/>
                </a:solidFill>
                <a:latin typeface="Helvetica Neue"/>
                <a:ea typeface="Helvetica Neue"/>
                <a:cs typeface="Helvetica Neue"/>
              </a:defRPr>
            </a:pPr>
            <a:r>
              <a:rPr sz="1200" b="0">
                <a:solidFill>
                  <a:srgbClr val="BDE7D8"/>
                </a:solidFill>
                <a:latin typeface="Helvetica Neue"/>
                <a:ea typeface="Helvetica Neue"/>
                <a:cs typeface="Helvetica Neue"/>
              </a:rPr>
              <a:t>lost when those patches are ablated</a:t>
            </a:r>
          </a:p>
        </p:txBody>
      </p:sp>
      <p:sp>
        <p:nvSpPr>
          <p:cNvPr id="12" name="">
            <a:extLst xmlns:a="http://schemas.openxmlformats.org/drawingml/2006/main">
              <a:ext uri="{FF2B5EF4-FFF2-40B4-BE49-F238E27FC236}">
                <a16:creationId xmlns:a16="http://schemas.microsoft.com/office/drawing/2014/main" id="{10B2B499-FFD5-4817-83F7-CD8E7E7F8C5F}"/>
              </a:ext>
            </a:extLst>
          </p:cNvPr>
          <p:cNvSpPr>
            <a:spLocks xmlns:a="http://schemas.openxmlformats.org/drawingml/2006/main" noGrp="1"/>
          </p:cNvSpPr>
          <p:nvPr/>
        </p:nvSpPr>
        <p:spPr>
          <a:xfrm xmlns:a="http://schemas.openxmlformats.org/drawingml/2006/main">
            <a:off x="8286750" y="4000500"/>
            <a:ext cx="300990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F5CA145-072B-4E2A-B35C-120DE0065164}"/>
              </a:ext>
            </a:extLst>
          </p:cNvPr>
          <p:cNvSpPr>
            <a:spLocks xmlns:a="http://schemas.openxmlformats.org/drawingml/2006/main" noGrp="1"/>
          </p:cNvSpPr>
          <p:nvPr/>
        </p:nvSpPr>
        <p:spPr>
          <a:xfrm xmlns:a="http://schemas.openxmlformats.org/drawingml/2006/main">
            <a:off x="8286750" y="4191000"/>
            <a:ext cx="118110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58C04B0-477D-4539-B322-CE9A5387B3AA}"/>
              </a:ext>
            </a:extLst>
          </p:cNvPr>
          <p:cNvSpPr>
            <a:spLocks xmlns:a="http://schemas.openxmlformats.org/drawingml/2006/main" noGrp="1"/>
          </p:cNvSpPr>
          <p:nvPr/>
        </p:nvSpPr>
        <p:spPr>
          <a:xfrm xmlns:a="http://schemas.openxmlformats.org/drawingml/2006/main">
            <a:off x="8382000" y="4210050"/>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DELTA LENS</a:t>
            </a:r>
          </a:p>
        </p:txBody>
      </p:sp>
      <p:sp>
        <p:nvSpPr>
          <p:cNvPr id="15" name="">
            <a:extLst xmlns:a="http://schemas.openxmlformats.org/drawingml/2006/main">
              <a:ext uri="{FF2B5EF4-FFF2-40B4-BE49-F238E27FC236}">
                <a16:creationId xmlns:a16="http://schemas.microsoft.com/office/drawing/2014/main" id="{2CDA9DBA-14AE-4E7F-AC6A-1A8B20F335FE}"/>
              </a:ext>
            </a:extLst>
          </p:cNvPr>
          <p:cNvSpPr>
            <a:spLocks xmlns:a="http://schemas.openxmlformats.org/drawingml/2006/main" noGrp="1"/>
          </p:cNvSpPr>
          <p:nvPr/>
        </p:nvSpPr>
        <p:spPr>
          <a:xfrm xmlns:a="http://schemas.openxmlformats.org/drawingml/2006/main">
            <a:off x="8286750" y="4591050"/>
            <a:ext cx="95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5 / 5</a:t>
            </a:r>
          </a:p>
        </p:txBody>
      </p:sp>
      <p:sp>
        <p:nvSpPr>
          <p:cNvPr id="16" name="">
            <a:extLst xmlns:a="http://schemas.openxmlformats.org/drawingml/2006/main">
              <a:ext uri="{FF2B5EF4-FFF2-40B4-BE49-F238E27FC236}">
                <a16:creationId xmlns:a16="http://schemas.microsoft.com/office/drawing/2014/main" id="{96265E7B-0E53-4221-AC3E-32D6B2E4655F}"/>
              </a:ext>
            </a:extLst>
          </p:cNvPr>
          <p:cNvSpPr>
            <a:spLocks xmlns:a="http://schemas.openxmlformats.org/drawingml/2006/main" noGrp="1"/>
          </p:cNvSpPr>
          <p:nvPr/>
        </p:nvSpPr>
        <p:spPr>
          <a:xfrm xmlns:a="http://schemas.openxmlformats.org/drawingml/2006/main">
            <a:off x="9334500" y="4572000"/>
            <a:ext cx="1866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5E2B8"/>
                </a:solidFill>
                <a:latin typeface="Helvetica Neue"/>
                <a:ea typeface="Helvetica Neue"/>
                <a:cs typeface="Helvetica Neue"/>
              </a:defRPr>
            </a:pPr>
            <a:r>
              <a:rPr sz="1125" b="1">
                <a:solidFill>
                  <a:srgbClr val="F5E2B8"/>
                </a:solidFill>
                <a:latin typeface="Helvetica Neue"/>
                <a:ea typeface="Helvetica Neue"/>
                <a:cs typeface="Helvetica Neue"/>
              </a:rPr>
              <a:t>ScreenSpot probes shift toward the oracle</a:t>
            </a:r>
          </a:p>
        </p:txBody>
      </p:sp>
      <p:sp>
        <p:nvSpPr>
          <p:cNvPr id="17" name="">
            <a:extLst xmlns:a="http://schemas.openxmlformats.org/drawingml/2006/main">
              <a:ext uri="{FF2B5EF4-FFF2-40B4-BE49-F238E27FC236}">
                <a16:creationId xmlns:a16="http://schemas.microsoft.com/office/drawing/2014/main" id="{04B81BD5-E5BA-4D6C-A088-54883E5C0650}"/>
              </a:ext>
            </a:extLst>
          </p:cNvPr>
          <p:cNvSpPr>
            <a:spLocks xmlns:a="http://schemas.openxmlformats.org/drawingml/2006/main" noGrp="1"/>
          </p:cNvSpPr>
          <p:nvPr/>
        </p:nvSpPr>
        <p:spPr>
          <a:xfrm xmlns:a="http://schemas.openxmlformats.org/drawingml/2006/main">
            <a:off x="8286750" y="5010150"/>
            <a:ext cx="2914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Mean final shift: +1.14 nats/token. 3 cross zero.</a:t>
            </a:r>
          </a:p>
        </p:txBody>
      </p:sp>
      <p:sp>
        <p:nvSpPr>
          <p:cNvPr id="18" name="">
            <a:extLst xmlns:a="http://schemas.openxmlformats.org/drawingml/2006/main">
              <a:ext uri="{FF2B5EF4-FFF2-40B4-BE49-F238E27FC236}">
                <a16:creationId xmlns:a16="http://schemas.microsoft.com/office/drawing/2014/main" id="{13FB42C3-5BD8-4A0F-9F56-6FEC9C8EB068}"/>
              </a:ext>
            </a:extLst>
          </p:cNvPr>
          <p:cNvSpPr>
            <a:spLocks xmlns:a="http://schemas.openxmlformats.org/drawingml/2006/main" noGrp="1"/>
          </p:cNvSpPr>
          <p:nvPr/>
        </p:nvSpPr>
        <p:spPr>
          <a:xfrm xmlns:a="http://schemas.openxmlformats.org/drawingml/2006/main">
            <a:off x="8286750" y="5353050"/>
            <a:ext cx="2914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Hotel steps: −1.13 / +6.37 / +0.37</a:t>
            </a:r>
          </a:p>
        </p:txBody>
      </p:sp>
      <p:sp>
        <p:nvSpPr>
          <p:cNvPr id="19" name="">
            <a:extLst xmlns:a="http://schemas.openxmlformats.org/drawingml/2006/main">
              <a:ext uri="{FF2B5EF4-FFF2-40B4-BE49-F238E27FC236}">
                <a16:creationId xmlns:a16="http://schemas.microsoft.com/office/drawing/2014/main" id="{3A5F048E-8BBF-49EF-9314-355ED02F784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9D55BB1-96DC-43AE-B448-E71DDE6BB717}"/>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Causal bars: one matched tile swap · Delta lens: mean log probability per scored token, Holo minus base Qwen</a:t>
            </a:r>
          </a:p>
        </p:txBody>
      </p:sp>
    </p:spTree>
    <p:extLst>
      <p:ext uri="{BB962C8B-B14F-4D97-AF65-F5344CB8AC3E}">
        <p14:creationId xmlns:p14="http://schemas.microsoft.com/office/powerpoint/2010/main" val="1525256344"/>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A925EA40-8A10-4DEC-832D-825DED7C4DDE}"/>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RESEARCH DIRECTIONS</a:t>
            </a:r>
          </a:p>
        </p:txBody>
      </p:sp>
      <p:sp>
        <p:nvSpPr>
          <p:cNvPr id="2" name="">
            <a:extLst xmlns:a="http://schemas.openxmlformats.org/drawingml/2006/main">
              <a:ext uri="{FF2B5EF4-FFF2-40B4-BE49-F238E27FC236}">
                <a16:creationId xmlns:a16="http://schemas.microsoft.com/office/drawing/2014/main" id="{DCE80B62-24AE-4B3A-AD40-1303B98295D4}"/>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one intervention to a causal evaluation set</a:t>
            </a:r>
          </a:p>
        </p:txBody>
      </p:sp>
      <p:sp>
        <p:nvSpPr>
          <p:cNvPr id="3" name="">
            <a:extLst xmlns:a="http://schemas.openxmlformats.org/drawingml/2006/main">
              <a:ext uri="{FF2B5EF4-FFF2-40B4-BE49-F238E27FC236}">
                <a16:creationId xmlns:a16="http://schemas.microsoft.com/office/drawing/2014/main" id="{C273B579-5B00-4C65-B87B-A724D0BDA145}"/>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A08DF4AE-7EDC-474B-A8CB-DF926572982A}"/>
              </a:ext>
            </a:extLst>
          </p:cNvPr>
          <p:cNvSpPr>
            <a:spLocks xmlns:a="http://schemas.openxmlformats.org/drawingml/2006/main" noGrp="1"/>
          </p:cNvSpPr>
          <p:nvPr/>
        </p:nvSpPr>
        <p:spPr>
          <a:xfrm xmlns:a="http://schemas.openxmlformats.org/drawingml/2006/main">
            <a:off x="60960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9C68BF9C-F1FA-449A-BFD9-92F6C26F990E}"/>
              </a:ext>
            </a:extLst>
          </p:cNvPr>
          <p:cNvSpPr>
            <a:spLocks xmlns:a="http://schemas.openxmlformats.org/drawingml/2006/main" noGrp="1"/>
          </p:cNvSpPr>
          <p:nvPr/>
        </p:nvSpPr>
        <p:spPr>
          <a:xfrm xmlns:a="http://schemas.openxmlformats.org/drawingml/2006/main">
            <a:off x="819150" y="1619250"/>
            <a:ext cx="4572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0E4109D-43D9-40CE-A996-514F346913DD}"/>
              </a:ext>
            </a:extLst>
          </p:cNvPr>
          <p:cNvSpPr>
            <a:spLocks xmlns:a="http://schemas.openxmlformats.org/drawingml/2006/main" noGrp="1"/>
          </p:cNvSpPr>
          <p:nvPr/>
        </p:nvSpPr>
        <p:spPr>
          <a:xfrm xmlns:a="http://schemas.openxmlformats.org/drawingml/2006/main">
            <a:off x="91440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6050317A-CB90-4D8C-89C0-C8C914CD0855}"/>
              </a:ext>
            </a:extLst>
          </p:cNvPr>
          <p:cNvSpPr>
            <a:spLocks xmlns:a="http://schemas.openxmlformats.org/drawingml/2006/main" noGrp="1"/>
          </p:cNvSpPr>
          <p:nvPr/>
        </p:nvSpPr>
        <p:spPr>
          <a:xfrm xmlns:a="http://schemas.openxmlformats.org/drawingml/2006/main">
            <a:off x="1447800" y="1619250"/>
            <a:ext cx="4248150" cy="295275"/>
          </a:xfrm>
          <a:prstGeom xmlns:a="http://schemas.openxmlformats.org/drawingml/2006/main" prst="roundRect">
            <a:avLst>
              <a:gd name="adj" fmla="val 25806"/>
            </a:avLst>
          </a:prstGeom>
          <a:solidFill xmlns:a="http://schemas.openxmlformats.org/drawingml/2006/main">
            <a:srgbClr val="FCE2D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C2F4D83-72DB-4FB5-A999-DC6D334D9579}"/>
              </a:ext>
            </a:extLst>
          </p:cNvPr>
          <p:cNvSpPr>
            <a:spLocks xmlns:a="http://schemas.openxmlformats.org/drawingml/2006/main" noGrp="1"/>
          </p:cNvSpPr>
          <p:nvPr/>
        </p:nvSpPr>
        <p:spPr>
          <a:xfrm xmlns:a="http://schemas.openxmlformats.org/drawingml/2006/main">
            <a:off x="158115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MATCHED INTERVENTION SPLIT</a:t>
            </a:r>
          </a:p>
        </p:txBody>
      </p:sp>
      <p:sp>
        <p:nvSpPr>
          <p:cNvPr id="9" name="">
            <a:extLst xmlns:a="http://schemas.openxmlformats.org/drawingml/2006/main">
              <a:ext uri="{FF2B5EF4-FFF2-40B4-BE49-F238E27FC236}">
                <a16:creationId xmlns:a16="http://schemas.microsoft.com/office/drawing/2014/main" id="{27381EB1-30D4-41CC-A2DA-C45583BA0F83}"/>
              </a:ext>
            </a:extLst>
          </p:cNvPr>
          <p:cNvSpPr>
            <a:spLocks xmlns:a="http://schemas.openxmlformats.org/drawingml/2006/main" noGrp="1"/>
          </p:cNvSpPr>
          <p:nvPr/>
        </p:nvSpPr>
        <p:spPr>
          <a:xfrm xmlns:a="http://schemas.openxmlformats.org/drawingml/2006/main">
            <a:off x="85725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Freeze a diverse set of target–distractor swaps, pre-register coordinate margins, and report effect distributions with bootstrap intervals.</a:t>
            </a:r>
          </a:p>
        </p:txBody>
      </p:sp>
      <p:sp>
        <p:nvSpPr>
          <p:cNvPr id="10" name="">
            <a:extLst xmlns:a="http://schemas.openxmlformats.org/drawingml/2006/main">
              <a:ext uri="{FF2B5EF4-FFF2-40B4-BE49-F238E27FC236}">
                <a16:creationId xmlns:a16="http://schemas.microsoft.com/office/drawing/2014/main" id="{D87E831F-10E7-4681-B4B0-A457B65D35B9}"/>
              </a:ext>
            </a:extLst>
          </p:cNvPr>
          <p:cNvSpPr>
            <a:spLocks xmlns:a="http://schemas.openxmlformats.org/drawingml/2006/main" noGrp="1"/>
          </p:cNvSpPr>
          <p:nvPr/>
        </p:nvSpPr>
        <p:spPr>
          <a:xfrm xmlns:a="http://schemas.openxmlformats.org/drawingml/2006/main">
            <a:off x="619125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0CBBB4C6-1512-4166-A2A5-4A86660F3DF5}"/>
              </a:ext>
            </a:extLst>
          </p:cNvPr>
          <p:cNvSpPr>
            <a:spLocks xmlns:a="http://schemas.openxmlformats.org/drawingml/2006/main" noGrp="1"/>
          </p:cNvSpPr>
          <p:nvPr/>
        </p:nvSpPr>
        <p:spPr>
          <a:xfrm xmlns:a="http://schemas.openxmlformats.org/drawingml/2006/main">
            <a:off x="6400800" y="1619250"/>
            <a:ext cx="457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00A4942-1C22-44D1-8366-BE28559E7C71}"/>
              </a:ext>
            </a:extLst>
          </p:cNvPr>
          <p:cNvSpPr>
            <a:spLocks xmlns:a="http://schemas.openxmlformats.org/drawingml/2006/main" noGrp="1"/>
          </p:cNvSpPr>
          <p:nvPr/>
        </p:nvSpPr>
        <p:spPr>
          <a:xfrm xmlns:a="http://schemas.openxmlformats.org/drawingml/2006/main">
            <a:off x="649605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704BEC98-C97E-4E40-898B-4CCE91DA28F2}"/>
              </a:ext>
            </a:extLst>
          </p:cNvPr>
          <p:cNvSpPr>
            <a:spLocks xmlns:a="http://schemas.openxmlformats.org/drawingml/2006/main" noGrp="1"/>
          </p:cNvSpPr>
          <p:nvPr/>
        </p:nvSpPr>
        <p:spPr>
          <a:xfrm xmlns:a="http://schemas.openxmlformats.org/drawingml/2006/main">
            <a:off x="7029450" y="1619250"/>
            <a:ext cx="4248150" cy="295275"/>
          </a:xfrm>
          <a:prstGeom xmlns:a="http://schemas.openxmlformats.org/drawingml/2006/main" prst="roundRect">
            <a:avLst>
              <a:gd name="adj" fmla="val 25806"/>
            </a:avLst>
          </a:prstGeom>
          <a:solidFill xmlns:a="http://schemas.openxmlformats.org/drawingml/2006/main">
            <a:srgbClr val="DDECF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E0A49EC-D1EF-4023-91AB-963DB8159C3C}"/>
              </a:ext>
            </a:extLst>
          </p:cNvPr>
          <p:cNvSpPr>
            <a:spLocks xmlns:a="http://schemas.openxmlformats.org/drawingml/2006/main" noGrp="1"/>
          </p:cNvSpPr>
          <p:nvPr/>
        </p:nvSpPr>
        <p:spPr>
          <a:xfrm xmlns:a="http://schemas.openxmlformats.org/drawingml/2006/main">
            <a:off x="716280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CAUSAL SUBSPACE SEARCH</a:t>
            </a:r>
          </a:p>
        </p:txBody>
      </p:sp>
      <p:sp>
        <p:nvSpPr>
          <p:cNvPr id="15" name="">
            <a:extLst xmlns:a="http://schemas.openxmlformats.org/drawingml/2006/main">
              <a:ext uri="{FF2B5EF4-FFF2-40B4-BE49-F238E27FC236}">
                <a16:creationId xmlns:a16="http://schemas.microsoft.com/office/drawing/2014/main" id="{B0CCDBC8-2AA3-429B-A08A-19F556ED5E31}"/>
              </a:ext>
            </a:extLst>
          </p:cNvPr>
          <p:cNvSpPr>
            <a:spLocks xmlns:a="http://schemas.openxmlformats.org/drawingml/2006/main" noGrp="1"/>
          </p:cNvSpPr>
          <p:nvPr/>
        </p:nvSpPr>
        <p:spPr>
          <a:xfrm xmlns:a="http://schemas.openxmlformats.org/drawingml/2006/main">
            <a:off x="643890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Test multi-head and low-rank residual subspaces. A single salient head was neither necessary nor sufficient in this case.</a:t>
            </a:r>
          </a:p>
        </p:txBody>
      </p:sp>
      <p:sp>
        <p:nvSpPr>
          <p:cNvPr id="16" name="">
            <a:extLst xmlns:a="http://schemas.openxmlformats.org/drawingml/2006/main">
              <a:ext uri="{FF2B5EF4-FFF2-40B4-BE49-F238E27FC236}">
                <a16:creationId xmlns:a16="http://schemas.microsoft.com/office/drawing/2014/main" id="{7B5D7C08-4142-4508-A4A4-CDB492BC9991}"/>
              </a:ext>
            </a:extLst>
          </p:cNvPr>
          <p:cNvSpPr>
            <a:spLocks xmlns:a="http://schemas.openxmlformats.org/drawingml/2006/main" noGrp="1"/>
          </p:cNvSpPr>
          <p:nvPr/>
        </p:nvSpPr>
        <p:spPr>
          <a:xfrm xmlns:a="http://schemas.openxmlformats.org/drawingml/2006/main">
            <a:off x="60960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4E65075B-328F-4973-95FD-948F0302286E}"/>
              </a:ext>
            </a:extLst>
          </p:cNvPr>
          <p:cNvSpPr>
            <a:spLocks xmlns:a="http://schemas.openxmlformats.org/drawingml/2006/main" noGrp="1"/>
          </p:cNvSpPr>
          <p:nvPr/>
        </p:nvSpPr>
        <p:spPr>
          <a:xfrm xmlns:a="http://schemas.openxmlformats.org/drawingml/2006/main">
            <a:off x="819150" y="3543300"/>
            <a:ext cx="4572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EC1208D-C30F-4D09-AC41-913D0D56F90D}"/>
              </a:ext>
            </a:extLst>
          </p:cNvPr>
          <p:cNvSpPr>
            <a:spLocks xmlns:a="http://schemas.openxmlformats.org/drawingml/2006/main" noGrp="1"/>
          </p:cNvSpPr>
          <p:nvPr/>
        </p:nvSpPr>
        <p:spPr>
          <a:xfrm xmlns:a="http://schemas.openxmlformats.org/drawingml/2006/main">
            <a:off x="91440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C6AD5A4D-0DBA-43E6-A562-A3174043446B}"/>
              </a:ext>
            </a:extLst>
          </p:cNvPr>
          <p:cNvSpPr>
            <a:spLocks xmlns:a="http://schemas.openxmlformats.org/drawingml/2006/main" noGrp="1"/>
          </p:cNvSpPr>
          <p:nvPr/>
        </p:nvSpPr>
        <p:spPr>
          <a:xfrm xmlns:a="http://schemas.openxmlformats.org/drawingml/2006/main">
            <a:off x="1447800" y="3543300"/>
            <a:ext cx="4248150" cy="295275"/>
          </a:xfrm>
          <a:prstGeom xmlns:a="http://schemas.openxmlformats.org/drawingml/2006/main" prst="roundRect">
            <a:avLst>
              <a:gd name="adj" fmla="val 25806"/>
            </a:avLst>
          </a:prstGeom>
          <a:solidFill xmlns:a="http://schemas.openxmlformats.org/drawingml/2006/main">
            <a:srgbClr val="E4F4E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B23B367-BE2C-4EB4-A836-A1A9B399AC7F}"/>
              </a:ext>
            </a:extLst>
          </p:cNvPr>
          <p:cNvSpPr>
            <a:spLocks xmlns:a="http://schemas.openxmlformats.org/drawingml/2006/main" noGrp="1"/>
          </p:cNvSpPr>
          <p:nvPr/>
        </p:nvSpPr>
        <p:spPr>
          <a:xfrm xmlns:a="http://schemas.openxmlformats.org/drawingml/2006/main">
            <a:off x="158115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LONG-HORIZON VISUAL MEMORY</a:t>
            </a:r>
          </a:p>
        </p:txBody>
      </p:sp>
      <p:sp>
        <p:nvSpPr>
          <p:cNvPr id="21" name="">
            <a:extLst xmlns:a="http://schemas.openxmlformats.org/drawingml/2006/main">
              <a:ext uri="{FF2B5EF4-FFF2-40B4-BE49-F238E27FC236}">
                <a16:creationId xmlns:a16="http://schemas.microsoft.com/office/drawing/2014/main" id="{0095311F-7750-410D-880D-F17482D5CF3E}"/>
              </a:ext>
            </a:extLst>
          </p:cNvPr>
          <p:cNvSpPr>
            <a:spLocks xmlns:a="http://schemas.openxmlformats.org/drawingml/2006/main" noGrp="1"/>
          </p:cNvSpPr>
          <p:nvPr/>
        </p:nvSpPr>
        <p:spPr>
          <a:xfrm xmlns:a="http://schemas.openxmlformats.org/drawingml/2006/main">
            <a:off x="85725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Patch target evidence across historical frames to identify when retrieval succeeds but precise action binding fails.</a:t>
            </a:r>
          </a:p>
        </p:txBody>
      </p:sp>
      <p:sp>
        <p:nvSpPr>
          <p:cNvPr id="22" name="">
            <a:extLst xmlns:a="http://schemas.openxmlformats.org/drawingml/2006/main">
              <a:ext uri="{FF2B5EF4-FFF2-40B4-BE49-F238E27FC236}">
                <a16:creationId xmlns:a16="http://schemas.microsoft.com/office/drawing/2014/main" id="{35CAB410-7FAE-4D92-813E-DA415C6DCD3E}"/>
              </a:ext>
            </a:extLst>
          </p:cNvPr>
          <p:cNvSpPr>
            <a:spLocks xmlns:a="http://schemas.openxmlformats.org/drawingml/2006/main" noGrp="1"/>
          </p:cNvSpPr>
          <p:nvPr/>
        </p:nvSpPr>
        <p:spPr>
          <a:xfrm xmlns:a="http://schemas.openxmlformats.org/drawingml/2006/main">
            <a:off x="619125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23" name="">
            <a:extLst xmlns:a="http://schemas.openxmlformats.org/drawingml/2006/main">
              <a:ext uri="{FF2B5EF4-FFF2-40B4-BE49-F238E27FC236}">
                <a16:creationId xmlns:a16="http://schemas.microsoft.com/office/drawing/2014/main" id="{87BCAD7A-E4AC-4D44-99E4-52DC91432884}"/>
              </a:ext>
            </a:extLst>
          </p:cNvPr>
          <p:cNvSpPr>
            <a:spLocks xmlns:a="http://schemas.openxmlformats.org/drawingml/2006/main" noGrp="1"/>
          </p:cNvSpPr>
          <p:nvPr/>
        </p:nvSpPr>
        <p:spPr>
          <a:xfrm xmlns:a="http://schemas.openxmlformats.org/drawingml/2006/main">
            <a:off x="6400800" y="3543300"/>
            <a:ext cx="45720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5F655A1-A974-4076-80F9-C94CB52C010C}"/>
              </a:ext>
            </a:extLst>
          </p:cNvPr>
          <p:cNvSpPr>
            <a:spLocks xmlns:a="http://schemas.openxmlformats.org/drawingml/2006/main" noGrp="1"/>
          </p:cNvSpPr>
          <p:nvPr/>
        </p:nvSpPr>
        <p:spPr>
          <a:xfrm xmlns:a="http://schemas.openxmlformats.org/drawingml/2006/main">
            <a:off x="649605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5" name="">
            <a:extLst xmlns:a="http://schemas.openxmlformats.org/drawingml/2006/main">
              <a:ext uri="{FF2B5EF4-FFF2-40B4-BE49-F238E27FC236}">
                <a16:creationId xmlns:a16="http://schemas.microsoft.com/office/drawing/2014/main" id="{5B1BF4F2-DF9A-41D0-8B35-7542C2A7E296}"/>
              </a:ext>
            </a:extLst>
          </p:cNvPr>
          <p:cNvSpPr>
            <a:spLocks xmlns:a="http://schemas.openxmlformats.org/drawingml/2006/main" noGrp="1"/>
          </p:cNvSpPr>
          <p:nvPr/>
        </p:nvSpPr>
        <p:spPr>
          <a:xfrm xmlns:a="http://schemas.openxmlformats.org/drawingml/2006/main">
            <a:off x="7029450" y="3543300"/>
            <a:ext cx="4248150" cy="295275"/>
          </a:xfrm>
          <a:prstGeom xmlns:a="http://schemas.openxmlformats.org/drawingml/2006/main" prst="roundRect">
            <a:avLst>
              <a:gd name="adj" fmla="val 25806"/>
            </a:avLst>
          </a:prstGeom>
          <a:solidFill xmlns:a="http://schemas.openxmlformats.org/drawingml/2006/main">
            <a:srgbClr val="F3EBD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E7D3BE2-1CE2-4BEF-9668-3F7BA7E31C95}"/>
              </a:ext>
            </a:extLst>
          </p:cNvPr>
          <p:cNvSpPr>
            <a:spLocks xmlns:a="http://schemas.openxmlformats.org/drawingml/2006/main" noGrp="1"/>
          </p:cNvSpPr>
          <p:nvPr/>
        </p:nvSpPr>
        <p:spPr>
          <a:xfrm xmlns:a="http://schemas.openxmlformats.org/drawingml/2006/main">
            <a:off x="716280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DELTA-LENS DECOMPOSITION</a:t>
            </a:r>
          </a:p>
        </p:txBody>
      </p:sp>
      <p:sp>
        <p:nvSpPr>
          <p:cNvPr id="27" name="">
            <a:extLst xmlns:a="http://schemas.openxmlformats.org/drawingml/2006/main">
              <a:ext uri="{FF2B5EF4-FFF2-40B4-BE49-F238E27FC236}">
                <a16:creationId xmlns:a16="http://schemas.microsoft.com/office/drawing/2014/main" id="{ED0D2699-32BB-4902-A64E-FFF04B92DF6F}"/>
              </a:ext>
            </a:extLst>
          </p:cNvPr>
          <p:cNvSpPr>
            <a:spLocks xmlns:a="http://schemas.openxmlformats.org/drawingml/2006/main" noGrp="1"/>
          </p:cNvSpPr>
          <p:nvPr/>
        </p:nvSpPr>
        <p:spPr>
          <a:xfrm xmlns:a="http://schemas.openxmlformats.org/drawingml/2006/main">
            <a:off x="643890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Separate residual changes from final norm and unembedding changes. Scale beyond five ScreenSpot probes and one hotel trace.</a:t>
            </a:r>
          </a:p>
        </p:txBody>
      </p:sp>
      <p:sp>
        <p:nvSpPr>
          <p:cNvPr id="28" name="">
            <a:extLst xmlns:a="http://schemas.openxmlformats.org/drawingml/2006/main">
              <a:ext uri="{FF2B5EF4-FFF2-40B4-BE49-F238E27FC236}">
                <a16:creationId xmlns:a16="http://schemas.microsoft.com/office/drawing/2014/main" id="{EA29484B-4DA3-4C85-8CC7-75FD29B573B1}"/>
              </a:ext>
            </a:extLst>
          </p:cNvPr>
          <p:cNvSpPr>
            <a:spLocks xmlns:a="http://schemas.openxmlformats.org/drawingml/2006/main" noGrp="1"/>
          </p:cNvSpPr>
          <p:nvPr/>
        </p:nvSpPr>
        <p:spPr>
          <a:xfrm xmlns:a="http://schemas.openxmlformats.org/drawingml/2006/main">
            <a:off x="609600" y="5238750"/>
            <a:ext cx="10972800" cy="838200"/>
          </a:xfrm>
          <a:prstGeom xmlns:a="http://schemas.openxmlformats.org/drawingml/2006/main" prst="roundRect">
            <a:avLst>
              <a:gd name="adj" fmla="val 9091"/>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8BF22FA-56D6-4B02-90F7-076864C1B600}"/>
              </a:ext>
            </a:extLst>
          </p:cNvPr>
          <p:cNvSpPr>
            <a:spLocks xmlns:a="http://schemas.openxmlformats.org/drawingml/2006/main" noGrp="1"/>
          </p:cNvSpPr>
          <p:nvPr/>
        </p:nvSpPr>
        <p:spPr>
          <a:xfrm xmlns:a="http://schemas.openxmlformats.org/drawingml/2006/main">
            <a:off x="857250" y="5429250"/>
            <a:ext cx="1485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TRAINING LOOP</a:t>
            </a:r>
          </a:p>
        </p:txBody>
      </p:sp>
      <p:sp>
        <p:nvSpPr>
          <p:cNvPr id="30" name="">
            <a:extLst xmlns:a="http://schemas.openxmlformats.org/drawingml/2006/main">
              <a:ext uri="{FF2B5EF4-FFF2-40B4-BE49-F238E27FC236}">
                <a16:creationId xmlns:a16="http://schemas.microsoft.com/office/drawing/2014/main" id="{2F24C91E-FF91-47C7-BC49-69C3453E101A}"/>
              </a:ext>
            </a:extLst>
          </p:cNvPr>
          <p:cNvSpPr>
            <a:spLocks xmlns:a="http://schemas.openxmlformats.org/drawingml/2006/main" noGrp="1"/>
          </p:cNvSpPr>
          <p:nvPr/>
        </p:nvSpPr>
        <p:spPr>
          <a:xfrm xmlns:a="http://schemas.openxmlformats.org/drawingml/2006/main">
            <a:off x="2514600" y="5391150"/>
            <a:ext cx="8591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21"/>
          </a:bodyPr>
          <a:lstStyle xmlns:a="http://schemas.openxmlformats.org/drawingml/2006/main"/>
          <a:p xmlns:a="http://schemas.openxmlformats.org/drawingml/2006/main">
            <a:pPr algn="ctr">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Oracle SFT, followed by measured causal recovery and GRPO + LoRA with verifiable reward</a:t>
            </a:r>
          </a:p>
        </p:txBody>
      </p:sp>
      <p:sp>
        <p:nvSpPr>
          <p:cNvPr id="31" name="">
            <a:extLst xmlns:a="http://schemas.openxmlformats.org/drawingml/2006/main">
              <a:ext uri="{FF2B5EF4-FFF2-40B4-BE49-F238E27FC236}">
                <a16:creationId xmlns:a16="http://schemas.microsoft.com/office/drawing/2014/main" id="{F3CCB1D3-4D3C-43C7-997B-DFC4391773B5}"/>
              </a:ext>
            </a:extLst>
          </p:cNvPr>
          <p:cNvSpPr>
            <a:spLocks xmlns:a="http://schemas.openxmlformats.org/drawingml/2006/main" noGrp="1"/>
          </p:cNvSpPr>
          <p:nvPr/>
        </p:nvSpPr>
        <p:spPr>
          <a:xfrm xmlns:a="http://schemas.openxmlformats.org/drawingml/2006/main">
            <a:off x="2514600" y="5734050"/>
            <a:ext cx="859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Use attribution to choose interventions, not as the reward target.</a:t>
            </a:r>
          </a:p>
        </p:txBody>
      </p:sp>
      <p:sp>
        <p:nvSpPr>
          <p:cNvPr id="32" name="">
            <a:extLst xmlns:a="http://schemas.openxmlformats.org/drawingml/2006/main">
              <a:ext uri="{FF2B5EF4-FFF2-40B4-BE49-F238E27FC236}">
                <a16:creationId xmlns:a16="http://schemas.microsoft.com/office/drawing/2014/main" id="{A14D4C97-EEFD-40B5-818A-D4D041DF6ED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FACB3BA8-2E17-4451-8802-55A035EF0532}"/>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Scale the matched protocol before making a population-level mechanism claim</a:t>
            </a:r>
          </a:p>
        </p:txBody>
      </p:sp>
    </p:spTree>
    <p:extLst>
      <p:ext uri="{BB962C8B-B14F-4D97-AF65-F5344CB8AC3E}">
        <p14:creationId xmlns:p14="http://schemas.microsoft.com/office/powerpoint/2010/main" val="1067716974"/>
      </p:ext>
    </p:extLst>
  </p:cSld>
</p:sld>
</file>

<file path=ppt/slides/slide12.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BC53B2AC-7127-4384-ADB1-AAD2C120ED3C}"/>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TAKEAWAYS</a:t>
            </a:r>
          </a:p>
        </p:txBody>
      </p:sp>
      <p:sp>
        <p:nvSpPr>
          <p:cNvPr id="2" name="">
            <a:extLst xmlns:a="http://schemas.openxmlformats.org/drawingml/2006/main">
              <a:ext uri="{FF2B5EF4-FFF2-40B4-BE49-F238E27FC236}">
                <a16:creationId xmlns:a16="http://schemas.microsoft.com/office/drawing/2014/main" id="{53852057-6490-4F31-B5C7-6169223BC4F9}"/>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4391"/>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Attribution narrows the search and intervention tests the mechanism</a:t>
            </a:r>
          </a:p>
        </p:txBody>
      </p:sp>
      <p:sp>
        <p:nvSpPr>
          <p:cNvPr id="3" name="">
            <a:extLst xmlns:a="http://schemas.openxmlformats.org/drawingml/2006/main">
              <a:ext uri="{FF2B5EF4-FFF2-40B4-BE49-F238E27FC236}">
                <a16:creationId xmlns:a16="http://schemas.microsoft.com/office/drawing/2014/main" id="{6EC51FE4-D1BA-4781-9FAF-82F430B3B80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6A2AE"/>
                </a:solidFill>
                <a:latin typeface="Helvetica Neue"/>
                <a:ea typeface="Helvetica Neue"/>
                <a:cs typeface="Helvetica Neue"/>
              </a:defRPr>
            </a:pPr>
            <a:r>
              <a:rPr sz="975" b="1">
                <a:solidFill>
                  <a:srgbClr val="96A2AE"/>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3C0FC6DF-DC3E-465B-A844-190C5DEFB268}"/>
              </a:ext>
            </a:extLst>
          </p:cNvPr>
          <p:cNvSpPr>
            <a:spLocks xmlns:a="http://schemas.openxmlformats.org/drawingml/2006/main" noGrp="1"/>
          </p:cNvSpPr>
          <p:nvPr/>
        </p:nvSpPr>
        <p:spPr>
          <a:xfrm xmlns:a="http://schemas.openxmlformats.org/drawingml/2006/main">
            <a:off x="609600" y="1428750"/>
            <a:ext cx="4953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C682DC0-68CA-404E-A201-AA3802843037}"/>
              </a:ext>
            </a:extLst>
          </p:cNvPr>
          <p:cNvSpPr>
            <a:spLocks xmlns:a="http://schemas.openxmlformats.org/drawingml/2006/main" noGrp="1"/>
          </p:cNvSpPr>
          <p:nvPr/>
        </p:nvSpPr>
        <p:spPr>
          <a:xfrm xmlns:a="http://schemas.openxmlformats.org/drawingml/2006/main">
            <a:off x="704850" y="1447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5A628611-B703-4D76-A1D2-74438B0CE963}"/>
              </a:ext>
            </a:extLst>
          </p:cNvPr>
          <p:cNvSpPr>
            <a:spLocks xmlns:a="http://schemas.openxmlformats.org/drawingml/2006/main" noGrp="1"/>
          </p:cNvSpPr>
          <p:nvPr/>
        </p:nvSpPr>
        <p:spPr>
          <a:xfrm xmlns:a="http://schemas.openxmlformats.org/drawingml/2006/main">
            <a:off x="1314450" y="14382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Remove general awareness</a:t>
            </a:r>
          </a:p>
        </p:txBody>
      </p:sp>
      <p:sp>
        <p:nvSpPr>
          <p:cNvPr id="7" name="">
            <a:extLst xmlns:a="http://schemas.openxmlformats.org/drawingml/2006/main">
              <a:ext uri="{FF2B5EF4-FFF2-40B4-BE49-F238E27FC236}">
                <a16:creationId xmlns:a16="http://schemas.microsoft.com/office/drawing/2014/main" id="{B6C43500-2F46-4FC2-8C7B-9E2C2337C26A}"/>
              </a:ext>
            </a:extLst>
          </p:cNvPr>
          <p:cNvSpPr>
            <a:spLocks xmlns:a="http://schemas.openxmlformats.org/drawingml/2006/main" noGrp="1"/>
          </p:cNvSpPr>
          <p:nvPr/>
        </p:nvSpPr>
        <p:spPr>
          <a:xfrm xmlns:a="http://schemas.openxmlformats.org/drawingml/2006/main">
            <a:off x="1314450" y="17621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Same-image instruction controls make target-specific routing visible.</a:t>
            </a:r>
          </a:p>
        </p:txBody>
      </p:sp>
      <p:sp>
        <p:nvSpPr>
          <p:cNvPr id="8" name="">
            <a:extLst xmlns:a="http://schemas.openxmlformats.org/drawingml/2006/main">
              <a:ext uri="{FF2B5EF4-FFF2-40B4-BE49-F238E27FC236}">
                <a16:creationId xmlns:a16="http://schemas.microsoft.com/office/drawing/2014/main" id="{C1BD8586-34EF-47D8-A4C8-16A0DCE5A391}"/>
              </a:ext>
            </a:extLst>
          </p:cNvPr>
          <p:cNvSpPr>
            <a:spLocks xmlns:a="http://schemas.openxmlformats.org/drawingml/2006/main" noGrp="1"/>
          </p:cNvSpPr>
          <p:nvPr/>
        </p:nvSpPr>
        <p:spPr>
          <a:xfrm xmlns:a="http://schemas.openxmlformats.org/drawingml/2006/main">
            <a:off x="609600" y="259080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F9DA68B-4677-4700-87EB-08C4C0C28044}"/>
              </a:ext>
            </a:extLst>
          </p:cNvPr>
          <p:cNvSpPr>
            <a:spLocks xmlns:a="http://schemas.openxmlformats.org/drawingml/2006/main" noGrp="1"/>
          </p:cNvSpPr>
          <p:nvPr/>
        </p:nvSpPr>
        <p:spPr>
          <a:xfrm xmlns:a="http://schemas.openxmlformats.org/drawingml/2006/main">
            <a:off x="704850" y="260985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F6F2F63F-1272-4E81-8B72-B1CC8BB3A1F6}"/>
              </a:ext>
            </a:extLst>
          </p:cNvPr>
          <p:cNvSpPr>
            <a:spLocks xmlns:a="http://schemas.openxmlformats.org/drawingml/2006/main" noGrp="1"/>
          </p:cNvSpPr>
          <p:nvPr/>
        </p:nvSpPr>
        <p:spPr>
          <a:xfrm xmlns:a="http://schemas.openxmlformats.org/drawingml/2006/main">
            <a:off x="1314450" y="260032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Separate routing from mechanism</a:t>
            </a:r>
          </a:p>
        </p:txBody>
      </p:sp>
      <p:sp>
        <p:nvSpPr>
          <p:cNvPr id="11" name="">
            <a:extLst xmlns:a="http://schemas.openxmlformats.org/drawingml/2006/main">
              <a:ext uri="{FF2B5EF4-FFF2-40B4-BE49-F238E27FC236}">
                <a16:creationId xmlns:a16="http://schemas.microsoft.com/office/drawing/2014/main" id="{48AA0F5D-6340-4653-B137-5BB9030CC28E}"/>
              </a:ext>
            </a:extLst>
          </p:cNvPr>
          <p:cNvSpPr>
            <a:spLocks xmlns:a="http://schemas.openxmlformats.org/drawingml/2006/main" noGrp="1"/>
          </p:cNvSpPr>
          <p:nvPr/>
        </p:nvSpPr>
        <p:spPr>
          <a:xfrm xmlns:a="http://schemas.openxmlformats.org/drawingml/2006/main">
            <a:off x="1314450" y="292417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The strongest attention head did not carry the coordinate effect by itself.</a:t>
            </a:r>
          </a:p>
        </p:txBody>
      </p:sp>
      <p:sp>
        <p:nvSpPr>
          <p:cNvPr id="12" name="">
            <a:extLst xmlns:a="http://schemas.openxmlformats.org/drawingml/2006/main">
              <a:ext uri="{FF2B5EF4-FFF2-40B4-BE49-F238E27FC236}">
                <a16:creationId xmlns:a16="http://schemas.microsoft.com/office/drawing/2014/main" id="{56B364E7-177E-4F87-A7AB-613B81DC5102}"/>
              </a:ext>
            </a:extLst>
          </p:cNvPr>
          <p:cNvSpPr>
            <a:spLocks xmlns:a="http://schemas.openxmlformats.org/drawingml/2006/main" noGrp="1"/>
          </p:cNvSpPr>
          <p:nvPr/>
        </p:nvSpPr>
        <p:spPr>
          <a:xfrm xmlns:a="http://schemas.openxmlformats.org/drawingml/2006/main">
            <a:off x="609600" y="375285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6C624EE-BEC9-4CDF-BA50-B70359554D39}"/>
              </a:ext>
            </a:extLst>
          </p:cNvPr>
          <p:cNvSpPr>
            <a:spLocks xmlns:a="http://schemas.openxmlformats.org/drawingml/2006/main" noGrp="1"/>
          </p:cNvSpPr>
          <p:nvPr/>
        </p:nvSpPr>
        <p:spPr>
          <a:xfrm xmlns:a="http://schemas.openxmlformats.org/drawingml/2006/main">
            <a:off x="704850" y="37719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292C24F2-0246-4832-B56C-42BA2408A549}"/>
              </a:ext>
            </a:extLst>
          </p:cNvPr>
          <p:cNvSpPr>
            <a:spLocks xmlns:a="http://schemas.openxmlformats.org/drawingml/2006/main" noGrp="1"/>
          </p:cNvSpPr>
          <p:nvPr/>
        </p:nvSpPr>
        <p:spPr>
          <a:xfrm xmlns:a="http://schemas.openxmlformats.org/drawingml/2006/main">
            <a:off x="1314450" y="37623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Patch the target evidence</a:t>
            </a:r>
          </a:p>
        </p:txBody>
      </p:sp>
      <p:sp>
        <p:nvSpPr>
          <p:cNvPr id="15" name="">
            <a:extLst xmlns:a="http://schemas.openxmlformats.org/drawingml/2006/main">
              <a:ext uri="{FF2B5EF4-FFF2-40B4-BE49-F238E27FC236}">
                <a16:creationId xmlns:a16="http://schemas.microsoft.com/office/drawing/2014/main" id="{D16C2129-009C-43CF-92D2-A3F508ADD592}"/>
              </a:ext>
            </a:extLst>
          </p:cNvPr>
          <p:cNvSpPr>
            <a:spLocks xmlns:a="http://schemas.openxmlformats.org/drawingml/2006/main" noGrp="1"/>
          </p:cNvSpPr>
          <p:nvPr/>
        </p:nvSpPr>
        <p:spPr>
          <a:xfrm xmlns:a="http://schemas.openxmlformats.org/drawingml/2006/main">
            <a:off x="1314450" y="40862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Four target residual tokens recover one-third of the matched corruption gap.</a:t>
            </a:r>
          </a:p>
        </p:txBody>
      </p:sp>
      <p:sp>
        <p:nvSpPr>
          <p:cNvPr id="16" name="">
            <a:extLst xmlns:a="http://schemas.openxmlformats.org/drawingml/2006/main">
              <a:ext uri="{FF2B5EF4-FFF2-40B4-BE49-F238E27FC236}">
                <a16:creationId xmlns:a16="http://schemas.microsoft.com/office/drawing/2014/main" id="{125F970C-8C4E-4D26-B74F-4EA034FCA823}"/>
              </a:ext>
            </a:extLst>
          </p:cNvPr>
          <p:cNvSpPr>
            <a:spLocks xmlns:a="http://schemas.openxmlformats.org/drawingml/2006/main" noGrp="1"/>
          </p:cNvSpPr>
          <p:nvPr/>
        </p:nvSpPr>
        <p:spPr>
          <a:xfrm xmlns:a="http://schemas.openxmlformats.org/drawingml/2006/main">
            <a:off x="6153150" y="1390650"/>
            <a:ext cx="5429250" cy="39433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5C39FE6-4A3F-4F3B-A6B0-154243B4ADBC}"/>
              </a:ext>
            </a:extLst>
          </p:cNvPr>
          <p:cNvSpPr>
            <a:spLocks xmlns:a="http://schemas.openxmlformats.org/drawingml/2006/main" noGrp="1"/>
          </p:cNvSpPr>
          <p:nvPr/>
        </p:nvSpPr>
        <p:spPr>
          <a:xfrm xmlns:a="http://schemas.openxmlformats.org/drawingml/2006/main">
            <a:off x="6438900" y="165735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LIVE DEMO · 90 SECONDS</a:t>
            </a:r>
          </a:p>
        </p:txBody>
      </p:sp>
      <p:sp>
        <p:nvSpPr>
          <p:cNvPr id="18" name="">
            <a:extLst xmlns:a="http://schemas.openxmlformats.org/drawingml/2006/main">
              <a:ext uri="{FF2B5EF4-FFF2-40B4-BE49-F238E27FC236}">
                <a16:creationId xmlns:a16="http://schemas.microsoft.com/office/drawing/2014/main" id="{F1FFF621-A9D6-4824-9C89-F083FC879ECC}"/>
              </a:ext>
            </a:extLst>
          </p:cNvPr>
          <p:cNvSpPr>
            <a:spLocks xmlns:a="http://schemas.openxmlformats.org/drawingml/2006/main" noGrp="1"/>
          </p:cNvSpPr>
          <p:nvPr/>
        </p:nvSpPr>
        <p:spPr>
          <a:xfrm xmlns:a="http://schemas.openxmlformats.org/drawingml/2006/main">
            <a:off x="6438900" y="20764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0389940-3815-453F-847F-3130676FE123}"/>
              </a:ext>
            </a:extLst>
          </p:cNvPr>
          <p:cNvSpPr>
            <a:spLocks xmlns:a="http://schemas.openxmlformats.org/drawingml/2006/main" noGrp="1"/>
          </p:cNvSpPr>
          <p:nvPr/>
        </p:nvSpPr>
        <p:spPr>
          <a:xfrm xmlns:a="http://schemas.openxmlformats.org/drawingml/2006/main">
            <a:off x="6534150" y="20955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78D2324F-ADB5-44C3-A7C1-AF8FEC6553EF}"/>
              </a:ext>
            </a:extLst>
          </p:cNvPr>
          <p:cNvSpPr>
            <a:spLocks xmlns:a="http://schemas.openxmlformats.org/drawingml/2006/main" noGrp="1"/>
          </p:cNvSpPr>
          <p:nvPr/>
        </p:nvSpPr>
        <p:spPr>
          <a:xfrm xmlns:a="http://schemas.openxmlformats.org/drawingml/2006/main">
            <a:off x="6953250" y="20859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Static hit: raw versus prompt difference</a:t>
            </a:r>
          </a:p>
        </p:txBody>
      </p:sp>
      <p:sp>
        <p:nvSpPr>
          <p:cNvPr id="21" name="">
            <a:extLst xmlns:a="http://schemas.openxmlformats.org/drawingml/2006/main">
              <a:ext uri="{FF2B5EF4-FFF2-40B4-BE49-F238E27FC236}">
                <a16:creationId xmlns:a16="http://schemas.microsoft.com/office/drawing/2014/main" id="{317E12CC-215C-4F11-81FD-909D250E1E6C}"/>
              </a:ext>
            </a:extLst>
          </p:cNvPr>
          <p:cNvSpPr>
            <a:spLocks xmlns:a="http://schemas.openxmlformats.org/drawingml/2006/main" noGrp="1"/>
          </p:cNvSpPr>
          <p:nvPr/>
        </p:nvSpPr>
        <p:spPr>
          <a:xfrm xmlns:a="http://schemas.openxmlformats.org/drawingml/2006/main">
            <a:off x="6953250" y="23526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Peak enters the selected template.</a:t>
            </a:r>
          </a:p>
        </p:txBody>
      </p:sp>
      <p:sp>
        <p:nvSpPr>
          <p:cNvPr id="22" name="">
            <a:extLst xmlns:a="http://schemas.openxmlformats.org/drawingml/2006/main">
              <a:ext uri="{FF2B5EF4-FFF2-40B4-BE49-F238E27FC236}">
                <a16:creationId xmlns:a16="http://schemas.microsoft.com/office/drawing/2014/main" id="{3743C032-D15D-487B-874E-F0CC9AA9D6D4}"/>
              </a:ext>
            </a:extLst>
          </p:cNvPr>
          <p:cNvSpPr>
            <a:spLocks xmlns:a="http://schemas.openxmlformats.org/drawingml/2006/main" noGrp="1"/>
          </p:cNvSpPr>
          <p:nvPr/>
        </p:nvSpPr>
        <p:spPr>
          <a:xfrm xmlns:a="http://schemas.openxmlformats.org/drawingml/2006/main">
            <a:off x="6438900" y="28194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522DF7D-3BB8-4E6C-B38E-815816FD33F3}"/>
              </a:ext>
            </a:extLst>
          </p:cNvPr>
          <p:cNvSpPr>
            <a:spLocks xmlns:a="http://schemas.openxmlformats.org/drawingml/2006/main" noGrp="1"/>
          </p:cNvSpPr>
          <p:nvPr/>
        </p:nvSpPr>
        <p:spPr>
          <a:xfrm xmlns:a="http://schemas.openxmlformats.org/drawingml/2006/main">
            <a:off x="6534150" y="28384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31560253-15E7-46F6-973C-3B5EB10C90AB}"/>
              </a:ext>
            </a:extLst>
          </p:cNvPr>
          <p:cNvSpPr>
            <a:spLocks xmlns:a="http://schemas.openxmlformats.org/drawingml/2006/main" noGrp="1"/>
          </p:cNvSpPr>
          <p:nvPr/>
        </p:nvSpPr>
        <p:spPr>
          <a:xfrm xmlns:a="http://schemas.openxmlformats.org/drawingml/2006/main">
            <a:off x="6953250" y="28289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Static miss: inspect click binding</a:t>
            </a:r>
          </a:p>
        </p:txBody>
      </p:sp>
      <p:sp>
        <p:nvSpPr>
          <p:cNvPr id="25" name="">
            <a:extLst xmlns:a="http://schemas.openxmlformats.org/drawingml/2006/main">
              <a:ext uri="{FF2B5EF4-FFF2-40B4-BE49-F238E27FC236}">
                <a16:creationId xmlns:a16="http://schemas.microsoft.com/office/drawing/2014/main" id="{3D9C396F-612C-4695-9D5E-DB62F1971848}"/>
              </a:ext>
            </a:extLst>
          </p:cNvPr>
          <p:cNvSpPr>
            <a:spLocks xmlns:a="http://schemas.openxmlformats.org/drawingml/2006/main" noGrp="1"/>
          </p:cNvSpPr>
          <p:nvPr/>
        </p:nvSpPr>
        <p:spPr>
          <a:xfrm xmlns:a="http://schemas.openxmlformats.org/drawingml/2006/main">
            <a:off x="6953250" y="30956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Correct task region, wrong tiny affordance.</a:t>
            </a:r>
          </a:p>
        </p:txBody>
      </p:sp>
      <p:sp>
        <p:nvSpPr>
          <p:cNvPr id="26" name="">
            <a:extLst xmlns:a="http://schemas.openxmlformats.org/drawingml/2006/main">
              <a:ext uri="{FF2B5EF4-FFF2-40B4-BE49-F238E27FC236}">
                <a16:creationId xmlns:a16="http://schemas.microsoft.com/office/drawing/2014/main" id="{84739A98-AF61-4FC0-BEC3-7C52C9DCA971}"/>
              </a:ext>
            </a:extLst>
          </p:cNvPr>
          <p:cNvSpPr>
            <a:spLocks xmlns:a="http://schemas.openxmlformats.org/drawingml/2006/main" noGrp="1"/>
          </p:cNvSpPr>
          <p:nvPr/>
        </p:nvSpPr>
        <p:spPr>
          <a:xfrm xmlns:a="http://schemas.openxmlformats.org/drawingml/2006/main">
            <a:off x="6438900" y="35623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FBEBE7F-3C45-4E3D-9CC4-FC63CF0C11C9}"/>
              </a:ext>
            </a:extLst>
          </p:cNvPr>
          <p:cNvSpPr>
            <a:spLocks xmlns:a="http://schemas.openxmlformats.org/drawingml/2006/main" noGrp="1"/>
          </p:cNvSpPr>
          <p:nvPr/>
        </p:nvSpPr>
        <p:spPr>
          <a:xfrm xmlns:a="http://schemas.openxmlformats.org/drawingml/2006/main">
            <a:off x="6534150" y="35814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8" name="">
            <a:extLst xmlns:a="http://schemas.openxmlformats.org/drawingml/2006/main">
              <a:ext uri="{FF2B5EF4-FFF2-40B4-BE49-F238E27FC236}">
                <a16:creationId xmlns:a16="http://schemas.microsoft.com/office/drawing/2014/main" id="{C7A3D612-743F-4345-A636-0E6912E75A1F}"/>
              </a:ext>
            </a:extLst>
          </p:cNvPr>
          <p:cNvSpPr>
            <a:spLocks xmlns:a="http://schemas.openxmlformats.org/drawingml/2006/main" noGrp="1"/>
          </p:cNvSpPr>
          <p:nvPr/>
        </p:nvSpPr>
        <p:spPr>
          <a:xfrm xmlns:a="http://schemas.openxmlformats.org/drawingml/2006/main">
            <a:off x="6953250" y="35718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Hotel trace: step through four frames</a:t>
            </a:r>
          </a:p>
        </p:txBody>
      </p:sp>
      <p:sp>
        <p:nvSpPr>
          <p:cNvPr id="29" name="">
            <a:extLst xmlns:a="http://schemas.openxmlformats.org/drawingml/2006/main">
              <a:ext uri="{FF2B5EF4-FFF2-40B4-BE49-F238E27FC236}">
                <a16:creationId xmlns:a16="http://schemas.microsoft.com/office/drawing/2014/main" id="{C163AF8F-EA2E-4D8B-94BE-E963E5E493BC}"/>
              </a:ext>
            </a:extLst>
          </p:cNvPr>
          <p:cNvSpPr>
            <a:spLocks xmlns:a="http://schemas.openxmlformats.org/drawingml/2006/main" noGrp="1"/>
          </p:cNvSpPr>
          <p:nvPr/>
        </p:nvSpPr>
        <p:spPr>
          <a:xfrm xmlns:a="http://schemas.openxmlformats.org/drawingml/2006/main">
            <a:off x="6953250" y="38385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Evidence appears before the failed final click.</a:t>
            </a:r>
          </a:p>
        </p:txBody>
      </p:sp>
      <p:sp>
        <p:nvSpPr>
          <p:cNvPr id="30" name="">
            <a:extLst xmlns:a="http://schemas.openxmlformats.org/drawingml/2006/main">
              <a:ext uri="{FF2B5EF4-FFF2-40B4-BE49-F238E27FC236}">
                <a16:creationId xmlns:a16="http://schemas.microsoft.com/office/drawing/2014/main" id="{F1FF52C8-716E-4B8B-B50A-72ABD579EF60}"/>
              </a:ext>
            </a:extLst>
          </p:cNvPr>
          <p:cNvSpPr>
            <a:spLocks xmlns:a="http://schemas.openxmlformats.org/drawingml/2006/main" noGrp="1"/>
          </p:cNvSpPr>
          <p:nvPr/>
        </p:nvSpPr>
        <p:spPr>
          <a:xfrm xmlns:a="http://schemas.openxmlformats.org/drawingml/2006/main">
            <a:off x="6438900" y="4305300"/>
            <a:ext cx="361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92492884-7D0C-4C41-8952-DB875E3673F3}"/>
              </a:ext>
            </a:extLst>
          </p:cNvPr>
          <p:cNvSpPr>
            <a:spLocks xmlns:a="http://schemas.openxmlformats.org/drawingml/2006/main" noGrp="1"/>
          </p:cNvSpPr>
          <p:nvPr/>
        </p:nvSpPr>
        <p:spPr>
          <a:xfrm xmlns:a="http://schemas.openxmlformats.org/drawingml/2006/main">
            <a:off x="6534150" y="43243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4</a:t>
            </a:r>
          </a:p>
        </p:txBody>
      </p:sp>
      <p:sp>
        <p:nvSpPr>
          <p:cNvPr id="32" name="">
            <a:extLst xmlns:a="http://schemas.openxmlformats.org/drawingml/2006/main">
              <a:ext uri="{FF2B5EF4-FFF2-40B4-BE49-F238E27FC236}">
                <a16:creationId xmlns:a16="http://schemas.microsoft.com/office/drawing/2014/main" id="{993EEC7D-3430-4887-806B-D0C75A44FA24}"/>
              </a:ext>
            </a:extLst>
          </p:cNvPr>
          <p:cNvSpPr>
            <a:spLocks xmlns:a="http://schemas.openxmlformats.org/drawingml/2006/main" noGrp="1"/>
          </p:cNvSpPr>
          <p:nvPr/>
        </p:nvSpPr>
        <p:spPr>
          <a:xfrm xmlns:a="http://schemas.openxmlformats.org/drawingml/2006/main">
            <a:off x="6953250" y="43148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Matched tile swap</a:t>
            </a:r>
          </a:p>
        </p:txBody>
      </p:sp>
      <p:sp>
        <p:nvSpPr>
          <p:cNvPr id="33" name="">
            <a:extLst xmlns:a="http://schemas.openxmlformats.org/drawingml/2006/main">
              <a:ext uri="{FF2B5EF4-FFF2-40B4-BE49-F238E27FC236}">
                <a16:creationId xmlns:a16="http://schemas.microsoft.com/office/drawing/2014/main" id="{85CA5A1A-FCBE-4735-BC32-A27435935EA9}"/>
              </a:ext>
            </a:extLst>
          </p:cNvPr>
          <p:cNvSpPr>
            <a:spLocks xmlns:a="http://schemas.openxmlformats.org/drawingml/2006/main" noGrp="1"/>
          </p:cNvSpPr>
          <p:nvPr/>
        </p:nvSpPr>
        <p:spPr>
          <a:xfrm xmlns:a="http://schemas.openxmlformats.org/drawingml/2006/main">
            <a:off x="6953250" y="45815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Compare target-patch recovery with the head-level null.</a:t>
            </a:r>
          </a:p>
        </p:txBody>
      </p:sp>
      <p:sp>
        <p:nvSpPr>
          <p:cNvPr id="34" name="">
            <a:extLst xmlns:a="http://schemas.openxmlformats.org/drawingml/2006/main">
              <a:ext uri="{FF2B5EF4-FFF2-40B4-BE49-F238E27FC236}">
                <a16:creationId xmlns:a16="http://schemas.microsoft.com/office/drawing/2014/main" id="{4C18A3E5-6AB3-4C40-9607-9B840241F46B}"/>
              </a:ext>
            </a:extLst>
          </p:cNvPr>
          <p:cNvSpPr>
            <a:spLocks xmlns:a="http://schemas.openxmlformats.org/drawingml/2006/main" noGrp="1"/>
          </p:cNvSpPr>
          <p:nvPr/>
        </p:nvSpPr>
        <p:spPr>
          <a:xfrm xmlns:a="http://schemas.openxmlformats.org/drawingml/2006/main">
            <a:off x="609600" y="5600700"/>
            <a:ext cx="10972800" cy="476250"/>
          </a:xfrm>
          <a:prstGeom xmlns:a="http://schemas.openxmlformats.org/drawingml/2006/main" prst="roundRect">
            <a:avLst>
              <a:gd name="adj" fmla="val 16000"/>
            </a:avLst>
          </a:prstGeom>
          <a:solidFill xmlns:a="http://schemas.openxmlformats.org/drawingml/2006/main">
            <a:srgbClr val="202C3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715F81D5-5A5C-4535-AA52-3D52B64A4BE0}"/>
              </a:ext>
            </a:extLst>
          </p:cNvPr>
          <p:cNvSpPr>
            <a:spLocks xmlns:a="http://schemas.openxmlformats.org/drawingml/2006/main" noGrp="1"/>
          </p:cNvSpPr>
          <p:nvPr/>
        </p:nvSpPr>
        <p:spPr>
          <a:xfrm xmlns:a="http://schemas.openxmlformats.org/drawingml/2006/main">
            <a:off x="857250" y="569595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Next decisive result: repeat the matched intervention across a frozen evaluation split</a:t>
            </a:r>
          </a:p>
        </p:txBody>
      </p:sp>
      <p:sp>
        <p:nvSpPr>
          <p:cNvPr id="36" name="">
            <a:extLst xmlns:a="http://schemas.openxmlformats.org/drawingml/2006/main">
              <a:ext uri="{FF2B5EF4-FFF2-40B4-BE49-F238E27FC236}">
                <a16:creationId xmlns:a16="http://schemas.microsoft.com/office/drawing/2014/main" id="{8678A57F-175B-47FE-897C-206CFE203DF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A4652"/>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439DBA19-24F8-426F-9DFA-45C1BA7AF76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8794A2"/>
                </a:solidFill>
                <a:latin typeface="Helvetica Neue"/>
                <a:ea typeface="Helvetica Neue"/>
                <a:cs typeface="Helvetica Neue"/>
              </a:defRPr>
            </a:pPr>
            <a:r>
              <a:rPr sz="750" b="0">
                <a:solidFill>
                  <a:srgbClr val="8794A2"/>
                </a:solidFill>
                <a:latin typeface="Helvetica Neue"/>
                <a:ea typeface="Helvetica Neue"/>
                <a:cs typeface="Helvetica Neue"/>
              </a:rPr>
              <a:t>Viewers: ScreenSpot hit + miss · causal result: artifacts/causal-intervention/powerpoint_windows_59_swap/results.json</a:t>
            </a:r>
          </a:p>
        </p:txBody>
      </p:sp>
    </p:spTree>
    <p:extLst>
      <p:ext uri="{BB962C8B-B14F-4D97-AF65-F5344CB8AC3E}">
        <p14:creationId xmlns:p14="http://schemas.microsoft.com/office/powerpoint/2010/main" val="19263114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2026-09-21T13:42:21.3920000Z</dcterms:created>
  <dcterms:modified xsi:type="dcterms:W3CDTF">2026-09-21T13:42:21.3920000Z</dcterms:modified>
</coreProperties>
</file>