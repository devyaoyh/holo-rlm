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a88f8f29a1e4dca" /><Relationship Type="http://schemas.openxmlformats.org/officeDocument/2006/relationships/extended-properties" Target="/docProps/app.xml" Id="Rb61d1c7af35c4ba9" /><Relationship Type="http://schemas.openxmlformats.org/officeDocument/2006/relationships/officeDocument" Target="/ppt/presentation.xml" Id="Rcff48af099894cf9" /></Relationships>
</file>

<file path=ppt/presentation.xml><?xml version="1.0" encoding="utf-8"?>
<p:presentation xmlns:p="http://schemas.openxmlformats.org/presentationml/2006/main">
  <p:sldMasterIdLst>
    <p:sldMasterId xmlns:r="http://schemas.openxmlformats.org/officeDocument/2006/relationships" id="2147483648" r:id="R6f4fb102af794190"/>
  </p:sldMasterIdLst>
  <p:notesMasterIdLst>
    <p:notesMasterId xmlns:r="http://schemas.openxmlformats.org/officeDocument/2006/relationships" r:id="Ra5abaac093bd48e2"/>
  </p:notesMasterIdLst>
  <p:sldIdLst>
    <p:sldId xmlns:r="http://schemas.openxmlformats.org/officeDocument/2006/relationships" id="256" r:id="Rfbc90b8d18a7455b"/>
    <p:sldId xmlns:r="http://schemas.openxmlformats.org/officeDocument/2006/relationships" id="257" r:id="R2a04447564a8480e"/>
    <p:sldId xmlns:r="http://schemas.openxmlformats.org/officeDocument/2006/relationships" id="258" r:id="Re8d4868955054e89"/>
    <p:sldId xmlns:r="http://schemas.openxmlformats.org/officeDocument/2006/relationships" id="259" r:id="R13c375be1f344b40"/>
    <p:sldId xmlns:r="http://schemas.openxmlformats.org/officeDocument/2006/relationships" id="260" r:id="R20b6b846bf0b49a4"/>
    <p:sldId xmlns:r="http://schemas.openxmlformats.org/officeDocument/2006/relationships" id="261" r:id="R399b3f5f62004045"/>
    <p:sldId xmlns:r="http://schemas.openxmlformats.org/officeDocument/2006/relationships" id="262" r:id="R6450e94addab429c"/>
    <p:sldId xmlns:r="http://schemas.openxmlformats.org/officeDocument/2006/relationships" id="263" r:id="Re75e44f8d80c4c6d"/>
    <p:sldId xmlns:r="http://schemas.openxmlformats.org/officeDocument/2006/relationships" id="264" r:id="Rcebdbfcaa5eb4cdd"/>
    <p:sldId xmlns:r="http://schemas.openxmlformats.org/officeDocument/2006/relationships" id="265" r:id="Rdbfaf3659c4244f2"/>
    <p:sldId xmlns:r="http://schemas.openxmlformats.org/officeDocument/2006/relationships" id="266" r:id="Rb82aabd47f2f458b"/>
    <p:sldId xmlns:r="http://schemas.openxmlformats.org/officeDocument/2006/relationships" id="267" r:id="R0ea8ffd09a7e4a73"/>
    <p:sldId xmlns:r="http://schemas.openxmlformats.org/officeDocument/2006/relationships" id="268" r:id="Rfb3fb2499b8746cb"/>
    <p:sldId xmlns:r="http://schemas.openxmlformats.org/officeDocument/2006/relationships" id="269" r:id="R277ad1cad94d4f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2340cab84d452b" /><Relationship Type="http://schemas.openxmlformats.org/officeDocument/2006/relationships/slideMaster" Target="/ppt/slideMasters/slideMaster1.xml" Id="R6f4fb102af794190" /><Relationship Type="http://schemas.openxmlformats.org/officeDocument/2006/relationships/notesMaster" Target="/ppt/notesMasters/notesMaster1.xml" Id="Ra5abaac093bd48e2" /><Relationship Type="http://schemas.openxmlformats.org/officeDocument/2006/relationships/presProps" Target="/ppt/presProps.xml" Id="R4a45bbe501124d3a" /><Relationship Type="http://schemas.openxmlformats.org/officeDocument/2006/relationships/tableStyles" Target="/ppt/tableStyles.xml" Id="Ra853d729d07841e9" /><Relationship Type="http://schemas.openxmlformats.org/officeDocument/2006/relationships/slide" Target="/ppt/slides/slide1.xml" Id="Rfbc90b8d18a7455b" /><Relationship Type="http://schemas.openxmlformats.org/officeDocument/2006/relationships/slide" Target="/ppt/slides/slide2.xml" Id="R2a04447564a8480e" /><Relationship Type="http://schemas.openxmlformats.org/officeDocument/2006/relationships/slide" Target="/ppt/slides/slide3.xml" Id="Re8d4868955054e89" /><Relationship Type="http://schemas.openxmlformats.org/officeDocument/2006/relationships/slide" Target="/ppt/slides/slide4.xml" Id="R13c375be1f344b40" /><Relationship Type="http://schemas.openxmlformats.org/officeDocument/2006/relationships/slide" Target="/ppt/slides/slide5.xml" Id="R20b6b846bf0b49a4" /><Relationship Type="http://schemas.openxmlformats.org/officeDocument/2006/relationships/slide" Target="/ppt/slides/slide6.xml" Id="R399b3f5f62004045" /><Relationship Type="http://schemas.openxmlformats.org/officeDocument/2006/relationships/slide" Target="/ppt/slides/slide7.xml" Id="R6450e94addab429c" /><Relationship Type="http://schemas.openxmlformats.org/officeDocument/2006/relationships/slide" Target="/ppt/slides/slide8.xml" Id="Re75e44f8d80c4c6d" /><Relationship Type="http://schemas.openxmlformats.org/officeDocument/2006/relationships/slide" Target="/ppt/slides/slide9.xml" Id="Rcebdbfcaa5eb4cdd" /><Relationship Type="http://schemas.openxmlformats.org/officeDocument/2006/relationships/slide" Target="/ppt/slides/slide10.xml" Id="Rdbfaf3659c4244f2" /><Relationship Type="http://schemas.openxmlformats.org/officeDocument/2006/relationships/slide" Target="/ppt/slides/slide11.xml" Id="Rb82aabd47f2f458b" /><Relationship Type="http://schemas.openxmlformats.org/officeDocument/2006/relationships/slide" Target="/ppt/slides/slide12.xml" Id="R0ea8ffd09a7e4a73" /><Relationship Type="http://schemas.openxmlformats.org/officeDocument/2006/relationships/slide" Target="/ppt/slides/slide13.xml" Id="Rfb3fb2499b8746cb" /><Relationship Type="http://schemas.openxmlformats.org/officeDocument/2006/relationships/slide" Target="/ppt/slides/slide14.xml" Id="R277ad1cad94d4f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e49c4954c148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5837944f424f2c" /><Relationship Type="http://schemas.openxmlformats.org/officeDocument/2006/relationships/notesMaster" Target="/ppt/notesMasters/notesMaster1.xml" Id="R35ee8914da1541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63e06a26fbf4625" /><Relationship Type="http://schemas.openxmlformats.org/officeDocument/2006/relationships/notesMaster" Target="/ppt/notesMasters/notesMaster1.xml" Id="R584b9dacdac748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379c0553124b05" /><Relationship Type="http://schemas.openxmlformats.org/officeDocument/2006/relationships/notesMaster" Target="/ppt/notesMasters/notesMaster1.xml" Id="R70219d676f9a49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d95f61bfc24c05" /><Relationship Type="http://schemas.openxmlformats.org/officeDocument/2006/relationships/notesMaster" Target="/ppt/notesMasters/notesMaster1.xml" Id="R41360b955f7440e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f4927c6115400f" /><Relationship Type="http://schemas.openxmlformats.org/officeDocument/2006/relationships/notesMaster" Target="/ppt/notesMasters/notesMaster1.xml" Id="R568f2669058f46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25ca82a8ac4db9" /><Relationship Type="http://schemas.openxmlformats.org/officeDocument/2006/relationships/notesMaster" Target="/ppt/notesMasters/notesMaster1.xml" Id="Ra7d7a799d1a64d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c2400519d24547" /><Relationship Type="http://schemas.openxmlformats.org/officeDocument/2006/relationships/notesMaster" Target="/ppt/notesMasters/notesMaster1.xml" Id="R397bfb085acb405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26e4b242ab46b7" /><Relationship Type="http://schemas.openxmlformats.org/officeDocument/2006/relationships/notesMaster" Target="/ppt/notesMasters/notesMaster1.xml" Id="R63b3af750a7549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caf5457ce044d9" /><Relationship Type="http://schemas.openxmlformats.org/officeDocument/2006/relationships/notesMaster" Target="/ppt/notesMasters/notesMaster1.xml" Id="Ree43333d28444f1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22f694b75646ba" /><Relationship Type="http://schemas.openxmlformats.org/officeDocument/2006/relationships/notesMaster" Target="/ppt/notesMasters/notesMaster1.xml" Id="R5ae7b34febea484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f56fec9433e48b1" /><Relationship Type="http://schemas.openxmlformats.org/officeDocument/2006/relationships/notesMaster" Target="/ppt/notesMasters/notesMaster1.xml" Id="Ra25daf9c288145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d58ba4d7fb4a07" /><Relationship Type="http://schemas.openxmlformats.org/officeDocument/2006/relationships/notesMaster" Target="/ppt/notesMasters/notesMaster1.xml" Id="R57c95789beff49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0ae33ac796c412f" /><Relationship Type="http://schemas.openxmlformats.org/officeDocument/2006/relationships/notesMaster" Target="/ppt/notesMasters/notesMaster1.xml" Id="R48167469c9c049f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9e4a4970cd34449" /><Relationship Type="http://schemas.openxmlformats.org/officeDocument/2006/relationships/notesMaster" Target="/ppt/notesMasters/notesMaster1.xml" Id="Refe578fe212043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but the comparison is confounded by target geometry. The median normalized text-target area is 4.77 times the median icon-target area. Median heights are similar at 25 versus 24 pixels, while median widths are 111 versus 26 pixels. Direct standardization over ten pooled target-area rank bins reduces the text-minus-icon gap from 35.4 to 17.4 percentage points. This coarse adjustment does not control application, platform, action family, aspect ratio, surrounding visual density, or annotation noise. The bottom matrix remains a diagnostic raw breakdown. Its action columns use our first-recognized-verb dictionary rather than an official ScreenSpot-Pro label. Sources: data/remote-results/run/screenspot-full-official/summary.json, artifacts/screenspot-presentation/screenspot-target-size-analysis.json, scripts/analyze_screenspot_target_size.py,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2:10–3:20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3:20–4:20 — This slide establishes the measurement we use from here onward.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4:20–5:15 — From this point, headline the same-image instruction differential rather than raw attention. The differential favors the top-left slide and ribbon region, yet its peak is on the slide thumbnail and the click lands there. The target itself is only 0.074% of the frame. This is compatible with fine-grained binding or localization failure after coarse semantic routing. Source: data/attributions/screenspot-powerpoint_windows_48/analysis.json.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5:15–6:25 — Every probe receives the identical four screenshots and identical three-scroll action history. Only the requested click target changes. We normalize each request across every patch in all four frames, average three usable control maps, then subtract. The cheapest hotel button has 2.78× lift when it first appears at the bottom of frame 2 and 8.59× in the current frame. Yet the peak stays outside the button and Holo clicks (960,120), on the Signal Quay card rather than View details. Resolution is an important confound: after patch merging, this 105×65-pixel control spans only about 1.6×1.0 visual tokens, so coarse retrieval can survive while precise binding degrades. The four-frame history and longer prompt also co-vary, so this case does not isolate resolution causally. In a separate single-frame diagnostic, frozen item test-0035 moves the price column from roughly 80% to 58% of viewport width and enlarges the UI. The £122 target price receives 4.12× causal previous-token lift for x versus 0.81× on the £135 runner-up; y is 4.01× versus 0.91×. Holo still emits malformed, off-target coordinates. This supports position-robust price selection but is not a same-image prompt-baseline proof. Three controls are included in the multi-frame map; one is excluded because generation omitted a y span. LOO cosine is 0.898 mean / 0.769 minimum. Sources: data/attributions/hotel-cheapest-multiframe-contrast/analysis.json and data/attributions/hotel-test-0035-large-ui-final/target-viewer/viewer.html.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6:25–7:30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7:30–8:20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8:20–9:15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leads with those three contrasts; the distractor and MLP probes remain in the secondary line.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9:15–10:20 — This is the standalone fine-tuning comparison. The layer chart teacher-forces identical oracle and distractor action tokens through the official Qwen3.5-4B base and Holo3.1-4B, using the same Holo processor, prompts, image order, and action suffixes. All five ScreenSpot probes end with a positive Holo-minus-Qwen oracle-margin shift, averaging 1.14 nats per scored token; three cross from a negative base margin to a positive Holo margin. The hotel final click ends at +0.37 nats per token, while earlier hotel steps are mixed. The top triptych is a separate teacher-forced attention diagnostic on powerpoint_windows_59. It averages the six oracle coordinate-token query rows across 16 heads and all eight full-attention layers, then normalizes over image patches. Direct target mass rises from 15.8% to 17.2%, and the direct-attention peak moves into the annotated target. Value-norm weighting is not directionally identical: target lift falls by 1.07, so the defensible conclusion is redistribution, not uniform concentration. In the three-frame hotel prompt, Holo moves value-norm image attention away from the earliest frame and toward the middle and current frames. The ScreenSpot processor grid is 56 by 90 from a 2880 by 1800 source, retaining 99.6% of source area; each hotel frame uses a 22 by 32 grid from 1024 by 720, retaining 97.8%. Attention is descriptive; the layerwise logit lens also includes each checkpoint's own final norm and unembedding. Sources: data/remote-results/delta-lens-qwen35-vs-holo31-20260921-dcd8c5e5, data/local-results/attention-delta-ppt59-native-v2, and data/local-results/attention-delta-hotel-step2-native-v1.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10:20–11:10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11:10–12:00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Fine-tuning moves every ScreenSpot diagnostic margin toward the oracle, but attention weighting choices and the hotel trajectory show that internal redistribution is selective.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5429b4c51e143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1e2db8874e4bb2" /><Relationship Type="http://schemas.openxmlformats.org/officeDocument/2006/relationships/slideLayout" Target="/ppt/slideLayouts/slideLayout1.xml" Id="R98210018d99040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210018d99040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80f862f2914527" /><Relationship Type="http://schemas.openxmlformats.org/officeDocument/2006/relationships/image" Target="/ppt/media/image.png" Id="R9544974577b5409e" /><Relationship Type="http://schemas.openxmlformats.org/officeDocument/2006/relationships/notesSlide" Target="/ppt/notesSlides/notesSlide1.xml" Id="R7dfee3ccc5e449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b173820d34462e" /><Relationship Type="http://schemas.openxmlformats.org/officeDocument/2006/relationships/notesSlide" Target="/ppt/notesSlides/notesSlide2.xml" Id="Rd5b0b363d5af47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d67a45b28634d02" /><Relationship Type="http://schemas.openxmlformats.org/officeDocument/2006/relationships/chart" Target="/ppt/slides/charts/chart1.xml" Id="R6361fe157bcb497f" /><Relationship Type="http://schemas.openxmlformats.org/officeDocument/2006/relationships/notesSlide" Target="/ppt/notesSlides/notesSlide3.xml" Id="R685b9f75cba640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bf98494dc8844a1" /><Relationship Type="http://schemas.openxmlformats.org/officeDocument/2006/relationships/notesSlide" Target="/ppt/notesSlides/notesSlide4.xml" Id="Rc55f56d70f0b4a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6cfa4bad004081" /><Relationship Type="http://schemas.openxmlformats.org/officeDocument/2006/relationships/image" Target="/ppt/media/image2.png" Id="R72245dd1bba54720" /><Relationship Type="http://schemas.openxmlformats.org/officeDocument/2006/relationships/image" Target="/ppt/media/image3.png" Id="R9fe52e7731b4456c" /><Relationship Type="http://schemas.openxmlformats.org/officeDocument/2006/relationships/notesSlide" Target="/ppt/notesSlides/notesSlide5.xml" Id="R4ace9a268f5349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b677051efbc42ed" /><Relationship Type="http://schemas.openxmlformats.org/officeDocument/2006/relationships/image" Target="/ppt/media/image4.png" Id="R128d9b8806074221" /><Relationship Type="http://schemas.openxmlformats.org/officeDocument/2006/relationships/notesSlide" Target="/ppt/notesSlides/notesSlide6.xml" Id="Rdc44c470769d46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f394c1687474bfd" /><Relationship Type="http://schemas.openxmlformats.org/officeDocument/2006/relationships/image" Target="/ppt/media/image5.png" Id="R2a4f59c84c0e4341" /><Relationship Type="http://schemas.openxmlformats.org/officeDocument/2006/relationships/image" Target="/ppt/media/image6.png" Id="R54cb69f1806c437f" /><Relationship Type="http://schemas.openxmlformats.org/officeDocument/2006/relationships/image" Target="/ppt/media/image7.png" Id="R1f0c048cec4442f5" /><Relationship Type="http://schemas.openxmlformats.org/officeDocument/2006/relationships/image" Target="/ppt/media/image8.png" Id="Rdac4423405284a3d" /><Relationship Type="http://schemas.openxmlformats.org/officeDocument/2006/relationships/notesSlide" Target="/ppt/notesSlides/notesSlide7.xml" Id="R2f36548844484f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3720669e0334a22" /><Relationship Type="http://schemas.openxmlformats.org/officeDocument/2006/relationships/notesSlide" Target="/ppt/notesSlides/notesSlide8.xml" Id="Rfaf1cf7d48c44e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dbbebed1a34782" /><Relationship Type="http://schemas.openxmlformats.org/officeDocument/2006/relationships/image" Target="/ppt/media/image9.png" Id="Ref91cb70b02c4138" /><Relationship Type="http://schemas.openxmlformats.org/officeDocument/2006/relationships/image" Target="/ppt/media/image10.png" Id="Rf2d17e5706bc482c" /><Relationship Type="http://schemas.openxmlformats.org/officeDocument/2006/relationships/notesSlide" Target="/ppt/notesSlides/notesSlide9.xml" Id="R525a4e2d759548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9025ae30ce40e9" /><Relationship Type="http://schemas.openxmlformats.org/officeDocument/2006/relationships/chart" Target="/ppt/slides/charts/chart2.xml" Id="R6e2676ea1898403c" /><Relationship Type="http://schemas.openxmlformats.org/officeDocument/2006/relationships/notesSlide" Target="/ppt/notesSlides/notesSlide10.xml" Id="R05983be30a6e44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700d3271f4042aa" /><Relationship Type="http://schemas.openxmlformats.org/officeDocument/2006/relationships/image" Target="/ppt/media/image11.png" Id="Ra93a683c62d64a72" /><Relationship Type="http://schemas.openxmlformats.org/officeDocument/2006/relationships/image" Target="/ppt/media/image12.png" Id="R792de8f00b3c4e00" /><Relationship Type="http://schemas.openxmlformats.org/officeDocument/2006/relationships/image" Target="/ppt/media/image13.png" Id="R752c917f6f35415f" /><Relationship Type="http://schemas.openxmlformats.org/officeDocument/2006/relationships/chart" Target="/ppt/slides/charts/chart3.xml" Id="R5451ad3447c748d1" /><Relationship Type="http://schemas.openxmlformats.org/officeDocument/2006/relationships/chart" Target="/ppt/slides/charts/chart4.xml" Id="Rb06a30f7e5ab4281" /><Relationship Type="http://schemas.openxmlformats.org/officeDocument/2006/relationships/notesSlide" Target="/ppt/notesSlides/notesSlide11.xml" Id="Rf1d061545a154e5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b9334ecb4c8457a" /><Relationship Type="http://schemas.openxmlformats.org/officeDocument/2006/relationships/notesSlide" Target="/ppt/notesSlides/notesSlide12.xml" Id="Rd5657ae5dc664bc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1479fe9831e4558" /><Relationship Type="http://schemas.openxmlformats.org/officeDocument/2006/relationships/notesSlide" Target="/ppt/notesSlides/notesSlide13.xml" Id="Rfb4522664201496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8ebc2e7ea264f2f" /><Relationship Type="http://schemas.openxmlformats.org/officeDocument/2006/relationships/notesSlide" Target="/ppt/notesSlides/notesSlide14.xml" Id="Ree656ff3b8f54d5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ScreenSpot mean</c:v>
          </c:tx>
          <c:spPr>
            <a:ln xmlns:a="http://schemas.openxmlformats.org/drawingml/2006/main" w="28575">
              <a:solidFill>
                <a:srgbClr val="F05A3C"/>
              </a:solidFill>
            </a:ln>
          </c:spPr>
          <c:marker>
            <c:spPr>
              <a:solidFill xmlns:a="http://schemas.openxmlformats.org/drawingml/2006/main">
                <a:srgbClr val="F05A3C"/>
              </a:solidFill>
            </c:spPr>
          </c:marker>
          <c:cat>
            <c:strRef>
              <c:f>'Chart Data'!$A$2:$A$33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Data'!$B$2:$B$33</c:f>
              <c:numCache>
                <c:formatCode>General</c:formatCode>
                <c:ptCount val="32"/>
                <c:pt idx="0">
                  <c:v>-0.006</c:v>
                </c:pt>
                <c:pt idx="1">
                  <c:v>-0.393</c:v>
                </c:pt>
                <c:pt idx="2">
                  <c:v>-1.487</c:v>
                </c:pt>
                <c:pt idx="3">
                  <c:v>-0.266</c:v>
                </c:pt>
                <c:pt idx="4">
                  <c:v>-0.803</c:v>
                </c:pt>
                <c:pt idx="5">
                  <c:v>-0.791</c:v>
                </c:pt>
                <c:pt idx="6">
                  <c:v>0.715</c:v>
                </c:pt>
                <c:pt idx="7">
                  <c:v>0.471</c:v>
                </c:pt>
                <c:pt idx="8">
                  <c:v>0.587</c:v>
                </c:pt>
                <c:pt idx="9">
                  <c:v>0.788</c:v>
                </c:pt>
                <c:pt idx="10">
                  <c:v>0.662</c:v>
                </c:pt>
                <c:pt idx="11">
                  <c:v>0.902</c:v>
                </c:pt>
                <c:pt idx="12">
                  <c:v>0.447</c:v>
                </c:pt>
                <c:pt idx="13">
                  <c:v>-0.127</c:v>
                </c:pt>
                <c:pt idx="14">
                  <c:v>-0.307</c:v>
                </c:pt>
                <c:pt idx="15">
                  <c:v>-0.446</c:v>
                </c:pt>
                <c:pt idx="16">
                  <c:v>0.004</c:v>
                </c:pt>
                <c:pt idx="17">
                  <c:v>-0.641</c:v>
                </c:pt>
                <c:pt idx="18">
                  <c:v>-0.294</c:v>
                </c:pt>
                <c:pt idx="19">
                  <c:v>-2.074</c:v>
                </c:pt>
                <c:pt idx="20">
                  <c:v>-1.849</c:v>
                </c:pt>
                <c:pt idx="21">
                  <c:v>-2.277</c:v>
                </c:pt>
                <c:pt idx="22">
                  <c:v>-3.042</c:v>
                </c:pt>
                <c:pt idx="23">
                  <c:v>-1.442</c:v>
                </c:pt>
                <c:pt idx="24">
                  <c:v>-1.745</c:v>
                </c:pt>
                <c:pt idx="25">
                  <c:v>-1.396</c:v>
                </c:pt>
                <c:pt idx="26">
                  <c:v>-1.075</c:v>
                </c:pt>
                <c:pt idx="27">
                  <c:v>-1.243</c:v>
                </c:pt>
                <c:pt idx="28">
                  <c:v>-1.251</c:v>
                </c:pt>
                <c:pt idx="29">
                  <c:v>-1.484</c:v>
                </c:pt>
                <c:pt idx="30">
                  <c:v>1.763</c:v>
                </c:pt>
                <c:pt idx="31">
                  <c:v>1.142</c:v>
                </c:pt>
              </c:numCache>
            </c:numRef>
          </c:val>
        </c:ser>
        <c:ser>
          <c:idx val="1"/>
          <c:order val="1"/>
          <c:tx>
            <c:v>Hotel final click</c:v>
          </c:tx>
          <c:spPr>
            <a:ln xmlns:a="http://schemas.openxmlformats.org/drawingml/2006/main" w="19050">
              <a:solidFill>
                <a:srgbClr val="2D84D3"/>
              </a:solidFill>
            </a:ln>
          </c:spPr>
          <c:marker>
            <c:spPr>
              <a:solidFill xmlns:a="http://schemas.openxmlformats.org/drawingml/2006/main">
                <a:srgbClr val="2D84D3"/>
              </a:solidFill>
            </c:spPr>
          </c:marker>
          <c:cat>
            <c:strRef>
              <c:f>'Chart Data'!$C$2:$C$33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Data'!$D$2:$D$33</c:f>
              <c:numCache>
                <c:formatCode>General</c:formatCode>
                <c:ptCount val="32"/>
                <c:pt idx="0">
                  <c:v>-0.088</c:v>
                </c:pt>
                <c:pt idx="1">
                  <c:v>-0.056</c:v>
                </c:pt>
                <c:pt idx="2">
                  <c:v>0.414</c:v>
                </c:pt>
                <c:pt idx="3">
                  <c:v>0.001</c:v>
                </c:pt>
                <c:pt idx="4">
                  <c:v>-0.364</c:v>
                </c:pt>
                <c:pt idx="5">
                  <c:v>-0.082</c:v>
                </c:pt>
                <c:pt idx="6">
                  <c:v>-1.386</c:v>
                </c:pt>
                <c:pt idx="7">
                  <c:v>0.02</c:v>
                </c:pt>
                <c:pt idx="8">
                  <c:v>-0.19</c:v>
                </c:pt>
                <c:pt idx="9">
                  <c:v>-0.244</c:v>
                </c:pt>
                <c:pt idx="10">
                  <c:v>-0.213</c:v>
                </c:pt>
                <c:pt idx="11">
                  <c:v>-0.379</c:v>
                </c:pt>
                <c:pt idx="12">
                  <c:v>-0.509</c:v>
                </c:pt>
                <c:pt idx="13">
                  <c:v>-0.043</c:v>
                </c:pt>
                <c:pt idx="14">
                  <c:v>-0.011</c:v>
                </c:pt>
                <c:pt idx="15">
                  <c:v>-0.285</c:v>
                </c:pt>
                <c:pt idx="16">
                  <c:v>-0.399</c:v>
                </c:pt>
                <c:pt idx="17">
                  <c:v>0.224</c:v>
                </c:pt>
                <c:pt idx="18">
                  <c:v>-1.055</c:v>
                </c:pt>
                <c:pt idx="19">
                  <c:v>0.852</c:v>
                </c:pt>
                <c:pt idx="20">
                  <c:v>-0.512</c:v>
                </c:pt>
                <c:pt idx="21">
                  <c:v>-0.894</c:v>
                </c:pt>
                <c:pt idx="22">
                  <c:v>0.393</c:v>
                </c:pt>
                <c:pt idx="23">
                  <c:v>-0.563</c:v>
                </c:pt>
                <c:pt idx="24">
                  <c:v>-0.946</c:v>
                </c:pt>
                <c:pt idx="25">
                  <c:v>-2.441</c:v>
                </c:pt>
                <c:pt idx="26">
                  <c:v>-1.111</c:v>
                </c:pt>
                <c:pt idx="27">
                  <c:v>1.07</c:v>
                </c:pt>
                <c:pt idx="28">
                  <c:v>0.395</c:v>
                </c:pt>
                <c:pt idx="29">
                  <c:v>0.04</c:v>
                </c:pt>
                <c:pt idx="30">
                  <c:v>-0.08</c:v>
                </c:pt>
                <c:pt idx="31">
                  <c:v>0.366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Holo − Qwen margin (nats/token)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c:v>
          </c:tx>
          <c:spPr>
            <a:solidFill xmlns:a="http://schemas.openxmlformats.org/drawingml/2006/main">
              <a:srgbClr val="2D84D3"/>
            </a:solidFill>
          </c:spPr>
          <c:cat>
            <c:strRef>
              <c:f>'Chart Data'!$A$2:$A$4</c:f>
              <c:strCache>
                <c:ptCount val="3"/>
                <c:pt idx="0">
                  <c:v>Earliest</c:v>
                </c:pt>
                <c:pt idx="1">
                  <c:v>Middle</c:v>
                </c:pt>
                <c:pt idx="2">
                  <c:v>Current</c:v>
                </c:pt>
              </c:strCache>
            </c:strRef>
          </c:cat>
          <c:val>
            <c:numRef>
              <c:f>'Chart Data'!$B$2:$B$4</c:f>
              <c:numCache>
                <c:formatCode>General</c:formatCode>
                <c:ptCount val="3"/>
                <c:pt idx="0">
                  <c:v>36.8</c:v>
                </c:pt>
                <c:pt idx="1">
                  <c:v>15</c:v>
                </c:pt>
                <c:pt idx="2">
                  <c:v>48.2</c:v>
                </c:pt>
              </c:numCache>
            </c:numRef>
          </c:val>
        </c:ser>
        <c:ser>
          <c:idx val="1"/>
          <c:order val="1"/>
          <c:tx>
            <c:v>Holo</c:v>
          </c:tx>
          <c:spPr>
            <a:solidFill xmlns:a="http://schemas.openxmlformats.org/drawingml/2006/main">
              <a:srgbClr val="F05A3C"/>
            </a:solidFill>
          </c:spPr>
          <c:cat>
            <c:strRef>
              <c:f>'Chart Data'!$C$2:$C$4</c:f>
              <c:strCache>
                <c:ptCount val="3"/>
                <c:pt idx="0">
                  <c:v>Earliest</c:v>
                </c:pt>
                <c:pt idx="1">
                  <c:v>Middle</c:v>
                </c:pt>
                <c:pt idx="2">
                  <c:v>Current</c:v>
                </c:pt>
              </c:strCache>
            </c:strRef>
          </c:cat>
          <c:val>
            <c:numRef>
              <c:f>'Chart Data'!$D$2:$D$4</c:f>
              <c:numCache>
                <c:formatCode>General</c:formatCode>
                <c:ptCount val="3"/>
                <c:pt idx="0">
                  <c:v>20.2</c:v>
                </c:pt>
                <c:pt idx="1">
                  <c:v>23</c:v>
                </c:pt>
                <c:pt idx="2">
                  <c:v>56.8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 of image attention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9544974577b5409e"/>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92CEC67-CE97-4090-8D0C-797D7D06F035}"/>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65DBF18-080C-4D8F-B62A-CDB75EE18672}"/>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2C5C48B-5162-46E9-ACA8-21CCCFBF80CE}"/>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85AE149-A307-4B5B-98D7-495B4052F1AA}"/>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9DA98135-62C9-423F-B3DC-006D1826FEC3}"/>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4D9E0565-7B31-4380-B4B2-ECC862824524}"/>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2B0E545D-D931-4066-B01A-6C252ACF872C}"/>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1144145472"/>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8E5FFC5-2DD9-4599-BBA3-25E24A48278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209D1912-DEC3-424F-BFC8-129A4341F91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D352E728-533A-42A5-92B1-E69C92C87E16}"/>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C0371255-AADE-425F-A6FA-E9EC93DA826C}"/>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A4BEF313-D9F0-4F09-8837-A218F9C70041}"/>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47D8B62-14AB-42DC-A099-25C22B75C5F6}"/>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3F834D25-EE10-499A-A22F-1D4CC796F3B1}"/>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4F6EDBA3-4212-45D6-8EB3-B4BA3876ADBC}"/>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2F93641F-ECBF-4AEC-85B8-1D0EAB155F6C}"/>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20D7B756-893D-4EBC-A3B7-2B24BFAE2DDE}"/>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D139C724-22CF-4682-A9F4-F19A0D1A811D}"/>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929AC105-DB49-474F-AA42-20155C399F1F}"/>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82875876-2274-47F0-98B4-35970ED0AB18}"/>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725E663-D18F-418A-9916-4DCA4A9C7CE9}"/>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1A7EEB38-A2DE-4C91-97CF-9835AAA95674}"/>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5826D2B-87A5-4FCF-AAB1-41C5D82540D4}"/>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784BC5D-12EE-44B5-8763-0E7F95A8E95C}"/>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6E19704F-5428-491E-B6EC-1935B08C9D23}"/>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3BB5B458-4054-477E-8EBA-81C81E1172DC}"/>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C4D6608D-33AE-4662-8B3B-F415B53582C9}"/>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5EAE08D-0AAD-4DDA-B51C-AF6E07340587}"/>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1C0D2740-BD06-4B3A-B30A-0FBBFE5D4A6F}"/>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BDE87D54-B63E-43ED-A226-28BE2FE25FDB}"/>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F03222C4-733C-49B8-AC43-433BF6A73BB4}"/>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1B557763-5E2A-4698-AD1E-84903AC4A2A2}"/>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31782577-B949-4D25-93F4-0EDC876990AB}"/>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259ACE6A-1E9A-4D41-AC7D-A26C2344EE95}"/>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4F94690B-CD02-404E-BDAB-12A1D4999FE4}"/>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7D1A6DC7-60C8-4A93-A876-F1F3A1B0F0E7}"/>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8E758A86-A92F-4702-9FC2-E1C1457C6B24}"/>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BCB558B5-7B36-4C44-A057-6B24A6DC6641}"/>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8C2F10A3-9460-4ECC-B8A2-E2A13DE090D3}"/>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35CDFF4-4BBB-4635-85A3-2E7720A29F26}"/>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6F9C188E-7A4C-4F62-BDFC-0D9D17AF9A8F}"/>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7826CDC9-D764-4FC5-B097-1A6AFEC76C42}"/>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6A4490E8-5F3C-4708-AFE6-9253637AC4F0}"/>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6B27B0C0-E567-42C4-9A35-EE173A3E5AA2}"/>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2B5B60D8-A6A2-48A3-A7F5-5BE6F8802C9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1187284444"/>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15DF5C3D-8179-42CC-B52C-8D118827983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D2D67E6B-5452-4F56-9404-68210AF1857D}"/>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target size explains part of the icon gap</a:t>
            </a:r>
          </a:p>
        </p:txBody>
      </p:sp>
      <p:sp>
        <p:nvSpPr>
          <p:cNvPr id="3" name="">
            <a:extLst xmlns:a="http://schemas.openxmlformats.org/drawingml/2006/main">
              <a:ext uri="{FF2B5EF4-FFF2-40B4-BE49-F238E27FC236}">
                <a16:creationId xmlns:a16="http://schemas.microsoft.com/office/drawing/2014/main" id="{A0D8A13E-4E06-4528-93B3-D44FFBD7C5C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7AB8866F-01B7-4926-A764-16ED02BEB3D4}"/>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39C5803F-1AC3-4082-8AFF-F01A3B5F5CEE}"/>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5399108B-DF9B-439D-9EF0-F3718D96FF57}"/>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DE733DC3-BC18-40AB-B56E-8BA2A78B0D7F}"/>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66466E5C-4A87-4358-992D-B0E8D354206B}"/>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582FC2CB-D3F3-4993-874E-EEB5DF0F2DBB}"/>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495E3AC0-ECCD-459F-93B6-719F8943AB0A}"/>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35379A-9178-43C9-ACA8-8419C85C3495}"/>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6361fe157bcb497f"/>
          </a:graphicData>
        </a:graphic>
      </p:graphicFrame>
      <p:sp>
        <p:nvSpPr>
          <p:cNvPr id="13" name="">
            <a:extLst xmlns:a="http://schemas.openxmlformats.org/drawingml/2006/main">
              <a:ext uri="{FF2B5EF4-FFF2-40B4-BE49-F238E27FC236}">
                <a16:creationId xmlns:a16="http://schemas.microsoft.com/office/drawing/2014/main" id="{D5D4B05F-6768-40EB-8087-BFEA16BC03C1}"/>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70B2BD23-D202-408D-8F18-B67EB6A1D3E7}"/>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19844F65-FA13-4EBD-9C09-01A52ADFAB87}"/>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D179F77-7207-4484-9FB2-F710C439F348}"/>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TARGET-SIZE CONFOUND</a:t>
            </a:r>
          </a:p>
        </p:txBody>
      </p:sp>
      <p:sp>
        <p:nvSpPr>
          <p:cNvPr id="17" name="">
            <a:extLst xmlns:a="http://schemas.openxmlformats.org/drawingml/2006/main">
              <a:ext uri="{FF2B5EF4-FFF2-40B4-BE49-F238E27FC236}">
                <a16:creationId xmlns:a16="http://schemas.microsoft.com/office/drawing/2014/main" id="{49D7728C-7202-4FA9-89E3-8AE471BD4F4F}"/>
              </a:ext>
            </a:extLst>
          </p:cNvPr>
          <p:cNvSpPr>
            <a:spLocks xmlns:a="http://schemas.openxmlformats.org/drawingml/2006/main" noGrp="1"/>
          </p:cNvSpPr>
          <p:nvPr/>
        </p:nvSpPr>
        <p:spPr>
          <a:xfrm xmlns:a="http://schemas.openxmlformats.org/drawingml/2006/main">
            <a:off x="9086850" y="2038350"/>
            <a:ext cx="106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550" b="1">
                <a:solidFill>
                  <a:srgbClr val="F05A3C"/>
                </a:solidFill>
                <a:latin typeface="Helvetica Neue"/>
                <a:ea typeface="Helvetica Neue"/>
                <a:cs typeface="Helvetica Neue"/>
              </a:defRPr>
            </a:pPr>
            <a:r>
              <a:rPr sz="2550" b="1">
                <a:solidFill>
                  <a:srgbClr val="F05A3C"/>
                </a:solidFill>
                <a:latin typeface="Helvetica Neue"/>
                <a:ea typeface="Helvetica Neue"/>
                <a:cs typeface="Helvetica Neue"/>
              </a:rPr>
              <a:t>4.77×</a:t>
            </a:r>
          </a:p>
        </p:txBody>
      </p:sp>
      <p:sp>
        <p:nvSpPr>
          <p:cNvPr id="18" name="">
            <a:extLst xmlns:a="http://schemas.openxmlformats.org/drawingml/2006/main">
              <a:ext uri="{FF2B5EF4-FFF2-40B4-BE49-F238E27FC236}">
                <a16:creationId xmlns:a16="http://schemas.microsoft.com/office/drawing/2014/main" id="{4F3FA832-DB58-4D6A-9289-D3B9C77FD8F5}"/>
              </a:ext>
            </a:extLst>
          </p:cNvPr>
          <p:cNvSpPr>
            <a:spLocks xmlns:a="http://schemas.openxmlformats.org/drawingml/2006/main" noGrp="1"/>
          </p:cNvSpPr>
          <p:nvPr/>
        </p:nvSpPr>
        <p:spPr>
          <a:xfrm xmlns:a="http://schemas.openxmlformats.org/drawingml/2006/main">
            <a:off x="9086850" y="24574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F2BDAF"/>
                </a:solidFill>
                <a:latin typeface="Helvetica Neue"/>
                <a:ea typeface="Helvetica Neue"/>
                <a:cs typeface="Helvetica Neue"/>
              </a:defRPr>
            </a:pPr>
            <a:r>
              <a:rPr sz="1050" b="0">
                <a:solidFill>
                  <a:srgbClr val="F2BDAF"/>
                </a:solidFill>
                <a:latin typeface="Helvetica Neue"/>
                <a:ea typeface="Helvetica Neue"/>
                <a:cs typeface="Helvetica Neue"/>
              </a:rPr>
              <a:t>larger median text-target area</a:t>
            </a:r>
          </a:p>
        </p:txBody>
      </p:sp>
      <p:sp>
        <p:nvSpPr>
          <p:cNvPr id="19" name="">
            <a:extLst xmlns:a="http://schemas.openxmlformats.org/drawingml/2006/main">
              <a:ext uri="{FF2B5EF4-FFF2-40B4-BE49-F238E27FC236}">
                <a16:creationId xmlns:a16="http://schemas.microsoft.com/office/drawing/2014/main" id="{C6B42608-6944-4D89-BB53-676159315A31}"/>
              </a:ext>
            </a:extLst>
          </p:cNvPr>
          <p:cNvSpPr>
            <a:spLocks xmlns:a="http://schemas.openxmlformats.org/drawingml/2006/main" noGrp="1"/>
          </p:cNvSpPr>
          <p:nvPr/>
        </p:nvSpPr>
        <p:spPr>
          <a:xfrm xmlns:a="http://schemas.openxmlformats.org/drawingml/2006/main">
            <a:off x="9086850" y="285750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35.4 pp raw gap</a:t>
            </a:r>
          </a:p>
        </p:txBody>
      </p:sp>
      <p:sp>
        <p:nvSpPr>
          <p:cNvPr id="20" name="">
            <a:extLst xmlns:a="http://schemas.openxmlformats.org/drawingml/2006/main">
              <a:ext uri="{FF2B5EF4-FFF2-40B4-BE49-F238E27FC236}">
                <a16:creationId xmlns:a16="http://schemas.microsoft.com/office/drawing/2014/main" id="{39FDA526-1578-486B-B3F9-BA2039AD7916}"/>
              </a:ext>
            </a:extLst>
          </p:cNvPr>
          <p:cNvSpPr>
            <a:spLocks xmlns:a="http://schemas.openxmlformats.org/drawingml/2006/main" noGrp="1"/>
          </p:cNvSpPr>
          <p:nvPr/>
        </p:nvSpPr>
        <p:spPr>
          <a:xfrm xmlns:a="http://schemas.openxmlformats.org/drawingml/2006/main">
            <a:off x="9086850" y="31432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17.4 pp after area standardization</a:t>
            </a:r>
          </a:p>
        </p:txBody>
      </p:sp>
      <p:sp>
        <p:nvSpPr>
          <p:cNvPr id="21" name="">
            <a:extLst xmlns:a="http://schemas.openxmlformats.org/drawingml/2006/main">
              <a:ext uri="{FF2B5EF4-FFF2-40B4-BE49-F238E27FC236}">
                <a16:creationId xmlns:a16="http://schemas.microsoft.com/office/drawing/2014/main" id="{048B5F13-5903-4AF0-BC0E-8C971CDFA470}"/>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E6B1432E-FD2B-4485-B9B9-257CB6786903}"/>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Weakest labeled cell: icon × file, 36.1% (n=36)</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EB905BEE-5D14-4153-A2AE-DDA43DED375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FC3D156-D9EA-41DD-844D-A4B8907DDCC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Area standardization uses 10 pooled target-area bins; application, action, density, aspect ratio, and label noise remain uncontrolled.</a:t>
            </a:r>
          </a:p>
        </p:txBody>
      </p:sp>
    </p:spTree>
    <p:extLst>
      <p:ext uri="{BB962C8B-B14F-4D97-AF65-F5344CB8AC3E}">
        <p14:creationId xmlns:p14="http://schemas.microsoft.com/office/powerpoint/2010/main" val="1391420831"/>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EF471D8-0789-4052-9DBA-AD3498C6978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3E6A7FED-C122-4616-92A0-FCD509E17DD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0AC4E057-0EE6-46B1-A963-A9BB4BDCBF2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94A53F56-4D9A-4870-9150-F8A135F34B59}"/>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6936B3EF-95AE-4A9E-97F5-E9F7B0CFD876}"/>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AF1C9B0F-03BA-418D-A75E-1564AA3A6331}"/>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D21B9F3-D743-4DA6-ACFB-D94D3B5207AD}"/>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D5CD8213-8CE0-412C-98EC-3461B5EFBBEE}"/>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43AC1E6A-7165-4765-9D63-17C0C21FEF20}"/>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4D72BFE-AF96-4413-B0AD-93CA7CB6157F}"/>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2D2FF503-8955-43D8-8F6B-10A2BBF8F38D}"/>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4B7BC1FC-EDD7-4C4C-845B-BF31B19AD10C}"/>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D38BA28D-5CB9-46DE-ADA6-7E23C3C181DA}"/>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1BD861E-69B1-4229-A65C-3E1A8B905E6D}"/>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C7BAB047-238F-4320-8656-21D4CD4D1AFC}"/>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5ED48386-8FF7-42BF-9295-14A5B051CF32}"/>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FF88DF6-071F-4314-9A49-AFD85F23D391}"/>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14D74B36-309E-4D0C-936A-8F9E8263C798}"/>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CA4D85A5-B055-4BB2-AC87-BBD8CAFB96AC}"/>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C5522854-129B-4A16-9808-291072A889BF}"/>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47DD50E-3600-4CF4-83DA-0A6D49D1E7B1}"/>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AE526ED6-FF41-4A2D-A85E-D18517E23AF6}"/>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D95A2EEF-D3C0-4669-ACDC-EDD560D4928C}"/>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8E462B1-0B83-4F3A-8109-0931F9CE01FC}"/>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4A89AFC5-FB9E-47F0-91B0-0764624DD4AC}"/>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4904C656-5A25-40E1-A866-DBA4F43EE35D}"/>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2E7BF746-ACF2-43C1-BE70-7FDD14461CE2}"/>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0DA7F7E-E3F4-4B18-8992-7B94603C3C6F}"/>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6426A97B-645B-4243-85B2-516FFECBD1B4}"/>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EF94896D-B71C-4729-90BA-DE6A04CB1770}"/>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A5DC3084-CF5B-4AD8-A43D-1734CFE2316D}"/>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20A2DAF9-CD61-4A28-AA33-337E4C12B1E7}"/>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C09C212F-8142-474A-ACAD-A1503985CD65}"/>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5F3C35C0-8506-43DC-AF35-3565B669DAC4}"/>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2BA61839-A876-4913-8772-BA0271B5AC9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935E1641-FAC1-45FE-895A-FEA9F4E31E55}"/>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323744270"/>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E294233-C7F7-4B44-A27A-38CC8C9F314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CD2B44FD-6703-49DA-9512-4D71191EE0D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Same-image controls reveal the selected template</a:t>
            </a:r>
          </a:p>
        </p:txBody>
      </p:sp>
      <p:sp>
        <p:nvSpPr>
          <p:cNvPr id="3" name="">
            <a:extLst xmlns:a="http://schemas.openxmlformats.org/drawingml/2006/main">
              <a:ext uri="{FF2B5EF4-FFF2-40B4-BE49-F238E27FC236}">
                <a16:creationId xmlns:a16="http://schemas.microsoft.com/office/drawing/2014/main" id="{F93F63AD-2FE2-4A64-BF1F-AC55CF56746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5EA4426-1ED0-411A-9787-B313495457C0}"/>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sp>
        <p:nvSpPr>
          <p:cNvPr id="5" name="">
            <a:extLst xmlns:a="http://schemas.openxmlformats.org/drawingml/2006/main">
              <a:ext uri="{FF2B5EF4-FFF2-40B4-BE49-F238E27FC236}">
                <a16:creationId xmlns:a16="http://schemas.microsoft.com/office/drawing/2014/main" id="{80EC49F4-9CF5-4B62-A85B-66D91743FC80}"/>
              </a:ext>
            </a:extLst>
          </p:cNvPr>
          <p:cNvSpPr>
            <a:spLocks xmlns:a="http://schemas.openxmlformats.org/drawingml/2006/main" noGrp="1"/>
          </p:cNvSpPr>
          <p:nvPr/>
        </p:nvSpPr>
        <p:spPr>
          <a:xfrm xmlns:a="http://schemas.openxmlformats.org/drawingml/2006/main">
            <a:off x="8953500" y="113347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C40D627-9442-414C-BDF0-59FB705996E6}"/>
              </a:ext>
            </a:extLst>
          </p:cNvPr>
          <p:cNvSpPr>
            <a:spLocks xmlns:a="http://schemas.openxmlformats.org/drawingml/2006/main" noGrp="1"/>
          </p:cNvSpPr>
          <p:nvPr/>
        </p:nvSpPr>
        <p:spPr>
          <a:xfrm xmlns:a="http://schemas.openxmlformats.org/drawingml/2006/main">
            <a:off x="9048750" y="115252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72245dd1bba54720"/>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4E7F9E03-A1D5-4FED-AE95-A312CF524DCF}"/>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fe52e7731b4456c"/>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10" name="">
            <a:extLst xmlns:a="http://schemas.openxmlformats.org/drawingml/2006/main">
              <a:ext uri="{FF2B5EF4-FFF2-40B4-BE49-F238E27FC236}">
                <a16:creationId xmlns:a16="http://schemas.microsoft.com/office/drawing/2014/main" id="{AA9F6931-DB27-4698-A06D-C0C40E19CA40}"/>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E256BF04-C288-41C9-B97A-3C061EBF49CA}"/>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095C6C34-1EF4-410A-8478-83935E73FF1A}"/>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3" name="">
            <a:extLst xmlns:a="http://schemas.openxmlformats.org/drawingml/2006/main">
              <a:ext uri="{FF2B5EF4-FFF2-40B4-BE49-F238E27FC236}">
                <a16:creationId xmlns:a16="http://schemas.microsoft.com/office/drawing/2014/main" id="{FE49443E-ACAE-44AD-BF26-50171C6E8324}"/>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DB06BE6-AD00-4024-90F3-6AF8A29BA659}"/>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5" name="">
            <a:extLst xmlns:a="http://schemas.openxmlformats.org/drawingml/2006/main">
              <a:ext uri="{FF2B5EF4-FFF2-40B4-BE49-F238E27FC236}">
                <a16:creationId xmlns:a16="http://schemas.microsoft.com/office/drawing/2014/main" id="{A534648C-C003-4CF7-8967-79679186B737}"/>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CC0E2F0E-86D3-4E73-9581-F6F427AB5A8D}"/>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0B0FD64-2622-4F07-9B14-E34191493B0E}"/>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8" name="">
            <a:extLst xmlns:a="http://schemas.openxmlformats.org/drawingml/2006/main">
              <a:ext uri="{FF2B5EF4-FFF2-40B4-BE49-F238E27FC236}">
                <a16:creationId xmlns:a16="http://schemas.microsoft.com/office/drawing/2014/main" id="{3E94EA84-7C40-4B97-B5EA-50011237783B}"/>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9" name="">
            <a:extLst xmlns:a="http://schemas.openxmlformats.org/drawingml/2006/main">
              <a:ext uri="{FF2B5EF4-FFF2-40B4-BE49-F238E27FC236}">
                <a16:creationId xmlns:a16="http://schemas.microsoft.com/office/drawing/2014/main" id="{A6AAC215-B34E-4104-B056-4FE9D34E528D}"/>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20" name="">
            <a:extLst xmlns:a="http://schemas.openxmlformats.org/drawingml/2006/main">
              <a:ext uri="{FF2B5EF4-FFF2-40B4-BE49-F238E27FC236}">
                <a16:creationId xmlns:a16="http://schemas.microsoft.com/office/drawing/2014/main" id="{5CE56946-BCC2-460B-9C15-82D825A12827}"/>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6005DACC-B1A5-4A29-8958-82D1CBBF3529}"/>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EA4AB9B-3868-4640-B3DE-4FBF07AF02B8}"/>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3" name="">
            <a:extLst xmlns:a="http://schemas.openxmlformats.org/drawingml/2006/main">
              <a:ext uri="{FF2B5EF4-FFF2-40B4-BE49-F238E27FC236}">
                <a16:creationId xmlns:a16="http://schemas.microsoft.com/office/drawing/2014/main" id="{1D4CF161-794E-4964-A0C5-2BCBF828DF7B}"/>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4" name="">
            <a:extLst xmlns:a="http://schemas.openxmlformats.org/drawingml/2006/main">
              <a:ext uri="{FF2B5EF4-FFF2-40B4-BE49-F238E27FC236}">
                <a16:creationId xmlns:a16="http://schemas.microsoft.com/office/drawing/2014/main" id="{BDA19B38-162D-4984-A1CF-7E354F5613DD}"/>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5" name="">
            <a:extLst xmlns:a="http://schemas.openxmlformats.org/drawingml/2006/main">
              <a:ext uri="{FF2B5EF4-FFF2-40B4-BE49-F238E27FC236}">
                <a16:creationId xmlns:a16="http://schemas.microsoft.com/office/drawing/2014/main" id="{5C35306B-6D87-4D39-B40A-FA0BC56F5350}"/>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8A89EC5F-2FE7-4F5D-9959-7442C527CDB1}"/>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B56881F-7462-4E3F-B649-A4B82E6DB3F8}"/>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8" name="">
            <a:extLst xmlns:a="http://schemas.openxmlformats.org/drawingml/2006/main">
              <a:ext uri="{FF2B5EF4-FFF2-40B4-BE49-F238E27FC236}">
                <a16:creationId xmlns:a16="http://schemas.microsoft.com/office/drawing/2014/main" id="{42E9E0AB-5BD8-44D1-9749-A257849F4C14}"/>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9" name="">
            <a:extLst xmlns:a="http://schemas.openxmlformats.org/drawingml/2006/main">
              <a:ext uri="{FF2B5EF4-FFF2-40B4-BE49-F238E27FC236}">
                <a16:creationId xmlns:a16="http://schemas.microsoft.com/office/drawing/2014/main" id="{2A68AA85-A225-4BAC-BADE-94077C304D20}"/>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30" name="">
            <a:extLst xmlns:a="http://schemas.openxmlformats.org/drawingml/2006/main">
              <a:ext uri="{FF2B5EF4-FFF2-40B4-BE49-F238E27FC236}">
                <a16:creationId xmlns:a16="http://schemas.microsoft.com/office/drawing/2014/main" id="{A364107D-7E6A-4966-A3A1-8A716BF46D25}"/>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9406FEAA-431D-48B7-B3E6-455843650153}"/>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0B4BBD00-55E7-4105-AF03-943D9AEA26D5}"/>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3" name="">
            <a:extLst xmlns:a="http://schemas.openxmlformats.org/drawingml/2006/main">
              <a:ext uri="{FF2B5EF4-FFF2-40B4-BE49-F238E27FC236}">
                <a16:creationId xmlns:a16="http://schemas.microsoft.com/office/drawing/2014/main" id="{D307BE0F-BE7F-48C6-BA71-A59ABF34A625}"/>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4" name="">
            <a:extLst xmlns:a="http://schemas.openxmlformats.org/drawingml/2006/main">
              <a:ext uri="{FF2B5EF4-FFF2-40B4-BE49-F238E27FC236}">
                <a16:creationId xmlns:a16="http://schemas.microsoft.com/office/drawing/2014/main" id="{D7C94800-E8D8-4221-80D3-93C805F63150}"/>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5" name="">
            <a:extLst xmlns:a="http://schemas.openxmlformats.org/drawingml/2006/main">
              <a:ext uri="{FF2B5EF4-FFF2-40B4-BE49-F238E27FC236}">
                <a16:creationId xmlns:a16="http://schemas.microsoft.com/office/drawing/2014/main" id="{48F4082B-7B79-43C1-AFA3-8BA0FCC7A5F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BFEF69E-B870-4F8F-B63F-F335B5142ED1}"/>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1086679042"/>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57C9888-A89E-41E9-BCE0-704F3EE93B3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CA233DC5-1F63-42EE-B755-5B479677DC3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1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map reaches the task region but misses the New Slide control</a:t>
            </a:r>
          </a:p>
        </p:txBody>
      </p:sp>
      <p:sp>
        <p:nvSpPr>
          <p:cNvPr id="3" name="">
            <a:extLst xmlns:a="http://schemas.openxmlformats.org/drawingml/2006/main">
              <a:ext uri="{FF2B5EF4-FFF2-40B4-BE49-F238E27FC236}">
                <a16:creationId xmlns:a16="http://schemas.microsoft.com/office/drawing/2014/main" id="{9D87AA34-5D4A-4D2E-969D-8E2B5E7A9F5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787D92ED-C987-40A4-B61B-27235032ED47}"/>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sp>
        <p:nvSpPr>
          <p:cNvPr id="5" name="">
            <a:extLst xmlns:a="http://schemas.openxmlformats.org/drawingml/2006/main">
              <a:ext uri="{FF2B5EF4-FFF2-40B4-BE49-F238E27FC236}">
                <a16:creationId xmlns:a16="http://schemas.microsoft.com/office/drawing/2014/main" id="{E13AEEE3-5C87-4C49-8AE1-8F1EC3528696}"/>
              </a:ext>
            </a:extLst>
          </p:cNvPr>
          <p:cNvSpPr>
            <a:spLocks xmlns:a="http://schemas.openxmlformats.org/drawingml/2006/main" noGrp="1"/>
          </p:cNvSpPr>
          <p:nvPr/>
        </p:nvSpPr>
        <p:spPr>
          <a:xfrm xmlns:a="http://schemas.openxmlformats.org/drawingml/2006/main">
            <a:off x="5314950" y="115252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A8E4C73-EB74-4EEA-A084-1C42454B664F}"/>
              </a:ext>
            </a:extLst>
          </p:cNvPr>
          <p:cNvSpPr>
            <a:spLocks xmlns:a="http://schemas.openxmlformats.org/drawingml/2006/main" noGrp="1"/>
          </p:cNvSpPr>
          <p:nvPr/>
        </p:nvSpPr>
        <p:spPr>
          <a:xfrm xmlns:a="http://schemas.openxmlformats.org/drawingml/2006/main">
            <a:off x="5410200" y="117157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128d9b8806074221"/>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8" name="">
            <a:extLst xmlns:a="http://schemas.openxmlformats.org/drawingml/2006/main">
              <a:ext uri="{FF2B5EF4-FFF2-40B4-BE49-F238E27FC236}">
                <a16:creationId xmlns:a16="http://schemas.microsoft.com/office/drawing/2014/main" id="{4F4A11E3-FE3C-4DAF-9F0E-0EF47420A38D}"/>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956F40DD-8312-4DA8-8C1C-E02304D0D77C}"/>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6D24889-5AE3-431F-B32E-BAEC639109EB}"/>
              </a:ext>
            </a:extLst>
          </p:cNvPr>
          <p:cNvSpPr>
            <a:spLocks xmlns:a="http://schemas.openxmlformats.org/drawingml/2006/main" noGrp="1"/>
          </p:cNvSpPr>
          <p:nvPr/>
        </p:nvSpPr>
        <p:spPr>
          <a:xfrm xmlns:a="http://schemas.openxmlformats.org/drawingml/2006/main">
            <a:off x="8572500" y="1809750"/>
            <a:ext cx="14287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18DB22B-60FD-44BD-90C4-F42C3ABDB4E9}"/>
              </a:ext>
            </a:extLst>
          </p:cNvPr>
          <p:cNvSpPr>
            <a:spLocks xmlns:a="http://schemas.openxmlformats.org/drawingml/2006/main" noGrp="1"/>
          </p:cNvSpPr>
          <p:nvPr/>
        </p:nvSpPr>
        <p:spPr>
          <a:xfrm xmlns:a="http://schemas.openxmlformats.org/drawingml/2006/main">
            <a:off x="8667750" y="18288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F344F755-A50A-4FAF-BE84-7E8DFD80A99E}"/>
              </a:ext>
            </a:extLst>
          </p:cNvPr>
          <p:cNvSpPr>
            <a:spLocks xmlns:a="http://schemas.openxmlformats.org/drawingml/2006/main" noGrp="1"/>
          </p:cNvSpPr>
          <p:nvPr/>
        </p:nvSpPr>
        <p:spPr>
          <a:xfrm xmlns:a="http://schemas.openxmlformats.org/drawingml/2006/main">
            <a:off x="8572500" y="2343150"/>
            <a:ext cx="2571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067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differential map concentrates in the correct top-left task region…</a:t>
            </a:r>
          </a:p>
        </p:txBody>
      </p:sp>
      <p:sp>
        <p:nvSpPr>
          <p:cNvPr id="13" name="">
            <a:extLst xmlns:a="http://schemas.openxmlformats.org/drawingml/2006/main">
              <a:ext uri="{FF2B5EF4-FFF2-40B4-BE49-F238E27FC236}">
                <a16:creationId xmlns:a16="http://schemas.microsoft.com/office/drawing/2014/main" id="{65D00F2A-31BB-4FC9-A9CA-42E6862ED94E}"/>
              </a:ext>
            </a:extLst>
          </p:cNvPr>
          <p:cNvSpPr>
            <a:spLocks xmlns:a="http://schemas.openxmlformats.org/drawingml/2006/main" noGrp="1"/>
          </p:cNvSpPr>
          <p:nvPr/>
        </p:nvSpPr>
        <p:spPr>
          <a:xfrm xmlns:a="http://schemas.openxmlformats.org/drawingml/2006/main">
            <a:off x="8572500" y="3295650"/>
            <a:ext cx="2571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C5CFD8"/>
                </a:solidFill>
                <a:latin typeface="Helvetica Neue"/>
                <a:ea typeface="Helvetica Neue"/>
                <a:cs typeface="Helvetica Neue"/>
              </a:defRPr>
            </a:pPr>
            <a:r>
              <a:rPr sz="1350" b="0">
                <a:solidFill>
                  <a:srgbClr val="C5CFD8"/>
                </a:solidFill>
                <a:latin typeface="Helvetica Neue"/>
                <a:ea typeface="Helvetica Neue"/>
                <a:cs typeface="Helvetica Neue"/>
              </a:rPr>
              <a:t>…but its peak lands on the slide thumbnail, not the tiny New Slide button.</a:t>
            </a:r>
          </a:p>
        </p:txBody>
      </p:sp>
      <p:sp>
        <p:nvSpPr>
          <p:cNvPr id="14" name="">
            <a:extLst xmlns:a="http://schemas.openxmlformats.org/drawingml/2006/main">
              <a:ext uri="{FF2B5EF4-FFF2-40B4-BE49-F238E27FC236}">
                <a16:creationId xmlns:a16="http://schemas.microsoft.com/office/drawing/2014/main" id="{87904032-700E-4D67-9EF7-C6C07E245402}"/>
              </a:ext>
            </a:extLst>
          </p:cNvPr>
          <p:cNvSpPr>
            <a:spLocks xmlns:a="http://schemas.openxmlformats.org/drawingml/2006/main" noGrp="1"/>
          </p:cNvSpPr>
          <p:nvPr/>
        </p:nvSpPr>
        <p:spPr>
          <a:xfrm xmlns:a="http://schemas.openxmlformats.org/drawingml/2006/main">
            <a:off x="8572500" y="430530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117BC14-C01D-4066-A32E-FD9E78710C8D}"/>
              </a:ext>
            </a:extLst>
          </p:cNvPr>
          <p:cNvSpPr>
            <a:spLocks xmlns:a="http://schemas.openxmlformats.org/drawingml/2006/main" noGrp="1"/>
          </p:cNvSpPr>
          <p:nvPr/>
        </p:nvSpPr>
        <p:spPr>
          <a:xfrm xmlns:a="http://schemas.openxmlformats.org/drawingml/2006/main">
            <a:off x="8572500" y="451485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Predicted click</a:t>
            </a:r>
          </a:p>
        </p:txBody>
      </p:sp>
      <p:sp>
        <p:nvSpPr>
          <p:cNvPr id="16" name="">
            <a:extLst xmlns:a="http://schemas.openxmlformats.org/drawingml/2006/main">
              <a:ext uri="{FF2B5EF4-FFF2-40B4-BE49-F238E27FC236}">
                <a16:creationId xmlns:a16="http://schemas.microsoft.com/office/drawing/2014/main" id="{65A5D0F9-CAAC-4311-99F9-209E2CC398A5}"/>
              </a:ext>
            </a:extLst>
          </p:cNvPr>
          <p:cNvSpPr>
            <a:spLocks xmlns:a="http://schemas.openxmlformats.org/drawingml/2006/main" noGrp="1"/>
          </p:cNvSpPr>
          <p:nvPr/>
        </p:nvSpPr>
        <p:spPr>
          <a:xfrm xmlns:a="http://schemas.openxmlformats.org/drawingml/2006/main">
            <a:off x="9848850" y="448627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(331, 270)</a:t>
            </a:r>
          </a:p>
        </p:txBody>
      </p:sp>
      <p:sp>
        <p:nvSpPr>
          <p:cNvPr id="17" name="">
            <a:extLst xmlns:a="http://schemas.openxmlformats.org/drawingml/2006/main">
              <a:ext uri="{FF2B5EF4-FFF2-40B4-BE49-F238E27FC236}">
                <a16:creationId xmlns:a16="http://schemas.microsoft.com/office/drawing/2014/main" id="{5D744243-6E03-436B-958F-6EEAF39BEA07}"/>
              </a:ext>
            </a:extLst>
          </p:cNvPr>
          <p:cNvSpPr>
            <a:spLocks xmlns:a="http://schemas.openxmlformats.org/drawingml/2006/main" noGrp="1"/>
          </p:cNvSpPr>
          <p:nvPr/>
        </p:nvSpPr>
        <p:spPr>
          <a:xfrm xmlns:a="http://schemas.openxmlformats.org/drawingml/2006/main">
            <a:off x="8572500" y="4895850"/>
            <a:ext cx="1352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Prompt-diff peak</a:t>
            </a:r>
          </a:p>
        </p:txBody>
      </p:sp>
      <p:sp>
        <p:nvSpPr>
          <p:cNvPr id="18" name="">
            <a:extLst xmlns:a="http://schemas.openxmlformats.org/drawingml/2006/main">
              <a:ext uri="{FF2B5EF4-FFF2-40B4-BE49-F238E27FC236}">
                <a16:creationId xmlns:a16="http://schemas.microsoft.com/office/drawing/2014/main" id="{62A7EC2C-B626-4D22-8E69-68010129C7C9}"/>
              </a:ext>
            </a:extLst>
          </p:cNvPr>
          <p:cNvSpPr>
            <a:spLocks xmlns:a="http://schemas.openxmlformats.org/drawingml/2006/main" noGrp="1"/>
          </p:cNvSpPr>
          <p:nvPr/>
        </p:nvSpPr>
        <p:spPr>
          <a:xfrm xmlns:a="http://schemas.openxmlformats.org/drawingml/2006/main">
            <a:off x="9829800" y="4867275"/>
            <a:ext cx="1314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350" b="1">
                <a:solidFill>
                  <a:srgbClr val="F05A3C"/>
                </a:solidFill>
                <a:latin typeface="Helvetica Neue"/>
                <a:ea typeface="Helvetica Neue"/>
                <a:cs typeface="Helvetica Neue"/>
              </a:defRPr>
            </a:pPr>
            <a:r>
              <a:rPr sz="1350" b="1">
                <a:solidFill>
                  <a:srgbClr val="F05A3C"/>
                </a:solidFill>
                <a:latin typeface="Helvetica Neue"/>
                <a:ea typeface="Helvetica Neue"/>
                <a:cs typeface="Helvetica Neue"/>
              </a:rPr>
              <a:t>9.9% diag away</a:t>
            </a:r>
          </a:p>
        </p:txBody>
      </p:sp>
      <p:sp>
        <p:nvSpPr>
          <p:cNvPr id="19" name="">
            <a:extLst xmlns:a="http://schemas.openxmlformats.org/drawingml/2006/main">
              <a:ext uri="{FF2B5EF4-FFF2-40B4-BE49-F238E27FC236}">
                <a16:creationId xmlns:a16="http://schemas.microsoft.com/office/drawing/2014/main" id="{A5C5F461-0BC6-4D6D-8BD1-C0BC64A915DF}"/>
              </a:ext>
            </a:extLst>
          </p:cNvPr>
          <p:cNvSpPr>
            <a:spLocks xmlns:a="http://schemas.openxmlformats.org/drawingml/2006/main" noGrp="1"/>
          </p:cNvSpPr>
          <p:nvPr/>
        </p:nvSpPr>
        <p:spPr>
          <a:xfrm xmlns:a="http://schemas.openxmlformats.org/drawingml/2006/main">
            <a:off x="8572500" y="52768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F1C7BC"/>
                </a:solidFill>
                <a:latin typeface="Helvetica Neue"/>
                <a:ea typeface="Helvetica Neue"/>
                <a:cs typeface="Helvetica Neue"/>
              </a:defRPr>
            </a:pPr>
            <a:r>
              <a:rPr sz="975" b="0">
                <a:solidFill>
                  <a:srgbClr val="F1C7BC"/>
                </a:solidFill>
                <a:latin typeface="Helvetica Neue"/>
                <a:ea typeface="Helvetica Neue"/>
                <a:cs typeface="Helvetica Neue"/>
              </a:rPr>
              <a:t>Attention reaches the task region, while precise target binding remains off-control.</a:t>
            </a:r>
          </a:p>
        </p:txBody>
      </p:sp>
      <p:sp>
        <p:nvSpPr>
          <p:cNvPr id="20" name="">
            <a:extLst xmlns:a="http://schemas.openxmlformats.org/drawingml/2006/main">
              <a:ext uri="{FF2B5EF4-FFF2-40B4-BE49-F238E27FC236}">
                <a16:creationId xmlns:a16="http://schemas.microsoft.com/office/drawing/2014/main" id="{8BBA93EA-A9B1-4726-9485-EA42FECCE625}"/>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F3FE883-F890-4312-B31E-B194E451474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powerpoint_windows_48 · prompt-baseline stability 0.970 mean / 0.953 minimum</a:t>
            </a:r>
          </a:p>
        </p:txBody>
      </p:sp>
    </p:spTree>
    <p:extLst>
      <p:ext uri="{BB962C8B-B14F-4D97-AF65-F5344CB8AC3E}">
        <p14:creationId xmlns:p14="http://schemas.microsoft.com/office/powerpoint/2010/main" val="1469058823"/>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37C9A31C-AFE7-494E-8CCB-139A0C63A8F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62876E6D-AC7A-411F-9C1E-B94F5A95A634}"/>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Target-card saliency persists, but the click misses</a:t>
            </a:r>
          </a:p>
        </p:txBody>
      </p:sp>
      <p:sp>
        <p:nvSpPr>
          <p:cNvPr id="3" name="">
            <a:extLst xmlns:a="http://schemas.openxmlformats.org/drawingml/2006/main">
              <a:ext uri="{FF2B5EF4-FFF2-40B4-BE49-F238E27FC236}">
                <a16:creationId xmlns:a16="http://schemas.microsoft.com/office/drawing/2014/main" id="{A0AE3FEB-12A3-4DE9-9B11-C2B13E7FB1B9}"/>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7661B33D-0211-4F25-9671-D9C8D6D27567}"/>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Target minus same-history instruction ensemble for the final x/y coordinate tokens</a:t>
            </a:r>
          </a:p>
        </p:txBody>
      </p:sp>
      <p:sp>
        <p:nvSpPr>
          <p:cNvPr id="5" name="">
            <a:extLst xmlns:a="http://schemas.openxmlformats.org/drawingml/2006/main">
              <a:ext uri="{FF2B5EF4-FFF2-40B4-BE49-F238E27FC236}">
                <a16:creationId xmlns:a16="http://schemas.microsoft.com/office/drawing/2014/main" id="{91149542-C067-462C-B702-03646F342B19}"/>
              </a:ext>
            </a:extLst>
          </p:cNvPr>
          <p:cNvSpPr>
            <a:spLocks xmlns:a="http://schemas.openxmlformats.org/drawingml/2006/main" noGrp="1"/>
          </p:cNvSpPr>
          <p:nvPr/>
        </p:nvSpPr>
        <p:spPr>
          <a:xfrm xmlns:a="http://schemas.openxmlformats.org/drawingml/2006/main">
            <a:off x="9525000" y="1133475"/>
            <a:ext cx="20574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C049FE-CA09-4E72-B316-DC3D7D29B780}"/>
              </a:ext>
            </a:extLst>
          </p:cNvPr>
          <p:cNvSpPr>
            <a:spLocks xmlns:a="http://schemas.openxmlformats.org/drawingml/2006/main" noGrp="1"/>
          </p:cNvSpPr>
          <p:nvPr/>
        </p:nvSpPr>
        <p:spPr>
          <a:xfrm xmlns:a="http://schemas.openxmlformats.org/drawingml/2006/main">
            <a:off x="9620250" y="11525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CLICK</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2a4f59c84c0e4341"/>
          <a:srcRect xmlns:a="http://schemas.openxmlformats.org/drawingml/2006/main" l="74" t="0" r="74" b="0"/>
          <a:stretch xmlns:a="http://schemas.openxmlformats.org/drawingml/2006/main">
            <a:fillRect l="0" t="0" r="0" b="0"/>
          </a:stretch>
        </p:blipFill>
        <p:spPr>
          <a:xfrm xmlns:a="http://schemas.openxmlformats.org/drawingml/2006/main">
            <a:off x="609600" y="1581150"/>
            <a:ext cx="2571750" cy="1609725"/>
          </a:xfrm>
          <a:prstGeom xmlns:a="http://schemas.openxmlformats.org/drawingml/2006/main" prst="roundRect">
            <a:avLst>
              <a:gd name="adj" fmla="val 7101"/>
            </a:avLst>
          </a:prstGeom>
        </p:spPr>
      </p:pic>
      <p:sp>
        <p:nvSpPr>
          <p:cNvPr id="8" name="">
            <a:extLst xmlns:a="http://schemas.openxmlformats.org/drawingml/2006/main">
              <a:ext uri="{FF2B5EF4-FFF2-40B4-BE49-F238E27FC236}">
                <a16:creationId xmlns:a16="http://schemas.microsoft.com/office/drawing/2014/main" id="{9CFC6116-EF2F-4C07-84A1-102915CC6908}"/>
              </a:ext>
            </a:extLst>
          </p:cNvPr>
          <p:cNvSpPr>
            <a:spLocks xmlns:a="http://schemas.openxmlformats.org/drawingml/2006/main" noGrp="1"/>
          </p:cNvSpPr>
          <p:nvPr/>
        </p:nvSpPr>
        <p:spPr>
          <a:xfrm xmlns:a="http://schemas.openxmlformats.org/drawingml/2006/main">
            <a:off x="6096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F0251B2C-EF72-4561-AA38-5A4FC19BA897}"/>
              </a:ext>
            </a:extLst>
          </p:cNvPr>
          <p:cNvSpPr>
            <a:spLocks xmlns:a="http://schemas.openxmlformats.org/drawingml/2006/main" noGrp="1"/>
          </p:cNvSpPr>
          <p:nvPr/>
        </p:nvSpPr>
        <p:spPr>
          <a:xfrm xmlns:a="http://schemas.openxmlformats.org/drawingml/2006/main">
            <a:off x="7048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CFBC563-175C-4976-B905-299B02E3DCEE}"/>
              </a:ext>
            </a:extLst>
          </p:cNvPr>
          <p:cNvSpPr>
            <a:spLocks xmlns:a="http://schemas.openxmlformats.org/drawingml/2006/main" noGrp="1"/>
          </p:cNvSpPr>
          <p:nvPr/>
        </p:nvSpPr>
        <p:spPr>
          <a:xfrm xmlns:a="http://schemas.openxmlformats.org/drawingml/2006/main">
            <a:off x="8001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START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54cb69f1806c437f"/>
          <a:srcRect xmlns:a="http://schemas.openxmlformats.org/drawingml/2006/main" l="74" t="0" r="74" b="0"/>
          <a:stretch xmlns:a="http://schemas.openxmlformats.org/drawingml/2006/main">
            <a:fillRect l="0" t="0" r="0" b="0"/>
          </a:stretch>
        </p:blipFill>
        <p:spPr>
          <a:xfrm xmlns:a="http://schemas.openxmlformats.org/drawingml/2006/main">
            <a:off x="3333750" y="1581150"/>
            <a:ext cx="2571750" cy="1609725"/>
          </a:xfrm>
          <a:prstGeom xmlns:a="http://schemas.openxmlformats.org/drawingml/2006/main" prst="roundRect">
            <a:avLst>
              <a:gd name="adj" fmla="val 7101"/>
            </a:avLst>
          </a:prstGeom>
        </p:spPr>
      </p:pic>
      <p:sp>
        <p:nvSpPr>
          <p:cNvPr id="12" name="">
            <a:extLst xmlns:a="http://schemas.openxmlformats.org/drawingml/2006/main">
              <a:ext uri="{FF2B5EF4-FFF2-40B4-BE49-F238E27FC236}">
                <a16:creationId xmlns:a16="http://schemas.microsoft.com/office/drawing/2014/main" id="{9515F99C-9A68-4F65-9CBA-0254CE826D10}"/>
              </a:ext>
            </a:extLst>
          </p:cNvPr>
          <p:cNvSpPr>
            <a:spLocks xmlns:a="http://schemas.openxmlformats.org/drawingml/2006/main" noGrp="1"/>
          </p:cNvSpPr>
          <p:nvPr/>
        </p:nvSpPr>
        <p:spPr>
          <a:xfrm xmlns:a="http://schemas.openxmlformats.org/drawingml/2006/main">
            <a:off x="33337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C9DA188F-51E0-4523-B4F0-CB5460D32837}"/>
              </a:ext>
            </a:extLst>
          </p:cNvPr>
          <p:cNvSpPr>
            <a:spLocks xmlns:a="http://schemas.openxmlformats.org/drawingml/2006/main" noGrp="1"/>
          </p:cNvSpPr>
          <p:nvPr/>
        </p:nvSpPr>
        <p:spPr>
          <a:xfrm xmlns:a="http://schemas.openxmlformats.org/drawingml/2006/main">
            <a:off x="342900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3C18DAC-2683-4079-9A6E-40F3160E8A7E}"/>
              </a:ext>
            </a:extLst>
          </p:cNvPr>
          <p:cNvSpPr>
            <a:spLocks xmlns:a="http://schemas.openxmlformats.org/drawingml/2006/main" noGrp="1"/>
          </p:cNvSpPr>
          <p:nvPr/>
        </p:nvSpPr>
        <p:spPr>
          <a:xfrm xmlns:a="http://schemas.openxmlformats.org/drawingml/2006/main">
            <a:off x="35242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SCROLL 500</a:t>
            </a:r>
          </a:p>
        </p:txBody>
      </p:sp>
      <p:pic>
        <p:nvPicPr>
          <p:cNvPr id="64" name=""/>
          <p:cNvPicPr>
            <a:picLocks xmlns:a="http://schemas.openxmlformats.org/drawingml/2006/main" noChangeAspect="1"/>
          </p:cNvPicPr>
          <p:nvPr/>
        </p:nvPicPr>
        <p:blipFill>
          <a:blip xmlns:r="http://schemas.openxmlformats.org/officeDocument/2006/relationships" xmlns:a="http://schemas.openxmlformats.org/drawingml/2006/main" r:embed="R1f0c048cec4442f5"/>
          <a:srcRect xmlns:a="http://schemas.openxmlformats.org/drawingml/2006/main" l="74" t="0" r="74" b="0"/>
          <a:stretch xmlns:a="http://schemas.openxmlformats.org/drawingml/2006/main">
            <a:fillRect l="0" t="0" r="0" b="0"/>
          </a:stretch>
        </p:blipFill>
        <p:spPr>
          <a:xfrm xmlns:a="http://schemas.openxmlformats.org/drawingml/2006/main">
            <a:off x="6057900" y="1581150"/>
            <a:ext cx="2571750" cy="1609725"/>
          </a:xfrm>
          <a:prstGeom xmlns:a="http://schemas.openxmlformats.org/drawingml/2006/main" prst="roundRect">
            <a:avLst>
              <a:gd name="adj" fmla="val 7101"/>
            </a:avLst>
          </a:prstGeom>
        </p:spPr>
      </p:pic>
      <p:sp>
        <p:nvSpPr>
          <p:cNvPr id="16" name="">
            <a:extLst xmlns:a="http://schemas.openxmlformats.org/drawingml/2006/main">
              <a:ext uri="{FF2B5EF4-FFF2-40B4-BE49-F238E27FC236}">
                <a16:creationId xmlns:a16="http://schemas.microsoft.com/office/drawing/2014/main" id="{DC07C3B2-27CF-48AB-B7A7-D95A2E5BF471}"/>
              </a:ext>
            </a:extLst>
          </p:cNvPr>
          <p:cNvSpPr>
            <a:spLocks xmlns:a="http://schemas.openxmlformats.org/drawingml/2006/main" noGrp="1"/>
          </p:cNvSpPr>
          <p:nvPr/>
        </p:nvSpPr>
        <p:spPr>
          <a:xfrm xmlns:a="http://schemas.openxmlformats.org/drawingml/2006/main">
            <a:off x="605790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798630A7-9C12-42D1-B862-F640A09FDFF4}"/>
              </a:ext>
            </a:extLst>
          </p:cNvPr>
          <p:cNvSpPr>
            <a:spLocks xmlns:a="http://schemas.openxmlformats.org/drawingml/2006/main" noGrp="1"/>
          </p:cNvSpPr>
          <p:nvPr/>
        </p:nvSpPr>
        <p:spPr>
          <a:xfrm xmlns:a="http://schemas.openxmlformats.org/drawingml/2006/main">
            <a:off x="6153150" y="3295650"/>
            <a:ext cx="2095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495D0A2-E41A-4C9E-8CC3-CFD1DE67E203}"/>
              </a:ext>
            </a:extLst>
          </p:cNvPr>
          <p:cNvSpPr>
            <a:spLocks xmlns:a="http://schemas.openxmlformats.org/drawingml/2006/main" noGrp="1"/>
          </p:cNvSpPr>
          <p:nvPr/>
        </p:nvSpPr>
        <p:spPr>
          <a:xfrm xmlns:a="http://schemas.openxmlformats.org/drawingml/2006/main">
            <a:off x="624840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TARGET APPEARS</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dac4423405284a3d"/>
          <a:srcRect xmlns:a="http://schemas.openxmlformats.org/drawingml/2006/main" l="74" t="0" r="74" b="0"/>
          <a:stretch xmlns:a="http://schemas.openxmlformats.org/drawingml/2006/main">
            <a:fillRect l="0" t="0" r="0" b="0"/>
          </a:stretch>
        </p:blipFill>
        <p:spPr>
          <a:xfrm xmlns:a="http://schemas.openxmlformats.org/drawingml/2006/main">
            <a:off x="8782050" y="1581150"/>
            <a:ext cx="2571750" cy="1609725"/>
          </a:xfrm>
          <a:prstGeom xmlns:a="http://schemas.openxmlformats.org/drawingml/2006/main" prst="roundRect">
            <a:avLst>
              <a:gd name="adj" fmla="val 7101"/>
            </a:avLst>
          </a:prstGeom>
        </p:spPr>
      </p:pic>
      <p:sp>
        <p:nvSpPr>
          <p:cNvPr id="20" name="">
            <a:extLst xmlns:a="http://schemas.openxmlformats.org/drawingml/2006/main">
              <a:ext uri="{FF2B5EF4-FFF2-40B4-BE49-F238E27FC236}">
                <a16:creationId xmlns:a16="http://schemas.microsoft.com/office/drawing/2014/main" id="{B59D1432-CCDC-482A-9502-2700EE0FDBDC}"/>
              </a:ext>
            </a:extLst>
          </p:cNvPr>
          <p:cNvSpPr>
            <a:spLocks xmlns:a="http://schemas.openxmlformats.org/drawingml/2006/main" noGrp="1"/>
          </p:cNvSpPr>
          <p:nvPr/>
        </p:nvSpPr>
        <p:spPr>
          <a:xfrm xmlns:a="http://schemas.openxmlformats.org/drawingml/2006/main">
            <a:off x="8782050" y="1581150"/>
            <a:ext cx="2571750" cy="1609725"/>
          </a:xfrm>
          <a:prstGeom xmlns:a="http://schemas.openxmlformats.org/drawingml/2006/main" prst="roundRect">
            <a:avLst>
              <a:gd name="adj" fmla="val 4734"/>
            </a:avLst>
          </a:prstGeom>
          <a:noFill xmlns:a="http://schemas.openxmlformats.org/drawingml/2006/main"/>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8A52209E-AFE7-4572-A358-2305510E75F8}"/>
              </a:ext>
            </a:extLst>
          </p:cNvPr>
          <p:cNvSpPr>
            <a:spLocks xmlns:a="http://schemas.openxmlformats.org/drawingml/2006/main" noGrp="1"/>
          </p:cNvSpPr>
          <p:nvPr/>
        </p:nvSpPr>
        <p:spPr>
          <a:xfrm xmlns:a="http://schemas.openxmlformats.org/drawingml/2006/main">
            <a:off x="8877300" y="3295650"/>
            <a:ext cx="2095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FFF06133-7171-4652-AD3F-C761880AF8E2}"/>
              </a:ext>
            </a:extLst>
          </p:cNvPr>
          <p:cNvSpPr>
            <a:spLocks xmlns:a="http://schemas.openxmlformats.org/drawingml/2006/main" noGrp="1"/>
          </p:cNvSpPr>
          <p:nvPr/>
        </p:nvSpPr>
        <p:spPr>
          <a:xfrm xmlns:a="http://schemas.openxmlformats.org/drawingml/2006/main">
            <a:off x="8972550" y="3314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3 · CLICK</a:t>
            </a:r>
          </a:p>
        </p:txBody>
      </p:sp>
      <p:sp>
        <p:nvSpPr>
          <p:cNvPr id="23" name="">
            <a:extLst xmlns:a="http://schemas.openxmlformats.org/drawingml/2006/main">
              <a:ext uri="{FF2B5EF4-FFF2-40B4-BE49-F238E27FC236}">
                <a16:creationId xmlns:a16="http://schemas.microsoft.com/office/drawing/2014/main" id="{D6902CB4-733F-4686-B7BF-BA02A6520606}"/>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76200">
            <a:solidFill>
              <a:srgbClr val="10151C"/>
            </a:solidFill>
          </a:ln>
        </p:spPr>
      </p:sp>
      <p:sp>
        <p:nvSpPr>
          <p:cNvPr id="24" name="">
            <a:extLst xmlns:a="http://schemas.openxmlformats.org/drawingml/2006/main">
              <a:ext uri="{FF2B5EF4-FFF2-40B4-BE49-F238E27FC236}">
                <a16:creationId xmlns:a16="http://schemas.microsoft.com/office/drawing/2014/main" id="{EB625C17-1EEE-4D8E-A992-8D765EE35581}"/>
              </a:ext>
            </a:extLst>
          </p:cNvPr>
          <p:cNvSpPr>
            <a:spLocks xmlns:a="http://schemas.openxmlformats.org/drawingml/2006/main" noGrp="1"/>
          </p:cNvSpPr>
          <p:nvPr/>
        </p:nvSpPr>
        <p:spPr>
          <a:xfrm xmlns:a="http://schemas.openxmlformats.org/drawingml/2006/main">
            <a:off x="10558463" y="1670209"/>
            <a:ext cx="304800" cy="304800"/>
          </a:xfrm>
          <a:prstGeom xmlns:a="http://schemas.openxmlformats.org/drawingml/2006/main" prst="ellipse">
            <a:avLst/>
          </a:prstGeom>
          <a:noFill xmlns:a="http://schemas.openxmlformats.org/drawingml/2006/main"/>
          <a:ln xmlns:a="http://schemas.openxmlformats.org/drawingml/2006/main" w="28575">
            <a:solidFill>
              <a:srgbClr val="FFFFFF"/>
            </a:solidFill>
          </a:ln>
        </p:spPr>
      </p:sp>
      <p:sp>
        <p:nvSpPr>
          <p:cNvPr id="25" name="">
            <a:extLst xmlns:a="http://schemas.openxmlformats.org/drawingml/2006/main">
              <a:ext uri="{FF2B5EF4-FFF2-40B4-BE49-F238E27FC236}">
                <a16:creationId xmlns:a16="http://schemas.microsoft.com/office/drawing/2014/main" id="{0A6954BA-CF76-4A25-A0E2-CCF71BCAF1B5}"/>
              </a:ext>
            </a:extLst>
          </p:cNvPr>
          <p:cNvSpPr>
            <a:spLocks xmlns:a="http://schemas.openxmlformats.org/drawingml/2006/main" noGrp="1"/>
          </p:cNvSpPr>
          <p:nvPr/>
        </p:nvSpPr>
        <p:spPr>
          <a:xfrm xmlns:a="http://schemas.openxmlformats.org/drawingml/2006/main">
            <a:off x="10501313" y="1784509"/>
            <a:ext cx="419100" cy="762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24D7A05-8FC9-422A-AC0F-F45806DB2BF4}"/>
              </a:ext>
            </a:extLst>
          </p:cNvPr>
          <p:cNvSpPr>
            <a:spLocks xmlns:a="http://schemas.openxmlformats.org/drawingml/2006/main" noGrp="1"/>
          </p:cNvSpPr>
          <p:nvPr/>
        </p:nvSpPr>
        <p:spPr>
          <a:xfrm xmlns:a="http://schemas.openxmlformats.org/drawingml/2006/main">
            <a:off x="10672763" y="1613059"/>
            <a:ext cx="76200" cy="419100"/>
          </a:xfrm>
          <a:prstGeom xmlns:a="http://schemas.openxmlformats.org/drawingml/2006/main" prst="roundRect">
            <a:avLst>
              <a:gd name="adj" fmla="val 50000"/>
            </a:avLst>
          </a:prstGeom>
          <a:solidFill xmlns:a="http://schemas.openxmlformats.org/drawingml/2006/main">
            <a:srgbClr val="10151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88F4A9B-459D-4801-B8C6-715D0581DBA5}"/>
              </a:ext>
            </a:extLst>
          </p:cNvPr>
          <p:cNvSpPr>
            <a:spLocks xmlns:a="http://schemas.openxmlformats.org/drawingml/2006/main" noGrp="1"/>
          </p:cNvSpPr>
          <p:nvPr/>
        </p:nvSpPr>
        <p:spPr>
          <a:xfrm xmlns:a="http://schemas.openxmlformats.org/drawingml/2006/main">
            <a:off x="10501313" y="1808321"/>
            <a:ext cx="419100" cy="28575"/>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4C8680F-C2FF-4460-8FBB-45E691622D72}"/>
              </a:ext>
            </a:extLst>
          </p:cNvPr>
          <p:cNvSpPr>
            <a:spLocks xmlns:a="http://schemas.openxmlformats.org/drawingml/2006/main" noGrp="1"/>
          </p:cNvSpPr>
          <p:nvPr/>
        </p:nvSpPr>
        <p:spPr>
          <a:xfrm xmlns:a="http://schemas.openxmlformats.org/drawingml/2006/main">
            <a:off x="10696575" y="1613059"/>
            <a:ext cx="28575" cy="4191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C842B2A1-BBB0-4A17-A2A5-1E42B6423302}"/>
              </a:ext>
            </a:extLst>
          </p:cNvPr>
          <p:cNvSpPr>
            <a:spLocks xmlns:a="http://schemas.openxmlformats.org/drawingml/2006/main" noGrp="1"/>
          </p:cNvSpPr>
          <p:nvPr/>
        </p:nvSpPr>
        <p:spPr>
          <a:xfrm xmlns:a="http://schemas.openxmlformats.org/drawingml/2006/main">
            <a:off x="6096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0" name="">
            <a:extLst xmlns:a="http://schemas.openxmlformats.org/drawingml/2006/main">
              <a:ext uri="{FF2B5EF4-FFF2-40B4-BE49-F238E27FC236}">
                <a16:creationId xmlns:a16="http://schemas.microsoft.com/office/drawing/2014/main" id="{D729D012-6439-4C09-BCBF-5CB903D70CEF}"/>
              </a:ext>
            </a:extLst>
          </p:cNvPr>
          <p:cNvSpPr>
            <a:spLocks xmlns:a="http://schemas.openxmlformats.org/drawingml/2006/main" noGrp="1"/>
          </p:cNvSpPr>
          <p:nvPr/>
        </p:nvSpPr>
        <p:spPr>
          <a:xfrm xmlns:a="http://schemas.openxmlformats.org/drawingml/2006/main">
            <a:off x="609600" y="379095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335C2057-6CD0-4BAE-8A39-B381DCE7F68E}"/>
              </a:ext>
            </a:extLst>
          </p:cNvPr>
          <p:cNvSpPr>
            <a:spLocks xmlns:a="http://schemas.openxmlformats.org/drawingml/2006/main" noGrp="1"/>
          </p:cNvSpPr>
          <p:nvPr/>
        </p:nvSpPr>
        <p:spPr>
          <a:xfrm xmlns:a="http://schemas.openxmlformats.org/drawingml/2006/main">
            <a:off x="8001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FRAME 2 TARGET-CARD LIFT</a:t>
            </a:r>
          </a:p>
        </p:txBody>
      </p:sp>
      <p:sp>
        <p:nvSpPr>
          <p:cNvPr id="32" name="">
            <a:extLst xmlns:a="http://schemas.openxmlformats.org/drawingml/2006/main">
              <a:ext uri="{FF2B5EF4-FFF2-40B4-BE49-F238E27FC236}">
                <a16:creationId xmlns:a16="http://schemas.microsoft.com/office/drawing/2014/main" id="{D1BB5A9B-683A-4956-A918-3BCA1934A62D}"/>
              </a:ext>
            </a:extLst>
          </p:cNvPr>
          <p:cNvSpPr>
            <a:spLocks xmlns:a="http://schemas.openxmlformats.org/drawingml/2006/main" noGrp="1"/>
          </p:cNvSpPr>
          <p:nvPr/>
        </p:nvSpPr>
        <p:spPr>
          <a:xfrm xmlns:a="http://schemas.openxmlformats.org/drawingml/2006/main">
            <a:off x="8001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2.78×</a:t>
            </a:r>
          </a:p>
        </p:txBody>
      </p:sp>
      <p:sp>
        <p:nvSpPr>
          <p:cNvPr id="33" name="">
            <a:extLst xmlns:a="http://schemas.openxmlformats.org/drawingml/2006/main">
              <a:ext uri="{FF2B5EF4-FFF2-40B4-BE49-F238E27FC236}">
                <a16:creationId xmlns:a16="http://schemas.microsoft.com/office/drawing/2014/main" id="{5195C6EA-6F97-453A-B8F0-FB2F4E4AF2A5}"/>
              </a:ext>
            </a:extLst>
          </p:cNvPr>
          <p:cNvSpPr>
            <a:spLocks xmlns:a="http://schemas.openxmlformats.org/drawingml/2006/main" noGrp="1"/>
          </p:cNvSpPr>
          <p:nvPr/>
        </p:nvSpPr>
        <p:spPr>
          <a:xfrm xmlns:a="http://schemas.openxmlformats.org/drawingml/2006/main">
            <a:off x="8001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target button at viewport edge</a:t>
            </a:r>
          </a:p>
        </p:txBody>
      </p:sp>
      <p:sp>
        <p:nvSpPr>
          <p:cNvPr id="34" name="">
            <a:extLst xmlns:a="http://schemas.openxmlformats.org/drawingml/2006/main">
              <a:ext uri="{FF2B5EF4-FFF2-40B4-BE49-F238E27FC236}">
                <a16:creationId xmlns:a16="http://schemas.microsoft.com/office/drawing/2014/main" id="{8888DD89-106C-4B60-A343-1223234C2EFC}"/>
              </a:ext>
            </a:extLst>
          </p:cNvPr>
          <p:cNvSpPr>
            <a:spLocks xmlns:a="http://schemas.openxmlformats.org/drawingml/2006/main" noGrp="1"/>
          </p:cNvSpPr>
          <p:nvPr/>
        </p:nvSpPr>
        <p:spPr>
          <a:xfrm xmlns:a="http://schemas.openxmlformats.org/drawingml/2006/main">
            <a:off x="4114800" y="379095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5" name="">
            <a:extLst xmlns:a="http://schemas.openxmlformats.org/drawingml/2006/main">
              <a:ext uri="{FF2B5EF4-FFF2-40B4-BE49-F238E27FC236}">
                <a16:creationId xmlns:a16="http://schemas.microsoft.com/office/drawing/2014/main" id="{9853C22E-DB8E-4DAB-8AFE-6CFFCA4B3871}"/>
              </a:ext>
            </a:extLst>
          </p:cNvPr>
          <p:cNvSpPr>
            <a:spLocks xmlns:a="http://schemas.openxmlformats.org/drawingml/2006/main" noGrp="1"/>
          </p:cNvSpPr>
          <p:nvPr/>
        </p:nvSpPr>
        <p:spPr>
          <a:xfrm xmlns:a="http://schemas.openxmlformats.org/drawingml/2006/main">
            <a:off x="41148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7DEEE9EB-9F80-45C3-95E5-902BD2EBEA6A}"/>
              </a:ext>
            </a:extLst>
          </p:cNvPr>
          <p:cNvSpPr>
            <a:spLocks xmlns:a="http://schemas.openxmlformats.org/drawingml/2006/main" noGrp="1"/>
          </p:cNvSpPr>
          <p:nvPr/>
        </p:nvSpPr>
        <p:spPr>
          <a:xfrm xmlns:a="http://schemas.openxmlformats.org/drawingml/2006/main">
            <a:off x="4305300" y="392430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FRAME 3 TARGET-CARD LIFT</a:t>
            </a:r>
          </a:p>
        </p:txBody>
      </p:sp>
      <p:sp>
        <p:nvSpPr>
          <p:cNvPr id="37" name="">
            <a:extLst xmlns:a="http://schemas.openxmlformats.org/drawingml/2006/main">
              <a:ext uri="{FF2B5EF4-FFF2-40B4-BE49-F238E27FC236}">
                <a16:creationId xmlns:a16="http://schemas.microsoft.com/office/drawing/2014/main" id="{23EF3CAE-FEB3-497D-B2D4-377959130A84}"/>
              </a:ext>
            </a:extLst>
          </p:cNvPr>
          <p:cNvSpPr>
            <a:spLocks xmlns:a="http://schemas.openxmlformats.org/drawingml/2006/main" noGrp="1"/>
          </p:cNvSpPr>
          <p:nvPr/>
        </p:nvSpPr>
        <p:spPr>
          <a:xfrm xmlns:a="http://schemas.openxmlformats.org/drawingml/2006/main">
            <a:off x="4305300" y="411480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8.59×</a:t>
            </a:r>
          </a:p>
        </p:txBody>
      </p:sp>
      <p:sp>
        <p:nvSpPr>
          <p:cNvPr id="38" name="">
            <a:extLst xmlns:a="http://schemas.openxmlformats.org/drawingml/2006/main">
              <a:ext uri="{FF2B5EF4-FFF2-40B4-BE49-F238E27FC236}">
                <a16:creationId xmlns:a16="http://schemas.microsoft.com/office/drawing/2014/main" id="{E27246BF-030D-44F6-8516-9AA2CC68581F}"/>
              </a:ext>
            </a:extLst>
          </p:cNvPr>
          <p:cNvSpPr>
            <a:spLocks xmlns:a="http://schemas.openxmlformats.org/drawingml/2006/main" noGrp="1"/>
          </p:cNvSpPr>
          <p:nvPr/>
        </p:nvSpPr>
        <p:spPr>
          <a:xfrm xmlns:a="http://schemas.openxmlformats.org/drawingml/2006/main">
            <a:off x="4305300" y="452437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current-frame prompt differential</a:t>
            </a:r>
          </a:p>
        </p:txBody>
      </p:sp>
      <p:sp>
        <p:nvSpPr>
          <p:cNvPr id="39" name="">
            <a:extLst xmlns:a="http://schemas.openxmlformats.org/drawingml/2006/main">
              <a:ext uri="{FF2B5EF4-FFF2-40B4-BE49-F238E27FC236}">
                <a16:creationId xmlns:a16="http://schemas.microsoft.com/office/drawing/2014/main" id="{088FAC16-2C27-4D5C-A238-41E7C78105CA}"/>
              </a:ext>
            </a:extLst>
          </p:cNvPr>
          <p:cNvSpPr>
            <a:spLocks xmlns:a="http://schemas.openxmlformats.org/drawingml/2006/main" noGrp="1"/>
          </p:cNvSpPr>
          <p:nvPr/>
        </p:nvSpPr>
        <p:spPr>
          <a:xfrm xmlns:a="http://schemas.openxmlformats.org/drawingml/2006/main">
            <a:off x="7620000" y="379095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40" name="">
            <a:extLst xmlns:a="http://schemas.openxmlformats.org/drawingml/2006/main">
              <a:ext uri="{FF2B5EF4-FFF2-40B4-BE49-F238E27FC236}">
                <a16:creationId xmlns:a16="http://schemas.microsoft.com/office/drawing/2014/main" id="{44AA19F1-1791-431B-9F02-28574F417FC4}"/>
              </a:ext>
            </a:extLst>
          </p:cNvPr>
          <p:cNvSpPr>
            <a:spLocks xmlns:a="http://schemas.openxmlformats.org/drawingml/2006/main" noGrp="1"/>
          </p:cNvSpPr>
          <p:nvPr/>
        </p:nvSpPr>
        <p:spPr>
          <a:xfrm xmlns:a="http://schemas.openxmlformats.org/drawingml/2006/main">
            <a:off x="7620000" y="379095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DEBF63B1-2EAA-4154-816A-C6D8C21005A5}"/>
              </a:ext>
            </a:extLst>
          </p:cNvPr>
          <p:cNvSpPr>
            <a:spLocks xmlns:a="http://schemas.openxmlformats.org/drawingml/2006/main" noGrp="1"/>
          </p:cNvSpPr>
          <p:nvPr/>
        </p:nvSpPr>
        <p:spPr>
          <a:xfrm xmlns:a="http://schemas.openxmlformats.org/drawingml/2006/main">
            <a:off x="7810500" y="392430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ISSUED CLICK</a:t>
            </a:r>
          </a:p>
        </p:txBody>
      </p:sp>
      <p:sp>
        <p:nvSpPr>
          <p:cNvPr id="42" name="">
            <a:extLst xmlns:a="http://schemas.openxmlformats.org/drawingml/2006/main">
              <a:ext uri="{FF2B5EF4-FFF2-40B4-BE49-F238E27FC236}">
                <a16:creationId xmlns:a16="http://schemas.microsoft.com/office/drawing/2014/main" id="{755ACE70-22DE-4400-AE98-71E35B370036}"/>
              </a:ext>
            </a:extLst>
          </p:cNvPr>
          <p:cNvSpPr>
            <a:spLocks xmlns:a="http://schemas.openxmlformats.org/drawingml/2006/main" noGrp="1"/>
          </p:cNvSpPr>
          <p:nvPr/>
        </p:nvSpPr>
        <p:spPr>
          <a:xfrm xmlns:a="http://schemas.openxmlformats.org/drawingml/2006/main">
            <a:off x="7810500" y="411480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MISS</a:t>
            </a:r>
          </a:p>
        </p:txBody>
      </p:sp>
      <p:sp>
        <p:nvSpPr>
          <p:cNvPr id="43" name="">
            <a:extLst xmlns:a="http://schemas.openxmlformats.org/drawingml/2006/main">
              <a:ext uri="{FF2B5EF4-FFF2-40B4-BE49-F238E27FC236}">
                <a16:creationId xmlns:a16="http://schemas.microsoft.com/office/drawing/2014/main" id="{B020B6F0-DC50-47E0-965B-4FDBCD189DC3}"/>
              </a:ext>
            </a:extLst>
          </p:cNvPr>
          <p:cNvSpPr>
            <a:spLocks xmlns:a="http://schemas.openxmlformats.org/drawingml/2006/main" noGrp="1"/>
          </p:cNvSpPr>
          <p:nvPr/>
        </p:nvSpPr>
        <p:spPr>
          <a:xfrm xmlns:a="http://schemas.openxmlformats.org/drawingml/2006/main">
            <a:off x="7810500" y="452437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(960,120): correct card, wrong affordance</a:t>
            </a:r>
          </a:p>
        </p:txBody>
      </p:sp>
      <p:sp>
        <p:nvSpPr>
          <p:cNvPr id="44" name="">
            <a:extLst xmlns:a="http://schemas.openxmlformats.org/drawingml/2006/main">
              <a:ext uri="{FF2B5EF4-FFF2-40B4-BE49-F238E27FC236}">
                <a16:creationId xmlns:a16="http://schemas.microsoft.com/office/drawing/2014/main" id="{5F475E64-5A7F-4D31-A4E7-C2D19974E0F9}"/>
              </a:ext>
            </a:extLst>
          </p:cNvPr>
          <p:cNvSpPr>
            <a:spLocks xmlns:a="http://schemas.openxmlformats.org/drawingml/2006/main" noGrp="1"/>
          </p:cNvSpPr>
          <p:nvPr/>
        </p:nvSpPr>
        <p:spPr>
          <a:xfrm xmlns:a="http://schemas.openxmlformats.org/drawingml/2006/main">
            <a:off x="609600" y="5048250"/>
            <a:ext cx="10972800" cy="1028700"/>
          </a:xfrm>
          <a:prstGeom xmlns:a="http://schemas.openxmlformats.org/drawingml/2006/main" prst="roundRect">
            <a:avLst>
              <a:gd name="adj" fmla="val 7407"/>
            </a:avLst>
          </a:prstGeom>
          <a:solidFill xmlns:a="http://schemas.openxmlformats.org/drawingml/2006/main">
            <a:srgbClr val="1C2733"/>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ADBEC4F-7CDD-40C6-9545-04B91EE88580}"/>
              </a:ext>
            </a:extLst>
          </p:cNvPr>
          <p:cNvSpPr>
            <a:spLocks xmlns:a="http://schemas.openxmlformats.org/drawingml/2006/main" noGrp="1"/>
          </p:cNvSpPr>
          <p:nvPr/>
        </p:nvSpPr>
        <p:spPr>
          <a:xfrm xmlns:a="http://schemas.openxmlformats.org/drawingml/2006/main">
            <a:off x="857250" y="5248275"/>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Interpretation</a:t>
            </a:r>
          </a:p>
        </p:txBody>
      </p:sp>
      <p:sp>
        <p:nvSpPr>
          <p:cNvPr id="46" name="">
            <a:extLst xmlns:a="http://schemas.openxmlformats.org/drawingml/2006/main">
              <a:ext uri="{FF2B5EF4-FFF2-40B4-BE49-F238E27FC236}">
                <a16:creationId xmlns:a16="http://schemas.microsoft.com/office/drawing/2014/main" id="{74C074DF-27FC-4E7E-9A36-DAA6C28FC4D0}"/>
              </a:ext>
            </a:extLst>
          </p:cNvPr>
          <p:cNvSpPr>
            <a:spLocks xmlns:a="http://schemas.openxmlformats.org/drawingml/2006/main" noGrp="1"/>
          </p:cNvSpPr>
          <p:nvPr/>
        </p:nvSpPr>
        <p:spPr>
          <a:xfrm xmlns:a="http://schemas.openxmlformats.org/drawingml/2006/main">
            <a:off x="857250" y="5514975"/>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7641"/>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Target-card evidence persists across frames. Final control localization still fails.</a:t>
            </a:r>
          </a:p>
        </p:txBody>
      </p:sp>
      <p:sp>
        <p:nvSpPr>
          <p:cNvPr id="47" name="">
            <a:extLst xmlns:a="http://schemas.openxmlformats.org/drawingml/2006/main">
              <a:ext uri="{FF2B5EF4-FFF2-40B4-BE49-F238E27FC236}">
                <a16:creationId xmlns:a16="http://schemas.microsoft.com/office/drawing/2014/main" id="{B2E2D787-5F30-478C-A155-63ED9F19CEDC}"/>
              </a:ext>
            </a:extLst>
          </p:cNvPr>
          <p:cNvSpPr>
            <a:spLocks xmlns:a="http://schemas.openxmlformats.org/drawingml/2006/main" noGrp="1"/>
          </p:cNvSpPr>
          <p:nvPr/>
        </p:nvSpPr>
        <p:spPr>
          <a:xfrm xmlns:a="http://schemas.openxmlformats.org/drawingml/2006/main">
            <a:off x="7620000" y="5219700"/>
            <a:ext cx="3562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Shifted-layout follow-up: £122 gets 4.12× causal lift vs 0.81× for £135, yet the malformed click still misses.</a:t>
            </a:r>
          </a:p>
        </p:txBody>
      </p:sp>
      <p:sp>
        <p:nvSpPr>
          <p:cNvPr id="48" name="">
            <a:extLst xmlns:a="http://schemas.openxmlformats.org/drawingml/2006/main">
              <a:ext uri="{FF2B5EF4-FFF2-40B4-BE49-F238E27FC236}">
                <a16:creationId xmlns:a16="http://schemas.microsoft.com/office/drawing/2014/main" id="{8E6BA8D6-F9EE-4EAB-99F7-E7EBC9F1F29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0699BA7D-7875-46BF-9EC5-BDF5B83659D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Resolution caveat: 1280×800 source → 640×384 vision raster → 20×12 merged-token map · button ≈ 1.6×1.0 token</a:t>
            </a:r>
          </a:p>
        </p:txBody>
      </p:sp>
    </p:spTree>
    <p:extLst>
      <p:ext uri="{BB962C8B-B14F-4D97-AF65-F5344CB8AC3E}">
        <p14:creationId xmlns:p14="http://schemas.microsoft.com/office/powerpoint/2010/main" val="1550107541"/>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94E3CA3D-E5B8-4718-86A5-847D3147382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3EB40D53-853B-4D43-866A-006366562DE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A704F513-14CD-444B-A186-EFCEAF7F71D5}"/>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121F7017-1255-49E9-A7B7-C39A9667DADD}"/>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90AEA5CB-0685-494B-BB77-FAEEA84CA1A7}"/>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C87B4811-131B-43CB-BAC8-07CC02460CEF}"/>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583C729C-09CF-4E56-95BD-AB329EAA37EB}"/>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35F610F-E79C-40A0-AF75-CF7C6401EE07}"/>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A8119A4-12A2-40BB-A110-9896DECEB906}"/>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3CC39B69-BEAC-4F77-807E-64333813A0AA}"/>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6ECDC3D8-F50C-4EFE-B4AF-E0D6D891361F}"/>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F44B2D7-CB55-4597-BD42-E3C3F4D5D90E}"/>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CAB3CEA-16B1-4490-A15F-ECEA6D6DE2FD}"/>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2AD64494-C934-4AB7-BDAD-121BD997F50C}"/>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964FA35C-10BE-4A52-9849-64F9B957458C}"/>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B60462A-7072-472E-96B8-1704A526A6B4}"/>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766E32F-EEF5-404A-B5BA-D5E24ABC5CFC}"/>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4558E525-2F81-4FF1-ABDA-6872FD9F0CB8}"/>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D861C525-6E09-47CF-8F31-E34DCE71B023}"/>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F8C5AAA-9631-4A5F-A99B-C811ECCCE1F2}"/>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30497FB-B516-4334-B4C9-A7519186C773}"/>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653D5000-63BF-420F-BAA1-9B50101AB556}"/>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2F3466A0-7486-4F22-85B3-B85A67EAE48E}"/>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505AB8B-8134-460E-AF3E-4A9150089E3D}"/>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6D837C3-A579-49AE-81C5-FB85A2725A75}"/>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7EE101FA-B433-4A1C-BDE9-6E4FA2A8515E}"/>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179A15F2-A9DB-4808-A7CE-03576C057BFB}"/>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B1B6B3CF-AF3C-437C-AE7B-2F10CAC11E5D}"/>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B266C359-A84F-4829-A203-D892F5B65A3B}"/>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0724B193-246A-4491-9A3A-22B262BA6D70}"/>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37692651-C739-4336-A35B-2D10CB5C1D8C}"/>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8FBC96D9-4B86-4DAA-BEBE-704EF0A1D2A0}"/>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34B9BF3-9547-49BD-A2F3-A9895F925E5B}"/>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28D7D7C7-390F-4445-87E8-3A45BA0DD0D0}"/>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F7E7F43E-397A-4D8C-9D88-21C129E74A31}"/>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AD51EA8D-D1AD-4B77-BB97-9E1E05CAE31B}"/>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5B2C5C7A-1CB9-46CF-992A-1B69228849D4}"/>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26428E95-70D6-4C41-8547-201DE3391EEE}"/>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9F2EDB66-AC87-4440-B8E4-871ED7918310}"/>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094BE0D1-55E4-4661-B165-DABD702A4623}"/>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154D1A42-F1C8-4FDE-B131-E2511AA0D3A4}"/>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964B8D24-E607-4B0E-87A2-5CC723A03322}"/>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B09D1187-B294-4BCE-977D-59F6488296B9}"/>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376C913D-D2FB-4270-A9DA-49E435E05FDF}"/>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F40BE52B-D40D-4779-99A7-6C052A964DE5}"/>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7D2881B0-66F1-4523-8C7F-A0EE353D8F8B}"/>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F9F7884C-E5F9-4C17-9D88-A567E5A1006D}"/>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F3275C82-93D3-488F-B0ED-D2E7ED64AB93}"/>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9EB66BA5-F983-45B5-AB5C-4B0772AC9ED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389692985"/>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3763B9F-EC24-4263-8231-C2760CA589B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EF1C74F5-F915-4E9F-84C2-7B7D8E1456F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8102A9D3-9863-40B3-9991-7CA9447B12A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765CF44F-AD02-4348-8A32-0E13D8269C70}"/>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ef91cb70b02c4138"/>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E1E3D58F-9EE6-47E0-819A-945ADF189F96}"/>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f2d17e5706bc482c"/>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69764543-192F-484D-A520-CD94F70E2807}"/>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D0389874-4F21-4C4F-8990-EF340D595F1A}"/>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33B629-C2E1-4BFE-90EA-C65B95716378}"/>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1775BEFF-FF5B-4CE6-88CA-0126DEA7BDB2}"/>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E4560ED-E5E2-4FAB-A487-04EE1FE90010}"/>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89931D4C-199C-42EA-B7CD-F7977BBA1BBA}"/>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D1F22835-71FE-45ED-8601-07A6B08B74EA}"/>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29B2A817-B450-4758-BAEC-A19F7713B2F5}"/>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4CD21D0-B0D0-4274-801D-814D0011144E}"/>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1BFBFBB9-908D-42C1-8212-31B0F8088DD5}"/>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A06F1105-0FCF-469B-AD3C-13C7033F8DFB}"/>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4B6F0D0B-EAF9-4688-BFF4-37D662C0AA1D}"/>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952489D4-696F-4E55-999A-04BD2159C000}"/>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59CE673C-BCC8-4A14-A35E-B2FF01A8824B}"/>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6B8FEC1-F0F3-426B-8AB0-A32558E34B30}"/>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7B9368DA-B87F-4756-A0A2-341F669ED6C0}"/>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CFDA411D-ECD5-4836-8672-0367CAAFD001}"/>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2BD3E6D1-98AC-4468-A94F-5E872C3F216D}"/>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2B10EB98-0ED9-4A4F-96B6-B2784336A01A}"/>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74A75BF-7EA7-48FD-A124-BD861661714D}"/>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34F91CA9-5AE3-46B0-B5FF-E6F52AFBC3D7}"/>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C68013F7-3495-40B0-9D47-E8D42266697D}"/>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F30889FA-CEC8-44F7-A1CF-FF2EC0C0999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07947EE6-C9F1-47E7-9209-A2B16779973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894854907"/>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B1DA32-3DC2-4C73-A466-245DA881B0B5}"/>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1302C232-E03C-4F05-95B4-919A23EF44A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AB38C81F-7C69-46C1-A1AF-49E0DA650E0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4C423C51-FA71-42C9-B42C-BE00F3F081BE}"/>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2B165701-ADC0-4F4C-87BC-6150F9CA04C4}"/>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9F70A227-7EA0-4685-A9E0-38196A24BEA1}"/>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7ECDCC94-D448-4891-87B7-803D31B10D86}"/>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D19F10FD-9A55-4100-9791-3C6780F35FAF}"/>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F63183BE-8043-455C-9FCD-3ED821974329}"/>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cxnSp>
        <p:nvCxnSpPr>
          <p:cNvPr id="37"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38"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graphicFrame>
        <p:nvGraphicFramePr>
          <p:cNvPr id="39"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6e2676ea1898403c"/>
          </a:graphicData>
        </a:graphic>
      </p:graphicFrame>
      <p:sp>
        <p:nvSpPr>
          <p:cNvPr id="13" name="">
            <a:extLst xmlns:a="http://schemas.openxmlformats.org/drawingml/2006/main">
              <a:ext uri="{FF2B5EF4-FFF2-40B4-BE49-F238E27FC236}">
                <a16:creationId xmlns:a16="http://schemas.microsoft.com/office/drawing/2014/main" id="{DB0E12C4-2D53-4794-9D4D-F592624E03C9}"/>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D71D78AF-A5C4-4DBA-916B-AAD3A8F6FFB2}"/>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E1B6C1-3663-4AAE-A159-69DCD0B425CC}"/>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DC521CE-AE57-4D97-BDF3-E1702404A3F1}"/>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FFD678D6-F04C-40A9-AD4A-D6CCE512AE2F}"/>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C9317E58-2C5B-4DCE-87EE-CB2E990EBA44}"/>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132C8DE7-760D-40D2-96D5-CF152747BE2C}"/>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38E89847-BB84-480C-A9CA-2D77953A23F9}"/>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4031794D-5CAC-43BA-917C-6E325A918366}"/>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6D145AF-C297-4471-A70D-BB3EFDAD0463}"/>
              </a:ext>
            </a:extLst>
          </p:cNvPr>
          <p:cNvSpPr>
            <a:spLocks xmlns:a="http://schemas.openxmlformats.org/drawingml/2006/main" noGrp="1"/>
          </p:cNvSpPr>
          <p:nvPr/>
        </p:nvSpPr>
        <p:spPr>
          <a:xfrm xmlns:a="http://schemas.openxmlformats.org/drawingml/2006/main">
            <a:off x="8286750" y="4343400"/>
            <a:ext cx="14287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9F8F80D-C23E-454C-916C-4E4298E8885B}"/>
              </a:ext>
            </a:extLst>
          </p:cNvPr>
          <p:cNvSpPr>
            <a:spLocks xmlns:a="http://schemas.openxmlformats.org/drawingml/2006/main" noGrp="1"/>
          </p:cNvSpPr>
          <p:nvPr/>
        </p:nvSpPr>
        <p:spPr>
          <a:xfrm xmlns:a="http://schemas.openxmlformats.org/drawingml/2006/main">
            <a:off x="8382000" y="43624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READING</a:t>
            </a:r>
          </a:p>
        </p:txBody>
      </p:sp>
      <p:sp>
        <p:nvSpPr>
          <p:cNvPr id="24" name="">
            <a:extLst xmlns:a="http://schemas.openxmlformats.org/drawingml/2006/main">
              <a:ext uri="{FF2B5EF4-FFF2-40B4-BE49-F238E27FC236}">
                <a16:creationId xmlns:a16="http://schemas.microsoft.com/office/drawing/2014/main" id="{293BAAD7-1C5C-435E-8454-398871D5CB0A}"/>
              </a:ext>
            </a:extLst>
          </p:cNvPr>
          <p:cNvSpPr>
            <a:spLocks xmlns:a="http://schemas.openxmlformats.org/drawingml/2006/main" noGrp="1"/>
          </p:cNvSpPr>
          <p:nvPr/>
        </p:nvSpPr>
        <p:spPr>
          <a:xfrm xmlns:a="http://schemas.openxmlformats.org/drawingml/2006/main">
            <a:off x="8286750" y="47625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Regional, not head-local</a:t>
            </a:r>
          </a:p>
        </p:txBody>
      </p:sp>
      <p:sp>
        <p:nvSpPr>
          <p:cNvPr id="25" name="">
            <a:extLst xmlns:a="http://schemas.openxmlformats.org/drawingml/2006/main">
              <a:ext uri="{FF2B5EF4-FFF2-40B4-BE49-F238E27FC236}">
                <a16:creationId xmlns:a16="http://schemas.microsoft.com/office/drawing/2014/main" id="{2CD0EF06-3DDB-43A5-AE32-F183AAD6ECCB}"/>
              </a:ext>
            </a:extLst>
          </p:cNvPr>
          <p:cNvSpPr>
            <a:spLocks xmlns:a="http://schemas.openxmlformats.org/drawingml/2006/main" noGrp="1"/>
          </p:cNvSpPr>
          <p:nvPr/>
        </p:nvSpPr>
        <p:spPr>
          <a:xfrm xmlns:a="http://schemas.openxmlformats.org/drawingml/2006/main">
            <a:off x="8286750" y="51435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Target residuals pass restoration and ablation; the selected head alone does not.</a:t>
            </a:r>
          </a:p>
        </p:txBody>
      </p:sp>
      <p:sp>
        <p:nvSpPr>
          <p:cNvPr id="26" name="">
            <a:extLst xmlns:a="http://schemas.openxmlformats.org/drawingml/2006/main">
              <a:ext uri="{FF2B5EF4-FFF2-40B4-BE49-F238E27FC236}">
                <a16:creationId xmlns:a16="http://schemas.microsoft.com/office/drawing/2014/main" id="{94710160-6D94-4B50-9D27-FE9DC6ACCAF7}"/>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16C9D37-FD83-40C7-BE66-D17EB2BAAC0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882152237"/>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52911FF-F2EA-4809-B5A4-43BFA1A31FB8}"/>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FINE-TUNING DELTA LENS</a:t>
            </a:r>
          </a:p>
        </p:txBody>
      </p:sp>
      <p:sp>
        <p:nvSpPr>
          <p:cNvPr id="2" name="">
            <a:extLst xmlns:a="http://schemas.openxmlformats.org/drawingml/2006/main">
              <a:ext uri="{FF2B5EF4-FFF2-40B4-BE49-F238E27FC236}">
                <a16:creationId xmlns:a16="http://schemas.microsoft.com/office/drawing/2014/main" id="{EE340CF3-9C74-42BC-A885-90608B262F0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Holo changes both action preference and visual routing</a:t>
            </a:r>
          </a:p>
        </p:txBody>
      </p:sp>
      <p:sp>
        <p:nvSpPr>
          <p:cNvPr id="3" name="">
            <a:extLst xmlns:a="http://schemas.openxmlformats.org/drawingml/2006/main">
              <a:ext uri="{FF2B5EF4-FFF2-40B4-BE49-F238E27FC236}">
                <a16:creationId xmlns:a16="http://schemas.microsoft.com/office/drawing/2014/main" id="{92A71943-C7D9-4E09-AB44-DFBCB29A997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DF296CC9-F694-4796-84EA-A6A692734F54}"/>
              </a:ext>
            </a:extLst>
          </p:cNvPr>
          <p:cNvSpPr>
            <a:spLocks xmlns:a="http://schemas.openxmlformats.org/drawingml/2006/main" noGrp="1"/>
          </p:cNvSpPr>
          <p:nvPr/>
        </p:nvSpPr>
        <p:spPr>
          <a:xfrm xmlns:a="http://schemas.openxmlformats.org/drawingml/2006/main">
            <a:off x="609600" y="1085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Identical Holo processor, official prompts, images, and teacher-forced action tokens for Qwen3.5-4B and Holo3.1-4B</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a93a683c62d64a72"/>
          <a:srcRect xmlns:a="http://schemas.openxmlformats.org/drawingml/2006/main" l="0" t="7778" r="0" b="7778"/>
          <a:stretch xmlns:a="http://schemas.openxmlformats.org/drawingml/2006/main">
            <a:fillRect l="0" t="0" r="0" b="0"/>
          </a:stretch>
        </p:blipFill>
        <p:spPr>
          <a:xfrm xmlns:a="http://schemas.openxmlformats.org/drawingml/2006/main">
            <a:off x="609600" y="1466850"/>
            <a:ext cx="3429000" cy="1809750"/>
          </a:xfrm>
          <a:prstGeom xmlns:a="http://schemas.openxmlformats.org/drawingml/2006/main" prst="roundRect">
            <a:avLst>
              <a:gd name="adj" fmla="val 6316"/>
            </a:avLst>
          </a:prstGeom>
        </p:spPr>
      </p:pic>
      <p:sp>
        <p:nvSpPr>
          <p:cNvPr id="6" name="">
            <a:extLst xmlns:a="http://schemas.openxmlformats.org/drawingml/2006/main">
              <a:ext uri="{FF2B5EF4-FFF2-40B4-BE49-F238E27FC236}">
                <a16:creationId xmlns:a16="http://schemas.microsoft.com/office/drawing/2014/main" id="{B034CC8B-F722-47D4-A650-B156362B1D9F}"/>
              </a:ext>
            </a:extLst>
          </p:cNvPr>
          <p:cNvSpPr>
            <a:spLocks xmlns:a="http://schemas.openxmlformats.org/drawingml/2006/main" noGrp="1"/>
          </p:cNvSpPr>
          <p:nvPr/>
        </p:nvSpPr>
        <p:spPr>
          <a:xfrm xmlns:a="http://schemas.openxmlformats.org/drawingml/2006/main">
            <a:off x="6096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92de8f00b3c4e00"/>
          <a:srcRect xmlns:a="http://schemas.openxmlformats.org/drawingml/2006/main" l="0" t="7778" r="0" b="7778"/>
          <a:stretch xmlns:a="http://schemas.openxmlformats.org/drawingml/2006/main">
            <a:fillRect l="0" t="0" r="0" b="0"/>
          </a:stretch>
        </p:blipFill>
        <p:spPr>
          <a:xfrm xmlns:a="http://schemas.openxmlformats.org/drawingml/2006/main">
            <a:off x="4381500" y="1466850"/>
            <a:ext cx="3429000"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C15BD400-99A8-4A97-A9D4-1F6616FB07D7}"/>
              </a:ext>
            </a:extLst>
          </p:cNvPr>
          <p:cNvSpPr>
            <a:spLocks xmlns:a="http://schemas.openxmlformats.org/drawingml/2006/main" noGrp="1"/>
          </p:cNvSpPr>
          <p:nvPr/>
        </p:nvSpPr>
        <p:spPr>
          <a:xfrm xmlns:a="http://schemas.openxmlformats.org/drawingml/2006/main">
            <a:off x="43815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52c917f6f35415f"/>
          <a:srcRect xmlns:a="http://schemas.openxmlformats.org/drawingml/2006/main" l="0" t="7778" r="0" b="7778"/>
          <a:stretch xmlns:a="http://schemas.openxmlformats.org/drawingml/2006/main">
            <a:fillRect l="0" t="0" r="0" b="0"/>
          </a:stretch>
        </p:blipFill>
        <p:spPr>
          <a:xfrm xmlns:a="http://schemas.openxmlformats.org/drawingml/2006/main">
            <a:off x="8153400" y="1466850"/>
            <a:ext cx="3429000" cy="1809750"/>
          </a:xfrm>
          <a:prstGeom xmlns:a="http://schemas.openxmlformats.org/drawingml/2006/main" prst="roundRect">
            <a:avLst>
              <a:gd name="adj" fmla="val 6316"/>
            </a:avLst>
          </a:prstGeom>
        </p:spPr>
      </p:pic>
      <p:sp>
        <p:nvSpPr>
          <p:cNvPr id="10" name="">
            <a:extLst xmlns:a="http://schemas.openxmlformats.org/drawingml/2006/main">
              <a:ext uri="{FF2B5EF4-FFF2-40B4-BE49-F238E27FC236}">
                <a16:creationId xmlns:a16="http://schemas.microsoft.com/office/drawing/2014/main" id="{82265C67-12CE-4502-B0DA-43B4E0E0303B}"/>
              </a:ext>
            </a:extLst>
          </p:cNvPr>
          <p:cNvSpPr>
            <a:spLocks xmlns:a="http://schemas.openxmlformats.org/drawingml/2006/main" noGrp="1"/>
          </p:cNvSpPr>
          <p:nvPr/>
        </p:nvSpPr>
        <p:spPr>
          <a:xfrm xmlns:a="http://schemas.openxmlformats.org/drawingml/2006/main">
            <a:off x="81534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CA04F2D4-9F0F-4C67-B94F-BE8283FA679C}"/>
              </a:ext>
            </a:extLst>
          </p:cNvPr>
          <p:cNvSpPr>
            <a:spLocks xmlns:a="http://schemas.openxmlformats.org/drawingml/2006/main" noGrp="1"/>
          </p:cNvSpPr>
          <p:nvPr/>
        </p:nvSpPr>
        <p:spPr>
          <a:xfrm xmlns:a="http://schemas.openxmlformats.org/drawingml/2006/main">
            <a:off x="704850" y="1562100"/>
            <a:ext cx="32385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DE0740B-1C2C-48E1-8A8A-D13DD530CD07}"/>
              </a:ext>
            </a:extLst>
          </p:cNvPr>
          <p:cNvSpPr>
            <a:spLocks xmlns:a="http://schemas.openxmlformats.org/drawingml/2006/main" noGrp="1"/>
          </p:cNvSpPr>
          <p:nvPr/>
        </p:nvSpPr>
        <p:spPr>
          <a:xfrm xmlns:a="http://schemas.openxmlformats.org/drawingml/2006/main">
            <a:off x="8001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QWEN · 15.8% TARGET MASS</a:t>
            </a:r>
          </a:p>
        </p:txBody>
      </p:sp>
      <p:sp>
        <p:nvSpPr>
          <p:cNvPr id="13" name="">
            <a:extLst xmlns:a="http://schemas.openxmlformats.org/drawingml/2006/main">
              <a:ext uri="{FF2B5EF4-FFF2-40B4-BE49-F238E27FC236}">
                <a16:creationId xmlns:a16="http://schemas.microsoft.com/office/drawing/2014/main" id="{05247D44-ED41-4430-91A5-F4FDADCF6D08}"/>
              </a:ext>
            </a:extLst>
          </p:cNvPr>
          <p:cNvSpPr>
            <a:spLocks xmlns:a="http://schemas.openxmlformats.org/drawingml/2006/main" noGrp="1"/>
          </p:cNvSpPr>
          <p:nvPr/>
        </p:nvSpPr>
        <p:spPr>
          <a:xfrm xmlns:a="http://schemas.openxmlformats.org/drawingml/2006/main">
            <a:off x="4476750" y="1562100"/>
            <a:ext cx="3238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A5C0770-A03E-449D-B57F-D159D09A5826}"/>
              </a:ext>
            </a:extLst>
          </p:cNvPr>
          <p:cNvSpPr>
            <a:spLocks xmlns:a="http://schemas.openxmlformats.org/drawingml/2006/main" noGrp="1"/>
          </p:cNvSpPr>
          <p:nvPr/>
        </p:nvSpPr>
        <p:spPr>
          <a:xfrm xmlns:a="http://schemas.openxmlformats.org/drawingml/2006/main">
            <a:off x="45720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17.2% · PEAK ENTERS TARGET</a:t>
            </a:r>
          </a:p>
        </p:txBody>
      </p:sp>
      <p:sp>
        <p:nvSpPr>
          <p:cNvPr id="15" name="">
            <a:extLst xmlns:a="http://schemas.openxmlformats.org/drawingml/2006/main">
              <a:ext uri="{FF2B5EF4-FFF2-40B4-BE49-F238E27FC236}">
                <a16:creationId xmlns:a16="http://schemas.microsoft.com/office/drawing/2014/main" id="{39B29EE4-D8A2-4227-81FE-18F7FC46E446}"/>
              </a:ext>
            </a:extLst>
          </p:cNvPr>
          <p:cNvSpPr>
            <a:spLocks xmlns:a="http://schemas.openxmlformats.org/drawingml/2006/main" noGrp="1"/>
          </p:cNvSpPr>
          <p:nvPr/>
        </p:nvSpPr>
        <p:spPr>
          <a:xfrm xmlns:a="http://schemas.openxmlformats.org/drawingml/2006/main">
            <a:off x="8248650" y="1562100"/>
            <a:ext cx="3238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59D02F7-2044-483B-AE2F-EED1AD9671DF}"/>
              </a:ext>
            </a:extLst>
          </p:cNvPr>
          <p:cNvSpPr>
            <a:spLocks xmlns:a="http://schemas.openxmlformats.org/drawingml/2006/main" noGrp="1"/>
          </p:cNvSpPr>
          <p:nvPr/>
        </p:nvSpPr>
        <p:spPr>
          <a:xfrm xmlns:a="http://schemas.openxmlformats.org/drawingml/2006/main">
            <a:off x="83439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QWEN · ORANGE GAIN / BLUE LOSS</a:t>
            </a:r>
          </a:p>
        </p:txBody>
      </p:sp>
      <p:sp>
        <p:nvSpPr>
          <p:cNvPr id="17" name="">
            <a:extLst xmlns:a="http://schemas.openxmlformats.org/drawingml/2006/main">
              <a:ext uri="{FF2B5EF4-FFF2-40B4-BE49-F238E27FC236}">
                <a16:creationId xmlns:a16="http://schemas.microsoft.com/office/drawing/2014/main" id="{A2E9FA30-00D9-460D-8D3A-19474F0D4442}"/>
              </a:ext>
            </a:extLst>
          </p:cNvPr>
          <p:cNvSpPr>
            <a:spLocks xmlns:a="http://schemas.openxmlformats.org/drawingml/2006/main" noGrp="1"/>
          </p:cNvSpPr>
          <p:nvPr/>
        </p:nvSpPr>
        <p:spPr>
          <a:xfrm xmlns:a="http://schemas.openxmlformats.org/drawingml/2006/main">
            <a:off x="609600" y="35242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ACTION-MARGIN DELTA BY LAYER</a:t>
            </a:r>
          </a:p>
        </p:txBody>
      </p:sp>
      <p:graphicFrame>
        <p:nvGraphicFramePr>
          <p:cNvPr id="43" name="Chart"/>
          <p:cNvGraphicFramePr/>
          <p:nvPr/>
        </p:nvGraphicFramePr>
        <p:xfrm>
          <a:off xmlns:a="http://schemas.openxmlformats.org/drawingml/2006/main" x="609600" y="3733800"/>
          <a:ext xmlns:a="http://schemas.openxmlformats.org/drawingml/2006/main" cx="6858000" cy="2038350"/>
        </p:xfrm>
        <a:graphic xmlns:a="http://schemas.openxmlformats.org/drawingml/2006/main">
          <a:graphicData uri="http://schemas.openxmlformats.org/drawingml/2006/chart">
            <c:chart xmlns:r="http://schemas.openxmlformats.org/officeDocument/2006/relationships" xmlns:c="http://schemas.openxmlformats.org/drawingml/2006/chart" r:id="R5451ad3447c748d1"/>
          </a:graphicData>
        </a:graphic>
      </p:graphicFrame>
      <p:sp>
        <p:nvSpPr>
          <p:cNvPr id="19" name="">
            <a:extLst xmlns:a="http://schemas.openxmlformats.org/drawingml/2006/main">
              <a:ext uri="{FF2B5EF4-FFF2-40B4-BE49-F238E27FC236}">
                <a16:creationId xmlns:a16="http://schemas.microsoft.com/office/drawing/2014/main" id="{697593FE-AA51-4CB5-B8E5-2475775FD663}"/>
              </a:ext>
            </a:extLst>
          </p:cNvPr>
          <p:cNvSpPr>
            <a:spLocks xmlns:a="http://schemas.openxmlformats.org/drawingml/2006/main" noGrp="1"/>
          </p:cNvSpPr>
          <p:nvPr/>
        </p:nvSpPr>
        <p:spPr>
          <a:xfrm xmlns:a="http://schemas.openxmlformats.org/drawingml/2006/main">
            <a:off x="7772400" y="35242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HOTEL FINAL STEP · VALUE-NORM ATTENTION</a:t>
            </a:r>
          </a:p>
        </p:txBody>
      </p:sp>
      <p:graphicFrame>
        <p:nvGraphicFramePr>
          <p:cNvPr id="45" name="Chart"/>
          <p:cNvGraphicFramePr/>
          <p:nvPr/>
        </p:nvGraphicFramePr>
        <p:xfrm>
          <a:off xmlns:a="http://schemas.openxmlformats.org/drawingml/2006/main" x="7772400" y="3733800"/>
          <a:ext xmlns:a="http://schemas.openxmlformats.org/drawingml/2006/main" cx="3810000" cy="2038350"/>
        </p:xfrm>
        <a:graphic xmlns:a="http://schemas.openxmlformats.org/drawingml/2006/main">
          <a:graphicData uri="http://schemas.openxmlformats.org/drawingml/2006/chart">
            <c:chart xmlns:r="http://schemas.openxmlformats.org/officeDocument/2006/relationships" xmlns:c="http://schemas.openxmlformats.org/drawingml/2006/chart" r:id="Rb06a30f7e5ab4281"/>
          </a:graphicData>
        </a:graphic>
      </p:graphicFrame>
      <p:sp>
        <p:nvSpPr>
          <p:cNvPr id="21" name="">
            <a:extLst xmlns:a="http://schemas.openxmlformats.org/drawingml/2006/main">
              <a:ext uri="{FF2B5EF4-FFF2-40B4-BE49-F238E27FC236}">
                <a16:creationId xmlns:a16="http://schemas.microsoft.com/office/drawing/2014/main" id="{DB8AFDB7-D7CD-4165-A5AC-299E66BFC5F6}"/>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oundRect">
            <a:avLst>
              <a:gd name="adj" fmla="val 21053"/>
            </a:avLst>
          </a:prstGeom>
          <a:solidFill xmlns:a="http://schemas.openxmlformats.org/drawingml/2006/main">
            <a:srgbClr val="1C27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AA57B5C1-C074-4651-83F1-7DE013F932BA}"/>
              </a:ext>
            </a:extLst>
          </p:cNvPr>
          <p:cNvSpPr>
            <a:spLocks xmlns:a="http://schemas.openxmlformats.org/drawingml/2006/main" noGrp="1"/>
          </p:cNvSpPr>
          <p:nvPr/>
        </p:nvSpPr>
        <p:spPr>
          <a:xfrm xmlns:a="http://schemas.openxmlformats.org/drawingml/2006/main">
            <a:off x="781050" y="59817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5/5 ScreenSpot final shifts positive · mean +1.14 nats/token · 3 cross zero</a:t>
            </a:r>
          </a:p>
        </p:txBody>
      </p:sp>
      <p:sp>
        <p:nvSpPr>
          <p:cNvPr id="23" name="">
            <a:extLst xmlns:a="http://schemas.openxmlformats.org/drawingml/2006/main">
              <a:ext uri="{FF2B5EF4-FFF2-40B4-BE49-F238E27FC236}">
                <a16:creationId xmlns:a16="http://schemas.microsoft.com/office/drawing/2014/main" id="{077CB16B-199C-414F-9018-6140716861C3}"/>
              </a:ext>
            </a:extLst>
          </p:cNvPr>
          <p:cNvSpPr>
            <a:spLocks xmlns:a="http://schemas.openxmlformats.org/drawingml/2006/main" noGrp="1"/>
          </p:cNvSpPr>
          <p:nvPr/>
        </p:nvSpPr>
        <p:spPr>
          <a:xfrm xmlns:a="http://schemas.openxmlformats.org/drawingml/2006/main">
            <a:off x="6115050" y="5981700"/>
            <a:ext cx="525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5E2B8"/>
                </a:solidFill>
                <a:latin typeface="Helvetica Neue"/>
                <a:ea typeface="Helvetica Neue"/>
                <a:cs typeface="Helvetica Neue"/>
              </a:defRPr>
            </a:pPr>
            <a:r>
              <a:rPr sz="975" b="1">
                <a:solidFill>
                  <a:srgbClr val="F5E2B8"/>
                </a:solidFill>
                <a:latin typeface="Helvetica Neue"/>
                <a:ea typeface="Helvetica Neue"/>
                <a:cs typeface="Helvetica Neue"/>
              </a:rPr>
              <a:t>Method check: direct target lift +1.90×; value-norm target lift -1.07×</a:t>
            </a:r>
          </a:p>
        </p:txBody>
      </p:sp>
      <p:sp>
        <p:nvSpPr>
          <p:cNvPr id="24" name="">
            <a:extLst xmlns:a="http://schemas.openxmlformats.org/drawingml/2006/main">
              <a:ext uri="{FF2B5EF4-FFF2-40B4-BE49-F238E27FC236}">
                <a16:creationId xmlns:a16="http://schemas.microsoft.com/office/drawing/2014/main" id="{0908C8CA-1B58-4EAC-A14A-DE487A2DCF20}"/>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B37A7C9-6BC1-46CD-804F-BC983E8E94E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input ceiling: ScreenSpot retains 99.6% area; hotel frames retain 97.8% after patch alignment · attention is descriptive, not causal</a:t>
            </a:r>
          </a:p>
        </p:txBody>
      </p:sp>
    </p:spTree>
    <p:extLst>
      <p:ext uri="{BB962C8B-B14F-4D97-AF65-F5344CB8AC3E}">
        <p14:creationId xmlns:p14="http://schemas.microsoft.com/office/powerpoint/2010/main" val="252480541"/>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CCCFDFD-9FAD-4B89-9806-B9CF9BB2EDF4}"/>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581BF633-7C0E-4C65-BBC6-6E8353093B8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E48ABC2E-7B01-45E4-9301-2EFE4001E79B}"/>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3D29AD72-B64E-49E2-A39E-A3373F53BEC6}"/>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2C54DE13-3F2E-4FFD-AFA4-4053F7057DE3}"/>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661FE8F-D646-420E-9F05-DB3C480EA503}"/>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A9DE5C8C-8982-45D0-9FD0-BC9BFC9F7A55}"/>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993944-0075-4081-BC0B-6C426B1611AF}"/>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BE16F92D-1346-4B35-BCD2-21599385074F}"/>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9CACDA4A-87A1-4312-B060-70C9DC86EF76}"/>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9F250D63-2DDF-4697-A8EA-0F5540AF0F10}"/>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B1E0B27-876F-4A15-8DFA-5EE11BDAD270}"/>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5071062A-C399-485A-AC50-6D3F76E0A434}"/>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1C65F53-F5A8-4052-83E9-6430DA44DF7C}"/>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8F7EB875-F398-4801-9EA2-5F664C4CD499}"/>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41D3D786-AD38-4AD7-8657-17CF45F5D623}"/>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1C28ECB9-83C1-4BD7-B267-48F751EA0421}"/>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3D712C5-7F84-4C00-839E-B269D23A0DD2}"/>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B5B900EB-9D83-40FF-85B3-F207379212DC}"/>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567ED1A-2253-450F-AA2B-511EE07D119A}"/>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F850A6BA-F3CB-415B-8F5C-14C649CE340A}"/>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59FA7AB3-C53A-43D8-86ED-AA42B62334F9}"/>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84418B05-B4F9-401B-8CE5-361366E13A3D}"/>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E07CDF3-E744-42FA-9E37-A5ADCD7543B5}"/>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140466D3-7FBA-4C06-8BA8-63147C8CBDE7}"/>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BF6D2918-A9AC-4DE9-9E46-816307287E55}"/>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C2EDE506-4E91-4BA8-B0E8-73FBB46EE0B5}"/>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FEA5D22D-F06A-403E-A9A5-BA5C1B263E64}"/>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BF91237-7E68-4F96-BF22-39EBC69235A7}"/>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2BC18047-1CA3-40E4-BA50-8AE98DE6177E}"/>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D89D44A1-CAA7-440E-91BA-5F28360A9F48}"/>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20D5348C-CD39-478F-A0E3-1C46526A9F5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062E862-80DA-48E4-9BAE-095FCDBC786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165859172"/>
      </p:ext>
    </p:extLst>
  </p:cSld>
</p:sld>
</file>

<file path=ppt/slides/slide13.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256ABA0B-27C9-4E21-8C00-93A3AE85606B}"/>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37CFFC46-E82A-474D-8D66-887547A32D25}"/>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A3E62389-7C95-47E2-BF10-D3322A65E7D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64E471CF-F510-423B-BC3B-FA43C1C49B21}"/>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F5234F2-259E-41AF-8DC1-7FEC0904977E}"/>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DBC9A965-9646-45A5-825C-3E688DCC5D8E}"/>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75E487CE-4ACF-4174-881C-180186CB2561}"/>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A46FD1A5-C8F3-4921-AA42-42A24653C036}"/>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273A3EB-3F41-4622-98C3-49112CC1C117}"/>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92180544-3932-47E3-801F-24D832FA85C2}"/>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E62E1560-4A40-49DE-B66B-B30AD7663AC6}"/>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535528FB-418C-426D-8280-84F09BFBF744}"/>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F89F3C-401A-444E-A6FD-DF5BD828BB59}"/>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33AD6605-6282-4D90-93D1-ADA950E3615E}"/>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A0453F11-F6F5-4F05-AB29-FF6A8B05FD32}"/>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640B88EE-01B2-4E64-9B02-A627293B0C0A}"/>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82A6EFD-175A-44C6-9E09-437CA699DF8D}"/>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1B99CB1C-B731-4E23-B76C-017F1C348FC6}"/>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0764F6B-9CF7-40F3-B4FF-7256CBDB8340}"/>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E6E163DB-F112-452D-A0F4-EA02A961F9E2}"/>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B903DBF7-9578-45AC-A66C-E5144225FE8A}"/>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CDDD3891-1A5E-4094-8D35-E54A17B958A8}"/>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220B1081-6555-4DE3-9A12-0C076583404D}"/>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EE3D9A8A-5B4A-4D91-AD6A-3C3FE1F9557D}"/>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B000F004-378A-447E-992C-03500D2BE5EB}"/>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E8C2D346-CB13-4151-968B-67A539E608A2}"/>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9991244-EBB0-4AC9-934A-E55843BC9E7A}"/>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A1A13FDE-E4CD-4B59-B25A-13D3EC633EA9}"/>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D931EFDA-2E69-408B-B508-18C86480CFC3}"/>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90572AC4-5E94-48EF-B66D-83B03ADB14E4}"/>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01B4C13-33BE-4E37-A80A-1A1A4BC18F09}"/>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1ACDD1BA-53F3-47DD-9176-C7936E63DAEB}"/>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F0319B39-A04E-4BCC-9F9F-8FD98BEDD794}"/>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41FBC1EA-3000-425F-8EFC-681AF65E79E6}"/>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0F87EDC1-48C7-47E7-99F1-086D6FED8432}"/>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DC4618EF-2D69-4DA2-8E41-718DE93619E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1067ABCC-C645-451D-A122-AECB567ADF1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759098967"/>
      </p:ext>
    </p:extLst>
  </p:cSld>
</p:sld>
</file>

<file path=ppt/slides/slide1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AEF089-7587-46CE-B2ED-A4C4F05CB9A7}"/>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1CD3DCF4-10AE-40B7-975C-7FC0CE7F994F}"/>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AB898710-D367-4645-A330-7C9562E9674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13CF9D89-7F7E-461A-8884-AA795159E118}"/>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9FA6C93F-388A-43C1-B84F-2288F144EE6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417161-90D3-479D-BF3A-213EE703EB9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2515227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2026-09-21T15:22:32.1970000Z</dcterms:created>
  <dcterms:modified xsi:type="dcterms:W3CDTF">2026-09-21T15:22:32.1970000Z</dcterms:modified>
</coreProperties>
</file>