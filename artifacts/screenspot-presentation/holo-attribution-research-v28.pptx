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73e6db04ea4c98" /><Relationship Type="http://schemas.openxmlformats.org/officeDocument/2006/relationships/extended-properties" Target="/docProps/app.xml" Id="R75db1022c3d54d4a" /><Relationship Type="http://schemas.openxmlformats.org/officeDocument/2006/relationships/officeDocument" Target="/ppt/presentation.xml" Id="R065ce47521854121" /></Relationships>
</file>

<file path=ppt/presentation.xml><?xml version="1.0" encoding="utf-8"?>
<p:presentation xmlns:p="http://schemas.openxmlformats.org/presentationml/2006/main">
  <p:sldMasterIdLst>
    <p:sldMasterId xmlns:r="http://schemas.openxmlformats.org/officeDocument/2006/relationships" id="2147483648" r:id="R30792f60182d4e28"/>
  </p:sldMasterIdLst>
  <p:notesMasterIdLst>
    <p:notesMasterId xmlns:r="http://schemas.openxmlformats.org/officeDocument/2006/relationships" r:id="R1e2e38493b0b4097"/>
  </p:notesMasterIdLst>
  <p:sldIdLst>
    <p:sldId xmlns:r="http://schemas.openxmlformats.org/officeDocument/2006/relationships" id="256" r:id="R039f928d27fe4f21"/>
    <p:sldId xmlns:r="http://schemas.openxmlformats.org/officeDocument/2006/relationships" id="257" r:id="R636668d9ac2e4b00"/>
    <p:sldId xmlns:r="http://schemas.openxmlformats.org/officeDocument/2006/relationships" id="258" r:id="R69e7f0dd10b64e0e"/>
    <p:sldId xmlns:r="http://schemas.openxmlformats.org/officeDocument/2006/relationships" id="259" r:id="R250fe034f63149a4"/>
    <p:sldId xmlns:r="http://schemas.openxmlformats.org/officeDocument/2006/relationships" id="260" r:id="R80f4f89def014fd8"/>
    <p:sldId xmlns:r="http://schemas.openxmlformats.org/officeDocument/2006/relationships" id="261" r:id="Rea4483fbdc66402a"/>
    <p:sldId xmlns:r="http://schemas.openxmlformats.org/officeDocument/2006/relationships" id="262" r:id="Rb9a25e53e5b94085"/>
    <p:sldId xmlns:r="http://schemas.openxmlformats.org/officeDocument/2006/relationships" id="263" r:id="R662a9b66e2a145af"/>
    <p:sldId xmlns:r="http://schemas.openxmlformats.org/officeDocument/2006/relationships" id="264" r:id="R95ce99e5a0c84b34"/>
    <p:sldId xmlns:r="http://schemas.openxmlformats.org/officeDocument/2006/relationships" id="265" r:id="Rfbca53f918d24f44"/>
    <p:sldId xmlns:r="http://schemas.openxmlformats.org/officeDocument/2006/relationships" id="266" r:id="R3e5b3c7183c54116"/>
    <p:sldId xmlns:r="http://schemas.openxmlformats.org/officeDocument/2006/relationships" id="267" r:id="R19581db335d74a45"/>
    <p:sldId xmlns:r="http://schemas.openxmlformats.org/officeDocument/2006/relationships" id="268" r:id="Rd1b112f020924eb6"/>
    <p:sldId xmlns:r="http://schemas.openxmlformats.org/officeDocument/2006/relationships" id="269" r:id="Rb982695845014541"/>
    <p:sldId xmlns:r="http://schemas.openxmlformats.org/officeDocument/2006/relationships" id="270" r:id="Rda76c62f4771434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a149f0827284923" /><Relationship Type="http://schemas.openxmlformats.org/officeDocument/2006/relationships/slideMaster" Target="/ppt/slideMasters/slideMaster1.xml" Id="R30792f60182d4e28" /><Relationship Type="http://schemas.openxmlformats.org/officeDocument/2006/relationships/notesMaster" Target="/ppt/notesMasters/notesMaster1.xml" Id="R1e2e38493b0b4097" /><Relationship Type="http://schemas.openxmlformats.org/officeDocument/2006/relationships/presProps" Target="/ppt/presProps.xml" Id="Re8aa5d6b763245df" /><Relationship Type="http://schemas.openxmlformats.org/officeDocument/2006/relationships/tableStyles" Target="/ppt/tableStyles.xml" Id="Rc160b8abc0b74c07" /><Relationship Type="http://schemas.openxmlformats.org/officeDocument/2006/relationships/slide" Target="/ppt/slides/slide1.xml" Id="R039f928d27fe4f21" /><Relationship Type="http://schemas.openxmlformats.org/officeDocument/2006/relationships/slide" Target="/ppt/slides/slide2.xml" Id="R636668d9ac2e4b00" /><Relationship Type="http://schemas.openxmlformats.org/officeDocument/2006/relationships/slide" Target="/ppt/slides/slide3.xml" Id="R69e7f0dd10b64e0e" /><Relationship Type="http://schemas.openxmlformats.org/officeDocument/2006/relationships/slide" Target="/ppt/slides/slide4.xml" Id="R250fe034f63149a4" /><Relationship Type="http://schemas.openxmlformats.org/officeDocument/2006/relationships/slide" Target="/ppt/slides/slide5.xml" Id="R80f4f89def014fd8" /><Relationship Type="http://schemas.openxmlformats.org/officeDocument/2006/relationships/slide" Target="/ppt/slides/slide6.xml" Id="Rea4483fbdc66402a" /><Relationship Type="http://schemas.openxmlformats.org/officeDocument/2006/relationships/slide" Target="/ppt/slides/slide7.xml" Id="Rb9a25e53e5b94085" /><Relationship Type="http://schemas.openxmlformats.org/officeDocument/2006/relationships/slide" Target="/ppt/slides/slide8.xml" Id="R662a9b66e2a145af" /><Relationship Type="http://schemas.openxmlformats.org/officeDocument/2006/relationships/slide" Target="/ppt/slides/slide9.xml" Id="R95ce99e5a0c84b34" /><Relationship Type="http://schemas.openxmlformats.org/officeDocument/2006/relationships/slide" Target="/ppt/slides/slide10.xml" Id="Rfbca53f918d24f44" /><Relationship Type="http://schemas.openxmlformats.org/officeDocument/2006/relationships/slide" Target="/ppt/slides/slide11.xml" Id="R3e5b3c7183c54116" /><Relationship Type="http://schemas.openxmlformats.org/officeDocument/2006/relationships/slide" Target="/ppt/slides/slide12.xml" Id="R19581db335d74a45" /><Relationship Type="http://schemas.openxmlformats.org/officeDocument/2006/relationships/slide" Target="/ppt/slides/slide13.xml" Id="Rd1b112f020924eb6" /><Relationship Type="http://schemas.openxmlformats.org/officeDocument/2006/relationships/slide" Target="/ppt/slides/slide14.xml" Id="Rb982695845014541" /><Relationship Type="http://schemas.openxmlformats.org/officeDocument/2006/relationships/slide" Target="/ppt/slides/slide15.xml" Id="Rda76c62f4771434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8c6b2b61b141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086aeae9f014438" /><Relationship Type="http://schemas.openxmlformats.org/officeDocument/2006/relationships/notesMaster" Target="/ppt/notesMasters/notesMaster1.xml" Id="R7bd03e52346847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9acba0427d4b35" /><Relationship Type="http://schemas.openxmlformats.org/officeDocument/2006/relationships/notesMaster" Target="/ppt/notesMasters/notesMaster1.xml" Id="R941c6a24de194ce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73161649324fad" /><Relationship Type="http://schemas.openxmlformats.org/officeDocument/2006/relationships/notesMaster" Target="/ppt/notesMasters/notesMaster1.xml" Id="R24111241730e49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aa3b92ec994017" /><Relationship Type="http://schemas.openxmlformats.org/officeDocument/2006/relationships/notesMaster" Target="/ppt/notesMasters/notesMaster1.xml" Id="R9492587763284a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76e226626c4f23" /><Relationship Type="http://schemas.openxmlformats.org/officeDocument/2006/relationships/notesMaster" Target="/ppt/notesMasters/notesMaster1.xml" Id="Rc9b3926ad12a4e54" /></Relationships>
</file>

<file path=ppt/notesSlides/_rels/notesSlide6.xml.rels>&#65279;<?xml version="1.0" encoding="utf-8"?><Relationships xmlns="http://schemas.openxmlformats.org/package/2006/relationships"><Relationship Type="http://schemas.openxmlformats.org/officeDocument/2006/relationships/slide" Target="/ppt/slides/slide6.xml" Id="Rda8cd1dc57104059" /><Relationship Type="http://schemas.openxmlformats.org/officeDocument/2006/relationships/notesMaster" Target="/ppt/notesMasters/notesMaster1.xml" Id="R8cbb67b632914b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5fbff0bfb2994685" /><Relationship Type="http://schemas.openxmlformats.org/officeDocument/2006/relationships/notesMaster" Target="/ppt/notesMasters/notesMaster1.xml" Id="R54c83adcab014b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3fccaeeae54b1b" /><Relationship Type="http://schemas.openxmlformats.org/officeDocument/2006/relationships/notesMaster" Target="/ppt/notesMasters/notesMaster1.xml" Id="R08b30c7dbf60475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a2771249294e1b" /><Relationship Type="http://schemas.openxmlformats.org/officeDocument/2006/relationships/notesMaster" Target="/ppt/notesMasters/notesMaster1.xml" Id="R7f06ae522135405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9c498ea8224198" /><Relationship Type="http://schemas.openxmlformats.org/officeDocument/2006/relationships/notesMaster" Target="/ppt/notesMasters/notesMaster1.xml" Id="Re44638224873472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e2c0d876ee14dea" /><Relationship Type="http://schemas.openxmlformats.org/officeDocument/2006/relationships/notesMaster" Target="/ppt/notesMasters/notesMaster1.xml" Id="R856997045a55488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eb0ab8cf9ba4a0d" /><Relationship Type="http://schemas.openxmlformats.org/officeDocument/2006/relationships/notesMaster" Target="/ppt/notesMasters/notesMaster1.xml" Id="R7a6d30bb1be0416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604f9650b749e3" /><Relationship Type="http://schemas.openxmlformats.org/officeDocument/2006/relationships/notesMaster" Target="/ppt/notesMasters/notesMaster1.xml" Id="R2fd68d99eeae47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5131a8f9ff4d6f" /><Relationship Type="http://schemas.openxmlformats.org/officeDocument/2006/relationships/notesMaster" Target="/ppt/notesMasters/notesMaster1.xml" Id="Rfdb0b2e81db34d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677331a467a4297" /><Relationship Type="http://schemas.openxmlformats.org/officeDocument/2006/relationships/notesMaster" Target="/ppt/notesMasters/notesMaster1.xml" Id="R6c6862f5437940c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0:00–0:35 — Frame the question: what is specific to the current instruction after removing generic image saliency, and can the same machinery follow evidence across a multi-turn trajectory? The visual is the final prompt-differential map for the ScreenSpot visual hit.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0:35–1:15 — Separate the two settings. ScreenSpot gives real high-resolution grounding examples. The synthetic hotel task gives exact replay and multi-frame memory. The two PowerPoint examples are not a same-image success/failure pair, so use them to motivate hypotheses rather than causal claims. The hotel trace is a Holo failure after three scrolls and one click. Sources: docs/screenspot-case-study.md and data/attributions/traj-20260919T164806Z-ba81a14a16/trajectory.json.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1:15–2:10 — This is the complete local replication: 1,581 items, 1,042 strict point-in-box successes, no request failures, and 100% valid JSON. The 65.9% result is 0.6 percentage point below the approximately 66.5% Holo3.1-4B reference supplied by the project owner. ScreenSpot-Pro's UI type describes the annotated click target: icon means no text hint is present; targets with text labels belong to the text category even when an icon is also present. Raw accuracy is 79.4% for text targets and 44.0% for icon targets. The bottom matrix remains a diagnostic raw breakdown. Its action columns use our first-recognized-verb dictionary rather than an official ScreenSpot-Pro label. Icon plus file or transfer actions are lowest at 36.1% on 36 items. Icon plus navigation or reveal is the larger weak cell at 40.3% on 149 items. Do not interpret the raw UI split before examining target geometry on the next slide. Sources: data/remote-results/run/screenspot-full-official/summary.json, artifacts/screenspot-presentation/screenspot-benchmark-breakdown.json, and https://openreview.net/pdf?id=BS75DmIsRL.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2:10–2:55 — Show the observed geometry before interpreting the raw icon-versus-text accuracy gap. Each item's target area is its annotated bounding-box area divided by screenshot area. The histogram uses fixed area buckets and normalizes separately within the 604 icon targets and 977 text targets, so each series sums to 100%. The median normalized text-target area is 4.77 times the icon median. Median heights are nearly identical at 25 versus 24 pixels, while median widths are 111 versus 26 pixels. Strict ScreenSpot accuracy is point-in-box, so wider text boxes provide more click tolerance. This distribution is more transparent than a single model-adjusted gap. It does not establish how much of the performance gap target size causes. Sources: artifacts/screenspot-presentation/screenspot-target-size-analysis.json, scripts/analyze_screenspot_target_size.py, and the official annotations at revision 210e78d3844251110bff86c95835ebd37a6930fa.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2:55–4:05 — Define the symbols once. A is the attention-weight matrix. V contains the value vectors. R is the residual-aware rollout across the eight captured full-attention blocks. M is the resulting image-patch map traced from the generated x/y coordinate-value tokens. Value-norm changes the routing matrix before rollout. Rollout mixes attention and identity 50/50 and multiplies the captured layers in model order. Then average only the generated x/y value-token maps. Target lift is the positive target-minus-control mass inside the target box divided by the target-box area fraction; 1× means spatially uniform positive residual mass. Hybrid linear-attention blocks are omitted because they expose no equivalent square softmax matrix.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4:05–5:05 — This slide establishes the measurement we use from here onward. The raw map is dominated by stable top-left saliency. With four diverse same-image prompts averaged after per-request L1 normalization, the peak moves inside the annotated template and lift rises from 3.85× to 16.08×. Leave-one-control-out cosine is 0.925 mean and 0.828 minimum. The repaired click is visually correct at (1394, 632), but the original tool syntax is malformed, so official correctness remains false. Source: data/attributions/screenspot-powerpoint_windows_59/analysis.json.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5:05–6:00 — This rerun corrects the earlier slide. Under H Company's official image-first element-localization prompt and normalized JSON coordinates, the full benchmark record for powerpoint_windows_48 returns (66,61), a strict hit inside the annotated New Slide box. The saliency map is separately teacher-forced through the annotated box-center coordinate and subtracts four same-image alternate-instruction controls. Holo's value-norm target-box differential is 7.47 percentage points, versus 4.33 for base Qwen, a +3.14-point delta. Minimum leave-one-control-out cosine is 0.946. The source remains 2880×1800 and produces a 56×90 merged-token grid. The earlier miss used a custom desktop-action prompt and a lower-resolution attribution path, so it should not be presented as benchmark-faithful evidence. Sources: data/remote-results/run/screenspot-full-official/summary.json and artifacts/screenspot-presentation/native-saliency-ppt48-hotel35-v1/native-saliency-summary.json.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6:00–7:10 — This rerun uses the exact three 1024×720 trajectory frames at the checkpoint-native 16,777,216-pixel ceiling, producing a 22×32 merged-token grid per frame. Every condition receives the same neutral user setup, the same two teacher-forced scroll actions, and the same image bytes. The generic official hotel system prompt is retained; only the final visible-target instruction changes. Four controls request Juniper's button, Ember's button, the Lumen name, or the StayLocal logo, each with an independently curated oracle coordinate. Holo's value-norm target-box differential is 10.74 percentage points, versus 6.55 for base Qwen, a +4.19-point delta. Minimum leave-one-control-out cosine is 0.957. The current frame carries 68.1% of Holo's positive prompt differential, and the cheapest button carries 34.5%. This is a teacher-forced routing diagnostic, not a free-generation accuracy result. It shows that the final coordinate-token path can retrieve the sequence and bind to the visible cheapest affordance when resolution is preserved. Source: artifacts/screenspot-presentation/native-saliency-ppt48-hotel35-v1/native-saliency-summary.json.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7:10–8:15 — This slide replaces the earlier three selected matrices with the balanced official-protocol pilot. Each item uses four visible, task-valid alternate click instructions on the same screenshot and the same 2,097,152-pixel eager-attention profile. Layer rank means rank among the eight captured full-attention layers. H10 rank means rank among the 16 heads within Layer 19. Holo3.1-4B uses full attention at zero-based layers 3, 7, 11, 15, 19, 23, 27, and 31, so both Layer 15 and Layer 19 are full-attention layers. The intervening layers use Gated DeltaNet and are outside this rollout. Across two hits and two misses, Layer 19 has the highest mean at 158.4×, narrowly ahead of Layer 15 at 151.4×. Layer 19 is top on two items and has median item rank 2. H11, H14, H10, and H2 form the strongest aggregate cluster. H10 ranks third within Layer 19 and never ranks first on an individual item. This is descriptive routing evidence from a four-item pilot, not a stable Layer 19 mechanism. Sources: data/remote-results/attention-layer19-balanced-v1/aggregate/aggregate.json and https://huggingface.co/Hcompany/Holo-3.1-4B/blob/main/config.json.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8:15–9:05 — Introduce the matched causal pair. The pixel corruption crops both equal-size tiles from the original before either paste, then exchanges them without resizing or resampling; 0.91% of pixels change. The swap creates a localized visual counterfactual while preserving task wording and layout. It may alter recognition as well as coordinate binding. The teacher-forced coordinate margin is the log probability of the correct six x/y value tokens minus the log probability of the distractor coordinate tokens. Syntax tokens are excluded. A nat is a natural-log unit, so exp(margin) is the target-to-distractor sequence-probability ratio. +1.70 nats means 5.47× target preference. −2.64 nats means 14.07× distractor preference.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9:05–10:00 — The schematic defines activation patching: capture one component from the clean run, replace the corresponding component in the corrupted run, then measure the change in teacher-forced coordinate margin. Patching all clean layer-19 visual-token residuals restores 1.85 nats, or 42.7% of the clean–corrupt gap. Restricting the patch to four target-overlapping tokens restores 1.44 nats, or 33.2%. Mean-replacing those same clean tokens removes 1.48 nats. The isolated layer-19/head-10 attention output restores only 0.024 nats, so the causal claim stays regional and residual-stream level for this one matched case. The chart leads with those three contrasts; the distractor and MLP probes remain in the secondary line. Source: artifacts/causal-intervention/powerpoint_windows_59_swap/results.json.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10:00–11:05 — This is the standalone fine-tuning comparison. The layer chart teacher-forces identical oracle and distractor action tokens through the official Qwen3.5-4B base and Holo3.1-4B, using the same Holo processor, prompts, image order, and action suffixes. All five ScreenSpot probes end with a positive Holo-minus-Qwen oracle-margin shift, averaging 1.14 nats per scored token; three cross from a negative base margin to a positive Holo margin. The hotel final click ends at +0.37 nats per token, while earlier hotel steps are mixed. The top triptych is a separate paired instruction-control diagnostic on powerpoint_windows_59. Each checkpoint sees the same native-resolution screenshot and official localization prompt for the target plus four visible alternate tasks: blank presentation, Scientific discovery, Animal magnetism, and the template search box. Every task uses an independently image-derived oracle coordinate, so neither model's rollout selects a control target. We separately L1-normalize the five value-norm maps, subtract the mean control map from the target map within each checkpoint, then subtract Qwen from Holo. The target-minus-control mass is 13.15 percentage points for Qwen and 12.37 for Holo, so the paired Holo-minus-Qwen change is −0.78 point. Leave-one-control-out cosine remains at least 0.949 for Qwen and 0.950 for Holo. Raw attention again moves in the opposite direction at +1.36 points. This one case supports a fine-tuning shift in action preference, but not stronger value-weighted target grounding. In the three-frame hotel prompt, Holo moves value-norm image attention away from the earliest frame and toward the middle and current frames. The ScreenSpot processor grid is 56 by 90 from a 2880 by 1800 source, retaining 99.6% of source area; each hotel frame uses a 22 by 32 grid from 1024 by 720, retaining 97.8%. Attention is descriptive; the layerwise logit lens also includes each checkpoint's own final norm and unembedding. Sources: data/remote-results/delta-lens-qwen35-vs-holo31-20260921-dcd8c5e5, data/local-results/attention-delta-ppt59-controls-v1, artifacts/screenspot-presentation/delta-lens-paired-controls-v1/paired-control-attention-summary.json, and data/local-results/attention-delta-hotel-step2-native-v1.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11:05–11:55 — The single-case intervention and eight-case delta lens change the agenda. Scale the matched protocol across a frozen split and report effect distributions. Search causal subspaces because the salient head was not sufficient by itself. Extend patching across historical frames to separate memory retrieval from action binding. For the delta lens, separate residual-stream changes from changes in each checkpoint’s final norm and unembedding, then expand beyond five ScreenSpot probes and one hotel trace. The training program remains oracle SFT, measured causal effects, then GRPO plus LoRA with verifiable reward. Do not optimize the heatmap itself.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11:55–12:45 — Close on three defensible conclusions. The prompt ensemble exposes target-specific routing. Correct and incorrect cases can share coarse routing while differing in precise binding. In the matched intervention, regional layer-19 residuals pass both restoration and ablation tests, while the strongest direct-attention head does not. Fine-tuning moves every ScreenSpot diagnostic margin toward the oracle, but attention weighting choices and the hotel trajectory show that internal redistribution is selective. In the live demo, show raw versus prompt differential on the hit, the static miss, the hotel frames, then the clean/corrupted pair and intervention chart. The result is one matched case, so the next claim requires a frozen evaluation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 Read across by action family and down by the benchmark's official target-element label. ScreenSpot-Pro defines icon targets as elements with no text hint; any target with a text label belongs to the text category even when it also includes an icon. The action-family columns are our deterministic instruction-verb taxonomy, not official benchmark labels. Each cell shows cohort accuracy and one real completed instruction selected for clear category membership. We replaced two visually ambiguous Blender examples after review because their released ui_type annotations appear inconsistent with the paper's stated rule. The Other bucket is omitted from the 2 × 6 grid; it contains 373 items at 64.1% accuracy. Sources: https://openreview.net/pdf?id=BS75DmIsRL, https://huggingface.co/datasets/yyyang/UI-Grounding-Benchmarks/blob/main/ScreenSpot-Pro/annotations/blender_windows.json, data/remote-results/run/screenspot-full-official/summary.json, and artifacts/screenspot-presentation/screenspot-category-examples.json.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8295ec73be4b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20f348edd3495f" /><Relationship Type="http://schemas.openxmlformats.org/officeDocument/2006/relationships/slideLayout" Target="/ppt/slideLayouts/slideLayout1.xml" Id="R3ce36647c07242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e36647c07242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4240db36ea04f5a" /><Relationship Type="http://schemas.openxmlformats.org/officeDocument/2006/relationships/image" Target="/ppt/media/image.png" Id="Rb787af10bce54906" /><Relationship Type="http://schemas.openxmlformats.org/officeDocument/2006/relationships/notesSlide" Target="/ppt/notesSlides/notesSlide1.xml" Id="R8c2929302fa543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8b210ef08b549ee" /><Relationship Type="http://schemas.openxmlformats.org/officeDocument/2006/relationships/notesSlide" Target="/ppt/notesSlides/notesSlide2.xml" Id="Rac930454875e4eb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2e1081423b84425" /><Relationship Type="http://schemas.openxmlformats.org/officeDocument/2006/relationships/chart" Target="/ppt/slides/charts/chart1.xml" Id="Raf7cda6fccac4d12" /><Relationship Type="http://schemas.openxmlformats.org/officeDocument/2006/relationships/notesSlide" Target="/ppt/notesSlides/notesSlide3.xml" Id="R0c0b39dc680041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ebc47d100b4566" /><Relationship Type="http://schemas.openxmlformats.org/officeDocument/2006/relationships/chart" Target="/ppt/slides/charts/chart2.xml" Id="R3d0249ea2c8f4158" /><Relationship Type="http://schemas.openxmlformats.org/officeDocument/2006/relationships/notesSlide" Target="/ppt/notesSlides/notesSlide4.xml" Id="Rd1813a9d8e8b4f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5387cc80b05408a" /><Relationship Type="http://schemas.openxmlformats.org/officeDocument/2006/relationships/notesSlide" Target="/ppt/notesSlides/notesSlide5.xml" Id="R2aff9e9592b444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49b6e19b9442bd" /><Relationship Type="http://schemas.openxmlformats.org/officeDocument/2006/relationships/image" Target="/ppt/media/image2.png" Id="R801d117a37f14f29" /><Relationship Type="http://schemas.openxmlformats.org/officeDocument/2006/relationships/image" Target="/ppt/media/image3.png" Id="Ra5ae32e6b3bd4cb8" /><Relationship Type="http://schemas.openxmlformats.org/officeDocument/2006/relationships/notesSlide" Target="/ppt/notesSlides/notesSlide6.xml" Id="Rc4580e1cee3544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35d0255e04431d" /><Relationship Type="http://schemas.openxmlformats.org/officeDocument/2006/relationships/image" Target="/ppt/media/image4.png" Id="Rcd443519b7a94879" /><Relationship Type="http://schemas.openxmlformats.org/officeDocument/2006/relationships/notesSlide" Target="/ppt/notesSlides/notesSlide7.xml" Id="Rf5e60928a16e4d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60668159e2490d" /><Relationship Type="http://schemas.openxmlformats.org/officeDocument/2006/relationships/image" Target="/ppt/media/image5.png" Id="R4b5c7a16bfc44ebc" /><Relationship Type="http://schemas.openxmlformats.org/officeDocument/2006/relationships/image" Target="/ppt/media/image6.png" Id="R1404d855c3c64a85" /><Relationship Type="http://schemas.openxmlformats.org/officeDocument/2006/relationships/image" Target="/ppt/media/image7.png" Id="R1e2090fbdf864e40" /><Relationship Type="http://schemas.openxmlformats.org/officeDocument/2006/relationships/notesSlide" Target="/ppt/notesSlides/notesSlide8.xml" Id="R49a50263cbcc462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7129f5b1ec5467d" /><Relationship Type="http://schemas.openxmlformats.org/officeDocument/2006/relationships/notesSlide" Target="/ppt/notesSlides/notesSlide9.xml" Id="R169ea05062ec46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dbd59458fde42c4" /><Relationship Type="http://schemas.openxmlformats.org/officeDocument/2006/relationships/image" Target="/ppt/media/image8.png" Id="R1ac50a8bfea64222" /><Relationship Type="http://schemas.openxmlformats.org/officeDocument/2006/relationships/image" Target="/ppt/media/image9.png" Id="R38a879e74da645be" /><Relationship Type="http://schemas.openxmlformats.org/officeDocument/2006/relationships/notesSlide" Target="/ppt/notesSlides/notesSlide10.xml" Id="R0fdfa1eb3aec470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414c631916543f4" /><Relationship Type="http://schemas.openxmlformats.org/officeDocument/2006/relationships/chart" Target="/ppt/slides/charts/chart3.xml" Id="Re756127bad0a4d7e" /><Relationship Type="http://schemas.openxmlformats.org/officeDocument/2006/relationships/notesSlide" Target="/ppt/notesSlides/notesSlide11.xml" Id="Rb69f5241eaea443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599a126d8d4114" /><Relationship Type="http://schemas.openxmlformats.org/officeDocument/2006/relationships/image" Target="/ppt/media/image10.png" Id="R398c172b7eb14781" /><Relationship Type="http://schemas.openxmlformats.org/officeDocument/2006/relationships/image" Target="/ppt/media/image11.png" Id="Rc69ab6da878a453f" /><Relationship Type="http://schemas.openxmlformats.org/officeDocument/2006/relationships/image" Target="/ppt/media/image12.png" Id="R7f7e87bc665d43df" /><Relationship Type="http://schemas.openxmlformats.org/officeDocument/2006/relationships/chart" Target="/ppt/slides/charts/chart4.xml" Id="Re1aa3df52ae14de9" /><Relationship Type="http://schemas.openxmlformats.org/officeDocument/2006/relationships/chart" Target="/ppt/slides/charts/chart5.xml" Id="R4fae634ef9db4db5" /><Relationship Type="http://schemas.openxmlformats.org/officeDocument/2006/relationships/notesSlide" Target="/ppt/notesSlides/notesSlide12.xml" Id="R36189effd9c948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2a1aff72b4f45ab" /><Relationship Type="http://schemas.openxmlformats.org/officeDocument/2006/relationships/notesSlide" Target="/ppt/notesSlides/notesSlide13.xml" Id="R0695fd015968480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703889061464707" /><Relationship Type="http://schemas.openxmlformats.org/officeDocument/2006/relationships/notesSlide" Target="/ppt/notesSlides/notesSlide14.xml" Id="R86d0763fc55346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202aa076124cc0" /><Relationship Type="http://schemas.openxmlformats.org/officeDocument/2006/relationships/notesSlide" Target="/ppt/notesSlides/notesSlide15.xml" Id="R5bc23da227304d1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Accuracy</c:v>
          </c:tx>
          <c:spPr>
            <a:solidFill xmlns:a="http://schemas.openxmlformats.org/drawingml/2006/main">
              <a:srgbClr val="2D84D3"/>
            </a:solidFill>
          </c:spPr>
          <c:cat>
            <c:strRef>
              <c:f>'Chart Data'!$A$2:$A$3</c:f>
              <c:strCache>
                <c:ptCount val="2"/>
                <c:pt idx="0">
                  <c:v>Text targets  n=977</c:v>
                </c:pt>
                <c:pt idx="1">
                  <c:v>Icon targets  n=604</c:v>
                </c:pt>
              </c:strCache>
            </c:strRef>
          </c:cat>
          <c:val>
            <c:numRef>
              <c:f>'Chart Data'!$B$2:$B$3</c:f>
              <c:numCache>
                <c:formatCode>General</c:formatCode>
                <c:ptCount val="2"/>
                <c:pt idx="0">
                  <c:v>0.7943</c:v>
                </c:pt>
                <c:pt idx="1">
                  <c:v>0.4404</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975" b="1">
                <a:solidFill>
                  <a:srgbClr val="10151C"/>
                </a:solidFill>
                <a:latin typeface="Helvetica Neue"/>
                <a:ea typeface="Helvetica Neue"/>
                <a:cs typeface="Helvetica Neue"/>
              </a:defRPr>
            </a:pPr>
          </a:p>
        </c:txPr>
        <c:crossAx val="48650112"/>
        <c:crossBetween val="between"/>
      </c:valAx>
      <c:spPr>
        <a:solidFill xmlns:a="http://schemas.openxmlformats.org/drawingml/2006/main">
          <a:srgbClr val="F5F2EB"/>
        </a:solidFill>
        <a:ln xmlns:a="http://schemas.openxmlformats.org/drawingml/2006/main" w="0">
          <a:noFill/>
        </a:ln>
      </c:spPr>
    </c:plotArea>
    <c:plotVisOnly val="1"/>
  </c:chart>
  <c:spPr>
    <a:solidFill xmlns:a="http://schemas.openxmlformats.org/drawingml/2006/main">
      <a:srgbClr val="F5F2EB"/>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Icon</c:v>
          </c:tx>
          <c:spPr>
            <a:solidFill xmlns:a="http://schemas.openxmlformats.org/drawingml/2006/main">
              <a:srgbClr val="F05A3C"/>
            </a:solidFill>
          </c:spPr>
          <c:cat>
            <c:strRef>
              <c:f>'Chart Data'!$A$2:$A$8</c:f>
              <c:strCache>
                <c:ptCount val="7"/>
                <c:pt idx="0">
                  <c:v>&lt;0.01%</c:v>
                </c:pt>
                <c:pt idx="1">
                  <c:v>0.01–0.02%</c:v>
                </c:pt>
                <c:pt idx="2">
                  <c:v>0.02–0.05%</c:v>
                </c:pt>
                <c:pt idx="3">
                  <c:v>0.05–0.10%</c:v>
                </c:pt>
                <c:pt idx="4">
                  <c:v>0.10–0.20%</c:v>
                </c:pt>
                <c:pt idx="5">
                  <c:v>0.20–0.50%</c:v>
                </c:pt>
                <c:pt idx="6">
                  <c:v>≥0.50%</c:v>
                </c:pt>
              </c:strCache>
            </c:strRef>
          </c:cat>
          <c:val>
            <c:numRef>
              <c:f>'Chart Data'!$B$2:$B$8</c:f>
              <c:numCache>
                <c:formatCode>General</c:formatCode>
                <c:ptCount val="7"/>
                <c:pt idx="0">
                  <c:v>35.4</c:v>
                </c:pt>
                <c:pt idx="1">
                  <c:v>38.9</c:v>
                </c:pt>
                <c:pt idx="2">
                  <c:v>19.5</c:v>
                </c:pt>
                <c:pt idx="3">
                  <c:v>4.1</c:v>
                </c:pt>
                <c:pt idx="4">
                  <c:v>0.8</c:v>
                </c:pt>
                <c:pt idx="5">
                  <c:v>0.7</c:v>
                </c:pt>
                <c:pt idx="6">
                  <c:v>0.5</c:v>
                </c:pt>
              </c:numCache>
            </c:numRef>
          </c:val>
        </c:ser>
        <c:ser>
          <c:idx val="1"/>
          <c:order val="1"/>
          <c:tx>
            <c:v>Text</c:v>
          </c:tx>
          <c:spPr>
            <a:solidFill xmlns:a="http://schemas.openxmlformats.org/drawingml/2006/main">
              <a:srgbClr val="2D84D3"/>
            </a:solidFill>
          </c:spPr>
          <c:cat>
            <c:strRef>
              <c:f>'Chart Data'!$C$2:$C$8</c:f>
              <c:strCache>
                <c:ptCount val="7"/>
                <c:pt idx="0">
                  <c:v>&lt;0.01%</c:v>
                </c:pt>
                <c:pt idx="1">
                  <c:v>0.01–0.02%</c:v>
                </c:pt>
                <c:pt idx="2">
                  <c:v>0.02–0.05%</c:v>
                </c:pt>
                <c:pt idx="3">
                  <c:v>0.05–0.10%</c:v>
                </c:pt>
                <c:pt idx="4">
                  <c:v>0.10–0.20%</c:v>
                </c:pt>
                <c:pt idx="5">
                  <c:v>0.20–0.50%</c:v>
                </c:pt>
                <c:pt idx="6">
                  <c:v>≥0.50%</c:v>
                </c:pt>
              </c:strCache>
            </c:strRef>
          </c:cat>
          <c:val>
            <c:numRef>
              <c:f>'Chart Data'!$D$2:$D$8</c:f>
              <c:numCache>
                <c:formatCode>General</c:formatCode>
                <c:ptCount val="7"/>
                <c:pt idx="0">
                  <c:v>4.6</c:v>
                </c:pt>
                <c:pt idx="1">
                  <c:v>8.5</c:v>
                </c:pt>
                <c:pt idx="2">
                  <c:v>24</c:v>
                </c:pt>
                <c:pt idx="3">
                  <c:v>37.6</c:v>
                </c:pt>
                <c:pt idx="4">
                  <c:v>20.5</c:v>
                </c:pt>
                <c:pt idx="5">
                  <c:v>3.9</c:v>
                </c:pt>
                <c:pt idx="6">
                  <c:v>1</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Target area as share of screenshot</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Share within UI type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Clean activation restoration</c:v>
          </c:tx>
          <c:spPr>
            <a:solidFill xmlns:a="http://schemas.openxmlformats.org/drawingml/2006/main">
              <a:srgbClr val="F05A3C"/>
            </a:solidFill>
          </c:spPr>
          <c:cat>
            <c:strRef>
              <c:f>'Chart Data'!$A$2:$A$4</c:f>
              <c:strCache>
                <c:ptCount val="3"/>
                <c:pt idx="0">
                  <c:v>All visual residuals</c:v>
                </c:pt>
                <c:pt idx="1">
                  <c:v>Target-patch residuals</c:v>
                </c:pt>
                <c:pt idx="2">
                  <c:v>Isolated L19 / H10</c:v>
                </c:pt>
              </c:strCache>
            </c:strRef>
          </c:cat>
          <c:val>
            <c:numRef>
              <c:f>'Chart Data'!$B$2:$B$4</c:f>
              <c:numCache>
                <c:formatCode>General</c:formatCode>
                <c:ptCount val="3"/>
                <c:pt idx="0">
                  <c:v>1.853</c:v>
                </c:pt>
                <c:pt idx="1">
                  <c:v>1.444</c:v>
                </c:pt>
                <c:pt idx="2">
                  <c:v>0.024</c:v>
                </c:pt>
              </c:numCache>
            </c:numRef>
          </c:val>
        </c:ser>
        <c:ser>
          <c:idx val="1"/>
          <c:order val="1"/>
          <c:tx>
            <c:v>Clean-run ablation drop</c:v>
          </c:tx>
          <c:spPr>
            <a:solidFill xmlns:a="http://schemas.openxmlformats.org/drawingml/2006/main">
              <a:srgbClr val="2D84D3"/>
            </a:solidFill>
          </c:spPr>
          <c:cat>
            <c:strRef>
              <c:f>'Chart Data'!$C$2:$C$4</c:f>
              <c:strCache>
                <c:ptCount val="3"/>
                <c:pt idx="0">
                  <c:v>All visual residuals</c:v>
                </c:pt>
                <c:pt idx="1">
                  <c:v>Target-patch residuals</c:v>
                </c:pt>
                <c:pt idx="2">
                  <c:v>Isolated L19 / H10</c:v>
                </c:pt>
              </c:strCache>
            </c:strRef>
          </c:cat>
          <c:val>
            <c:numRef>
              <c:f>'Chart Data'!$D$2:$D$4</c:f>
              <c:numCache>
                <c:formatCode>General</c:formatCode>
                <c:ptCount val="3"/>
                <c:pt idx="0">
                  <c:v>0.846</c:v>
                </c:pt>
                <c:pt idx="1">
                  <c:v>1.481</c:v>
                </c:pt>
                <c:pt idx="2">
                  <c:v>0.09</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Change in coordinate margin (nats)</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0.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lineChart>
        <c:grouping val="standard"/>
        <c:ser>
          <c:idx val="0"/>
          <c:order val="0"/>
          <c:tx>
            <c:v>ScreenSpot mean</c:v>
          </c:tx>
          <c:spPr>
            <a:ln xmlns:a="http://schemas.openxmlformats.org/drawingml/2006/main" w="28575">
              <a:solidFill>
                <a:srgbClr val="F05A3C"/>
              </a:solidFill>
            </a:ln>
          </c:spPr>
          <c:marker>
            <c:spPr>
              <a:solidFill xmlns:a="http://schemas.openxmlformats.org/drawingml/2006/main">
                <a:srgbClr val="F05A3C"/>
              </a:solidFill>
            </c:spPr>
          </c:marker>
          <c:cat>
            <c:strRef>
              <c:f>'Chart Data'!$A$2:$A$33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Data'!$B$2:$B$33</c:f>
              <c:numCache>
                <c:formatCode>General</c:formatCode>
                <c:ptCount val="32"/>
                <c:pt idx="0">
                  <c:v>-0.006</c:v>
                </c:pt>
                <c:pt idx="1">
                  <c:v>-0.393</c:v>
                </c:pt>
                <c:pt idx="2">
                  <c:v>-1.487</c:v>
                </c:pt>
                <c:pt idx="3">
                  <c:v>-0.266</c:v>
                </c:pt>
                <c:pt idx="4">
                  <c:v>-0.803</c:v>
                </c:pt>
                <c:pt idx="5">
                  <c:v>-0.791</c:v>
                </c:pt>
                <c:pt idx="6">
                  <c:v>0.715</c:v>
                </c:pt>
                <c:pt idx="7">
                  <c:v>0.471</c:v>
                </c:pt>
                <c:pt idx="8">
                  <c:v>0.587</c:v>
                </c:pt>
                <c:pt idx="9">
                  <c:v>0.788</c:v>
                </c:pt>
                <c:pt idx="10">
                  <c:v>0.662</c:v>
                </c:pt>
                <c:pt idx="11">
                  <c:v>0.902</c:v>
                </c:pt>
                <c:pt idx="12">
                  <c:v>0.447</c:v>
                </c:pt>
                <c:pt idx="13">
                  <c:v>-0.127</c:v>
                </c:pt>
                <c:pt idx="14">
                  <c:v>-0.307</c:v>
                </c:pt>
                <c:pt idx="15">
                  <c:v>-0.446</c:v>
                </c:pt>
                <c:pt idx="16">
                  <c:v>0.004</c:v>
                </c:pt>
                <c:pt idx="17">
                  <c:v>-0.641</c:v>
                </c:pt>
                <c:pt idx="18">
                  <c:v>-0.294</c:v>
                </c:pt>
                <c:pt idx="19">
                  <c:v>-2.074</c:v>
                </c:pt>
                <c:pt idx="20">
                  <c:v>-1.849</c:v>
                </c:pt>
                <c:pt idx="21">
                  <c:v>-2.277</c:v>
                </c:pt>
                <c:pt idx="22">
                  <c:v>-3.042</c:v>
                </c:pt>
                <c:pt idx="23">
                  <c:v>-1.442</c:v>
                </c:pt>
                <c:pt idx="24">
                  <c:v>-1.745</c:v>
                </c:pt>
                <c:pt idx="25">
                  <c:v>-1.396</c:v>
                </c:pt>
                <c:pt idx="26">
                  <c:v>-1.075</c:v>
                </c:pt>
                <c:pt idx="27">
                  <c:v>-1.243</c:v>
                </c:pt>
                <c:pt idx="28">
                  <c:v>-1.251</c:v>
                </c:pt>
                <c:pt idx="29">
                  <c:v>-1.484</c:v>
                </c:pt>
                <c:pt idx="30">
                  <c:v>1.763</c:v>
                </c:pt>
                <c:pt idx="31">
                  <c:v>1.142</c:v>
                </c:pt>
              </c:numCache>
            </c:numRef>
          </c:val>
        </c:ser>
        <c:ser>
          <c:idx val="1"/>
          <c:order val="1"/>
          <c:tx>
            <c:v>Hotel final click</c:v>
          </c:tx>
          <c:spPr>
            <a:ln xmlns:a="http://schemas.openxmlformats.org/drawingml/2006/main" w="19050">
              <a:solidFill>
                <a:srgbClr val="2D84D3"/>
              </a:solidFill>
            </a:ln>
          </c:spPr>
          <c:marker>
            <c:spPr>
              <a:solidFill xmlns:a="http://schemas.openxmlformats.org/drawingml/2006/main">
                <a:srgbClr val="2D84D3"/>
              </a:solidFill>
            </c:spPr>
          </c:marker>
          <c:cat>
            <c:strRef>
              <c:f>'Chart Data'!$C$2:$C$33</c:f>
              <c:strCache>
                <c:ptCount val="32"/>
                <c:pt idx="0">
                  <c:v>L0</c:v>
                </c:pt>
                <c:pt idx="1">
                  <c:v>L1</c:v>
                </c:pt>
                <c:pt idx="2">
                  <c:v>L2</c:v>
                </c:pt>
                <c:pt idx="3">
                  <c:v>L3</c:v>
                </c:pt>
                <c:pt idx="4">
                  <c:v>L4</c:v>
                </c:pt>
                <c:pt idx="5">
                  <c:v>L5</c:v>
                </c:pt>
                <c:pt idx="6">
                  <c:v>L6</c:v>
                </c:pt>
                <c:pt idx="7">
                  <c:v>L7</c:v>
                </c:pt>
                <c:pt idx="8">
                  <c:v>L8</c:v>
                </c:pt>
                <c:pt idx="9">
                  <c:v>L9</c:v>
                </c:pt>
                <c:pt idx="10">
                  <c:v>L10</c:v>
                </c:pt>
                <c:pt idx="11">
                  <c:v>L11</c:v>
                </c:pt>
                <c:pt idx="12">
                  <c:v>L12</c:v>
                </c:pt>
                <c:pt idx="13">
                  <c:v>L13</c:v>
                </c:pt>
                <c:pt idx="14">
                  <c:v>L14</c:v>
                </c:pt>
                <c:pt idx="15">
                  <c:v>L15</c:v>
                </c:pt>
                <c:pt idx="16">
                  <c:v>L16</c:v>
                </c:pt>
                <c:pt idx="17">
                  <c:v>L17</c:v>
                </c:pt>
                <c:pt idx="18">
                  <c:v>L18</c:v>
                </c:pt>
                <c:pt idx="19">
                  <c:v>L19</c:v>
                </c:pt>
                <c:pt idx="20">
                  <c:v>L20</c:v>
                </c:pt>
                <c:pt idx="21">
                  <c:v>L21</c:v>
                </c:pt>
                <c:pt idx="22">
                  <c:v>L22</c:v>
                </c:pt>
                <c:pt idx="23">
                  <c:v>L23</c:v>
                </c:pt>
                <c:pt idx="24">
                  <c:v>L24</c:v>
                </c:pt>
                <c:pt idx="25">
                  <c:v>L25</c:v>
                </c:pt>
                <c:pt idx="26">
                  <c:v>L26</c:v>
                </c:pt>
                <c:pt idx="27">
                  <c:v>L27</c:v>
                </c:pt>
                <c:pt idx="28">
                  <c:v>L28</c:v>
                </c:pt>
                <c:pt idx="29">
                  <c:v>L29</c:v>
                </c:pt>
                <c:pt idx="30">
                  <c:v>L30</c:v>
                </c:pt>
                <c:pt idx="31">
                  <c:v>L31</c:v>
                </c:pt>
              </c:strCache>
            </c:strRef>
          </c:cat>
          <c:val>
            <c:numRef>
              <c:f>'Chart Data'!$D$2:$D$33</c:f>
              <c:numCache>
                <c:formatCode>General</c:formatCode>
                <c:ptCount val="32"/>
                <c:pt idx="0">
                  <c:v>-0.088</c:v>
                </c:pt>
                <c:pt idx="1">
                  <c:v>-0.056</c:v>
                </c:pt>
                <c:pt idx="2">
                  <c:v>0.414</c:v>
                </c:pt>
                <c:pt idx="3">
                  <c:v>0.001</c:v>
                </c:pt>
                <c:pt idx="4">
                  <c:v>-0.364</c:v>
                </c:pt>
                <c:pt idx="5">
                  <c:v>-0.082</c:v>
                </c:pt>
                <c:pt idx="6">
                  <c:v>-1.386</c:v>
                </c:pt>
                <c:pt idx="7">
                  <c:v>0.02</c:v>
                </c:pt>
                <c:pt idx="8">
                  <c:v>-0.19</c:v>
                </c:pt>
                <c:pt idx="9">
                  <c:v>-0.244</c:v>
                </c:pt>
                <c:pt idx="10">
                  <c:v>-0.213</c:v>
                </c:pt>
                <c:pt idx="11">
                  <c:v>-0.379</c:v>
                </c:pt>
                <c:pt idx="12">
                  <c:v>-0.509</c:v>
                </c:pt>
                <c:pt idx="13">
                  <c:v>-0.043</c:v>
                </c:pt>
                <c:pt idx="14">
                  <c:v>-0.011</c:v>
                </c:pt>
                <c:pt idx="15">
                  <c:v>-0.285</c:v>
                </c:pt>
                <c:pt idx="16">
                  <c:v>-0.399</c:v>
                </c:pt>
                <c:pt idx="17">
                  <c:v>0.224</c:v>
                </c:pt>
                <c:pt idx="18">
                  <c:v>-1.055</c:v>
                </c:pt>
                <c:pt idx="19">
                  <c:v>0.852</c:v>
                </c:pt>
                <c:pt idx="20">
                  <c:v>-0.512</c:v>
                </c:pt>
                <c:pt idx="21">
                  <c:v>-0.894</c:v>
                </c:pt>
                <c:pt idx="22">
                  <c:v>0.393</c:v>
                </c:pt>
                <c:pt idx="23">
                  <c:v>-0.563</c:v>
                </c:pt>
                <c:pt idx="24">
                  <c:v>-0.946</c:v>
                </c:pt>
                <c:pt idx="25">
                  <c:v>-2.441</c:v>
                </c:pt>
                <c:pt idx="26">
                  <c:v>-1.111</c:v>
                </c:pt>
                <c:pt idx="27">
                  <c:v>1.07</c:v>
                </c:pt>
                <c:pt idx="28">
                  <c:v>0.395</c:v>
                </c:pt>
                <c:pt idx="29">
                  <c:v>0.04</c:v>
                </c:pt>
                <c:pt idx="30">
                  <c:v>-0.08</c:v>
                </c:pt>
                <c:pt idx="31">
                  <c:v>0.366</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Transformer layer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Holo − Qwen margin (nats/token)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Qwen</c:v>
          </c:tx>
          <c:spPr>
            <a:solidFill xmlns:a="http://schemas.openxmlformats.org/drawingml/2006/main">
              <a:srgbClr val="2D84D3"/>
            </a:solidFill>
          </c:spPr>
          <c:cat>
            <c:strRef>
              <c:f>'Chart Data'!$A$2:$A$4</c:f>
              <c:strCache>
                <c:ptCount val="3"/>
                <c:pt idx="0">
                  <c:v>Earliest</c:v>
                </c:pt>
                <c:pt idx="1">
                  <c:v>Middle</c:v>
                </c:pt>
                <c:pt idx="2">
                  <c:v>Current</c:v>
                </c:pt>
              </c:strCache>
            </c:strRef>
          </c:cat>
          <c:val>
            <c:numRef>
              <c:f>'Chart Data'!$B$2:$B$4</c:f>
              <c:numCache>
                <c:formatCode>General</c:formatCode>
                <c:ptCount val="3"/>
                <c:pt idx="0">
                  <c:v>36.8</c:v>
                </c:pt>
                <c:pt idx="1">
                  <c:v>15</c:v>
                </c:pt>
                <c:pt idx="2">
                  <c:v>48.2</c:v>
                </c:pt>
              </c:numCache>
            </c:numRef>
          </c:val>
        </c:ser>
        <c:ser>
          <c:idx val="1"/>
          <c:order val="1"/>
          <c:tx>
            <c:v>Holo</c:v>
          </c:tx>
          <c:spPr>
            <a:solidFill xmlns:a="http://schemas.openxmlformats.org/drawingml/2006/main">
              <a:srgbClr val="F05A3C"/>
            </a:solidFill>
          </c:spPr>
          <c:cat>
            <c:strRef>
              <c:f>'Chart Data'!$C$2:$C$4</c:f>
              <c:strCache>
                <c:ptCount val="3"/>
                <c:pt idx="0">
                  <c:v>Earliest</c:v>
                </c:pt>
                <c:pt idx="1">
                  <c:v>Middle</c:v>
                </c:pt>
                <c:pt idx="2">
                  <c:v>Current</c:v>
                </c:pt>
              </c:strCache>
            </c:strRef>
          </c:cat>
          <c:val>
            <c:numRef>
              <c:f>'Chart Data'!$D$2:$D$4</c:f>
              <c:numCache>
                <c:formatCode>General</c:formatCode>
                <c:ptCount val="3"/>
                <c:pt idx="0">
                  <c:v>20.2</c:v>
                </c:pt>
                <c:pt idx="1">
                  <c:v>23</c:v>
                </c:pt>
                <c:pt idx="2">
                  <c:v>56.8</c:v>
                </c:pt>
              </c:numCache>
            </c:numRef>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 of image attention</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9525">
      <a:solidFill>
        <a:srgbClr val="D9D4C8"/>
      </a:solid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b787af10bce54906"/>
          <a:srcRect xmlns:a="http://schemas.openxmlformats.org/drawingml/2006/main" l="25000" t="0" r="25000" b="0"/>
          <a:stretch xmlns:a="http://schemas.openxmlformats.org/drawingml/2006/main">
            <a:fillRect l="0" t="0" r="0" b="0"/>
          </a:stretch>
        </p:blipFill>
        <p:spPr>
          <a:xfrm xmlns:a="http://schemas.openxmlformats.org/drawingml/2006/main">
            <a:off x="6705600" y="0"/>
            <a:ext cx="54864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632B8F8-DDDF-4E13-923B-8B9070FB4CAA}"/>
              </a:ext>
            </a:extLst>
          </p:cNvPr>
          <p:cNvSpPr>
            <a:spLocks xmlns:a="http://schemas.openxmlformats.org/drawingml/2006/main" noGrp="1"/>
          </p:cNvSpPr>
          <p:nvPr/>
        </p:nvSpPr>
        <p:spPr>
          <a:xfrm xmlns:a="http://schemas.openxmlformats.org/drawingml/2006/main">
            <a:off x="6705600" y="0"/>
            <a:ext cx="5486400" cy="6858000"/>
          </a:xfrm>
          <a:prstGeom xmlns:a="http://schemas.openxmlformats.org/drawingml/2006/main" prst="roundRect">
            <a:avLst>
              <a:gd name="adj" fmla="val 1389"/>
            </a:avLst>
          </a:prstGeom>
          <a:noFill xmlns:a="http://schemas.openxmlformats.org/drawingml/2006/main"/>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A677CEE-4E44-4233-A9A3-F57609846863}"/>
              </a:ext>
            </a:extLst>
          </p:cNvPr>
          <p:cNvSpPr>
            <a:spLocks xmlns:a="http://schemas.openxmlformats.org/drawingml/2006/main" noGrp="1"/>
          </p:cNvSpPr>
          <p:nvPr/>
        </p:nvSpPr>
        <p:spPr>
          <a:xfrm xmlns:a="http://schemas.openxmlformats.org/drawingml/2006/main">
            <a:off x="6096000" y="0"/>
            <a:ext cx="1200150" cy="6858000"/>
          </a:xfrm>
          <a:prstGeom xmlns:a="http://schemas.openxmlformats.org/drawingml/2006/main" prst="rect">
            <a:avLst/>
          </a:prstGeom>
          <a:gradFill xmlns:a="http://schemas.openxmlformats.org/drawingml/2006/main">
            <a:gsLst>
              <a:gs pos="0">
                <a:srgbClr val="10151C"/>
              </a:gs>
              <a:gs pos="100000">
                <a:srgbClr val="10151C">
                  <a:alpha val="0"/>
                </a:srgbClr>
              </a:gs>
            </a:gsLst>
            <a:lin ang="0"/>
          </a:gra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AA594CE-BF01-4C1B-987B-EB403A179951}"/>
              </a:ext>
            </a:extLst>
          </p:cNvPr>
          <p:cNvSpPr>
            <a:spLocks xmlns:a="http://schemas.openxmlformats.org/drawingml/2006/main" noGrp="1"/>
          </p:cNvSpPr>
          <p:nvPr/>
        </p:nvSpPr>
        <p:spPr>
          <a:xfrm xmlns:a="http://schemas.openxmlformats.org/drawingml/2006/main">
            <a:off x="609600" y="590550"/>
            <a:ext cx="21336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FBAC14D-3EB8-4799-AD62-F387D8040667}"/>
              </a:ext>
            </a:extLst>
          </p:cNvPr>
          <p:cNvSpPr>
            <a:spLocks xmlns:a="http://schemas.openxmlformats.org/drawingml/2006/main" noGrp="1"/>
          </p:cNvSpPr>
          <p:nvPr/>
        </p:nvSpPr>
        <p:spPr>
          <a:xfrm xmlns:a="http://schemas.openxmlformats.org/drawingml/2006/main">
            <a:off x="704850" y="609600"/>
            <a:ext cx="1943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MECHANISTIC GUI ANALYSIS</a:t>
            </a:r>
          </a:p>
        </p:txBody>
      </p:sp>
      <p:sp>
        <p:nvSpPr>
          <p:cNvPr id="6" name="">
            <a:extLst xmlns:a="http://schemas.openxmlformats.org/drawingml/2006/main">
              <a:ext uri="{FF2B5EF4-FFF2-40B4-BE49-F238E27FC236}">
                <a16:creationId xmlns:a16="http://schemas.microsoft.com/office/drawing/2014/main" id="{C819BF7C-3E96-42BF-84F7-8BDCB6A5C125}"/>
              </a:ext>
            </a:extLst>
          </p:cNvPr>
          <p:cNvSpPr>
            <a:spLocks xmlns:a="http://schemas.openxmlformats.org/drawingml/2006/main" noGrp="1"/>
          </p:cNvSpPr>
          <p:nvPr/>
        </p:nvSpPr>
        <p:spPr>
          <a:xfrm xmlns:a="http://schemas.openxmlformats.org/drawingml/2006/main">
            <a:off x="609600" y="1352550"/>
            <a:ext cx="56197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When attention</a:t>
            </a:r>
          </a:p>
          <a:p xmlns:a="http://schemas.openxmlformats.org/drawingml/2006/main">
            <a:pPr algn="l">
              <a:defRPr sz="4125" b="1">
                <a:solidFill>
                  <a:srgbClr val="FFFFFF"/>
                </a:solidFill>
                <a:latin typeface="Helvetica Neue"/>
                <a:ea typeface="Helvetica Neue"/>
                <a:cs typeface="Helvetica Neue"/>
              </a:defRPr>
            </a:pPr>
            <a:r>
              <a:rPr sz="4125" b="1">
                <a:solidFill>
                  <a:srgbClr val="FFFFFF"/>
                </a:solidFill>
                <a:latin typeface="Helvetica Neue"/>
                <a:ea typeface="Helvetica Neue"/>
                <a:cs typeface="Helvetica Neue"/>
              </a:rPr>
              <a:t>stops being generic</a:t>
            </a:r>
          </a:p>
        </p:txBody>
      </p:sp>
      <p:sp>
        <p:nvSpPr>
          <p:cNvPr id="7" name="">
            <a:extLst xmlns:a="http://schemas.openxmlformats.org/drawingml/2006/main">
              <a:ext uri="{FF2B5EF4-FFF2-40B4-BE49-F238E27FC236}">
                <a16:creationId xmlns:a16="http://schemas.microsoft.com/office/drawing/2014/main" id="{E8B317FD-7ECB-45F8-BB75-349BF8BDAACF}"/>
              </a:ext>
            </a:extLst>
          </p:cNvPr>
          <p:cNvSpPr>
            <a:spLocks xmlns:a="http://schemas.openxmlformats.org/drawingml/2006/main" noGrp="1"/>
          </p:cNvSpPr>
          <p:nvPr/>
        </p:nvSpPr>
        <p:spPr>
          <a:xfrm xmlns:a="http://schemas.openxmlformats.org/drawingml/2006/main">
            <a:off x="647700" y="3238500"/>
            <a:ext cx="50958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CBD3DB"/>
                </a:solidFill>
                <a:latin typeface="Helvetica Neue"/>
                <a:ea typeface="Helvetica Neue"/>
                <a:cs typeface="Helvetica Neue"/>
              </a:defRPr>
            </a:pPr>
            <a:r>
              <a:rPr sz="1800" b="0">
                <a:solidFill>
                  <a:srgbClr val="CBD3DB"/>
                </a:solidFill>
                <a:latin typeface="Helvetica Neue"/>
                <a:ea typeface="Helvetica Neue"/>
                <a:cs typeface="Helvetica Neue"/>
              </a:rPr>
              <a:t>Action-token attribution for static GUI grounding and multi-turn visual memory</a:t>
            </a:r>
          </a:p>
        </p:txBody>
      </p:sp>
      <p:sp>
        <p:nvSpPr>
          <p:cNvPr id="8" name="">
            <a:extLst xmlns:a="http://schemas.openxmlformats.org/drawingml/2006/main">
              <a:ext uri="{FF2B5EF4-FFF2-40B4-BE49-F238E27FC236}">
                <a16:creationId xmlns:a16="http://schemas.microsoft.com/office/drawing/2014/main" id="{E93BC77B-619B-465F-B8EA-5F25BD4A320F}"/>
              </a:ext>
            </a:extLst>
          </p:cNvPr>
          <p:cNvSpPr>
            <a:spLocks xmlns:a="http://schemas.openxmlformats.org/drawingml/2006/main" noGrp="1"/>
          </p:cNvSpPr>
          <p:nvPr/>
        </p:nvSpPr>
        <p:spPr>
          <a:xfrm xmlns:a="http://schemas.openxmlformats.org/drawingml/2006/main">
            <a:off x="647700" y="576262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97A4B2"/>
                </a:solidFill>
                <a:latin typeface="Helvetica Neue"/>
                <a:ea typeface="Helvetica Neue"/>
                <a:cs typeface="Helvetica Neue"/>
              </a:defRPr>
            </a:pPr>
            <a:r>
              <a:rPr sz="1050" b="1">
                <a:solidFill>
                  <a:srgbClr val="97A4B2"/>
                </a:solidFill>
                <a:latin typeface="Helvetica Neue"/>
                <a:ea typeface="Helvetica Neue"/>
                <a:cs typeface="Helvetica Neue"/>
              </a:rPr>
              <a:t>Holo 3.1 4B · local Metal traces · 21 Sep 2026</a:t>
            </a:r>
          </a:p>
        </p:txBody>
      </p:sp>
    </p:spTree>
    <p:extLst>
      <p:ext uri="{BB962C8B-B14F-4D97-AF65-F5344CB8AC3E}">
        <p14:creationId xmlns:p14="http://schemas.microsoft.com/office/powerpoint/2010/main" val="920335163"/>
      </p:ext>
    </p:extLst>
  </p:cSld>
</p:sld>
</file>

<file path=ppt/slides/slide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EA7AB11-0351-4FFE-909A-2C4D2F65F8E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EVALUATION</a:t>
            </a:r>
          </a:p>
        </p:txBody>
      </p:sp>
      <p:sp>
        <p:nvSpPr>
          <p:cNvPr id="2" name="">
            <a:extLst xmlns:a="http://schemas.openxmlformats.org/drawingml/2006/main">
              <a:ext uri="{FF2B5EF4-FFF2-40B4-BE49-F238E27FC236}">
                <a16:creationId xmlns:a16="http://schemas.microsoft.com/office/drawing/2014/main" id="{C10752A3-4044-4D94-9D2F-5A62881989D6}"/>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Two case-study settings reveal different failure modes</a:t>
            </a:r>
          </a:p>
        </p:txBody>
      </p:sp>
      <p:sp>
        <p:nvSpPr>
          <p:cNvPr id="3" name="">
            <a:extLst xmlns:a="http://schemas.openxmlformats.org/drawingml/2006/main">
              <a:ext uri="{FF2B5EF4-FFF2-40B4-BE49-F238E27FC236}">
                <a16:creationId xmlns:a16="http://schemas.microsoft.com/office/drawing/2014/main" id="{F76AD1FA-545D-470A-8DB0-EE6FE9E8266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972D2292-15A9-4E53-B715-8FB66B6BE5A9}"/>
              </a:ext>
            </a:extLst>
          </p:cNvPr>
          <p:cNvSpPr>
            <a:spLocks xmlns:a="http://schemas.openxmlformats.org/drawingml/2006/main" noGrp="1"/>
          </p:cNvSpPr>
          <p:nvPr/>
        </p:nvSpPr>
        <p:spPr>
          <a:xfrm xmlns:a="http://schemas.openxmlformats.org/drawingml/2006/main">
            <a:off x="609600" y="1371600"/>
            <a:ext cx="5219700" cy="4381500"/>
          </a:xfrm>
          <a:prstGeom xmlns:a="http://schemas.openxmlformats.org/drawingml/2006/main" prst="roundRect">
            <a:avLst>
              <a:gd name="adj" fmla="val 1739"/>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DE785AF0-97E1-4080-95FC-3ED615BC5B20}"/>
              </a:ext>
            </a:extLst>
          </p:cNvPr>
          <p:cNvSpPr>
            <a:spLocks xmlns:a="http://schemas.openxmlformats.org/drawingml/2006/main" noGrp="1"/>
          </p:cNvSpPr>
          <p:nvPr/>
        </p:nvSpPr>
        <p:spPr>
          <a:xfrm xmlns:a="http://schemas.openxmlformats.org/drawingml/2006/main">
            <a:off x="857250" y="1619250"/>
            <a:ext cx="819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1EB345-EFBE-4B5A-AED0-78C0EE9B236F}"/>
              </a:ext>
            </a:extLst>
          </p:cNvPr>
          <p:cNvSpPr>
            <a:spLocks xmlns:a="http://schemas.openxmlformats.org/drawingml/2006/main" noGrp="1"/>
          </p:cNvSpPr>
          <p:nvPr/>
        </p:nvSpPr>
        <p:spPr>
          <a:xfrm xmlns:a="http://schemas.openxmlformats.org/drawingml/2006/main">
            <a:off x="952500" y="1638300"/>
            <a:ext cx="628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STATIC</a:t>
            </a:r>
          </a:p>
        </p:txBody>
      </p:sp>
      <p:sp>
        <p:nvSpPr>
          <p:cNvPr id="7" name="">
            <a:extLst xmlns:a="http://schemas.openxmlformats.org/drawingml/2006/main">
              <a:ext uri="{FF2B5EF4-FFF2-40B4-BE49-F238E27FC236}">
                <a16:creationId xmlns:a16="http://schemas.microsoft.com/office/drawing/2014/main" id="{8A47FDF4-F4F1-49F5-B552-AD0BA755F0C3}"/>
              </a:ext>
            </a:extLst>
          </p:cNvPr>
          <p:cNvSpPr>
            <a:spLocks xmlns:a="http://schemas.openxmlformats.org/drawingml/2006/main" noGrp="1"/>
          </p:cNvSpPr>
          <p:nvPr/>
        </p:nvSpPr>
        <p:spPr>
          <a:xfrm xmlns:a="http://schemas.openxmlformats.org/drawingml/2006/main">
            <a:off x="857250" y="20574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10151C"/>
                </a:solidFill>
                <a:latin typeface="Helvetica Neue"/>
                <a:ea typeface="Helvetica Neue"/>
                <a:cs typeface="Helvetica Neue"/>
              </a:defRPr>
            </a:pPr>
            <a:r>
              <a:rPr sz="2025" b="1">
                <a:solidFill>
                  <a:srgbClr val="10151C"/>
                </a:solidFill>
                <a:latin typeface="Helvetica Neue"/>
                <a:ea typeface="Helvetica Neue"/>
                <a:cs typeface="Helvetica Neue"/>
              </a:rPr>
              <a:t>ScreenSpot-Pro</a:t>
            </a:r>
          </a:p>
        </p:txBody>
      </p:sp>
      <p:sp>
        <p:nvSpPr>
          <p:cNvPr id="8" name="">
            <a:extLst xmlns:a="http://schemas.openxmlformats.org/drawingml/2006/main">
              <a:ext uri="{FF2B5EF4-FFF2-40B4-BE49-F238E27FC236}">
                <a16:creationId xmlns:a16="http://schemas.microsoft.com/office/drawing/2014/main" id="{49CD09A1-5894-41BE-B515-51CB8D861C72}"/>
              </a:ext>
            </a:extLst>
          </p:cNvPr>
          <p:cNvSpPr>
            <a:spLocks xmlns:a="http://schemas.openxmlformats.org/drawingml/2006/main" noGrp="1"/>
          </p:cNvSpPr>
          <p:nvPr/>
        </p:nvSpPr>
        <p:spPr>
          <a:xfrm xmlns:a="http://schemas.openxmlformats.org/drawingml/2006/main">
            <a:off x="857250" y="24574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66717D"/>
                </a:solidFill>
                <a:latin typeface="Helvetica Neue"/>
                <a:ea typeface="Helvetica Neue"/>
                <a:cs typeface="Helvetica Neue"/>
              </a:defRPr>
            </a:pPr>
            <a:r>
              <a:rPr sz="1350" b="0">
                <a:solidFill>
                  <a:srgbClr val="66717D"/>
                </a:solidFill>
                <a:latin typeface="Helvetica Neue"/>
                <a:ea typeface="Helvetica Neue"/>
                <a:cs typeface="Helvetica Neue"/>
              </a:rPr>
              <a:t>One screenshot, one instruction, one click</a:t>
            </a:r>
          </a:p>
        </p:txBody>
      </p:sp>
      <p:sp>
        <p:nvSpPr>
          <p:cNvPr id="9" name="">
            <a:extLst xmlns:a="http://schemas.openxmlformats.org/drawingml/2006/main">
              <a:ext uri="{FF2B5EF4-FFF2-40B4-BE49-F238E27FC236}">
                <a16:creationId xmlns:a16="http://schemas.microsoft.com/office/drawing/2014/main" id="{0270C8E5-0257-4D4D-9293-A350985C43B0}"/>
              </a:ext>
            </a:extLst>
          </p:cNvPr>
          <p:cNvSpPr>
            <a:spLocks xmlns:a="http://schemas.openxmlformats.org/drawingml/2006/main" noGrp="1"/>
          </p:cNvSpPr>
          <p:nvPr/>
        </p:nvSpPr>
        <p:spPr>
          <a:xfrm xmlns:a="http://schemas.openxmlformats.org/drawingml/2006/main">
            <a:off x="857250" y="31432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18A875"/>
                </a:solidFill>
                <a:latin typeface="Helvetica Neue"/>
                <a:ea typeface="Helvetica Neue"/>
                <a:cs typeface="Helvetica Neue"/>
              </a:defRPr>
            </a:pPr>
            <a:r>
              <a:rPr sz="1050" b="1">
                <a:solidFill>
                  <a:srgbClr val="18A875"/>
                </a:solidFill>
                <a:latin typeface="Helvetica Neue"/>
                <a:ea typeface="Helvetica Neue"/>
                <a:cs typeface="Helvetica Neue"/>
              </a:rPr>
              <a:t>Visual hit</a:t>
            </a:r>
          </a:p>
        </p:txBody>
      </p:sp>
      <p:sp>
        <p:nvSpPr>
          <p:cNvPr id="10" name="">
            <a:extLst xmlns:a="http://schemas.openxmlformats.org/drawingml/2006/main">
              <a:ext uri="{FF2B5EF4-FFF2-40B4-BE49-F238E27FC236}">
                <a16:creationId xmlns:a16="http://schemas.microsoft.com/office/drawing/2014/main" id="{193B9DE5-473F-4068-A272-F11EE5285AA4}"/>
              </a:ext>
            </a:extLst>
          </p:cNvPr>
          <p:cNvSpPr>
            <a:spLocks xmlns:a="http://schemas.openxmlformats.org/drawingml/2006/main" noGrp="1"/>
          </p:cNvSpPr>
          <p:nvPr/>
        </p:nvSpPr>
        <p:spPr>
          <a:xfrm xmlns:a="http://schemas.openxmlformats.org/drawingml/2006/main">
            <a:off x="857250" y="340995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Psychedelic vibrant</a:t>
            </a:r>
          </a:p>
        </p:txBody>
      </p:sp>
      <p:sp>
        <p:nvSpPr>
          <p:cNvPr id="11" name="">
            <a:extLst xmlns:a="http://schemas.openxmlformats.org/drawingml/2006/main">
              <a:ext uri="{FF2B5EF4-FFF2-40B4-BE49-F238E27FC236}">
                <a16:creationId xmlns:a16="http://schemas.microsoft.com/office/drawing/2014/main" id="{7DE39AFB-2BFF-429C-8A40-EB0CBB6F0AE8}"/>
              </a:ext>
            </a:extLst>
          </p:cNvPr>
          <p:cNvSpPr>
            <a:spLocks xmlns:a="http://schemas.openxmlformats.org/drawingml/2006/main" noGrp="1"/>
          </p:cNvSpPr>
          <p:nvPr/>
        </p:nvSpPr>
        <p:spPr>
          <a:xfrm xmlns:a="http://schemas.openxmlformats.org/drawingml/2006/main">
            <a:off x="3105150" y="314325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05A3C"/>
                </a:solidFill>
                <a:latin typeface="Helvetica Neue"/>
                <a:ea typeface="Helvetica Neue"/>
                <a:cs typeface="Helvetica Neue"/>
              </a:defRPr>
            </a:pPr>
            <a:r>
              <a:rPr sz="1050" b="1">
                <a:solidFill>
                  <a:srgbClr val="F05A3C"/>
                </a:solidFill>
                <a:latin typeface="Helvetica Neue"/>
                <a:ea typeface="Helvetica Neue"/>
                <a:cs typeface="Helvetica Neue"/>
              </a:rPr>
              <a:t>Grounding miss</a:t>
            </a:r>
          </a:p>
        </p:txBody>
      </p:sp>
      <p:sp>
        <p:nvSpPr>
          <p:cNvPr id="12" name="">
            <a:extLst xmlns:a="http://schemas.openxmlformats.org/drawingml/2006/main">
              <a:ext uri="{FF2B5EF4-FFF2-40B4-BE49-F238E27FC236}">
                <a16:creationId xmlns:a16="http://schemas.microsoft.com/office/drawing/2014/main" id="{8C5F2FC5-5524-40FF-8FF5-8436C369C4EB}"/>
              </a:ext>
            </a:extLst>
          </p:cNvPr>
          <p:cNvSpPr>
            <a:spLocks xmlns:a="http://schemas.openxmlformats.org/drawingml/2006/main" noGrp="1"/>
          </p:cNvSpPr>
          <p:nvPr/>
        </p:nvSpPr>
        <p:spPr>
          <a:xfrm xmlns:a="http://schemas.openxmlformats.org/drawingml/2006/main">
            <a:off x="3105150" y="3409950"/>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Create new slide</a:t>
            </a:r>
          </a:p>
        </p:txBody>
      </p:sp>
      <p:sp>
        <p:nvSpPr>
          <p:cNvPr id="13" name="">
            <a:extLst xmlns:a="http://schemas.openxmlformats.org/drawingml/2006/main">
              <a:ext uri="{FF2B5EF4-FFF2-40B4-BE49-F238E27FC236}">
                <a16:creationId xmlns:a16="http://schemas.microsoft.com/office/drawing/2014/main" id="{808AF6E5-73FD-495F-999D-D72AEA9599BD}"/>
              </a:ext>
            </a:extLst>
          </p:cNvPr>
          <p:cNvSpPr>
            <a:spLocks xmlns:a="http://schemas.openxmlformats.org/drawingml/2006/main" noGrp="1"/>
          </p:cNvSpPr>
          <p:nvPr/>
        </p:nvSpPr>
        <p:spPr>
          <a:xfrm xmlns:a="http://schemas.openxmlformats.org/drawingml/2006/main">
            <a:off x="857250" y="4000500"/>
            <a:ext cx="440055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30A7869-CBF1-49B8-A07D-C31A29119B91}"/>
              </a:ext>
            </a:extLst>
          </p:cNvPr>
          <p:cNvSpPr>
            <a:spLocks xmlns:a="http://schemas.openxmlformats.org/drawingml/2006/main" noGrp="1"/>
          </p:cNvSpPr>
          <p:nvPr/>
        </p:nvSpPr>
        <p:spPr>
          <a:xfrm xmlns:a="http://schemas.openxmlformats.org/drawingml/2006/main">
            <a:off x="857250" y="4267200"/>
            <a:ext cx="44005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66717D"/>
                </a:solidFill>
                <a:latin typeface="Helvetica Neue"/>
                <a:ea typeface="Helvetica Neue"/>
                <a:cs typeface="Helvetica Neue"/>
              </a:defRPr>
            </a:pPr>
            <a:r>
              <a:rPr sz="1200" b="0">
                <a:solidFill>
                  <a:srgbClr val="66717D"/>
                </a:solidFill>
                <a:latin typeface="Helvetica Neue"/>
                <a:ea typeface="Helvetica Neue"/>
                <a:cs typeface="Helvetica Neue"/>
              </a:rPr>
              <a:t>These examples share PowerPoint on Windows, but use different images and prompts. They illustrate failure modes rather than form a matched causal pair.</a:t>
            </a:r>
          </a:p>
        </p:txBody>
      </p:sp>
      <p:sp>
        <p:nvSpPr>
          <p:cNvPr id="15" name="">
            <a:extLst xmlns:a="http://schemas.openxmlformats.org/drawingml/2006/main">
              <a:ext uri="{FF2B5EF4-FFF2-40B4-BE49-F238E27FC236}">
                <a16:creationId xmlns:a16="http://schemas.microsoft.com/office/drawing/2014/main" id="{2F08A5C9-2ACF-44BC-A9AB-DC276E92085A}"/>
              </a:ext>
            </a:extLst>
          </p:cNvPr>
          <p:cNvSpPr>
            <a:spLocks xmlns:a="http://schemas.openxmlformats.org/drawingml/2006/main" noGrp="1"/>
          </p:cNvSpPr>
          <p:nvPr/>
        </p:nvSpPr>
        <p:spPr>
          <a:xfrm xmlns:a="http://schemas.openxmlformats.org/drawingml/2006/main">
            <a:off x="6191250" y="1371600"/>
            <a:ext cx="5391150" cy="4381500"/>
          </a:xfrm>
          <a:prstGeom xmlns:a="http://schemas.openxmlformats.org/drawingml/2006/main" prst="roundRect">
            <a:avLst>
              <a:gd name="adj" fmla="val 1739"/>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5E6C3E2-3246-48C7-A25F-B0614E2794BD}"/>
              </a:ext>
            </a:extLst>
          </p:cNvPr>
          <p:cNvSpPr>
            <a:spLocks xmlns:a="http://schemas.openxmlformats.org/drawingml/2006/main" noGrp="1"/>
          </p:cNvSpPr>
          <p:nvPr/>
        </p:nvSpPr>
        <p:spPr>
          <a:xfrm xmlns:a="http://schemas.openxmlformats.org/drawingml/2006/main">
            <a:off x="6477000" y="1619250"/>
            <a:ext cx="11430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A4F5A6F-6551-40AE-926A-BFCC3B168698}"/>
              </a:ext>
            </a:extLst>
          </p:cNvPr>
          <p:cNvSpPr>
            <a:spLocks xmlns:a="http://schemas.openxmlformats.org/drawingml/2006/main" noGrp="1"/>
          </p:cNvSpPr>
          <p:nvPr/>
        </p:nvSpPr>
        <p:spPr>
          <a:xfrm xmlns:a="http://schemas.openxmlformats.org/drawingml/2006/main">
            <a:off x="6572250" y="1638300"/>
            <a:ext cx="95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MULTI-TURN</a:t>
            </a:r>
          </a:p>
        </p:txBody>
      </p:sp>
      <p:sp>
        <p:nvSpPr>
          <p:cNvPr id="18" name="">
            <a:extLst xmlns:a="http://schemas.openxmlformats.org/drawingml/2006/main">
              <a:ext uri="{FF2B5EF4-FFF2-40B4-BE49-F238E27FC236}">
                <a16:creationId xmlns:a16="http://schemas.microsoft.com/office/drawing/2014/main" id="{ED73D82A-8D0D-4E9D-B123-2737B96FF61F}"/>
              </a:ext>
            </a:extLst>
          </p:cNvPr>
          <p:cNvSpPr>
            <a:spLocks xmlns:a="http://schemas.openxmlformats.org/drawingml/2006/main" noGrp="1"/>
          </p:cNvSpPr>
          <p:nvPr/>
        </p:nvSpPr>
        <p:spPr>
          <a:xfrm xmlns:a="http://schemas.openxmlformats.org/drawingml/2006/main">
            <a:off x="6477000" y="2057400"/>
            <a:ext cx="400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Synthetic hotel search</a:t>
            </a:r>
          </a:p>
        </p:txBody>
      </p:sp>
      <p:sp>
        <p:nvSpPr>
          <p:cNvPr id="19" name="">
            <a:extLst xmlns:a="http://schemas.openxmlformats.org/drawingml/2006/main">
              <a:ext uri="{FF2B5EF4-FFF2-40B4-BE49-F238E27FC236}">
                <a16:creationId xmlns:a16="http://schemas.microsoft.com/office/drawing/2014/main" id="{28FDFDAF-2D7D-4194-9874-7D4FF62D47A0}"/>
              </a:ext>
            </a:extLst>
          </p:cNvPr>
          <p:cNvSpPr>
            <a:spLocks xmlns:a="http://schemas.openxmlformats.org/drawingml/2006/main" noGrp="1"/>
          </p:cNvSpPr>
          <p:nvPr/>
        </p:nvSpPr>
        <p:spPr>
          <a:xfrm xmlns:a="http://schemas.openxmlformats.org/drawingml/2006/main">
            <a:off x="6477000" y="2457450"/>
            <a:ext cx="432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0">
                <a:solidFill>
                  <a:srgbClr val="B9C3CD"/>
                </a:solidFill>
                <a:latin typeface="Helvetica Neue"/>
                <a:ea typeface="Helvetica Neue"/>
                <a:cs typeface="Helvetica Neue"/>
              </a:defRPr>
            </a:pPr>
            <a:r>
              <a:rPr sz="1350" b="0">
                <a:solidFill>
                  <a:srgbClr val="B9C3CD"/>
                </a:solidFill>
                <a:latin typeface="Helvetica Neue"/>
                <a:ea typeface="Helvetica Neue"/>
                <a:cs typeface="Helvetica Neue"/>
              </a:rPr>
              <a:t>Four model calls retain every earlier screenshot</a:t>
            </a:r>
          </a:p>
        </p:txBody>
      </p:sp>
      <p:sp>
        <p:nvSpPr>
          <p:cNvPr id="20" name="">
            <a:extLst xmlns:a="http://schemas.openxmlformats.org/drawingml/2006/main">
              <a:ext uri="{FF2B5EF4-FFF2-40B4-BE49-F238E27FC236}">
                <a16:creationId xmlns:a16="http://schemas.microsoft.com/office/drawing/2014/main" id="{937F8D64-003A-45EC-839B-29FB937C6915}"/>
              </a:ext>
            </a:extLst>
          </p:cNvPr>
          <p:cNvSpPr>
            <a:spLocks xmlns:a="http://schemas.openxmlformats.org/drawingml/2006/main" noGrp="1"/>
          </p:cNvSpPr>
          <p:nvPr/>
        </p:nvSpPr>
        <p:spPr>
          <a:xfrm xmlns:a="http://schemas.openxmlformats.org/drawingml/2006/main">
            <a:off x="6477000" y="30099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94CDBD9-BA94-4807-93CC-930A5E00ED31}"/>
              </a:ext>
            </a:extLst>
          </p:cNvPr>
          <p:cNvSpPr>
            <a:spLocks xmlns:a="http://schemas.openxmlformats.org/drawingml/2006/main" noGrp="1"/>
          </p:cNvSpPr>
          <p:nvPr/>
        </p:nvSpPr>
        <p:spPr>
          <a:xfrm xmlns:a="http://schemas.openxmlformats.org/drawingml/2006/main">
            <a:off x="6572250" y="30289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22" name="">
            <a:extLst xmlns:a="http://schemas.openxmlformats.org/drawingml/2006/main">
              <a:ext uri="{FF2B5EF4-FFF2-40B4-BE49-F238E27FC236}">
                <a16:creationId xmlns:a16="http://schemas.microsoft.com/office/drawing/2014/main" id="{6606FBCF-09CA-45C6-A012-17787DC8D4F6}"/>
              </a:ext>
            </a:extLst>
          </p:cNvPr>
          <p:cNvSpPr>
            <a:spLocks xmlns:a="http://schemas.openxmlformats.org/drawingml/2006/main" noGrp="1"/>
          </p:cNvSpPr>
          <p:nvPr/>
        </p:nvSpPr>
        <p:spPr>
          <a:xfrm xmlns:a="http://schemas.openxmlformats.org/drawingml/2006/main">
            <a:off x="7086600" y="30289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3" name="">
            <a:extLst xmlns:a="http://schemas.openxmlformats.org/drawingml/2006/main">
              <a:ext uri="{FF2B5EF4-FFF2-40B4-BE49-F238E27FC236}">
                <a16:creationId xmlns:a16="http://schemas.microsoft.com/office/drawing/2014/main" id="{7F4364DC-45AE-48F5-9034-18E193AEC2E9}"/>
              </a:ext>
            </a:extLst>
          </p:cNvPr>
          <p:cNvSpPr>
            <a:spLocks xmlns:a="http://schemas.openxmlformats.org/drawingml/2006/main" noGrp="1"/>
          </p:cNvSpPr>
          <p:nvPr/>
        </p:nvSpPr>
        <p:spPr>
          <a:xfrm xmlns:a="http://schemas.openxmlformats.org/drawingml/2006/main">
            <a:off x="9620250" y="30289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4" name="">
            <a:extLst xmlns:a="http://schemas.openxmlformats.org/drawingml/2006/main">
              <a:ext uri="{FF2B5EF4-FFF2-40B4-BE49-F238E27FC236}">
                <a16:creationId xmlns:a16="http://schemas.microsoft.com/office/drawing/2014/main" id="{99DC92A1-39AE-444C-8A88-F7767C239E49}"/>
              </a:ext>
            </a:extLst>
          </p:cNvPr>
          <p:cNvSpPr>
            <a:spLocks xmlns:a="http://schemas.openxmlformats.org/drawingml/2006/main" noGrp="1"/>
          </p:cNvSpPr>
          <p:nvPr/>
        </p:nvSpPr>
        <p:spPr>
          <a:xfrm xmlns:a="http://schemas.openxmlformats.org/drawingml/2006/main">
            <a:off x="6477000" y="35433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7BBE70BD-42F0-4454-A196-A8505E9601F4}"/>
              </a:ext>
            </a:extLst>
          </p:cNvPr>
          <p:cNvSpPr>
            <a:spLocks xmlns:a="http://schemas.openxmlformats.org/drawingml/2006/main" noGrp="1"/>
          </p:cNvSpPr>
          <p:nvPr/>
        </p:nvSpPr>
        <p:spPr>
          <a:xfrm xmlns:a="http://schemas.openxmlformats.org/drawingml/2006/main">
            <a:off x="6572250" y="35623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26" name="">
            <a:extLst xmlns:a="http://schemas.openxmlformats.org/drawingml/2006/main">
              <a:ext uri="{FF2B5EF4-FFF2-40B4-BE49-F238E27FC236}">
                <a16:creationId xmlns:a16="http://schemas.microsoft.com/office/drawing/2014/main" id="{5FBB1BE7-4356-4372-8204-96F5A8A00973}"/>
              </a:ext>
            </a:extLst>
          </p:cNvPr>
          <p:cNvSpPr>
            <a:spLocks xmlns:a="http://schemas.openxmlformats.org/drawingml/2006/main" noGrp="1"/>
          </p:cNvSpPr>
          <p:nvPr/>
        </p:nvSpPr>
        <p:spPr>
          <a:xfrm xmlns:a="http://schemas.openxmlformats.org/drawingml/2006/main">
            <a:off x="7086600" y="35623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27" name="">
            <a:extLst xmlns:a="http://schemas.openxmlformats.org/drawingml/2006/main">
              <a:ext uri="{FF2B5EF4-FFF2-40B4-BE49-F238E27FC236}">
                <a16:creationId xmlns:a16="http://schemas.microsoft.com/office/drawing/2014/main" id="{06004D1E-0B02-4367-A44B-AB71256CEF63}"/>
              </a:ext>
            </a:extLst>
          </p:cNvPr>
          <p:cNvSpPr>
            <a:spLocks xmlns:a="http://schemas.openxmlformats.org/drawingml/2006/main" noGrp="1"/>
          </p:cNvSpPr>
          <p:nvPr/>
        </p:nvSpPr>
        <p:spPr>
          <a:xfrm xmlns:a="http://schemas.openxmlformats.org/drawingml/2006/main">
            <a:off x="9620250" y="35623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28" name="">
            <a:extLst xmlns:a="http://schemas.openxmlformats.org/drawingml/2006/main">
              <a:ext uri="{FF2B5EF4-FFF2-40B4-BE49-F238E27FC236}">
                <a16:creationId xmlns:a16="http://schemas.microsoft.com/office/drawing/2014/main" id="{63CAC3D2-1747-43EA-B320-656298B26029}"/>
              </a:ext>
            </a:extLst>
          </p:cNvPr>
          <p:cNvSpPr>
            <a:spLocks xmlns:a="http://schemas.openxmlformats.org/drawingml/2006/main" noGrp="1"/>
          </p:cNvSpPr>
          <p:nvPr/>
        </p:nvSpPr>
        <p:spPr>
          <a:xfrm xmlns:a="http://schemas.openxmlformats.org/drawingml/2006/main">
            <a:off x="6477000" y="4076700"/>
            <a:ext cx="438150" cy="285750"/>
          </a:xfrm>
          <a:prstGeom xmlns:a="http://schemas.openxmlformats.org/drawingml/2006/main" prst="roundRect">
            <a:avLst>
              <a:gd name="adj" fmla="val 26667"/>
            </a:avLst>
          </a:prstGeom>
          <a:solidFill xmlns:a="http://schemas.openxmlformats.org/drawingml/2006/main">
            <a:srgbClr val="344252"/>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05C73E95-345C-47AC-AB55-03CB7317B630}"/>
              </a:ext>
            </a:extLst>
          </p:cNvPr>
          <p:cNvSpPr>
            <a:spLocks xmlns:a="http://schemas.openxmlformats.org/drawingml/2006/main" noGrp="1"/>
          </p:cNvSpPr>
          <p:nvPr/>
        </p:nvSpPr>
        <p:spPr>
          <a:xfrm xmlns:a="http://schemas.openxmlformats.org/drawingml/2006/main">
            <a:off x="6572250" y="40957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30" name="">
            <a:extLst xmlns:a="http://schemas.openxmlformats.org/drawingml/2006/main">
              <a:ext uri="{FF2B5EF4-FFF2-40B4-BE49-F238E27FC236}">
                <a16:creationId xmlns:a16="http://schemas.microsoft.com/office/drawing/2014/main" id="{96BACEAC-5C56-46DF-8278-454526942ABD}"/>
              </a:ext>
            </a:extLst>
          </p:cNvPr>
          <p:cNvSpPr>
            <a:spLocks xmlns:a="http://schemas.openxmlformats.org/drawingml/2006/main" noGrp="1"/>
          </p:cNvSpPr>
          <p:nvPr/>
        </p:nvSpPr>
        <p:spPr>
          <a:xfrm xmlns:a="http://schemas.openxmlformats.org/drawingml/2006/main">
            <a:off x="7086600" y="40957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SCROLL</a:t>
            </a:r>
          </a:p>
        </p:txBody>
      </p:sp>
      <p:sp>
        <p:nvSpPr>
          <p:cNvPr id="31" name="">
            <a:extLst xmlns:a="http://schemas.openxmlformats.org/drawingml/2006/main">
              <a:ext uri="{FF2B5EF4-FFF2-40B4-BE49-F238E27FC236}">
                <a16:creationId xmlns:a16="http://schemas.microsoft.com/office/drawing/2014/main" id="{7EF13B44-F34F-4944-B21B-2AFC39614EEC}"/>
              </a:ext>
            </a:extLst>
          </p:cNvPr>
          <p:cNvSpPr>
            <a:spLocks xmlns:a="http://schemas.openxmlformats.org/drawingml/2006/main" noGrp="1"/>
          </p:cNvSpPr>
          <p:nvPr/>
        </p:nvSpPr>
        <p:spPr>
          <a:xfrm xmlns:a="http://schemas.openxmlformats.org/drawingml/2006/main">
            <a:off x="9620250" y="40957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B9C3CD"/>
                </a:solidFill>
                <a:latin typeface="Helvetica Neue"/>
                <a:ea typeface="Helvetica Neue"/>
                <a:cs typeface="Helvetica Neue"/>
              </a:defRPr>
            </a:pPr>
            <a:r>
              <a:rPr sz="1125" b="1">
                <a:solidFill>
                  <a:srgbClr val="B9C3CD"/>
                </a:solidFill>
                <a:latin typeface="Helvetica Neue"/>
                <a:ea typeface="Helvetica Neue"/>
                <a:cs typeface="Helvetica Neue"/>
              </a:rPr>
              <a:t>500 px</a:t>
            </a:r>
          </a:p>
        </p:txBody>
      </p:sp>
      <p:sp>
        <p:nvSpPr>
          <p:cNvPr id="32" name="">
            <a:extLst xmlns:a="http://schemas.openxmlformats.org/drawingml/2006/main">
              <a:ext uri="{FF2B5EF4-FFF2-40B4-BE49-F238E27FC236}">
                <a16:creationId xmlns:a16="http://schemas.microsoft.com/office/drawing/2014/main" id="{153E60BA-23D1-4568-AE7E-E54FA0A2FA97}"/>
              </a:ext>
            </a:extLst>
          </p:cNvPr>
          <p:cNvSpPr>
            <a:spLocks xmlns:a="http://schemas.openxmlformats.org/drawingml/2006/main" noGrp="1"/>
          </p:cNvSpPr>
          <p:nvPr/>
        </p:nvSpPr>
        <p:spPr>
          <a:xfrm xmlns:a="http://schemas.openxmlformats.org/drawingml/2006/main">
            <a:off x="6477000" y="4610100"/>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49102B8-DA42-41EA-8601-F612CAC9F4D0}"/>
              </a:ext>
            </a:extLst>
          </p:cNvPr>
          <p:cNvSpPr>
            <a:spLocks xmlns:a="http://schemas.openxmlformats.org/drawingml/2006/main" noGrp="1"/>
          </p:cNvSpPr>
          <p:nvPr/>
        </p:nvSpPr>
        <p:spPr>
          <a:xfrm xmlns:a="http://schemas.openxmlformats.org/drawingml/2006/main">
            <a:off x="6572250" y="4629150"/>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34" name="">
            <a:extLst xmlns:a="http://schemas.openxmlformats.org/drawingml/2006/main">
              <a:ext uri="{FF2B5EF4-FFF2-40B4-BE49-F238E27FC236}">
                <a16:creationId xmlns:a16="http://schemas.microsoft.com/office/drawing/2014/main" id="{89747E4D-7D34-47CD-99AF-BD3AB57DADA8}"/>
              </a:ext>
            </a:extLst>
          </p:cNvPr>
          <p:cNvSpPr>
            <a:spLocks xmlns:a="http://schemas.openxmlformats.org/drawingml/2006/main" noGrp="1"/>
          </p:cNvSpPr>
          <p:nvPr/>
        </p:nvSpPr>
        <p:spPr>
          <a:xfrm xmlns:a="http://schemas.openxmlformats.org/drawingml/2006/main">
            <a:off x="7086600" y="4629150"/>
            <a:ext cx="1219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CLICK</a:t>
            </a:r>
          </a:p>
        </p:txBody>
      </p:sp>
      <p:sp>
        <p:nvSpPr>
          <p:cNvPr id="35" name="">
            <a:extLst xmlns:a="http://schemas.openxmlformats.org/drawingml/2006/main">
              <a:ext uri="{FF2B5EF4-FFF2-40B4-BE49-F238E27FC236}">
                <a16:creationId xmlns:a16="http://schemas.microsoft.com/office/drawing/2014/main" id="{D52EB0EA-30D9-4D65-846F-112CDFCFD122}"/>
              </a:ext>
            </a:extLst>
          </p:cNvPr>
          <p:cNvSpPr>
            <a:spLocks xmlns:a="http://schemas.openxmlformats.org/drawingml/2006/main" noGrp="1"/>
          </p:cNvSpPr>
          <p:nvPr/>
        </p:nvSpPr>
        <p:spPr>
          <a:xfrm xmlns:a="http://schemas.openxmlformats.org/drawingml/2006/main">
            <a:off x="9620250" y="4629150"/>
            <a:ext cx="1238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125" b="1">
                <a:solidFill>
                  <a:srgbClr val="F2BDAF"/>
                </a:solidFill>
                <a:latin typeface="Helvetica Neue"/>
                <a:ea typeface="Helvetica Neue"/>
                <a:cs typeface="Helvetica Neue"/>
              </a:defRPr>
            </a:pPr>
            <a:r>
              <a:rPr sz="1125" b="1">
                <a:solidFill>
                  <a:srgbClr val="F2BDAF"/>
                </a:solidFill>
                <a:latin typeface="Helvetica Neue"/>
                <a:ea typeface="Helvetica Neue"/>
                <a:cs typeface="Helvetica Neue"/>
              </a:rPr>
              <a:t>miss</a:t>
            </a:r>
          </a:p>
        </p:txBody>
      </p:sp>
      <p:sp>
        <p:nvSpPr>
          <p:cNvPr id="36" name="">
            <a:extLst xmlns:a="http://schemas.openxmlformats.org/drawingml/2006/main">
              <a:ext uri="{FF2B5EF4-FFF2-40B4-BE49-F238E27FC236}">
                <a16:creationId xmlns:a16="http://schemas.microsoft.com/office/drawing/2014/main" id="{A7150BBC-B055-4A29-9978-9CF2DFA77B47}"/>
              </a:ext>
            </a:extLst>
          </p:cNvPr>
          <p:cNvSpPr>
            <a:spLocks xmlns:a="http://schemas.openxmlformats.org/drawingml/2006/main" noGrp="1"/>
          </p:cNvSpPr>
          <p:nvPr/>
        </p:nvSpPr>
        <p:spPr>
          <a:xfrm xmlns:a="http://schemas.openxmlformats.org/drawingml/2006/main">
            <a:off x="6477000" y="5286375"/>
            <a:ext cx="436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F0C7BC"/>
                </a:solidFill>
                <a:latin typeface="Helvetica Neue"/>
                <a:ea typeface="Helvetica Neue"/>
                <a:cs typeface="Helvetica Neue"/>
              </a:defRPr>
            </a:pPr>
            <a:r>
              <a:rPr sz="1125" b="1">
                <a:solidFill>
                  <a:srgbClr val="F0C7BC"/>
                </a:solidFill>
                <a:latin typeface="Helvetica Neue"/>
                <a:ea typeface="Helvetica Neue"/>
                <a:cs typeface="Helvetica Neue"/>
              </a:rPr>
              <a:t>Target: Signal Quay Rooms at $172</a:t>
            </a:r>
          </a:p>
        </p:txBody>
      </p:sp>
      <p:sp>
        <p:nvSpPr>
          <p:cNvPr id="37" name="">
            <a:extLst xmlns:a="http://schemas.openxmlformats.org/drawingml/2006/main">
              <a:ext uri="{FF2B5EF4-FFF2-40B4-BE49-F238E27FC236}">
                <a16:creationId xmlns:a16="http://schemas.microsoft.com/office/drawing/2014/main" id="{429E2DE0-48F4-49F7-84F1-4E7BF39D7EF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D6DAFCDD-2BA7-4F37-A451-1C68E6367B08}"/>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ScreenSpot-Pro supplies real GUI cases · the deterministic hotel fixture supplies replayable trajectories</a:t>
            </a:r>
          </a:p>
        </p:txBody>
      </p:sp>
    </p:spTree>
    <p:extLst>
      <p:ext uri="{BB962C8B-B14F-4D97-AF65-F5344CB8AC3E}">
        <p14:creationId xmlns:p14="http://schemas.microsoft.com/office/powerpoint/2010/main" val="612414061"/>
      </p:ext>
    </p:extLst>
  </p:cSld>
</p:sld>
</file>

<file path=ppt/slides/slide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B9E5180-2E24-405D-8151-72A9A3C8E51C}"/>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FULL BENCHMARK REPLICATION</a:t>
            </a:r>
          </a:p>
        </p:txBody>
      </p:sp>
      <p:sp>
        <p:nvSpPr>
          <p:cNvPr id="2" name="">
            <a:extLst xmlns:a="http://schemas.openxmlformats.org/drawingml/2006/main">
              <a:ext uri="{FF2B5EF4-FFF2-40B4-BE49-F238E27FC236}">
                <a16:creationId xmlns:a16="http://schemas.microsoft.com/office/drawing/2014/main" id="{B1B3BF51-61D6-4A86-BD73-3F5692DBF0C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65.9% overall, with icon file actions at 36.1%</a:t>
            </a:r>
          </a:p>
        </p:txBody>
      </p:sp>
      <p:sp>
        <p:nvSpPr>
          <p:cNvPr id="3" name="">
            <a:extLst xmlns:a="http://schemas.openxmlformats.org/drawingml/2006/main">
              <a:ext uri="{FF2B5EF4-FFF2-40B4-BE49-F238E27FC236}">
                <a16:creationId xmlns:a16="http://schemas.microsoft.com/office/drawing/2014/main" id="{573B3CAE-D985-438C-BC05-09EFE8C68A2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7C88F0A1-5DAC-453A-91D2-28E993E6A10E}"/>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Holo3.1-4B, official element-localization harness, all 1,581 ScreenSpot-Pro items</a:t>
            </a:r>
          </a:p>
        </p:txBody>
      </p:sp>
      <p:sp>
        <p:nvSpPr>
          <p:cNvPr id="5" name="">
            <a:extLst xmlns:a="http://schemas.openxmlformats.org/drawingml/2006/main">
              <a:ext uri="{FF2B5EF4-FFF2-40B4-BE49-F238E27FC236}">
                <a16:creationId xmlns:a16="http://schemas.microsoft.com/office/drawing/2014/main" id="{F919F1E2-97C1-43B3-B0FE-B79EA713ED36}"/>
              </a:ext>
            </a:extLst>
          </p:cNvPr>
          <p:cNvSpPr>
            <a:spLocks xmlns:a="http://schemas.openxmlformats.org/drawingml/2006/main" noGrp="1"/>
          </p:cNvSpPr>
          <p:nvPr/>
        </p:nvSpPr>
        <p:spPr>
          <a:xfrm xmlns:a="http://schemas.openxmlformats.org/drawingml/2006/main">
            <a:off x="609600" y="15430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4200" b="1">
                <a:solidFill>
                  <a:srgbClr val="10151C"/>
                </a:solidFill>
                <a:latin typeface="Helvetica Neue"/>
                <a:ea typeface="Helvetica Neue"/>
                <a:cs typeface="Helvetica Neue"/>
              </a:defRPr>
            </a:pPr>
            <a:r>
              <a:rPr sz="4200" b="1">
                <a:solidFill>
                  <a:srgbClr val="10151C"/>
                </a:solidFill>
                <a:latin typeface="Helvetica Neue"/>
                <a:ea typeface="Helvetica Neue"/>
                <a:cs typeface="Helvetica Neue"/>
              </a:rPr>
              <a:t>65.9%</a:t>
            </a:r>
          </a:p>
        </p:txBody>
      </p:sp>
      <p:sp>
        <p:nvSpPr>
          <p:cNvPr id="6" name="">
            <a:extLst xmlns:a="http://schemas.openxmlformats.org/drawingml/2006/main">
              <a:ext uri="{FF2B5EF4-FFF2-40B4-BE49-F238E27FC236}">
                <a16:creationId xmlns:a16="http://schemas.microsoft.com/office/drawing/2014/main" id="{835EB841-CF4A-4649-9D6D-187FABA58C07}"/>
              </a:ext>
            </a:extLst>
          </p:cNvPr>
          <p:cNvSpPr>
            <a:spLocks xmlns:a="http://schemas.openxmlformats.org/drawingml/2006/main" noGrp="1"/>
          </p:cNvSpPr>
          <p:nvPr/>
        </p:nvSpPr>
        <p:spPr>
          <a:xfrm xmlns:a="http://schemas.openxmlformats.org/drawingml/2006/main">
            <a:off x="647700" y="2209800"/>
            <a:ext cx="2667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1,042 correct out of 1,581</a:t>
            </a:r>
          </a:p>
        </p:txBody>
      </p:sp>
      <p:sp>
        <p:nvSpPr>
          <p:cNvPr id="7" name="">
            <a:extLst xmlns:a="http://schemas.openxmlformats.org/drawingml/2006/main">
              <a:ext uri="{FF2B5EF4-FFF2-40B4-BE49-F238E27FC236}">
                <a16:creationId xmlns:a16="http://schemas.microsoft.com/office/drawing/2014/main" id="{74296414-97CD-4472-B4C9-5A8C8BE32FD5}"/>
              </a:ext>
            </a:extLst>
          </p:cNvPr>
          <p:cNvSpPr>
            <a:spLocks xmlns:a="http://schemas.openxmlformats.org/drawingml/2006/main" noGrp="1"/>
          </p:cNvSpPr>
          <p:nvPr/>
        </p:nvSpPr>
        <p:spPr>
          <a:xfrm xmlns:a="http://schemas.openxmlformats.org/drawingml/2006/main">
            <a:off x="647700" y="26193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2D84D3"/>
                </a:solidFill>
                <a:latin typeface="Helvetica Neue"/>
                <a:ea typeface="Helvetica Neue"/>
                <a:cs typeface="Helvetica Neue"/>
              </a:defRPr>
            </a:pPr>
            <a:r>
              <a:rPr sz="1125" b="1">
                <a:solidFill>
                  <a:srgbClr val="2D84D3"/>
                </a:solidFill>
                <a:latin typeface="Helvetica Neue"/>
                <a:ea typeface="Helvetica Neue"/>
                <a:cs typeface="Helvetica Neue"/>
              </a:rPr>
              <a:t>Reported 4B reference ≈ 66.5%</a:t>
            </a:r>
          </a:p>
        </p:txBody>
      </p:sp>
      <p:sp>
        <p:nvSpPr>
          <p:cNvPr id="8" name="">
            <a:extLst xmlns:a="http://schemas.openxmlformats.org/drawingml/2006/main">
              <a:ext uri="{FF2B5EF4-FFF2-40B4-BE49-F238E27FC236}">
                <a16:creationId xmlns:a16="http://schemas.microsoft.com/office/drawing/2014/main" id="{81F32805-C2B5-4B78-AC82-5B5B6CEAC380}"/>
              </a:ext>
            </a:extLst>
          </p:cNvPr>
          <p:cNvSpPr>
            <a:spLocks xmlns:a="http://schemas.openxmlformats.org/drawingml/2006/main" noGrp="1"/>
          </p:cNvSpPr>
          <p:nvPr/>
        </p:nvSpPr>
        <p:spPr>
          <a:xfrm xmlns:a="http://schemas.openxmlformats.org/drawingml/2006/main">
            <a:off x="647700" y="288607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Difference: −0.6 percentage point</a:t>
            </a:r>
          </a:p>
        </p:txBody>
      </p:sp>
      <p:sp>
        <p:nvSpPr>
          <p:cNvPr id="9" name="">
            <a:extLst xmlns:a="http://schemas.openxmlformats.org/drawingml/2006/main">
              <a:ext uri="{FF2B5EF4-FFF2-40B4-BE49-F238E27FC236}">
                <a16:creationId xmlns:a16="http://schemas.microsoft.com/office/drawing/2014/main" id="{8CBD89C6-FFCE-4770-89D9-D8BA2A1BF521}"/>
              </a:ext>
            </a:extLst>
          </p:cNvPr>
          <p:cNvSpPr>
            <a:spLocks xmlns:a="http://schemas.openxmlformats.org/drawingml/2006/main" noGrp="1"/>
          </p:cNvSpPr>
          <p:nvPr/>
        </p:nvSpPr>
        <p:spPr>
          <a:xfrm xmlns:a="http://schemas.openxmlformats.org/drawingml/2006/main">
            <a:off x="647700" y="3248025"/>
            <a:ext cx="2667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8A875"/>
                </a:solidFill>
                <a:latin typeface="Helvetica Neue"/>
                <a:ea typeface="Helvetica Neue"/>
                <a:cs typeface="Helvetica Neue"/>
              </a:defRPr>
            </a:pPr>
            <a:r>
              <a:rPr sz="1125" b="1">
                <a:solidFill>
                  <a:srgbClr val="18A875"/>
                </a:solidFill>
                <a:latin typeface="Helvetica Neue"/>
                <a:ea typeface="Helvetica Neue"/>
                <a:cs typeface="Helvetica Neue"/>
              </a:rPr>
              <a:t>100% valid JSON responses</a:t>
            </a:r>
          </a:p>
        </p:txBody>
      </p:sp>
      <p:sp>
        <p:nvSpPr>
          <p:cNvPr id="10" name="">
            <a:extLst xmlns:a="http://schemas.openxmlformats.org/drawingml/2006/main">
              <a:ext uri="{FF2B5EF4-FFF2-40B4-BE49-F238E27FC236}">
                <a16:creationId xmlns:a16="http://schemas.microsoft.com/office/drawing/2014/main" id="{704B4711-EA57-450D-B89B-A730AA0FC96C}"/>
              </a:ext>
            </a:extLst>
          </p:cNvPr>
          <p:cNvSpPr>
            <a:spLocks xmlns:a="http://schemas.openxmlformats.org/drawingml/2006/main" noGrp="1"/>
          </p:cNvSpPr>
          <p:nvPr/>
        </p:nvSpPr>
        <p:spPr>
          <a:xfrm xmlns:a="http://schemas.openxmlformats.org/drawingml/2006/main">
            <a:off x="3562350" y="1504950"/>
            <a:ext cx="9525" cy="2057400"/>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712142E-2BFA-41CD-9057-EE7EB8883CD5}"/>
              </a:ext>
            </a:extLst>
          </p:cNvPr>
          <p:cNvSpPr>
            <a:spLocks xmlns:a="http://schemas.openxmlformats.org/drawingml/2006/main" noGrp="1"/>
          </p:cNvSpPr>
          <p:nvPr/>
        </p:nvSpPr>
        <p:spPr>
          <a:xfrm xmlns:a="http://schemas.openxmlformats.org/drawingml/2006/main">
            <a:off x="3848100" y="15049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ACCURACY BY TARGET UI</a:t>
            </a:r>
          </a:p>
        </p:txBody>
      </p:sp>
      <p:graphicFrame>
        <p:nvGraphicFramePr>
          <p:cNvPr id="37" name="Chart"/>
          <p:cNvGraphicFramePr/>
          <p:nvPr/>
        </p:nvGraphicFramePr>
        <p:xfrm>
          <a:off xmlns:a="http://schemas.openxmlformats.org/drawingml/2006/main" x="3733800" y="1752600"/>
          <a:ext xmlns:a="http://schemas.openxmlformats.org/drawingml/2006/main" cx="4819650" cy="1790700"/>
        </p:xfrm>
        <a:graphic xmlns:a="http://schemas.openxmlformats.org/drawingml/2006/main">
          <a:graphicData uri="http://schemas.openxmlformats.org/drawingml/2006/chart">
            <c:chart xmlns:r="http://schemas.openxmlformats.org/officeDocument/2006/relationships" xmlns:c="http://schemas.openxmlformats.org/drawingml/2006/chart" r:id="Raf7cda6fccac4d12"/>
          </a:graphicData>
        </a:graphic>
      </p:graphicFrame>
      <p:sp>
        <p:nvSpPr>
          <p:cNvPr id="13" name="">
            <a:extLst xmlns:a="http://schemas.openxmlformats.org/drawingml/2006/main">
              <a:ext uri="{FF2B5EF4-FFF2-40B4-BE49-F238E27FC236}">
                <a16:creationId xmlns:a16="http://schemas.microsoft.com/office/drawing/2014/main" id="{D67AB82F-5F4C-4D4E-BC5E-6704B343BF68}"/>
              </a:ext>
            </a:extLst>
          </p:cNvPr>
          <p:cNvSpPr>
            <a:spLocks xmlns:a="http://schemas.openxmlformats.org/drawingml/2006/main" noGrp="1"/>
          </p:cNvSpPr>
          <p:nvPr/>
        </p:nvSpPr>
        <p:spPr>
          <a:xfrm xmlns:a="http://schemas.openxmlformats.org/drawingml/2006/main">
            <a:off x="6610350" y="207645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44.0%</a:t>
            </a:r>
          </a:p>
        </p:txBody>
      </p:sp>
      <p:sp>
        <p:nvSpPr>
          <p:cNvPr id="14" name="">
            <a:extLst xmlns:a="http://schemas.openxmlformats.org/drawingml/2006/main">
              <a:ext uri="{FF2B5EF4-FFF2-40B4-BE49-F238E27FC236}">
                <a16:creationId xmlns:a16="http://schemas.microsoft.com/office/drawing/2014/main" id="{7E57A795-315D-4205-A3C1-8EE63B7FCDDB}"/>
              </a:ext>
            </a:extLst>
          </p:cNvPr>
          <p:cNvSpPr>
            <a:spLocks xmlns:a="http://schemas.openxmlformats.org/drawingml/2006/main" noGrp="1"/>
          </p:cNvSpPr>
          <p:nvPr/>
        </p:nvSpPr>
        <p:spPr>
          <a:xfrm xmlns:a="http://schemas.openxmlformats.org/drawingml/2006/main">
            <a:off x="7800975" y="2743200"/>
            <a:ext cx="800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0151C"/>
                </a:solidFill>
                <a:latin typeface="Helvetica Neue"/>
                <a:ea typeface="Helvetica Neue"/>
                <a:cs typeface="Helvetica Neue"/>
              </a:defRPr>
            </a:pPr>
            <a:r>
              <a:rPr sz="975" b="1">
                <a:solidFill>
                  <a:srgbClr val="10151C"/>
                </a:solidFill>
                <a:latin typeface="Helvetica Neue"/>
                <a:ea typeface="Helvetica Neue"/>
                <a:cs typeface="Helvetica Neue"/>
              </a:rPr>
              <a:t>79.4%</a:t>
            </a:r>
          </a:p>
        </p:txBody>
      </p:sp>
      <p:sp>
        <p:nvSpPr>
          <p:cNvPr id="15" name="">
            <a:extLst xmlns:a="http://schemas.openxmlformats.org/drawingml/2006/main">
              <a:ext uri="{FF2B5EF4-FFF2-40B4-BE49-F238E27FC236}">
                <a16:creationId xmlns:a16="http://schemas.microsoft.com/office/drawing/2014/main" id="{C695937F-1DD2-46A5-B989-5BFA7180B5B8}"/>
              </a:ext>
            </a:extLst>
          </p:cNvPr>
          <p:cNvSpPr>
            <a:spLocks xmlns:a="http://schemas.openxmlformats.org/drawingml/2006/main" noGrp="1"/>
          </p:cNvSpPr>
          <p:nvPr/>
        </p:nvSpPr>
        <p:spPr>
          <a:xfrm xmlns:a="http://schemas.openxmlformats.org/drawingml/2006/main">
            <a:off x="8858250" y="1504950"/>
            <a:ext cx="2724150" cy="2057400"/>
          </a:xfrm>
          <a:prstGeom xmlns:a="http://schemas.openxmlformats.org/drawingml/2006/main" prst="roundRect">
            <a:avLst>
              <a:gd name="adj" fmla="val 3704"/>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F2F1E1F-E429-4051-985A-A7DCF5B2B26B}"/>
              </a:ext>
            </a:extLst>
          </p:cNvPr>
          <p:cNvSpPr>
            <a:spLocks xmlns:a="http://schemas.openxmlformats.org/drawingml/2006/main" noGrp="1"/>
          </p:cNvSpPr>
          <p:nvPr/>
        </p:nvSpPr>
        <p:spPr>
          <a:xfrm xmlns:a="http://schemas.openxmlformats.org/drawingml/2006/main">
            <a:off x="9086850" y="173355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WEAKEST LABELED CELL</a:t>
            </a:r>
          </a:p>
        </p:txBody>
      </p:sp>
      <p:sp>
        <p:nvSpPr>
          <p:cNvPr id="17" name="">
            <a:extLst xmlns:a="http://schemas.openxmlformats.org/drawingml/2006/main">
              <a:ext uri="{FF2B5EF4-FFF2-40B4-BE49-F238E27FC236}">
                <a16:creationId xmlns:a16="http://schemas.microsoft.com/office/drawing/2014/main" id="{8A2392E3-B50B-4F1D-9FAE-9218FD694D51}"/>
              </a:ext>
            </a:extLst>
          </p:cNvPr>
          <p:cNvSpPr>
            <a:spLocks xmlns:a="http://schemas.openxmlformats.org/drawingml/2006/main" noGrp="1"/>
          </p:cNvSpPr>
          <p:nvPr/>
        </p:nvSpPr>
        <p:spPr>
          <a:xfrm xmlns:a="http://schemas.openxmlformats.org/drawingml/2006/main">
            <a:off x="9086850" y="20478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Icon + file actions</a:t>
            </a:r>
          </a:p>
        </p:txBody>
      </p:sp>
      <p:sp>
        <p:nvSpPr>
          <p:cNvPr id="18" name="">
            <a:extLst xmlns:a="http://schemas.openxmlformats.org/drawingml/2006/main">
              <a:ext uri="{FF2B5EF4-FFF2-40B4-BE49-F238E27FC236}">
                <a16:creationId xmlns:a16="http://schemas.microsoft.com/office/drawing/2014/main" id="{970A0BFD-44F3-4611-992A-BAD7D1E79185}"/>
              </a:ext>
            </a:extLst>
          </p:cNvPr>
          <p:cNvSpPr>
            <a:spLocks xmlns:a="http://schemas.openxmlformats.org/drawingml/2006/main" noGrp="1"/>
          </p:cNvSpPr>
          <p:nvPr/>
        </p:nvSpPr>
        <p:spPr>
          <a:xfrm xmlns:a="http://schemas.openxmlformats.org/drawingml/2006/main">
            <a:off x="9086850" y="24384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05A3C"/>
                </a:solidFill>
                <a:latin typeface="Helvetica Neue"/>
                <a:ea typeface="Helvetica Neue"/>
                <a:cs typeface="Helvetica Neue"/>
              </a:defRPr>
            </a:pPr>
            <a:r>
              <a:rPr sz="2700" b="1">
                <a:solidFill>
                  <a:srgbClr val="F05A3C"/>
                </a:solidFill>
                <a:latin typeface="Helvetica Neue"/>
                <a:ea typeface="Helvetica Neue"/>
                <a:cs typeface="Helvetica Neue"/>
              </a:rPr>
              <a:t>36.1%</a:t>
            </a:r>
          </a:p>
        </p:txBody>
      </p:sp>
      <p:sp>
        <p:nvSpPr>
          <p:cNvPr id="19" name="">
            <a:extLst xmlns:a="http://schemas.openxmlformats.org/drawingml/2006/main">
              <a:ext uri="{FF2B5EF4-FFF2-40B4-BE49-F238E27FC236}">
                <a16:creationId xmlns:a16="http://schemas.microsoft.com/office/drawing/2014/main" id="{736E1212-80E0-4DD4-A3F0-285CEF098C93}"/>
              </a:ext>
            </a:extLst>
          </p:cNvPr>
          <p:cNvSpPr>
            <a:spLocks xmlns:a="http://schemas.openxmlformats.org/drawingml/2006/main" noGrp="1"/>
          </p:cNvSpPr>
          <p:nvPr/>
        </p:nvSpPr>
        <p:spPr>
          <a:xfrm xmlns:a="http://schemas.openxmlformats.org/drawingml/2006/main">
            <a:off x="10267950" y="2552700"/>
            <a:ext cx="1066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F2BDAF"/>
                </a:solidFill>
                <a:latin typeface="Helvetica Neue"/>
                <a:ea typeface="Helvetica Neue"/>
                <a:cs typeface="Helvetica Neue"/>
              </a:defRPr>
            </a:pPr>
            <a:r>
              <a:rPr sz="1050" b="1">
                <a:solidFill>
                  <a:srgbClr val="F2BDAF"/>
                </a:solidFill>
                <a:latin typeface="Helvetica Neue"/>
                <a:ea typeface="Helvetica Neue"/>
                <a:cs typeface="Helvetica Neue"/>
              </a:rPr>
              <a:t>13 / 36 correct</a:t>
            </a:r>
          </a:p>
        </p:txBody>
      </p:sp>
      <p:sp>
        <p:nvSpPr>
          <p:cNvPr id="20" name="">
            <a:extLst xmlns:a="http://schemas.openxmlformats.org/drawingml/2006/main">
              <a:ext uri="{FF2B5EF4-FFF2-40B4-BE49-F238E27FC236}">
                <a16:creationId xmlns:a16="http://schemas.microsoft.com/office/drawing/2014/main" id="{00705AF4-584B-4F07-97B0-D86FB9D3F6BA}"/>
              </a:ext>
            </a:extLst>
          </p:cNvPr>
          <p:cNvSpPr>
            <a:spLocks xmlns:a="http://schemas.openxmlformats.org/drawingml/2006/main" noGrp="1"/>
          </p:cNvSpPr>
          <p:nvPr/>
        </p:nvSpPr>
        <p:spPr>
          <a:xfrm xmlns:a="http://schemas.openxmlformats.org/drawingml/2006/main">
            <a:off x="9086850" y="30099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C4CED7"/>
                </a:solidFill>
                <a:latin typeface="Helvetica Neue"/>
                <a:ea typeface="Helvetica Neue"/>
                <a:cs typeface="Helvetica Neue"/>
              </a:defRPr>
            </a:pPr>
            <a:r>
              <a:rPr sz="975" b="0">
                <a:solidFill>
                  <a:srgbClr val="C4CED7"/>
                </a:solidFill>
                <a:latin typeface="Helvetica Neue"/>
                <a:ea typeface="Helvetica Neue"/>
                <a:cs typeface="Helvetica Neue"/>
              </a:rPr>
              <a:t>The larger icon + navigation cell reaches 40.3% on 149 items.</a:t>
            </a:r>
          </a:p>
        </p:txBody>
      </p:sp>
      <p:sp>
        <p:nvSpPr>
          <p:cNvPr id="21" name="">
            <a:extLst xmlns:a="http://schemas.openxmlformats.org/drawingml/2006/main">
              <a:ext uri="{FF2B5EF4-FFF2-40B4-BE49-F238E27FC236}">
                <a16:creationId xmlns:a16="http://schemas.microsoft.com/office/drawing/2014/main" id="{239B9102-894D-44C4-83E5-7F0A98BE15B8}"/>
              </a:ext>
            </a:extLst>
          </p:cNvPr>
          <p:cNvSpPr>
            <a:spLocks xmlns:a="http://schemas.openxmlformats.org/drawingml/2006/main" noGrp="1"/>
          </p:cNvSpPr>
          <p:nvPr/>
        </p:nvSpPr>
        <p:spPr>
          <a:xfrm xmlns:a="http://schemas.openxmlformats.org/drawingml/2006/main">
            <a:off x="609600" y="388620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UI TYPE × INSTRUCTION ACTION FAMILY</a:t>
            </a:r>
          </a:p>
        </p:txBody>
      </p:sp>
      <p:sp>
        <p:nvSpPr>
          <p:cNvPr id="22" name="">
            <a:extLst xmlns:a="http://schemas.openxmlformats.org/drawingml/2006/main">
              <a:ext uri="{FF2B5EF4-FFF2-40B4-BE49-F238E27FC236}">
                <a16:creationId xmlns:a16="http://schemas.microsoft.com/office/drawing/2014/main" id="{B377B3E5-ED59-4DAC-8536-08CE17799EAE}"/>
              </a:ext>
            </a:extLst>
          </p:cNvPr>
          <p:cNvSpPr>
            <a:spLocks xmlns:a="http://schemas.openxmlformats.org/drawingml/2006/main" noGrp="1"/>
          </p:cNvSpPr>
          <p:nvPr/>
        </p:nvSpPr>
        <p:spPr>
          <a:xfrm xmlns:a="http://schemas.openxmlformats.org/drawingml/2006/main">
            <a:off x="7543800" y="3886200"/>
            <a:ext cx="4038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Accuracy and item count in each cell</a:t>
            </a:r>
          </a:p>
        </p:txBody>
      </p:sp>
      <p:graphicFrame>
        <p:nvGraphicFramePr>
          <p:cNvPr id="48" name=""/>
          <p:cNvGraphicFramePr/>
          <p:nvPr/>
        </p:nvGraphicFramePr>
        <p:xfrm>
          <a:off xmlns:a="http://schemas.openxmlformats.org/drawingml/2006/main" x="609600" y="4171950"/>
          <a:ext xmlns:a="http://schemas.openxmlformats.org/drawingml/2006/main" cx="10972800" cy="1352550"/>
        </p:xfrm>
        <a:graphic xmlns:a="http://schemas.openxmlformats.org/drawingml/2006/main">
          <a:graphicData uri="http://schemas.openxmlformats.org/drawingml/2006/table">
            <a:tbl>
              <a:tblPr/>
              <a:tblGrid>
                <a:gridCol w="1104900"/>
                <a:gridCol w="1409700"/>
                <a:gridCol w="1409700"/>
                <a:gridCol w="1409700"/>
                <a:gridCol w="1409700"/>
                <a:gridCol w="1409700"/>
                <a:gridCol w="1409700"/>
                <a:gridCol w="1409700"/>
              </a:tblGrid>
              <a:tr h="450850">
                <a:tc>
                  <a:txBody>
                    <a:bodyPr>
                      <a:normAutofit/>
                    </a:bodyPr>
                    <a:lstStyle/>
                    <a:p>
                      <a:pPr algn="ctr"/>
                      <a:r>
                        <a:rPr sz="675" b="1">
                          <a:solidFill>
                            <a:srgbClr val="FFFFFF"/>
                          </a:solidFill>
                          <a:latin typeface="Helvetica Neue"/>
                          <a:ea typeface="Helvetica Neue"/>
                          <a:cs typeface="Helvetica Neue"/>
                        </a:rPr>
                        <a:t>UI TYPE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NAVIGATE</a:t>
                      </a:r>
                    </a:p>
                    <a:p>
                      <a:pPr algn="ctr"/>
                      <a:r>
                        <a:rPr sz="675" b="1">
                          <a:solidFill>
                            <a:srgbClr val="FFFFFF"/>
                          </a:solidFill>
                          <a:latin typeface="Helvetica Neue"/>
                          <a:ea typeface="Helvetica Neue"/>
                          <a:cs typeface="Helvetica Neue"/>
                        </a:rPr>
                        <a:t>REVEAL</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SELECT</a:t>
                      </a:r>
                    </a:p>
                    <a:p>
                      <a:pPr algn="ctr"/>
                      <a:r>
                        <a:rPr sz="675" b="1">
                          <a:solidFill>
                            <a:srgbClr val="FFFFFF"/>
                          </a:solidFill>
                          <a:latin typeface="Helvetica Neue"/>
                          <a:ea typeface="Helvetica Neue"/>
                          <a:cs typeface="Helvetica Neue"/>
                        </a:rPr>
                        <a:t>ACTIVATE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CREATE</a:t>
                      </a:r>
                    </a:p>
                    <a:p>
                      <a:pPr algn="ctr"/>
                      <a:r>
                        <a:rPr sz="675" b="1">
                          <a:solidFill>
                            <a:srgbClr val="FFFFFF"/>
                          </a:solidFill>
                          <a:latin typeface="Helvetica Neue"/>
                          <a:ea typeface="Helvetica Neue"/>
                          <a:cs typeface="Helvetica Neue"/>
                        </a:rPr>
                        <a:t>INSERT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EDIT</a:t>
                      </a:r>
                    </a:p>
                    <a:p>
                      <a:pPr algn="ctr"/>
                      <a:r>
                        <a:rPr sz="675" b="1">
                          <a:solidFill>
                            <a:srgbClr val="FFFFFF"/>
                          </a:solidFill>
                          <a:latin typeface="Helvetica Neue"/>
                          <a:ea typeface="Helvetica Neue"/>
                          <a:cs typeface="Helvetica Neue"/>
                        </a:rPr>
                        <a:t>FORMAT</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REMOVE</a:t>
                      </a:r>
                    </a:p>
                    <a:p>
                      <a:pPr algn="ctr"/>
                      <a:r>
                        <a:rPr sz="675" b="1">
                          <a:solidFill>
                            <a:srgbClr val="FFFFFF"/>
                          </a:solidFill>
                          <a:latin typeface="Helvetica Neue"/>
                          <a:ea typeface="Helvetica Neue"/>
                          <a:cs typeface="Helvetica Neue"/>
                        </a:rPr>
                        <a:t>CLOSE</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FILE</a:t>
                      </a:r>
                    </a:p>
                    <a:p>
                      <a:pPr algn="ctr"/>
                      <a:r>
                        <a:rPr sz="675" b="1">
                          <a:solidFill>
                            <a:srgbClr val="FFFFFF"/>
                          </a:solidFill>
                          <a:latin typeface="Helvetica Neue"/>
                          <a:ea typeface="Helvetica Neue"/>
                          <a:cs typeface="Helvetica Neue"/>
                        </a:rPr>
                        <a:t>TRANSFER</a:t>
                      </a:r>
                    </a:p>
                  </a:txBody>
                  <a:tcPr marL="47625" marR="47625" marT="19050" marB="19050" anchor="ctr">
                    <a:solidFill>
                      <a:srgbClr val="1C2733"/>
                    </a:solidFill>
                  </a:tcPr>
                </a:tc>
                <a:tc>
                  <a:txBody>
                    <a:bodyPr>
                      <a:normAutofit/>
                    </a:bodyPr>
                    <a:lstStyle/>
                    <a:p>
                      <a:pPr algn="ctr"/>
                      <a:r>
                        <a:rPr sz="675" b="1">
                          <a:solidFill>
                            <a:srgbClr val="FFFFFF"/>
                          </a:solidFill>
                          <a:latin typeface="Helvetica Neue"/>
                          <a:ea typeface="Helvetica Neue"/>
                          <a:cs typeface="Helvetica Neue"/>
                        </a:rPr>
                        <a:t>OTHER</a:t>
                      </a:r>
                    </a:p>
                  </a:txBody>
                  <a:tcPr marL="47625" marR="47625" marT="19050" marB="19050" anchor="ctr">
                    <a:solidFill>
                      <a:srgbClr val="1C2733"/>
                    </a:solidFill>
                  </a:tcPr>
                </a:tc>
              </a:tr>
              <a:tr h="450850">
                <a:tc>
                  <a:txBody>
                    <a:bodyPr>
                      <a:normAutofit/>
                    </a:bodyPr>
                    <a:lstStyle/>
                    <a:p>
                      <a:pPr algn="ctr"/>
                      <a:r>
                        <a:rPr sz="900" b="1">
                          <a:solidFill>
                            <a:srgbClr val="FFFFFF"/>
                          </a:solidFill>
                          <a:latin typeface="Helvetica Neue"/>
                          <a:ea typeface="Helvetica Neue"/>
                          <a:cs typeface="Helvetica Neue"/>
                        </a:rPr>
                        <a:t>ICON</a:t>
                      </a:r>
                    </a:p>
                  </a:txBody>
                  <a:tcPr marL="47625" marR="47625" marT="19050" marB="19050" anchor="ctr">
                    <a:solidFill>
                      <a:srgbClr val="1C2733"/>
                    </a:solidFill>
                  </a:tcPr>
                </a:tc>
                <a:tc>
                  <a:txBody>
                    <a:bodyPr>
                      <a:normAutofit/>
                    </a:bodyPr>
                    <a:lstStyle/>
                    <a:p>
                      <a:pPr algn="ctr"/>
                      <a:r>
                        <a:rPr sz="900" b="1">
                          <a:solidFill>
                            <a:srgbClr val="A33D29"/>
                          </a:solidFill>
                          <a:latin typeface="Helvetica Neue"/>
                          <a:ea typeface="Helvetica Neue"/>
                          <a:cs typeface="Helvetica Neue"/>
                        </a:rPr>
                        <a:t>40.3%</a:t>
                      </a:r>
                    </a:p>
                    <a:p>
                      <a:pPr algn="ctr"/>
                      <a:r>
                        <a:rPr sz="900" b="1">
                          <a:solidFill>
                            <a:srgbClr val="A33D29"/>
                          </a:solidFill>
                          <a:latin typeface="Helvetica Neue"/>
                          <a:ea typeface="Helvetica Neue"/>
                          <a:cs typeface="Helvetica Neue"/>
                        </a:rPr>
                        <a:t>n=149</a:t>
                      </a:r>
                    </a:p>
                  </a:txBody>
                  <a:tcPr marL="47625" marR="47625" marT="19050" marB="19050" anchor="ctr">
                    <a:solidFill>
                      <a:srgbClr val="F7E4DB"/>
                    </a:solidFill>
                  </a:tcPr>
                </a:tc>
                <a:tc>
                  <a:txBody>
                    <a:bodyPr>
                      <a:normAutofit/>
                    </a:bodyPr>
                    <a:lstStyle/>
                    <a:p>
                      <a:pPr algn="ctr"/>
                      <a:r>
                        <a:rPr sz="900" b="1">
                          <a:solidFill>
                            <a:srgbClr val="10151C"/>
                          </a:solidFill>
                          <a:latin typeface="Helvetica Neue"/>
                          <a:ea typeface="Helvetica Neue"/>
                          <a:cs typeface="Helvetica Neue"/>
                        </a:rPr>
                        <a:t>52.6%</a:t>
                      </a:r>
                    </a:p>
                    <a:p>
                      <a:pPr algn="ctr"/>
                      <a:r>
                        <a:rPr sz="900" b="1">
                          <a:solidFill>
                            <a:srgbClr val="10151C"/>
                          </a:solidFill>
                          <a:latin typeface="Helvetica Neue"/>
                          <a:ea typeface="Helvetica Neue"/>
                          <a:cs typeface="Helvetica Neue"/>
                        </a:rPr>
                        <a:t>n=76</a:t>
                      </a:r>
                    </a:p>
                  </a:txBody>
                  <a:tcPr marL="47625" marR="47625" marT="19050" marB="19050" anchor="ctr">
                    <a:solidFill>
                      <a:srgbClr val="F0E7DE"/>
                    </a:solidFill>
                  </a:tcPr>
                </a:tc>
                <a:tc>
                  <a:txBody>
                    <a:bodyPr>
                      <a:normAutofit/>
                    </a:bodyPr>
                    <a:lstStyle/>
                    <a:p>
                      <a:pPr algn="ctr"/>
                      <a:r>
                        <a:rPr sz="900" b="1">
                          <a:solidFill>
                            <a:srgbClr val="A33D29"/>
                          </a:solidFill>
                          <a:latin typeface="Helvetica Neue"/>
                          <a:ea typeface="Helvetica Neue"/>
                          <a:cs typeface="Helvetica Neue"/>
                        </a:rPr>
                        <a:t>43.2%</a:t>
                      </a:r>
                    </a:p>
                    <a:p>
                      <a:pPr algn="ctr"/>
                      <a:r>
                        <a:rPr sz="900" b="1">
                          <a:solidFill>
                            <a:srgbClr val="A33D29"/>
                          </a:solidFill>
                          <a:latin typeface="Helvetica Neue"/>
                          <a:ea typeface="Helvetica Neue"/>
                          <a:cs typeface="Helvetica Neue"/>
                        </a:rPr>
                        <a:t>n=81</a:t>
                      </a:r>
                    </a:p>
                  </a:txBody>
                  <a:tcPr marL="47625" marR="47625" marT="19050" marB="19050" anchor="ctr">
                    <a:solidFill>
                      <a:srgbClr val="F5E5DC"/>
                    </a:solidFill>
                  </a:tcPr>
                </a:tc>
                <a:tc>
                  <a:txBody>
                    <a:bodyPr>
                      <a:normAutofit/>
                    </a:bodyPr>
                    <a:lstStyle/>
                    <a:p>
                      <a:pPr algn="ctr"/>
                      <a:r>
                        <a:rPr sz="900" b="1">
                          <a:solidFill>
                            <a:srgbClr val="10151C"/>
                          </a:solidFill>
                          <a:latin typeface="Helvetica Neue"/>
                          <a:ea typeface="Helvetica Neue"/>
                          <a:cs typeface="Helvetica Neue"/>
                        </a:rPr>
                        <a:t>45.0%</a:t>
                      </a:r>
                    </a:p>
                    <a:p>
                      <a:pPr algn="ctr"/>
                      <a:r>
                        <a:rPr sz="900" b="1">
                          <a:solidFill>
                            <a:srgbClr val="10151C"/>
                          </a:solidFill>
                          <a:latin typeface="Helvetica Neue"/>
                          <a:ea typeface="Helvetica Neue"/>
                          <a:cs typeface="Helvetica Neue"/>
                        </a:rPr>
                        <a:t>n=80</a:t>
                      </a:r>
                    </a:p>
                  </a:txBody>
                  <a:tcPr marL="47625" marR="47625" marT="19050" marB="19050" anchor="ctr">
                    <a:solidFill>
                      <a:srgbClr val="F4E5DD"/>
                    </a:solidFill>
                  </a:tcPr>
                </a:tc>
                <a:tc>
                  <a:txBody>
                    <a:bodyPr>
                      <a:normAutofit/>
                    </a:bodyPr>
                    <a:lstStyle/>
                    <a:p>
                      <a:pPr algn="ctr"/>
                      <a:r>
                        <a:rPr sz="900" b="1">
                          <a:solidFill>
                            <a:srgbClr val="10151C"/>
                          </a:solidFill>
                          <a:latin typeface="Helvetica Neue"/>
                          <a:ea typeface="Helvetica Neue"/>
                          <a:cs typeface="Helvetica Neue"/>
                        </a:rPr>
                        <a:t>59.6%</a:t>
                      </a:r>
                    </a:p>
                    <a:p>
                      <a:pPr algn="ctr"/>
                      <a:r>
                        <a:rPr sz="900" b="1">
                          <a:solidFill>
                            <a:srgbClr val="10151C"/>
                          </a:solidFill>
                          <a:latin typeface="Helvetica Neue"/>
                          <a:ea typeface="Helvetica Neue"/>
                          <a:cs typeface="Helvetica Neue"/>
                        </a:rPr>
                        <a:t>n=52</a:t>
                      </a:r>
                    </a:p>
                  </a:txBody>
                  <a:tcPr marL="47625" marR="47625" marT="19050" marB="19050" anchor="ctr">
                    <a:solidFill>
                      <a:srgbClr val="ECE8E0"/>
                    </a:solidFill>
                  </a:tcPr>
                </a:tc>
                <a:tc>
                  <a:txBody>
                    <a:bodyPr>
                      <a:normAutofit/>
                    </a:bodyPr>
                    <a:lstStyle/>
                    <a:p>
                      <a:pPr algn="ctr"/>
                      <a:r>
                        <a:rPr sz="900" b="1">
                          <a:solidFill>
                            <a:srgbClr val="A33D29"/>
                          </a:solidFill>
                          <a:latin typeface="Helvetica Neue"/>
                          <a:ea typeface="Helvetica Neue"/>
                          <a:cs typeface="Helvetica Neue"/>
                        </a:rPr>
                        <a:t>36.1%</a:t>
                      </a:r>
                    </a:p>
                    <a:p>
                      <a:pPr algn="ctr"/>
                      <a:r>
                        <a:rPr sz="900" b="1">
                          <a:solidFill>
                            <a:srgbClr val="A33D29"/>
                          </a:solidFill>
                          <a:latin typeface="Helvetica Neue"/>
                          <a:ea typeface="Helvetica Neue"/>
                          <a:cs typeface="Helvetica Neue"/>
                        </a:rPr>
                        <a:t>n=36</a:t>
                      </a:r>
                    </a:p>
                  </a:txBody>
                  <a:tcPr marL="47625" marR="47625" marT="19050" marB="19050" anchor="ctr">
                    <a:solidFill>
                      <a:srgbClr val="F9E3DA"/>
                    </a:solidFill>
                  </a:tcPr>
                </a:tc>
                <a:tc>
                  <a:txBody>
                    <a:bodyPr>
                      <a:normAutofit/>
                    </a:bodyPr>
                    <a:lstStyle/>
                    <a:p>
                      <a:pPr algn="ctr"/>
                      <a:r>
                        <a:rPr sz="900" b="1">
                          <a:solidFill>
                            <a:srgbClr val="A33D29"/>
                          </a:solidFill>
                          <a:latin typeface="Helvetica Neue"/>
                          <a:ea typeface="Helvetica Neue"/>
                          <a:cs typeface="Helvetica Neue"/>
                        </a:rPr>
                        <a:t>39.2%</a:t>
                      </a:r>
                    </a:p>
                    <a:p>
                      <a:pPr algn="ctr"/>
                      <a:r>
                        <a:rPr sz="900" b="1">
                          <a:solidFill>
                            <a:srgbClr val="A33D29"/>
                          </a:solidFill>
                          <a:latin typeface="Helvetica Neue"/>
                          <a:ea typeface="Helvetica Neue"/>
                          <a:cs typeface="Helvetica Neue"/>
                        </a:rPr>
                        <a:t>n=130</a:t>
                      </a:r>
                    </a:p>
                  </a:txBody>
                  <a:tcPr marL="47625" marR="47625" marT="19050" marB="19050" anchor="ctr">
                    <a:solidFill>
                      <a:srgbClr val="F7E4DB"/>
                    </a:solidFill>
                  </a:tcPr>
                </a:tc>
              </a:tr>
              <a:tr h="450850">
                <a:tc>
                  <a:txBody>
                    <a:bodyPr>
                      <a:normAutofit/>
                    </a:bodyPr>
                    <a:lstStyle/>
                    <a:p>
                      <a:pPr algn="ctr"/>
                      <a:r>
                        <a:rPr sz="900" b="1">
                          <a:solidFill>
                            <a:srgbClr val="FFFFFF"/>
                          </a:solidFill>
                          <a:latin typeface="Helvetica Neue"/>
                          <a:ea typeface="Helvetica Neue"/>
                          <a:cs typeface="Helvetica Neue"/>
                        </a:rPr>
                        <a:t>TEXT</a:t>
                      </a:r>
                    </a:p>
                  </a:txBody>
                  <a:tcPr marL="47625" marR="47625" marT="19050" marB="19050" anchor="ctr">
                    <a:solidFill>
                      <a:srgbClr val="1C2733"/>
                    </a:solidFill>
                  </a:tcPr>
                </a:tc>
                <a:tc>
                  <a:txBody>
                    <a:bodyPr>
                      <a:normAutofit/>
                    </a:bodyPr>
                    <a:lstStyle/>
                    <a:p>
                      <a:pPr algn="ctr"/>
                      <a:r>
                        <a:rPr sz="900" b="1">
                          <a:solidFill>
                            <a:srgbClr val="10151C"/>
                          </a:solidFill>
                          <a:latin typeface="Helvetica Neue"/>
                          <a:ea typeface="Helvetica Neue"/>
                          <a:cs typeface="Helvetica Neue"/>
                        </a:rPr>
                        <a:t>77.0%</a:t>
                      </a:r>
                    </a:p>
                    <a:p>
                      <a:pPr algn="ctr"/>
                      <a:r>
                        <a:rPr sz="900" b="1">
                          <a:solidFill>
                            <a:srgbClr val="10151C"/>
                          </a:solidFill>
                          <a:latin typeface="Helvetica Neue"/>
                          <a:ea typeface="Helvetica Neue"/>
                          <a:cs typeface="Helvetica Neue"/>
                        </a:rPr>
                        <a:t>n=161</a:t>
                      </a:r>
                    </a:p>
                  </a:txBody>
                  <a:tcPr marL="47625" marR="47625" marT="19050" marB="19050" anchor="ctr">
                    <a:solidFill>
                      <a:srgbClr val="E3ECE4"/>
                    </a:solidFill>
                  </a:tcPr>
                </a:tc>
                <a:tc>
                  <a:txBody>
                    <a:bodyPr>
                      <a:normAutofit/>
                    </a:bodyPr>
                    <a:lstStyle/>
                    <a:p>
                      <a:pPr algn="ctr"/>
                      <a:r>
                        <a:rPr sz="900" b="1">
                          <a:solidFill>
                            <a:srgbClr val="10151C"/>
                          </a:solidFill>
                          <a:latin typeface="Helvetica Neue"/>
                          <a:ea typeface="Helvetica Neue"/>
                          <a:cs typeface="Helvetica Neue"/>
                        </a:rPr>
                        <a:t>80.8%</a:t>
                      </a:r>
                    </a:p>
                    <a:p>
                      <a:pPr algn="ctr"/>
                      <a:r>
                        <a:rPr sz="900" b="1">
                          <a:solidFill>
                            <a:srgbClr val="10151C"/>
                          </a:solidFill>
                          <a:latin typeface="Helvetica Neue"/>
                          <a:ea typeface="Helvetica Neue"/>
                          <a:cs typeface="Helvetica Neue"/>
                        </a:rPr>
                        <a:t>n=151</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80.3%</a:t>
                      </a:r>
                    </a:p>
                    <a:p>
                      <a:pPr algn="ctr"/>
                      <a:r>
                        <a:rPr sz="900" b="1">
                          <a:solidFill>
                            <a:srgbClr val="10151C"/>
                          </a:solidFill>
                          <a:latin typeface="Helvetica Neue"/>
                          <a:ea typeface="Helvetica Neue"/>
                          <a:cs typeface="Helvetica Neue"/>
                        </a:rPr>
                        <a:t>n=152</a:t>
                      </a:r>
                    </a:p>
                  </a:txBody>
                  <a:tcPr marL="47625" marR="47625" marT="19050" marB="19050" anchor="ctr">
                    <a:solidFill>
                      <a:srgbClr val="E1EDE5"/>
                    </a:solidFill>
                  </a:tcPr>
                </a:tc>
                <a:tc>
                  <a:txBody>
                    <a:bodyPr>
                      <a:normAutofit/>
                    </a:bodyPr>
                    <a:lstStyle/>
                    <a:p>
                      <a:pPr algn="ctr"/>
                      <a:r>
                        <a:rPr sz="900" b="1">
                          <a:solidFill>
                            <a:srgbClr val="10151C"/>
                          </a:solidFill>
                          <a:latin typeface="Helvetica Neue"/>
                          <a:ea typeface="Helvetica Neue"/>
                          <a:cs typeface="Helvetica Neue"/>
                        </a:rPr>
                        <a:t>79.4%</a:t>
                      </a:r>
                    </a:p>
                    <a:p>
                      <a:pPr algn="ctr"/>
                      <a:r>
                        <a:rPr sz="900" b="1">
                          <a:solidFill>
                            <a:srgbClr val="10151C"/>
                          </a:solidFill>
                          <a:latin typeface="Helvetica Neue"/>
                          <a:ea typeface="Helvetica Neue"/>
                          <a:cs typeface="Helvetica Neue"/>
                        </a:rPr>
                        <a:t>n=180</a:t>
                      </a:r>
                    </a:p>
                  </a:txBody>
                  <a:tcPr marL="47625" marR="47625" marT="19050" marB="19050" anchor="ctr">
                    <a:solidFill>
                      <a:srgbClr val="E2EDE5"/>
                    </a:solidFill>
                  </a:tcPr>
                </a:tc>
                <a:tc>
                  <a:txBody>
                    <a:bodyPr>
                      <a:normAutofit/>
                    </a:bodyPr>
                    <a:lstStyle/>
                    <a:p>
                      <a:pPr algn="ctr"/>
                      <a:r>
                        <a:rPr sz="900" b="1">
                          <a:solidFill>
                            <a:srgbClr val="10151C"/>
                          </a:solidFill>
                          <a:latin typeface="Helvetica Neue"/>
                          <a:ea typeface="Helvetica Neue"/>
                          <a:cs typeface="Helvetica Neue"/>
                        </a:rPr>
                        <a:t>85.1%</a:t>
                      </a:r>
                    </a:p>
                    <a:p>
                      <a:pPr algn="ctr"/>
                      <a:r>
                        <a:rPr sz="900" b="1">
                          <a:solidFill>
                            <a:srgbClr val="10151C"/>
                          </a:solidFill>
                          <a:latin typeface="Helvetica Neue"/>
                          <a:ea typeface="Helvetica Neue"/>
                          <a:cs typeface="Helvetica Neue"/>
                        </a:rPr>
                        <a:t>n=47</a:t>
                      </a:r>
                    </a:p>
                  </a:txBody>
                  <a:tcPr marL="47625" marR="47625" marT="19050" marB="19050" anchor="ctr">
                    <a:solidFill>
                      <a:srgbClr val="DFEEE6"/>
                    </a:solidFill>
                  </a:tcPr>
                </a:tc>
                <a:tc>
                  <a:txBody>
                    <a:bodyPr>
                      <a:normAutofit/>
                    </a:bodyPr>
                    <a:lstStyle/>
                    <a:p>
                      <a:pPr algn="ctr"/>
                      <a:r>
                        <a:rPr sz="900" b="1">
                          <a:solidFill>
                            <a:srgbClr val="10151C"/>
                          </a:solidFill>
                          <a:latin typeface="Helvetica Neue"/>
                          <a:ea typeface="Helvetica Neue"/>
                          <a:cs typeface="Helvetica Neue"/>
                        </a:rPr>
                        <a:t>86.0%</a:t>
                      </a:r>
                    </a:p>
                    <a:p>
                      <a:pPr algn="ctr"/>
                      <a:r>
                        <a:rPr sz="900" b="1">
                          <a:solidFill>
                            <a:srgbClr val="10151C"/>
                          </a:solidFill>
                          <a:latin typeface="Helvetica Neue"/>
                          <a:ea typeface="Helvetica Neue"/>
                          <a:cs typeface="Helvetica Neue"/>
                        </a:rPr>
                        <a:t>n=43</a:t>
                      </a:r>
                    </a:p>
                  </a:txBody>
                  <a:tcPr marL="47625" marR="47625" marT="19050" marB="19050" anchor="ctr">
                    <a:solidFill>
                      <a:srgbClr val="DEEEE6"/>
                    </a:solidFill>
                  </a:tcPr>
                </a:tc>
                <a:tc>
                  <a:txBody>
                    <a:bodyPr>
                      <a:normAutofit/>
                    </a:bodyPr>
                    <a:lstStyle/>
                    <a:p>
                      <a:pPr algn="ctr"/>
                      <a:r>
                        <a:rPr sz="900" b="1">
                          <a:solidFill>
                            <a:srgbClr val="10151C"/>
                          </a:solidFill>
                          <a:latin typeface="Helvetica Neue"/>
                          <a:ea typeface="Helvetica Neue"/>
                          <a:cs typeface="Helvetica Neue"/>
                        </a:rPr>
                        <a:t>77.4%</a:t>
                      </a:r>
                    </a:p>
                    <a:p>
                      <a:pPr algn="ctr"/>
                      <a:r>
                        <a:rPr sz="900" b="1">
                          <a:solidFill>
                            <a:srgbClr val="10151C"/>
                          </a:solidFill>
                          <a:latin typeface="Helvetica Neue"/>
                          <a:ea typeface="Helvetica Neue"/>
                          <a:cs typeface="Helvetica Neue"/>
                        </a:rPr>
                        <a:t>n=243</a:t>
                      </a:r>
                    </a:p>
                  </a:txBody>
                  <a:tcPr marL="47625" marR="47625" marT="19050" marB="19050" anchor="ctr">
                    <a:solidFill>
                      <a:srgbClr val="E3ECE4"/>
                    </a:solidFill>
                  </a:tcPr>
                </a:tc>
              </a:tr>
            </a:tbl>
          </a:graphicData>
        </a:graphic>
      </p:graphicFrame>
      <p:sp>
        <p:nvSpPr>
          <p:cNvPr id="24" name="">
            <a:extLst xmlns:a="http://schemas.openxmlformats.org/drawingml/2006/main">
              <a:ext uri="{FF2B5EF4-FFF2-40B4-BE49-F238E27FC236}">
                <a16:creationId xmlns:a16="http://schemas.microsoft.com/office/drawing/2014/main" id="{94BB47C7-5C75-40F1-BADB-68BC714D07C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5F32CABF-3BE8-4607-BA64-D2B704E9A289}"/>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Raw point-in-box accuracy. UI type is the official target label; action families are diagnostic. Target geometry follows on the next slide.</a:t>
            </a:r>
          </a:p>
        </p:txBody>
      </p:sp>
    </p:spTree>
    <p:extLst>
      <p:ext uri="{BB962C8B-B14F-4D97-AF65-F5344CB8AC3E}">
        <p14:creationId xmlns:p14="http://schemas.microsoft.com/office/powerpoint/2010/main" val="1004675410"/>
      </p:ext>
    </p:extLst>
  </p:cSld>
</p:sld>
</file>

<file path=ppt/slides/slide4.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F4141478-E253-4C1F-AA27-0121B8E607B9}"/>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TARGET GEOMETRY</a:t>
            </a:r>
          </a:p>
        </p:txBody>
      </p:sp>
      <p:sp>
        <p:nvSpPr>
          <p:cNvPr id="2" name="">
            <a:extLst xmlns:a="http://schemas.openxmlformats.org/drawingml/2006/main">
              <a:ext uri="{FF2B5EF4-FFF2-40B4-BE49-F238E27FC236}">
                <a16:creationId xmlns:a16="http://schemas.microsoft.com/office/drawing/2014/main" id="{067A9707-B2F3-4B11-9773-0B79AD579B4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Text target boxes are 4.77× larger at the median</a:t>
            </a:r>
          </a:p>
        </p:txBody>
      </p:sp>
      <p:sp>
        <p:nvSpPr>
          <p:cNvPr id="3" name="">
            <a:extLst xmlns:a="http://schemas.openxmlformats.org/drawingml/2006/main">
              <a:ext uri="{FF2B5EF4-FFF2-40B4-BE49-F238E27FC236}">
                <a16:creationId xmlns:a16="http://schemas.microsoft.com/office/drawing/2014/main" id="{5C2621AB-0B2B-40F7-BED1-B5ABFDD1611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6C56A91D-B789-4391-BD63-E0AC9EFCFC31}"/>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Normalized area is the annotated click-box area divided by screenshot area. Each series sums to 100%.</a:t>
            </a:r>
          </a:p>
        </p:txBody>
      </p:sp>
      <p:sp>
        <p:nvSpPr>
          <p:cNvPr id="5" name="">
            <a:extLst xmlns:a="http://schemas.openxmlformats.org/drawingml/2006/main">
              <a:ext uri="{FF2B5EF4-FFF2-40B4-BE49-F238E27FC236}">
                <a16:creationId xmlns:a16="http://schemas.microsoft.com/office/drawing/2014/main" id="{2FF51069-3C75-47CE-8576-97420F2FDD32}"/>
              </a:ext>
            </a:extLst>
          </p:cNvPr>
          <p:cNvSpPr>
            <a:spLocks xmlns:a="http://schemas.openxmlformats.org/drawingml/2006/main" noGrp="1"/>
          </p:cNvSpPr>
          <p:nvPr/>
        </p:nvSpPr>
        <p:spPr>
          <a:xfrm xmlns:a="http://schemas.openxmlformats.org/drawingml/2006/main">
            <a:off x="609600" y="1562100"/>
            <a:ext cx="6858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SHARE OF TARGETS BY NORMALIZED AREA BUCKET</a:t>
            </a:r>
          </a:p>
        </p:txBody>
      </p:sp>
      <p:graphicFrame>
        <p:nvGraphicFramePr>
          <p:cNvPr id="25" name="Chart"/>
          <p:cNvGraphicFramePr/>
          <p:nvPr/>
        </p:nvGraphicFramePr>
        <p:xfrm>
          <a:off xmlns:a="http://schemas.openxmlformats.org/drawingml/2006/main" x="609600" y="1809750"/>
          <a:ext xmlns:a="http://schemas.openxmlformats.org/drawingml/2006/main" cx="7810500" cy="3714750"/>
        </p:xfrm>
        <a:graphic xmlns:a="http://schemas.openxmlformats.org/drawingml/2006/main">
          <a:graphicData uri="http://schemas.openxmlformats.org/drawingml/2006/chart">
            <c:chart xmlns:r="http://schemas.openxmlformats.org/officeDocument/2006/relationships" xmlns:c="http://schemas.openxmlformats.org/drawingml/2006/chart" r:id="R3d0249ea2c8f4158"/>
          </a:graphicData>
        </a:graphic>
      </p:graphicFrame>
      <p:sp>
        <p:nvSpPr>
          <p:cNvPr id="7" name="">
            <a:extLst xmlns:a="http://schemas.openxmlformats.org/drawingml/2006/main">
              <a:ext uri="{FF2B5EF4-FFF2-40B4-BE49-F238E27FC236}">
                <a16:creationId xmlns:a16="http://schemas.microsoft.com/office/drawing/2014/main" id="{86BB3572-99C9-4C3D-8A9A-8D32EC864A08}"/>
              </a:ext>
            </a:extLst>
          </p:cNvPr>
          <p:cNvSpPr>
            <a:spLocks xmlns:a="http://schemas.openxmlformats.org/drawingml/2006/main" noGrp="1"/>
          </p:cNvSpPr>
          <p:nvPr/>
        </p:nvSpPr>
        <p:spPr>
          <a:xfrm xmlns:a="http://schemas.openxmlformats.org/drawingml/2006/main">
            <a:off x="8801100" y="1562100"/>
            <a:ext cx="2781300" cy="3962400"/>
          </a:xfrm>
          <a:prstGeom xmlns:a="http://schemas.openxmlformats.org/drawingml/2006/main" prst="roundRect">
            <a:avLst>
              <a:gd name="adj" fmla="val 2740"/>
            </a:avLst>
          </a:prstGeom>
          <a:solidFill xmlns:a="http://schemas.openxmlformats.org/drawingml/2006/main">
            <a:srgbClr val="1C273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F8A8CD6-D14E-4C24-BE4F-7350D422996F}"/>
              </a:ext>
            </a:extLst>
          </p:cNvPr>
          <p:cNvSpPr>
            <a:spLocks xmlns:a="http://schemas.openxmlformats.org/drawingml/2006/main" noGrp="1"/>
          </p:cNvSpPr>
          <p:nvPr/>
        </p:nvSpPr>
        <p:spPr>
          <a:xfrm xmlns:a="http://schemas.openxmlformats.org/drawingml/2006/main">
            <a:off x="9067800" y="1847850"/>
            <a:ext cx="2247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TARGET AREA</a:t>
            </a:r>
          </a:p>
        </p:txBody>
      </p:sp>
      <p:sp>
        <p:nvSpPr>
          <p:cNvPr id="9" name="">
            <a:extLst xmlns:a="http://schemas.openxmlformats.org/drawingml/2006/main">
              <a:ext uri="{FF2B5EF4-FFF2-40B4-BE49-F238E27FC236}">
                <a16:creationId xmlns:a16="http://schemas.microsoft.com/office/drawing/2014/main" id="{878BDD2D-3898-4D23-B8CE-3B92352B9BBA}"/>
              </a:ext>
            </a:extLst>
          </p:cNvPr>
          <p:cNvSpPr>
            <a:spLocks xmlns:a="http://schemas.openxmlformats.org/drawingml/2006/main" noGrp="1"/>
          </p:cNvSpPr>
          <p:nvPr/>
        </p:nvSpPr>
        <p:spPr>
          <a:xfrm xmlns:a="http://schemas.openxmlformats.org/drawingml/2006/main">
            <a:off x="9067800" y="2190750"/>
            <a:ext cx="22479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359"/>
          </a:bodyPr>
          <a:lstStyle xmlns:a="http://schemas.openxmlformats.org/drawingml/2006/main"/>
          <a:p xmlns:a="http://schemas.openxmlformats.org/drawingml/2006/main">
            <a:pPr algn="l">
              <a:defRPr sz="3900" b="1">
                <a:solidFill>
                  <a:srgbClr val="F05A3C"/>
                </a:solidFill>
                <a:latin typeface="Helvetica Neue"/>
                <a:ea typeface="Helvetica Neue"/>
                <a:cs typeface="Helvetica Neue"/>
              </a:defRPr>
            </a:pPr>
            <a:r>
              <a:rPr sz="3900" b="1">
                <a:solidFill>
                  <a:srgbClr val="F05A3C"/>
                </a:solidFill>
                <a:latin typeface="Helvetica Neue"/>
                <a:ea typeface="Helvetica Neue"/>
                <a:cs typeface="Helvetica Neue"/>
              </a:rPr>
              <a:t>4.77×</a:t>
            </a:r>
          </a:p>
        </p:txBody>
      </p:sp>
      <p:sp>
        <p:nvSpPr>
          <p:cNvPr id="10" name="">
            <a:extLst xmlns:a="http://schemas.openxmlformats.org/drawingml/2006/main">
              <a:ext uri="{FF2B5EF4-FFF2-40B4-BE49-F238E27FC236}">
                <a16:creationId xmlns:a16="http://schemas.microsoft.com/office/drawing/2014/main" id="{85C955E7-8418-43DE-ADD5-65C0A959ED39}"/>
              </a:ext>
            </a:extLst>
          </p:cNvPr>
          <p:cNvSpPr>
            <a:spLocks xmlns:a="http://schemas.openxmlformats.org/drawingml/2006/main" noGrp="1"/>
          </p:cNvSpPr>
          <p:nvPr/>
        </p:nvSpPr>
        <p:spPr>
          <a:xfrm xmlns:a="http://schemas.openxmlformats.org/drawingml/2006/main">
            <a:off x="9067800" y="2800350"/>
            <a:ext cx="2247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F2BDAF"/>
                </a:solidFill>
                <a:latin typeface="Helvetica Neue"/>
                <a:ea typeface="Helvetica Neue"/>
                <a:cs typeface="Helvetica Neue"/>
              </a:defRPr>
            </a:pPr>
            <a:r>
              <a:rPr sz="1275" b="0">
                <a:solidFill>
                  <a:srgbClr val="F2BDAF"/>
                </a:solidFill>
                <a:latin typeface="Helvetica Neue"/>
                <a:ea typeface="Helvetica Neue"/>
                <a:cs typeface="Helvetica Neue"/>
              </a:rPr>
              <a:t>text versus icon</a:t>
            </a:r>
          </a:p>
        </p:txBody>
      </p:sp>
      <p:sp>
        <p:nvSpPr>
          <p:cNvPr id="11" name="">
            <a:extLst xmlns:a="http://schemas.openxmlformats.org/drawingml/2006/main">
              <a:ext uri="{FF2B5EF4-FFF2-40B4-BE49-F238E27FC236}">
                <a16:creationId xmlns:a16="http://schemas.microsoft.com/office/drawing/2014/main" id="{6C4EA63C-DF32-4FDF-84E1-4E963682CFAD}"/>
              </a:ext>
            </a:extLst>
          </p:cNvPr>
          <p:cNvSpPr>
            <a:spLocks xmlns:a="http://schemas.openxmlformats.org/drawingml/2006/main" noGrp="1"/>
          </p:cNvSpPr>
          <p:nvPr/>
        </p:nvSpPr>
        <p:spPr>
          <a:xfrm xmlns:a="http://schemas.openxmlformats.org/drawingml/2006/main">
            <a:off x="9067800" y="3257550"/>
            <a:ext cx="2247900" cy="9525"/>
          </a:xfrm>
          <a:prstGeom xmlns:a="http://schemas.openxmlformats.org/drawingml/2006/main" prst="rect">
            <a:avLst/>
          </a:prstGeom>
          <a:solidFill xmlns:a="http://schemas.openxmlformats.org/drawingml/2006/main">
            <a:srgbClr val="43515F"/>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F9DA47-0374-4BFF-8529-28740E0FECF3}"/>
              </a:ext>
            </a:extLst>
          </p:cNvPr>
          <p:cNvSpPr>
            <a:spLocks xmlns:a="http://schemas.openxmlformats.org/drawingml/2006/main" noGrp="1"/>
          </p:cNvSpPr>
          <p:nvPr/>
        </p:nvSpPr>
        <p:spPr>
          <a:xfrm xmlns:a="http://schemas.openxmlformats.org/drawingml/2006/main">
            <a:off x="9067800" y="3524250"/>
            <a:ext cx="22479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MEDIAN CLICK BOX</a:t>
            </a:r>
          </a:p>
        </p:txBody>
      </p:sp>
      <p:sp>
        <p:nvSpPr>
          <p:cNvPr id="13" name="">
            <a:extLst xmlns:a="http://schemas.openxmlformats.org/drawingml/2006/main">
              <a:ext uri="{FF2B5EF4-FFF2-40B4-BE49-F238E27FC236}">
                <a16:creationId xmlns:a16="http://schemas.microsoft.com/office/drawing/2014/main" id="{0442D90B-6F23-4A40-A3C8-4D4C5CC0B11E}"/>
              </a:ext>
            </a:extLst>
          </p:cNvPr>
          <p:cNvSpPr>
            <a:spLocks xmlns:a="http://schemas.openxmlformats.org/drawingml/2006/main" noGrp="1"/>
          </p:cNvSpPr>
          <p:nvPr/>
        </p:nvSpPr>
        <p:spPr>
          <a:xfrm xmlns:a="http://schemas.openxmlformats.org/drawingml/2006/main">
            <a:off x="9067800" y="382905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Text   111 × 25 px</a:t>
            </a:r>
          </a:p>
        </p:txBody>
      </p:sp>
      <p:sp>
        <p:nvSpPr>
          <p:cNvPr id="14" name="">
            <a:extLst xmlns:a="http://schemas.openxmlformats.org/drawingml/2006/main">
              <a:ext uri="{FF2B5EF4-FFF2-40B4-BE49-F238E27FC236}">
                <a16:creationId xmlns:a16="http://schemas.microsoft.com/office/drawing/2014/main" id="{00C2B6FC-BB05-458D-8F6E-200FD00AC916}"/>
              </a:ext>
            </a:extLst>
          </p:cNvPr>
          <p:cNvSpPr>
            <a:spLocks xmlns:a="http://schemas.openxmlformats.org/drawingml/2006/main" noGrp="1"/>
          </p:cNvSpPr>
          <p:nvPr/>
        </p:nvSpPr>
        <p:spPr>
          <a:xfrm xmlns:a="http://schemas.openxmlformats.org/drawingml/2006/main">
            <a:off x="9067800" y="4191000"/>
            <a:ext cx="2247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Icon     26 × 24 px</a:t>
            </a:r>
          </a:p>
        </p:txBody>
      </p:sp>
      <p:sp>
        <p:nvSpPr>
          <p:cNvPr id="15" name="">
            <a:extLst xmlns:a="http://schemas.openxmlformats.org/drawingml/2006/main">
              <a:ext uri="{FF2B5EF4-FFF2-40B4-BE49-F238E27FC236}">
                <a16:creationId xmlns:a16="http://schemas.microsoft.com/office/drawing/2014/main" id="{5B5D721E-C3C5-4316-BB55-3C1DB1D3405B}"/>
              </a:ext>
            </a:extLst>
          </p:cNvPr>
          <p:cNvSpPr>
            <a:spLocks xmlns:a="http://schemas.openxmlformats.org/drawingml/2006/main" noGrp="1"/>
          </p:cNvSpPr>
          <p:nvPr/>
        </p:nvSpPr>
        <p:spPr>
          <a:xfrm xmlns:a="http://schemas.openxmlformats.org/drawingml/2006/main">
            <a:off x="9067800" y="468630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The difference is mostly width.</a:t>
            </a:r>
          </a:p>
        </p:txBody>
      </p:sp>
      <p:sp>
        <p:nvSpPr>
          <p:cNvPr id="16" name="">
            <a:extLst xmlns:a="http://schemas.openxmlformats.org/drawingml/2006/main">
              <a:ext uri="{FF2B5EF4-FFF2-40B4-BE49-F238E27FC236}">
                <a16:creationId xmlns:a16="http://schemas.microsoft.com/office/drawing/2014/main" id="{D8844344-DC1D-4D30-9BE2-753A3A558C9E}"/>
              </a:ext>
            </a:extLst>
          </p:cNvPr>
          <p:cNvSpPr>
            <a:spLocks xmlns:a="http://schemas.openxmlformats.org/drawingml/2006/main" noGrp="1"/>
          </p:cNvSpPr>
          <p:nvPr/>
        </p:nvSpPr>
        <p:spPr>
          <a:xfrm xmlns:a="http://schemas.openxmlformats.org/drawingml/2006/main">
            <a:off x="609600" y="5810250"/>
            <a:ext cx="10972800" cy="419100"/>
          </a:xfrm>
          <a:prstGeom xmlns:a="http://schemas.openxmlformats.org/drawingml/2006/main" prst="roundRect">
            <a:avLst>
              <a:gd name="adj" fmla="val 18182"/>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0E8A8CD-91DD-4F08-91D4-0405C7F71688}"/>
              </a:ext>
            </a:extLst>
          </p:cNvPr>
          <p:cNvSpPr>
            <a:spLocks xmlns:a="http://schemas.openxmlformats.org/drawingml/2006/main" noGrp="1"/>
          </p:cNvSpPr>
          <p:nvPr/>
        </p:nvSpPr>
        <p:spPr>
          <a:xfrm xmlns:a="http://schemas.openxmlformats.org/drawingml/2006/main">
            <a:off x="800100" y="5905500"/>
            <a:ext cx="10591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Point-in-box scoring gives wider text regions more click tolerance, so the raw UI gap mixes recognition with target geometry.</a:t>
            </a:r>
          </a:p>
        </p:txBody>
      </p:sp>
      <p:sp>
        <p:nvSpPr>
          <p:cNvPr id="18" name="">
            <a:extLst xmlns:a="http://schemas.openxmlformats.org/drawingml/2006/main">
              <a:ext uri="{FF2B5EF4-FFF2-40B4-BE49-F238E27FC236}">
                <a16:creationId xmlns:a16="http://schemas.microsoft.com/office/drawing/2014/main" id="{1CEFB6BC-0A8F-4112-A0F9-2899744EAADF}"/>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40A814B-DE68-479A-B982-9D6209DF775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All 1,581 official annotations. Buckets show observed within-label distributions, not accuracy or a causal adjustment.</a:t>
            </a:r>
          </a:p>
        </p:txBody>
      </p:sp>
    </p:spTree>
    <p:extLst>
      <p:ext uri="{BB962C8B-B14F-4D97-AF65-F5344CB8AC3E}">
        <p14:creationId xmlns:p14="http://schemas.microsoft.com/office/powerpoint/2010/main" val="652489586"/>
      </p:ext>
    </p:extLst>
  </p:cSld>
</p:sld>
</file>

<file path=ppt/slides/slide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6003023-AC99-4568-A01F-978425F29E4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CALCULATION</a:t>
            </a:r>
          </a:p>
        </p:txBody>
      </p:sp>
      <p:sp>
        <p:nvSpPr>
          <p:cNvPr id="2" name="">
            <a:extLst xmlns:a="http://schemas.openxmlformats.org/drawingml/2006/main">
              <a:ext uri="{FF2B5EF4-FFF2-40B4-BE49-F238E27FC236}">
                <a16:creationId xmlns:a16="http://schemas.microsoft.com/office/drawing/2014/main" id="{4AC12FF8-6732-4670-96C5-625B971C4451}"/>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704"/>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generated coordinate tokens back to image patches</a:t>
            </a:r>
          </a:p>
        </p:txBody>
      </p:sp>
      <p:sp>
        <p:nvSpPr>
          <p:cNvPr id="3" name="">
            <a:extLst xmlns:a="http://schemas.openxmlformats.org/drawingml/2006/main">
              <a:ext uri="{FF2B5EF4-FFF2-40B4-BE49-F238E27FC236}">
                <a16:creationId xmlns:a16="http://schemas.microsoft.com/office/drawing/2014/main" id="{9AD13814-BB08-47E6-A397-478CF35BE73F}"/>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C9EB2BF-4608-4DA3-BB5F-D785FA0F5514}"/>
              </a:ext>
            </a:extLst>
          </p:cNvPr>
          <p:cNvSpPr>
            <a:spLocks xmlns:a="http://schemas.openxmlformats.org/drawingml/2006/main" noGrp="1"/>
          </p:cNvSpPr>
          <p:nvPr/>
        </p:nvSpPr>
        <p:spPr>
          <a:xfrm xmlns:a="http://schemas.openxmlformats.org/drawingml/2006/main">
            <a:off x="609600" y="11239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A attention weights · V value vectors · R rolled-out token influence · M image-patch map for generated x/y value tokens</a:t>
            </a:r>
          </a:p>
        </p:txBody>
      </p:sp>
      <p:sp>
        <p:nvSpPr>
          <p:cNvPr id="5" name="">
            <a:extLst xmlns:a="http://schemas.openxmlformats.org/drawingml/2006/main">
              <a:ext uri="{FF2B5EF4-FFF2-40B4-BE49-F238E27FC236}">
                <a16:creationId xmlns:a16="http://schemas.microsoft.com/office/drawing/2014/main" id="{A66C56AF-4E84-4C31-98A7-9746A6A0FF40}"/>
              </a:ext>
            </a:extLst>
          </p:cNvPr>
          <p:cNvSpPr>
            <a:spLocks xmlns:a="http://schemas.openxmlformats.org/drawingml/2006/main" noGrp="1"/>
          </p:cNvSpPr>
          <p:nvPr/>
        </p:nvSpPr>
        <p:spPr>
          <a:xfrm xmlns:a="http://schemas.openxmlformats.org/drawingml/2006/main">
            <a:off x="60960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6" name="">
            <a:extLst xmlns:a="http://schemas.openxmlformats.org/drawingml/2006/main">
              <a:ext uri="{FF2B5EF4-FFF2-40B4-BE49-F238E27FC236}">
                <a16:creationId xmlns:a16="http://schemas.microsoft.com/office/drawing/2014/main" id="{86F46D39-EBD2-45BE-AE97-B58CE3F27C71}"/>
              </a:ext>
            </a:extLst>
          </p:cNvPr>
          <p:cNvSpPr>
            <a:spLocks xmlns:a="http://schemas.openxmlformats.org/drawingml/2006/main" noGrp="1"/>
          </p:cNvSpPr>
          <p:nvPr/>
        </p:nvSpPr>
        <p:spPr>
          <a:xfrm xmlns:a="http://schemas.openxmlformats.org/drawingml/2006/main">
            <a:off x="819150" y="1666875"/>
            <a:ext cx="4381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700219-21B0-4ECD-B62B-8B13DBF2CE27}"/>
              </a:ext>
            </a:extLst>
          </p:cNvPr>
          <p:cNvSpPr>
            <a:spLocks xmlns:a="http://schemas.openxmlformats.org/drawingml/2006/main" noGrp="1"/>
          </p:cNvSpPr>
          <p:nvPr/>
        </p:nvSpPr>
        <p:spPr>
          <a:xfrm xmlns:a="http://schemas.openxmlformats.org/drawingml/2006/main">
            <a:off x="91440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B85129B9-5C14-4D2F-9D4F-BF888CD7EB49}"/>
              </a:ext>
            </a:extLst>
          </p:cNvPr>
          <p:cNvSpPr>
            <a:spLocks xmlns:a="http://schemas.openxmlformats.org/drawingml/2006/main" noGrp="1"/>
          </p:cNvSpPr>
          <p:nvPr/>
        </p:nvSpPr>
        <p:spPr>
          <a:xfrm xmlns:a="http://schemas.openxmlformats.org/drawingml/2006/main">
            <a:off x="140970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VALUE-NORM</a:t>
            </a:r>
          </a:p>
        </p:txBody>
      </p:sp>
      <p:sp>
        <p:nvSpPr>
          <p:cNvPr id="9" name="">
            <a:extLst xmlns:a="http://schemas.openxmlformats.org/drawingml/2006/main">
              <a:ext uri="{FF2B5EF4-FFF2-40B4-BE49-F238E27FC236}">
                <a16:creationId xmlns:a16="http://schemas.microsoft.com/office/drawing/2014/main" id="{9B31A2AF-0E9B-40AE-8D03-8FDF307E2B63}"/>
              </a:ext>
            </a:extLst>
          </p:cNvPr>
          <p:cNvSpPr>
            <a:spLocks xmlns:a="http://schemas.openxmlformats.org/drawingml/2006/main" noGrp="1"/>
          </p:cNvSpPr>
          <p:nvPr/>
        </p:nvSpPr>
        <p:spPr>
          <a:xfrm xmlns:a="http://schemas.openxmlformats.org/drawingml/2006/main">
            <a:off x="819150" y="2095500"/>
            <a:ext cx="2971800" cy="685800"/>
          </a:xfrm>
          <a:prstGeom xmlns:a="http://schemas.openxmlformats.org/drawingml/2006/main" prst="roundRect">
            <a:avLst>
              <a:gd name="adj" fmla="val 11111"/>
            </a:avLst>
          </a:prstGeom>
          <a:solidFill xmlns:a="http://schemas.openxmlformats.org/drawingml/2006/main">
            <a:srgbClr val="FCE2D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85EFCCD-8D5A-47F7-923B-AB111C1AAE8A}"/>
              </a:ext>
            </a:extLst>
          </p:cNvPr>
          <p:cNvSpPr>
            <a:spLocks xmlns:a="http://schemas.openxmlformats.org/drawingml/2006/main" noGrp="1"/>
          </p:cNvSpPr>
          <p:nvPr/>
        </p:nvSpPr>
        <p:spPr>
          <a:xfrm xmlns:a="http://schemas.openxmlformats.org/drawingml/2006/main">
            <a:off x="95250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A′ = normalize(A ⊙ ‖V‖₂)</a:t>
            </a:r>
          </a:p>
        </p:txBody>
      </p:sp>
      <p:sp>
        <p:nvSpPr>
          <p:cNvPr id="11" name="">
            <a:extLst xmlns:a="http://schemas.openxmlformats.org/drawingml/2006/main">
              <a:ext uri="{FF2B5EF4-FFF2-40B4-BE49-F238E27FC236}">
                <a16:creationId xmlns:a16="http://schemas.microsoft.com/office/drawing/2014/main" id="{6A1F9941-D1DB-473D-9EFE-453B807CA31F}"/>
              </a:ext>
            </a:extLst>
          </p:cNvPr>
          <p:cNvSpPr>
            <a:spLocks xmlns:a="http://schemas.openxmlformats.org/drawingml/2006/main" noGrp="1"/>
          </p:cNvSpPr>
          <p:nvPr/>
        </p:nvSpPr>
        <p:spPr>
          <a:xfrm xmlns:a="http://schemas.openxmlformats.org/drawingml/2006/main">
            <a:off x="84772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Suppress high attention paths carrying little value signal</a:t>
            </a:r>
          </a:p>
        </p:txBody>
      </p:sp>
      <p:sp>
        <p:nvSpPr>
          <p:cNvPr id="12" name="">
            <a:extLst xmlns:a="http://schemas.openxmlformats.org/drawingml/2006/main">
              <a:ext uri="{FF2B5EF4-FFF2-40B4-BE49-F238E27FC236}">
                <a16:creationId xmlns:a16="http://schemas.microsoft.com/office/drawing/2014/main" id="{327D26CF-60C0-48EA-8854-8C3F55529446}"/>
              </a:ext>
            </a:extLst>
          </p:cNvPr>
          <p:cNvSpPr>
            <a:spLocks xmlns:a="http://schemas.openxmlformats.org/drawingml/2006/main" noGrp="1"/>
          </p:cNvSpPr>
          <p:nvPr/>
        </p:nvSpPr>
        <p:spPr>
          <a:xfrm xmlns:a="http://schemas.openxmlformats.org/drawingml/2006/main">
            <a:off x="4371975"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AE53B8D4-5DB9-4D84-9FF2-01FB5D4884CD}"/>
              </a:ext>
            </a:extLst>
          </p:cNvPr>
          <p:cNvSpPr>
            <a:spLocks xmlns:a="http://schemas.openxmlformats.org/drawingml/2006/main" noGrp="1"/>
          </p:cNvSpPr>
          <p:nvPr/>
        </p:nvSpPr>
        <p:spPr>
          <a:xfrm xmlns:a="http://schemas.openxmlformats.org/drawingml/2006/main">
            <a:off x="4581525" y="1666875"/>
            <a:ext cx="43815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95EF4D3-EDB2-4E71-8F87-8D7F2D955C8D}"/>
              </a:ext>
            </a:extLst>
          </p:cNvPr>
          <p:cNvSpPr>
            <a:spLocks xmlns:a="http://schemas.openxmlformats.org/drawingml/2006/main" noGrp="1"/>
          </p:cNvSpPr>
          <p:nvPr/>
        </p:nvSpPr>
        <p:spPr>
          <a:xfrm xmlns:a="http://schemas.openxmlformats.org/drawingml/2006/main">
            <a:off x="4676775"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15" name="">
            <a:extLst xmlns:a="http://schemas.openxmlformats.org/drawingml/2006/main">
              <a:ext uri="{FF2B5EF4-FFF2-40B4-BE49-F238E27FC236}">
                <a16:creationId xmlns:a16="http://schemas.microsoft.com/office/drawing/2014/main" id="{C11F063C-CF06-45DA-8475-DB96F5AE5F2F}"/>
              </a:ext>
            </a:extLst>
          </p:cNvPr>
          <p:cNvSpPr>
            <a:spLocks xmlns:a="http://schemas.openxmlformats.org/drawingml/2006/main" noGrp="1"/>
          </p:cNvSpPr>
          <p:nvPr/>
        </p:nvSpPr>
        <p:spPr>
          <a:xfrm xmlns:a="http://schemas.openxmlformats.org/drawingml/2006/main">
            <a:off x="5172075"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CROSS-LAYER ROLLOUT</a:t>
            </a:r>
          </a:p>
        </p:txBody>
      </p:sp>
      <p:sp>
        <p:nvSpPr>
          <p:cNvPr id="16" name="">
            <a:extLst xmlns:a="http://schemas.openxmlformats.org/drawingml/2006/main">
              <a:ext uri="{FF2B5EF4-FFF2-40B4-BE49-F238E27FC236}">
                <a16:creationId xmlns:a16="http://schemas.microsoft.com/office/drawing/2014/main" id="{9F8D1326-0E3B-479B-BDCA-B91B7F71E1B3}"/>
              </a:ext>
            </a:extLst>
          </p:cNvPr>
          <p:cNvSpPr>
            <a:spLocks xmlns:a="http://schemas.openxmlformats.org/drawingml/2006/main" noGrp="1"/>
          </p:cNvSpPr>
          <p:nvPr/>
        </p:nvSpPr>
        <p:spPr>
          <a:xfrm xmlns:a="http://schemas.openxmlformats.org/drawingml/2006/main">
            <a:off x="4581525" y="2095500"/>
            <a:ext cx="2971800" cy="685800"/>
          </a:xfrm>
          <a:prstGeom xmlns:a="http://schemas.openxmlformats.org/drawingml/2006/main" prst="roundRect">
            <a:avLst>
              <a:gd name="adj" fmla="val 11111"/>
            </a:avLst>
          </a:prstGeom>
          <a:solidFill xmlns:a="http://schemas.openxmlformats.org/drawingml/2006/main">
            <a:srgbClr val="DDEC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DF40709-44CB-4FDC-8E89-4785B4D10B2E}"/>
              </a:ext>
            </a:extLst>
          </p:cNvPr>
          <p:cNvSpPr>
            <a:spLocks xmlns:a="http://schemas.openxmlformats.org/drawingml/2006/main" noGrp="1"/>
          </p:cNvSpPr>
          <p:nvPr/>
        </p:nvSpPr>
        <p:spPr>
          <a:xfrm xmlns:a="http://schemas.openxmlformats.org/drawingml/2006/main">
            <a:off x="4714875"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Rₗ = ½I + ½A′ₗ</a:t>
            </a:r>
          </a:p>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R = Rₗ ··· R₁</a:t>
            </a:r>
          </a:p>
        </p:txBody>
      </p:sp>
      <p:sp>
        <p:nvSpPr>
          <p:cNvPr id="18" name="">
            <a:extLst xmlns:a="http://schemas.openxmlformats.org/drawingml/2006/main">
              <a:ext uri="{FF2B5EF4-FFF2-40B4-BE49-F238E27FC236}">
                <a16:creationId xmlns:a16="http://schemas.microsoft.com/office/drawing/2014/main" id="{4792BDBD-FF6D-4B8B-AA29-C5782BC2FBC8}"/>
              </a:ext>
            </a:extLst>
          </p:cNvPr>
          <p:cNvSpPr>
            <a:spLocks xmlns:a="http://schemas.openxmlformats.org/drawingml/2006/main" noGrp="1"/>
          </p:cNvSpPr>
          <p:nvPr/>
        </p:nvSpPr>
        <p:spPr>
          <a:xfrm xmlns:a="http://schemas.openxmlformats.org/drawingml/2006/main">
            <a:off x="4610100"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Compose all 8 captured full-attention blocks with residual flow</a:t>
            </a:r>
          </a:p>
        </p:txBody>
      </p:sp>
      <p:sp>
        <p:nvSpPr>
          <p:cNvPr id="19" name="">
            <a:extLst xmlns:a="http://schemas.openxmlformats.org/drawingml/2006/main">
              <a:ext uri="{FF2B5EF4-FFF2-40B4-BE49-F238E27FC236}">
                <a16:creationId xmlns:a16="http://schemas.microsoft.com/office/drawing/2014/main" id="{FA6219CE-D417-45D6-B30A-FB259AE6F91F}"/>
              </a:ext>
            </a:extLst>
          </p:cNvPr>
          <p:cNvSpPr>
            <a:spLocks xmlns:a="http://schemas.openxmlformats.org/drawingml/2006/main" noGrp="1"/>
          </p:cNvSpPr>
          <p:nvPr/>
        </p:nvSpPr>
        <p:spPr>
          <a:xfrm xmlns:a="http://schemas.openxmlformats.org/drawingml/2006/main">
            <a:off x="8134350" y="1466850"/>
            <a:ext cx="3390900" cy="2190750"/>
          </a:xfrm>
          <a:prstGeom xmlns:a="http://schemas.openxmlformats.org/drawingml/2006/main" prst="roundRect">
            <a:avLst>
              <a:gd name="adj" fmla="val 3478"/>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5433C920-1978-485C-8EEF-1FC0DC0A82E0}"/>
              </a:ext>
            </a:extLst>
          </p:cNvPr>
          <p:cNvSpPr>
            <a:spLocks xmlns:a="http://schemas.openxmlformats.org/drawingml/2006/main" noGrp="1"/>
          </p:cNvSpPr>
          <p:nvPr/>
        </p:nvSpPr>
        <p:spPr>
          <a:xfrm xmlns:a="http://schemas.openxmlformats.org/drawingml/2006/main">
            <a:off x="8343900" y="1666875"/>
            <a:ext cx="4381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68E2624-FA0D-4C30-AE28-0A5A0A16E1F1}"/>
              </a:ext>
            </a:extLst>
          </p:cNvPr>
          <p:cNvSpPr>
            <a:spLocks xmlns:a="http://schemas.openxmlformats.org/drawingml/2006/main" noGrp="1"/>
          </p:cNvSpPr>
          <p:nvPr/>
        </p:nvSpPr>
        <p:spPr>
          <a:xfrm xmlns:a="http://schemas.openxmlformats.org/drawingml/2006/main">
            <a:off x="8439150" y="1685925"/>
            <a:ext cx="247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2" name="">
            <a:extLst xmlns:a="http://schemas.openxmlformats.org/drawingml/2006/main">
              <a:ext uri="{FF2B5EF4-FFF2-40B4-BE49-F238E27FC236}">
                <a16:creationId xmlns:a16="http://schemas.microsoft.com/office/drawing/2014/main" id="{627BFA90-5573-4B72-987E-BEE9342ACF63}"/>
              </a:ext>
            </a:extLst>
          </p:cNvPr>
          <p:cNvSpPr>
            <a:spLocks xmlns:a="http://schemas.openxmlformats.org/drawingml/2006/main" noGrp="1"/>
          </p:cNvSpPr>
          <p:nvPr/>
        </p:nvSpPr>
        <p:spPr>
          <a:xfrm xmlns:a="http://schemas.openxmlformats.org/drawingml/2006/main">
            <a:off x="8934450" y="1704975"/>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TOKEN → PARAMETER</a:t>
            </a:r>
          </a:p>
        </p:txBody>
      </p:sp>
      <p:sp>
        <p:nvSpPr>
          <p:cNvPr id="23" name="">
            <a:extLst xmlns:a="http://schemas.openxmlformats.org/drawingml/2006/main">
              <a:ext uri="{FF2B5EF4-FFF2-40B4-BE49-F238E27FC236}">
                <a16:creationId xmlns:a16="http://schemas.microsoft.com/office/drawing/2014/main" id="{FCC37100-0C9E-42E5-BA1D-7663481C1927}"/>
              </a:ext>
            </a:extLst>
          </p:cNvPr>
          <p:cNvSpPr>
            <a:spLocks xmlns:a="http://schemas.openxmlformats.org/drawingml/2006/main" noGrp="1"/>
          </p:cNvSpPr>
          <p:nvPr/>
        </p:nvSpPr>
        <p:spPr>
          <a:xfrm xmlns:a="http://schemas.openxmlformats.org/drawingml/2006/main">
            <a:off x="8343900" y="2095500"/>
            <a:ext cx="2971800" cy="685800"/>
          </a:xfrm>
          <a:prstGeom xmlns:a="http://schemas.openxmlformats.org/drawingml/2006/main" prst="roundRect">
            <a:avLst>
              <a:gd name="adj" fmla="val 11111"/>
            </a:avLst>
          </a:prstGeom>
          <a:solidFill xmlns:a="http://schemas.openxmlformats.org/drawingml/2006/main">
            <a:srgbClr val="E4F4E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72B7E71-0E2F-41DD-8981-46EA77251080}"/>
              </a:ext>
            </a:extLst>
          </p:cNvPr>
          <p:cNvSpPr>
            <a:spLocks xmlns:a="http://schemas.openxmlformats.org/drawingml/2006/main" noGrp="1"/>
          </p:cNvSpPr>
          <p:nvPr/>
        </p:nvSpPr>
        <p:spPr>
          <a:xfrm xmlns:a="http://schemas.openxmlformats.org/drawingml/2006/main">
            <a:off x="8477250" y="2209800"/>
            <a:ext cx="2705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10151C"/>
                </a:solidFill>
                <a:latin typeface="Helvetica Neue"/>
                <a:ea typeface="Helvetica Neue"/>
                <a:cs typeface="Helvetica Neue"/>
              </a:defRPr>
            </a:pPr>
            <a:r>
              <a:rPr sz="1500" b="1">
                <a:solidFill>
                  <a:srgbClr val="10151C"/>
                </a:solidFill>
                <a:latin typeface="Helvetica Neue"/>
                <a:ea typeface="Helvetica Neue"/>
                <a:cs typeface="Helvetica Neue"/>
              </a:rPr>
              <a:t>M(x,y) = meanₛ Rₛ</a:t>
            </a:r>
          </a:p>
        </p:txBody>
      </p:sp>
      <p:sp>
        <p:nvSpPr>
          <p:cNvPr id="25" name="">
            <a:extLst xmlns:a="http://schemas.openxmlformats.org/drawingml/2006/main">
              <a:ext uri="{FF2B5EF4-FFF2-40B4-BE49-F238E27FC236}">
                <a16:creationId xmlns:a16="http://schemas.microsoft.com/office/drawing/2014/main" id="{5EFA756A-9DB6-451E-8E08-ADA7CDB55825}"/>
              </a:ext>
            </a:extLst>
          </p:cNvPr>
          <p:cNvSpPr>
            <a:spLocks xmlns:a="http://schemas.openxmlformats.org/drawingml/2006/main" noGrp="1"/>
          </p:cNvSpPr>
          <p:nvPr/>
        </p:nvSpPr>
        <p:spPr>
          <a:xfrm xmlns:a="http://schemas.openxmlformats.org/drawingml/2006/main">
            <a:off x="8372475" y="3009900"/>
            <a:ext cx="2895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Average x/y value-token maps; token length cannot inflate a parameter</a:t>
            </a:r>
          </a:p>
        </p:txBody>
      </p:sp>
      <p:sp>
        <p:nvSpPr>
          <p:cNvPr id="26" name="">
            <a:extLst xmlns:a="http://schemas.openxmlformats.org/drawingml/2006/main">
              <a:ext uri="{FF2B5EF4-FFF2-40B4-BE49-F238E27FC236}">
                <a16:creationId xmlns:a16="http://schemas.microsoft.com/office/drawing/2014/main" id="{F297030F-FB55-4F61-9C2A-34AC52759AAD}"/>
              </a:ext>
            </a:extLst>
          </p:cNvPr>
          <p:cNvSpPr>
            <a:spLocks xmlns:a="http://schemas.openxmlformats.org/drawingml/2006/main" noGrp="1"/>
          </p:cNvSpPr>
          <p:nvPr/>
        </p:nvSpPr>
        <p:spPr>
          <a:xfrm xmlns:a="http://schemas.openxmlformats.org/drawingml/2006/main">
            <a:off x="609600" y="4019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1">
                <a:solidFill>
                  <a:srgbClr val="10151C"/>
                </a:solidFill>
                <a:latin typeface="Helvetica Neue"/>
                <a:ea typeface="Helvetica Neue"/>
                <a:cs typeface="Helvetica Neue"/>
              </a:defRPr>
            </a:pPr>
            <a:r>
              <a:rPr sz="1650" b="1">
                <a:solidFill>
                  <a:srgbClr val="10151C"/>
                </a:solidFill>
                <a:latin typeface="Helvetica Neue"/>
                <a:ea typeface="Helvetica Neue"/>
                <a:cs typeface="Helvetica Neue"/>
              </a:rPr>
              <a:t>Two baselines ask different questions</a:t>
            </a:r>
          </a:p>
        </p:txBody>
      </p:sp>
      <p:sp>
        <p:nvSpPr>
          <p:cNvPr id="27" name="">
            <a:extLst xmlns:a="http://schemas.openxmlformats.org/drawingml/2006/main">
              <a:ext uri="{FF2B5EF4-FFF2-40B4-BE49-F238E27FC236}">
                <a16:creationId xmlns:a16="http://schemas.microsoft.com/office/drawing/2014/main" id="{6B3E1553-B981-4B48-A1C2-1657CB275C62}"/>
              </a:ext>
            </a:extLst>
          </p:cNvPr>
          <p:cNvSpPr>
            <a:spLocks xmlns:a="http://schemas.openxmlformats.org/drawingml/2006/main" noGrp="1"/>
          </p:cNvSpPr>
          <p:nvPr/>
        </p:nvSpPr>
        <p:spPr>
          <a:xfrm xmlns:a="http://schemas.openxmlformats.org/drawingml/2006/main">
            <a:off x="609600" y="4457700"/>
            <a:ext cx="5219700" cy="1485900"/>
          </a:xfrm>
          <a:prstGeom xmlns:a="http://schemas.openxmlformats.org/drawingml/2006/main" prst="roundRect">
            <a:avLst>
              <a:gd name="adj" fmla="val 5128"/>
            </a:avLst>
          </a:prstGeom>
          <a:solidFill xmlns:a="http://schemas.openxmlformats.org/drawingml/2006/main">
            <a:srgbClr val="1C2733"/>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2F004BC-0B28-4367-9833-A7024BE9E813}"/>
              </a:ext>
            </a:extLst>
          </p:cNvPr>
          <p:cNvSpPr>
            <a:spLocks xmlns:a="http://schemas.openxmlformats.org/drawingml/2006/main" noGrp="1"/>
          </p:cNvSpPr>
          <p:nvPr/>
        </p:nvSpPr>
        <p:spPr>
          <a:xfrm xmlns:a="http://schemas.openxmlformats.org/drawingml/2006/main">
            <a:off x="838200" y="4667250"/>
            <a:ext cx="247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9FC8F0"/>
                </a:solidFill>
                <a:latin typeface="Helvetica Neue"/>
                <a:ea typeface="Helvetica Neue"/>
                <a:cs typeface="Helvetica Neue"/>
              </a:defRPr>
            </a:pPr>
            <a:r>
              <a:rPr sz="975" b="1">
                <a:solidFill>
                  <a:srgbClr val="9FC8F0"/>
                </a:solidFill>
                <a:latin typeface="Helvetica Neue"/>
                <a:ea typeface="Helvetica Neue"/>
                <a:cs typeface="Helvetica Neue"/>
              </a:rPr>
              <a:t>CAUSAL PREVIOUS-TOKEN</a:t>
            </a:r>
          </a:p>
        </p:txBody>
      </p:sp>
      <p:sp>
        <p:nvSpPr>
          <p:cNvPr id="29" name="">
            <a:extLst xmlns:a="http://schemas.openxmlformats.org/drawingml/2006/main">
              <a:ext uri="{FF2B5EF4-FFF2-40B4-BE49-F238E27FC236}">
                <a16:creationId xmlns:a16="http://schemas.microsoft.com/office/drawing/2014/main" id="{50CCAA53-13EF-4352-A131-4FC9C805DFD9}"/>
              </a:ext>
            </a:extLst>
          </p:cNvPr>
          <p:cNvSpPr>
            <a:spLocks xmlns:a="http://schemas.openxmlformats.org/drawingml/2006/main" noGrp="1"/>
          </p:cNvSpPr>
          <p:nvPr/>
        </p:nvSpPr>
        <p:spPr>
          <a:xfrm xmlns:a="http://schemas.openxmlformats.org/drawingml/2006/main">
            <a:off x="838200" y="5010150"/>
            <a:ext cx="4495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Dtoken = M(x,y) − mean(M(s &lt; start(x)))</a:t>
            </a:r>
          </a:p>
        </p:txBody>
      </p:sp>
      <p:sp>
        <p:nvSpPr>
          <p:cNvPr id="30" name="">
            <a:extLst xmlns:a="http://schemas.openxmlformats.org/drawingml/2006/main">
              <a:ext uri="{FF2B5EF4-FFF2-40B4-BE49-F238E27FC236}">
                <a16:creationId xmlns:a16="http://schemas.microsoft.com/office/drawing/2014/main" id="{64859600-FC69-4445-B833-49F3F183171A}"/>
              </a:ext>
            </a:extLst>
          </p:cNvPr>
          <p:cNvSpPr>
            <a:spLocks xmlns:a="http://schemas.openxmlformats.org/drawingml/2006/main" noGrp="1"/>
          </p:cNvSpPr>
          <p:nvPr/>
        </p:nvSpPr>
        <p:spPr>
          <a:xfrm xmlns:a="http://schemas.openxmlformats.org/drawingml/2006/main">
            <a:off x="8382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What is above the generation state already present before the coordinate sequence?</a:t>
            </a:r>
          </a:p>
        </p:txBody>
      </p:sp>
      <p:sp>
        <p:nvSpPr>
          <p:cNvPr id="31" name="">
            <a:extLst xmlns:a="http://schemas.openxmlformats.org/drawingml/2006/main">
              <a:ext uri="{FF2B5EF4-FFF2-40B4-BE49-F238E27FC236}">
                <a16:creationId xmlns:a16="http://schemas.microsoft.com/office/drawing/2014/main" id="{14F99B5D-C07E-45AC-9703-DE2533C47F72}"/>
              </a:ext>
            </a:extLst>
          </p:cNvPr>
          <p:cNvSpPr>
            <a:spLocks xmlns:a="http://schemas.openxmlformats.org/drawingml/2006/main" noGrp="1"/>
          </p:cNvSpPr>
          <p:nvPr/>
        </p:nvSpPr>
        <p:spPr>
          <a:xfrm xmlns:a="http://schemas.openxmlformats.org/drawingml/2006/main">
            <a:off x="6191250" y="4457700"/>
            <a:ext cx="5391150" cy="1485900"/>
          </a:xfrm>
          <a:prstGeom xmlns:a="http://schemas.openxmlformats.org/drawingml/2006/main" prst="roundRect">
            <a:avLst>
              <a:gd name="adj" fmla="val 5128"/>
            </a:avLst>
          </a:prstGeom>
          <a:solidFill xmlns:a="http://schemas.openxmlformats.org/drawingml/2006/main">
            <a:srgbClr val="FFFFFF"/>
          </a:solidFill>
          <a:ln xmlns:a="http://schemas.openxmlformats.org/drawingml/2006/main" w="9525">
            <a:solidFill>
              <a:srgbClr val="D9D4C8"/>
            </a:solidFill>
          </a:ln>
        </p:spPr>
      </p:sp>
      <p:sp>
        <p:nvSpPr>
          <p:cNvPr id="32" name="">
            <a:extLst xmlns:a="http://schemas.openxmlformats.org/drawingml/2006/main">
              <a:ext uri="{FF2B5EF4-FFF2-40B4-BE49-F238E27FC236}">
                <a16:creationId xmlns:a16="http://schemas.microsoft.com/office/drawing/2014/main" id="{11625F34-B013-445C-8834-C593FBEEFEDE}"/>
              </a:ext>
            </a:extLst>
          </p:cNvPr>
          <p:cNvSpPr>
            <a:spLocks xmlns:a="http://schemas.openxmlformats.org/drawingml/2006/main" noGrp="1"/>
          </p:cNvSpPr>
          <p:nvPr/>
        </p:nvSpPr>
        <p:spPr>
          <a:xfrm xmlns:a="http://schemas.openxmlformats.org/drawingml/2006/main">
            <a:off x="6438900" y="4667250"/>
            <a:ext cx="3143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SAME-IMAGE INSTRUCTION ENSEMBLE</a:t>
            </a:r>
          </a:p>
        </p:txBody>
      </p:sp>
      <p:sp>
        <p:nvSpPr>
          <p:cNvPr id="33" name="">
            <a:extLst xmlns:a="http://schemas.openxmlformats.org/drawingml/2006/main">
              <a:ext uri="{FF2B5EF4-FFF2-40B4-BE49-F238E27FC236}">
                <a16:creationId xmlns:a16="http://schemas.microsoft.com/office/drawing/2014/main" id="{5F3068CF-BDA2-4C3D-923C-7BCACA5E29CA}"/>
              </a:ext>
            </a:extLst>
          </p:cNvPr>
          <p:cNvSpPr>
            <a:spLocks xmlns:a="http://schemas.openxmlformats.org/drawingml/2006/main" noGrp="1"/>
          </p:cNvSpPr>
          <p:nvPr/>
        </p:nvSpPr>
        <p:spPr>
          <a:xfrm xmlns:a="http://schemas.openxmlformats.org/drawingml/2006/main">
            <a:off x="6438900" y="50101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10151C"/>
                </a:solidFill>
                <a:latin typeface="Helvetica Neue"/>
                <a:ea typeface="Helvetica Neue"/>
                <a:cs typeface="Helvetica Neue"/>
              </a:defRPr>
            </a:pPr>
            <a:r>
              <a:rPr sz="1425" b="1">
                <a:solidFill>
                  <a:srgbClr val="10151C"/>
                </a:solidFill>
                <a:latin typeface="Helvetica Neue"/>
                <a:ea typeface="Helvetica Neue"/>
                <a:cs typeface="Helvetica Neue"/>
              </a:rPr>
              <a:t>Dprompt = Mtarget − mean(Mcontrol,k)</a:t>
            </a:r>
          </a:p>
        </p:txBody>
      </p:sp>
      <p:sp>
        <p:nvSpPr>
          <p:cNvPr id="34" name="">
            <a:extLst xmlns:a="http://schemas.openxmlformats.org/drawingml/2006/main">
              <a:ext uri="{FF2B5EF4-FFF2-40B4-BE49-F238E27FC236}">
                <a16:creationId xmlns:a16="http://schemas.microsoft.com/office/drawing/2014/main" id="{8DA8EC12-78E7-41DD-83ED-EA6DEBECB553}"/>
              </a:ext>
            </a:extLst>
          </p:cNvPr>
          <p:cNvSpPr>
            <a:spLocks xmlns:a="http://schemas.openxmlformats.org/drawingml/2006/main" noGrp="1"/>
          </p:cNvSpPr>
          <p:nvPr/>
        </p:nvSpPr>
        <p:spPr>
          <a:xfrm xmlns:a="http://schemas.openxmlformats.org/drawingml/2006/main">
            <a:off x="6438900" y="5400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What is specific to this instruction after subtracting inherent image saliency?</a:t>
            </a:r>
          </a:p>
        </p:txBody>
      </p:sp>
      <p:sp>
        <p:nvSpPr>
          <p:cNvPr id="35" name="">
            <a:extLst xmlns:a="http://schemas.openxmlformats.org/drawingml/2006/main">
              <a:ext uri="{FF2B5EF4-FFF2-40B4-BE49-F238E27FC236}">
                <a16:creationId xmlns:a16="http://schemas.microsoft.com/office/drawing/2014/main" id="{CCA5ADC1-F88D-4B9C-8ADC-0DC0BD0914BB}"/>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EEA9C07E-8E6F-4556-B663-A462FE64188A}"/>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Target lift = positive target-minus-control mass inside the target box ÷ target-box area fraction. 1× means spatially uniform residual mass.</a:t>
            </a:r>
          </a:p>
        </p:txBody>
      </p:sp>
    </p:spTree>
    <p:extLst>
      <p:ext uri="{BB962C8B-B14F-4D97-AF65-F5344CB8AC3E}">
        <p14:creationId xmlns:p14="http://schemas.microsoft.com/office/powerpoint/2010/main" val="1336719012"/>
      </p:ext>
    </p:extLst>
  </p:cSld>
</p:sld>
</file>

<file path=ppt/slides/slide6.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A025E48-3F38-46BB-8DF0-AAB376FC787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AAD68EBD-6738-4503-B5D7-D7F41464143B}"/>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Same-image controls reveal the selected template</a:t>
            </a:r>
          </a:p>
        </p:txBody>
      </p:sp>
      <p:sp>
        <p:nvSpPr>
          <p:cNvPr id="3" name="">
            <a:extLst xmlns:a="http://schemas.openxmlformats.org/drawingml/2006/main">
              <a:ext uri="{FF2B5EF4-FFF2-40B4-BE49-F238E27FC236}">
                <a16:creationId xmlns:a16="http://schemas.microsoft.com/office/drawing/2014/main" id="{73BA5CB7-DB28-405B-A186-25B41E92585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C12DC640-BA41-4F4D-9794-DF0BB2E06A51}"/>
              </a:ext>
            </a:extLst>
          </p:cNvPr>
          <p:cNvSpPr>
            <a:spLocks xmlns:a="http://schemas.openxmlformats.org/drawingml/2006/main" noGrp="1"/>
          </p:cNvSpPr>
          <p:nvPr/>
        </p:nvSpPr>
        <p:spPr>
          <a:xfrm xmlns:a="http://schemas.openxmlformats.org/drawingml/2006/main">
            <a:off x="609600" y="1162050"/>
            <a:ext cx="7429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“Create a Psychedelic vibrant presentation”</a:t>
            </a:r>
          </a:p>
        </p:txBody>
      </p:sp>
      <p:sp>
        <p:nvSpPr>
          <p:cNvPr id="5" name="">
            <a:extLst xmlns:a="http://schemas.openxmlformats.org/drawingml/2006/main">
              <a:ext uri="{FF2B5EF4-FFF2-40B4-BE49-F238E27FC236}">
                <a16:creationId xmlns:a16="http://schemas.microsoft.com/office/drawing/2014/main" id="{EB8652F8-A83F-4067-AB33-A847329D99F3}"/>
              </a:ext>
            </a:extLst>
          </p:cNvPr>
          <p:cNvSpPr>
            <a:spLocks xmlns:a="http://schemas.openxmlformats.org/drawingml/2006/main" noGrp="1"/>
          </p:cNvSpPr>
          <p:nvPr/>
        </p:nvSpPr>
        <p:spPr>
          <a:xfrm xmlns:a="http://schemas.openxmlformats.org/drawingml/2006/main">
            <a:off x="8953500" y="1133475"/>
            <a:ext cx="2628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754FC10-77DD-4B75-894E-FF4D57A375F4}"/>
              </a:ext>
            </a:extLst>
          </p:cNvPr>
          <p:cNvSpPr>
            <a:spLocks xmlns:a="http://schemas.openxmlformats.org/drawingml/2006/main" noGrp="1"/>
          </p:cNvSpPr>
          <p:nvPr/>
        </p:nvSpPr>
        <p:spPr>
          <a:xfrm xmlns:a="http://schemas.openxmlformats.org/drawingml/2006/main">
            <a:off x="9048750" y="1152525"/>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WHITE RING = ISSUED CLICK</a:t>
            </a:r>
          </a:p>
        </p:txBody>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801d117a37f14f29"/>
          <a:srcRect xmlns:a="http://schemas.openxmlformats.org/drawingml/2006/main" l="0" t="73" r="0" b="73"/>
          <a:stretch xmlns:a="http://schemas.openxmlformats.org/drawingml/2006/main">
            <a:fillRect l="0" t="0" r="0" b="0"/>
          </a:stretch>
        </p:blipFill>
        <p:spPr>
          <a:xfrm xmlns:a="http://schemas.openxmlformats.org/drawingml/2006/main">
            <a:off x="609600" y="1657350"/>
            <a:ext cx="5219700" cy="3257550"/>
          </a:xfrm>
          <a:prstGeom xmlns:a="http://schemas.openxmlformats.org/drawingml/2006/main" prst="roundRect">
            <a:avLst>
              <a:gd name="adj" fmla="val 3509"/>
            </a:avLst>
          </a:prstGeom>
        </p:spPr>
      </p:pic>
      <p:sp>
        <p:nvSpPr>
          <p:cNvPr id="8" name="">
            <a:extLst xmlns:a="http://schemas.openxmlformats.org/drawingml/2006/main">
              <a:ext uri="{FF2B5EF4-FFF2-40B4-BE49-F238E27FC236}">
                <a16:creationId xmlns:a16="http://schemas.microsoft.com/office/drawing/2014/main" id="{6B96DFA9-644E-4614-9461-60D4DCAE7EC3}"/>
              </a:ext>
            </a:extLst>
          </p:cNvPr>
          <p:cNvSpPr>
            <a:spLocks xmlns:a="http://schemas.openxmlformats.org/drawingml/2006/main" noGrp="1"/>
          </p:cNvSpPr>
          <p:nvPr/>
        </p:nvSpPr>
        <p:spPr>
          <a:xfrm xmlns:a="http://schemas.openxmlformats.org/drawingml/2006/main">
            <a:off x="6096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5ae32e6b3bd4cb8"/>
          <a:srcRect xmlns:a="http://schemas.openxmlformats.org/drawingml/2006/main" l="0" t="73" r="0" b="73"/>
          <a:stretch xmlns:a="http://schemas.openxmlformats.org/drawingml/2006/main">
            <a:fillRect l="0" t="0" r="0" b="0"/>
          </a:stretch>
        </p:blipFill>
        <p:spPr>
          <a:xfrm xmlns:a="http://schemas.openxmlformats.org/drawingml/2006/main">
            <a:off x="6362700" y="1657350"/>
            <a:ext cx="5219700" cy="3257550"/>
          </a:xfrm>
          <a:prstGeom xmlns:a="http://schemas.openxmlformats.org/drawingml/2006/main" prst="roundRect">
            <a:avLst>
              <a:gd name="adj" fmla="val 3509"/>
            </a:avLst>
          </a:prstGeom>
        </p:spPr>
      </p:pic>
      <p:sp>
        <p:nvSpPr>
          <p:cNvPr id="10" name="">
            <a:extLst xmlns:a="http://schemas.openxmlformats.org/drawingml/2006/main">
              <a:ext uri="{FF2B5EF4-FFF2-40B4-BE49-F238E27FC236}">
                <a16:creationId xmlns:a16="http://schemas.microsoft.com/office/drawing/2014/main" id="{D875BB43-0882-446B-A89E-509E8D12FF3A}"/>
              </a:ext>
            </a:extLst>
          </p:cNvPr>
          <p:cNvSpPr>
            <a:spLocks xmlns:a="http://schemas.openxmlformats.org/drawingml/2006/main" noGrp="1"/>
          </p:cNvSpPr>
          <p:nvPr/>
        </p:nvSpPr>
        <p:spPr>
          <a:xfrm xmlns:a="http://schemas.openxmlformats.org/drawingml/2006/main">
            <a:off x="6362700" y="1657350"/>
            <a:ext cx="5219700" cy="3257550"/>
          </a:xfrm>
          <a:prstGeom xmlns:a="http://schemas.openxmlformats.org/drawingml/2006/main" prst="roundRect">
            <a:avLst>
              <a:gd name="adj" fmla="val 2339"/>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6C934C40-A310-4E1A-ACFB-0C90CC42B58B}"/>
              </a:ext>
            </a:extLst>
          </p:cNvPr>
          <p:cNvSpPr>
            <a:spLocks xmlns:a="http://schemas.openxmlformats.org/drawingml/2006/main" noGrp="1"/>
          </p:cNvSpPr>
          <p:nvPr/>
        </p:nvSpPr>
        <p:spPr>
          <a:xfrm xmlns:a="http://schemas.openxmlformats.org/drawingml/2006/main">
            <a:off x="800100" y="1828800"/>
            <a:ext cx="11620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3CE379-28C2-40EF-912D-124AB049E668}"/>
              </a:ext>
            </a:extLst>
          </p:cNvPr>
          <p:cNvSpPr>
            <a:spLocks xmlns:a="http://schemas.openxmlformats.org/drawingml/2006/main" noGrp="1"/>
          </p:cNvSpPr>
          <p:nvPr/>
        </p:nvSpPr>
        <p:spPr>
          <a:xfrm xmlns:a="http://schemas.openxmlformats.org/drawingml/2006/main">
            <a:off x="895350" y="1847850"/>
            <a:ext cx="971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RAW ROLLOUT</a:t>
            </a:r>
          </a:p>
        </p:txBody>
      </p:sp>
      <p:sp>
        <p:nvSpPr>
          <p:cNvPr id="13" name="">
            <a:extLst xmlns:a="http://schemas.openxmlformats.org/drawingml/2006/main">
              <a:ext uri="{FF2B5EF4-FFF2-40B4-BE49-F238E27FC236}">
                <a16:creationId xmlns:a16="http://schemas.microsoft.com/office/drawing/2014/main" id="{AB83FE62-7BD7-44B1-84FC-7BEB02B50768}"/>
              </a:ext>
            </a:extLst>
          </p:cNvPr>
          <p:cNvSpPr>
            <a:spLocks xmlns:a="http://schemas.openxmlformats.org/drawingml/2006/main" noGrp="1"/>
          </p:cNvSpPr>
          <p:nvPr/>
        </p:nvSpPr>
        <p:spPr>
          <a:xfrm xmlns:a="http://schemas.openxmlformats.org/drawingml/2006/main">
            <a:off x="6553200" y="1828800"/>
            <a:ext cx="21717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894A105-26D6-4A4C-88E6-BFE97D887128}"/>
              </a:ext>
            </a:extLst>
          </p:cNvPr>
          <p:cNvSpPr>
            <a:spLocks xmlns:a="http://schemas.openxmlformats.org/drawingml/2006/main" noGrp="1"/>
          </p:cNvSpPr>
          <p:nvPr/>
        </p:nvSpPr>
        <p:spPr>
          <a:xfrm xmlns:a="http://schemas.openxmlformats.org/drawingml/2006/main">
            <a:off x="6648450" y="1847850"/>
            <a:ext cx="1981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 PROMPT BASELINE</a:t>
            </a:r>
          </a:p>
        </p:txBody>
      </p:sp>
      <p:sp>
        <p:nvSpPr>
          <p:cNvPr id="15" name="">
            <a:extLst xmlns:a="http://schemas.openxmlformats.org/drawingml/2006/main">
              <a:ext uri="{FF2B5EF4-FFF2-40B4-BE49-F238E27FC236}">
                <a16:creationId xmlns:a16="http://schemas.microsoft.com/office/drawing/2014/main" id="{36368DF2-6C3D-4974-A3A0-53017081AFB1}"/>
              </a:ext>
            </a:extLst>
          </p:cNvPr>
          <p:cNvSpPr>
            <a:spLocks xmlns:a="http://schemas.openxmlformats.org/drawingml/2006/main" noGrp="1"/>
          </p:cNvSpPr>
          <p:nvPr/>
        </p:nvSpPr>
        <p:spPr>
          <a:xfrm xmlns:a="http://schemas.openxmlformats.org/drawingml/2006/main">
            <a:off x="6096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16" name="">
            <a:extLst xmlns:a="http://schemas.openxmlformats.org/drawingml/2006/main">
              <a:ext uri="{FF2B5EF4-FFF2-40B4-BE49-F238E27FC236}">
                <a16:creationId xmlns:a16="http://schemas.microsoft.com/office/drawing/2014/main" id="{7DA0B4BE-E1A6-4A44-9AA2-B328765518C0}"/>
              </a:ext>
            </a:extLst>
          </p:cNvPr>
          <p:cNvSpPr>
            <a:spLocks xmlns:a="http://schemas.openxmlformats.org/drawingml/2006/main" noGrp="1"/>
          </p:cNvSpPr>
          <p:nvPr/>
        </p:nvSpPr>
        <p:spPr>
          <a:xfrm xmlns:a="http://schemas.openxmlformats.org/drawingml/2006/main">
            <a:off x="60960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5F68AF3-2EF0-4E1E-A61B-1DA9354DB1E6}"/>
              </a:ext>
            </a:extLst>
          </p:cNvPr>
          <p:cNvSpPr>
            <a:spLocks xmlns:a="http://schemas.openxmlformats.org/drawingml/2006/main" noGrp="1"/>
          </p:cNvSpPr>
          <p:nvPr/>
        </p:nvSpPr>
        <p:spPr>
          <a:xfrm xmlns:a="http://schemas.openxmlformats.org/drawingml/2006/main">
            <a:off x="8001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18" name="">
            <a:extLst xmlns:a="http://schemas.openxmlformats.org/drawingml/2006/main">
              <a:ext uri="{FF2B5EF4-FFF2-40B4-BE49-F238E27FC236}">
                <a16:creationId xmlns:a16="http://schemas.microsoft.com/office/drawing/2014/main" id="{E853D65B-8814-48C9-A960-88DF7AA192E2}"/>
              </a:ext>
            </a:extLst>
          </p:cNvPr>
          <p:cNvSpPr>
            <a:spLocks xmlns:a="http://schemas.openxmlformats.org/drawingml/2006/main" noGrp="1"/>
          </p:cNvSpPr>
          <p:nvPr/>
        </p:nvSpPr>
        <p:spPr>
          <a:xfrm xmlns:a="http://schemas.openxmlformats.org/drawingml/2006/main">
            <a:off x="8001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3.85×</a:t>
            </a:r>
          </a:p>
        </p:txBody>
      </p:sp>
      <p:sp>
        <p:nvSpPr>
          <p:cNvPr id="19" name="">
            <a:extLst xmlns:a="http://schemas.openxmlformats.org/drawingml/2006/main">
              <a:ext uri="{FF2B5EF4-FFF2-40B4-BE49-F238E27FC236}">
                <a16:creationId xmlns:a16="http://schemas.microsoft.com/office/drawing/2014/main" id="{A46EECD4-4A5F-46B5-BCB2-169305552CE9}"/>
              </a:ext>
            </a:extLst>
          </p:cNvPr>
          <p:cNvSpPr>
            <a:spLocks xmlns:a="http://schemas.openxmlformats.org/drawingml/2006/main" noGrp="1"/>
          </p:cNvSpPr>
          <p:nvPr/>
        </p:nvSpPr>
        <p:spPr>
          <a:xfrm xmlns:a="http://schemas.openxmlformats.org/drawingml/2006/main">
            <a:off x="8001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raw rollout</a:t>
            </a:r>
          </a:p>
        </p:txBody>
      </p:sp>
      <p:sp>
        <p:nvSpPr>
          <p:cNvPr id="20" name="">
            <a:extLst xmlns:a="http://schemas.openxmlformats.org/drawingml/2006/main">
              <a:ext uri="{FF2B5EF4-FFF2-40B4-BE49-F238E27FC236}">
                <a16:creationId xmlns:a16="http://schemas.microsoft.com/office/drawing/2014/main" id="{8E5B9847-3AA4-4703-A796-1C2350A51A7E}"/>
              </a:ext>
            </a:extLst>
          </p:cNvPr>
          <p:cNvSpPr>
            <a:spLocks xmlns:a="http://schemas.openxmlformats.org/drawingml/2006/main" noGrp="1"/>
          </p:cNvSpPr>
          <p:nvPr/>
        </p:nvSpPr>
        <p:spPr>
          <a:xfrm xmlns:a="http://schemas.openxmlformats.org/drawingml/2006/main">
            <a:off x="31432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65BE58D5-A511-4168-837A-D018B487F0F8}"/>
              </a:ext>
            </a:extLst>
          </p:cNvPr>
          <p:cNvSpPr>
            <a:spLocks xmlns:a="http://schemas.openxmlformats.org/drawingml/2006/main" noGrp="1"/>
          </p:cNvSpPr>
          <p:nvPr/>
        </p:nvSpPr>
        <p:spPr>
          <a:xfrm xmlns:a="http://schemas.openxmlformats.org/drawingml/2006/main">
            <a:off x="3143250" y="5143500"/>
            <a:ext cx="66675" cy="1028700"/>
          </a:xfrm>
          <a:prstGeom xmlns:a="http://schemas.openxmlformats.org/drawingml/2006/main" prst="roundRect">
            <a:avLst>
              <a:gd name="adj" fmla="val 50000"/>
            </a:avLst>
          </a:prstGeom>
          <a:solidFill xmlns:a="http://schemas.openxmlformats.org/drawingml/2006/main">
            <a:srgbClr val="66717D"/>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BA64076-AD0B-445A-986C-12E0629659CD}"/>
              </a:ext>
            </a:extLst>
          </p:cNvPr>
          <p:cNvSpPr>
            <a:spLocks xmlns:a="http://schemas.openxmlformats.org/drawingml/2006/main" noGrp="1"/>
          </p:cNvSpPr>
          <p:nvPr/>
        </p:nvSpPr>
        <p:spPr>
          <a:xfrm xmlns:a="http://schemas.openxmlformats.org/drawingml/2006/main">
            <a:off x="33337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23" name="">
            <a:extLst xmlns:a="http://schemas.openxmlformats.org/drawingml/2006/main">
              <a:ext uri="{FF2B5EF4-FFF2-40B4-BE49-F238E27FC236}">
                <a16:creationId xmlns:a16="http://schemas.microsoft.com/office/drawing/2014/main" id="{97C32992-CB03-47B4-BD0E-43958D74FBA0}"/>
              </a:ext>
            </a:extLst>
          </p:cNvPr>
          <p:cNvSpPr>
            <a:spLocks xmlns:a="http://schemas.openxmlformats.org/drawingml/2006/main" noGrp="1"/>
          </p:cNvSpPr>
          <p:nvPr/>
        </p:nvSpPr>
        <p:spPr>
          <a:xfrm xmlns:a="http://schemas.openxmlformats.org/drawingml/2006/main">
            <a:off x="33337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outside</a:t>
            </a:r>
          </a:p>
        </p:txBody>
      </p:sp>
      <p:sp>
        <p:nvSpPr>
          <p:cNvPr id="24" name="">
            <a:extLst xmlns:a="http://schemas.openxmlformats.org/drawingml/2006/main">
              <a:ext uri="{FF2B5EF4-FFF2-40B4-BE49-F238E27FC236}">
                <a16:creationId xmlns:a16="http://schemas.microsoft.com/office/drawing/2014/main" id="{1531FA02-4612-48C9-B5F5-3B9905B8E466}"/>
              </a:ext>
            </a:extLst>
          </p:cNvPr>
          <p:cNvSpPr>
            <a:spLocks xmlns:a="http://schemas.openxmlformats.org/drawingml/2006/main" noGrp="1"/>
          </p:cNvSpPr>
          <p:nvPr/>
        </p:nvSpPr>
        <p:spPr>
          <a:xfrm xmlns:a="http://schemas.openxmlformats.org/drawingml/2006/main">
            <a:off x="33337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generic top-left saliency</a:t>
            </a:r>
          </a:p>
        </p:txBody>
      </p:sp>
      <p:sp>
        <p:nvSpPr>
          <p:cNvPr id="25" name="">
            <a:extLst xmlns:a="http://schemas.openxmlformats.org/drawingml/2006/main">
              <a:ext uri="{FF2B5EF4-FFF2-40B4-BE49-F238E27FC236}">
                <a16:creationId xmlns:a16="http://schemas.microsoft.com/office/drawing/2014/main" id="{FABD8500-FA31-41AA-8FE2-A91C565792A4}"/>
              </a:ext>
            </a:extLst>
          </p:cNvPr>
          <p:cNvSpPr>
            <a:spLocks xmlns:a="http://schemas.openxmlformats.org/drawingml/2006/main" noGrp="1"/>
          </p:cNvSpPr>
          <p:nvPr/>
        </p:nvSpPr>
        <p:spPr>
          <a:xfrm xmlns:a="http://schemas.openxmlformats.org/drawingml/2006/main">
            <a:off x="6362700" y="5143500"/>
            <a:ext cx="24003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AA5C30F9-BDFF-4AA8-957C-667BD16876CD}"/>
              </a:ext>
            </a:extLst>
          </p:cNvPr>
          <p:cNvSpPr>
            <a:spLocks xmlns:a="http://schemas.openxmlformats.org/drawingml/2006/main" noGrp="1"/>
          </p:cNvSpPr>
          <p:nvPr/>
        </p:nvSpPr>
        <p:spPr>
          <a:xfrm xmlns:a="http://schemas.openxmlformats.org/drawingml/2006/main">
            <a:off x="6362700" y="51435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B87526F-AC40-447D-86BC-076B8C1AC231}"/>
              </a:ext>
            </a:extLst>
          </p:cNvPr>
          <p:cNvSpPr>
            <a:spLocks xmlns:a="http://schemas.openxmlformats.org/drawingml/2006/main" noGrp="1"/>
          </p:cNvSpPr>
          <p:nvPr/>
        </p:nvSpPr>
        <p:spPr>
          <a:xfrm xmlns:a="http://schemas.openxmlformats.org/drawingml/2006/main">
            <a:off x="6553200" y="5276850"/>
            <a:ext cx="2095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TARGET LIFT</a:t>
            </a:r>
          </a:p>
        </p:txBody>
      </p:sp>
      <p:sp>
        <p:nvSpPr>
          <p:cNvPr id="28" name="">
            <a:extLst xmlns:a="http://schemas.openxmlformats.org/drawingml/2006/main">
              <a:ext uri="{FF2B5EF4-FFF2-40B4-BE49-F238E27FC236}">
                <a16:creationId xmlns:a16="http://schemas.microsoft.com/office/drawing/2014/main" id="{FFF61EE5-B6D1-4372-93D5-81F94A9B7C5B}"/>
              </a:ext>
            </a:extLst>
          </p:cNvPr>
          <p:cNvSpPr>
            <a:spLocks xmlns:a="http://schemas.openxmlformats.org/drawingml/2006/main" noGrp="1"/>
          </p:cNvSpPr>
          <p:nvPr/>
        </p:nvSpPr>
        <p:spPr>
          <a:xfrm xmlns:a="http://schemas.openxmlformats.org/drawingml/2006/main">
            <a:off x="6553200" y="54673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16.08×</a:t>
            </a:r>
          </a:p>
        </p:txBody>
      </p:sp>
      <p:sp>
        <p:nvSpPr>
          <p:cNvPr id="29" name="">
            <a:extLst xmlns:a="http://schemas.openxmlformats.org/drawingml/2006/main">
              <a:ext uri="{FF2B5EF4-FFF2-40B4-BE49-F238E27FC236}">
                <a16:creationId xmlns:a16="http://schemas.microsoft.com/office/drawing/2014/main" id="{C334AE3A-F1F1-4DEB-A3B2-41D16132651C}"/>
              </a:ext>
            </a:extLst>
          </p:cNvPr>
          <p:cNvSpPr>
            <a:spLocks xmlns:a="http://schemas.openxmlformats.org/drawingml/2006/main" noGrp="1"/>
          </p:cNvSpPr>
          <p:nvPr/>
        </p:nvSpPr>
        <p:spPr>
          <a:xfrm xmlns:a="http://schemas.openxmlformats.org/drawingml/2006/main">
            <a:off x="6553200" y="5876925"/>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instruction differential</a:t>
            </a:r>
          </a:p>
        </p:txBody>
      </p:sp>
      <p:sp>
        <p:nvSpPr>
          <p:cNvPr id="30" name="">
            <a:extLst xmlns:a="http://schemas.openxmlformats.org/drawingml/2006/main">
              <a:ext uri="{FF2B5EF4-FFF2-40B4-BE49-F238E27FC236}">
                <a16:creationId xmlns:a16="http://schemas.microsoft.com/office/drawing/2014/main" id="{B1EAB855-5F28-4147-A7B8-D25CD17B1C34}"/>
              </a:ext>
            </a:extLst>
          </p:cNvPr>
          <p:cNvSpPr>
            <a:spLocks xmlns:a="http://schemas.openxmlformats.org/drawingml/2006/main" noGrp="1"/>
          </p:cNvSpPr>
          <p:nvPr/>
        </p:nvSpPr>
        <p:spPr>
          <a:xfrm xmlns:a="http://schemas.openxmlformats.org/drawingml/2006/main">
            <a:off x="8896350" y="5143500"/>
            <a:ext cx="26860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1" name="">
            <a:extLst xmlns:a="http://schemas.openxmlformats.org/drawingml/2006/main">
              <a:ext uri="{FF2B5EF4-FFF2-40B4-BE49-F238E27FC236}">
                <a16:creationId xmlns:a16="http://schemas.microsoft.com/office/drawing/2014/main" id="{623C26A8-C3E0-496D-B4E1-877E3146116E}"/>
              </a:ext>
            </a:extLst>
          </p:cNvPr>
          <p:cNvSpPr>
            <a:spLocks xmlns:a="http://schemas.openxmlformats.org/drawingml/2006/main" noGrp="1"/>
          </p:cNvSpPr>
          <p:nvPr/>
        </p:nvSpPr>
        <p:spPr>
          <a:xfrm xmlns:a="http://schemas.openxmlformats.org/drawingml/2006/main">
            <a:off x="8896350" y="51435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D8E2119-4661-496E-96D6-5A6EC4D07176}"/>
              </a:ext>
            </a:extLst>
          </p:cNvPr>
          <p:cNvSpPr>
            <a:spLocks xmlns:a="http://schemas.openxmlformats.org/drawingml/2006/main" noGrp="1"/>
          </p:cNvSpPr>
          <p:nvPr/>
        </p:nvSpPr>
        <p:spPr>
          <a:xfrm xmlns:a="http://schemas.openxmlformats.org/drawingml/2006/main">
            <a:off x="9086850" y="5276850"/>
            <a:ext cx="238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PEAK</a:t>
            </a:r>
          </a:p>
        </p:txBody>
      </p:sp>
      <p:sp>
        <p:nvSpPr>
          <p:cNvPr id="33" name="">
            <a:extLst xmlns:a="http://schemas.openxmlformats.org/drawingml/2006/main">
              <a:ext uri="{FF2B5EF4-FFF2-40B4-BE49-F238E27FC236}">
                <a16:creationId xmlns:a16="http://schemas.microsoft.com/office/drawing/2014/main" id="{A22CF83B-A5E1-4C5A-ABF8-28DB6D1894E4}"/>
              </a:ext>
            </a:extLst>
          </p:cNvPr>
          <p:cNvSpPr>
            <a:spLocks xmlns:a="http://schemas.openxmlformats.org/drawingml/2006/main" noGrp="1"/>
          </p:cNvSpPr>
          <p:nvPr/>
        </p:nvSpPr>
        <p:spPr>
          <a:xfrm xmlns:a="http://schemas.openxmlformats.org/drawingml/2006/main">
            <a:off x="9086850" y="546735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inside</a:t>
            </a:r>
          </a:p>
        </p:txBody>
      </p:sp>
      <p:sp>
        <p:nvSpPr>
          <p:cNvPr id="34" name="">
            <a:extLst xmlns:a="http://schemas.openxmlformats.org/drawingml/2006/main">
              <a:ext uri="{FF2B5EF4-FFF2-40B4-BE49-F238E27FC236}">
                <a16:creationId xmlns:a16="http://schemas.microsoft.com/office/drawing/2014/main" id="{96D59A88-931F-4590-9067-67A1DAC37BA8}"/>
              </a:ext>
            </a:extLst>
          </p:cNvPr>
          <p:cNvSpPr>
            <a:spLocks xmlns:a="http://schemas.openxmlformats.org/drawingml/2006/main" noGrp="1"/>
          </p:cNvSpPr>
          <p:nvPr/>
        </p:nvSpPr>
        <p:spPr>
          <a:xfrm xmlns:a="http://schemas.openxmlformats.org/drawingml/2006/main">
            <a:off x="9086850" y="5876925"/>
            <a:ext cx="2381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3.2% of frame diagonal away</a:t>
            </a:r>
          </a:p>
        </p:txBody>
      </p:sp>
      <p:sp>
        <p:nvSpPr>
          <p:cNvPr id="35" name="">
            <a:extLst xmlns:a="http://schemas.openxmlformats.org/drawingml/2006/main">
              <a:ext uri="{FF2B5EF4-FFF2-40B4-BE49-F238E27FC236}">
                <a16:creationId xmlns:a16="http://schemas.microsoft.com/office/drawing/2014/main" id="{F91CD7B8-DF4A-46E4-9C8A-65C69EDAF19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FFE91358-223E-4930-AD18-A4CF7C69EC0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Local trace: powerpoint_windows_59 · 4 same-image controls · LOO cosine 0.925 mean / 0.828 minimum</a:t>
            </a:r>
          </a:p>
        </p:txBody>
      </p:sp>
    </p:spTree>
    <p:extLst>
      <p:ext uri="{BB962C8B-B14F-4D97-AF65-F5344CB8AC3E}">
        <p14:creationId xmlns:p14="http://schemas.microsoft.com/office/powerpoint/2010/main" val="1885403697"/>
      </p:ext>
    </p:extLst>
  </p:cSld>
</p:sld>
</file>

<file path=ppt/slides/slide7.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903F75C-ABEA-4C70-A41A-F2D714D3878A}"/>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F7C272AB-F234-4E98-ADA0-BD7219DAF1DE}"/>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504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former New Slide miss becomes a hit under the faithful protocol</a:t>
            </a:r>
          </a:p>
        </p:txBody>
      </p:sp>
      <p:sp>
        <p:nvSpPr>
          <p:cNvPr id="3" name="">
            <a:extLst xmlns:a="http://schemas.openxmlformats.org/drawingml/2006/main">
              <a:ext uri="{FF2B5EF4-FFF2-40B4-BE49-F238E27FC236}">
                <a16:creationId xmlns:a16="http://schemas.microsoft.com/office/drawing/2014/main" id="{6C255AC9-7F5D-4367-A869-7C1EA15B66DA}"/>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0482FD28-0D5F-4829-86F3-C4627405ABA5}"/>
              </a:ext>
            </a:extLst>
          </p:cNvPr>
          <p:cNvSpPr>
            <a:spLocks xmlns:a="http://schemas.openxmlformats.org/drawingml/2006/main" noGrp="1"/>
          </p:cNvSpPr>
          <p:nvPr/>
        </p:nvSpPr>
        <p:spPr>
          <a:xfrm xmlns:a="http://schemas.openxmlformats.org/drawingml/2006/main">
            <a:off x="762000" y="12001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66717D"/>
                </a:solidFill>
                <a:latin typeface="Helvetica Neue"/>
                <a:ea typeface="Helvetica Neue"/>
                <a:cs typeface="Helvetica Neue"/>
              </a:defRPr>
            </a:pPr>
            <a:r>
              <a:rPr sz="1425" b="1">
                <a:solidFill>
                  <a:srgbClr val="66717D"/>
                </a:solidFill>
                <a:latin typeface="Helvetica Neue"/>
                <a:ea typeface="Helvetica Neue"/>
                <a:cs typeface="Helvetica Neue"/>
              </a:rPr>
              <a:t>Instruction: Create new slide</a:t>
            </a:r>
          </a:p>
        </p:txBody>
      </p:sp>
      <p:sp>
        <p:nvSpPr>
          <p:cNvPr id="5" name="">
            <a:extLst xmlns:a="http://schemas.openxmlformats.org/drawingml/2006/main">
              <a:ext uri="{FF2B5EF4-FFF2-40B4-BE49-F238E27FC236}">
                <a16:creationId xmlns:a16="http://schemas.microsoft.com/office/drawing/2014/main" id="{C0E0BF35-CF5F-4A72-94AC-7FC3E297C6F0}"/>
              </a:ext>
            </a:extLst>
          </p:cNvPr>
          <p:cNvSpPr>
            <a:spLocks xmlns:a="http://schemas.openxmlformats.org/drawingml/2006/main" noGrp="1"/>
          </p:cNvSpPr>
          <p:nvPr/>
        </p:nvSpPr>
        <p:spPr>
          <a:xfrm xmlns:a="http://schemas.openxmlformats.org/drawingml/2006/main">
            <a:off x="6076950" y="1152525"/>
            <a:ext cx="18669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BD1267D-B8F9-4014-9800-932DDFB87888}"/>
              </a:ext>
            </a:extLst>
          </p:cNvPr>
          <p:cNvSpPr>
            <a:spLocks xmlns:a="http://schemas.openxmlformats.org/drawingml/2006/main" noGrp="1"/>
          </p:cNvSpPr>
          <p:nvPr/>
        </p:nvSpPr>
        <p:spPr>
          <a:xfrm xmlns:a="http://schemas.openxmlformats.org/drawingml/2006/main">
            <a:off x="6172200" y="1171575"/>
            <a:ext cx="1676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BOX = ORACLE</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d443519b7a94879"/>
          <a:srcRect xmlns:a="http://schemas.openxmlformats.org/drawingml/2006/main" l="0" t="4494" r="0" b="4494"/>
          <a:stretch xmlns:a="http://schemas.openxmlformats.org/drawingml/2006/main">
            <a:fillRect l="0" t="0" r="0" b="0"/>
          </a:stretch>
        </p:blipFill>
        <p:spPr>
          <a:xfrm xmlns:a="http://schemas.openxmlformats.org/drawingml/2006/main">
            <a:off x="609600" y="1562100"/>
            <a:ext cx="7334250" cy="4171950"/>
          </a:xfrm>
          <a:prstGeom xmlns:a="http://schemas.openxmlformats.org/drawingml/2006/main" prst="roundRect">
            <a:avLst>
              <a:gd name="adj" fmla="val 2740"/>
            </a:avLst>
          </a:prstGeom>
        </p:spPr>
      </p:pic>
      <p:sp>
        <p:nvSpPr>
          <p:cNvPr id="8" name="">
            <a:extLst xmlns:a="http://schemas.openxmlformats.org/drawingml/2006/main">
              <a:ext uri="{FF2B5EF4-FFF2-40B4-BE49-F238E27FC236}">
                <a16:creationId xmlns:a16="http://schemas.microsoft.com/office/drawing/2014/main" id="{6DCBD097-87FB-4811-9112-D89F0B1CB7E1}"/>
              </a:ext>
            </a:extLst>
          </p:cNvPr>
          <p:cNvSpPr>
            <a:spLocks xmlns:a="http://schemas.openxmlformats.org/drawingml/2006/main" noGrp="1"/>
          </p:cNvSpPr>
          <p:nvPr/>
        </p:nvSpPr>
        <p:spPr>
          <a:xfrm xmlns:a="http://schemas.openxmlformats.org/drawingml/2006/main">
            <a:off x="609600" y="1562100"/>
            <a:ext cx="7334250" cy="4171950"/>
          </a:xfrm>
          <a:prstGeom xmlns:a="http://schemas.openxmlformats.org/drawingml/2006/main" prst="roundRect">
            <a:avLst>
              <a:gd name="adj" fmla="val 1826"/>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4A7A4D7F-89BA-4070-AA6A-452AE3206C9A}"/>
              </a:ext>
            </a:extLst>
          </p:cNvPr>
          <p:cNvSpPr>
            <a:spLocks xmlns:a="http://schemas.openxmlformats.org/drawingml/2006/main" noGrp="1"/>
          </p:cNvSpPr>
          <p:nvPr/>
        </p:nvSpPr>
        <p:spPr>
          <a:xfrm xmlns:a="http://schemas.openxmlformats.org/drawingml/2006/main">
            <a:off x="8305800" y="1562100"/>
            <a:ext cx="3276600" cy="4171950"/>
          </a:xfrm>
          <a:prstGeom xmlns:a="http://schemas.openxmlformats.org/drawingml/2006/main" prst="roundRect">
            <a:avLst>
              <a:gd name="adj" fmla="val 2326"/>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CBBFAA9-F87C-47D2-A425-C1D42D487CE3}"/>
              </a:ext>
            </a:extLst>
          </p:cNvPr>
          <p:cNvSpPr>
            <a:spLocks xmlns:a="http://schemas.openxmlformats.org/drawingml/2006/main" noGrp="1"/>
          </p:cNvSpPr>
          <p:nvPr/>
        </p:nvSpPr>
        <p:spPr>
          <a:xfrm xmlns:a="http://schemas.openxmlformats.org/drawingml/2006/main">
            <a:off x="8572500" y="1809750"/>
            <a:ext cx="11239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3CCA333-890F-4DAC-8880-DEF80A5416DE}"/>
              </a:ext>
            </a:extLst>
          </p:cNvPr>
          <p:cNvSpPr>
            <a:spLocks xmlns:a="http://schemas.openxmlformats.org/drawingml/2006/main" noGrp="1"/>
          </p:cNvSpPr>
          <p:nvPr/>
        </p:nvSpPr>
        <p:spPr>
          <a:xfrm xmlns:a="http://schemas.openxmlformats.org/drawingml/2006/main">
            <a:off x="8667750" y="1828800"/>
            <a:ext cx="933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STRICT HIT</a:t>
            </a:r>
          </a:p>
        </p:txBody>
      </p:sp>
      <p:sp>
        <p:nvSpPr>
          <p:cNvPr id="12" name="">
            <a:extLst xmlns:a="http://schemas.openxmlformats.org/drawingml/2006/main">
              <a:ext uri="{FF2B5EF4-FFF2-40B4-BE49-F238E27FC236}">
                <a16:creationId xmlns:a16="http://schemas.microsoft.com/office/drawing/2014/main" id="{59118ABB-206A-44CF-A692-99B2A4FD3930}"/>
              </a:ext>
            </a:extLst>
          </p:cNvPr>
          <p:cNvSpPr>
            <a:spLocks xmlns:a="http://schemas.openxmlformats.org/drawingml/2006/main" noGrp="1"/>
          </p:cNvSpPr>
          <p:nvPr/>
        </p:nvSpPr>
        <p:spPr>
          <a:xfrm xmlns:a="http://schemas.openxmlformats.org/drawingml/2006/main">
            <a:off x="8572500" y="2305050"/>
            <a:ext cx="2571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133"/>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The official image-first JSON localizer returns (66, 61), inside New Slide.</a:t>
            </a:r>
          </a:p>
        </p:txBody>
      </p:sp>
      <p:sp>
        <p:nvSpPr>
          <p:cNvPr id="13" name="">
            <a:extLst xmlns:a="http://schemas.openxmlformats.org/drawingml/2006/main">
              <a:ext uri="{FF2B5EF4-FFF2-40B4-BE49-F238E27FC236}">
                <a16:creationId xmlns:a16="http://schemas.microsoft.com/office/drawing/2014/main" id="{42EDABE2-4EC9-42C7-9BFE-BD57070D9E12}"/>
              </a:ext>
            </a:extLst>
          </p:cNvPr>
          <p:cNvSpPr>
            <a:spLocks xmlns:a="http://schemas.openxmlformats.org/drawingml/2006/main" noGrp="1"/>
          </p:cNvSpPr>
          <p:nvPr/>
        </p:nvSpPr>
        <p:spPr>
          <a:xfrm xmlns:a="http://schemas.openxmlformats.org/drawingml/2006/main">
            <a:off x="8572500" y="3314700"/>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974"/>
          </a:bodyPr>
          <a:lstStyle xmlns:a="http://schemas.openxmlformats.org/drawingml/2006/main"/>
          <a:p xmlns:a="http://schemas.openxmlformats.org/drawingml/2006/main">
            <a:pPr algn="l">
              <a:defRPr sz="1275" b="0">
                <a:solidFill>
                  <a:srgbClr val="C5CFD8"/>
                </a:solidFill>
                <a:latin typeface="Helvetica Neue"/>
                <a:ea typeface="Helvetica Neue"/>
                <a:cs typeface="Helvetica Neue"/>
              </a:defRPr>
            </a:pPr>
            <a:r>
              <a:rPr sz="1275" b="0">
                <a:solidFill>
                  <a:srgbClr val="C5CFD8"/>
                </a:solidFill>
                <a:latin typeface="Helvetica Neue"/>
                <a:ea typeface="Helvetica Neue"/>
                <a:cs typeface="Helvetica Neue"/>
              </a:rPr>
              <a:t>The value-norm target-minus-control map also isolates the same tiny ribbon control.</a:t>
            </a:r>
          </a:p>
        </p:txBody>
      </p:sp>
      <p:sp>
        <p:nvSpPr>
          <p:cNvPr id="14" name="">
            <a:extLst xmlns:a="http://schemas.openxmlformats.org/drawingml/2006/main">
              <a:ext uri="{FF2B5EF4-FFF2-40B4-BE49-F238E27FC236}">
                <a16:creationId xmlns:a16="http://schemas.microsoft.com/office/drawing/2014/main" id="{F6BAA3B8-72DD-4782-A2E2-472D18F4B017}"/>
              </a:ext>
            </a:extLst>
          </p:cNvPr>
          <p:cNvSpPr>
            <a:spLocks xmlns:a="http://schemas.openxmlformats.org/drawingml/2006/main" noGrp="1"/>
          </p:cNvSpPr>
          <p:nvPr/>
        </p:nvSpPr>
        <p:spPr>
          <a:xfrm xmlns:a="http://schemas.openxmlformats.org/drawingml/2006/main">
            <a:off x="8572500" y="4171950"/>
            <a:ext cx="25717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6DEB9C9-7C2E-4129-B3EE-E9732FDC47E7}"/>
              </a:ext>
            </a:extLst>
          </p:cNvPr>
          <p:cNvSpPr>
            <a:spLocks xmlns:a="http://schemas.openxmlformats.org/drawingml/2006/main" noGrp="1"/>
          </p:cNvSpPr>
          <p:nvPr/>
        </p:nvSpPr>
        <p:spPr>
          <a:xfrm xmlns:a="http://schemas.openxmlformats.org/drawingml/2006/main">
            <a:off x="8572500" y="4381500"/>
            <a:ext cx="15811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Target-box differential</a:t>
            </a:r>
          </a:p>
        </p:txBody>
      </p:sp>
      <p:sp>
        <p:nvSpPr>
          <p:cNvPr id="16" name="">
            <a:extLst xmlns:a="http://schemas.openxmlformats.org/drawingml/2006/main">
              <a:ext uri="{FF2B5EF4-FFF2-40B4-BE49-F238E27FC236}">
                <a16:creationId xmlns:a16="http://schemas.microsoft.com/office/drawing/2014/main" id="{A19DFA7F-3CDC-400E-8387-FD349E82CC0F}"/>
              </a:ext>
            </a:extLst>
          </p:cNvPr>
          <p:cNvSpPr>
            <a:spLocks xmlns:a="http://schemas.openxmlformats.org/drawingml/2006/main" noGrp="1"/>
          </p:cNvSpPr>
          <p:nvPr/>
        </p:nvSpPr>
        <p:spPr>
          <a:xfrm xmlns:a="http://schemas.openxmlformats.org/drawingml/2006/main">
            <a:off x="10115550" y="4352925"/>
            <a:ext cx="1028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05A3C"/>
                </a:solidFill>
                <a:latin typeface="Helvetica Neue"/>
                <a:ea typeface="Helvetica Neue"/>
                <a:cs typeface="Helvetica Neue"/>
              </a:defRPr>
            </a:pPr>
            <a:r>
              <a:rPr sz="1500" b="1">
                <a:solidFill>
                  <a:srgbClr val="F05A3C"/>
                </a:solidFill>
                <a:latin typeface="Helvetica Neue"/>
                <a:ea typeface="Helvetica Neue"/>
                <a:cs typeface="Helvetica Neue"/>
              </a:rPr>
              <a:t>7.47 pp</a:t>
            </a:r>
          </a:p>
        </p:txBody>
      </p:sp>
      <p:sp>
        <p:nvSpPr>
          <p:cNvPr id="17" name="">
            <a:extLst xmlns:a="http://schemas.openxmlformats.org/drawingml/2006/main">
              <a:ext uri="{FF2B5EF4-FFF2-40B4-BE49-F238E27FC236}">
                <a16:creationId xmlns:a16="http://schemas.microsoft.com/office/drawing/2014/main" id="{1C63D2BB-16D3-4C2A-940A-CE3D03DA70DF}"/>
              </a:ext>
            </a:extLst>
          </p:cNvPr>
          <p:cNvSpPr>
            <a:spLocks xmlns:a="http://schemas.openxmlformats.org/drawingml/2006/main" noGrp="1"/>
          </p:cNvSpPr>
          <p:nvPr/>
        </p:nvSpPr>
        <p:spPr>
          <a:xfrm xmlns:a="http://schemas.openxmlformats.org/drawingml/2006/main">
            <a:off x="8572500" y="480060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Holo − Qwen</a:t>
            </a:r>
          </a:p>
        </p:txBody>
      </p:sp>
      <p:sp>
        <p:nvSpPr>
          <p:cNvPr id="18" name="">
            <a:extLst xmlns:a="http://schemas.openxmlformats.org/drawingml/2006/main">
              <a:ext uri="{FF2B5EF4-FFF2-40B4-BE49-F238E27FC236}">
                <a16:creationId xmlns:a16="http://schemas.microsoft.com/office/drawing/2014/main" id="{552777D2-1138-4EB6-AFE0-C8D986D0899E}"/>
              </a:ext>
            </a:extLst>
          </p:cNvPr>
          <p:cNvSpPr>
            <a:spLocks xmlns:a="http://schemas.openxmlformats.org/drawingml/2006/main" noGrp="1"/>
          </p:cNvSpPr>
          <p:nvPr/>
        </p:nvSpPr>
        <p:spPr>
          <a:xfrm xmlns:a="http://schemas.openxmlformats.org/drawingml/2006/main">
            <a:off x="9848850" y="477202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18A875"/>
                </a:solidFill>
                <a:latin typeface="Helvetica Neue"/>
                <a:ea typeface="Helvetica Neue"/>
                <a:cs typeface="Helvetica Neue"/>
              </a:defRPr>
            </a:pPr>
            <a:r>
              <a:rPr sz="1500" b="1">
                <a:solidFill>
                  <a:srgbClr val="18A875"/>
                </a:solidFill>
                <a:latin typeface="Helvetica Neue"/>
                <a:ea typeface="Helvetica Neue"/>
                <a:cs typeface="Helvetica Neue"/>
              </a:rPr>
              <a:t>+3.14 pp</a:t>
            </a:r>
          </a:p>
        </p:txBody>
      </p:sp>
      <p:sp>
        <p:nvSpPr>
          <p:cNvPr id="19" name="">
            <a:extLst xmlns:a="http://schemas.openxmlformats.org/drawingml/2006/main">
              <a:ext uri="{FF2B5EF4-FFF2-40B4-BE49-F238E27FC236}">
                <a16:creationId xmlns:a16="http://schemas.microsoft.com/office/drawing/2014/main" id="{D5222090-B2AE-4DA9-9B92-6779EB2706F3}"/>
              </a:ext>
            </a:extLst>
          </p:cNvPr>
          <p:cNvSpPr>
            <a:spLocks xmlns:a="http://schemas.openxmlformats.org/drawingml/2006/main" noGrp="1"/>
          </p:cNvSpPr>
          <p:nvPr/>
        </p:nvSpPr>
        <p:spPr>
          <a:xfrm xmlns:a="http://schemas.openxmlformats.org/drawingml/2006/main">
            <a:off x="8572500" y="5219700"/>
            <a:ext cx="1257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1A0AE"/>
                </a:solidFill>
                <a:latin typeface="Helvetica Neue"/>
                <a:ea typeface="Helvetica Neue"/>
                <a:cs typeface="Helvetica Neue"/>
              </a:defRPr>
            </a:pPr>
            <a:r>
              <a:rPr sz="900" b="1">
                <a:solidFill>
                  <a:srgbClr val="91A0AE"/>
                </a:solidFill>
                <a:latin typeface="Helvetica Neue"/>
                <a:ea typeface="Helvetica Neue"/>
                <a:cs typeface="Helvetica Neue"/>
              </a:rPr>
              <a:t>Min LOO cosine</a:t>
            </a:r>
          </a:p>
        </p:txBody>
      </p:sp>
      <p:sp>
        <p:nvSpPr>
          <p:cNvPr id="20" name="">
            <a:extLst xmlns:a="http://schemas.openxmlformats.org/drawingml/2006/main">
              <a:ext uri="{FF2B5EF4-FFF2-40B4-BE49-F238E27FC236}">
                <a16:creationId xmlns:a16="http://schemas.microsoft.com/office/drawing/2014/main" id="{7FBF446B-6AC6-48D1-BB67-1AF1BC06D384}"/>
              </a:ext>
            </a:extLst>
          </p:cNvPr>
          <p:cNvSpPr>
            <a:spLocks xmlns:a="http://schemas.openxmlformats.org/drawingml/2006/main" noGrp="1"/>
          </p:cNvSpPr>
          <p:nvPr/>
        </p:nvSpPr>
        <p:spPr>
          <a:xfrm xmlns:a="http://schemas.openxmlformats.org/drawingml/2006/main">
            <a:off x="9848850" y="5191125"/>
            <a:ext cx="1295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0.946</a:t>
            </a:r>
          </a:p>
        </p:txBody>
      </p:sp>
      <p:sp>
        <p:nvSpPr>
          <p:cNvPr id="21" name="">
            <a:extLst xmlns:a="http://schemas.openxmlformats.org/drawingml/2006/main">
              <a:ext uri="{FF2B5EF4-FFF2-40B4-BE49-F238E27FC236}">
                <a16:creationId xmlns:a16="http://schemas.microsoft.com/office/drawing/2014/main" id="{0CFF1ABE-ADE9-4E0C-8E0B-8A9839BFD70C}"/>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82AE77F-B8EF-4101-8793-A4F88EEFC57C}"/>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2880×1800 input → 56×90 merged-token grid · value-norm · 4 same-image controls · normalized coordinates</a:t>
            </a:r>
          </a:p>
        </p:txBody>
      </p:sp>
    </p:spTree>
    <p:extLst>
      <p:ext uri="{BB962C8B-B14F-4D97-AF65-F5344CB8AC3E}">
        <p14:creationId xmlns:p14="http://schemas.microsoft.com/office/powerpoint/2010/main" val="585741882"/>
      </p:ext>
    </p:extLst>
  </p:cSld>
</p:sld>
</file>

<file path=ppt/slides/slide8.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F1846F22-98FC-4E2E-86A8-5377969E8BA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DESCRIPTIVE ATTRIBUTION</a:t>
            </a:r>
          </a:p>
        </p:txBody>
      </p:sp>
      <p:sp>
        <p:nvSpPr>
          <p:cNvPr id="2" name="">
            <a:extLst xmlns:a="http://schemas.openxmlformats.org/drawingml/2006/main">
              <a:ext uri="{FF2B5EF4-FFF2-40B4-BE49-F238E27FC236}">
                <a16:creationId xmlns:a16="http://schemas.microsoft.com/office/drawing/2014/main" id="{90CFFE9E-2138-453A-853C-A439153FD0DC}"/>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The action path resolves onto the cheapest button</a:t>
            </a:r>
          </a:p>
        </p:txBody>
      </p:sp>
      <p:sp>
        <p:nvSpPr>
          <p:cNvPr id="3" name="">
            <a:extLst xmlns:a="http://schemas.openxmlformats.org/drawingml/2006/main">
              <a:ext uri="{FF2B5EF4-FFF2-40B4-BE49-F238E27FC236}">
                <a16:creationId xmlns:a16="http://schemas.microsoft.com/office/drawing/2014/main" id="{E6D512DC-71A4-41D2-91E6-F2DBE2BB5C9D}"/>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EDC73630-F239-436F-9A71-3BC47E589DDA}"/>
              </a:ext>
            </a:extLst>
          </p:cNvPr>
          <p:cNvSpPr>
            <a:spLocks xmlns:a="http://schemas.openxmlformats.org/drawingml/2006/main" noGrp="1"/>
          </p:cNvSpPr>
          <p:nvPr/>
        </p:nvSpPr>
        <p:spPr>
          <a:xfrm xmlns:a="http://schemas.openxmlformats.org/drawingml/2006/main">
            <a:off x="609600" y="1162050"/>
            <a:ext cx="885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66717D"/>
                </a:solidFill>
                <a:latin typeface="Helvetica Neue"/>
                <a:ea typeface="Helvetica Neue"/>
                <a:cs typeface="Helvetica Neue"/>
              </a:defRPr>
            </a:pPr>
            <a:r>
              <a:rPr sz="1125" b="0">
                <a:solidFill>
                  <a:srgbClr val="66717D"/>
                </a:solidFill>
                <a:latin typeface="Helvetica Neue"/>
                <a:ea typeface="Helvetica Neue"/>
                <a:cs typeface="Helvetica Neue"/>
              </a:rPr>
              <a:t>Value-norm target minus 4 same-history alternate instructions on teacher-forced x/y tokens</a:t>
            </a:r>
          </a:p>
        </p:txBody>
      </p:sp>
      <p:sp>
        <p:nvSpPr>
          <p:cNvPr id="5" name="">
            <a:extLst xmlns:a="http://schemas.openxmlformats.org/drawingml/2006/main">
              <a:ext uri="{FF2B5EF4-FFF2-40B4-BE49-F238E27FC236}">
                <a16:creationId xmlns:a16="http://schemas.microsoft.com/office/drawing/2014/main" id="{17A3BC19-36F6-4965-B6B0-6226E40C4224}"/>
              </a:ext>
            </a:extLst>
          </p:cNvPr>
          <p:cNvSpPr>
            <a:spLocks xmlns:a="http://schemas.openxmlformats.org/drawingml/2006/main" noGrp="1"/>
          </p:cNvSpPr>
          <p:nvPr/>
        </p:nvSpPr>
        <p:spPr>
          <a:xfrm xmlns:a="http://schemas.openxmlformats.org/drawingml/2006/main">
            <a:off x="9525000" y="1133475"/>
            <a:ext cx="20574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1761591-0AF1-4E5A-B71C-B60CF8500691}"/>
              </a:ext>
            </a:extLst>
          </p:cNvPr>
          <p:cNvSpPr>
            <a:spLocks xmlns:a="http://schemas.openxmlformats.org/drawingml/2006/main" noGrp="1"/>
          </p:cNvSpPr>
          <p:nvPr/>
        </p:nvSpPr>
        <p:spPr>
          <a:xfrm xmlns:a="http://schemas.openxmlformats.org/drawingml/2006/main">
            <a:off x="9620250" y="1152525"/>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GREEN BOX = ORACLE</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b5c7a16bfc44ebc"/>
          <a:srcRect xmlns:a="http://schemas.openxmlformats.org/drawingml/2006/main" l="0" t="30" r="0" b="30"/>
          <a:stretch xmlns:a="http://schemas.openxmlformats.org/drawingml/2006/main">
            <a:fillRect l="0" t="0" r="0" b="0"/>
          </a:stretch>
        </p:blipFill>
        <p:spPr>
          <a:xfrm xmlns:a="http://schemas.openxmlformats.org/drawingml/2006/main">
            <a:off x="609600" y="1581150"/>
            <a:ext cx="3524250" cy="2476500"/>
          </a:xfrm>
          <a:prstGeom xmlns:a="http://schemas.openxmlformats.org/drawingml/2006/main" prst="roundRect">
            <a:avLst>
              <a:gd name="adj" fmla="val 4615"/>
            </a:avLst>
          </a:prstGeom>
        </p:spPr>
      </p:pic>
      <p:sp>
        <p:nvSpPr>
          <p:cNvPr id="8" name="">
            <a:extLst xmlns:a="http://schemas.openxmlformats.org/drawingml/2006/main">
              <a:ext uri="{FF2B5EF4-FFF2-40B4-BE49-F238E27FC236}">
                <a16:creationId xmlns:a16="http://schemas.microsoft.com/office/drawing/2014/main" id="{6D448D6A-F748-4039-BD29-AE7834508C90}"/>
              </a:ext>
            </a:extLst>
          </p:cNvPr>
          <p:cNvSpPr>
            <a:spLocks xmlns:a="http://schemas.openxmlformats.org/drawingml/2006/main" noGrp="1"/>
          </p:cNvSpPr>
          <p:nvPr/>
        </p:nvSpPr>
        <p:spPr>
          <a:xfrm xmlns:a="http://schemas.openxmlformats.org/drawingml/2006/main">
            <a:off x="6096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FC3671BE-2A9A-41CD-B484-0DE4314CBBB7}"/>
              </a:ext>
            </a:extLst>
          </p:cNvPr>
          <p:cNvSpPr>
            <a:spLocks xmlns:a="http://schemas.openxmlformats.org/drawingml/2006/main" noGrp="1"/>
          </p:cNvSpPr>
          <p:nvPr/>
        </p:nvSpPr>
        <p:spPr>
          <a:xfrm xmlns:a="http://schemas.openxmlformats.org/drawingml/2006/main">
            <a:off x="72390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AFA815-7D04-4549-BF0A-3DFB614CA92C}"/>
              </a:ext>
            </a:extLst>
          </p:cNvPr>
          <p:cNvSpPr>
            <a:spLocks xmlns:a="http://schemas.openxmlformats.org/drawingml/2006/main" noGrp="1"/>
          </p:cNvSpPr>
          <p:nvPr/>
        </p:nvSpPr>
        <p:spPr>
          <a:xfrm xmlns:a="http://schemas.openxmlformats.org/drawingml/2006/main">
            <a:off x="8191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0 · TOP RESULTS</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1404d855c3c64a85"/>
          <a:srcRect xmlns:a="http://schemas.openxmlformats.org/drawingml/2006/main" l="0" t="30" r="0" b="30"/>
          <a:stretch xmlns:a="http://schemas.openxmlformats.org/drawingml/2006/main">
            <a:fillRect l="0" t="0" r="0" b="0"/>
          </a:stretch>
        </p:blipFill>
        <p:spPr>
          <a:xfrm xmlns:a="http://schemas.openxmlformats.org/drawingml/2006/main">
            <a:off x="4286250" y="1581150"/>
            <a:ext cx="3524250" cy="2476500"/>
          </a:xfrm>
          <a:prstGeom xmlns:a="http://schemas.openxmlformats.org/drawingml/2006/main" prst="roundRect">
            <a:avLst>
              <a:gd name="adj" fmla="val 4615"/>
            </a:avLst>
          </a:prstGeom>
        </p:spPr>
      </p:pic>
      <p:sp>
        <p:nvSpPr>
          <p:cNvPr id="12" name="">
            <a:extLst xmlns:a="http://schemas.openxmlformats.org/drawingml/2006/main">
              <a:ext uri="{FF2B5EF4-FFF2-40B4-BE49-F238E27FC236}">
                <a16:creationId xmlns:a16="http://schemas.microsoft.com/office/drawing/2014/main" id="{5999055E-18CE-4CF1-8AEB-7ECA311961CD}"/>
              </a:ext>
            </a:extLst>
          </p:cNvPr>
          <p:cNvSpPr>
            <a:spLocks xmlns:a="http://schemas.openxmlformats.org/drawingml/2006/main" noGrp="1"/>
          </p:cNvSpPr>
          <p:nvPr/>
        </p:nvSpPr>
        <p:spPr>
          <a:xfrm xmlns:a="http://schemas.openxmlformats.org/drawingml/2006/main">
            <a:off x="428625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3" name="">
            <a:extLst xmlns:a="http://schemas.openxmlformats.org/drawingml/2006/main">
              <a:ext uri="{FF2B5EF4-FFF2-40B4-BE49-F238E27FC236}">
                <a16:creationId xmlns:a16="http://schemas.microsoft.com/office/drawing/2014/main" id="{4C7DB314-5E7E-42CB-95F4-786D961E102C}"/>
              </a:ext>
            </a:extLst>
          </p:cNvPr>
          <p:cNvSpPr>
            <a:spLocks xmlns:a="http://schemas.openxmlformats.org/drawingml/2006/main" noGrp="1"/>
          </p:cNvSpPr>
          <p:nvPr/>
        </p:nvSpPr>
        <p:spPr>
          <a:xfrm xmlns:a="http://schemas.openxmlformats.org/drawingml/2006/main">
            <a:off x="4400550" y="4171950"/>
            <a:ext cx="23812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9D36A88-2A08-4EE6-8CE3-5BB8E5E22E87}"/>
              </a:ext>
            </a:extLst>
          </p:cNvPr>
          <p:cNvSpPr>
            <a:spLocks xmlns:a="http://schemas.openxmlformats.org/drawingml/2006/main" noGrp="1"/>
          </p:cNvSpPr>
          <p:nvPr/>
        </p:nvSpPr>
        <p:spPr>
          <a:xfrm xmlns:a="http://schemas.openxmlformats.org/drawingml/2006/main">
            <a:off x="449580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1 · MID LIST</a:t>
            </a:r>
          </a:p>
        </p:txBody>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1e2090fbdf864e40"/>
          <a:srcRect xmlns:a="http://schemas.openxmlformats.org/drawingml/2006/main" l="0" t="30" r="0" b="30"/>
          <a:stretch xmlns:a="http://schemas.openxmlformats.org/drawingml/2006/main">
            <a:fillRect l="0" t="0" r="0" b="0"/>
          </a:stretch>
        </p:blipFill>
        <p:spPr>
          <a:xfrm xmlns:a="http://schemas.openxmlformats.org/drawingml/2006/main">
            <a:off x="7962900" y="1581150"/>
            <a:ext cx="3524250" cy="2476500"/>
          </a:xfrm>
          <a:prstGeom xmlns:a="http://schemas.openxmlformats.org/drawingml/2006/main" prst="roundRect">
            <a:avLst>
              <a:gd name="adj" fmla="val 4615"/>
            </a:avLst>
          </a:prstGeom>
        </p:spPr>
      </p:pic>
      <p:sp>
        <p:nvSpPr>
          <p:cNvPr id="16" name="">
            <a:extLst xmlns:a="http://schemas.openxmlformats.org/drawingml/2006/main">
              <a:ext uri="{FF2B5EF4-FFF2-40B4-BE49-F238E27FC236}">
                <a16:creationId xmlns:a16="http://schemas.microsoft.com/office/drawing/2014/main" id="{C330FC84-AEB3-4955-BEF8-3B7AC575986C}"/>
              </a:ext>
            </a:extLst>
          </p:cNvPr>
          <p:cNvSpPr>
            <a:spLocks xmlns:a="http://schemas.openxmlformats.org/drawingml/2006/main" noGrp="1"/>
          </p:cNvSpPr>
          <p:nvPr/>
        </p:nvSpPr>
        <p:spPr>
          <a:xfrm xmlns:a="http://schemas.openxmlformats.org/drawingml/2006/main">
            <a:off x="7962900" y="1581150"/>
            <a:ext cx="3524250" cy="2476500"/>
          </a:xfrm>
          <a:prstGeom xmlns:a="http://schemas.openxmlformats.org/drawingml/2006/main" prst="roundRect">
            <a:avLst>
              <a:gd name="adj" fmla="val 3077"/>
            </a:avLst>
          </a:prstGeom>
          <a:noFill xmlns:a="http://schemas.openxmlformats.org/drawingml/2006/main"/>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A696C9DA-11E8-413F-A94C-F7DF4597BF77}"/>
              </a:ext>
            </a:extLst>
          </p:cNvPr>
          <p:cNvSpPr>
            <a:spLocks xmlns:a="http://schemas.openxmlformats.org/drawingml/2006/main" noGrp="1"/>
          </p:cNvSpPr>
          <p:nvPr/>
        </p:nvSpPr>
        <p:spPr>
          <a:xfrm xmlns:a="http://schemas.openxmlformats.org/drawingml/2006/main">
            <a:off x="8077200" y="4171950"/>
            <a:ext cx="23812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EB84891-F567-4C3E-AD34-4641D08DDFA1}"/>
              </a:ext>
            </a:extLst>
          </p:cNvPr>
          <p:cNvSpPr>
            <a:spLocks xmlns:a="http://schemas.openxmlformats.org/drawingml/2006/main" noGrp="1"/>
          </p:cNvSpPr>
          <p:nvPr/>
        </p:nvSpPr>
        <p:spPr>
          <a:xfrm xmlns:a="http://schemas.openxmlformats.org/drawingml/2006/main">
            <a:off x="8172450" y="4191000"/>
            <a:ext cx="219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FRAME 2 · CHEAPEST VISIBLE</a:t>
            </a:r>
          </a:p>
        </p:txBody>
      </p:sp>
      <p:sp>
        <p:nvSpPr>
          <p:cNvPr id="19" name="">
            <a:extLst xmlns:a="http://schemas.openxmlformats.org/drawingml/2006/main">
              <a:ext uri="{FF2B5EF4-FFF2-40B4-BE49-F238E27FC236}">
                <a16:creationId xmlns:a16="http://schemas.microsoft.com/office/drawing/2014/main" id="{7CD1F33A-043E-49FD-8B77-A60A9A62E424}"/>
              </a:ext>
            </a:extLst>
          </p:cNvPr>
          <p:cNvSpPr>
            <a:spLocks xmlns:a="http://schemas.openxmlformats.org/drawingml/2006/main" noGrp="1"/>
          </p:cNvSpPr>
          <p:nvPr/>
        </p:nvSpPr>
        <p:spPr>
          <a:xfrm xmlns:a="http://schemas.openxmlformats.org/drawingml/2006/main">
            <a:off x="6096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0" name="">
            <a:extLst xmlns:a="http://schemas.openxmlformats.org/drawingml/2006/main">
              <a:ext uri="{FF2B5EF4-FFF2-40B4-BE49-F238E27FC236}">
                <a16:creationId xmlns:a16="http://schemas.microsoft.com/office/drawing/2014/main" id="{0B2B87F2-BE6B-4EEB-A48A-58AA6D62625F}"/>
              </a:ext>
            </a:extLst>
          </p:cNvPr>
          <p:cNvSpPr>
            <a:spLocks xmlns:a="http://schemas.openxmlformats.org/drawingml/2006/main" noGrp="1"/>
          </p:cNvSpPr>
          <p:nvPr/>
        </p:nvSpPr>
        <p:spPr>
          <a:xfrm xmlns:a="http://schemas.openxmlformats.org/drawingml/2006/main">
            <a:off x="609600" y="4686300"/>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1D3C3E3-D414-4371-983C-547BE7E4C05E}"/>
              </a:ext>
            </a:extLst>
          </p:cNvPr>
          <p:cNvSpPr>
            <a:spLocks xmlns:a="http://schemas.openxmlformats.org/drawingml/2006/main" noGrp="1"/>
          </p:cNvSpPr>
          <p:nvPr/>
        </p:nvSpPr>
        <p:spPr>
          <a:xfrm xmlns:a="http://schemas.openxmlformats.org/drawingml/2006/main">
            <a:off x="8001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TARGET-BOX DIFFERENTIAL</a:t>
            </a:r>
          </a:p>
        </p:txBody>
      </p:sp>
      <p:sp>
        <p:nvSpPr>
          <p:cNvPr id="22" name="">
            <a:extLst xmlns:a="http://schemas.openxmlformats.org/drawingml/2006/main">
              <a:ext uri="{FF2B5EF4-FFF2-40B4-BE49-F238E27FC236}">
                <a16:creationId xmlns:a16="http://schemas.microsoft.com/office/drawing/2014/main" id="{823CFE3E-614F-4A50-954E-3FFF00585BC5}"/>
              </a:ext>
            </a:extLst>
          </p:cNvPr>
          <p:cNvSpPr>
            <a:spLocks xmlns:a="http://schemas.openxmlformats.org/drawingml/2006/main" noGrp="1"/>
          </p:cNvSpPr>
          <p:nvPr/>
        </p:nvSpPr>
        <p:spPr>
          <a:xfrm xmlns:a="http://schemas.openxmlformats.org/drawingml/2006/main">
            <a:off x="8001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10.74 pp</a:t>
            </a:r>
          </a:p>
        </p:txBody>
      </p:sp>
      <p:sp>
        <p:nvSpPr>
          <p:cNvPr id="23" name="">
            <a:extLst xmlns:a="http://schemas.openxmlformats.org/drawingml/2006/main">
              <a:ext uri="{FF2B5EF4-FFF2-40B4-BE49-F238E27FC236}">
                <a16:creationId xmlns:a16="http://schemas.microsoft.com/office/drawing/2014/main" id="{196BD779-732F-4C5C-BAA0-474D7C9B4250}"/>
              </a:ext>
            </a:extLst>
          </p:cNvPr>
          <p:cNvSpPr>
            <a:spLocks xmlns:a="http://schemas.openxmlformats.org/drawingml/2006/main" noGrp="1"/>
          </p:cNvSpPr>
          <p:nvPr/>
        </p:nvSpPr>
        <p:spPr>
          <a:xfrm xmlns:a="http://schemas.openxmlformats.org/drawingml/2006/main">
            <a:off x="8001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34.5% of positive residual mass</a:t>
            </a:r>
          </a:p>
        </p:txBody>
      </p:sp>
      <p:sp>
        <p:nvSpPr>
          <p:cNvPr id="24" name="">
            <a:extLst xmlns:a="http://schemas.openxmlformats.org/drawingml/2006/main">
              <a:ext uri="{FF2B5EF4-FFF2-40B4-BE49-F238E27FC236}">
                <a16:creationId xmlns:a16="http://schemas.microsoft.com/office/drawing/2014/main" id="{8CFE61DC-0BBB-4BE1-922D-DED2DD6B12D2}"/>
              </a:ext>
            </a:extLst>
          </p:cNvPr>
          <p:cNvSpPr>
            <a:spLocks xmlns:a="http://schemas.openxmlformats.org/drawingml/2006/main" noGrp="1"/>
          </p:cNvSpPr>
          <p:nvPr/>
        </p:nvSpPr>
        <p:spPr>
          <a:xfrm xmlns:a="http://schemas.openxmlformats.org/drawingml/2006/main">
            <a:off x="4114800" y="4686300"/>
            <a:ext cx="3333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5" name="">
            <a:extLst xmlns:a="http://schemas.openxmlformats.org/drawingml/2006/main">
              <a:ext uri="{FF2B5EF4-FFF2-40B4-BE49-F238E27FC236}">
                <a16:creationId xmlns:a16="http://schemas.microsoft.com/office/drawing/2014/main" id="{492D3C0C-15F3-40D5-8E36-B20BBD57588A}"/>
              </a:ext>
            </a:extLst>
          </p:cNvPr>
          <p:cNvSpPr>
            <a:spLocks xmlns:a="http://schemas.openxmlformats.org/drawingml/2006/main" noGrp="1"/>
          </p:cNvSpPr>
          <p:nvPr/>
        </p:nvSpPr>
        <p:spPr>
          <a:xfrm xmlns:a="http://schemas.openxmlformats.org/drawingml/2006/main">
            <a:off x="4114800" y="4686300"/>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D6703ACB-137A-4B78-BC45-C93D76C01BC5}"/>
              </a:ext>
            </a:extLst>
          </p:cNvPr>
          <p:cNvSpPr>
            <a:spLocks xmlns:a="http://schemas.openxmlformats.org/drawingml/2006/main" noGrp="1"/>
          </p:cNvSpPr>
          <p:nvPr/>
        </p:nvSpPr>
        <p:spPr>
          <a:xfrm xmlns:a="http://schemas.openxmlformats.org/drawingml/2006/main">
            <a:off x="4305300" y="4819650"/>
            <a:ext cx="3028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HOLO − QWEN</a:t>
            </a:r>
          </a:p>
        </p:txBody>
      </p:sp>
      <p:sp>
        <p:nvSpPr>
          <p:cNvPr id="27" name="">
            <a:extLst xmlns:a="http://schemas.openxmlformats.org/drawingml/2006/main">
              <a:ext uri="{FF2B5EF4-FFF2-40B4-BE49-F238E27FC236}">
                <a16:creationId xmlns:a16="http://schemas.microsoft.com/office/drawing/2014/main" id="{B04B4BB6-CB96-4551-9004-B1669316E6C3}"/>
              </a:ext>
            </a:extLst>
          </p:cNvPr>
          <p:cNvSpPr>
            <a:spLocks xmlns:a="http://schemas.openxmlformats.org/drawingml/2006/main" noGrp="1"/>
          </p:cNvSpPr>
          <p:nvPr/>
        </p:nvSpPr>
        <p:spPr>
          <a:xfrm xmlns:a="http://schemas.openxmlformats.org/drawingml/2006/main">
            <a:off x="4305300" y="5010150"/>
            <a:ext cx="302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+4.19 pp</a:t>
            </a:r>
          </a:p>
        </p:txBody>
      </p:sp>
      <p:sp>
        <p:nvSpPr>
          <p:cNvPr id="28" name="">
            <a:extLst xmlns:a="http://schemas.openxmlformats.org/drawingml/2006/main">
              <a:ext uri="{FF2B5EF4-FFF2-40B4-BE49-F238E27FC236}">
                <a16:creationId xmlns:a16="http://schemas.microsoft.com/office/drawing/2014/main" id="{B39D3F7B-6AA2-4F2E-B467-E991B624068E}"/>
              </a:ext>
            </a:extLst>
          </p:cNvPr>
          <p:cNvSpPr>
            <a:spLocks xmlns:a="http://schemas.openxmlformats.org/drawingml/2006/main" noGrp="1"/>
          </p:cNvSpPr>
          <p:nvPr/>
        </p:nvSpPr>
        <p:spPr>
          <a:xfrm xmlns:a="http://schemas.openxmlformats.org/drawingml/2006/main">
            <a:off x="4305300" y="5419725"/>
            <a:ext cx="3028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same images, history, and controls</a:t>
            </a:r>
          </a:p>
        </p:txBody>
      </p:sp>
      <p:sp>
        <p:nvSpPr>
          <p:cNvPr id="29" name="">
            <a:extLst xmlns:a="http://schemas.openxmlformats.org/drawingml/2006/main">
              <a:ext uri="{FF2B5EF4-FFF2-40B4-BE49-F238E27FC236}">
                <a16:creationId xmlns:a16="http://schemas.microsoft.com/office/drawing/2014/main" id="{8AC6FB3E-18D4-476F-B774-851CD1108C97}"/>
              </a:ext>
            </a:extLst>
          </p:cNvPr>
          <p:cNvSpPr>
            <a:spLocks xmlns:a="http://schemas.openxmlformats.org/drawingml/2006/main" noGrp="1"/>
          </p:cNvSpPr>
          <p:nvPr/>
        </p:nvSpPr>
        <p:spPr>
          <a:xfrm xmlns:a="http://schemas.openxmlformats.org/drawingml/2006/main">
            <a:off x="7620000" y="4686300"/>
            <a:ext cx="396240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30" name="">
            <a:extLst xmlns:a="http://schemas.openxmlformats.org/drawingml/2006/main">
              <a:ext uri="{FF2B5EF4-FFF2-40B4-BE49-F238E27FC236}">
                <a16:creationId xmlns:a16="http://schemas.microsoft.com/office/drawing/2014/main" id="{30101B86-B789-480D-AED7-F79B1E1BCB61}"/>
              </a:ext>
            </a:extLst>
          </p:cNvPr>
          <p:cNvSpPr>
            <a:spLocks xmlns:a="http://schemas.openxmlformats.org/drawingml/2006/main" noGrp="1"/>
          </p:cNvSpPr>
          <p:nvPr/>
        </p:nvSpPr>
        <p:spPr>
          <a:xfrm xmlns:a="http://schemas.openxmlformats.org/drawingml/2006/main">
            <a:off x="7620000" y="4686300"/>
            <a:ext cx="66675" cy="1028700"/>
          </a:xfrm>
          <a:prstGeom xmlns:a="http://schemas.openxmlformats.org/drawingml/2006/main" prst="roundRect">
            <a:avLst>
              <a:gd name="adj" fmla="val 50000"/>
            </a:avLst>
          </a:prstGeom>
          <a:solidFill xmlns:a="http://schemas.openxmlformats.org/drawingml/2006/main">
            <a:srgbClr val="2D84D3"/>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269235C-7967-4E80-AAAB-D9F15B36673D}"/>
              </a:ext>
            </a:extLst>
          </p:cNvPr>
          <p:cNvSpPr>
            <a:spLocks xmlns:a="http://schemas.openxmlformats.org/drawingml/2006/main" noGrp="1"/>
          </p:cNvSpPr>
          <p:nvPr/>
        </p:nvSpPr>
        <p:spPr>
          <a:xfrm xmlns:a="http://schemas.openxmlformats.org/drawingml/2006/main">
            <a:off x="7810500" y="4819650"/>
            <a:ext cx="36576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CONTROL STABILITY</a:t>
            </a:r>
          </a:p>
        </p:txBody>
      </p:sp>
      <p:sp>
        <p:nvSpPr>
          <p:cNvPr id="32" name="">
            <a:extLst xmlns:a="http://schemas.openxmlformats.org/drawingml/2006/main">
              <a:ext uri="{FF2B5EF4-FFF2-40B4-BE49-F238E27FC236}">
                <a16:creationId xmlns:a16="http://schemas.microsoft.com/office/drawing/2014/main" id="{6B9E40FF-53F0-4C6D-920C-790DBBC8558E}"/>
              </a:ext>
            </a:extLst>
          </p:cNvPr>
          <p:cNvSpPr>
            <a:spLocks xmlns:a="http://schemas.openxmlformats.org/drawingml/2006/main" noGrp="1"/>
          </p:cNvSpPr>
          <p:nvPr/>
        </p:nvSpPr>
        <p:spPr>
          <a:xfrm xmlns:a="http://schemas.openxmlformats.org/drawingml/2006/main">
            <a:off x="7810500" y="5010150"/>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0.957</a:t>
            </a:r>
          </a:p>
        </p:txBody>
      </p:sp>
      <p:sp>
        <p:nvSpPr>
          <p:cNvPr id="33" name="">
            <a:extLst xmlns:a="http://schemas.openxmlformats.org/drawingml/2006/main">
              <a:ext uri="{FF2B5EF4-FFF2-40B4-BE49-F238E27FC236}">
                <a16:creationId xmlns:a16="http://schemas.microsoft.com/office/drawing/2014/main" id="{6250DD84-2A80-4EB7-B8F7-AD3C55D3DA44}"/>
              </a:ext>
            </a:extLst>
          </p:cNvPr>
          <p:cNvSpPr>
            <a:spLocks xmlns:a="http://schemas.openxmlformats.org/drawingml/2006/main" noGrp="1"/>
          </p:cNvSpPr>
          <p:nvPr/>
        </p:nvSpPr>
        <p:spPr>
          <a:xfrm xmlns:a="http://schemas.openxmlformats.org/drawingml/2006/main">
            <a:off x="7810500" y="5419725"/>
            <a:ext cx="3657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minimum leave-one-control-out cosine</a:t>
            </a:r>
          </a:p>
        </p:txBody>
      </p:sp>
      <p:sp>
        <p:nvSpPr>
          <p:cNvPr id="34" name="">
            <a:extLst xmlns:a="http://schemas.openxmlformats.org/drawingml/2006/main">
              <a:ext uri="{FF2B5EF4-FFF2-40B4-BE49-F238E27FC236}">
                <a16:creationId xmlns:a16="http://schemas.microsoft.com/office/drawing/2014/main" id="{31DFF3E0-9D9C-4BF8-9144-9A161A8F3DE0}"/>
              </a:ext>
            </a:extLst>
          </p:cNvPr>
          <p:cNvSpPr>
            <a:spLocks xmlns:a="http://schemas.openxmlformats.org/drawingml/2006/main" noGrp="1"/>
          </p:cNvSpPr>
          <p:nvPr/>
        </p:nvSpPr>
        <p:spPr>
          <a:xfrm xmlns:a="http://schemas.openxmlformats.org/drawingml/2006/main">
            <a:off x="609600" y="5867400"/>
            <a:ext cx="10972800" cy="438150"/>
          </a:xfrm>
          <a:prstGeom xmlns:a="http://schemas.openxmlformats.org/drawingml/2006/main" prst="roundRect">
            <a:avLst>
              <a:gd name="adj" fmla="val 17391"/>
            </a:avLst>
          </a:prstGeom>
          <a:solidFill xmlns:a="http://schemas.openxmlformats.org/drawingml/2006/main">
            <a:srgbClr val="1C2733"/>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934B2A3-2A9E-473E-845B-050B89BFA5EF}"/>
              </a:ext>
            </a:extLst>
          </p:cNvPr>
          <p:cNvSpPr>
            <a:spLocks xmlns:a="http://schemas.openxmlformats.org/drawingml/2006/main" noGrp="1"/>
          </p:cNvSpPr>
          <p:nvPr/>
        </p:nvSpPr>
        <p:spPr>
          <a:xfrm xmlns:a="http://schemas.openxmlformats.org/drawingml/2006/main">
            <a:off x="800100" y="5962650"/>
            <a:ext cx="10591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The current frame carries 68.1% of Holo's positive prompt differential; the oracle button alone carries 34.5%.</a:t>
            </a:r>
          </a:p>
        </p:txBody>
      </p:sp>
      <p:sp>
        <p:nvSpPr>
          <p:cNvPr id="36" name="">
            <a:extLst xmlns:a="http://schemas.openxmlformats.org/drawingml/2006/main">
              <a:ext uri="{FF2B5EF4-FFF2-40B4-BE49-F238E27FC236}">
                <a16:creationId xmlns:a16="http://schemas.microsoft.com/office/drawing/2014/main" id="{B3DE500C-86C1-42CA-85E0-2C09C87B77A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AADB9E0-F5A5-4412-9AE3-6DAB81DD962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1024×720 → 22×32 per frame · identical 3-frame / 2-scroll history · no max-width downsampling</a:t>
            </a:r>
          </a:p>
        </p:txBody>
      </p:sp>
    </p:spTree>
    <p:extLst>
      <p:ext uri="{BB962C8B-B14F-4D97-AF65-F5344CB8AC3E}">
        <p14:creationId xmlns:p14="http://schemas.microsoft.com/office/powerpoint/2010/main" val="322186371"/>
      </p:ext>
    </p:extLst>
  </p:cSld>
</p:sld>
</file>

<file path=ppt/slides/slide9.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255BE6F7-C15D-42BF-8B40-1C1CB771601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PILOT AGGREGATE · N=4</a:t>
            </a:r>
          </a:p>
        </p:txBody>
      </p:sp>
      <p:sp>
        <p:nvSpPr>
          <p:cNvPr id="2" name="">
            <a:extLst xmlns:a="http://schemas.openxmlformats.org/drawingml/2006/main">
              <a:ext uri="{FF2B5EF4-FFF2-40B4-BE49-F238E27FC236}">
                <a16:creationId xmlns:a16="http://schemas.microsoft.com/office/drawing/2014/main" id="{B507E10B-C6E5-4F1A-B184-D1BCF55D7BC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856"/>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Layer 19 has the highest mean lift, narrowly ahead of Layer 15</a:t>
            </a:r>
          </a:p>
        </p:txBody>
      </p:sp>
      <p:sp>
        <p:nvSpPr>
          <p:cNvPr id="3" name="">
            <a:extLst xmlns:a="http://schemas.openxmlformats.org/drawingml/2006/main">
              <a:ext uri="{FF2B5EF4-FFF2-40B4-BE49-F238E27FC236}">
                <a16:creationId xmlns:a16="http://schemas.microsoft.com/office/drawing/2014/main" id="{DD066F79-1DAF-4B40-A3F9-161B67641411}"/>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BCA5D908-7001-4288-AB0C-D6E60082CD30}"/>
              </a:ext>
            </a:extLst>
          </p:cNvPr>
          <p:cNvSpPr>
            <a:spLocks xmlns:a="http://schemas.openxmlformats.org/drawingml/2006/main" noGrp="1"/>
          </p:cNvSpPr>
          <p:nvPr/>
        </p:nvSpPr>
        <p:spPr>
          <a:xfrm xmlns:a="http://schemas.openxmlformats.org/drawingml/2006/main">
            <a:off x="609600" y="112395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Target lift uses four visible alternate click tasks on the same screenshot. Official harness: 2 hits and 2 misses.</a:t>
            </a:r>
          </a:p>
        </p:txBody>
      </p:sp>
      <p:sp>
        <p:nvSpPr>
          <p:cNvPr id="5" name="">
            <a:extLst xmlns:a="http://schemas.openxmlformats.org/drawingml/2006/main">
              <a:ext uri="{FF2B5EF4-FFF2-40B4-BE49-F238E27FC236}">
                <a16:creationId xmlns:a16="http://schemas.microsoft.com/office/drawing/2014/main" id="{331FF26B-6AC2-4C8A-B49E-F43118F33DCB}"/>
              </a:ext>
            </a:extLst>
          </p:cNvPr>
          <p:cNvSpPr>
            <a:spLocks xmlns:a="http://schemas.openxmlformats.org/drawingml/2006/main" noGrp="1"/>
          </p:cNvSpPr>
          <p:nvPr/>
        </p:nvSpPr>
        <p:spPr>
          <a:xfrm xmlns:a="http://schemas.openxmlformats.org/drawingml/2006/main">
            <a:off x="609600" y="1495425"/>
            <a:ext cx="59626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MEAN TARGET LIFT ACROSS 8 CAPTURED FULL-ATTENTION LAYERS</a:t>
            </a:r>
          </a:p>
        </p:txBody>
      </p:sp>
      <p:sp>
        <p:nvSpPr>
          <p:cNvPr id="6" name="">
            <a:extLst xmlns:a="http://schemas.openxmlformats.org/drawingml/2006/main">
              <a:ext uri="{FF2B5EF4-FFF2-40B4-BE49-F238E27FC236}">
                <a16:creationId xmlns:a16="http://schemas.microsoft.com/office/drawing/2014/main" id="{923039B9-8B5D-46A2-9548-840901834D82}"/>
              </a:ext>
            </a:extLst>
          </p:cNvPr>
          <p:cNvSpPr>
            <a:spLocks xmlns:a="http://schemas.openxmlformats.org/drawingml/2006/main" noGrp="1"/>
          </p:cNvSpPr>
          <p:nvPr/>
        </p:nvSpPr>
        <p:spPr>
          <a:xfrm xmlns:a="http://schemas.openxmlformats.org/drawingml/2006/main">
            <a:off x="609600" y="1809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a:t>
            </a:r>
          </a:p>
        </p:txBody>
      </p:sp>
      <p:sp>
        <p:nvSpPr>
          <p:cNvPr id="7" name="">
            <a:extLst xmlns:a="http://schemas.openxmlformats.org/drawingml/2006/main">
              <a:ext uri="{FF2B5EF4-FFF2-40B4-BE49-F238E27FC236}">
                <a16:creationId xmlns:a16="http://schemas.microsoft.com/office/drawing/2014/main" id="{9845EBCE-8139-45F6-8B0E-8EFB7414F271}"/>
              </a:ext>
            </a:extLst>
          </p:cNvPr>
          <p:cNvSpPr>
            <a:spLocks xmlns:a="http://schemas.openxmlformats.org/drawingml/2006/main" noGrp="1"/>
          </p:cNvSpPr>
          <p:nvPr/>
        </p:nvSpPr>
        <p:spPr>
          <a:xfrm xmlns:a="http://schemas.openxmlformats.org/drawingml/2006/main">
            <a:off x="1047750" y="1790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23ED3B1-169A-4C97-9F35-5166389AC08D}"/>
              </a:ext>
            </a:extLst>
          </p:cNvPr>
          <p:cNvSpPr>
            <a:spLocks xmlns:a="http://schemas.openxmlformats.org/drawingml/2006/main" noGrp="1"/>
          </p:cNvSpPr>
          <p:nvPr/>
        </p:nvSpPr>
        <p:spPr>
          <a:xfrm xmlns:a="http://schemas.openxmlformats.org/drawingml/2006/main">
            <a:off x="1047750" y="1790700"/>
            <a:ext cx="97622" cy="209550"/>
          </a:xfrm>
          <a:prstGeom xmlns:a="http://schemas.openxmlformats.org/drawingml/2006/main" prst="roundRect">
            <a:avLst>
              <a:gd name="adj" fmla="val 50000"/>
            </a:avLst>
          </a:prstGeom>
          <a:solidFill xmlns:a="http://schemas.openxmlformats.org/drawingml/2006/main">
            <a:srgbClr val="1C273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92108D9-8E58-427A-A949-98C46F941572}"/>
              </a:ext>
            </a:extLst>
          </p:cNvPr>
          <p:cNvSpPr>
            <a:spLocks xmlns:a="http://schemas.openxmlformats.org/drawingml/2006/main" noGrp="1"/>
          </p:cNvSpPr>
          <p:nvPr/>
        </p:nvSpPr>
        <p:spPr>
          <a:xfrm xmlns:a="http://schemas.openxmlformats.org/drawingml/2006/main">
            <a:off x="5791200" y="1800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3.3×</a:t>
            </a:r>
          </a:p>
        </p:txBody>
      </p:sp>
      <p:sp>
        <p:nvSpPr>
          <p:cNvPr id="10" name="">
            <a:extLst xmlns:a="http://schemas.openxmlformats.org/drawingml/2006/main">
              <a:ext uri="{FF2B5EF4-FFF2-40B4-BE49-F238E27FC236}">
                <a16:creationId xmlns:a16="http://schemas.microsoft.com/office/drawing/2014/main" id="{9106529F-68B1-4103-BA83-E0088CA5586B}"/>
              </a:ext>
            </a:extLst>
          </p:cNvPr>
          <p:cNvSpPr>
            <a:spLocks xmlns:a="http://schemas.openxmlformats.org/drawingml/2006/main" noGrp="1"/>
          </p:cNvSpPr>
          <p:nvPr/>
        </p:nvSpPr>
        <p:spPr>
          <a:xfrm xmlns:a="http://schemas.openxmlformats.org/drawingml/2006/main">
            <a:off x="609600" y="2114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L7</a:t>
            </a:r>
          </a:p>
        </p:txBody>
      </p:sp>
      <p:sp>
        <p:nvSpPr>
          <p:cNvPr id="11" name="">
            <a:extLst xmlns:a="http://schemas.openxmlformats.org/drawingml/2006/main">
              <a:ext uri="{FF2B5EF4-FFF2-40B4-BE49-F238E27FC236}">
                <a16:creationId xmlns:a16="http://schemas.microsoft.com/office/drawing/2014/main" id="{6380E719-DE4A-429A-825E-AC41DEFF592B}"/>
              </a:ext>
            </a:extLst>
          </p:cNvPr>
          <p:cNvSpPr>
            <a:spLocks xmlns:a="http://schemas.openxmlformats.org/drawingml/2006/main" noGrp="1"/>
          </p:cNvSpPr>
          <p:nvPr/>
        </p:nvSpPr>
        <p:spPr>
          <a:xfrm xmlns:a="http://schemas.openxmlformats.org/drawingml/2006/main">
            <a:off x="1047750" y="2095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E932DCC-E4E9-46D4-95FE-53867E8240D5}"/>
              </a:ext>
            </a:extLst>
          </p:cNvPr>
          <p:cNvSpPr>
            <a:spLocks xmlns:a="http://schemas.openxmlformats.org/drawingml/2006/main" noGrp="1"/>
          </p:cNvSpPr>
          <p:nvPr/>
        </p:nvSpPr>
        <p:spPr>
          <a:xfrm xmlns:a="http://schemas.openxmlformats.org/drawingml/2006/main">
            <a:off x="1047750" y="2095500"/>
            <a:ext cx="197378" cy="209550"/>
          </a:xfrm>
          <a:prstGeom xmlns:a="http://schemas.openxmlformats.org/drawingml/2006/main" prst="roundRect">
            <a:avLst>
              <a:gd name="adj" fmla="val 38606"/>
            </a:avLst>
          </a:prstGeom>
          <a:solidFill xmlns:a="http://schemas.openxmlformats.org/drawingml/2006/main">
            <a:srgbClr val="1C273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9923C5D-3CE0-46FF-B4EC-B251660AA6DE}"/>
              </a:ext>
            </a:extLst>
          </p:cNvPr>
          <p:cNvSpPr>
            <a:spLocks xmlns:a="http://schemas.openxmlformats.org/drawingml/2006/main" noGrp="1"/>
          </p:cNvSpPr>
          <p:nvPr/>
        </p:nvSpPr>
        <p:spPr>
          <a:xfrm xmlns:a="http://schemas.openxmlformats.org/drawingml/2006/main">
            <a:off x="5791200" y="2105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6.8×</a:t>
            </a:r>
          </a:p>
        </p:txBody>
      </p:sp>
      <p:sp>
        <p:nvSpPr>
          <p:cNvPr id="14" name="">
            <a:extLst xmlns:a="http://schemas.openxmlformats.org/drawingml/2006/main">
              <a:ext uri="{FF2B5EF4-FFF2-40B4-BE49-F238E27FC236}">
                <a16:creationId xmlns:a16="http://schemas.microsoft.com/office/drawing/2014/main" id="{7AD2329E-D039-41ED-9937-B2A6A9B076AB}"/>
              </a:ext>
            </a:extLst>
          </p:cNvPr>
          <p:cNvSpPr>
            <a:spLocks xmlns:a="http://schemas.openxmlformats.org/drawingml/2006/main" noGrp="1"/>
          </p:cNvSpPr>
          <p:nvPr/>
        </p:nvSpPr>
        <p:spPr>
          <a:xfrm xmlns:a="http://schemas.openxmlformats.org/drawingml/2006/main">
            <a:off x="609600" y="2419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L11</a:t>
            </a:r>
          </a:p>
        </p:txBody>
      </p:sp>
      <p:sp>
        <p:nvSpPr>
          <p:cNvPr id="15" name="">
            <a:extLst xmlns:a="http://schemas.openxmlformats.org/drawingml/2006/main">
              <a:ext uri="{FF2B5EF4-FFF2-40B4-BE49-F238E27FC236}">
                <a16:creationId xmlns:a16="http://schemas.microsoft.com/office/drawing/2014/main" id="{F04E18D4-48C0-4572-A144-F4C7D54133CC}"/>
              </a:ext>
            </a:extLst>
          </p:cNvPr>
          <p:cNvSpPr>
            <a:spLocks xmlns:a="http://schemas.openxmlformats.org/drawingml/2006/main" noGrp="1"/>
          </p:cNvSpPr>
          <p:nvPr/>
        </p:nvSpPr>
        <p:spPr>
          <a:xfrm xmlns:a="http://schemas.openxmlformats.org/drawingml/2006/main">
            <a:off x="1047750" y="2400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769E8C7-0380-4BE5-8DC5-DE74FE57AE5B}"/>
              </a:ext>
            </a:extLst>
          </p:cNvPr>
          <p:cNvSpPr>
            <a:spLocks xmlns:a="http://schemas.openxmlformats.org/drawingml/2006/main" noGrp="1"/>
          </p:cNvSpPr>
          <p:nvPr/>
        </p:nvSpPr>
        <p:spPr>
          <a:xfrm xmlns:a="http://schemas.openxmlformats.org/drawingml/2006/main">
            <a:off x="1047750" y="2400300"/>
            <a:ext cx="248514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FF01EA0-72A3-4828-913E-DBB7DAA181F3}"/>
              </a:ext>
            </a:extLst>
          </p:cNvPr>
          <p:cNvSpPr>
            <a:spLocks xmlns:a="http://schemas.openxmlformats.org/drawingml/2006/main" noGrp="1"/>
          </p:cNvSpPr>
          <p:nvPr/>
        </p:nvSpPr>
        <p:spPr>
          <a:xfrm xmlns:a="http://schemas.openxmlformats.org/drawingml/2006/main">
            <a:off x="5791200" y="2409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85.1×</a:t>
            </a:r>
          </a:p>
        </p:txBody>
      </p:sp>
      <p:sp>
        <p:nvSpPr>
          <p:cNvPr id="18" name="">
            <a:extLst xmlns:a="http://schemas.openxmlformats.org/drawingml/2006/main">
              <a:ext uri="{FF2B5EF4-FFF2-40B4-BE49-F238E27FC236}">
                <a16:creationId xmlns:a16="http://schemas.microsoft.com/office/drawing/2014/main" id="{25B1FF6E-CAA6-436B-B633-EC186F2029B4}"/>
              </a:ext>
            </a:extLst>
          </p:cNvPr>
          <p:cNvSpPr>
            <a:spLocks xmlns:a="http://schemas.openxmlformats.org/drawingml/2006/main" noGrp="1"/>
          </p:cNvSpPr>
          <p:nvPr/>
        </p:nvSpPr>
        <p:spPr>
          <a:xfrm xmlns:a="http://schemas.openxmlformats.org/drawingml/2006/main">
            <a:off x="609600" y="27241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L15</a:t>
            </a:r>
          </a:p>
        </p:txBody>
      </p:sp>
      <p:sp>
        <p:nvSpPr>
          <p:cNvPr id="19" name="">
            <a:extLst xmlns:a="http://schemas.openxmlformats.org/drawingml/2006/main">
              <a:ext uri="{FF2B5EF4-FFF2-40B4-BE49-F238E27FC236}">
                <a16:creationId xmlns:a16="http://schemas.microsoft.com/office/drawing/2014/main" id="{4956FDD2-DAE0-4E12-A818-B8CE507A1FD4}"/>
              </a:ext>
            </a:extLst>
          </p:cNvPr>
          <p:cNvSpPr>
            <a:spLocks xmlns:a="http://schemas.openxmlformats.org/drawingml/2006/main" noGrp="1"/>
          </p:cNvSpPr>
          <p:nvPr/>
        </p:nvSpPr>
        <p:spPr>
          <a:xfrm xmlns:a="http://schemas.openxmlformats.org/drawingml/2006/main">
            <a:off x="1047750" y="27051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DC3CD099-A6EC-4A4E-BE7A-3D68153D738D}"/>
              </a:ext>
            </a:extLst>
          </p:cNvPr>
          <p:cNvSpPr>
            <a:spLocks xmlns:a="http://schemas.openxmlformats.org/drawingml/2006/main" noGrp="1"/>
          </p:cNvSpPr>
          <p:nvPr/>
        </p:nvSpPr>
        <p:spPr>
          <a:xfrm xmlns:a="http://schemas.openxmlformats.org/drawingml/2006/main">
            <a:off x="1047750" y="2705100"/>
            <a:ext cx="4422660"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FFF4774-578C-4B2D-AB15-3AE0C00FCDFC}"/>
              </a:ext>
            </a:extLst>
          </p:cNvPr>
          <p:cNvSpPr>
            <a:spLocks xmlns:a="http://schemas.openxmlformats.org/drawingml/2006/main" noGrp="1"/>
          </p:cNvSpPr>
          <p:nvPr/>
        </p:nvSpPr>
        <p:spPr>
          <a:xfrm xmlns:a="http://schemas.openxmlformats.org/drawingml/2006/main">
            <a:off x="5791200" y="27146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151.4×</a:t>
            </a:r>
          </a:p>
        </p:txBody>
      </p:sp>
      <p:sp>
        <p:nvSpPr>
          <p:cNvPr id="22" name="">
            <a:extLst xmlns:a="http://schemas.openxmlformats.org/drawingml/2006/main">
              <a:ext uri="{FF2B5EF4-FFF2-40B4-BE49-F238E27FC236}">
                <a16:creationId xmlns:a16="http://schemas.microsoft.com/office/drawing/2014/main" id="{DDF5251B-33EB-4DF0-80D8-56F8BEFF982D}"/>
              </a:ext>
            </a:extLst>
          </p:cNvPr>
          <p:cNvSpPr>
            <a:spLocks xmlns:a="http://schemas.openxmlformats.org/drawingml/2006/main" noGrp="1"/>
          </p:cNvSpPr>
          <p:nvPr/>
        </p:nvSpPr>
        <p:spPr>
          <a:xfrm xmlns:a="http://schemas.openxmlformats.org/drawingml/2006/main">
            <a:off x="609600" y="30289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L19</a:t>
            </a:r>
          </a:p>
        </p:txBody>
      </p:sp>
      <p:sp>
        <p:nvSpPr>
          <p:cNvPr id="23" name="">
            <a:extLst xmlns:a="http://schemas.openxmlformats.org/drawingml/2006/main">
              <a:ext uri="{FF2B5EF4-FFF2-40B4-BE49-F238E27FC236}">
                <a16:creationId xmlns:a16="http://schemas.microsoft.com/office/drawing/2014/main" id="{CE29567C-9584-4BDC-BD67-44A519AD11F1}"/>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539C46-85D2-437E-ACBB-6F278B84D907}"/>
              </a:ext>
            </a:extLst>
          </p:cNvPr>
          <p:cNvSpPr>
            <a:spLocks xmlns:a="http://schemas.openxmlformats.org/drawingml/2006/main" noGrp="1"/>
          </p:cNvSpPr>
          <p:nvPr/>
        </p:nvSpPr>
        <p:spPr>
          <a:xfrm xmlns:a="http://schemas.openxmlformats.org/drawingml/2006/main">
            <a:off x="1047750" y="3009900"/>
            <a:ext cx="4629150" cy="209550"/>
          </a:xfrm>
          <a:prstGeom xmlns:a="http://schemas.openxmlformats.org/drawingml/2006/main" prst="roundRect">
            <a:avLst>
              <a:gd name="adj" fmla="val 36364"/>
            </a:avLst>
          </a:prstGeom>
          <a:solidFill xmlns:a="http://schemas.openxmlformats.org/drawingml/2006/main">
            <a:srgbClr val="F05A3C"/>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91A0D2D-4C3F-4BBC-89F7-F3809874B457}"/>
              </a:ext>
            </a:extLst>
          </p:cNvPr>
          <p:cNvSpPr>
            <a:spLocks xmlns:a="http://schemas.openxmlformats.org/drawingml/2006/main" noGrp="1"/>
          </p:cNvSpPr>
          <p:nvPr/>
        </p:nvSpPr>
        <p:spPr>
          <a:xfrm xmlns:a="http://schemas.openxmlformats.org/drawingml/2006/main">
            <a:off x="5791200" y="30194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F05A3C"/>
                </a:solidFill>
                <a:latin typeface="Helvetica Neue"/>
                <a:ea typeface="Helvetica Neue"/>
                <a:cs typeface="Helvetica Neue"/>
              </a:defRPr>
            </a:pPr>
            <a:r>
              <a:rPr sz="900" b="1">
                <a:solidFill>
                  <a:srgbClr val="F05A3C"/>
                </a:solidFill>
                <a:latin typeface="Helvetica Neue"/>
                <a:ea typeface="Helvetica Neue"/>
                <a:cs typeface="Helvetica Neue"/>
              </a:rPr>
              <a:t>158.4×</a:t>
            </a:r>
          </a:p>
        </p:txBody>
      </p:sp>
      <p:sp>
        <p:nvSpPr>
          <p:cNvPr id="26" name="">
            <a:extLst xmlns:a="http://schemas.openxmlformats.org/drawingml/2006/main">
              <a:ext uri="{FF2B5EF4-FFF2-40B4-BE49-F238E27FC236}">
                <a16:creationId xmlns:a16="http://schemas.microsoft.com/office/drawing/2014/main" id="{F856F46C-8467-4822-8793-C2F0B801BDE4}"/>
              </a:ext>
            </a:extLst>
          </p:cNvPr>
          <p:cNvSpPr>
            <a:spLocks xmlns:a="http://schemas.openxmlformats.org/drawingml/2006/main" noGrp="1"/>
          </p:cNvSpPr>
          <p:nvPr/>
        </p:nvSpPr>
        <p:spPr>
          <a:xfrm xmlns:a="http://schemas.openxmlformats.org/drawingml/2006/main">
            <a:off x="609600" y="33337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L23</a:t>
            </a:r>
          </a:p>
        </p:txBody>
      </p:sp>
      <p:sp>
        <p:nvSpPr>
          <p:cNvPr id="27" name="">
            <a:extLst xmlns:a="http://schemas.openxmlformats.org/drawingml/2006/main">
              <a:ext uri="{FF2B5EF4-FFF2-40B4-BE49-F238E27FC236}">
                <a16:creationId xmlns:a16="http://schemas.microsoft.com/office/drawing/2014/main" id="{069F2EE6-3C06-4E46-A0DF-B42E062407FB}"/>
              </a:ext>
            </a:extLst>
          </p:cNvPr>
          <p:cNvSpPr>
            <a:spLocks xmlns:a="http://schemas.openxmlformats.org/drawingml/2006/main" noGrp="1"/>
          </p:cNvSpPr>
          <p:nvPr/>
        </p:nvSpPr>
        <p:spPr>
          <a:xfrm xmlns:a="http://schemas.openxmlformats.org/drawingml/2006/main">
            <a:off x="1047750" y="33147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515BADC-680E-4C6B-ABB9-99F5B8CAA312}"/>
              </a:ext>
            </a:extLst>
          </p:cNvPr>
          <p:cNvSpPr>
            <a:spLocks xmlns:a="http://schemas.openxmlformats.org/drawingml/2006/main" noGrp="1"/>
          </p:cNvSpPr>
          <p:nvPr/>
        </p:nvSpPr>
        <p:spPr>
          <a:xfrm xmlns:a="http://schemas.openxmlformats.org/drawingml/2006/main">
            <a:off x="1047750" y="3314700"/>
            <a:ext cx="3651576"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13D6F08-6EE7-4C74-9B76-16D3A69251DD}"/>
              </a:ext>
            </a:extLst>
          </p:cNvPr>
          <p:cNvSpPr>
            <a:spLocks xmlns:a="http://schemas.openxmlformats.org/drawingml/2006/main" noGrp="1"/>
          </p:cNvSpPr>
          <p:nvPr/>
        </p:nvSpPr>
        <p:spPr>
          <a:xfrm xmlns:a="http://schemas.openxmlformats.org/drawingml/2006/main">
            <a:off x="5791200" y="33242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125.0×</a:t>
            </a:r>
          </a:p>
        </p:txBody>
      </p:sp>
      <p:sp>
        <p:nvSpPr>
          <p:cNvPr id="30" name="">
            <a:extLst xmlns:a="http://schemas.openxmlformats.org/drawingml/2006/main">
              <a:ext uri="{FF2B5EF4-FFF2-40B4-BE49-F238E27FC236}">
                <a16:creationId xmlns:a16="http://schemas.microsoft.com/office/drawing/2014/main" id="{8A2FCDCD-BA6A-48F0-AD80-C05FFE99F19B}"/>
              </a:ext>
            </a:extLst>
          </p:cNvPr>
          <p:cNvSpPr>
            <a:spLocks xmlns:a="http://schemas.openxmlformats.org/drawingml/2006/main" noGrp="1"/>
          </p:cNvSpPr>
          <p:nvPr/>
        </p:nvSpPr>
        <p:spPr>
          <a:xfrm xmlns:a="http://schemas.openxmlformats.org/drawingml/2006/main">
            <a:off x="609600" y="36385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L27</a:t>
            </a:r>
          </a:p>
        </p:txBody>
      </p:sp>
      <p:sp>
        <p:nvSpPr>
          <p:cNvPr id="31" name="">
            <a:extLst xmlns:a="http://schemas.openxmlformats.org/drawingml/2006/main">
              <a:ext uri="{FF2B5EF4-FFF2-40B4-BE49-F238E27FC236}">
                <a16:creationId xmlns:a16="http://schemas.microsoft.com/office/drawing/2014/main" id="{A02E5AAA-9642-4C00-8E88-6720A59039A1}"/>
              </a:ext>
            </a:extLst>
          </p:cNvPr>
          <p:cNvSpPr>
            <a:spLocks xmlns:a="http://schemas.openxmlformats.org/drawingml/2006/main" noGrp="1"/>
          </p:cNvSpPr>
          <p:nvPr/>
        </p:nvSpPr>
        <p:spPr>
          <a:xfrm xmlns:a="http://schemas.openxmlformats.org/drawingml/2006/main">
            <a:off x="1047750" y="36195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95DDB856-DF55-4FC9-8F69-52C1DB1FE2E4}"/>
              </a:ext>
            </a:extLst>
          </p:cNvPr>
          <p:cNvSpPr>
            <a:spLocks xmlns:a="http://schemas.openxmlformats.org/drawingml/2006/main" noGrp="1"/>
          </p:cNvSpPr>
          <p:nvPr/>
        </p:nvSpPr>
        <p:spPr>
          <a:xfrm xmlns:a="http://schemas.openxmlformats.org/drawingml/2006/main">
            <a:off x="1047750" y="3619500"/>
            <a:ext cx="2765029"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8859505E-A4C4-4A05-B109-71AE68DECDEE}"/>
              </a:ext>
            </a:extLst>
          </p:cNvPr>
          <p:cNvSpPr>
            <a:spLocks xmlns:a="http://schemas.openxmlformats.org/drawingml/2006/main" noGrp="1"/>
          </p:cNvSpPr>
          <p:nvPr/>
        </p:nvSpPr>
        <p:spPr>
          <a:xfrm xmlns:a="http://schemas.openxmlformats.org/drawingml/2006/main">
            <a:off x="5791200" y="36290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94.6×</a:t>
            </a:r>
          </a:p>
        </p:txBody>
      </p:sp>
      <p:sp>
        <p:nvSpPr>
          <p:cNvPr id="34" name="">
            <a:extLst xmlns:a="http://schemas.openxmlformats.org/drawingml/2006/main">
              <a:ext uri="{FF2B5EF4-FFF2-40B4-BE49-F238E27FC236}">
                <a16:creationId xmlns:a16="http://schemas.microsoft.com/office/drawing/2014/main" id="{33901C78-355D-4C3B-B461-59DEA992F5DC}"/>
              </a:ext>
            </a:extLst>
          </p:cNvPr>
          <p:cNvSpPr>
            <a:spLocks xmlns:a="http://schemas.openxmlformats.org/drawingml/2006/main" noGrp="1"/>
          </p:cNvSpPr>
          <p:nvPr/>
        </p:nvSpPr>
        <p:spPr>
          <a:xfrm xmlns:a="http://schemas.openxmlformats.org/drawingml/2006/main">
            <a:off x="609600" y="3943350"/>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L31</a:t>
            </a:r>
          </a:p>
        </p:txBody>
      </p:sp>
      <p:sp>
        <p:nvSpPr>
          <p:cNvPr id="35" name="">
            <a:extLst xmlns:a="http://schemas.openxmlformats.org/drawingml/2006/main">
              <a:ext uri="{FF2B5EF4-FFF2-40B4-BE49-F238E27FC236}">
                <a16:creationId xmlns:a16="http://schemas.microsoft.com/office/drawing/2014/main" id="{24C6C1E0-290E-4559-9866-E3CC513C7B37}"/>
              </a:ext>
            </a:extLst>
          </p:cNvPr>
          <p:cNvSpPr>
            <a:spLocks xmlns:a="http://schemas.openxmlformats.org/drawingml/2006/main" noGrp="1"/>
          </p:cNvSpPr>
          <p:nvPr/>
        </p:nvSpPr>
        <p:spPr>
          <a:xfrm xmlns:a="http://schemas.openxmlformats.org/drawingml/2006/main">
            <a:off x="1047750" y="3924300"/>
            <a:ext cx="4629150" cy="209550"/>
          </a:xfrm>
          <a:prstGeom xmlns:a="http://schemas.openxmlformats.org/drawingml/2006/main" prst="roundRect">
            <a:avLst>
              <a:gd name="adj" fmla="val 36364"/>
            </a:avLst>
          </a:prstGeom>
          <a:solidFill xmlns:a="http://schemas.openxmlformats.org/drawingml/2006/main">
            <a:srgbClr val="E6E1D7"/>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40E23D04-EE5F-4640-A78B-DEA13B4A0EA6}"/>
              </a:ext>
            </a:extLst>
          </p:cNvPr>
          <p:cNvSpPr>
            <a:spLocks xmlns:a="http://schemas.openxmlformats.org/drawingml/2006/main" noGrp="1"/>
          </p:cNvSpPr>
          <p:nvPr/>
        </p:nvSpPr>
        <p:spPr>
          <a:xfrm xmlns:a="http://schemas.openxmlformats.org/drawingml/2006/main">
            <a:off x="1047750" y="3924300"/>
            <a:ext cx="1957754" cy="209550"/>
          </a:xfrm>
          <a:prstGeom xmlns:a="http://schemas.openxmlformats.org/drawingml/2006/main" prst="roundRect">
            <a:avLst>
              <a:gd name="adj" fmla="val 36364"/>
            </a:avLst>
          </a:prstGeom>
          <a:solidFill xmlns:a="http://schemas.openxmlformats.org/drawingml/2006/main">
            <a:srgbClr val="1C2733"/>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BF2F5DBC-10A6-4809-9A8E-D67C91569613}"/>
              </a:ext>
            </a:extLst>
          </p:cNvPr>
          <p:cNvSpPr>
            <a:spLocks xmlns:a="http://schemas.openxmlformats.org/drawingml/2006/main" noGrp="1"/>
          </p:cNvSpPr>
          <p:nvPr/>
        </p:nvSpPr>
        <p:spPr>
          <a:xfrm xmlns:a="http://schemas.openxmlformats.org/drawingml/2006/main">
            <a:off x="5791200" y="3933825"/>
            <a:ext cx="666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1">
                <a:solidFill>
                  <a:srgbClr val="10151C"/>
                </a:solidFill>
                <a:latin typeface="Helvetica Neue"/>
                <a:ea typeface="Helvetica Neue"/>
                <a:cs typeface="Helvetica Neue"/>
              </a:defRPr>
            </a:pPr>
            <a:r>
              <a:rPr sz="900" b="1">
                <a:solidFill>
                  <a:srgbClr val="10151C"/>
                </a:solidFill>
                <a:latin typeface="Helvetica Neue"/>
                <a:ea typeface="Helvetica Neue"/>
                <a:cs typeface="Helvetica Neue"/>
              </a:rPr>
              <a:t>67.0×</a:t>
            </a:r>
          </a:p>
        </p:txBody>
      </p:sp>
      <p:sp>
        <p:nvSpPr>
          <p:cNvPr id="38" name="">
            <a:extLst xmlns:a="http://schemas.openxmlformats.org/drawingml/2006/main">
              <a:ext uri="{FF2B5EF4-FFF2-40B4-BE49-F238E27FC236}">
                <a16:creationId xmlns:a16="http://schemas.microsoft.com/office/drawing/2014/main" id="{0586A8C7-C9A3-4C8B-96DF-5E905FFA53C6}"/>
              </a:ext>
            </a:extLst>
          </p:cNvPr>
          <p:cNvSpPr>
            <a:spLocks xmlns:a="http://schemas.openxmlformats.org/drawingml/2006/main" noGrp="1"/>
          </p:cNvSpPr>
          <p:nvPr/>
        </p:nvSpPr>
        <p:spPr>
          <a:xfrm xmlns:a="http://schemas.openxmlformats.org/drawingml/2006/main">
            <a:off x="6800850" y="1485900"/>
            <a:ext cx="4781550" cy="2724150"/>
          </a:xfrm>
          <a:prstGeom xmlns:a="http://schemas.openxmlformats.org/drawingml/2006/main" prst="roundRect">
            <a:avLst>
              <a:gd name="adj" fmla="val 2797"/>
            </a:avLst>
          </a:prstGeom>
          <a:solidFill xmlns:a="http://schemas.openxmlformats.org/drawingml/2006/main">
            <a:srgbClr val="1C2733"/>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59149191-7C97-466D-8606-585388DCAED8}"/>
              </a:ext>
            </a:extLst>
          </p:cNvPr>
          <p:cNvSpPr>
            <a:spLocks xmlns:a="http://schemas.openxmlformats.org/drawingml/2006/main" noGrp="1"/>
          </p:cNvSpPr>
          <p:nvPr/>
        </p:nvSpPr>
        <p:spPr>
          <a:xfrm xmlns:a="http://schemas.openxmlformats.org/drawingml/2006/main">
            <a:off x="7048500" y="1695450"/>
            <a:ext cx="2095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WHAT REPLICATED</a:t>
            </a:r>
          </a:p>
        </p:txBody>
      </p:sp>
      <p:sp>
        <p:nvSpPr>
          <p:cNvPr id="40" name="">
            <a:extLst xmlns:a="http://schemas.openxmlformats.org/drawingml/2006/main">
              <a:ext uri="{FF2B5EF4-FFF2-40B4-BE49-F238E27FC236}">
                <a16:creationId xmlns:a16="http://schemas.microsoft.com/office/drawing/2014/main" id="{2516E9E9-88F1-44CE-824D-E86CC4CD38E8}"/>
              </a:ext>
            </a:extLst>
          </p:cNvPr>
          <p:cNvSpPr>
            <a:spLocks xmlns:a="http://schemas.openxmlformats.org/drawingml/2006/main" noGrp="1"/>
          </p:cNvSpPr>
          <p:nvPr/>
        </p:nvSpPr>
        <p:spPr>
          <a:xfrm xmlns:a="http://schemas.openxmlformats.org/drawingml/2006/main">
            <a:off x="7048500" y="1971675"/>
            <a:ext cx="276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L19 ranks #1 of 8</a:t>
            </a:r>
          </a:p>
        </p:txBody>
      </p:sp>
      <p:sp>
        <p:nvSpPr>
          <p:cNvPr id="41" name="">
            <a:extLst xmlns:a="http://schemas.openxmlformats.org/drawingml/2006/main">
              <a:ext uri="{FF2B5EF4-FFF2-40B4-BE49-F238E27FC236}">
                <a16:creationId xmlns:a16="http://schemas.microsoft.com/office/drawing/2014/main" id="{549F208A-169B-40F1-AB43-3979C74AD955}"/>
              </a:ext>
            </a:extLst>
          </p:cNvPr>
          <p:cNvSpPr>
            <a:spLocks xmlns:a="http://schemas.openxmlformats.org/drawingml/2006/main" noGrp="1"/>
          </p:cNvSpPr>
          <p:nvPr/>
        </p:nvSpPr>
        <p:spPr>
          <a:xfrm xmlns:a="http://schemas.openxmlformats.org/drawingml/2006/main">
            <a:off x="7048500" y="23336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158.4× mean vs 151.4× at L15</a:t>
            </a:r>
          </a:p>
        </p:txBody>
      </p:sp>
      <p:sp>
        <p:nvSpPr>
          <p:cNvPr id="42" name="">
            <a:extLst xmlns:a="http://schemas.openxmlformats.org/drawingml/2006/main">
              <a:ext uri="{FF2B5EF4-FFF2-40B4-BE49-F238E27FC236}">
                <a16:creationId xmlns:a16="http://schemas.microsoft.com/office/drawing/2014/main" id="{3418D285-2567-4370-BE00-A7D4BF410390}"/>
              </a:ext>
            </a:extLst>
          </p:cNvPr>
          <p:cNvSpPr>
            <a:spLocks xmlns:a="http://schemas.openxmlformats.org/drawingml/2006/main" noGrp="1"/>
          </p:cNvSpPr>
          <p:nvPr/>
        </p:nvSpPr>
        <p:spPr>
          <a:xfrm xmlns:a="http://schemas.openxmlformats.org/drawingml/2006/main">
            <a:off x="7048500" y="2543175"/>
            <a:ext cx="4095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L15 and L19 are both full-attention layers.</a:t>
            </a:r>
          </a:p>
        </p:txBody>
      </p:sp>
      <p:sp>
        <p:nvSpPr>
          <p:cNvPr id="43" name="">
            <a:extLst xmlns:a="http://schemas.openxmlformats.org/drawingml/2006/main">
              <a:ext uri="{FF2B5EF4-FFF2-40B4-BE49-F238E27FC236}">
                <a16:creationId xmlns:a16="http://schemas.microsoft.com/office/drawing/2014/main" id="{846FF2B1-38A3-4EBC-8F5B-A781685A4229}"/>
              </a:ext>
            </a:extLst>
          </p:cNvPr>
          <p:cNvSpPr>
            <a:spLocks xmlns:a="http://schemas.openxmlformats.org/drawingml/2006/main" noGrp="1"/>
          </p:cNvSpPr>
          <p:nvPr/>
        </p:nvSpPr>
        <p:spPr>
          <a:xfrm xmlns:a="http://schemas.openxmlformats.org/drawingml/2006/main">
            <a:off x="7048500" y="2800350"/>
            <a:ext cx="428625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E36F3EC1-B3CE-4998-925B-F11E4DAD8514}"/>
              </a:ext>
            </a:extLst>
          </p:cNvPr>
          <p:cNvSpPr>
            <a:spLocks xmlns:a="http://schemas.openxmlformats.org/drawingml/2006/main" noGrp="1"/>
          </p:cNvSpPr>
          <p:nvPr/>
        </p:nvSpPr>
        <p:spPr>
          <a:xfrm xmlns:a="http://schemas.openxmlformats.org/drawingml/2006/main">
            <a:off x="7048500" y="29241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E5B249"/>
                </a:solidFill>
                <a:latin typeface="Helvetica Neue"/>
                <a:ea typeface="Helvetica Neue"/>
                <a:cs typeface="Helvetica Neue"/>
              </a:defRPr>
            </a:pPr>
            <a:r>
              <a:rPr sz="825" b="1">
                <a:solidFill>
                  <a:srgbClr val="E5B249"/>
                </a:solidFill>
                <a:latin typeface="Helvetica Neue"/>
                <a:ea typeface="Helvetica Neue"/>
                <a:cs typeface="Helvetica Neue"/>
              </a:rPr>
              <a:t>TOP HEADS FORM AN L19 CLUSTER</a:t>
            </a:r>
          </a:p>
        </p:txBody>
      </p:sp>
      <p:sp>
        <p:nvSpPr>
          <p:cNvPr id="45" name="">
            <a:extLst xmlns:a="http://schemas.openxmlformats.org/drawingml/2006/main">
              <a:ext uri="{FF2B5EF4-FFF2-40B4-BE49-F238E27FC236}">
                <a16:creationId xmlns:a16="http://schemas.microsoft.com/office/drawing/2014/main" id="{7FEDE211-D6FC-405C-8B25-EA851D1A864F}"/>
              </a:ext>
            </a:extLst>
          </p:cNvPr>
          <p:cNvSpPr>
            <a:spLocks xmlns:a="http://schemas.openxmlformats.org/drawingml/2006/main" noGrp="1"/>
          </p:cNvSpPr>
          <p:nvPr/>
        </p:nvSpPr>
        <p:spPr>
          <a:xfrm xmlns:a="http://schemas.openxmlformats.org/drawingml/2006/main">
            <a:off x="7048500" y="3171825"/>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H11 312.1×   H14 293.8×</a:t>
            </a:r>
          </a:p>
        </p:txBody>
      </p:sp>
      <p:sp>
        <p:nvSpPr>
          <p:cNvPr id="46" name="">
            <a:extLst xmlns:a="http://schemas.openxmlformats.org/drawingml/2006/main">
              <a:ext uri="{FF2B5EF4-FFF2-40B4-BE49-F238E27FC236}">
                <a16:creationId xmlns:a16="http://schemas.microsoft.com/office/drawing/2014/main" id="{776BEB16-86DA-4729-9C52-9AD6E7E45EBB}"/>
              </a:ext>
            </a:extLst>
          </p:cNvPr>
          <p:cNvSpPr>
            <a:spLocks xmlns:a="http://schemas.openxmlformats.org/drawingml/2006/main" noGrp="1"/>
          </p:cNvSpPr>
          <p:nvPr/>
        </p:nvSpPr>
        <p:spPr>
          <a:xfrm xmlns:a="http://schemas.openxmlformats.org/drawingml/2006/main">
            <a:off x="7048500" y="34480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H10 264.7×   H2 245.6×</a:t>
            </a:r>
          </a:p>
        </p:txBody>
      </p:sp>
      <p:sp>
        <p:nvSpPr>
          <p:cNvPr id="47" name="">
            <a:extLst xmlns:a="http://schemas.openxmlformats.org/drawingml/2006/main">
              <a:ext uri="{FF2B5EF4-FFF2-40B4-BE49-F238E27FC236}">
                <a16:creationId xmlns:a16="http://schemas.microsoft.com/office/drawing/2014/main" id="{975F0824-8FA8-41F4-B21C-A4FDEEE1C020}"/>
              </a:ext>
            </a:extLst>
          </p:cNvPr>
          <p:cNvSpPr>
            <a:spLocks xmlns:a="http://schemas.openxmlformats.org/drawingml/2006/main" noGrp="1"/>
          </p:cNvSpPr>
          <p:nvPr/>
        </p:nvSpPr>
        <p:spPr>
          <a:xfrm xmlns:a="http://schemas.openxmlformats.org/drawingml/2006/main">
            <a:off x="7048500" y="37814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C4CED7"/>
                </a:solidFill>
                <a:latin typeface="Helvetica Neue"/>
                <a:ea typeface="Helvetica Neue"/>
                <a:cs typeface="Helvetica Neue"/>
              </a:defRPr>
            </a:pPr>
            <a:r>
              <a:rPr sz="900" b="0">
                <a:solidFill>
                  <a:srgbClr val="C4CED7"/>
                </a:solidFill>
                <a:latin typeface="Helvetica Neue"/>
                <a:ea typeface="Helvetica Neue"/>
                <a:cs typeface="Helvetica Neue"/>
              </a:rPr>
              <a:t>H10 ranks #3 among 16 heads within L19 and never ranks first on an individual item.</a:t>
            </a:r>
          </a:p>
        </p:txBody>
      </p:sp>
      <p:graphicFrame>
        <p:nvGraphicFramePr>
          <p:cNvPr id="98" name=""/>
          <p:cNvGraphicFramePr/>
          <p:nvPr/>
        </p:nvGraphicFramePr>
        <p:xfrm>
          <a:off xmlns:a="http://schemas.openxmlformats.org/drawingml/2006/main" x="609600" y="4457700"/>
          <a:ext xmlns:a="http://schemas.openxmlformats.org/drawingml/2006/main" cx="10972800" cy="1352550"/>
        </p:xfrm>
        <a:graphic xmlns:a="http://schemas.openxmlformats.org/drawingml/2006/main">
          <a:graphicData uri="http://schemas.openxmlformats.org/drawingml/2006/table">
            <a:tbl>
              <a:tblPr/>
              <a:tblGrid>
                <a:gridCol w="2705100"/>
                <a:gridCol w="1238250"/>
                <a:gridCol w="1714500"/>
                <a:gridCol w="1619250"/>
                <a:gridCol w="1809750"/>
                <a:gridCol w="1885950"/>
              </a:tblGrid>
              <a:tr h="270510">
                <a:tc>
                  <a:txBody>
                    <a:bodyPr>
                      <a:normAutofit/>
                    </a:bodyPr>
                    <a:lstStyle/>
                    <a:p>
                      <a:pPr algn="l"/>
                      <a:r>
                        <a:rPr sz="750" b="1">
                          <a:solidFill>
                            <a:srgbClr val="FFFFFF"/>
                          </a:solidFill>
                          <a:latin typeface="Helvetica Neue"/>
                          <a:ea typeface="Helvetica Neue"/>
                          <a:cs typeface="Helvetica Neue"/>
                        </a:rPr>
                        <a:t>ITEM</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OUTCOME</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LIFT</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 RANK</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L19/H10</a:t>
                      </a:r>
                    </a:p>
                  </a:txBody>
                  <a:tcPr marL="76200" marR="76200" marT="19050" marB="19050" anchor="ctr">
                    <a:solidFill>
                      <a:srgbClr val="1C2733"/>
                    </a:solidFill>
                  </a:tcPr>
                </a:tc>
                <a:tc>
                  <a:txBody>
                    <a:bodyPr>
                      <a:normAutofit/>
                    </a:bodyPr>
                    <a:lstStyle/>
                    <a:p>
                      <a:pPr algn="ctr"/>
                      <a:r>
                        <a:rPr sz="750" b="1">
                          <a:solidFill>
                            <a:srgbClr val="FFFFFF"/>
                          </a:solidFill>
                          <a:latin typeface="Helvetica Neue"/>
                          <a:ea typeface="Helvetica Neue"/>
                          <a:cs typeface="Helvetica Neue"/>
                        </a:rPr>
                        <a:t>H10 RANK</a:t>
                      </a:r>
                    </a:p>
                  </a:txBody>
                  <a:tcPr marL="76200" marR="76200" marT="19050" marB="19050" anchor="ctr">
                    <a:solidFill>
                      <a:srgbClr val="1C2733"/>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373.0×</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661.1×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PowerPoint text</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2.2×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#5</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1.4×</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#7</a:t>
                      </a:r>
                    </a:p>
                  </a:txBody>
                  <a:tcPr marL="76200" marR="76200" marT="19050" marB="19050" anchor="ctr">
                    <a:solidFill>
                      <a:srgbClr val="ECE7DD"/>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FFFFFF"/>
                    </a:solidFill>
                  </a:tcPr>
                </a:tc>
                <a:tc>
                  <a:txBody>
                    <a:bodyPr>
                      <a:normAutofit/>
                    </a:bodyPr>
                    <a:lstStyle/>
                    <a:p>
                      <a:pPr algn="ctr"/>
                      <a:r>
                        <a:rPr sz="900" b="1">
                          <a:solidFill>
                            <a:srgbClr val="10151C"/>
                          </a:solidFill>
                          <a:latin typeface="Helvetica Neue"/>
                          <a:ea typeface="Helvetica Neue"/>
                          <a:cs typeface="Helvetica Neue"/>
                        </a:rPr>
                        <a:t>HIT</a:t>
                      </a:r>
                    </a:p>
                  </a:txBody>
                  <a:tcPr marL="76200" marR="76200" marT="19050" marB="19050" anchor="ctr">
                    <a:solidFill>
                      <a:srgbClr val="DCEFE7"/>
                    </a:solidFill>
                  </a:tcPr>
                </a:tc>
                <a:tc>
                  <a:txBody>
                    <a:bodyPr>
                      <a:normAutofit/>
                    </a:bodyPr>
                    <a:lstStyle/>
                    <a:p>
                      <a:pPr algn="ctr"/>
                      <a:r>
                        <a:rPr sz="900" b="0">
                          <a:solidFill>
                            <a:srgbClr val="10151C"/>
                          </a:solidFill>
                          <a:latin typeface="Helvetica Neue"/>
                          <a:ea typeface="Helvetica Neue"/>
                          <a:cs typeface="Helvetica Neue"/>
                        </a:rPr>
                        <a:t>214.3×</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353.2×</a:t>
                      </a:r>
                    </a:p>
                  </a:txBody>
                  <a:tcPr marL="76200" marR="76200" marT="19050" marB="19050" anchor="ctr">
                    <a:solidFill>
                      <a:srgbClr val="FFFFFF"/>
                    </a:solidFill>
                  </a:tcPr>
                </a:tc>
                <a:tc>
                  <a:txBody>
                    <a:bodyPr>
                      <a:normAutofit/>
                    </a:bodyPr>
                    <a:lstStyle/>
                    <a:p>
                      <a:pPr algn="ctr"/>
                      <a:r>
                        <a:rPr sz="900" b="0">
                          <a:solidFill>
                            <a:srgbClr val="10151C"/>
                          </a:solidFill>
                          <a:latin typeface="Helvetica Neue"/>
                          <a:ea typeface="Helvetica Neue"/>
                          <a:cs typeface="Helvetica Neue"/>
                        </a:rPr>
                        <a:t>#3</a:t>
                      </a:r>
                    </a:p>
                  </a:txBody>
                  <a:tcPr marL="76200" marR="76200" marT="19050" marB="19050" anchor="ctr">
                    <a:solidFill>
                      <a:srgbClr val="FFFFFF"/>
                    </a:solidFill>
                  </a:tcPr>
                </a:tc>
              </a:tr>
              <a:tr h="270510">
                <a:tc>
                  <a:txBody>
                    <a:bodyPr>
                      <a:normAutofit/>
                    </a:bodyPr>
                    <a:lstStyle/>
                    <a:p>
                      <a:pPr algn="l"/>
                      <a:r>
                        <a:rPr sz="900" b="0">
                          <a:solidFill>
                            <a:srgbClr val="10151C"/>
                          </a:solidFill>
                          <a:latin typeface="Helvetica Neue"/>
                          <a:ea typeface="Helvetica Neue"/>
                          <a:cs typeface="Helvetica Neue"/>
                        </a:rPr>
                        <a:t>Windows icon</a:t>
                      </a:r>
                    </a:p>
                  </a:txBody>
                  <a:tcPr marL="76200" marR="76200" marT="19050" marB="19050" anchor="ctr">
                    <a:solidFill>
                      <a:srgbClr val="ECE7DD"/>
                    </a:solidFill>
                  </a:tcPr>
                </a:tc>
                <a:tc>
                  <a:txBody>
                    <a:bodyPr>
                      <a:normAutofit/>
                    </a:bodyPr>
                    <a:lstStyle/>
                    <a:p>
                      <a:pPr algn="ctr"/>
                      <a:r>
                        <a:rPr sz="900" b="1">
                          <a:solidFill>
                            <a:srgbClr val="10151C"/>
                          </a:solidFill>
                          <a:latin typeface="Helvetica Neue"/>
                          <a:ea typeface="Helvetica Neue"/>
                          <a:cs typeface="Helvetica Neue"/>
                        </a:rPr>
                        <a:t>MISS</a:t>
                      </a:r>
                    </a:p>
                  </a:txBody>
                  <a:tcPr marL="76200" marR="76200" marT="19050" marB="19050" anchor="ctr">
                    <a:solidFill>
                      <a:srgbClr val="FCE2D9"/>
                    </a:solidFill>
                  </a:tcPr>
                </a:tc>
                <a:tc>
                  <a:txBody>
                    <a:bodyPr>
                      <a:normAutofit/>
                    </a:bodyPr>
                    <a:lstStyle/>
                    <a:p>
                      <a:pPr algn="ctr"/>
                      <a:r>
                        <a:rPr sz="900" b="0">
                          <a:solidFill>
                            <a:srgbClr val="10151C"/>
                          </a:solidFill>
                          <a:latin typeface="Helvetica Neue"/>
                          <a:ea typeface="Helvetica Neue"/>
                          <a:cs typeface="Helvetica Neue"/>
                        </a:rPr>
                        <a:t>44.3×</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#1</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43.2×</a:t>
                      </a:r>
                    </a:p>
                  </a:txBody>
                  <a:tcPr marL="76200" marR="76200" marT="19050" marB="19050" anchor="ctr">
                    <a:solidFill>
                      <a:srgbClr val="ECE7DD"/>
                    </a:solidFill>
                  </a:tcPr>
                </a:tc>
                <a:tc>
                  <a:txBody>
                    <a:bodyPr>
                      <a:normAutofit/>
                    </a:bodyPr>
                    <a:lstStyle/>
                    <a:p>
                      <a:pPr algn="ctr"/>
                      <a:r>
                        <a:rPr sz="900" b="0">
                          <a:solidFill>
                            <a:srgbClr val="10151C"/>
                          </a:solidFill>
                          <a:latin typeface="Helvetica Neue"/>
                          <a:ea typeface="Helvetica Neue"/>
                          <a:cs typeface="Helvetica Neue"/>
                        </a:rPr>
                        <a:t>#6</a:t>
                      </a:r>
                    </a:p>
                  </a:txBody>
                  <a:tcPr marL="76200" marR="76200" marT="19050" marB="19050" anchor="ctr">
                    <a:solidFill>
                      <a:srgbClr val="ECE7DD"/>
                    </a:solidFill>
                  </a:tcPr>
                </a:tc>
              </a:tr>
            </a:tbl>
          </a:graphicData>
        </a:graphic>
      </p:graphicFrame>
      <p:sp>
        <p:nvSpPr>
          <p:cNvPr id="49" name="">
            <a:extLst xmlns:a="http://schemas.openxmlformats.org/drawingml/2006/main">
              <a:ext uri="{FF2B5EF4-FFF2-40B4-BE49-F238E27FC236}">
                <a16:creationId xmlns:a16="http://schemas.microsoft.com/office/drawing/2014/main" id="{8EEC549C-51AE-4839-9272-978927310876}"/>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68C6E6B9-7582-40D3-9058-5DFC0FB0A986}"/>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Captured full-attention layers: L3, L7, L11, L15, L19, L23, L27, L31. Intervening Gated DeltaNet layers are outside this rollout.</a:t>
            </a:r>
          </a:p>
        </p:txBody>
      </p:sp>
    </p:spTree>
    <p:extLst>
      <p:ext uri="{BB962C8B-B14F-4D97-AF65-F5344CB8AC3E}">
        <p14:creationId xmlns:p14="http://schemas.microsoft.com/office/powerpoint/2010/main" val="2144386971"/>
      </p:ext>
    </p:extLst>
  </p:cSld>
</p:sld>
</file>

<file path=ppt/slides/slide10.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F6DC02B2-DF24-4821-8AD3-EFEC223E738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681D5D3B-5913-4F8F-879A-84ECA3BD5487}"/>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651"/>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Matched tile swap reverses the teacher-forced coordinate margin</a:t>
            </a:r>
          </a:p>
        </p:txBody>
      </p:sp>
      <p:sp>
        <p:nvSpPr>
          <p:cNvPr id="3" name="">
            <a:extLst xmlns:a="http://schemas.openxmlformats.org/drawingml/2006/main">
              <a:ext uri="{FF2B5EF4-FFF2-40B4-BE49-F238E27FC236}">
                <a16:creationId xmlns:a16="http://schemas.microsoft.com/office/drawing/2014/main" id="{231DC34E-9173-490E-83D3-AC97BF9204CC}"/>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9E5F320D-7B15-4168-9F03-E16390A434AE}"/>
              </a:ext>
            </a:extLst>
          </p:cNvPr>
          <p:cNvSpPr>
            <a:spLocks xmlns:a="http://schemas.openxmlformats.org/drawingml/2006/main" noGrp="1"/>
          </p:cNvSpPr>
          <p:nvPr/>
        </p:nvSpPr>
        <p:spPr>
          <a:xfrm xmlns:a="http://schemas.openxmlformats.org/drawingml/2006/main">
            <a:off x="609600" y="1143000"/>
            <a:ext cx="781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66717D"/>
                </a:solidFill>
                <a:latin typeface="Helvetica Neue"/>
                <a:ea typeface="Helvetica Neue"/>
                <a:cs typeface="Helvetica Neue"/>
              </a:defRPr>
            </a:pPr>
            <a:r>
              <a:rPr sz="1275" b="1">
                <a:solidFill>
                  <a:srgbClr val="66717D"/>
                </a:solidFill>
                <a:latin typeface="Helvetica Neue"/>
                <a:ea typeface="Helvetica Neue"/>
                <a:cs typeface="Helvetica Neue"/>
              </a:rPr>
              <a:t>Instruction: Create a Psychedelic vibrant presentation</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ac50a8bfea64222"/>
          <a:srcRect xmlns:a="http://schemas.openxmlformats.org/drawingml/2006/main" l="2799" t="0" r="2799" b="0"/>
          <a:stretch xmlns:a="http://schemas.openxmlformats.org/drawingml/2006/main">
            <a:fillRect l="0" t="0" r="0" b="0"/>
          </a:stretch>
        </p:blipFill>
        <p:spPr>
          <a:xfrm xmlns:a="http://schemas.openxmlformats.org/drawingml/2006/main">
            <a:off x="609600" y="1562100"/>
            <a:ext cx="5219700" cy="2457450"/>
          </a:xfrm>
          <a:prstGeom xmlns:a="http://schemas.openxmlformats.org/drawingml/2006/main" prst="roundRect">
            <a:avLst>
              <a:gd name="adj" fmla="val 4651"/>
            </a:avLst>
          </a:prstGeom>
        </p:spPr>
      </p:pic>
      <p:sp>
        <p:nvSpPr>
          <p:cNvPr id="6" name="">
            <a:extLst xmlns:a="http://schemas.openxmlformats.org/drawingml/2006/main">
              <a:ext uri="{FF2B5EF4-FFF2-40B4-BE49-F238E27FC236}">
                <a16:creationId xmlns:a16="http://schemas.microsoft.com/office/drawing/2014/main" id="{A90F256F-C6F8-4E6C-8945-4DADE478FD7F}"/>
              </a:ext>
            </a:extLst>
          </p:cNvPr>
          <p:cNvSpPr>
            <a:spLocks xmlns:a="http://schemas.openxmlformats.org/drawingml/2006/main" noGrp="1"/>
          </p:cNvSpPr>
          <p:nvPr/>
        </p:nvSpPr>
        <p:spPr>
          <a:xfrm xmlns:a="http://schemas.openxmlformats.org/drawingml/2006/main">
            <a:off x="6096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38a879e74da645be"/>
          <a:srcRect xmlns:a="http://schemas.openxmlformats.org/drawingml/2006/main" l="2799" t="0" r="2799" b="0"/>
          <a:stretch xmlns:a="http://schemas.openxmlformats.org/drawingml/2006/main">
            <a:fillRect l="0" t="0" r="0" b="0"/>
          </a:stretch>
        </p:blipFill>
        <p:spPr>
          <a:xfrm xmlns:a="http://schemas.openxmlformats.org/drawingml/2006/main">
            <a:off x="6362700" y="1562100"/>
            <a:ext cx="5219700" cy="2457450"/>
          </a:xfrm>
          <a:prstGeom xmlns:a="http://schemas.openxmlformats.org/drawingml/2006/main" prst="roundRect">
            <a:avLst>
              <a:gd name="adj" fmla="val 4651"/>
            </a:avLst>
          </a:prstGeom>
        </p:spPr>
      </p:pic>
      <p:sp>
        <p:nvSpPr>
          <p:cNvPr id="8" name="">
            <a:extLst xmlns:a="http://schemas.openxmlformats.org/drawingml/2006/main">
              <a:ext uri="{FF2B5EF4-FFF2-40B4-BE49-F238E27FC236}">
                <a16:creationId xmlns:a16="http://schemas.microsoft.com/office/drawing/2014/main" id="{E6028329-878D-462E-80A0-6556360CBB53}"/>
              </a:ext>
            </a:extLst>
          </p:cNvPr>
          <p:cNvSpPr>
            <a:spLocks xmlns:a="http://schemas.openxmlformats.org/drawingml/2006/main" noGrp="1"/>
          </p:cNvSpPr>
          <p:nvPr/>
        </p:nvSpPr>
        <p:spPr>
          <a:xfrm xmlns:a="http://schemas.openxmlformats.org/drawingml/2006/main">
            <a:off x="6362700" y="1562100"/>
            <a:ext cx="5219700" cy="2457450"/>
          </a:xfrm>
          <a:prstGeom xmlns:a="http://schemas.openxmlformats.org/drawingml/2006/main" prst="roundRect">
            <a:avLst>
              <a:gd name="adj" fmla="val 3101"/>
            </a:avLst>
          </a:prstGeom>
          <a:noFill xmlns:a="http://schemas.openxmlformats.org/drawingml/2006/main"/>
          <a:ln xmlns:a="http://schemas.openxmlformats.org/drawingml/2006/main" w="9525">
            <a:solidFill>
              <a:srgbClr val="D9D4C8"/>
            </a:solidFill>
          </a:ln>
        </p:spPr>
      </p:sp>
      <p:sp>
        <p:nvSpPr>
          <p:cNvPr id="9" name="">
            <a:extLst xmlns:a="http://schemas.openxmlformats.org/drawingml/2006/main">
              <a:ext uri="{FF2B5EF4-FFF2-40B4-BE49-F238E27FC236}">
                <a16:creationId xmlns:a16="http://schemas.microsoft.com/office/drawing/2014/main" id="{C6E4DDD9-FB45-4119-A999-1546C68E16F2}"/>
              </a:ext>
            </a:extLst>
          </p:cNvPr>
          <p:cNvSpPr>
            <a:spLocks xmlns:a="http://schemas.openxmlformats.org/drawingml/2006/main" noGrp="1"/>
          </p:cNvSpPr>
          <p:nvPr/>
        </p:nvSpPr>
        <p:spPr>
          <a:xfrm xmlns:a="http://schemas.openxmlformats.org/drawingml/2006/main">
            <a:off x="800100" y="1752600"/>
            <a:ext cx="742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8D5C066-29CD-4932-91E5-E6D6719E9044}"/>
              </a:ext>
            </a:extLst>
          </p:cNvPr>
          <p:cNvSpPr>
            <a:spLocks xmlns:a="http://schemas.openxmlformats.org/drawingml/2006/main" noGrp="1"/>
          </p:cNvSpPr>
          <p:nvPr/>
        </p:nvSpPr>
        <p:spPr>
          <a:xfrm xmlns:a="http://schemas.openxmlformats.org/drawingml/2006/main">
            <a:off x="895350" y="1771650"/>
            <a:ext cx="552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CLEAN</a:t>
            </a:r>
          </a:p>
        </p:txBody>
      </p:sp>
      <p:sp>
        <p:nvSpPr>
          <p:cNvPr id="11" name="">
            <a:extLst xmlns:a="http://schemas.openxmlformats.org/drawingml/2006/main">
              <a:ext uri="{FF2B5EF4-FFF2-40B4-BE49-F238E27FC236}">
                <a16:creationId xmlns:a16="http://schemas.microsoft.com/office/drawing/2014/main" id="{88A760E5-D91B-46BF-923C-2B42A93F5921}"/>
              </a:ext>
            </a:extLst>
          </p:cNvPr>
          <p:cNvSpPr>
            <a:spLocks xmlns:a="http://schemas.openxmlformats.org/drawingml/2006/main" noGrp="1"/>
          </p:cNvSpPr>
          <p:nvPr/>
        </p:nvSpPr>
        <p:spPr>
          <a:xfrm xmlns:a="http://schemas.openxmlformats.org/drawingml/2006/main">
            <a:off x="6553200" y="1752600"/>
            <a:ext cx="1885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7C66C78-FDD6-46E9-B8C0-C995658FF286}"/>
              </a:ext>
            </a:extLst>
          </p:cNvPr>
          <p:cNvSpPr>
            <a:spLocks xmlns:a="http://schemas.openxmlformats.org/drawingml/2006/main" noGrp="1"/>
          </p:cNvSpPr>
          <p:nvPr/>
        </p:nvSpPr>
        <p:spPr>
          <a:xfrm xmlns:a="http://schemas.openxmlformats.org/drawingml/2006/main">
            <a:off x="6648450" y="1771650"/>
            <a:ext cx="1695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0.91% OF PIXELS SWAPPED</a:t>
            </a:r>
          </a:p>
        </p:txBody>
      </p:sp>
      <p:sp>
        <p:nvSpPr>
          <p:cNvPr id="13" name="">
            <a:extLst xmlns:a="http://schemas.openxmlformats.org/drawingml/2006/main">
              <a:ext uri="{FF2B5EF4-FFF2-40B4-BE49-F238E27FC236}">
                <a16:creationId xmlns:a16="http://schemas.microsoft.com/office/drawing/2014/main" id="{28DF2770-11C4-4CB8-8CC8-EF3F7664E82C}"/>
              </a:ext>
            </a:extLst>
          </p:cNvPr>
          <p:cNvSpPr>
            <a:spLocks xmlns:a="http://schemas.openxmlformats.org/drawingml/2006/main" noGrp="1"/>
          </p:cNvSpPr>
          <p:nvPr/>
        </p:nvSpPr>
        <p:spPr>
          <a:xfrm xmlns:a="http://schemas.openxmlformats.org/drawingml/2006/main">
            <a:off x="6096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at (482,351)</a:t>
            </a:r>
          </a:p>
        </p:txBody>
      </p:sp>
      <p:sp>
        <p:nvSpPr>
          <p:cNvPr id="14" name="">
            <a:extLst xmlns:a="http://schemas.openxmlformats.org/drawingml/2006/main">
              <a:ext uri="{FF2B5EF4-FFF2-40B4-BE49-F238E27FC236}">
                <a16:creationId xmlns:a16="http://schemas.microsoft.com/office/drawing/2014/main" id="{623FBD76-80D0-4315-BA25-90F98D7406DA}"/>
              </a:ext>
            </a:extLst>
          </p:cNvPr>
          <p:cNvSpPr>
            <a:spLocks xmlns:a="http://schemas.openxmlformats.org/drawingml/2006/main" noGrp="1"/>
          </p:cNvSpPr>
          <p:nvPr/>
        </p:nvSpPr>
        <p:spPr>
          <a:xfrm xmlns:a="http://schemas.openxmlformats.org/drawingml/2006/main">
            <a:off x="6362700" y="4095750"/>
            <a:ext cx="52197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10151C"/>
                </a:solidFill>
                <a:latin typeface="Helvetica Neue"/>
                <a:ea typeface="Helvetica Neue"/>
                <a:cs typeface="Helvetica Neue"/>
              </a:defRPr>
            </a:pPr>
            <a:r>
              <a:rPr sz="1125" b="1">
                <a:solidFill>
                  <a:srgbClr val="10151C"/>
                </a:solidFill>
                <a:latin typeface="Helvetica Neue"/>
                <a:ea typeface="Helvetica Neue"/>
                <a:cs typeface="Helvetica Neue"/>
              </a:rPr>
              <a:t>Requested tile moves to (406,351)</a:t>
            </a:r>
          </a:p>
        </p:txBody>
      </p:sp>
      <p:sp>
        <p:nvSpPr>
          <p:cNvPr id="15" name="">
            <a:extLst xmlns:a="http://schemas.openxmlformats.org/drawingml/2006/main">
              <a:ext uri="{FF2B5EF4-FFF2-40B4-BE49-F238E27FC236}">
                <a16:creationId xmlns:a16="http://schemas.microsoft.com/office/drawing/2014/main" id="{02586264-969B-4730-9758-8C47DBA6816A}"/>
              </a:ext>
            </a:extLst>
          </p:cNvPr>
          <p:cNvSpPr>
            <a:spLocks xmlns:a="http://schemas.openxmlformats.org/drawingml/2006/main" noGrp="1"/>
          </p:cNvSpPr>
          <p:nvPr/>
        </p:nvSpPr>
        <p:spPr>
          <a:xfrm xmlns:a="http://schemas.openxmlformats.org/drawingml/2006/main">
            <a:off x="609600" y="4400550"/>
            <a:ext cx="10972800" cy="1466850"/>
          </a:xfrm>
          <a:prstGeom xmlns:a="http://schemas.openxmlformats.org/drawingml/2006/main" prst="roundRect">
            <a:avLst>
              <a:gd name="adj" fmla="val 5195"/>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39F56D7-069F-4D78-91A2-2EC3D9BE482E}"/>
              </a:ext>
            </a:extLst>
          </p:cNvPr>
          <p:cNvSpPr>
            <a:spLocks xmlns:a="http://schemas.openxmlformats.org/drawingml/2006/main" noGrp="1"/>
          </p:cNvSpPr>
          <p:nvPr/>
        </p:nvSpPr>
        <p:spPr>
          <a:xfrm xmlns:a="http://schemas.openxmlformats.org/drawingml/2006/main">
            <a:off x="857250" y="4581525"/>
            <a:ext cx="3714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TEACHER-FORCED COORDINATE MARGIN</a:t>
            </a:r>
          </a:p>
        </p:txBody>
      </p:sp>
      <p:sp>
        <p:nvSpPr>
          <p:cNvPr id="17" name="">
            <a:extLst xmlns:a="http://schemas.openxmlformats.org/drawingml/2006/main">
              <a:ext uri="{FF2B5EF4-FFF2-40B4-BE49-F238E27FC236}">
                <a16:creationId xmlns:a16="http://schemas.microsoft.com/office/drawing/2014/main" id="{004F5B9E-4D26-4A8A-AD76-7B441E8CC45F}"/>
              </a:ext>
            </a:extLst>
          </p:cNvPr>
          <p:cNvSpPr>
            <a:spLocks xmlns:a="http://schemas.openxmlformats.org/drawingml/2006/main" noGrp="1"/>
          </p:cNvSpPr>
          <p:nvPr/>
        </p:nvSpPr>
        <p:spPr>
          <a:xfrm xmlns:a="http://schemas.openxmlformats.org/drawingml/2006/main">
            <a:off x="857250" y="4876800"/>
            <a:ext cx="7334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margin = log p(correct coordinate tokens) − log p(distractor coordinate tokens)</a:t>
            </a:r>
          </a:p>
        </p:txBody>
      </p:sp>
      <p:sp>
        <p:nvSpPr>
          <p:cNvPr id="18" name="">
            <a:extLst xmlns:a="http://schemas.openxmlformats.org/drawingml/2006/main">
              <a:ext uri="{FF2B5EF4-FFF2-40B4-BE49-F238E27FC236}">
                <a16:creationId xmlns:a16="http://schemas.microsoft.com/office/drawing/2014/main" id="{33227F92-67AB-43C2-98BE-E3F5E00F55CA}"/>
              </a:ext>
            </a:extLst>
          </p:cNvPr>
          <p:cNvSpPr>
            <a:spLocks xmlns:a="http://schemas.openxmlformats.org/drawingml/2006/main" noGrp="1"/>
          </p:cNvSpPr>
          <p:nvPr/>
        </p:nvSpPr>
        <p:spPr>
          <a:xfrm xmlns:a="http://schemas.openxmlformats.org/drawingml/2006/main">
            <a:off x="857250" y="5238750"/>
            <a:ext cx="7334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5B249"/>
                </a:solidFill>
                <a:latin typeface="Helvetica Neue"/>
                <a:ea typeface="Helvetica Neue"/>
                <a:cs typeface="Helvetica Neue"/>
              </a:defRPr>
            </a:pPr>
            <a:r>
              <a:rPr sz="1125" b="1">
                <a:solidFill>
                  <a:srgbClr val="E5B249"/>
                </a:solidFill>
                <a:latin typeface="Helvetica Neue"/>
                <a:ea typeface="Helvetica Neue"/>
                <a:cs typeface="Helvetica Neue"/>
              </a:rPr>
              <a:t>+1 nat multiplies the target-to-distractor probability ratio by e ≈ 2.72</a:t>
            </a:r>
          </a:p>
        </p:txBody>
      </p:sp>
      <p:sp>
        <p:nvSpPr>
          <p:cNvPr id="19" name="">
            <a:extLst xmlns:a="http://schemas.openxmlformats.org/drawingml/2006/main">
              <a:ext uri="{FF2B5EF4-FFF2-40B4-BE49-F238E27FC236}">
                <a16:creationId xmlns:a16="http://schemas.microsoft.com/office/drawing/2014/main" id="{35AF8121-8D38-4124-9D3C-A3BCC4A7DE17}"/>
              </a:ext>
            </a:extLst>
          </p:cNvPr>
          <p:cNvSpPr>
            <a:spLocks xmlns:a="http://schemas.openxmlformats.org/drawingml/2006/main" noGrp="1"/>
          </p:cNvSpPr>
          <p:nvPr/>
        </p:nvSpPr>
        <p:spPr>
          <a:xfrm xmlns:a="http://schemas.openxmlformats.org/drawingml/2006/main">
            <a:off x="857250" y="5524500"/>
            <a:ext cx="7334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0">
                <a:solidFill>
                  <a:srgbClr val="BBC6D0"/>
                </a:solidFill>
                <a:latin typeface="Helvetica Neue"/>
                <a:ea typeface="Helvetica Neue"/>
                <a:cs typeface="Helvetica Neue"/>
              </a:defRPr>
            </a:pPr>
            <a:r>
              <a:rPr sz="900" b="0">
                <a:solidFill>
                  <a:srgbClr val="BBC6D0"/>
                </a:solidFill>
                <a:latin typeface="Helvetica Neue"/>
                <a:ea typeface="Helvetica Neue"/>
                <a:cs typeface="Helvetica Neue"/>
              </a:rPr>
              <a:t>Six coordinate tokens per candidate; syntax excluded; later tokens use each candidate’s own prefix</a:t>
            </a:r>
          </a:p>
        </p:txBody>
      </p:sp>
      <p:sp>
        <p:nvSpPr>
          <p:cNvPr id="20" name="">
            <a:extLst xmlns:a="http://schemas.openxmlformats.org/drawingml/2006/main">
              <a:ext uri="{FF2B5EF4-FFF2-40B4-BE49-F238E27FC236}">
                <a16:creationId xmlns:a16="http://schemas.microsoft.com/office/drawing/2014/main" id="{6D5060B0-3A16-4875-8202-E195F581102A}"/>
              </a:ext>
            </a:extLst>
          </p:cNvPr>
          <p:cNvSpPr>
            <a:spLocks xmlns:a="http://schemas.openxmlformats.org/drawingml/2006/main" noGrp="1"/>
          </p:cNvSpPr>
          <p:nvPr/>
        </p:nvSpPr>
        <p:spPr>
          <a:xfrm xmlns:a="http://schemas.openxmlformats.org/drawingml/2006/main">
            <a:off x="8458200" y="4619625"/>
            <a:ext cx="12763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1" name="">
            <a:extLst xmlns:a="http://schemas.openxmlformats.org/drawingml/2006/main">
              <a:ext uri="{FF2B5EF4-FFF2-40B4-BE49-F238E27FC236}">
                <a16:creationId xmlns:a16="http://schemas.microsoft.com/office/drawing/2014/main" id="{2910A6C5-9FDB-43B6-B99A-9C2E981D0416}"/>
              </a:ext>
            </a:extLst>
          </p:cNvPr>
          <p:cNvSpPr>
            <a:spLocks xmlns:a="http://schemas.openxmlformats.org/drawingml/2006/main" noGrp="1"/>
          </p:cNvSpPr>
          <p:nvPr/>
        </p:nvSpPr>
        <p:spPr>
          <a:xfrm xmlns:a="http://schemas.openxmlformats.org/drawingml/2006/main">
            <a:off x="8458200" y="4619625"/>
            <a:ext cx="66675" cy="1028700"/>
          </a:xfrm>
          <a:prstGeom xmlns:a="http://schemas.openxmlformats.org/drawingml/2006/main" prst="roundRect">
            <a:avLst>
              <a:gd name="adj" fmla="val 50000"/>
            </a:avLst>
          </a:prstGeom>
          <a:solidFill xmlns:a="http://schemas.openxmlformats.org/drawingml/2006/main">
            <a:srgbClr val="18A87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8F2A0AA-78E5-4A8F-A280-7F50A27A0D0D}"/>
              </a:ext>
            </a:extLst>
          </p:cNvPr>
          <p:cNvSpPr>
            <a:spLocks xmlns:a="http://schemas.openxmlformats.org/drawingml/2006/main" noGrp="1"/>
          </p:cNvSpPr>
          <p:nvPr/>
        </p:nvSpPr>
        <p:spPr>
          <a:xfrm xmlns:a="http://schemas.openxmlformats.org/drawingml/2006/main">
            <a:off x="8648700" y="4752975"/>
            <a:ext cx="9715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CLEAN</a:t>
            </a:r>
          </a:p>
        </p:txBody>
      </p:sp>
      <p:sp>
        <p:nvSpPr>
          <p:cNvPr id="23" name="">
            <a:extLst xmlns:a="http://schemas.openxmlformats.org/drawingml/2006/main">
              <a:ext uri="{FF2B5EF4-FFF2-40B4-BE49-F238E27FC236}">
                <a16:creationId xmlns:a16="http://schemas.microsoft.com/office/drawing/2014/main" id="{77269DE6-F0C1-4933-8A52-27820036E10A}"/>
              </a:ext>
            </a:extLst>
          </p:cNvPr>
          <p:cNvSpPr>
            <a:spLocks xmlns:a="http://schemas.openxmlformats.org/drawingml/2006/main" noGrp="1"/>
          </p:cNvSpPr>
          <p:nvPr/>
        </p:nvSpPr>
        <p:spPr>
          <a:xfrm xmlns:a="http://schemas.openxmlformats.org/drawingml/2006/main">
            <a:off x="8648700" y="4943475"/>
            <a:ext cx="97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+1.70</a:t>
            </a:r>
          </a:p>
        </p:txBody>
      </p:sp>
      <p:sp>
        <p:nvSpPr>
          <p:cNvPr id="24" name="">
            <a:extLst xmlns:a="http://schemas.openxmlformats.org/drawingml/2006/main">
              <a:ext uri="{FF2B5EF4-FFF2-40B4-BE49-F238E27FC236}">
                <a16:creationId xmlns:a16="http://schemas.microsoft.com/office/drawing/2014/main" id="{951D920B-CF02-4FC5-8505-D66BD373527C}"/>
              </a:ext>
            </a:extLst>
          </p:cNvPr>
          <p:cNvSpPr>
            <a:spLocks xmlns:a="http://schemas.openxmlformats.org/drawingml/2006/main" noGrp="1"/>
          </p:cNvSpPr>
          <p:nvPr/>
        </p:nvSpPr>
        <p:spPr>
          <a:xfrm xmlns:a="http://schemas.openxmlformats.org/drawingml/2006/main">
            <a:off x="8648700" y="5353050"/>
            <a:ext cx="97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5.47× target</a:t>
            </a:r>
          </a:p>
        </p:txBody>
      </p:sp>
      <p:sp>
        <p:nvSpPr>
          <p:cNvPr id="25" name="">
            <a:extLst xmlns:a="http://schemas.openxmlformats.org/drawingml/2006/main">
              <a:ext uri="{FF2B5EF4-FFF2-40B4-BE49-F238E27FC236}">
                <a16:creationId xmlns:a16="http://schemas.microsoft.com/office/drawing/2014/main" id="{060971BD-E3A1-49D6-9B9C-5779F9FC147A}"/>
              </a:ext>
            </a:extLst>
          </p:cNvPr>
          <p:cNvSpPr>
            <a:spLocks xmlns:a="http://schemas.openxmlformats.org/drawingml/2006/main" noGrp="1"/>
          </p:cNvSpPr>
          <p:nvPr/>
        </p:nvSpPr>
        <p:spPr>
          <a:xfrm xmlns:a="http://schemas.openxmlformats.org/drawingml/2006/main">
            <a:off x="9886950" y="4619625"/>
            <a:ext cx="1428750" cy="1028700"/>
          </a:xfrm>
          <a:prstGeom xmlns:a="http://schemas.openxmlformats.org/drawingml/2006/main" prst="roundRect">
            <a:avLst>
              <a:gd name="adj" fmla="val 7407"/>
            </a:avLst>
          </a:prstGeom>
          <a:solidFill xmlns:a="http://schemas.openxmlformats.org/drawingml/2006/main">
            <a:srgbClr val="FFFFFF"/>
          </a:solidFill>
          <a:ln xmlns:a="http://schemas.openxmlformats.org/drawingml/2006/main" w="9525">
            <a:solidFill>
              <a:srgbClr val="D9D4C8"/>
            </a:solidFill>
          </a:ln>
        </p:spPr>
      </p:sp>
      <p:sp>
        <p:nvSpPr>
          <p:cNvPr id="26" name="">
            <a:extLst xmlns:a="http://schemas.openxmlformats.org/drawingml/2006/main">
              <a:ext uri="{FF2B5EF4-FFF2-40B4-BE49-F238E27FC236}">
                <a16:creationId xmlns:a16="http://schemas.microsoft.com/office/drawing/2014/main" id="{2CE8EC43-5A1E-4E62-9A3C-5503E1148EFB}"/>
              </a:ext>
            </a:extLst>
          </p:cNvPr>
          <p:cNvSpPr>
            <a:spLocks xmlns:a="http://schemas.openxmlformats.org/drawingml/2006/main" noGrp="1"/>
          </p:cNvSpPr>
          <p:nvPr/>
        </p:nvSpPr>
        <p:spPr>
          <a:xfrm xmlns:a="http://schemas.openxmlformats.org/drawingml/2006/main">
            <a:off x="9886950" y="4619625"/>
            <a:ext cx="66675" cy="1028700"/>
          </a:xfrm>
          <a:prstGeom xmlns:a="http://schemas.openxmlformats.org/drawingml/2006/main" prst="roundRect">
            <a:avLst>
              <a:gd name="adj" fmla="val 50000"/>
            </a:avLst>
          </a:prstGeom>
          <a:solidFill xmlns:a="http://schemas.openxmlformats.org/drawingml/2006/main">
            <a:srgbClr val="F05A3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1FB58AD-69A8-4A37-8780-295B33A8484C}"/>
              </a:ext>
            </a:extLst>
          </p:cNvPr>
          <p:cNvSpPr>
            <a:spLocks xmlns:a="http://schemas.openxmlformats.org/drawingml/2006/main" noGrp="1"/>
          </p:cNvSpPr>
          <p:nvPr/>
        </p:nvSpPr>
        <p:spPr>
          <a:xfrm xmlns:a="http://schemas.openxmlformats.org/drawingml/2006/main">
            <a:off x="10077450" y="4752975"/>
            <a:ext cx="11239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66717D"/>
                </a:solidFill>
                <a:latin typeface="Helvetica Neue"/>
                <a:ea typeface="Helvetica Neue"/>
                <a:cs typeface="Helvetica Neue"/>
              </a:defRPr>
            </a:pPr>
            <a:r>
              <a:rPr sz="825" b="1">
                <a:solidFill>
                  <a:srgbClr val="66717D"/>
                </a:solidFill>
                <a:latin typeface="Helvetica Neue"/>
                <a:ea typeface="Helvetica Neue"/>
                <a:cs typeface="Helvetica Neue"/>
              </a:rPr>
              <a:t>CORRUPTED</a:t>
            </a:r>
          </a:p>
        </p:txBody>
      </p:sp>
      <p:sp>
        <p:nvSpPr>
          <p:cNvPr id="28" name="">
            <a:extLst xmlns:a="http://schemas.openxmlformats.org/drawingml/2006/main">
              <a:ext uri="{FF2B5EF4-FFF2-40B4-BE49-F238E27FC236}">
                <a16:creationId xmlns:a16="http://schemas.microsoft.com/office/drawing/2014/main" id="{AA24AF61-022C-44AA-B175-DDF0452D94E5}"/>
              </a:ext>
            </a:extLst>
          </p:cNvPr>
          <p:cNvSpPr>
            <a:spLocks xmlns:a="http://schemas.openxmlformats.org/drawingml/2006/main" noGrp="1"/>
          </p:cNvSpPr>
          <p:nvPr/>
        </p:nvSpPr>
        <p:spPr>
          <a:xfrm xmlns:a="http://schemas.openxmlformats.org/drawingml/2006/main">
            <a:off x="10077450" y="4943475"/>
            <a:ext cx="1123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10151C"/>
                </a:solidFill>
                <a:latin typeface="Helvetica Neue"/>
                <a:ea typeface="Helvetica Neue"/>
                <a:cs typeface="Helvetica Neue"/>
              </a:defRPr>
            </a:pPr>
            <a:r>
              <a:rPr sz="2325" b="1">
                <a:solidFill>
                  <a:srgbClr val="10151C"/>
                </a:solidFill>
                <a:latin typeface="Helvetica Neue"/>
                <a:ea typeface="Helvetica Neue"/>
                <a:cs typeface="Helvetica Neue"/>
              </a:rPr>
              <a:t>−2.64</a:t>
            </a:r>
          </a:p>
        </p:txBody>
      </p:sp>
      <p:sp>
        <p:nvSpPr>
          <p:cNvPr id="29" name="">
            <a:extLst xmlns:a="http://schemas.openxmlformats.org/drawingml/2006/main">
              <a:ext uri="{FF2B5EF4-FFF2-40B4-BE49-F238E27FC236}">
                <a16:creationId xmlns:a16="http://schemas.microsoft.com/office/drawing/2014/main" id="{E04EA27D-D2BA-4F1E-9043-14A546485C7F}"/>
              </a:ext>
            </a:extLst>
          </p:cNvPr>
          <p:cNvSpPr>
            <a:spLocks xmlns:a="http://schemas.openxmlformats.org/drawingml/2006/main" noGrp="1"/>
          </p:cNvSpPr>
          <p:nvPr/>
        </p:nvSpPr>
        <p:spPr>
          <a:xfrm xmlns:a="http://schemas.openxmlformats.org/drawingml/2006/main">
            <a:off x="10077450" y="5353050"/>
            <a:ext cx="1123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0">
                <a:solidFill>
                  <a:srgbClr val="66717D"/>
                </a:solidFill>
                <a:latin typeface="Helvetica Neue"/>
                <a:ea typeface="Helvetica Neue"/>
                <a:cs typeface="Helvetica Neue"/>
              </a:defRPr>
            </a:pPr>
            <a:r>
              <a:rPr sz="825" b="0">
                <a:solidFill>
                  <a:srgbClr val="66717D"/>
                </a:solidFill>
                <a:latin typeface="Helvetica Neue"/>
                <a:ea typeface="Helvetica Neue"/>
                <a:cs typeface="Helvetica Neue"/>
              </a:rPr>
              <a:t>14.07× distractor</a:t>
            </a:r>
          </a:p>
        </p:txBody>
      </p:sp>
      <p:sp>
        <p:nvSpPr>
          <p:cNvPr id="30" name="">
            <a:extLst xmlns:a="http://schemas.openxmlformats.org/drawingml/2006/main">
              <a:ext uri="{FF2B5EF4-FFF2-40B4-BE49-F238E27FC236}">
                <a16:creationId xmlns:a16="http://schemas.microsoft.com/office/drawing/2014/main" id="{8C3E056A-D3F0-42BA-AF45-2B8D1D142E99}"/>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51A603AF-A160-4A8A-857D-5B2F2EB40817}"/>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Lossless equal-size tile swap · 0.91% of pixels changed · localized perturbation may alter recognition and coordinate binding</a:t>
            </a:r>
          </a:p>
        </p:txBody>
      </p:sp>
    </p:spTree>
    <p:extLst>
      <p:ext uri="{BB962C8B-B14F-4D97-AF65-F5344CB8AC3E}">
        <p14:creationId xmlns:p14="http://schemas.microsoft.com/office/powerpoint/2010/main" val="1890515511"/>
      </p:ext>
    </p:extLst>
  </p:cSld>
</p:sld>
</file>

<file path=ppt/slides/slide11.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7C9A615-4609-47A6-B1F9-F99CEFC6FEA6}"/>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CAUSAL INTERVENTION · ONE MATCHED CASE</a:t>
            </a:r>
          </a:p>
        </p:txBody>
      </p:sp>
      <p:sp>
        <p:nvSpPr>
          <p:cNvPr id="2" name="">
            <a:extLst xmlns:a="http://schemas.openxmlformats.org/drawingml/2006/main">
              <a:ext uri="{FF2B5EF4-FFF2-40B4-BE49-F238E27FC236}">
                <a16:creationId xmlns:a16="http://schemas.microsoft.com/office/drawing/2014/main" id="{2C814DB6-ACF2-4857-ABAD-3501117C0569}"/>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7562"/>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Target-region residuals recover one-third of the coordinate margin</a:t>
            </a:r>
          </a:p>
        </p:txBody>
      </p:sp>
      <p:sp>
        <p:nvSpPr>
          <p:cNvPr id="3" name="">
            <a:extLst xmlns:a="http://schemas.openxmlformats.org/drawingml/2006/main">
              <a:ext uri="{FF2B5EF4-FFF2-40B4-BE49-F238E27FC236}">
                <a16:creationId xmlns:a16="http://schemas.microsoft.com/office/drawing/2014/main" id="{7D631976-D37D-4A4F-BB28-AC30797DAEA7}"/>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7AC652C4-F3BF-47D4-8AA2-94B27F6C4565}"/>
              </a:ext>
            </a:extLst>
          </p:cNvPr>
          <p:cNvSpPr>
            <a:spLocks xmlns:a="http://schemas.openxmlformats.org/drawingml/2006/main" noGrp="1"/>
          </p:cNvSpPr>
          <p:nvPr/>
        </p:nvSpPr>
        <p:spPr>
          <a:xfrm xmlns:a="http://schemas.openxmlformats.org/drawingml/2006/main">
            <a:off x="609600" y="1162050"/>
            <a:ext cx="1924050" cy="323850"/>
          </a:xfrm>
          <a:prstGeom xmlns:a="http://schemas.openxmlformats.org/drawingml/2006/main" prst="roundRect">
            <a:avLst>
              <a:gd name="adj" fmla="val 23529"/>
            </a:avLst>
          </a:prstGeom>
          <a:solidFill xmlns:a="http://schemas.openxmlformats.org/drawingml/2006/main">
            <a:srgbClr val="FCE2D9"/>
          </a:solidFill>
          <a:ln xmlns:a="http://schemas.openxmlformats.org/drawingml/2006/main" w="9525">
            <a:solidFill>
              <a:srgbClr val="F05A3C"/>
            </a:solidFill>
          </a:ln>
        </p:spPr>
      </p:sp>
      <p:sp>
        <p:nvSpPr>
          <p:cNvPr id="5" name="">
            <a:extLst xmlns:a="http://schemas.openxmlformats.org/drawingml/2006/main">
              <a:ext uri="{FF2B5EF4-FFF2-40B4-BE49-F238E27FC236}">
                <a16:creationId xmlns:a16="http://schemas.microsoft.com/office/drawing/2014/main" id="{D9A52D2B-0082-42B4-B5A6-FBB0D6ADEE59}"/>
              </a:ext>
            </a:extLst>
          </p:cNvPr>
          <p:cNvSpPr>
            <a:spLocks xmlns:a="http://schemas.openxmlformats.org/drawingml/2006/main" noGrp="1"/>
          </p:cNvSpPr>
          <p:nvPr/>
        </p:nvSpPr>
        <p:spPr>
          <a:xfrm xmlns:a="http://schemas.openxmlformats.org/drawingml/2006/main">
            <a:off x="2857500" y="1162050"/>
            <a:ext cx="2057400" cy="323850"/>
          </a:xfrm>
          <a:prstGeom xmlns:a="http://schemas.openxmlformats.org/drawingml/2006/main" prst="roundRect">
            <a:avLst>
              <a:gd name="adj" fmla="val 23529"/>
            </a:avLst>
          </a:prstGeom>
          <a:solidFill xmlns:a="http://schemas.openxmlformats.org/drawingml/2006/main">
            <a:srgbClr val="DDECF9"/>
          </a:solidFill>
          <a:ln xmlns:a="http://schemas.openxmlformats.org/drawingml/2006/main" w="9525">
            <a:solidFill>
              <a:srgbClr val="2D84D3"/>
            </a:solidFill>
          </a:ln>
        </p:spPr>
      </p:sp>
      <p:sp>
        <p:nvSpPr>
          <p:cNvPr id="6" name="">
            <a:extLst xmlns:a="http://schemas.openxmlformats.org/drawingml/2006/main">
              <a:ext uri="{FF2B5EF4-FFF2-40B4-BE49-F238E27FC236}">
                <a16:creationId xmlns:a16="http://schemas.microsoft.com/office/drawing/2014/main" id="{4BA8F2E1-4082-4101-BE18-03068E9C6EB1}"/>
              </a:ext>
            </a:extLst>
          </p:cNvPr>
          <p:cNvSpPr>
            <a:spLocks xmlns:a="http://schemas.openxmlformats.org/drawingml/2006/main" noGrp="1"/>
          </p:cNvSpPr>
          <p:nvPr/>
        </p:nvSpPr>
        <p:spPr>
          <a:xfrm xmlns:a="http://schemas.openxmlformats.org/drawingml/2006/main">
            <a:off x="5238750" y="1162050"/>
            <a:ext cx="2457450" cy="323850"/>
          </a:xfrm>
          <a:prstGeom xmlns:a="http://schemas.openxmlformats.org/drawingml/2006/main" prst="roundRect">
            <a:avLst>
              <a:gd name="adj" fmla="val 23529"/>
            </a:avLst>
          </a:prstGeom>
          <a:solidFill xmlns:a="http://schemas.openxmlformats.org/drawingml/2006/main">
            <a:srgbClr val="E4F4EE"/>
          </a:solidFill>
          <a:ln xmlns:a="http://schemas.openxmlformats.org/drawingml/2006/main" w="9525">
            <a:solidFill>
              <a:srgbClr val="18A875"/>
            </a:solidFill>
          </a:ln>
        </p:spPr>
      </p:sp>
      <p:sp>
        <p:nvSpPr>
          <p:cNvPr id="7" name="">
            <a:extLst xmlns:a="http://schemas.openxmlformats.org/drawingml/2006/main">
              <a:ext uri="{FF2B5EF4-FFF2-40B4-BE49-F238E27FC236}">
                <a16:creationId xmlns:a16="http://schemas.microsoft.com/office/drawing/2014/main" id="{A8B50F79-B03A-4FAC-84C1-8F44FA635A0B}"/>
              </a:ext>
            </a:extLst>
          </p:cNvPr>
          <p:cNvSpPr>
            <a:spLocks xmlns:a="http://schemas.openxmlformats.org/drawingml/2006/main" noGrp="1"/>
          </p:cNvSpPr>
          <p:nvPr/>
        </p:nvSpPr>
        <p:spPr>
          <a:xfrm xmlns:a="http://schemas.openxmlformats.org/drawingml/2006/main">
            <a:off x="723900" y="1219200"/>
            <a:ext cx="1695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Clean activation source</a:t>
            </a:r>
          </a:p>
        </p:txBody>
      </p:sp>
      <p:sp>
        <p:nvSpPr>
          <p:cNvPr id="8" name="">
            <a:extLst xmlns:a="http://schemas.openxmlformats.org/drawingml/2006/main">
              <a:ext uri="{FF2B5EF4-FFF2-40B4-BE49-F238E27FC236}">
                <a16:creationId xmlns:a16="http://schemas.microsoft.com/office/drawing/2014/main" id="{0147E152-B6F4-408B-B79F-1134DCF20E3F}"/>
              </a:ext>
            </a:extLst>
          </p:cNvPr>
          <p:cNvSpPr>
            <a:spLocks xmlns:a="http://schemas.openxmlformats.org/drawingml/2006/main" noGrp="1"/>
          </p:cNvSpPr>
          <p:nvPr/>
        </p:nvSpPr>
        <p:spPr>
          <a:xfrm xmlns:a="http://schemas.openxmlformats.org/drawingml/2006/main">
            <a:off x="2971800" y="1219200"/>
            <a:ext cx="1828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Corrupted run destination</a:t>
            </a:r>
          </a:p>
        </p:txBody>
      </p:sp>
      <p:sp>
        <p:nvSpPr>
          <p:cNvPr id="9" name="">
            <a:extLst xmlns:a="http://schemas.openxmlformats.org/drawingml/2006/main">
              <a:ext uri="{FF2B5EF4-FFF2-40B4-BE49-F238E27FC236}">
                <a16:creationId xmlns:a16="http://schemas.microsoft.com/office/drawing/2014/main" id="{B592D86C-E0CF-45A4-AE58-EC1150699D21}"/>
              </a:ext>
            </a:extLst>
          </p:cNvPr>
          <p:cNvSpPr>
            <a:spLocks xmlns:a="http://schemas.openxmlformats.org/drawingml/2006/main" noGrp="1"/>
          </p:cNvSpPr>
          <p:nvPr/>
        </p:nvSpPr>
        <p:spPr>
          <a:xfrm xmlns:a="http://schemas.openxmlformats.org/drawingml/2006/main">
            <a:off x="5353050" y="1219200"/>
            <a:ext cx="2228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Change in coordinate margin</a:t>
            </a:r>
          </a:p>
        </p:txBody>
      </p:sp>
      <p:cxnSp>
        <p:nvCxnSpPr>
          <p:cNvPr id="37" name=""/>
          <p:cNvCxnSpPr>
            <a:stCxn xmlns:a="http://schemas.openxmlformats.org/drawingml/2006/main" id="5" idx="1"/>
            <a:endCxn xmlns:a="http://schemas.openxmlformats.org/drawingml/2006/main" id="4" idx="3"/>
          </p:cNvCxnSpPr>
          <p:nvPr/>
        </p:nvCxnSpPr>
        <p:spPr>
          <a:xfrm xmlns:a="http://schemas.openxmlformats.org/drawingml/2006/main" flipH="1">
            <a:off x="253365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cxnSp>
        <p:nvCxnSpPr>
          <p:cNvPr id="38" name=""/>
          <p:cNvCxnSpPr>
            <a:stCxn xmlns:a="http://schemas.openxmlformats.org/drawingml/2006/main" id="6" idx="1"/>
            <a:endCxn xmlns:a="http://schemas.openxmlformats.org/drawingml/2006/main" id="5" idx="3"/>
          </p:cNvCxnSpPr>
          <p:nvPr/>
        </p:nvCxnSpPr>
        <p:spPr>
          <a:xfrm xmlns:a="http://schemas.openxmlformats.org/drawingml/2006/main" flipH="1">
            <a:off x="4914900" y="1323975"/>
            <a:ext cx="323850" cy="0"/>
          </a:xfrm>
          <a:prstGeom xmlns:a="http://schemas.openxmlformats.org/drawingml/2006/main" prst="straightConnector1">
            <a:avLst/>
          </a:prstGeom>
          <a:ln xmlns:a="http://schemas.openxmlformats.org/drawingml/2006/main" w="19050">
            <a:solidFill>
              <a:srgbClr val="66717D"/>
            </a:solidFill>
            <a:prstDash val="solid"/>
            <a:headEnd type="arrow" w="med" len="med"/>
          </a:ln>
        </p:spPr>
      </p:cxnSp>
      <p:graphicFrame>
        <p:nvGraphicFramePr>
          <p:cNvPr id="39" name="Chart"/>
          <p:cNvGraphicFramePr/>
          <p:nvPr/>
        </p:nvGraphicFramePr>
        <p:xfrm>
          <a:off xmlns:a="http://schemas.openxmlformats.org/drawingml/2006/main" x="609600" y="1714500"/>
          <a:ext xmlns:a="http://schemas.openxmlformats.org/drawingml/2006/main" cx="7086600" cy="3714750"/>
        </p:xfrm>
        <a:graphic xmlns:a="http://schemas.openxmlformats.org/drawingml/2006/main">
          <a:graphicData uri="http://schemas.openxmlformats.org/drawingml/2006/chart">
            <c:chart xmlns:r="http://schemas.openxmlformats.org/officeDocument/2006/relationships" xmlns:c="http://schemas.openxmlformats.org/drawingml/2006/chart" r:id="Re756127bad0a4d7e"/>
          </a:graphicData>
        </a:graphic>
      </p:graphicFrame>
      <p:sp>
        <p:nvSpPr>
          <p:cNvPr id="13" name="">
            <a:extLst xmlns:a="http://schemas.openxmlformats.org/drawingml/2006/main">
              <a:ext uri="{FF2B5EF4-FFF2-40B4-BE49-F238E27FC236}">
                <a16:creationId xmlns:a16="http://schemas.microsoft.com/office/drawing/2014/main" id="{DC61FD68-8B46-4198-A8EB-0BECBDF9A897}"/>
              </a:ext>
            </a:extLst>
          </p:cNvPr>
          <p:cNvSpPr>
            <a:spLocks xmlns:a="http://schemas.openxmlformats.org/drawingml/2006/main" noGrp="1"/>
          </p:cNvSpPr>
          <p:nvPr/>
        </p:nvSpPr>
        <p:spPr>
          <a:xfrm xmlns:a="http://schemas.openxmlformats.org/drawingml/2006/main">
            <a:off x="609600" y="5572125"/>
            <a:ext cx="70866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900" b="0">
                <a:solidFill>
                  <a:srgbClr val="66717D"/>
                </a:solidFill>
                <a:latin typeface="Helvetica Neue"/>
                <a:ea typeface="Helvetica Neue"/>
                <a:cs typeface="Helvetica Neue"/>
              </a:defRPr>
            </a:pPr>
            <a:r>
              <a:rPr sz="900" b="0">
                <a:solidFill>
                  <a:srgbClr val="66717D"/>
                </a:solidFill>
                <a:latin typeface="Helvetica Neue"/>
                <a:ea typeface="Helvetica Neue"/>
                <a:cs typeface="Helvetica Neue"/>
              </a:rPr>
              <a:t>Other restoration probes: distractor −0.13 · MLP15 +0.03 · MLP19 +0.12 · MLP23 +0.20 nats</a:t>
            </a:r>
          </a:p>
        </p:txBody>
      </p:sp>
      <p:sp>
        <p:nvSpPr>
          <p:cNvPr id="14" name="">
            <a:extLst xmlns:a="http://schemas.openxmlformats.org/drawingml/2006/main">
              <a:ext uri="{FF2B5EF4-FFF2-40B4-BE49-F238E27FC236}">
                <a16:creationId xmlns:a16="http://schemas.microsoft.com/office/drawing/2014/main" id="{5511067E-3A77-4EC2-AFC6-9DA8E012DF87}"/>
              </a:ext>
            </a:extLst>
          </p:cNvPr>
          <p:cNvSpPr>
            <a:spLocks xmlns:a="http://schemas.openxmlformats.org/drawingml/2006/main" noGrp="1"/>
          </p:cNvSpPr>
          <p:nvPr/>
        </p:nvSpPr>
        <p:spPr>
          <a:xfrm xmlns:a="http://schemas.openxmlformats.org/drawingml/2006/main">
            <a:off x="8001000" y="1714500"/>
            <a:ext cx="3581400" cy="3905250"/>
          </a:xfrm>
          <a:prstGeom xmlns:a="http://schemas.openxmlformats.org/drawingml/2006/main" prst="roundRect">
            <a:avLst>
              <a:gd name="adj" fmla="val 2128"/>
            </a:avLst>
          </a:prstGeom>
          <a:solidFill xmlns:a="http://schemas.openxmlformats.org/drawingml/2006/main">
            <a:srgbClr val="1C2733"/>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6F7D0D4-5A78-43A3-B6B6-D27BE790A427}"/>
              </a:ext>
            </a:extLst>
          </p:cNvPr>
          <p:cNvSpPr>
            <a:spLocks xmlns:a="http://schemas.openxmlformats.org/drawingml/2006/main" noGrp="1"/>
          </p:cNvSpPr>
          <p:nvPr/>
        </p:nvSpPr>
        <p:spPr>
          <a:xfrm xmlns:a="http://schemas.openxmlformats.org/drawingml/2006/main">
            <a:off x="8286750" y="1962150"/>
            <a:ext cx="139065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98522D9-1720-4374-89B8-51C713F535F6}"/>
              </a:ext>
            </a:extLst>
          </p:cNvPr>
          <p:cNvSpPr>
            <a:spLocks xmlns:a="http://schemas.openxmlformats.org/drawingml/2006/main" noGrp="1"/>
          </p:cNvSpPr>
          <p:nvPr/>
        </p:nvSpPr>
        <p:spPr>
          <a:xfrm xmlns:a="http://schemas.openxmlformats.org/drawingml/2006/main">
            <a:off x="8382000" y="1981200"/>
            <a:ext cx="12001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TARGET REGION</a:t>
            </a:r>
          </a:p>
        </p:txBody>
      </p:sp>
      <p:sp>
        <p:nvSpPr>
          <p:cNvPr id="17" name="">
            <a:extLst xmlns:a="http://schemas.openxmlformats.org/drawingml/2006/main">
              <a:ext uri="{FF2B5EF4-FFF2-40B4-BE49-F238E27FC236}">
                <a16:creationId xmlns:a16="http://schemas.microsoft.com/office/drawing/2014/main" id="{AAB38099-9A0A-439C-8976-7272CBC0D250}"/>
              </a:ext>
            </a:extLst>
          </p:cNvPr>
          <p:cNvSpPr>
            <a:spLocks xmlns:a="http://schemas.openxmlformats.org/drawingml/2006/main" noGrp="1"/>
          </p:cNvSpPr>
          <p:nvPr/>
        </p:nvSpPr>
        <p:spPr>
          <a:xfrm xmlns:a="http://schemas.openxmlformats.org/drawingml/2006/main">
            <a:off x="8286750" y="2400300"/>
            <a:ext cx="142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4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33.2%</a:t>
            </a:r>
          </a:p>
        </p:txBody>
      </p:sp>
      <p:sp>
        <p:nvSpPr>
          <p:cNvPr id="18" name="">
            <a:extLst xmlns:a="http://schemas.openxmlformats.org/drawingml/2006/main">
              <a:ext uri="{FF2B5EF4-FFF2-40B4-BE49-F238E27FC236}">
                <a16:creationId xmlns:a16="http://schemas.microsoft.com/office/drawing/2014/main" id="{00CABBE4-0891-401C-BDBB-654FCA4C9E13}"/>
              </a:ext>
            </a:extLst>
          </p:cNvPr>
          <p:cNvSpPr>
            <a:spLocks xmlns:a="http://schemas.openxmlformats.org/drawingml/2006/main" noGrp="1"/>
          </p:cNvSpPr>
          <p:nvPr/>
        </p:nvSpPr>
        <p:spPr>
          <a:xfrm xmlns:a="http://schemas.openxmlformats.org/drawingml/2006/main">
            <a:off x="8286750" y="28194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BDE7D8"/>
                </a:solidFill>
                <a:latin typeface="Helvetica Neue"/>
                <a:ea typeface="Helvetica Neue"/>
                <a:cs typeface="Helvetica Neue"/>
              </a:defRPr>
            </a:pPr>
            <a:r>
              <a:rPr sz="1275" b="0">
                <a:solidFill>
                  <a:srgbClr val="BDE7D8"/>
                </a:solidFill>
                <a:latin typeface="Helvetica Neue"/>
                <a:ea typeface="Helvetica Neue"/>
                <a:cs typeface="Helvetica Neue"/>
              </a:rPr>
              <a:t>of the 4.34-nat gap recovered by four target patches</a:t>
            </a:r>
          </a:p>
        </p:txBody>
      </p:sp>
      <p:sp>
        <p:nvSpPr>
          <p:cNvPr id="19" name="">
            <a:extLst xmlns:a="http://schemas.openxmlformats.org/drawingml/2006/main">
              <a:ext uri="{FF2B5EF4-FFF2-40B4-BE49-F238E27FC236}">
                <a16:creationId xmlns:a16="http://schemas.microsoft.com/office/drawing/2014/main" id="{22B6034D-71B2-4A8A-A15F-9CBA38A86EE3}"/>
              </a:ext>
            </a:extLst>
          </p:cNvPr>
          <p:cNvSpPr>
            <a:spLocks xmlns:a="http://schemas.openxmlformats.org/drawingml/2006/main" noGrp="1"/>
          </p:cNvSpPr>
          <p:nvPr/>
        </p:nvSpPr>
        <p:spPr>
          <a:xfrm xmlns:a="http://schemas.openxmlformats.org/drawingml/2006/main">
            <a:off x="8286750" y="3409950"/>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00" b="1">
                <a:solidFill>
                  <a:srgbClr val="FFFFFF"/>
                </a:solidFill>
                <a:latin typeface="Helvetica Neue"/>
                <a:ea typeface="Helvetica Neue"/>
                <a:cs typeface="Helvetica Neue"/>
              </a:defRPr>
            </a:pPr>
            <a:r>
              <a:rPr sz="2100" b="1">
                <a:solidFill>
                  <a:srgbClr val="FFFFFF"/>
                </a:solidFill>
                <a:latin typeface="Helvetica Neue"/>
                <a:ea typeface="Helvetica Neue"/>
                <a:cs typeface="Helvetica Neue"/>
              </a:rPr>
              <a:t>+0.024 nats</a:t>
            </a:r>
          </a:p>
        </p:txBody>
      </p:sp>
      <p:sp>
        <p:nvSpPr>
          <p:cNvPr id="20" name="">
            <a:extLst xmlns:a="http://schemas.openxmlformats.org/drawingml/2006/main">
              <a:ext uri="{FF2B5EF4-FFF2-40B4-BE49-F238E27FC236}">
                <a16:creationId xmlns:a16="http://schemas.microsoft.com/office/drawing/2014/main" id="{D0D59CCE-A9B5-45CA-BCAA-2782011535D8}"/>
              </a:ext>
            </a:extLst>
          </p:cNvPr>
          <p:cNvSpPr>
            <a:spLocks xmlns:a="http://schemas.openxmlformats.org/drawingml/2006/main" noGrp="1"/>
          </p:cNvSpPr>
          <p:nvPr/>
        </p:nvSpPr>
        <p:spPr>
          <a:xfrm xmlns:a="http://schemas.openxmlformats.org/drawingml/2006/main">
            <a:off x="8286750" y="37719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F2BDAF"/>
                </a:solidFill>
                <a:latin typeface="Helvetica Neue"/>
                <a:ea typeface="Helvetica Neue"/>
                <a:cs typeface="Helvetica Neue"/>
              </a:defRPr>
            </a:pPr>
            <a:r>
              <a:rPr sz="1200" b="0">
                <a:solidFill>
                  <a:srgbClr val="F2BDAF"/>
                </a:solidFill>
                <a:latin typeface="Helvetica Neue"/>
                <a:ea typeface="Helvetica Neue"/>
                <a:cs typeface="Helvetica Neue"/>
              </a:rPr>
              <a:t>restored by isolated L19/H10</a:t>
            </a:r>
          </a:p>
        </p:txBody>
      </p:sp>
      <p:sp>
        <p:nvSpPr>
          <p:cNvPr id="21" name="">
            <a:extLst xmlns:a="http://schemas.openxmlformats.org/drawingml/2006/main">
              <a:ext uri="{FF2B5EF4-FFF2-40B4-BE49-F238E27FC236}">
                <a16:creationId xmlns:a16="http://schemas.microsoft.com/office/drawing/2014/main" id="{9AB02B39-E00B-4D42-B1A0-A96EA5CD5A09}"/>
              </a:ext>
            </a:extLst>
          </p:cNvPr>
          <p:cNvSpPr>
            <a:spLocks xmlns:a="http://schemas.openxmlformats.org/drawingml/2006/main" noGrp="1"/>
          </p:cNvSpPr>
          <p:nvPr/>
        </p:nvSpPr>
        <p:spPr>
          <a:xfrm xmlns:a="http://schemas.openxmlformats.org/drawingml/2006/main">
            <a:off x="8286750" y="4171950"/>
            <a:ext cx="3009900" cy="9525"/>
          </a:xfrm>
          <a:prstGeom xmlns:a="http://schemas.openxmlformats.org/drawingml/2006/main" prst="rect">
            <a:avLst/>
          </a:prstGeom>
          <a:solidFill xmlns:a="http://schemas.openxmlformats.org/drawingml/2006/main">
            <a:srgbClr val="46556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4AC2496-7585-4F3E-A656-58BD73FE9133}"/>
              </a:ext>
            </a:extLst>
          </p:cNvPr>
          <p:cNvSpPr>
            <a:spLocks xmlns:a="http://schemas.openxmlformats.org/drawingml/2006/main" noGrp="1"/>
          </p:cNvSpPr>
          <p:nvPr/>
        </p:nvSpPr>
        <p:spPr>
          <a:xfrm xmlns:a="http://schemas.openxmlformats.org/drawingml/2006/main">
            <a:off x="8286750" y="4343400"/>
            <a:ext cx="142875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F83D06C-88A8-4B70-8D27-53C268D949B4}"/>
              </a:ext>
            </a:extLst>
          </p:cNvPr>
          <p:cNvSpPr>
            <a:spLocks xmlns:a="http://schemas.openxmlformats.org/drawingml/2006/main" noGrp="1"/>
          </p:cNvSpPr>
          <p:nvPr/>
        </p:nvSpPr>
        <p:spPr>
          <a:xfrm xmlns:a="http://schemas.openxmlformats.org/drawingml/2006/main">
            <a:off x="8382000" y="43624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CAUSAL READING</a:t>
            </a:r>
          </a:p>
        </p:txBody>
      </p:sp>
      <p:sp>
        <p:nvSpPr>
          <p:cNvPr id="24" name="">
            <a:extLst xmlns:a="http://schemas.openxmlformats.org/drawingml/2006/main">
              <a:ext uri="{FF2B5EF4-FFF2-40B4-BE49-F238E27FC236}">
                <a16:creationId xmlns:a16="http://schemas.microsoft.com/office/drawing/2014/main" id="{7520B0B1-52CA-4E15-A829-9D8A7C638F0A}"/>
              </a:ext>
            </a:extLst>
          </p:cNvPr>
          <p:cNvSpPr>
            <a:spLocks xmlns:a="http://schemas.openxmlformats.org/drawingml/2006/main" noGrp="1"/>
          </p:cNvSpPr>
          <p:nvPr/>
        </p:nvSpPr>
        <p:spPr>
          <a:xfrm xmlns:a="http://schemas.openxmlformats.org/drawingml/2006/main">
            <a:off x="8286750" y="4762500"/>
            <a:ext cx="29146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Regional, not head-local</a:t>
            </a:r>
          </a:p>
        </p:txBody>
      </p:sp>
      <p:sp>
        <p:nvSpPr>
          <p:cNvPr id="25" name="">
            <a:extLst xmlns:a="http://schemas.openxmlformats.org/drawingml/2006/main">
              <a:ext uri="{FF2B5EF4-FFF2-40B4-BE49-F238E27FC236}">
                <a16:creationId xmlns:a16="http://schemas.microsoft.com/office/drawing/2014/main" id="{E9DCBD2F-8DA8-431C-8732-4C92239FFA7D}"/>
              </a:ext>
            </a:extLst>
          </p:cNvPr>
          <p:cNvSpPr>
            <a:spLocks xmlns:a="http://schemas.openxmlformats.org/drawingml/2006/main" noGrp="1"/>
          </p:cNvSpPr>
          <p:nvPr/>
        </p:nvSpPr>
        <p:spPr>
          <a:xfrm xmlns:a="http://schemas.openxmlformats.org/drawingml/2006/main">
            <a:off x="8286750" y="5143500"/>
            <a:ext cx="2914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C4CED7"/>
                </a:solidFill>
                <a:latin typeface="Helvetica Neue"/>
                <a:ea typeface="Helvetica Neue"/>
                <a:cs typeface="Helvetica Neue"/>
              </a:defRPr>
            </a:pPr>
            <a:r>
              <a:rPr sz="1050" b="0">
                <a:solidFill>
                  <a:srgbClr val="C4CED7"/>
                </a:solidFill>
                <a:latin typeface="Helvetica Neue"/>
                <a:ea typeface="Helvetica Neue"/>
                <a:cs typeface="Helvetica Neue"/>
              </a:rPr>
              <a:t>Target residuals pass restoration and ablation; the selected head alone does not.</a:t>
            </a:r>
          </a:p>
        </p:txBody>
      </p:sp>
      <p:sp>
        <p:nvSpPr>
          <p:cNvPr id="26" name="">
            <a:extLst xmlns:a="http://schemas.openxmlformats.org/drawingml/2006/main">
              <a:ext uri="{FF2B5EF4-FFF2-40B4-BE49-F238E27FC236}">
                <a16:creationId xmlns:a16="http://schemas.microsoft.com/office/drawing/2014/main" id="{EF56398D-FEE8-46FA-8956-31688F6A7D2D}"/>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4B12286-98FE-4978-ACB4-0B890ED07C2F}"/>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Causal bars: one matched tile swap · activation patching replaces one corrupted-run tensor with its clean counterpart</a:t>
            </a:r>
          </a:p>
        </p:txBody>
      </p:sp>
    </p:spTree>
    <p:extLst>
      <p:ext uri="{BB962C8B-B14F-4D97-AF65-F5344CB8AC3E}">
        <p14:creationId xmlns:p14="http://schemas.microsoft.com/office/powerpoint/2010/main" val="486596132"/>
      </p:ext>
    </p:extLst>
  </p:cSld>
</p:sld>
</file>

<file path=ppt/slides/slide12.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D703DF13-B625-4DBA-A76C-4E86DF45868F}"/>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FINE-TUNING DELTA LENS</a:t>
            </a:r>
          </a:p>
        </p:txBody>
      </p:sp>
      <p:sp>
        <p:nvSpPr>
          <p:cNvPr id="2" name="">
            <a:extLst xmlns:a="http://schemas.openxmlformats.org/drawingml/2006/main">
              <a:ext uri="{FF2B5EF4-FFF2-40B4-BE49-F238E27FC236}">
                <a16:creationId xmlns:a16="http://schemas.microsoft.com/office/drawing/2014/main" id="{01735470-1E82-4E8A-8C1E-5D7083315618}"/>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78175"/>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Action margins improve without stronger value-weighted target grounding</a:t>
            </a:r>
          </a:p>
        </p:txBody>
      </p:sp>
      <p:sp>
        <p:nvSpPr>
          <p:cNvPr id="3" name="">
            <a:extLst xmlns:a="http://schemas.openxmlformats.org/drawingml/2006/main">
              <a:ext uri="{FF2B5EF4-FFF2-40B4-BE49-F238E27FC236}">
                <a16:creationId xmlns:a16="http://schemas.microsoft.com/office/drawing/2014/main" id="{64697662-E714-4080-909C-CA3E3869B7F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D0C35542-C13E-4274-AACC-E049EC523950}"/>
              </a:ext>
            </a:extLst>
          </p:cNvPr>
          <p:cNvSpPr>
            <a:spLocks xmlns:a="http://schemas.openxmlformats.org/drawingml/2006/main" noGrp="1"/>
          </p:cNvSpPr>
          <p:nvPr/>
        </p:nvSpPr>
        <p:spPr>
          <a:xfrm xmlns:a="http://schemas.openxmlformats.org/drawingml/2006/main">
            <a:off x="609600" y="108585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66717D"/>
                </a:solidFill>
                <a:latin typeface="Helvetica Neue"/>
                <a:ea typeface="Helvetica Neue"/>
                <a:cs typeface="Helvetica Neue"/>
              </a:defRPr>
            </a:pPr>
            <a:r>
              <a:rPr sz="975" b="0">
                <a:solidFill>
                  <a:srgbClr val="66717D"/>
                </a:solidFill>
                <a:latin typeface="Helvetica Neue"/>
                <a:ea typeface="Helvetica Neue"/>
                <a:cs typeface="Helvetica Neue"/>
              </a:rPr>
              <a:t>Same native screenshot and official prompt, with independent oracle coordinates for four alternate instructions per checkpoint</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398c172b7eb14781"/>
          <a:srcRect xmlns:a="http://schemas.openxmlformats.org/drawingml/2006/main" l="0" t="7778" r="0" b="7778"/>
          <a:stretch xmlns:a="http://schemas.openxmlformats.org/drawingml/2006/main">
            <a:fillRect l="0" t="0" r="0" b="0"/>
          </a:stretch>
        </p:blipFill>
        <p:spPr>
          <a:xfrm xmlns:a="http://schemas.openxmlformats.org/drawingml/2006/main">
            <a:off x="609600" y="1466850"/>
            <a:ext cx="3429000" cy="1809750"/>
          </a:xfrm>
          <a:prstGeom xmlns:a="http://schemas.openxmlformats.org/drawingml/2006/main" prst="roundRect">
            <a:avLst>
              <a:gd name="adj" fmla="val 6316"/>
            </a:avLst>
          </a:prstGeom>
        </p:spPr>
      </p:pic>
      <p:sp>
        <p:nvSpPr>
          <p:cNvPr id="6" name="">
            <a:extLst xmlns:a="http://schemas.openxmlformats.org/drawingml/2006/main">
              <a:ext uri="{FF2B5EF4-FFF2-40B4-BE49-F238E27FC236}">
                <a16:creationId xmlns:a16="http://schemas.microsoft.com/office/drawing/2014/main" id="{F2604CB9-AE30-46B3-B460-40ADFEF76923}"/>
              </a:ext>
            </a:extLst>
          </p:cNvPr>
          <p:cNvSpPr>
            <a:spLocks xmlns:a="http://schemas.openxmlformats.org/drawingml/2006/main" noGrp="1"/>
          </p:cNvSpPr>
          <p:nvPr/>
        </p:nvSpPr>
        <p:spPr>
          <a:xfrm xmlns:a="http://schemas.openxmlformats.org/drawingml/2006/main">
            <a:off x="6096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69ab6da878a453f"/>
          <a:srcRect xmlns:a="http://schemas.openxmlformats.org/drawingml/2006/main" l="0" t="7778" r="0" b="7778"/>
          <a:stretch xmlns:a="http://schemas.openxmlformats.org/drawingml/2006/main">
            <a:fillRect l="0" t="0" r="0" b="0"/>
          </a:stretch>
        </p:blipFill>
        <p:spPr>
          <a:xfrm xmlns:a="http://schemas.openxmlformats.org/drawingml/2006/main">
            <a:off x="4381500" y="1466850"/>
            <a:ext cx="3429000" cy="1809750"/>
          </a:xfrm>
          <a:prstGeom xmlns:a="http://schemas.openxmlformats.org/drawingml/2006/main" prst="roundRect">
            <a:avLst>
              <a:gd name="adj" fmla="val 6316"/>
            </a:avLst>
          </a:prstGeom>
        </p:spPr>
      </p:pic>
      <p:sp>
        <p:nvSpPr>
          <p:cNvPr id="8" name="">
            <a:extLst xmlns:a="http://schemas.openxmlformats.org/drawingml/2006/main">
              <a:ext uri="{FF2B5EF4-FFF2-40B4-BE49-F238E27FC236}">
                <a16:creationId xmlns:a16="http://schemas.microsoft.com/office/drawing/2014/main" id="{DA33BE5E-73ED-4041-854C-8791B6B240AA}"/>
              </a:ext>
            </a:extLst>
          </p:cNvPr>
          <p:cNvSpPr>
            <a:spLocks xmlns:a="http://schemas.openxmlformats.org/drawingml/2006/main" noGrp="1"/>
          </p:cNvSpPr>
          <p:nvPr/>
        </p:nvSpPr>
        <p:spPr>
          <a:xfrm xmlns:a="http://schemas.openxmlformats.org/drawingml/2006/main">
            <a:off x="43815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7f7e87bc665d43df"/>
          <a:srcRect xmlns:a="http://schemas.openxmlformats.org/drawingml/2006/main" l="0" t="7778" r="0" b="7778"/>
          <a:stretch xmlns:a="http://schemas.openxmlformats.org/drawingml/2006/main">
            <a:fillRect l="0" t="0" r="0" b="0"/>
          </a:stretch>
        </p:blipFill>
        <p:spPr>
          <a:xfrm xmlns:a="http://schemas.openxmlformats.org/drawingml/2006/main">
            <a:off x="8153400" y="1466850"/>
            <a:ext cx="3429000" cy="1809750"/>
          </a:xfrm>
          <a:prstGeom xmlns:a="http://schemas.openxmlformats.org/drawingml/2006/main" prst="roundRect">
            <a:avLst>
              <a:gd name="adj" fmla="val 6316"/>
            </a:avLst>
          </a:prstGeom>
        </p:spPr>
      </p:pic>
      <p:sp>
        <p:nvSpPr>
          <p:cNvPr id="10" name="">
            <a:extLst xmlns:a="http://schemas.openxmlformats.org/drawingml/2006/main">
              <a:ext uri="{FF2B5EF4-FFF2-40B4-BE49-F238E27FC236}">
                <a16:creationId xmlns:a16="http://schemas.microsoft.com/office/drawing/2014/main" id="{5BB50D40-3445-4DE0-A971-995D4EF4A190}"/>
              </a:ext>
            </a:extLst>
          </p:cNvPr>
          <p:cNvSpPr>
            <a:spLocks xmlns:a="http://schemas.openxmlformats.org/drawingml/2006/main" noGrp="1"/>
          </p:cNvSpPr>
          <p:nvPr/>
        </p:nvSpPr>
        <p:spPr>
          <a:xfrm xmlns:a="http://schemas.openxmlformats.org/drawingml/2006/main">
            <a:off x="8153400" y="1466850"/>
            <a:ext cx="3429000" cy="1809750"/>
          </a:xfrm>
          <a:prstGeom xmlns:a="http://schemas.openxmlformats.org/drawingml/2006/main" prst="roundRect">
            <a:avLst>
              <a:gd name="adj" fmla="val 4211"/>
            </a:avLst>
          </a:prstGeom>
          <a:noFill xmlns:a="http://schemas.openxmlformats.org/drawingml/2006/main"/>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397528DD-FE82-4BDC-A9B9-B58E999A0490}"/>
              </a:ext>
            </a:extLst>
          </p:cNvPr>
          <p:cNvSpPr>
            <a:spLocks xmlns:a="http://schemas.openxmlformats.org/drawingml/2006/main" noGrp="1"/>
          </p:cNvSpPr>
          <p:nvPr/>
        </p:nvSpPr>
        <p:spPr>
          <a:xfrm xmlns:a="http://schemas.openxmlformats.org/drawingml/2006/main">
            <a:off x="704850" y="1562100"/>
            <a:ext cx="32385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D9D3A93-DBAB-4F35-B47F-1E469A43C217}"/>
              </a:ext>
            </a:extLst>
          </p:cNvPr>
          <p:cNvSpPr>
            <a:spLocks xmlns:a="http://schemas.openxmlformats.org/drawingml/2006/main" noGrp="1"/>
          </p:cNvSpPr>
          <p:nvPr/>
        </p:nvSpPr>
        <p:spPr>
          <a:xfrm xmlns:a="http://schemas.openxmlformats.org/drawingml/2006/main">
            <a:off x="8001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QWEN · TARGET − CONTROL +13.2 PP</a:t>
            </a:r>
          </a:p>
        </p:txBody>
      </p:sp>
      <p:sp>
        <p:nvSpPr>
          <p:cNvPr id="13" name="">
            <a:extLst xmlns:a="http://schemas.openxmlformats.org/drawingml/2006/main">
              <a:ext uri="{FF2B5EF4-FFF2-40B4-BE49-F238E27FC236}">
                <a16:creationId xmlns:a16="http://schemas.microsoft.com/office/drawing/2014/main" id="{BCC093BF-8C4E-42DF-B1FB-6644029E8735}"/>
              </a:ext>
            </a:extLst>
          </p:cNvPr>
          <p:cNvSpPr>
            <a:spLocks xmlns:a="http://schemas.openxmlformats.org/drawingml/2006/main" noGrp="1"/>
          </p:cNvSpPr>
          <p:nvPr/>
        </p:nvSpPr>
        <p:spPr>
          <a:xfrm xmlns:a="http://schemas.openxmlformats.org/drawingml/2006/main">
            <a:off x="4476750" y="1562100"/>
            <a:ext cx="32385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F09D602-95B5-4683-B66B-9A29BDADC1C4}"/>
              </a:ext>
            </a:extLst>
          </p:cNvPr>
          <p:cNvSpPr>
            <a:spLocks xmlns:a="http://schemas.openxmlformats.org/drawingml/2006/main" noGrp="1"/>
          </p:cNvSpPr>
          <p:nvPr/>
        </p:nvSpPr>
        <p:spPr>
          <a:xfrm xmlns:a="http://schemas.openxmlformats.org/drawingml/2006/main">
            <a:off x="45720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TARGET − CONTROL +12.4 PP</a:t>
            </a:r>
          </a:p>
        </p:txBody>
      </p:sp>
      <p:sp>
        <p:nvSpPr>
          <p:cNvPr id="15" name="">
            <a:extLst xmlns:a="http://schemas.openxmlformats.org/drawingml/2006/main">
              <a:ext uri="{FF2B5EF4-FFF2-40B4-BE49-F238E27FC236}">
                <a16:creationId xmlns:a16="http://schemas.microsoft.com/office/drawing/2014/main" id="{69FE7E72-557A-48D4-AF74-0B123C02432D}"/>
              </a:ext>
            </a:extLst>
          </p:cNvPr>
          <p:cNvSpPr>
            <a:spLocks xmlns:a="http://schemas.openxmlformats.org/drawingml/2006/main" noGrp="1"/>
          </p:cNvSpPr>
          <p:nvPr/>
        </p:nvSpPr>
        <p:spPr>
          <a:xfrm xmlns:a="http://schemas.openxmlformats.org/drawingml/2006/main">
            <a:off x="8248650" y="1562100"/>
            <a:ext cx="323850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C506D4D-8973-4A7D-815B-E2D8DDECDEAE}"/>
              </a:ext>
            </a:extLst>
          </p:cNvPr>
          <p:cNvSpPr>
            <a:spLocks xmlns:a="http://schemas.openxmlformats.org/drawingml/2006/main" noGrp="1"/>
          </p:cNvSpPr>
          <p:nvPr/>
        </p:nvSpPr>
        <p:spPr>
          <a:xfrm xmlns:a="http://schemas.openxmlformats.org/drawingml/2006/main">
            <a:off x="8343900" y="1581150"/>
            <a:ext cx="304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HOLO − QWEN · -0.8 PP AT TARGET</a:t>
            </a:r>
          </a:p>
        </p:txBody>
      </p:sp>
      <p:sp>
        <p:nvSpPr>
          <p:cNvPr id="17" name="">
            <a:extLst xmlns:a="http://schemas.openxmlformats.org/drawingml/2006/main">
              <a:ext uri="{FF2B5EF4-FFF2-40B4-BE49-F238E27FC236}">
                <a16:creationId xmlns:a16="http://schemas.microsoft.com/office/drawing/2014/main" id="{56C62A9B-9654-4F36-BAEE-196D86AC2A60}"/>
              </a:ext>
            </a:extLst>
          </p:cNvPr>
          <p:cNvSpPr>
            <a:spLocks xmlns:a="http://schemas.openxmlformats.org/drawingml/2006/main" noGrp="1"/>
          </p:cNvSpPr>
          <p:nvPr/>
        </p:nvSpPr>
        <p:spPr>
          <a:xfrm xmlns:a="http://schemas.openxmlformats.org/drawingml/2006/main">
            <a:off x="609600" y="35242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ACTION-MARGIN DELTA BY LAYER</a:t>
            </a:r>
          </a:p>
        </p:txBody>
      </p:sp>
      <p:graphicFrame>
        <p:nvGraphicFramePr>
          <p:cNvPr id="43" name="Chart"/>
          <p:cNvGraphicFramePr/>
          <p:nvPr/>
        </p:nvGraphicFramePr>
        <p:xfrm>
          <a:off xmlns:a="http://schemas.openxmlformats.org/drawingml/2006/main" x="609600" y="3733800"/>
          <a:ext xmlns:a="http://schemas.openxmlformats.org/drawingml/2006/main" cx="6858000" cy="2038350"/>
        </p:xfrm>
        <a:graphic xmlns:a="http://schemas.openxmlformats.org/drawingml/2006/main">
          <a:graphicData uri="http://schemas.openxmlformats.org/drawingml/2006/chart">
            <c:chart xmlns:r="http://schemas.openxmlformats.org/officeDocument/2006/relationships" xmlns:c="http://schemas.openxmlformats.org/drawingml/2006/chart" r:id="Re1aa3df52ae14de9"/>
          </a:graphicData>
        </a:graphic>
      </p:graphicFrame>
      <p:sp>
        <p:nvSpPr>
          <p:cNvPr id="19" name="">
            <a:extLst xmlns:a="http://schemas.openxmlformats.org/drawingml/2006/main">
              <a:ext uri="{FF2B5EF4-FFF2-40B4-BE49-F238E27FC236}">
                <a16:creationId xmlns:a16="http://schemas.microsoft.com/office/drawing/2014/main" id="{CA31006C-737C-4EF4-9AD6-8067B4AF445B}"/>
              </a:ext>
            </a:extLst>
          </p:cNvPr>
          <p:cNvSpPr>
            <a:spLocks xmlns:a="http://schemas.openxmlformats.org/drawingml/2006/main" noGrp="1"/>
          </p:cNvSpPr>
          <p:nvPr/>
        </p:nvSpPr>
        <p:spPr>
          <a:xfrm xmlns:a="http://schemas.openxmlformats.org/drawingml/2006/main">
            <a:off x="7772400" y="3524250"/>
            <a:ext cx="3810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825" b="1">
                <a:solidFill>
                  <a:srgbClr val="2D84D3"/>
                </a:solidFill>
                <a:latin typeface="Helvetica Neue"/>
                <a:ea typeface="Helvetica Neue"/>
                <a:cs typeface="Helvetica Neue"/>
              </a:defRPr>
            </a:pPr>
            <a:r>
              <a:rPr sz="825" b="1">
                <a:solidFill>
                  <a:srgbClr val="2D84D3"/>
                </a:solidFill>
                <a:latin typeface="Helvetica Neue"/>
                <a:ea typeface="Helvetica Neue"/>
                <a:cs typeface="Helvetica Neue"/>
              </a:rPr>
              <a:t>HOTEL FINAL STEP · VALUE-NORM ATTENTION</a:t>
            </a:r>
          </a:p>
        </p:txBody>
      </p:sp>
      <p:graphicFrame>
        <p:nvGraphicFramePr>
          <p:cNvPr id="45" name="Chart"/>
          <p:cNvGraphicFramePr/>
          <p:nvPr/>
        </p:nvGraphicFramePr>
        <p:xfrm>
          <a:off xmlns:a="http://schemas.openxmlformats.org/drawingml/2006/main" x="7772400" y="3733800"/>
          <a:ext xmlns:a="http://schemas.openxmlformats.org/drawingml/2006/main" cx="3810000" cy="2038350"/>
        </p:xfrm>
        <a:graphic xmlns:a="http://schemas.openxmlformats.org/drawingml/2006/main">
          <a:graphicData uri="http://schemas.openxmlformats.org/drawingml/2006/chart">
            <c:chart xmlns:r="http://schemas.openxmlformats.org/officeDocument/2006/relationships" xmlns:c="http://schemas.openxmlformats.org/drawingml/2006/chart" r:id="R4fae634ef9db4db5"/>
          </a:graphicData>
        </a:graphic>
      </p:graphicFrame>
      <p:sp>
        <p:nvSpPr>
          <p:cNvPr id="21" name="">
            <a:extLst xmlns:a="http://schemas.openxmlformats.org/drawingml/2006/main">
              <a:ext uri="{FF2B5EF4-FFF2-40B4-BE49-F238E27FC236}">
                <a16:creationId xmlns:a16="http://schemas.microsoft.com/office/drawing/2014/main" id="{CB9ACFC5-1F8D-4C3E-BFD0-A878B9EFA78E}"/>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oundRect">
            <a:avLst>
              <a:gd name="adj" fmla="val 21053"/>
            </a:avLst>
          </a:prstGeom>
          <a:solidFill xmlns:a="http://schemas.openxmlformats.org/drawingml/2006/main">
            <a:srgbClr val="1C2733"/>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7A14043-4D3A-4E3D-960A-7DE3C1657A8A}"/>
              </a:ext>
            </a:extLst>
          </p:cNvPr>
          <p:cNvSpPr>
            <a:spLocks xmlns:a="http://schemas.openxmlformats.org/drawingml/2006/main" noGrp="1"/>
          </p:cNvSpPr>
          <p:nvPr/>
        </p:nvSpPr>
        <p:spPr>
          <a:xfrm xmlns:a="http://schemas.openxmlformats.org/drawingml/2006/main">
            <a:off x="781050" y="5981700"/>
            <a:ext cx="5143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5/5 ScreenSpot final shifts positive · mean +1.14 nats/token · 3 cross zero</a:t>
            </a:r>
          </a:p>
        </p:txBody>
      </p:sp>
      <p:sp>
        <p:nvSpPr>
          <p:cNvPr id="23" name="">
            <a:extLst xmlns:a="http://schemas.openxmlformats.org/drawingml/2006/main">
              <a:ext uri="{FF2B5EF4-FFF2-40B4-BE49-F238E27FC236}">
                <a16:creationId xmlns:a16="http://schemas.microsoft.com/office/drawing/2014/main" id="{2ADC46A3-2CE7-4CD2-89AD-AAD30CC92218}"/>
              </a:ext>
            </a:extLst>
          </p:cNvPr>
          <p:cNvSpPr>
            <a:spLocks xmlns:a="http://schemas.openxmlformats.org/drawingml/2006/main" noGrp="1"/>
          </p:cNvSpPr>
          <p:nvPr/>
        </p:nvSpPr>
        <p:spPr>
          <a:xfrm xmlns:a="http://schemas.openxmlformats.org/drawingml/2006/main">
            <a:off x="6115050" y="5981700"/>
            <a:ext cx="5257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F5E2B8"/>
                </a:solidFill>
                <a:latin typeface="Helvetica Neue"/>
                <a:ea typeface="Helvetica Neue"/>
                <a:cs typeface="Helvetica Neue"/>
              </a:defRPr>
            </a:pPr>
            <a:r>
              <a:rPr sz="975" b="1">
                <a:solidFill>
                  <a:srgbClr val="F5E2B8"/>
                </a:solidFill>
                <a:latin typeface="Helvetica Neue"/>
                <a:ea typeface="Helvetica Neue"/>
                <a:cs typeface="Helvetica Neue"/>
              </a:rPr>
              <a:t>Paired value-norm -0.78 pp · LOO ≥0.95 · raw +1.36 pp</a:t>
            </a:r>
          </a:p>
        </p:txBody>
      </p:sp>
      <p:sp>
        <p:nvSpPr>
          <p:cNvPr id="24" name="">
            <a:extLst xmlns:a="http://schemas.openxmlformats.org/drawingml/2006/main">
              <a:ext uri="{FF2B5EF4-FFF2-40B4-BE49-F238E27FC236}">
                <a16:creationId xmlns:a16="http://schemas.microsoft.com/office/drawing/2014/main" id="{919E3417-B5C5-480F-88B0-39D47A3F1838}"/>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2C7C3AB5-7817-4F07-A755-EEC723FCCA70}"/>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Native input ceiling: ScreenSpot retains 99.6% area; hotel frames retain 97.8% after patch alignment · attention is descriptive, not causal</a:t>
            </a:r>
          </a:p>
        </p:txBody>
      </p:sp>
    </p:spTree>
    <p:extLst>
      <p:ext uri="{BB962C8B-B14F-4D97-AF65-F5344CB8AC3E}">
        <p14:creationId xmlns:p14="http://schemas.microsoft.com/office/powerpoint/2010/main" val="1501469032"/>
      </p:ext>
    </p:extLst>
  </p:cSld>
</p:sld>
</file>

<file path=ppt/slides/slide13.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0BE3B79-8275-4966-9D29-B93B6D3EC0B3}"/>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RESEARCH DIRECTIONS</a:t>
            </a:r>
          </a:p>
        </p:txBody>
      </p:sp>
      <p:sp>
        <p:nvSpPr>
          <p:cNvPr id="2" name="">
            <a:extLst xmlns:a="http://schemas.openxmlformats.org/drawingml/2006/main">
              <a:ext uri="{FF2B5EF4-FFF2-40B4-BE49-F238E27FC236}">
                <a16:creationId xmlns:a16="http://schemas.microsoft.com/office/drawing/2014/main" id="{8EAB1B13-49FF-47DC-BE31-22BDD1994F12}"/>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From one intervention to a causal evaluation set</a:t>
            </a:r>
          </a:p>
        </p:txBody>
      </p:sp>
      <p:sp>
        <p:nvSpPr>
          <p:cNvPr id="3" name="">
            <a:extLst xmlns:a="http://schemas.openxmlformats.org/drawingml/2006/main">
              <a:ext uri="{FF2B5EF4-FFF2-40B4-BE49-F238E27FC236}">
                <a16:creationId xmlns:a16="http://schemas.microsoft.com/office/drawing/2014/main" id="{C3CA0913-B3D5-4801-8132-B079919A4A30}"/>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77087452-BCC5-4857-95DC-04749AC871F3}"/>
              </a:ext>
            </a:extLst>
          </p:cNvPr>
          <p:cNvSpPr>
            <a:spLocks xmlns:a="http://schemas.openxmlformats.org/drawingml/2006/main" noGrp="1"/>
          </p:cNvSpPr>
          <p:nvPr/>
        </p:nvSpPr>
        <p:spPr>
          <a:xfrm xmlns:a="http://schemas.openxmlformats.org/drawingml/2006/main">
            <a:off x="60960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5" name="">
            <a:extLst xmlns:a="http://schemas.openxmlformats.org/drawingml/2006/main">
              <a:ext uri="{FF2B5EF4-FFF2-40B4-BE49-F238E27FC236}">
                <a16:creationId xmlns:a16="http://schemas.microsoft.com/office/drawing/2014/main" id="{1631F109-89DB-4ED9-B427-6ED0310E9292}"/>
              </a:ext>
            </a:extLst>
          </p:cNvPr>
          <p:cNvSpPr>
            <a:spLocks xmlns:a="http://schemas.openxmlformats.org/drawingml/2006/main" noGrp="1"/>
          </p:cNvSpPr>
          <p:nvPr/>
        </p:nvSpPr>
        <p:spPr>
          <a:xfrm xmlns:a="http://schemas.openxmlformats.org/drawingml/2006/main">
            <a:off x="819150" y="1619250"/>
            <a:ext cx="4572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0D405B8-1980-4D01-9AD3-EB881762AB4B}"/>
              </a:ext>
            </a:extLst>
          </p:cNvPr>
          <p:cNvSpPr>
            <a:spLocks xmlns:a="http://schemas.openxmlformats.org/drawingml/2006/main" noGrp="1"/>
          </p:cNvSpPr>
          <p:nvPr/>
        </p:nvSpPr>
        <p:spPr>
          <a:xfrm xmlns:a="http://schemas.openxmlformats.org/drawingml/2006/main">
            <a:off x="91440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42A5745-471F-47C2-9A9A-0C45A4D9AB1A}"/>
              </a:ext>
            </a:extLst>
          </p:cNvPr>
          <p:cNvSpPr>
            <a:spLocks xmlns:a="http://schemas.openxmlformats.org/drawingml/2006/main" noGrp="1"/>
          </p:cNvSpPr>
          <p:nvPr/>
        </p:nvSpPr>
        <p:spPr>
          <a:xfrm xmlns:a="http://schemas.openxmlformats.org/drawingml/2006/main">
            <a:off x="1447800" y="1619250"/>
            <a:ext cx="4248150" cy="295275"/>
          </a:xfrm>
          <a:prstGeom xmlns:a="http://schemas.openxmlformats.org/drawingml/2006/main" prst="roundRect">
            <a:avLst>
              <a:gd name="adj" fmla="val 25806"/>
            </a:avLst>
          </a:prstGeom>
          <a:solidFill xmlns:a="http://schemas.openxmlformats.org/drawingml/2006/main">
            <a:srgbClr val="FCE2D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29A6B4-D3B0-444D-BA98-09D00340370B}"/>
              </a:ext>
            </a:extLst>
          </p:cNvPr>
          <p:cNvSpPr>
            <a:spLocks xmlns:a="http://schemas.openxmlformats.org/drawingml/2006/main" noGrp="1"/>
          </p:cNvSpPr>
          <p:nvPr/>
        </p:nvSpPr>
        <p:spPr>
          <a:xfrm xmlns:a="http://schemas.openxmlformats.org/drawingml/2006/main">
            <a:off x="158115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MATCHED INTERVENTION SPLIT</a:t>
            </a:r>
          </a:p>
        </p:txBody>
      </p:sp>
      <p:sp>
        <p:nvSpPr>
          <p:cNvPr id="9" name="">
            <a:extLst xmlns:a="http://schemas.openxmlformats.org/drawingml/2006/main">
              <a:ext uri="{FF2B5EF4-FFF2-40B4-BE49-F238E27FC236}">
                <a16:creationId xmlns:a16="http://schemas.microsoft.com/office/drawing/2014/main" id="{680CE62A-88BE-4A2C-AFB1-F986718144B9}"/>
              </a:ext>
            </a:extLst>
          </p:cNvPr>
          <p:cNvSpPr>
            <a:spLocks xmlns:a="http://schemas.openxmlformats.org/drawingml/2006/main" noGrp="1"/>
          </p:cNvSpPr>
          <p:nvPr/>
        </p:nvSpPr>
        <p:spPr>
          <a:xfrm xmlns:a="http://schemas.openxmlformats.org/drawingml/2006/main">
            <a:off x="85725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Freeze a diverse set of target–distractor swaps, pre-register coordinate margins, and report effect distributions with bootstrap intervals.</a:t>
            </a:r>
          </a:p>
        </p:txBody>
      </p:sp>
      <p:sp>
        <p:nvSpPr>
          <p:cNvPr id="10" name="">
            <a:extLst xmlns:a="http://schemas.openxmlformats.org/drawingml/2006/main">
              <a:ext uri="{FF2B5EF4-FFF2-40B4-BE49-F238E27FC236}">
                <a16:creationId xmlns:a16="http://schemas.microsoft.com/office/drawing/2014/main" id="{EFAD1193-939C-4210-B308-4357CD61E9FB}"/>
              </a:ext>
            </a:extLst>
          </p:cNvPr>
          <p:cNvSpPr>
            <a:spLocks xmlns:a="http://schemas.openxmlformats.org/drawingml/2006/main" noGrp="1"/>
          </p:cNvSpPr>
          <p:nvPr/>
        </p:nvSpPr>
        <p:spPr>
          <a:xfrm xmlns:a="http://schemas.openxmlformats.org/drawingml/2006/main">
            <a:off x="6191250" y="140970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1" name="">
            <a:extLst xmlns:a="http://schemas.openxmlformats.org/drawingml/2006/main">
              <a:ext uri="{FF2B5EF4-FFF2-40B4-BE49-F238E27FC236}">
                <a16:creationId xmlns:a16="http://schemas.microsoft.com/office/drawing/2014/main" id="{2150056C-AEC7-4FF8-80A5-2AC69A680214}"/>
              </a:ext>
            </a:extLst>
          </p:cNvPr>
          <p:cNvSpPr>
            <a:spLocks xmlns:a="http://schemas.openxmlformats.org/drawingml/2006/main" noGrp="1"/>
          </p:cNvSpPr>
          <p:nvPr/>
        </p:nvSpPr>
        <p:spPr>
          <a:xfrm xmlns:a="http://schemas.openxmlformats.org/drawingml/2006/main">
            <a:off x="6400800" y="1619250"/>
            <a:ext cx="4572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BE9DE4D-1298-4B16-9083-87638EAAD1DE}"/>
              </a:ext>
            </a:extLst>
          </p:cNvPr>
          <p:cNvSpPr>
            <a:spLocks xmlns:a="http://schemas.openxmlformats.org/drawingml/2006/main" noGrp="1"/>
          </p:cNvSpPr>
          <p:nvPr/>
        </p:nvSpPr>
        <p:spPr>
          <a:xfrm xmlns:a="http://schemas.openxmlformats.org/drawingml/2006/main">
            <a:off x="6496050" y="16383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A701076C-262D-4660-A742-ADF61A321FCF}"/>
              </a:ext>
            </a:extLst>
          </p:cNvPr>
          <p:cNvSpPr>
            <a:spLocks xmlns:a="http://schemas.openxmlformats.org/drawingml/2006/main" noGrp="1"/>
          </p:cNvSpPr>
          <p:nvPr/>
        </p:nvSpPr>
        <p:spPr>
          <a:xfrm xmlns:a="http://schemas.openxmlformats.org/drawingml/2006/main">
            <a:off x="7029450" y="1619250"/>
            <a:ext cx="4248150" cy="295275"/>
          </a:xfrm>
          <a:prstGeom xmlns:a="http://schemas.openxmlformats.org/drawingml/2006/main" prst="roundRect">
            <a:avLst>
              <a:gd name="adj" fmla="val 25806"/>
            </a:avLst>
          </a:prstGeom>
          <a:solidFill xmlns:a="http://schemas.openxmlformats.org/drawingml/2006/main">
            <a:srgbClr val="DDEC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DC83B68-CD9B-4C03-A558-9575BBBF6EE6}"/>
              </a:ext>
            </a:extLst>
          </p:cNvPr>
          <p:cNvSpPr>
            <a:spLocks xmlns:a="http://schemas.openxmlformats.org/drawingml/2006/main" noGrp="1"/>
          </p:cNvSpPr>
          <p:nvPr/>
        </p:nvSpPr>
        <p:spPr>
          <a:xfrm xmlns:a="http://schemas.openxmlformats.org/drawingml/2006/main">
            <a:off x="7162800" y="167640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D84D3"/>
                </a:solidFill>
                <a:latin typeface="Helvetica Neue"/>
                <a:ea typeface="Helvetica Neue"/>
                <a:cs typeface="Helvetica Neue"/>
              </a:defRPr>
            </a:pPr>
            <a:r>
              <a:rPr sz="975" b="1">
                <a:solidFill>
                  <a:srgbClr val="2D84D3"/>
                </a:solidFill>
                <a:latin typeface="Helvetica Neue"/>
                <a:ea typeface="Helvetica Neue"/>
                <a:cs typeface="Helvetica Neue"/>
              </a:rPr>
              <a:t>CAUSAL SUBSPACE SEARCH</a:t>
            </a:r>
          </a:p>
        </p:txBody>
      </p:sp>
      <p:sp>
        <p:nvSpPr>
          <p:cNvPr id="15" name="">
            <a:extLst xmlns:a="http://schemas.openxmlformats.org/drawingml/2006/main">
              <a:ext uri="{FF2B5EF4-FFF2-40B4-BE49-F238E27FC236}">
                <a16:creationId xmlns:a16="http://schemas.microsoft.com/office/drawing/2014/main" id="{7D1FA7BA-EFDE-4B60-86EE-F80923FDBAC3}"/>
              </a:ext>
            </a:extLst>
          </p:cNvPr>
          <p:cNvSpPr>
            <a:spLocks xmlns:a="http://schemas.openxmlformats.org/drawingml/2006/main" noGrp="1"/>
          </p:cNvSpPr>
          <p:nvPr/>
        </p:nvSpPr>
        <p:spPr>
          <a:xfrm xmlns:a="http://schemas.openxmlformats.org/drawingml/2006/main">
            <a:off x="6438900" y="21336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Test multi-head and low-rank residual subspaces. A single salient head was neither necessary nor sufficient in this case.</a:t>
            </a:r>
          </a:p>
        </p:txBody>
      </p:sp>
      <p:sp>
        <p:nvSpPr>
          <p:cNvPr id="16" name="">
            <a:extLst xmlns:a="http://schemas.openxmlformats.org/drawingml/2006/main">
              <a:ext uri="{FF2B5EF4-FFF2-40B4-BE49-F238E27FC236}">
                <a16:creationId xmlns:a16="http://schemas.microsoft.com/office/drawing/2014/main" id="{CF39BC03-173F-4CCF-B8DF-1A413D8EBB7A}"/>
              </a:ext>
            </a:extLst>
          </p:cNvPr>
          <p:cNvSpPr>
            <a:spLocks xmlns:a="http://schemas.openxmlformats.org/drawingml/2006/main" noGrp="1"/>
          </p:cNvSpPr>
          <p:nvPr/>
        </p:nvSpPr>
        <p:spPr>
          <a:xfrm xmlns:a="http://schemas.openxmlformats.org/drawingml/2006/main">
            <a:off x="60960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17" name="">
            <a:extLst xmlns:a="http://schemas.openxmlformats.org/drawingml/2006/main">
              <a:ext uri="{FF2B5EF4-FFF2-40B4-BE49-F238E27FC236}">
                <a16:creationId xmlns:a16="http://schemas.microsoft.com/office/drawing/2014/main" id="{E79BD641-77C6-466B-BA64-E4E7631AF8F6}"/>
              </a:ext>
            </a:extLst>
          </p:cNvPr>
          <p:cNvSpPr>
            <a:spLocks xmlns:a="http://schemas.openxmlformats.org/drawingml/2006/main" noGrp="1"/>
          </p:cNvSpPr>
          <p:nvPr/>
        </p:nvSpPr>
        <p:spPr>
          <a:xfrm xmlns:a="http://schemas.openxmlformats.org/drawingml/2006/main">
            <a:off x="819150" y="3543300"/>
            <a:ext cx="457200" cy="285750"/>
          </a:xfrm>
          <a:prstGeom xmlns:a="http://schemas.openxmlformats.org/drawingml/2006/main" prst="roundRect">
            <a:avLst>
              <a:gd name="adj" fmla="val 26667"/>
            </a:avLst>
          </a:prstGeom>
          <a:solidFill xmlns:a="http://schemas.openxmlformats.org/drawingml/2006/main">
            <a:srgbClr val="18A875"/>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DBBB674C-BAC7-4B85-ABFE-CBD9F3066931}"/>
              </a:ext>
            </a:extLst>
          </p:cNvPr>
          <p:cNvSpPr>
            <a:spLocks xmlns:a="http://schemas.openxmlformats.org/drawingml/2006/main" noGrp="1"/>
          </p:cNvSpPr>
          <p:nvPr/>
        </p:nvSpPr>
        <p:spPr>
          <a:xfrm xmlns:a="http://schemas.openxmlformats.org/drawingml/2006/main">
            <a:off x="91440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38A2F584-1794-4FA6-BBD3-A49ACD26F012}"/>
              </a:ext>
            </a:extLst>
          </p:cNvPr>
          <p:cNvSpPr>
            <a:spLocks xmlns:a="http://schemas.openxmlformats.org/drawingml/2006/main" noGrp="1"/>
          </p:cNvSpPr>
          <p:nvPr/>
        </p:nvSpPr>
        <p:spPr>
          <a:xfrm xmlns:a="http://schemas.openxmlformats.org/drawingml/2006/main">
            <a:off x="1447800" y="3543300"/>
            <a:ext cx="4248150" cy="295275"/>
          </a:xfrm>
          <a:prstGeom xmlns:a="http://schemas.openxmlformats.org/drawingml/2006/main" prst="roundRect">
            <a:avLst>
              <a:gd name="adj" fmla="val 25806"/>
            </a:avLst>
          </a:prstGeom>
          <a:solidFill xmlns:a="http://schemas.openxmlformats.org/drawingml/2006/main">
            <a:srgbClr val="E4F4EE"/>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AD1BF9E-10F7-4FF1-BDBA-091E01D1EFC3}"/>
              </a:ext>
            </a:extLst>
          </p:cNvPr>
          <p:cNvSpPr>
            <a:spLocks xmlns:a="http://schemas.openxmlformats.org/drawingml/2006/main" noGrp="1"/>
          </p:cNvSpPr>
          <p:nvPr/>
        </p:nvSpPr>
        <p:spPr>
          <a:xfrm xmlns:a="http://schemas.openxmlformats.org/drawingml/2006/main">
            <a:off x="158115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18A875"/>
                </a:solidFill>
                <a:latin typeface="Helvetica Neue"/>
                <a:ea typeface="Helvetica Neue"/>
                <a:cs typeface="Helvetica Neue"/>
              </a:defRPr>
            </a:pPr>
            <a:r>
              <a:rPr sz="975" b="1">
                <a:solidFill>
                  <a:srgbClr val="18A875"/>
                </a:solidFill>
                <a:latin typeface="Helvetica Neue"/>
                <a:ea typeface="Helvetica Neue"/>
                <a:cs typeface="Helvetica Neue"/>
              </a:rPr>
              <a:t>LONG-HORIZON VISUAL MEMORY</a:t>
            </a:r>
          </a:p>
        </p:txBody>
      </p:sp>
      <p:sp>
        <p:nvSpPr>
          <p:cNvPr id="21" name="">
            <a:extLst xmlns:a="http://schemas.openxmlformats.org/drawingml/2006/main">
              <a:ext uri="{FF2B5EF4-FFF2-40B4-BE49-F238E27FC236}">
                <a16:creationId xmlns:a16="http://schemas.microsoft.com/office/drawing/2014/main" id="{1DA71FB9-37C9-4B7B-993A-25B0BD1C0865}"/>
              </a:ext>
            </a:extLst>
          </p:cNvPr>
          <p:cNvSpPr>
            <a:spLocks xmlns:a="http://schemas.openxmlformats.org/drawingml/2006/main" noGrp="1"/>
          </p:cNvSpPr>
          <p:nvPr/>
        </p:nvSpPr>
        <p:spPr>
          <a:xfrm xmlns:a="http://schemas.openxmlformats.org/drawingml/2006/main">
            <a:off x="85725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Patch target evidence across historical frames to identify when retrieval succeeds but precise action binding fails.</a:t>
            </a:r>
          </a:p>
        </p:txBody>
      </p:sp>
      <p:sp>
        <p:nvSpPr>
          <p:cNvPr id="22" name="">
            <a:extLst xmlns:a="http://schemas.openxmlformats.org/drawingml/2006/main">
              <a:ext uri="{FF2B5EF4-FFF2-40B4-BE49-F238E27FC236}">
                <a16:creationId xmlns:a16="http://schemas.microsoft.com/office/drawing/2014/main" id="{407D0A24-6F5B-464D-9AA1-46F2DCA04449}"/>
              </a:ext>
            </a:extLst>
          </p:cNvPr>
          <p:cNvSpPr>
            <a:spLocks xmlns:a="http://schemas.openxmlformats.org/drawingml/2006/main" noGrp="1"/>
          </p:cNvSpPr>
          <p:nvPr/>
        </p:nvSpPr>
        <p:spPr>
          <a:xfrm xmlns:a="http://schemas.openxmlformats.org/drawingml/2006/main">
            <a:off x="6191250" y="3333750"/>
            <a:ext cx="5391150" cy="1676400"/>
          </a:xfrm>
          <a:prstGeom xmlns:a="http://schemas.openxmlformats.org/drawingml/2006/main" prst="roundRect">
            <a:avLst>
              <a:gd name="adj" fmla="val 4545"/>
            </a:avLst>
          </a:prstGeom>
          <a:solidFill xmlns:a="http://schemas.openxmlformats.org/drawingml/2006/main">
            <a:srgbClr val="FFFFFF"/>
          </a:solidFill>
          <a:ln xmlns:a="http://schemas.openxmlformats.org/drawingml/2006/main" w="9525">
            <a:solidFill>
              <a:srgbClr val="D9D4C8"/>
            </a:solidFill>
          </a:ln>
        </p:spPr>
      </p:sp>
      <p:sp>
        <p:nvSpPr>
          <p:cNvPr id="23" name="">
            <a:extLst xmlns:a="http://schemas.openxmlformats.org/drawingml/2006/main">
              <a:ext uri="{FF2B5EF4-FFF2-40B4-BE49-F238E27FC236}">
                <a16:creationId xmlns:a16="http://schemas.microsoft.com/office/drawing/2014/main" id="{2417B487-73D8-48DB-BF2D-05D74B4983D1}"/>
              </a:ext>
            </a:extLst>
          </p:cNvPr>
          <p:cNvSpPr>
            <a:spLocks xmlns:a="http://schemas.openxmlformats.org/drawingml/2006/main" noGrp="1"/>
          </p:cNvSpPr>
          <p:nvPr/>
        </p:nvSpPr>
        <p:spPr>
          <a:xfrm xmlns:a="http://schemas.openxmlformats.org/drawingml/2006/main">
            <a:off x="6400800" y="3543300"/>
            <a:ext cx="457200" cy="285750"/>
          </a:xfrm>
          <a:prstGeom xmlns:a="http://schemas.openxmlformats.org/drawingml/2006/main" prst="roundRect">
            <a:avLst>
              <a:gd name="adj" fmla="val 26667"/>
            </a:avLst>
          </a:prstGeom>
          <a:solidFill xmlns:a="http://schemas.openxmlformats.org/drawingml/2006/main">
            <a:srgbClr val="E5B249"/>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E2D83B1-230C-4671-B4B2-007B2FFE56D6}"/>
              </a:ext>
            </a:extLst>
          </p:cNvPr>
          <p:cNvSpPr>
            <a:spLocks xmlns:a="http://schemas.openxmlformats.org/drawingml/2006/main" noGrp="1"/>
          </p:cNvSpPr>
          <p:nvPr/>
        </p:nvSpPr>
        <p:spPr>
          <a:xfrm xmlns:a="http://schemas.openxmlformats.org/drawingml/2006/main">
            <a:off x="6496050" y="35623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04</a:t>
            </a:r>
          </a:p>
        </p:txBody>
      </p:sp>
      <p:sp>
        <p:nvSpPr>
          <p:cNvPr id="25" name="">
            <a:extLst xmlns:a="http://schemas.openxmlformats.org/drawingml/2006/main">
              <a:ext uri="{FF2B5EF4-FFF2-40B4-BE49-F238E27FC236}">
                <a16:creationId xmlns:a16="http://schemas.microsoft.com/office/drawing/2014/main" id="{55E10841-DB9E-4971-9F4F-574CFE0680BD}"/>
              </a:ext>
            </a:extLst>
          </p:cNvPr>
          <p:cNvSpPr>
            <a:spLocks xmlns:a="http://schemas.openxmlformats.org/drawingml/2006/main" noGrp="1"/>
          </p:cNvSpPr>
          <p:nvPr/>
        </p:nvSpPr>
        <p:spPr>
          <a:xfrm xmlns:a="http://schemas.openxmlformats.org/drawingml/2006/main">
            <a:off x="7029450" y="3543300"/>
            <a:ext cx="4248150" cy="295275"/>
          </a:xfrm>
          <a:prstGeom xmlns:a="http://schemas.openxmlformats.org/drawingml/2006/main" prst="roundRect">
            <a:avLst>
              <a:gd name="adj" fmla="val 25806"/>
            </a:avLst>
          </a:prstGeom>
          <a:solidFill xmlns:a="http://schemas.openxmlformats.org/drawingml/2006/main">
            <a:srgbClr val="F3EBD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F454A5B0-31EE-4855-A248-1C406A940E6E}"/>
              </a:ext>
            </a:extLst>
          </p:cNvPr>
          <p:cNvSpPr>
            <a:spLocks xmlns:a="http://schemas.openxmlformats.org/drawingml/2006/main" noGrp="1"/>
          </p:cNvSpPr>
          <p:nvPr/>
        </p:nvSpPr>
        <p:spPr>
          <a:xfrm xmlns:a="http://schemas.openxmlformats.org/drawingml/2006/main">
            <a:off x="7162800" y="3600450"/>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DELTA-LENS DECOMPOSITION</a:t>
            </a:r>
          </a:p>
        </p:txBody>
      </p:sp>
      <p:sp>
        <p:nvSpPr>
          <p:cNvPr id="27" name="">
            <a:extLst xmlns:a="http://schemas.openxmlformats.org/drawingml/2006/main">
              <a:ext uri="{FF2B5EF4-FFF2-40B4-BE49-F238E27FC236}">
                <a16:creationId xmlns:a16="http://schemas.microsoft.com/office/drawing/2014/main" id="{48C392EF-E523-486B-B227-C19155E4A30E}"/>
              </a:ext>
            </a:extLst>
          </p:cNvPr>
          <p:cNvSpPr>
            <a:spLocks xmlns:a="http://schemas.openxmlformats.org/drawingml/2006/main" noGrp="1"/>
          </p:cNvSpPr>
          <p:nvPr/>
        </p:nvSpPr>
        <p:spPr>
          <a:xfrm xmlns:a="http://schemas.openxmlformats.org/drawingml/2006/main">
            <a:off x="6438900" y="40576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10151C"/>
                </a:solidFill>
                <a:latin typeface="Helvetica Neue"/>
                <a:ea typeface="Helvetica Neue"/>
                <a:cs typeface="Helvetica Neue"/>
              </a:defRPr>
            </a:pPr>
            <a:r>
              <a:rPr sz="1200" b="0">
                <a:solidFill>
                  <a:srgbClr val="10151C"/>
                </a:solidFill>
                <a:latin typeface="Helvetica Neue"/>
                <a:ea typeface="Helvetica Neue"/>
                <a:cs typeface="Helvetica Neue"/>
              </a:rPr>
              <a:t>Separate residual changes from final norm and unembedding changes. Scale beyond five ScreenSpot probes and one hotel trace.</a:t>
            </a:r>
          </a:p>
        </p:txBody>
      </p:sp>
      <p:sp>
        <p:nvSpPr>
          <p:cNvPr id="28" name="">
            <a:extLst xmlns:a="http://schemas.openxmlformats.org/drawingml/2006/main">
              <a:ext uri="{FF2B5EF4-FFF2-40B4-BE49-F238E27FC236}">
                <a16:creationId xmlns:a16="http://schemas.microsoft.com/office/drawing/2014/main" id="{E3485263-03C9-42FB-9AA1-A00BB049D9C1}"/>
              </a:ext>
            </a:extLst>
          </p:cNvPr>
          <p:cNvSpPr>
            <a:spLocks xmlns:a="http://schemas.openxmlformats.org/drawingml/2006/main" noGrp="1"/>
          </p:cNvSpPr>
          <p:nvPr/>
        </p:nvSpPr>
        <p:spPr>
          <a:xfrm xmlns:a="http://schemas.openxmlformats.org/drawingml/2006/main">
            <a:off x="609600" y="5238750"/>
            <a:ext cx="10972800" cy="838200"/>
          </a:xfrm>
          <a:prstGeom xmlns:a="http://schemas.openxmlformats.org/drawingml/2006/main" prst="roundRect">
            <a:avLst>
              <a:gd name="adj" fmla="val 9091"/>
            </a:avLst>
          </a:prstGeom>
          <a:solidFill xmlns:a="http://schemas.openxmlformats.org/drawingml/2006/main">
            <a:srgbClr val="1C2733"/>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94BC205F-EB64-4E19-A382-939B5C1557B2}"/>
              </a:ext>
            </a:extLst>
          </p:cNvPr>
          <p:cNvSpPr>
            <a:spLocks xmlns:a="http://schemas.openxmlformats.org/drawingml/2006/main" noGrp="1"/>
          </p:cNvSpPr>
          <p:nvPr/>
        </p:nvSpPr>
        <p:spPr>
          <a:xfrm xmlns:a="http://schemas.openxmlformats.org/drawingml/2006/main">
            <a:off x="857250" y="5429250"/>
            <a:ext cx="14859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E5B249"/>
                </a:solidFill>
                <a:latin typeface="Helvetica Neue"/>
                <a:ea typeface="Helvetica Neue"/>
                <a:cs typeface="Helvetica Neue"/>
              </a:defRPr>
            </a:pPr>
            <a:r>
              <a:rPr sz="975" b="1">
                <a:solidFill>
                  <a:srgbClr val="E5B249"/>
                </a:solidFill>
                <a:latin typeface="Helvetica Neue"/>
                <a:ea typeface="Helvetica Neue"/>
                <a:cs typeface="Helvetica Neue"/>
              </a:rPr>
              <a:t>TRAINING LOOP</a:t>
            </a:r>
          </a:p>
        </p:txBody>
      </p:sp>
      <p:sp>
        <p:nvSpPr>
          <p:cNvPr id="30" name="">
            <a:extLst xmlns:a="http://schemas.openxmlformats.org/drawingml/2006/main">
              <a:ext uri="{FF2B5EF4-FFF2-40B4-BE49-F238E27FC236}">
                <a16:creationId xmlns:a16="http://schemas.microsoft.com/office/drawing/2014/main" id="{4257E1AB-C55F-467C-B2CF-451681BC7E54}"/>
              </a:ext>
            </a:extLst>
          </p:cNvPr>
          <p:cNvSpPr>
            <a:spLocks xmlns:a="http://schemas.openxmlformats.org/drawingml/2006/main" noGrp="1"/>
          </p:cNvSpPr>
          <p:nvPr/>
        </p:nvSpPr>
        <p:spPr>
          <a:xfrm xmlns:a="http://schemas.openxmlformats.org/drawingml/2006/main">
            <a:off x="2514600" y="5391150"/>
            <a:ext cx="8591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421"/>
          </a:bodyPr>
          <a:lstStyle xmlns:a="http://schemas.openxmlformats.org/drawingml/2006/main"/>
          <a:p xmlns:a="http://schemas.openxmlformats.org/drawingml/2006/main">
            <a:pPr algn="ctr">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Oracle SFT, followed by measured causal recovery and GRPO + LoRA with verifiable reward</a:t>
            </a:r>
          </a:p>
        </p:txBody>
      </p:sp>
      <p:sp>
        <p:nvSpPr>
          <p:cNvPr id="31" name="">
            <a:extLst xmlns:a="http://schemas.openxmlformats.org/drawingml/2006/main">
              <a:ext uri="{FF2B5EF4-FFF2-40B4-BE49-F238E27FC236}">
                <a16:creationId xmlns:a16="http://schemas.microsoft.com/office/drawing/2014/main" id="{B6013719-230A-4368-944A-C5E259CC5AD8}"/>
              </a:ext>
            </a:extLst>
          </p:cNvPr>
          <p:cNvSpPr>
            <a:spLocks xmlns:a="http://schemas.openxmlformats.org/drawingml/2006/main" noGrp="1"/>
          </p:cNvSpPr>
          <p:nvPr/>
        </p:nvSpPr>
        <p:spPr>
          <a:xfrm xmlns:a="http://schemas.openxmlformats.org/drawingml/2006/main">
            <a:off x="2514600" y="5734050"/>
            <a:ext cx="8591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0">
                <a:solidFill>
                  <a:srgbClr val="B9C3CD"/>
                </a:solidFill>
                <a:latin typeface="Helvetica Neue"/>
                <a:ea typeface="Helvetica Neue"/>
                <a:cs typeface="Helvetica Neue"/>
              </a:defRPr>
            </a:pPr>
            <a:r>
              <a:rPr sz="1050" b="0">
                <a:solidFill>
                  <a:srgbClr val="B9C3CD"/>
                </a:solidFill>
                <a:latin typeface="Helvetica Neue"/>
                <a:ea typeface="Helvetica Neue"/>
                <a:cs typeface="Helvetica Neue"/>
              </a:rPr>
              <a:t>Use attribution to choose interventions, not as the reward target.</a:t>
            </a:r>
          </a:p>
        </p:txBody>
      </p:sp>
      <p:sp>
        <p:nvSpPr>
          <p:cNvPr id="32" name="">
            <a:extLst xmlns:a="http://schemas.openxmlformats.org/drawingml/2006/main">
              <a:ext uri="{FF2B5EF4-FFF2-40B4-BE49-F238E27FC236}">
                <a16:creationId xmlns:a16="http://schemas.microsoft.com/office/drawing/2014/main" id="{13FC5F46-B6F8-4E4E-9561-0BBC6CD16E6A}"/>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A171CBC-3B38-4E00-8313-17271219A12B}"/>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Scale the matched protocol before making a population-level mechanism claim</a:t>
            </a:r>
          </a:p>
        </p:txBody>
      </p:sp>
    </p:spTree>
    <p:extLst>
      <p:ext uri="{BB962C8B-B14F-4D97-AF65-F5344CB8AC3E}">
        <p14:creationId xmlns:p14="http://schemas.microsoft.com/office/powerpoint/2010/main" val="631756995"/>
      </p:ext>
    </p:extLst>
  </p:cSld>
</p:sld>
</file>

<file path=ppt/slides/slide14.xml><?xml version="1.0" encoding="utf-8"?>
<p:sld xmlns:p="http://schemas.openxmlformats.org/presentationml/2006/main">
  <p:cSld>
    <p:bg>
      <p:bgPr>
        <a:solidFill xmlns:a="http://schemas.openxmlformats.org/drawingml/2006/main">
          <a:srgbClr val="10151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AF5E10F4-452F-4DB8-905F-30A262D1D942}"/>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9FC8F0"/>
                </a:solidFill>
                <a:latin typeface="Helvetica Neue"/>
                <a:ea typeface="Helvetica Neue"/>
                <a:cs typeface="Helvetica Neue"/>
              </a:defRPr>
            </a:pPr>
            <a:r>
              <a:rPr sz="900" b="1">
                <a:solidFill>
                  <a:srgbClr val="9FC8F0"/>
                </a:solidFill>
                <a:latin typeface="Helvetica Neue"/>
                <a:ea typeface="Helvetica Neue"/>
                <a:cs typeface="Helvetica Neue"/>
              </a:rPr>
              <a:t>TAKEAWAYS</a:t>
            </a:r>
          </a:p>
        </p:txBody>
      </p:sp>
      <p:sp>
        <p:nvSpPr>
          <p:cNvPr id="2" name="">
            <a:extLst xmlns:a="http://schemas.openxmlformats.org/drawingml/2006/main">
              <a:ext uri="{FF2B5EF4-FFF2-40B4-BE49-F238E27FC236}">
                <a16:creationId xmlns:a16="http://schemas.microsoft.com/office/drawing/2014/main" id="{D9F5DC4B-537F-4885-B3DD-3547BBA5DB53}"/>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4391"/>
          </a:bodyPr>
          <a:lstStyle xmlns:a="http://schemas.openxmlformats.org/drawingml/2006/main"/>
          <a:p xmlns:a="http://schemas.openxmlformats.org/drawingml/2006/main">
            <a:pPr algn="l">
              <a:defRPr sz="2850" b="1">
                <a:solidFill>
                  <a:srgbClr val="FFFFFF"/>
                </a:solidFill>
                <a:latin typeface="Helvetica Neue"/>
                <a:ea typeface="Helvetica Neue"/>
                <a:cs typeface="Helvetica Neue"/>
              </a:defRPr>
            </a:pPr>
            <a:r>
              <a:rPr sz="2850" b="1">
                <a:solidFill>
                  <a:srgbClr val="FFFFFF"/>
                </a:solidFill>
                <a:latin typeface="Helvetica Neue"/>
                <a:ea typeface="Helvetica Neue"/>
                <a:cs typeface="Helvetica Neue"/>
              </a:rPr>
              <a:t>Attribution narrows the search and intervention tests the mechanism</a:t>
            </a:r>
          </a:p>
        </p:txBody>
      </p:sp>
      <p:sp>
        <p:nvSpPr>
          <p:cNvPr id="3" name="">
            <a:extLst xmlns:a="http://schemas.openxmlformats.org/drawingml/2006/main">
              <a:ext uri="{FF2B5EF4-FFF2-40B4-BE49-F238E27FC236}">
                <a16:creationId xmlns:a16="http://schemas.microsoft.com/office/drawing/2014/main" id="{6E809D1B-6FFC-4374-B443-E73154892A3E}"/>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96A2AE"/>
                </a:solidFill>
                <a:latin typeface="Helvetica Neue"/>
                <a:ea typeface="Helvetica Neue"/>
                <a:cs typeface="Helvetica Neue"/>
              </a:defRPr>
            </a:pPr>
            <a:r>
              <a:rPr sz="975" b="1">
                <a:solidFill>
                  <a:srgbClr val="96A2AE"/>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CAF797C0-8C94-49C6-84DD-F66C9F67E485}"/>
              </a:ext>
            </a:extLst>
          </p:cNvPr>
          <p:cNvSpPr>
            <a:spLocks xmlns:a="http://schemas.openxmlformats.org/drawingml/2006/main" noGrp="1"/>
          </p:cNvSpPr>
          <p:nvPr/>
        </p:nvSpPr>
        <p:spPr>
          <a:xfrm xmlns:a="http://schemas.openxmlformats.org/drawingml/2006/main">
            <a:off x="609600" y="1428750"/>
            <a:ext cx="49530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877808E-7125-40B1-AB70-899B5ED82F77}"/>
              </a:ext>
            </a:extLst>
          </p:cNvPr>
          <p:cNvSpPr>
            <a:spLocks xmlns:a="http://schemas.openxmlformats.org/drawingml/2006/main" noGrp="1"/>
          </p:cNvSpPr>
          <p:nvPr/>
        </p:nvSpPr>
        <p:spPr>
          <a:xfrm xmlns:a="http://schemas.openxmlformats.org/drawingml/2006/main">
            <a:off x="704850" y="14478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561C8967-2F54-49FE-922C-87348906B411}"/>
              </a:ext>
            </a:extLst>
          </p:cNvPr>
          <p:cNvSpPr>
            <a:spLocks xmlns:a="http://schemas.openxmlformats.org/drawingml/2006/main" noGrp="1"/>
          </p:cNvSpPr>
          <p:nvPr/>
        </p:nvSpPr>
        <p:spPr>
          <a:xfrm xmlns:a="http://schemas.openxmlformats.org/drawingml/2006/main">
            <a:off x="1314450" y="14382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Remove general awareness</a:t>
            </a:r>
          </a:p>
        </p:txBody>
      </p:sp>
      <p:sp>
        <p:nvSpPr>
          <p:cNvPr id="7" name="">
            <a:extLst xmlns:a="http://schemas.openxmlformats.org/drawingml/2006/main">
              <a:ext uri="{FF2B5EF4-FFF2-40B4-BE49-F238E27FC236}">
                <a16:creationId xmlns:a16="http://schemas.microsoft.com/office/drawing/2014/main" id="{5882AD7E-CD5D-47BB-9F52-BAFD4294718F}"/>
              </a:ext>
            </a:extLst>
          </p:cNvPr>
          <p:cNvSpPr>
            <a:spLocks xmlns:a="http://schemas.openxmlformats.org/drawingml/2006/main" noGrp="1"/>
          </p:cNvSpPr>
          <p:nvPr/>
        </p:nvSpPr>
        <p:spPr>
          <a:xfrm xmlns:a="http://schemas.openxmlformats.org/drawingml/2006/main">
            <a:off x="1314450" y="17621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Same-image instruction controls make target-specific routing visible.</a:t>
            </a:r>
          </a:p>
        </p:txBody>
      </p:sp>
      <p:sp>
        <p:nvSpPr>
          <p:cNvPr id="8" name="">
            <a:extLst xmlns:a="http://schemas.openxmlformats.org/drawingml/2006/main">
              <a:ext uri="{FF2B5EF4-FFF2-40B4-BE49-F238E27FC236}">
                <a16:creationId xmlns:a16="http://schemas.microsoft.com/office/drawing/2014/main" id="{9F808518-0D80-4508-B57D-C18B9688D3E2}"/>
              </a:ext>
            </a:extLst>
          </p:cNvPr>
          <p:cNvSpPr>
            <a:spLocks xmlns:a="http://schemas.openxmlformats.org/drawingml/2006/main" noGrp="1"/>
          </p:cNvSpPr>
          <p:nvPr/>
        </p:nvSpPr>
        <p:spPr>
          <a:xfrm xmlns:a="http://schemas.openxmlformats.org/drawingml/2006/main">
            <a:off x="609600" y="259080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D3E546F-D6AD-4CB8-88F7-CBC35ED615D2}"/>
              </a:ext>
            </a:extLst>
          </p:cNvPr>
          <p:cNvSpPr>
            <a:spLocks xmlns:a="http://schemas.openxmlformats.org/drawingml/2006/main" noGrp="1"/>
          </p:cNvSpPr>
          <p:nvPr/>
        </p:nvSpPr>
        <p:spPr>
          <a:xfrm xmlns:a="http://schemas.openxmlformats.org/drawingml/2006/main">
            <a:off x="704850" y="260985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8ED1B219-7D98-4601-8B1D-804AD6C85512}"/>
              </a:ext>
            </a:extLst>
          </p:cNvPr>
          <p:cNvSpPr>
            <a:spLocks xmlns:a="http://schemas.openxmlformats.org/drawingml/2006/main" noGrp="1"/>
          </p:cNvSpPr>
          <p:nvPr/>
        </p:nvSpPr>
        <p:spPr>
          <a:xfrm xmlns:a="http://schemas.openxmlformats.org/drawingml/2006/main">
            <a:off x="1314450" y="260032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Separate routing from mechanism</a:t>
            </a:r>
          </a:p>
        </p:txBody>
      </p:sp>
      <p:sp>
        <p:nvSpPr>
          <p:cNvPr id="11" name="">
            <a:extLst xmlns:a="http://schemas.openxmlformats.org/drawingml/2006/main">
              <a:ext uri="{FF2B5EF4-FFF2-40B4-BE49-F238E27FC236}">
                <a16:creationId xmlns:a16="http://schemas.microsoft.com/office/drawing/2014/main" id="{357AFEC2-C6A6-48AB-B284-B3C81E0127CD}"/>
              </a:ext>
            </a:extLst>
          </p:cNvPr>
          <p:cNvSpPr>
            <a:spLocks xmlns:a="http://schemas.openxmlformats.org/drawingml/2006/main" noGrp="1"/>
          </p:cNvSpPr>
          <p:nvPr/>
        </p:nvSpPr>
        <p:spPr>
          <a:xfrm xmlns:a="http://schemas.openxmlformats.org/drawingml/2006/main">
            <a:off x="1314450" y="292417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The strongest attention head did not carry the coordinate effect by itself.</a:t>
            </a:r>
          </a:p>
        </p:txBody>
      </p:sp>
      <p:sp>
        <p:nvSpPr>
          <p:cNvPr id="12" name="">
            <a:extLst xmlns:a="http://schemas.openxmlformats.org/drawingml/2006/main">
              <a:ext uri="{FF2B5EF4-FFF2-40B4-BE49-F238E27FC236}">
                <a16:creationId xmlns:a16="http://schemas.microsoft.com/office/drawing/2014/main" id="{5A6A9C96-2059-424A-80D2-83523FF92594}"/>
              </a:ext>
            </a:extLst>
          </p:cNvPr>
          <p:cNvSpPr>
            <a:spLocks xmlns:a="http://schemas.openxmlformats.org/drawingml/2006/main" noGrp="1"/>
          </p:cNvSpPr>
          <p:nvPr/>
        </p:nvSpPr>
        <p:spPr>
          <a:xfrm xmlns:a="http://schemas.openxmlformats.org/drawingml/2006/main">
            <a:off x="609600" y="3752850"/>
            <a:ext cx="495300" cy="285750"/>
          </a:xfrm>
          <a:prstGeom xmlns:a="http://schemas.openxmlformats.org/drawingml/2006/main" prst="roundRect">
            <a:avLst>
              <a:gd name="adj" fmla="val 26667"/>
            </a:avLst>
          </a:prstGeom>
          <a:solidFill xmlns:a="http://schemas.openxmlformats.org/drawingml/2006/main">
            <a:srgbClr val="2D84D3"/>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4A8769C-DB31-4AAB-BB3A-3A3ACCFCCEA4}"/>
              </a:ext>
            </a:extLst>
          </p:cNvPr>
          <p:cNvSpPr>
            <a:spLocks xmlns:a="http://schemas.openxmlformats.org/drawingml/2006/main" noGrp="1"/>
          </p:cNvSpPr>
          <p:nvPr/>
        </p:nvSpPr>
        <p:spPr>
          <a:xfrm xmlns:a="http://schemas.openxmlformats.org/drawingml/2006/main">
            <a:off x="704850" y="3771900"/>
            <a:ext cx="304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BA293DB4-025A-46E3-A732-06852F0B1D0D}"/>
              </a:ext>
            </a:extLst>
          </p:cNvPr>
          <p:cNvSpPr>
            <a:spLocks xmlns:a="http://schemas.openxmlformats.org/drawingml/2006/main" noGrp="1"/>
          </p:cNvSpPr>
          <p:nvPr/>
        </p:nvSpPr>
        <p:spPr>
          <a:xfrm xmlns:a="http://schemas.openxmlformats.org/drawingml/2006/main">
            <a:off x="1314450" y="3762375"/>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Patch the target evidence</a:t>
            </a:r>
          </a:p>
        </p:txBody>
      </p:sp>
      <p:sp>
        <p:nvSpPr>
          <p:cNvPr id="15" name="">
            <a:extLst xmlns:a="http://schemas.openxmlformats.org/drawingml/2006/main">
              <a:ext uri="{FF2B5EF4-FFF2-40B4-BE49-F238E27FC236}">
                <a16:creationId xmlns:a16="http://schemas.microsoft.com/office/drawing/2014/main" id="{F2785869-B2EB-44DA-B8E9-4F65B31453A7}"/>
              </a:ext>
            </a:extLst>
          </p:cNvPr>
          <p:cNvSpPr>
            <a:spLocks xmlns:a="http://schemas.openxmlformats.org/drawingml/2006/main" noGrp="1"/>
          </p:cNvSpPr>
          <p:nvPr/>
        </p:nvSpPr>
        <p:spPr>
          <a:xfrm xmlns:a="http://schemas.openxmlformats.org/drawingml/2006/main">
            <a:off x="1314450" y="4086225"/>
            <a:ext cx="4095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0">
                <a:solidFill>
                  <a:srgbClr val="B7C1CB"/>
                </a:solidFill>
                <a:latin typeface="Helvetica Neue"/>
                <a:ea typeface="Helvetica Neue"/>
                <a:cs typeface="Helvetica Neue"/>
              </a:defRPr>
            </a:pPr>
            <a:r>
              <a:rPr sz="1125" b="0">
                <a:solidFill>
                  <a:srgbClr val="B7C1CB"/>
                </a:solidFill>
                <a:latin typeface="Helvetica Neue"/>
                <a:ea typeface="Helvetica Neue"/>
                <a:cs typeface="Helvetica Neue"/>
              </a:rPr>
              <a:t>Four target residual tokens recover one-third of the matched corruption gap.</a:t>
            </a:r>
          </a:p>
        </p:txBody>
      </p:sp>
      <p:sp>
        <p:nvSpPr>
          <p:cNvPr id="16" name="">
            <a:extLst xmlns:a="http://schemas.openxmlformats.org/drawingml/2006/main">
              <a:ext uri="{FF2B5EF4-FFF2-40B4-BE49-F238E27FC236}">
                <a16:creationId xmlns:a16="http://schemas.microsoft.com/office/drawing/2014/main" id="{F6AAA476-8347-42B8-BFAD-6344AA9B5C7E}"/>
              </a:ext>
            </a:extLst>
          </p:cNvPr>
          <p:cNvSpPr>
            <a:spLocks xmlns:a="http://schemas.openxmlformats.org/drawingml/2006/main" noGrp="1"/>
          </p:cNvSpPr>
          <p:nvPr/>
        </p:nvSpPr>
        <p:spPr>
          <a:xfrm xmlns:a="http://schemas.openxmlformats.org/drawingml/2006/main">
            <a:off x="6153150" y="1390650"/>
            <a:ext cx="5429250" cy="39433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A2D7001-9DC6-46C0-84A8-0F4F4963F043}"/>
              </a:ext>
            </a:extLst>
          </p:cNvPr>
          <p:cNvSpPr>
            <a:spLocks xmlns:a="http://schemas.openxmlformats.org/drawingml/2006/main" noGrp="1"/>
          </p:cNvSpPr>
          <p:nvPr/>
        </p:nvSpPr>
        <p:spPr>
          <a:xfrm xmlns:a="http://schemas.openxmlformats.org/drawingml/2006/main">
            <a:off x="6438900" y="1657350"/>
            <a:ext cx="3048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05A3C"/>
                </a:solidFill>
                <a:latin typeface="Helvetica Neue"/>
                <a:ea typeface="Helvetica Neue"/>
                <a:cs typeface="Helvetica Neue"/>
              </a:defRPr>
            </a:pPr>
            <a:r>
              <a:rPr sz="975" b="1">
                <a:solidFill>
                  <a:srgbClr val="F05A3C"/>
                </a:solidFill>
                <a:latin typeface="Helvetica Neue"/>
                <a:ea typeface="Helvetica Neue"/>
                <a:cs typeface="Helvetica Neue"/>
              </a:rPr>
              <a:t>LIVE DEMO · 90 SECONDS</a:t>
            </a:r>
          </a:p>
        </p:txBody>
      </p:sp>
      <p:sp>
        <p:nvSpPr>
          <p:cNvPr id="18" name="">
            <a:extLst xmlns:a="http://schemas.openxmlformats.org/drawingml/2006/main">
              <a:ext uri="{FF2B5EF4-FFF2-40B4-BE49-F238E27FC236}">
                <a16:creationId xmlns:a16="http://schemas.microsoft.com/office/drawing/2014/main" id="{423AC9B7-8C6F-40FF-9B73-FEE7CCF6CE09}"/>
              </a:ext>
            </a:extLst>
          </p:cNvPr>
          <p:cNvSpPr>
            <a:spLocks xmlns:a="http://schemas.openxmlformats.org/drawingml/2006/main" noGrp="1"/>
          </p:cNvSpPr>
          <p:nvPr/>
        </p:nvSpPr>
        <p:spPr>
          <a:xfrm xmlns:a="http://schemas.openxmlformats.org/drawingml/2006/main">
            <a:off x="6438900" y="20764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D1563CC-8FB9-4C95-822E-F0314459537D}"/>
              </a:ext>
            </a:extLst>
          </p:cNvPr>
          <p:cNvSpPr>
            <a:spLocks xmlns:a="http://schemas.openxmlformats.org/drawingml/2006/main" noGrp="1"/>
          </p:cNvSpPr>
          <p:nvPr/>
        </p:nvSpPr>
        <p:spPr>
          <a:xfrm xmlns:a="http://schemas.openxmlformats.org/drawingml/2006/main">
            <a:off x="6534150" y="20955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92CE17D5-8B86-45E2-B9F0-D95803675997}"/>
              </a:ext>
            </a:extLst>
          </p:cNvPr>
          <p:cNvSpPr>
            <a:spLocks xmlns:a="http://schemas.openxmlformats.org/drawingml/2006/main" noGrp="1"/>
          </p:cNvSpPr>
          <p:nvPr/>
        </p:nvSpPr>
        <p:spPr>
          <a:xfrm xmlns:a="http://schemas.openxmlformats.org/drawingml/2006/main">
            <a:off x="6953250" y="20859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hit: raw versus prompt difference</a:t>
            </a:r>
          </a:p>
        </p:txBody>
      </p:sp>
      <p:sp>
        <p:nvSpPr>
          <p:cNvPr id="21" name="">
            <a:extLst xmlns:a="http://schemas.openxmlformats.org/drawingml/2006/main">
              <a:ext uri="{FF2B5EF4-FFF2-40B4-BE49-F238E27FC236}">
                <a16:creationId xmlns:a16="http://schemas.microsoft.com/office/drawing/2014/main" id="{BC60B21A-F695-4428-8540-BBDEA501C8C4}"/>
              </a:ext>
            </a:extLst>
          </p:cNvPr>
          <p:cNvSpPr>
            <a:spLocks xmlns:a="http://schemas.openxmlformats.org/drawingml/2006/main" noGrp="1"/>
          </p:cNvSpPr>
          <p:nvPr/>
        </p:nvSpPr>
        <p:spPr>
          <a:xfrm xmlns:a="http://schemas.openxmlformats.org/drawingml/2006/main">
            <a:off x="6953250" y="23526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Peak enters the selected template.</a:t>
            </a:r>
          </a:p>
        </p:txBody>
      </p:sp>
      <p:sp>
        <p:nvSpPr>
          <p:cNvPr id="22" name="">
            <a:extLst xmlns:a="http://schemas.openxmlformats.org/drawingml/2006/main">
              <a:ext uri="{FF2B5EF4-FFF2-40B4-BE49-F238E27FC236}">
                <a16:creationId xmlns:a16="http://schemas.microsoft.com/office/drawing/2014/main" id="{9DC41556-6D44-468C-9EBA-A664FAFD1C30}"/>
              </a:ext>
            </a:extLst>
          </p:cNvPr>
          <p:cNvSpPr>
            <a:spLocks xmlns:a="http://schemas.openxmlformats.org/drawingml/2006/main" noGrp="1"/>
          </p:cNvSpPr>
          <p:nvPr/>
        </p:nvSpPr>
        <p:spPr>
          <a:xfrm xmlns:a="http://schemas.openxmlformats.org/drawingml/2006/main">
            <a:off x="6438900" y="281940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C04B754E-6499-4310-A3C3-5FE93CEA1361}"/>
              </a:ext>
            </a:extLst>
          </p:cNvPr>
          <p:cNvSpPr>
            <a:spLocks xmlns:a="http://schemas.openxmlformats.org/drawingml/2006/main" noGrp="1"/>
          </p:cNvSpPr>
          <p:nvPr/>
        </p:nvSpPr>
        <p:spPr>
          <a:xfrm xmlns:a="http://schemas.openxmlformats.org/drawingml/2006/main">
            <a:off x="6534150" y="28384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F368887C-0102-4843-BAF6-43C54CEA4EDA}"/>
              </a:ext>
            </a:extLst>
          </p:cNvPr>
          <p:cNvSpPr>
            <a:spLocks xmlns:a="http://schemas.openxmlformats.org/drawingml/2006/main" noGrp="1"/>
          </p:cNvSpPr>
          <p:nvPr/>
        </p:nvSpPr>
        <p:spPr>
          <a:xfrm xmlns:a="http://schemas.openxmlformats.org/drawingml/2006/main">
            <a:off x="6953250" y="28289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Static miss: inspect click binding</a:t>
            </a:r>
          </a:p>
        </p:txBody>
      </p:sp>
      <p:sp>
        <p:nvSpPr>
          <p:cNvPr id="25" name="">
            <a:extLst xmlns:a="http://schemas.openxmlformats.org/drawingml/2006/main">
              <a:ext uri="{FF2B5EF4-FFF2-40B4-BE49-F238E27FC236}">
                <a16:creationId xmlns:a16="http://schemas.microsoft.com/office/drawing/2014/main" id="{A4327A6E-6F13-42C1-9826-80B9C177BB0F}"/>
              </a:ext>
            </a:extLst>
          </p:cNvPr>
          <p:cNvSpPr>
            <a:spLocks xmlns:a="http://schemas.openxmlformats.org/drawingml/2006/main" noGrp="1"/>
          </p:cNvSpPr>
          <p:nvPr/>
        </p:nvSpPr>
        <p:spPr>
          <a:xfrm xmlns:a="http://schemas.openxmlformats.org/drawingml/2006/main">
            <a:off x="6953250" y="30956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Correct task region, wrong tiny affordance.</a:t>
            </a:r>
          </a:p>
        </p:txBody>
      </p:sp>
      <p:sp>
        <p:nvSpPr>
          <p:cNvPr id="26" name="">
            <a:extLst xmlns:a="http://schemas.openxmlformats.org/drawingml/2006/main">
              <a:ext uri="{FF2B5EF4-FFF2-40B4-BE49-F238E27FC236}">
                <a16:creationId xmlns:a16="http://schemas.microsoft.com/office/drawing/2014/main" id="{E06ED6B1-2209-4F28-BA0D-AC6CAD952DDF}"/>
              </a:ext>
            </a:extLst>
          </p:cNvPr>
          <p:cNvSpPr>
            <a:spLocks xmlns:a="http://schemas.openxmlformats.org/drawingml/2006/main" noGrp="1"/>
          </p:cNvSpPr>
          <p:nvPr/>
        </p:nvSpPr>
        <p:spPr>
          <a:xfrm xmlns:a="http://schemas.openxmlformats.org/drawingml/2006/main">
            <a:off x="6438900" y="3562350"/>
            <a:ext cx="361950" cy="285750"/>
          </a:xfrm>
          <a:prstGeom xmlns:a="http://schemas.openxmlformats.org/drawingml/2006/main" prst="roundRect">
            <a:avLst>
              <a:gd name="adj" fmla="val 26667"/>
            </a:avLst>
          </a:prstGeom>
          <a:solidFill xmlns:a="http://schemas.openxmlformats.org/drawingml/2006/main">
            <a:srgbClr val="1C2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C37C5A9-6D6C-43DC-8207-C50F964CB778}"/>
              </a:ext>
            </a:extLst>
          </p:cNvPr>
          <p:cNvSpPr>
            <a:spLocks xmlns:a="http://schemas.openxmlformats.org/drawingml/2006/main" noGrp="1"/>
          </p:cNvSpPr>
          <p:nvPr/>
        </p:nvSpPr>
        <p:spPr>
          <a:xfrm xmlns:a="http://schemas.openxmlformats.org/drawingml/2006/main">
            <a:off x="6534150" y="358140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E7A94749-BC1D-4D02-81CE-0CF5382B4EC6}"/>
              </a:ext>
            </a:extLst>
          </p:cNvPr>
          <p:cNvSpPr>
            <a:spLocks xmlns:a="http://schemas.openxmlformats.org/drawingml/2006/main" noGrp="1"/>
          </p:cNvSpPr>
          <p:nvPr/>
        </p:nvSpPr>
        <p:spPr>
          <a:xfrm xmlns:a="http://schemas.openxmlformats.org/drawingml/2006/main">
            <a:off x="6953250" y="357187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Hotel trace: step through four frames</a:t>
            </a:r>
          </a:p>
        </p:txBody>
      </p:sp>
      <p:sp>
        <p:nvSpPr>
          <p:cNvPr id="29" name="">
            <a:extLst xmlns:a="http://schemas.openxmlformats.org/drawingml/2006/main">
              <a:ext uri="{FF2B5EF4-FFF2-40B4-BE49-F238E27FC236}">
                <a16:creationId xmlns:a16="http://schemas.microsoft.com/office/drawing/2014/main" id="{606934AE-8D22-4C30-9FB0-BB0260A55EF5}"/>
              </a:ext>
            </a:extLst>
          </p:cNvPr>
          <p:cNvSpPr>
            <a:spLocks xmlns:a="http://schemas.openxmlformats.org/drawingml/2006/main" noGrp="1"/>
          </p:cNvSpPr>
          <p:nvPr/>
        </p:nvSpPr>
        <p:spPr>
          <a:xfrm xmlns:a="http://schemas.openxmlformats.org/drawingml/2006/main">
            <a:off x="6953250" y="383857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Evidence appears before the failed final click.</a:t>
            </a:r>
          </a:p>
        </p:txBody>
      </p:sp>
      <p:sp>
        <p:nvSpPr>
          <p:cNvPr id="30" name="">
            <a:extLst xmlns:a="http://schemas.openxmlformats.org/drawingml/2006/main">
              <a:ext uri="{FF2B5EF4-FFF2-40B4-BE49-F238E27FC236}">
                <a16:creationId xmlns:a16="http://schemas.microsoft.com/office/drawing/2014/main" id="{568A18EA-C402-4F01-930B-2F81D1F4D9AE}"/>
              </a:ext>
            </a:extLst>
          </p:cNvPr>
          <p:cNvSpPr>
            <a:spLocks xmlns:a="http://schemas.openxmlformats.org/drawingml/2006/main" noGrp="1"/>
          </p:cNvSpPr>
          <p:nvPr/>
        </p:nvSpPr>
        <p:spPr>
          <a:xfrm xmlns:a="http://schemas.openxmlformats.org/drawingml/2006/main">
            <a:off x="6438900" y="4305300"/>
            <a:ext cx="361950" cy="285750"/>
          </a:xfrm>
          <a:prstGeom xmlns:a="http://schemas.openxmlformats.org/drawingml/2006/main" prst="roundRect">
            <a:avLst>
              <a:gd name="adj" fmla="val 26667"/>
            </a:avLst>
          </a:prstGeom>
          <a:solidFill xmlns:a="http://schemas.openxmlformats.org/drawingml/2006/main">
            <a:srgbClr val="F05A3C"/>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851B31C0-FC8A-47EC-BAFD-AA6ACCB35D97}"/>
              </a:ext>
            </a:extLst>
          </p:cNvPr>
          <p:cNvSpPr>
            <a:spLocks xmlns:a="http://schemas.openxmlformats.org/drawingml/2006/main" noGrp="1"/>
          </p:cNvSpPr>
          <p:nvPr/>
        </p:nvSpPr>
        <p:spPr>
          <a:xfrm xmlns:a="http://schemas.openxmlformats.org/drawingml/2006/main">
            <a:off x="6534150" y="4324350"/>
            <a:ext cx="171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75" b="1">
                <a:solidFill>
                  <a:srgbClr val="FFFFFF"/>
                </a:solidFill>
                <a:latin typeface="Helvetica Neue"/>
                <a:ea typeface="Helvetica Neue"/>
                <a:cs typeface="Helvetica Neue"/>
              </a:defRPr>
            </a:pPr>
            <a:r>
              <a:rPr sz="97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A8899E06-183B-4EB0-80A6-A497931E49BC}"/>
              </a:ext>
            </a:extLst>
          </p:cNvPr>
          <p:cNvSpPr>
            <a:spLocks xmlns:a="http://schemas.openxmlformats.org/drawingml/2006/main" noGrp="1"/>
          </p:cNvSpPr>
          <p:nvPr/>
        </p:nvSpPr>
        <p:spPr>
          <a:xfrm xmlns:a="http://schemas.openxmlformats.org/drawingml/2006/main">
            <a:off x="6953250" y="4314825"/>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10151C"/>
                </a:solidFill>
                <a:latin typeface="Helvetica Neue"/>
                <a:ea typeface="Helvetica Neue"/>
                <a:cs typeface="Helvetica Neue"/>
              </a:defRPr>
            </a:pPr>
            <a:r>
              <a:rPr sz="1275" b="1">
                <a:solidFill>
                  <a:srgbClr val="10151C"/>
                </a:solidFill>
                <a:latin typeface="Helvetica Neue"/>
                <a:ea typeface="Helvetica Neue"/>
                <a:cs typeface="Helvetica Neue"/>
              </a:rPr>
              <a:t>Matched tile swap</a:t>
            </a:r>
          </a:p>
        </p:txBody>
      </p:sp>
      <p:sp>
        <p:nvSpPr>
          <p:cNvPr id="33" name="">
            <a:extLst xmlns:a="http://schemas.openxmlformats.org/drawingml/2006/main">
              <a:ext uri="{FF2B5EF4-FFF2-40B4-BE49-F238E27FC236}">
                <a16:creationId xmlns:a16="http://schemas.microsoft.com/office/drawing/2014/main" id="{256F18F6-3307-455C-A3D6-A0BD2ADE6395}"/>
              </a:ext>
            </a:extLst>
          </p:cNvPr>
          <p:cNvSpPr>
            <a:spLocks xmlns:a="http://schemas.openxmlformats.org/drawingml/2006/main" noGrp="1"/>
          </p:cNvSpPr>
          <p:nvPr/>
        </p:nvSpPr>
        <p:spPr>
          <a:xfrm xmlns:a="http://schemas.openxmlformats.org/drawingml/2006/main">
            <a:off x="6953250" y="4581525"/>
            <a:ext cx="409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Compare target-patch recovery with the head-level null.</a:t>
            </a:r>
          </a:p>
        </p:txBody>
      </p:sp>
      <p:sp>
        <p:nvSpPr>
          <p:cNvPr id="34" name="">
            <a:extLst xmlns:a="http://schemas.openxmlformats.org/drawingml/2006/main">
              <a:ext uri="{FF2B5EF4-FFF2-40B4-BE49-F238E27FC236}">
                <a16:creationId xmlns:a16="http://schemas.microsoft.com/office/drawing/2014/main" id="{685F9241-5078-46CA-A534-208469F6BC24}"/>
              </a:ext>
            </a:extLst>
          </p:cNvPr>
          <p:cNvSpPr>
            <a:spLocks xmlns:a="http://schemas.openxmlformats.org/drawingml/2006/main" noGrp="1"/>
          </p:cNvSpPr>
          <p:nvPr/>
        </p:nvSpPr>
        <p:spPr>
          <a:xfrm xmlns:a="http://schemas.openxmlformats.org/drawingml/2006/main">
            <a:off x="609600" y="5600700"/>
            <a:ext cx="10972800" cy="476250"/>
          </a:xfrm>
          <a:prstGeom xmlns:a="http://schemas.openxmlformats.org/drawingml/2006/main" prst="roundRect">
            <a:avLst>
              <a:gd name="adj" fmla="val 16000"/>
            </a:avLst>
          </a:prstGeom>
          <a:solidFill xmlns:a="http://schemas.openxmlformats.org/drawingml/2006/main">
            <a:srgbClr val="202C3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250F36EE-1730-4D54-BC26-C034E5B46CB3}"/>
              </a:ext>
            </a:extLst>
          </p:cNvPr>
          <p:cNvSpPr>
            <a:spLocks xmlns:a="http://schemas.openxmlformats.org/drawingml/2006/main" noGrp="1"/>
          </p:cNvSpPr>
          <p:nvPr/>
        </p:nvSpPr>
        <p:spPr>
          <a:xfrm xmlns:a="http://schemas.openxmlformats.org/drawingml/2006/main">
            <a:off x="857250" y="5695950"/>
            <a:ext cx="104584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Next decisive result: repeat the matched intervention across a frozen evaluation split</a:t>
            </a:r>
          </a:p>
        </p:txBody>
      </p:sp>
      <p:sp>
        <p:nvSpPr>
          <p:cNvPr id="36" name="">
            <a:extLst xmlns:a="http://schemas.openxmlformats.org/drawingml/2006/main">
              <a:ext uri="{FF2B5EF4-FFF2-40B4-BE49-F238E27FC236}">
                <a16:creationId xmlns:a16="http://schemas.microsoft.com/office/drawing/2014/main" id="{0D831759-643A-4C33-85AC-6D022746172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3A4652"/>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3C8CFDB2-67B4-47B4-BA0B-81DFBA421322}"/>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8794A2"/>
                </a:solidFill>
                <a:latin typeface="Helvetica Neue"/>
                <a:ea typeface="Helvetica Neue"/>
                <a:cs typeface="Helvetica Neue"/>
              </a:defRPr>
            </a:pPr>
            <a:r>
              <a:rPr sz="750" b="0">
                <a:solidFill>
                  <a:srgbClr val="8794A2"/>
                </a:solidFill>
                <a:latin typeface="Helvetica Neue"/>
                <a:ea typeface="Helvetica Neue"/>
                <a:cs typeface="Helvetica Neue"/>
              </a:rPr>
              <a:t>Viewers: ScreenSpot hit + miss · causal result: artifacts/causal-intervention/powerpoint_windows_59_swap/results.json</a:t>
            </a:r>
          </a:p>
        </p:txBody>
      </p:sp>
    </p:spTree>
    <p:extLst>
      <p:ext uri="{BB962C8B-B14F-4D97-AF65-F5344CB8AC3E}">
        <p14:creationId xmlns:p14="http://schemas.microsoft.com/office/powerpoint/2010/main" val="1854800163"/>
      </p:ext>
    </p:extLst>
  </p:cSld>
</p:sld>
</file>

<file path=ppt/slides/slide15.xml><?xml version="1.0" encoding="utf-8"?>
<p:sld xmlns:p="http://schemas.openxmlformats.org/presentationml/2006/main">
  <p:cSld>
    <p:bg>
      <p:bgPr>
        <a:solidFill xmlns:a="http://schemas.openxmlformats.org/drawingml/2006/main">
          <a:srgbClr val="F5F2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73FF5A-54C9-4492-A0D0-587B99149571}"/>
              </a:ext>
            </a:extLst>
          </p:cNvPr>
          <p:cNvSpPr>
            <a:spLocks xmlns:a="http://schemas.openxmlformats.org/drawingml/2006/main" noGrp="1"/>
          </p:cNvSpPr>
          <p:nvPr/>
        </p:nvSpPr>
        <p:spPr>
          <a:xfrm xmlns:a="http://schemas.openxmlformats.org/drawingml/2006/main">
            <a:off x="609600" y="361950"/>
            <a:ext cx="781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2D84D3"/>
                </a:solidFill>
                <a:latin typeface="Helvetica Neue"/>
                <a:ea typeface="Helvetica Neue"/>
                <a:cs typeface="Helvetica Neue"/>
              </a:defRPr>
            </a:pPr>
            <a:r>
              <a:rPr sz="900" b="1">
                <a:solidFill>
                  <a:srgbClr val="2D84D3"/>
                </a:solidFill>
                <a:latin typeface="Helvetica Neue"/>
                <a:ea typeface="Helvetica Neue"/>
                <a:cs typeface="Helvetica Neue"/>
              </a:rPr>
              <a:t>APPENDIX</a:t>
            </a:r>
          </a:p>
        </p:txBody>
      </p:sp>
      <p:sp>
        <p:nvSpPr>
          <p:cNvPr id="2" name="">
            <a:extLst xmlns:a="http://schemas.openxmlformats.org/drawingml/2006/main">
              <a:ext uri="{FF2B5EF4-FFF2-40B4-BE49-F238E27FC236}">
                <a16:creationId xmlns:a16="http://schemas.microsoft.com/office/drawing/2014/main" id="{6036A786-04A6-4DC7-A7EA-FE4BCF63C1BA}"/>
              </a:ext>
            </a:extLst>
          </p:cNvPr>
          <p:cNvSpPr>
            <a:spLocks xmlns:a="http://schemas.openxmlformats.org/drawingml/2006/main" noGrp="1"/>
          </p:cNvSpPr>
          <p:nvPr/>
        </p:nvSpPr>
        <p:spPr>
          <a:xfrm xmlns:a="http://schemas.openxmlformats.org/drawingml/2006/main">
            <a:off x="609600" y="590550"/>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850" b="1">
                <a:solidFill>
                  <a:srgbClr val="10151C"/>
                </a:solidFill>
                <a:latin typeface="Helvetica Neue"/>
                <a:ea typeface="Helvetica Neue"/>
                <a:cs typeface="Helvetica Neue"/>
              </a:defRPr>
            </a:pPr>
            <a:r>
              <a:rPr sz="2850" b="1">
                <a:solidFill>
                  <a:srgbClr val="10151C"/>
                </a:solidFill>
                <a:latin typeface="Helvetica Neue"/>
                <a:ea typeface="Helvetica Neue"/>
                <a:cs typeface="Helvetica Neue"/>
              </a:rPr>
              <a:t>Examples for the 12 labeled UI × action cells</a:t>
            </a:r>
          </a:p>
        </p:txBody>
      </p:sp>
      <p:sp>
        <p:nvSpPr>
          <p:cNvPr id="3" name="">
            <a:extLst xmlns:a="http://schemas.openxmlformats.org/drawingml/2006/main">
              <a:ext uri="{FF2B5EF4-FFF2-40B4-BE49-F238E27FC236}">
                <a16:creationId xmlns:a16="http://schemas.microsoft.com/office/drawing/2014/main" id="{8EA4EF9D-AFF1-42A7-A774-F3E036AD9774}"/>
              </a:ext>
            </a:extLst>
          </p:cNvPr>
          <p:cNvSpPr>
            <a:spLocks xmlns:a="http://schemas.openxmlformats.org/drawingml/2006/main" noGrp="1"/>
          </p:cNvSpPr>
          <p:nvPr/>
        </p:nvSpPr>
        <p:spPr>
          <a:xfrm xmlns:a="http://schemas.openxmlformats.org/drawingml/2006/main">
            <a:off x="11201400" y="42862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66717D"/>
                </a:solidFill>
                <a:latin typeface="Helvetica Neue"/>
                <a:ea typeface="Helvetica Neue"/>
                <a:cs typeface="Helvetica Neue"/>
              </a:defRPr>
            </a:pPr>
            <a:r>
              <a:rPr sz="975" b="1">
                <a:solidFill>
                  <a:srgbClr val="66717D"/>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C4475A2D-5946-45B0-9C62-A8EB78E10E6D}"/>
              </a:ext>
            </a:extLst>
          </p:cNvPr>
          <p:cNvSpPr>
            <a:spLocks xmlns:a="http://schemas.openxmlformats.org/drawingml/2006/main" noGrp="1"/>
          </p:cNvSpPr>
          <p:nvPr/>
        </p:nvSpPr>
        <p:spPr>
          <a:xfrm xmlns:a="http://schemas.openxmlformats.org/drawingml/2006/main">
            <a:off x="609600" y="112395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66717D"/>
                </a:solidFill>
                <a:latin typeface="Helvetica Neue"/>
                <a:ea typeface="Helvetica Neue"/>
                <a:cs typeface="Helvetica Neue"/>
              </a:defRPr>
            </a:pPr>
            <a:r>
              <a:rPr sz="1050" b="0">
                <a:solidFill>
                  <a:srgbClr val="66717D"/>
                </a:solidFill>
                <a:latin typeface="Helvetica Neue"/>
                <a:ea typeface="Helvetica Neue"/>
                <a:cs typeface="Helvetica Neue"/>
              </a:rPr>
              <a:t>Rows use the benchmark's target-element label; columns use our instruction-verb taxonomy</a:t>
            </a:r>
          </a:p>
        </p:txBody>
      </p:sp>
      <p:graphicFrame>
        <p:nvGraphicFramePr>
          <p:cNvPr id="12" name=""/>
          <p:cNvGraphicFramePr/>
          <p:nvPr/>
        </p:nvGraphicFramePr>
        <p:xfrm>
          <a:off xmlns:a="http://schemas.openxmlformats.org/drawingml/2006/main" x="609600" y="1581150"/>
          <a:ext xmlns:a="http://schemas.openxmlformats.org/drawingml/2006/main" cx="10972800" cy="4286250"/>
        </p:xfrm>
        <a:graphic xmlns:a="http://schemas.openxmlformats.org/drawingml/2006/main">
          <a:graphicData uri="http://schemas.openxmlformats.org/drawingml/2006/table">
            <a:tbl>
              <a:tblPr/>
              <a:tblGrid>
                <a:gridCol w="895350"/>
                <a:gridCol w="1679575"/>
                <a:gridCol w="1679575"/>
                <a:gridCol w="1679575"/>
                <a:gridCol w="1679575"/>
                <a:gridCol w="1679575"/>
                <a:gridCol w="1679575"/>
              </a:tblGrid>
              <a:tr h="1428750">
                <a:tc>
                  <a:txBody>
                    <a:bodyPr>
                      <a:normAutofit/>
                    </a:bodyPr>
                    <a:lstStyle/>
                    <a:p>
                      <a:pPr algn="ctr"/>
                      <a:r>
                        <a:rPr sz="750" b="1">
                          <a:solidFill>
                            <a:srgbClr val="FFFFFF"/>
                          </a:solidFill>
                          <a:latin typeface="Helvetica Neue"/>
                          <a:ea typeface="Helvetica Neue"/>
                          <a:cs typeface="Helvetica Neue"/>
                        </a:rPr>
                        <a:t>OFFICIAL</a:t>
                      </a:r>
                    </a:p>
                    <a:p>
                      <a:pPr algn="ctr"/>
                      <a:r>
                        <a:rPr sz="750" b="1">
                          <a:solidFill>
                            <a:srgbClr val="FFFFFF"/>
                          </a:solidFill>
                          <a:latin typeface="Helvetica Neue"/>
                          <a:ea typeface="Helvetica Neue"/>
                          <a:cs typeface="Helvetica Neue"/>
                        </a:rPr>
                        <a:t>TARGET UI</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NAVIGATE</a:t>
                      </a:r>
                    </a:p>
                    <a:p>
                      <a:pPr algn="ctr"/>
                      <a:r>
                        <a:rPr sz="750" b="1">
                          <a:solidFill>
                            <a:srgbClr val="FFFFFF"/>
                          </a:solidFill>
                          <a:latin typeface="Helvetica Neue"/>
                          <a:ea typeface="Helvetica Neue"/>
                          <a:cs typeface="Helvetica Neue"/>
                        </a:rPr>
                        <a:t>REVEAL</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SELECT</a:t>
                      </a:r>
                    </a:p>
                    <a:p>
                      <a:pPr algn="ctr"/>
                      <a:r>
                        <a:rPr sz="750" b="1">
                          <a:solidFill>
                            <a:srgbClr val="FFFFFF"/>
                          </a:solidFill>
                          <a:latin typeface="Helvetica Neue"/>
                          <a:ea typeface="Helvetica Neue"/>
                          <a:cs typeface="Helvetica Neue"/>
                        </a:rPr>
                        <a:t>ACTIVATE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CREATE</a:t>
                      </a:r>
                    </a:p>
                    <a:p>
                      <a:pPr algn="ctr"/>
                      <a:r>
                        <a:rPr sz="750" b="1">
                          <a:solidFill>
                            <a:srgbClr val="FFFFFF"/>
                          </a:solidFill>
                          <a:latin typeface="Helvetica Neue"/>
                          <a:ea typeface="Helvetica Neue"/>
                          <a:cs typeface="Helvetica Neue"/>
                        </a:rPr>
                        <a:t>INSERT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EDIT</a:t>
                      </a:r>
                    </a:p>
                    <a:p>
                      <a:pPr algn="ctr"/>
                      <a:r>
                        <a:rPr sz="750" b="1">
                          <a:solidFill>
                            <a:srgbClr val="FFFFFF"/>
                          </a:solidFill>
                          <a:latin typeface="Helvetica Neue"/>
                          <a:ea typeface="Helvetica Neue"/>
                          <a:cs typeface="Helvetica Neue"/>
                        </a:rPr>
                        <a:t>FORMAT</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REMOVE</a:t>
                      </a:r>
                    </a:p>
                    <a:p>
                      <a:pPr algn="ctr"/>
                      <a:r>
                        <a:rPr sz="750" b="1">
                          <a:solidFill>
                            <a:srgbClr val="FFFFFF"/>
                          </a:solidFill>
                          <a:latin typeface="Helvetica Neue"/>
                          <a:ea typeface="Helvetica Neue"/>
                          <a:cs typeface="Helvetica Neue"/>
                        </a:rPr>
                        <a:t>CLOSE</a:t>
                      </a:r>
                    </a:p>
                  </a:txBody>
                  <a:tcPr marL="85725" marR="85725" marT="76200" marB="76200" anchor="ctr">
                    <a:solidFill>
                      <a:srgbClr val="1C2733"/>
                    </a:solidFill>
                  </a:tcPr>
                </a:tc>
                <a:tc>
                  <a:txBody>
                    <a:bodyPr>
                      <a:normAutofit/>
                    </a:bodyPr>
                    <a:lstStyle/>
                    <a:p>
                      <a:pPr algn="ctr"/>
                      <a:r>
                        <a:rPr sz="750" b="1">
                          <a:solidFill>
                            <a:srgbClr val="FFFFFF"/>
                          </a:solidFill>
                          <a:latin typeface="Helvetica Neue"/>
                          <a:ea typeface="Helvetica Neue"/>
                          <a:cs typeface="Helvetica Neue"/>
                        </a:rPr>
                        <a:t>FILE</a:t>
                      </a:r>
                    </a:p>
                    <a:p>
                      <a:pPr algn="ctr"/>
                      <a:r>
                        <a:rPr sz="750" b="1">
                          <a:solidFill>
                            <a:srgbClr val="FFFFFF"/>
                          </a:solidFill>
                          <a:latin typeface="Helvetica Neue"/>
                          <a:ea typeface="Helvetica Neue"/>
                          <a:cs typeface="Helvetica Neue"/>
                        </a:rPr>
                        <a:t>TRANSFER</a:t>
                      </a:r>
                    </a:p>
                  </a:txBody>
                  <a:tcPr marL="85725" marR="85725" marT="76200" marB="76200" anchor="ctr">
                    <a:solidFill>
                      <a:srgbClr val="1C2733"/>
                    </a:solidFill>
                  </a:tcPr>
                </a:tc>
              </a:tr>
              <a:tr h="1428750">
                <a:tc>
                  <a:txBody>
                    <a:bodyPr>
                      <a:normAutofit/>
                    </a:bodyPr>
                    <a:lstStyle/>
                    <a:p>
                      <a:pPr algn="ctr"/>
                      <a:r>
                        <a:rPr sz="975" b="1">
                          <a:solidFill>
                            <a:srgbClr val="FFFFFF"/>
                          </a:solidFill>
                          <a:latin typeface="Helvetica Neue"/>
                          <a:ea typeface="Helvetica Neue"/>
                          <a:cs typeface="Helvetica Neue"/>
                        </a:rPr>
                        <a:t>ICON</a:t>
                      </a:r>
                    </a:p>
                  </a:txBody>
                  <a:tcPr marL="85725" marR="85725" marT="76200" marB="76200" anchor="ctr">
                    <a:solidFill>
                      <a:srgbClr val="1C2733"/>
                    </a:solidFill>
                  </a:tcPr>
                </a:tc>
                <a:tc>
                  <a:txBody>
                    <a:bodyPr>
                      <a:normAutofit/>
                    </a:bodyPr>
                    <a:lstStyle/>
                    <a:p>
                      <a:pPr algn="l"/>
                      <a:r>
                        <a:rPr sz="900" b="0">
                          <a:solidFill>
                            <a:srgbClr val="A33D29"/>
                          </a:solidFill>
                          <a:latin typeface="Helvetica Neue"/>
                          <a:ea typeface="Helvetica Neue"/>
                          <a:cs typeface="Helvetica Neue"/>
                        </a:rPr>
                        <a:t>40.3%   n=149</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“Refresh the file explorer.”</a:t>
                      </a:r>
                    </a:p>
                    <a:p>
                      <a:pPr algn="l"/>
                      <a:r>
                        <a:rPr sz="900" b="0">
                          <a:solidFill>
                            <a:srgbClr val="A33D29"/>
                          </a:solidFill>
                          <a:latin typeface="Helvetica Neue"/>
                          <a:ea typeface="Helvetica Neue"/>
                          <a:cs typeface="Helvetica Neue"/>
                        </a:rPr>
                        <a:t>VS Code</a:t>
                      </a:r>
                    </a:p>
                  </a:txBody>
                  <a:tcPr marL="85725" marR="85725" marT="76200" marB="76200" anchor="ctr">
                    <a:solidFill>
                      <a:srgbClr val="F7E4DB"/>
                    </a:solidFill>
                  </a:tcPr>
                </a:tc>
                <a:tc>
                  <a:txBody>
                    <a:bodyPr>
                      <a:normAutofit/>
                    </a:bodyPr>
                    <a:lstStyle/>
                    <a:p>
                      <a:pPr algn="l"/>
                      <a:r>
                        <a:rPr sz="900" b="0">
                          <a:solidFill>
                            <a:srgbClr val="10151C"/>
                          </a:solidFill>
                          <a:latin typeface="Helvetica Neue"/>
                          <a:ea typeface="Helvetica Neue"/>
                          <a:cs typeface="Helvetica Neue"/>
                        </a:rPr>
                        <a:t>52.6%   n=76</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the eraser tool”</a:t>
                      </a:r>
                    </a:p>
                    <a:p>
                      <a:pPr algn="l"/>
                      <a:r>
                        <a:rPr sz="900" b="0">
                          <a:solidFill>
                            <a:srgbClr val="10151C"/>
                          </a:solidFill>
                          <a:latin typeface="Helvetica Neue"/>
                          <a:ea typeface="Helvetica Neue"/>
                          <a:cs typeface="Helvetica Neue"/>
                        </a:rPr>
                        <a:t>Illustrator</a:t>
                      </a:r>
                    </a:p>
                  </a:txBody>
                  <a:tcPr marL="85725" marR="85725" marT="76200" marB="76200" anchor="ctr">
                    <a:solidFill>
                      <a:srgbClr val="F0E7DE"/>
                    </a:solidFill>
                  </a:tcPr>
                </a:tc>
                <a:tc>
                  <a:txBody>
                    <a:bodyPr>
                      <a:normAutofit/>
                    </a:bodyPr>
                    <a:lstStyle/>
                    <a:p>
                      <a:pPr algn="l"/>
                      <a:r>
                        <a:rPr sz="900" b="0">
                          <a:solidFill>
                            <a:srgbClr val="A33D29"/>
                          </a:solidFill>
                          <a:latin typeface="Helvetica Neue"/>
                          <a:ea typeface="Helvetica Neue"/>
                          <a:cs typeface="Helvetica Neue"/>
                        </a:rPr>
                        <a:t>43.2%   n=81</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“add new service in android studio using the icon”</a:t>
                      </a:r>
                    </a:p>
                    <a:p>
                      <a:pPr algn="l"/>
                      <a:r>
                        <a:rPr sz="900" b="0">
                          <a:solidFill>
                            <a:srgbClr val="A33D29"/>
                          </a:solidFill>
                          <a:latin typeface="Helvetica Neue"/>
                          <a:ea typeface="Helvetica Neue"/>
                          <a:cs typeface="Helvetica Neue"/>
                        </a:rPr>
                        <a:t>Android Studio</a:t>
                      </a:r>
                    </a:p>
                  </a:txBody>
                  <a:tcPr marL="85725" marR="85725" marT="76200" marB="76200" anchor="ctr">
                    <a:solidFill>
                      <a:srgbClr val="F5E5DC"/>
                    </a:solidFill>
                  </a:tcPr>
                </a:tc>
                <a:tc>
                  <a:txBody>
                    <a:bodyPr>
                      <a:normAutofit/>
                    </a:bodyPr>
                    <a:lstStyle/>
                    <a:p>
                      <a:pPr algn="l"/>
                      <a:r>
                        <a:rPr sz="900" b="0">
                          <a:solidFill>
                            <a:srgbClr val="10151C"/>
                          </a:solidFill>
                          <a:latin typeface="Helvetica Neue"/>
                          <a:ea typeface="Helvetica Neue"/>
                          <a:cs typeface="Helvetica Neue"/>
                        </a:rPr>
                        <a:t>45.0%   n=80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font color to red”</a:t>
                      </a:r>
                    </a:p>
                    <a:p>
                      <a:pPr algn="l"/>
                      <a:r>
                        <a:rPr sz="900" b="0">
                          <a:solidFill>
                            <a:srgbClr val="10151C"/>
                          </a:solidFill>
                          <a:latin typeface="Helvetica Neue"/>
                          <a:ea typeface="Helvetica Neue"/>
                          <a:cs typeface="Helvetica Neue"/>
                        </a:rPr>
                        <a:t>PowerPoint</a:t>
                      </a:r>
                    </a:p>
                  </a:txBody>
                  <a:tcPr marL="85725" marR="85725" marT="76200" marB="76200" anchor="ctr">
                    <a:solidFill>
                      <a:srgbClr val="F4E5DD"/>
                    </a:solidFill>
                  </a:tcPr>
                </a:tc>
                <a:tc>
                  <a:txBody>
                    <a:bodyPr>
                      <a:normAutofit/>
                    </a:bodyPr>
                    <a:lstStyle/>
                    <a:p>
                      <a:pPr algn="l"/>
                      <a:r>
                        <a:rPr sz="900" b="0">
                          <a:solidFill>
                            <a:srgbClr val="10151C"/>
                          </a:solidFill>
                          <a:latin typeface="Helvetica Neue"/>
                          <a:ea typeface="Helvetica Neue"/>
                          <a:cs typeface="Helvetica Neue"/>
                        </a:rPr>
                        <a:t>59.6%   n=52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“Close the piano window”</a:t>
                      </a:r>
                    </a:p>
                    <a:p>
                      <a:pPr algn="l"/>
                      <a:r>
                        <a:rPr sz="900" b="0">
                          <a:solidFill>
                            <a:srgbClr val="10151C"/>
                          </a:solidFill>
                          <a:latin typeface="Helvetica Neue"/>
                          <a:ea typeface="Helvetica Neue"/>
                          <a:cs typeface="Helvetica Neue"/>
                        </a:rPr>
                        <a:t>FL Studio</a:t>
                      </a:r>
                    </a:p>
                  </a:txBody>
                  <a:tcPr marL="85725" marR="85725" marT="76200" marB="76200" anchor="ctr">
                    <a:solidFill>
                      <a:srgbClr val="ECE8E0"/>
                    </a:solidFill>
                  </a:tcPr>
                </a:tc>
                <a:tc>
                  <a:txBody>
                    <a:bodyPr>
                      <a:normAutofit/>
                    </a:bodyPr>
                    <a:lstStyle/>
                    <a:p>
                      <a:pPr algn="l"/>
                      <a:r>
                        <a:rPr sz="900" b="0">
                          <a:solidFill>
                            <a:srgbClr val="A33D29"/>
                          </a:solidFill>
                          <a:latin typeface="Helvetica Neue"/>
                          <a:ea typeface="Helvetica Neue"/>
                          <a:cs typeface="Helvetica Neue"/>
                        </a:rPr>
                        <a:t>36.1%   n=36</a:t>
                      </a:r>
                    </a:p>
                    <a:p>
                      <a:r>
                        <a:rPr sz="900" b="0">
                          <a:solidFill>
                            <a:srgbClr val="A33D29"/>
                          </a:solidFill>
                          <a:latin typeface="Helvetica Neue"/>
                          <a:ea typeface="Helvetica Neue"/>
                          <a:cs typeface="Helvetica Neue"/>
                        </a:rPr>
                        <a:t/>
                      </a:r>
                    </a:p>
                    <a:p>
                      <a:pPr algn="l"/>
                      <a:r>
                        <a:rPr sz="900" b="0">
                          <a:solidFill>
                            <a:srgbClr val="A33D29"/>
                          </a:solidFill>
                          <a:latin typeface="Helvetica Neue"/>
                          <a:ea typeface="Helvetica Neue"/>
                          <a:cs typeface="Helvetica Neue"/>
                        </a:rPr>
                        <a:t>“Save a file”</a:t>
                      </a:r>
                    </a:p>
                    <a:p>
                      <a:pPr algn="l"/>
                      <a:r>
                        <a:rPr sz="900" b="0">
                          <a:solidFill>
                            <a:srgbClr val="A33D29"/>
                          </a:solidFill>
                          <a:latin typeface="Helvetica Neue"/>
                          <a:ea typeface="Helvetica Neue"/>
                          <a:cs typeface="Helvetica Neue"/>
                        </a:rPr>
                        <a:t>MATLAB</a:t>
                      </a:r>
                    </a:p>
                  </a:txBody>
                  <a:tcPr marL="85725" marR="85725" marT="76200" marB="76200" anchor="ctr">
                    <a:solidFill>
                      <a:srgbClr val="F9E3DA"/>
                    </a:solidFill>
                  </a:tcPr>
                </a:tc>
              </a:tr>
              <a:tr h="1428750">
                <a:tc>
                  <a:txBody>
                    <a:bodyPr>
                      <a:normAutofit/>
                    </a:bodyPr>
                    <a:lstStyle/>
                    <a:p>
                      <a:pPr algn="ctr"/>
                      <a:r>
                        <a:rPr sz="975" b="1">
                          <a:solidFill>
                            <a:srgbClr val="FFFFFF"/>
                          </a:solidFill>
                          <a:latin typeface="Helvetica Neue"/>
                          <a:ea typeface="Helvetica Neue"/>
                          <a:cs typeface="Helvetica Neue"/>
                        </a:rPr>
                        <a:t>TEXT</a:t>
                      </a:r>
                    </a:p>
                  </a:txBody>
                  <a:tcPr marL="85725" marR="85725" marT="76200" marB="76200" anchor="ctr">
                    <a:solidFill>
                      <a:srgbClr val="1C2733"/>
                    </a:solidFill>
                  </a:tcPr>
                </a:tc>
                <a:tc>
                  <a:txBody>
                    <a:bodyPr>
                      <a:normAutofit/>
                    </a:bodyPr>
                    <a:lstStyle/>
                    <a:p>
                      <a:pPr algn="l"/>
                      <a:r>
                        <a:rPr sz="900" b="0">
                          <a:solidFill>
                            <a:srgbClr val="10151C"/>
                          </a:solidFill>
                          <a:latin typeface="Helvetica Neue"/>
                          <a:ea typeface="Helvetica Neue"/>
                          <a:cs typeface="Helvetica Neue"/>
                        </a:rPr>
                        <a:t>77.0%   n=161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“Display the selection pane”</a:t>
                      </a:r>
                    </a:p>
                    <a:p>
                      <a:pPr algn="l"/>
                      <a:r>
                        <a:rPr sz="900" b="0">
                          <a:solidFill>
                            <a:srgbClr val="10151C"/>
                          </a:solidFill>
                          <a:latin typeface="Helvetica Neue"/>
                          <a:ea typeface="Helvetica Neue"/>
                          <a:cs typeface="Helvetica Neue"/>
                        </a:rPr>
                        <a:t>PowerPoint</a:t>
                      </a:r>
                    </a:p>
                  </a:txBody>
                  <a:tcPr marL="85725" marR="85725" marT="76200" marB="76200" anchor="ctr">
                    <a:solidFill>
                      <a:srgbClr val="E3ECE4"/>
                    </a:solidFill>
                  </a:tcPr>
                </a:tc>
                <a:tc>
                  <a:txBody>
                    <a:bodyPr>
                      <a:normAutofit/>
                    </a:bodyPr>
                    <a:lstStyle/>
                    <a:p>
                      <a:pPr algn="l"/>
                      <a:r>
                        <a:rPr sz="900" b="0">
                          <a:solidFill>
                            <a:srgbClr val="10151C"/>
                          </a:solidFill>
                          <a:latin typeface="Helvetica Neue"/>
                          <a:ea typeface="Helvetica Neue"/>
                          <a:cs typeface="Helvetica Neue"/>
                        </a:rPr>
                        <a:t>80.8%   n=151</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“Select Sheet1 in Book2”</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80.3%   n=152</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“Create a new worksheet”</a:t>
                      </a:r>
                    </a:p>
                    <a:p>
                      <a:pPr algn="l"/>
                      <a:r>
                        <a:rPr sz="900" b="0">
                          <a:solidFill>
                            <a:srgbClr val="10151C"/>
                          </a:solidFill>
                          <a:latin typeface="Helvetica Neue"/>
                          <a:ea typeface="Helvetica Neue"/>
                          <a:cs typeface="Helvetica Neue"/>
                        </a:rPr>
                        <a:t>Origin</a:t>
                      </a:r>
                    </a:p>
                  </a:txBody>
                  <a:tcPr marL="85725" marR="85725" marT="76200" marB="76200" anchor="ctr">
                    <a:solidFill>
                      <a:srgbClr val="E1EDE5"/>
                    </a:solidFill>
                  </a:tcPr>
                </a:tc>
                <a:tc>
                  <a:txBody>
                    <a:bodyPr>
                      <a:normAutofit/>
                    </a:bodyPr>
                    <a:lstStyle/>
                    <a:p>
                      <a:pPr algn="l"/>
                      <a:r>
                        <a:rPr sz="900" b="0">
                          <a:solidFill>
                            <a:srgbClr val="10151C"/>
                          </a:solidFill>
                          <a:latin typeface="Helvetica Neue"/>
                          <a:ea typeface="Helvetica Neue"/>
                          <a:cs typeface="Helvetica Neue"/>
                        </a:rPr>
                        <a:t>79.4%   n=180</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“Change the ending frame.”</a:t>
                      </a:r>
                    </a:p>
                    <a:p>
                      <a:pPr algn="l"/>
                      <a:r>
                        <a:rPr sz="900" b="0">
                          <a:solidFill>
                            <a:srgbClr val="10151C"/>
                          </a:solidFill>
                          <a:latin typeface="Helvetica Neue"/>
                          <a:ea typeface="Helvetica Neue"/>
                          <a:cs typeface="Helvetica Neue"/>
                        </a:rPr>
                        <a:t>Blender</a:t>
                      </a:r>
                    </a:p>
                  </a:txBody>
                  <a:tcPr marL="85725" marR="85725" marT="76200" marB="76200" anchor="ctr">
                    <a:solidFill>
                      <a:srgbClr val="E2EDE5"/>
                    </a:solidFill>
                  </a:tcPr>
                </a:tc>
                <a:tc>
                  <a:txBody>
                    <a:bodyPr>
                      <a:normAutofit/>
                    </a:bodyPr>
                    <a:lstStyle/>
                    <a:p>
                      <a:pPr algn="l"/>
                      <a:r>
                        <a:rPr sz="900" b="0">
                          <a:solidFill>
                            <a:srgbClr val="10151C"/>
                          </a:solidFill>
                          <a:latin typeface="Helvetica Neue"/>
                          <a:ea typeface="Helvetica Neue"/>
                          <a:cs typeface="Helvetica Neue"/>
                        </a:rPr>
                        <a:t>85.1%   n=47</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“Delete”</a:t>
                      </a:r>
                    </a:p>
                    <a:p>
                      <a:pPr algn="l"/>
                      <a:r>
                        <a:rPr sz="900" b="0">
                          <a:solidFill>
                            <a:srgbClr val="10151C"/>
                          </a:solidFill>
                          <a:latin typeface="Helvetica Neue"/>
                          <a:ea typeface="Helvetica Neue"/>
                          <a:cs typeface="Helvetica Neue"/>
                        </a:rPr>
                        <a:t>SolidWorks</a:t>
                      </a:r>
                    </a:p>
                  </a:txBody>
                  <a:tcPr marL="85725" marR="85725" marT="76200" marB="76200" anchor="ctr">
                    <a:solidFill>
                      <a:srgbClr val="DFEEE6"/>
                    </a:solidFill>
                  </a:tcPr>
                </a:tc>
                <a:tc>
                  <a:txBody>
                    <a:bodyPr>
                      <a:normAutofit/>
                    </a:bodyPr>
                    <a:lstStyle/>
                    <a:p>
                      <a:pPr algn="l"/>
                      <a:r>
                        <a:rPr sz="900" b="0">
                          <a:solidFill>
                            <a:srgbClr val="10151C"/>
                          </a:solidFill>
                          <a:latin typeface="Helvetica Neue"/>
                          <a:ea typeface="Helvetica Neue"/>
                          <a:cs typeface="Helvetica Neue"/>
                        </a:rPr>
                        <a:t>86.0%   n=43</a:t>
                      </a:r>
                    </a:p>
                    <a:p>
                      <a:r>
                        <a:rPr sz="900" b="0">
                          <a:solidFill>
                            <a:srgbClr val="10151C"/>
                          </a:solidFill>
                          <a:latin typeface="Helvetica Neue"/>
                          <a:ea typeface="Helvetica Neue"/>
                          <a:cs typeface="Helvetica Neue"/>
                        </a:rPr>
                        <a:t/>
                      </a:r>
                    </a:p>
                    <a:p>
                      <a:pPr algn="l"/>
                      <a:r>
                        <a:rPr sz="900" b="0">
                          <a:solidFill>
                            <a:srgbClr val="10151C"/>
                          </a:solidFill>
                          <a:latin typeface="Helvetica Neue"/>
                          <a:ea typeface="Helvetica Neue"/>
                          <a:cs typeface="Helvetica Neue"/>
                        </a:rPr>
                        <a:t>“Export the object”</a:t>
                      </a:r>
                    </a:p>
                    <a:p>
                      <a:pPr algn="l"/>
                      <a:r>
                        <a:rPr sz="900" b="0">
                          <a:solidFill>
                            <a:srgbClr val="10151C"/>
                          </a:solidFill>
                          <a:latin typeface="Helvetica Neue"/>
                          <a:ea typeface="Helvetica Neue"/>
                          <a:cs typeface="Helvetica Neue"/>
                        </a:rPr>
                        <a:t>Inventor</a:t>
                      </a:r>
                    </a:p>
                  </a:txBody>
                  <a:tcPr marL="85725" marR="85725" marT="76200" marB="76200" anchor="ctr">
                    <a:solidFill>
                      <a:srgbClr val="DEEEE6"/>
                    </a:solidFill>
                  </a:tcPr>
                </a:tc>
              </a:tr>
            </a:tbl>
          </a:graphicData>
        </a:graphic>
      </p:graphicFrame>
      <p:sp>
        <p:nvSpPr>
          <p:cNvPr id="6" name="">
            <a:extLst xmlns:a="http://schemas.openxmlformats.org/drawingml/2006/main">
              <a:ext uri="{FF2B5EF4-FFF2-40B4-BE49-F238E27FC236}">
                <a16:creationId xmlns:a16="http://schemas.microsoft.com/office/drawing/2014/main" id="{7D6FE4F2-2E89-4FBC-B660-CF7382509F4E}"/>
              </a:ext>
            </a:extLst>
          </p:cNvPr>
          <p:cNvSpPr>
            <a:spLocks xmlns:a="http://schemas.openxmlformats.org/drawingml/2006/main" noGrp="1"/>
          </p:cNvSpPr>
          <p:nvPr/>
        </p:nvSpPr>
        <p:spPr>
          <a:xfrm xmlns:a="http://schemas.openxmlformats.org/drawingml/2006/main">
            <a:off x="609600" y="6477000"/>
            <a:ext cx="10972800" cy="9525"/>
          </a:xfrm>
          <a:prstGeom xmlns:a="http://schemas.openxmlformats.org/drawingml/2006/main" prst="rect">
            <a:avLst/>
          </a:prstGeom>
          <a:solidFill xmlns:a="http://schemas.openxmlformats.org/drawingml/2006/main">
            <a:srgbClr val="D9D4C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0C6CBEC-ED3D-4902-9CAE-FB7F8CB612AD}"/>
              </a:ext>
            </a:extLst>
          </p:cNvPr>
          <p:cNvSpPr>
            <a:spLocks xmlns:a="http://schemas.openxmlformats.org/drawingml/2006/main" noGrp="1"/>
          </p:cNvSpPr>
          <p:nvPr/>
        </p:nvSpPr>
        <p:spPr>
          <a:xfrm xmlns:a="http://schemas.openxmlformats.org/drawingml/2006/main">
            <a:off x="609600" y="6553200"/>
            <a:ext cx="109728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750" b="0">
                <a:solidFill>
                  <a:srgbClr val="66717D"/>
                </a:solidFill>
                <a:latin typeface="Helvetica Neue"/>
                <a:ea typeface="Helvetica Neue"/>
                <a:cs typeface="Helvetica Neue"/>
              </a:defRPr>
            </a:pPr>
            <a:r>
              <a:rPr sz="750" b="0">
                <a:solidFill>
                  <a:srgbClr val="66717D"/>
                </a:solidFill>
                <a:latin typeface="Helvetica Neue"/>
                <a:ea typeface="Helvetica Neue"/>
                <a:cs typeface="Helvetica Neue"/>
              </a:rPr>
              <a:t>Official UI rule: icon only when no text hint appears; text otherwise. Examples show categories, not outcomes. Other omitted: 373 items, 64.1%.</a:t>
            </a:r>
          </a:p>
        </p:txBody>
      </p:sp>
    </p:spTree>
    <p:extLst>
      <p:ext uri="{BB962C8B-B14F-4D97-AF65-F5344CB8AC3E}">
        <p14:creationId xmlns:p14="http://schemas.microsoft.com/office/powerpoint/2010/main" val="11272942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2026-09-21T23:53:18.5160000Z</dcterms:created>
  <dcterms:modified xsi:type="dcterms:W3CDTF">2026-09-21T23:53:18.5160000Z</dcterms:modified>
</coreProperties>
</file>