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5757e1ff7014628" /><Relationship Type="http://schemas.openxmlformats.org/officeDocument/2006/relationships/extended-properties" Target="/docProps/app.xml" Id="R292c28876eae4aa0" /><Relationship Type="http://schemas.openxmlformats.org/officeDocument/2006/relationships/officeDocument" Target="/ppt/presentation.xml" Id="R84e138de41cc45b3" /></Relationships>
</file>

<file path=ppt/presentation.xml><?xml version="1.0" encoding="utf-8"?>
<p:presentation xmlns:p="http://schemas.openxmlformats.org/presentationml/2006/main">
  <p:sldMasterIdLst>
    <p:sldMasterId xmlns:r="http://schemas.openxmlformats.org/officeDocument/2006/relationships" id="2147483648" r:id="Rec69f6f5865b4b92"/>
  </p:sldMasterIdLst>
  <p:notesMasterIdLst>
    <p:notesMasterId xmlns:r="http://schemas.openxmlformats.org/officeDocument/2006/relationships" r:id="R0f3189b5f7eb4399"/>
  </p:notesMasterIdLst>
  <p:sldIdLst>
    <p:sldId xmlns:r="http://schemas.openxmlformats.org/officeDocument/2006/relationships" id="256" r:id="Rcb56d5fc92764f45"/>
    <p:sldId xmlns:r="http://schemas.openxmlformats.org/officeDocument/2006/relationships" id="257" r:id="R133dc57d84b448ce"/>
    <p:sldId xmlns:r="http://schemas.openxmlformats.org/officeDocument/2006/relationships" id="258" r:id="R6b3e877d767747d3"/>
    <p:sldId xmlns:r="http://schemas.openxmlformats.org/officeDocument/2006/relationships" id="259" r:id="R179d0783b08d498c"/>
    <p:sldId xmlns:r="http://schemas.openxmlformats.org/officeDocument/2006/relationships" id="260" r:id="Rcf0fdd7483184176"/>
    <p:sldId xmlns:r="http://schemas.openxmlformats.org/officeDocument/2006/relationships" id="261" r:id="Rc8e3ab1d85384da0"/>
    <p:sldId xmlns:r="http://schemas.openxmlformats.org/officeDocument/2006/relationships" id="262" r:id="R2b2c126572e645be"/>
    <p:sldId xmlns:r="http://schemas.openxmlformats.org/officeDocument/2006/relationships" id="263" r:id="R8470438ea67e4cb9"/>
    <p:sldId xmlns:r="http://schemas.openxmlformats.org/officeDocument/2006/relationships" id="264" r:id="R80d05174ca724d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7be82244ee4505" /><Relationship Type="http://schemas.openxmlformats.org/officeDocument/2006/relationships/slideMaster" Target="/ppt/slideMasters/slideMaster1.xml" Id="Rec69f6f5865b4b92" /><Relationship Type="http://schemas.openxmlformats.org/officeDocument/2006/relationships/notesMaster" Target="/ppt/notesMasters/notesMaster1.xml" Id="R0f3189b5f7eb4399" /><Relationship Type="http://schemas.openxmlformats.org/officeDocument/2006/relationships/presProps" Target="/ppt/presProps.xml" Id="R8ea28f94d8bc4483" /><Relationship Type="http://schemas.openxmlformats.org/officeDocument/2006/relationships/tableStyles" Target="/ppt/tableStyles.xml" Id="Rffe8d463f4ff4ad2" /><Relationship Type="http://schemas.openxmlformats.org/officeDocument/2006/relationships/slide" Target="/ppt/slides/slide1.xml" Id="Rcb56d5fc92764f45" /><Relationship Type="http://schemas.openxmlformats.org/officeDocument/2006/relationships/slide" Target="/ppt/slides/slide2.xml" Id="R133dc57d84b448ce" /><Relationship Type="http://schemas.openxmlformats.org/officeDocument/2006/relationships/slide" Target="/ppt/slides/slide3.xml" Id="R6b3e877d767747d3" /><Relationship Type="http://schemas.openxmlformats.org/officeDocument/2006/relationships/slide" Target="/ppt/slides/slide4.xml" Id="R179d0783b08d498c" /><Relationship Type="http://schemas.openxmlformats.org/officeDocument/2006/relationships/slide" Target="/ppt/slides/slide5.xml" Id="Rcf0fdd7483184176" /><Relationship Type="http://schemas.openxmlformats.org/officeDocument/2006/relationships/slide" Target="/ppt/slides/slide6.xml" Id="Rc8e3ab1d85384da0" /><Relationship Type="http://schemas.openxmlformats.org/officeDocument/2006/relationships/slide" Target="/ppt/slides/slide7.xml" Id="R2b2c126572e645be" /><Relationship Type="http://schemas.openxmlformats.org/officeDocument/2006/relationships/slide" Target="/ppt/slides/slide8.xml" Id="R8470438ea67e4cb9" /><Relationship Type="http://schemas.openxmlformats.org/officeDocument/2006/relationships/slide" Target="/ppt/slides/slide9.xml" Id="R80d05174ca724d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63d700d4eb4d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85109eb2934bfd" /><Relationship Type="http://schemas.openxmlformats.org/officeDocument/2006/relationships/notesMaster" Target="/ppt/notesMasters/notesMaster1.xml" Id="Rc5b413eb6b244e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8946163bc24008" /><Relationship Type="http://schemas.openxmlformats.org/officeDocument/2006/relationships/notesMaster" Target="/ppt/notesMasters/notesMaster1.xml" Id="R1c7642625d834d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2cfefb0f2543dd" /><Relationship Type="http://schemas.openxmlformats.org/officeDocument/2006/relationships/notesMaster" Target="/ppt/notesMasters/notesMaster1.xml" Id="Ra7315deb0b2d40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671bed87e04a65" /><Relationship Type="http://schemas.openxmlformats.org/officeDocument/2006/relationships/notesMaster" Target="/ppt/notesMasters/notesMaster1.xml" Id="R968615e1fe3848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d483d4a69a47ca" /><Relationship Type="http://schemas.openxmlformats.org/officeDocument/2006/relationships/notesMaster" Target="/ppt/notesMasters/notesMaster1.xml" Id="R8f2381eafa944c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c0dd5ed513420b" /><Relationship Type="http://schemas.openxmlformats.org/officeDocument/2006/relationships/notesMaster" Target="/ppt/notesMasters/notesMaster1.xml" Id="R1ae6fb91c8264a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a5b8528be64547" /><Relationship Type="http://schemas.openxmlformats.org/officeDocument/2006/relationships/notesMaster" Target="/ppt/notesMasters/notesMaster1.xml" Id="R94162c9d6c1243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e84039d5ff4d6a" /><Relationship Type="http://schemas.openxmlformats.org/officeDocument/2006/relationships/notesMaster" Target="/ppt/notesMasters/notesMaster1.xml" Id="Rf288f8b928554a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224a6d39f44e40" /><Relationship Type="http://schemas.openxmlformats.org/officeDocument/2006/relationships/notesMaster" Target="/ppt/notesMasters/notesMaster1.xml" Id="R305afb9b5f544f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0:35–1:25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The hotel trace is a Holo failure after three scrolls and one click. Sources: docs/screenspot-case-study.md and data/attributions/traj-20260919T164806Z-ba81a14a16/trajectory.json.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1:45–3:10 — Walk left to right. Value-norm changes the routing matrix before rollout. Rollout mixes attention and identity 50/50 and multiplies the eight conventional full-attention layers in model order. Then average only the generated x/y value tokens. Emphasize strict causality for the token baseline and exact same image/settings for prompt controls. Hybrid linear-attention blocks are omitted because they expose no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2:35–3:45 — This slide establishes the measurement we use from here onward. The raw map is dominated by stable top-left saliency. With four diverse same-image prompts averaged after per-request L1 normalization, the peak moves inside the annotated template and lift rises from 3.85× to 16.08×. Leave-one-control-out cosine is 0.925 mean and 0.828 minimum. The repaired click is visually correct at (1394, 632), but the original tool syntax is malformed, so official correctness remains false.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3:45–4:45 — From this point, headline the same-image instruction differential rather than raw attention. The differential favors the top-left slide and ribbon region, yet its peak is on the slide thumbnail and the click lands there. The target itself is only 0.074% of the frame. This is compatible with fine-grained binding or localization failure after coarse semantic routing. Source: data/attributions/screenspot-powerpoint_windows_48/analysis.json.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4:45–6:05 — Every probe receives the identical four screenshots and identical three-scroll action history. Only the requested click target changes. We normalize each request across every patch in all four frames, average three usable control maps, then subtract. The cheapest hotel button has 2.78× lift when it first appears at the bottom of frame 2 and 8.59× in the current frame. Yet the peak stays outside the button and Holo clicks (960,120), on the Signal Quay card rather than View details. One fourth control was excluded because generation omitted a y parameter span. The cautious claim is semantic retrieval with failed affordance localization, not causal proof. Source: data/attributions/hotel-cheapest-multiframe-contrast/analysis.json.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6:05–7:20 — Add the hotel miss to the layer view. The visual hit separates sharply at layers 15 to 27, while the two misses remain lower, although the hotel miss has a moderate layer-19 signal. This suggests a candidate feature family, not a calibrated confidence score. A proper experiment freezes the backbone, fits a tiny readout on training cases, and evaluates Brier score, expected calibration error, and selective risk on a held-out split. Head-level examples remain direct value-norm attention because cross-layer rollout destroys unique head identity. Sources: layer_head_statistics in the three local analysis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7:20–8:35 — Four directions follow directly from the evidence. First, calibrated heads can support success prediction, ambiguity clarification, and safety refusal, but must be judged by proper scoring rules and held-out selective risk. Second, causal interventions test faithfulness. Third, the full-resolution four-frame probe exposed a quadratic memory bottleneck, motivating learned visual memory retrieval or compression. Fourth, a teacher-forced base-Qwen versus Holo comparison can localize what tool fine-tuning changed. The training program remains oracle SFT, measured lift,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8:35–10:00 — Close on three defensible conclusions. The prompt ensemble changes the measurement materially. Correct and incorrect cases can share coarse routing while differing in precise binding. Layer patterns are candidate readout features, not confidence by themselves. In the live demo, show raw versus prompt differential on the hit, the static miss, then step through all four hotel frames and point out the earlier-frame and final-frame target lift. Finish with the intervention experiment. Q&amp;A: attention is a routing diagnostic, the controls are matched but small, and these three cases are hypothesis-generating rather than population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5a4299d58948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d434c6dffc4019" /><Relationship Type="http://schemas.openxmlformats.org/officeDocument/2006/relationships/slideLayout" Target="/ppt/slideLayouts/slideLayout1.xml" Id="R571e55231f0d45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1e55231f0d45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768077fe7f44b4" /><Relationship Type="http://schemas.openxmlformats.org/officeDocument/2006/relationships/image" Target="/ppt/media/image.png" Id="R947cf75a2db2435d" /><Relationship Type="http://schemas.openxmlformats.org/officeDocument/2006/relationships/notesSlide" Target="/ppt/notesSlides/notesSlide1.xml" Id="R26073e2a01364f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6dcda104124723" /><Relationship Type="http://schemas.openxmlformats.org/officeDocument/2006/relationships/notesSlide" Target="/ppt/notesSlides/notesSlide2.xml" Id="R0f1e10c15e6e48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fb3cab605c4264" /><Relationship Type="http://schemas.openxmlformats.org/officeDocument/2006/relationships/notesSlide" Target="/ppt/notesSlides/notesSlide3.xml" Id="Rca4cbc77301f46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a43bff241b40db" /><Relationship Type="http://schemas.openxmlformats.org/officeDocument/2006/relationships/image" Target="/ppt/media/image2.png" Id="R4cb3cf7c7ae44707" /><Relationship Type="http://schemas.openxmlformats.org/officeDocument/2006/relationships/image" Target="/ppt/media/image3.png" Id="R349b538d169146ac" /><Relationship Type="http://schemas.openxmlformats.org/officeDocument/2006/relationships/notesSlide" Target="/ppt/notesSlides/notesSlide4.xml" Id="R081266d70ce748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32a6b252724ce6" /><Relationship Type="http://schemas.openxmlformats.org/officeDocument/2006/relationships/image" Target="/ppt/media/image4.png" Id="Rbc667a6c1b584282" /><Relationship Type="http://schemas.openxmlformats.org/officeDocument/2006/relationships/notesSlide" Target="/ppt/notesSlides/notesSlide5.xml" Id="Re8a8b3c9a28e4f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1cf6811a9044df" /><Relationship Type="http://schemas.openxmlformats.org/officeDocument/2006/relationships/image" Target="/ppt/media/image5.png" Id="Rf11e999459b34956" /><Relationship Type="http://schemas.openxmlformats.org/officeDocument/2006/relationships/image" Target="/ppt/media/image6.png" Id="R5eaddeeca6164dc6" /><Relationship Type="http://schemas.openxmlformats.org/officeDocument/2006/relationships/image" Target="/ppt/media/image7.png" Id="R933246ba728a4752" /><Relationship Type="http://schemas.openxmlformats.org/officeDocument/2006/relationships/image" Target="/ppt/media/image8.png" Id="Rf6fe9c454cb141d6" /><Relationship Type="http://schemas.openxmlformats.org/officeDocument/2006/relationships/notesSlide" Target="/ppt/notesSlides/notesSlide6.xml" Id="Rbdf081593ee540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be0822ed7bb4412" /><Relationship Type="http://schemas.openxmlformats.org/officeDocument/2006/relationships/chart" Target="/ppt/slides/charts/chart1.xml" Id="R71cb6c33d78d4183" /><Relationship Type="http://schemas.openxmlformats.org/officeDocument/2006/relationships/notesSlide" Target="/ppt/notesSlides/notesSlide7.xml" Id="Re115f4a61fa042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4b1cab650a94641" /><Relationship Type="http://schemas.openxmlformats.org/officeDocument/2006/relationships/notesSlide" Target="/ppt/notesSlides/notesSlide8.xml" Id="R46a376aacf294f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0344e3251bc431a" /><Relationship Type="http://schemas.openxmlformats.org/officeDocument/2006/relationships/notesSlide" Target="/ppt/notesSlides/notesSlide9.xml" Id="R2d7c9943e5a3421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Static visual hit</c:v>
          </c:tx>
          <c:spPr>
            <a:ln xmlns:a="http://schemas.openxmlformats.org/drawingml/2006/main" w="38100">
              <a:solidFill>
                <a:srgbClr val="F05A3C"/>
              </a:solidFill>
            </a:ln>
          </c:spPr>
          <c:marker>
            <c:symbol val="circle"/>
            <c:size val="8"/>
            <c:spPr>
              <a:solidFill xmlns:a="http://schemas.openxmlformats.org/drawingml/2006/main">
                <a:srgbClr val="F05A3C"/>
              </a:solidFill>
            </c:spPr>
          </c:marker>
          <c:cat>
            <c:strRef>
              <c:f>'Chart Data'!$A$2:$A$9</c:f>
              <c:strCache>
                <c:ptCount val="8"/>
                <c:pt idx="0">
                  <c:v>L3</c:v>
                </c:pt>
                <c:pt idx="1">
                  <c:v>L7</c:v>
                </c:pt>
                <c:pt idx="2">
                  <c:v>L11</c:v>
                </c:pt>
                <c:pt idx="3">
                  <c:v>L15</c:v>
                </c:pt>
                <c:pt idx="4">
                  <c:v>L19</c:v>
                </c:pt>
                <c:pt idx="5">
                  <c:v>L23</c:v>
                </c:pt>
                <c:pt idx="6">
                  <c:v>L27</c:v>
                </c:pt>
                <c:pt idx="7">
                  <c:v>L31</c:v>
                </c:pt>
              </c:strCache>
            </c:strRef>
          </c:cat>
          <c:val>
            <c:numRef>
              <c:f>'Chart Data'!$B$2:$B$9</c:f>
              <c:numCache>
                <c:formatCode>General</c:formatCode>
                <c:ptCount val="8"/>
                <c:pt idx="0">
                  <c:v>0.28</c:v>
                </c:pt>
                <c:pt idx="1">
                  <c:v>0.69</c:v>
                </c:pt>
                <c:pt idx="2">
                  <c:v>1.9</c:v>
                </c:pt>
                <c:pt idx="3">
                  <c:v>14.26</c:v>
                </c:pt>
                <c:pt idx="4">
                  <c:v>38.99</c:v>
                </c:pt>
                <c:pt idx="5">
                  <c:v>25.62</c:v>
                </c:pt>
                <c:pt idx="6">
                  <c:v>22.37</c:v>
                </c:pt>
                <c:pt idx="7">
                  <c:v>12.16</c:v>
                </c:pt>
              </c:numCache>
            </c:numRef>
          </c:val>
          <c:smooth val="0"/>
        </c:ser>
        <c:ser>
          <c:idx val="1"/>
          <c:order val="1"/>
          <c:tx>
            <c:v>Static miss</c:v>
          </c:tx>
          <c:spPr>
            <a:ln xmlns:a="http://schemas.openxmlformats.org/drawingml/2006/main" w="38100">
              <a:solidFill>
                <a:srgbClr val="2D84D3"/>
              </a:solidFill>
            </a:ln>
          </c:spPr>
          <c:marker>
            <c:symbol val="circle"/>
            <c:size val="8"/>
            <c:spPr>
              <a:solidFill xmlns:a="http://schemas.openxmlformats.org/drawingml/2006/main">
                <a:srgbClr val="2D84D3"/>
              </a:solidFill>
            </c:spPr>
          </c:marker>
          <c:cat>
            <c:strRef>
              <c:f>'Chart Data'!$C$2:$C$9</c:f>
              <c:strCache>
                <c:ptCount val="8"/>
                <c:pt idx="0">
                  <c:v>L3</c:v>
                </c:pt>
                <c:pt idx="1">
                  <c:v>L7</c:v>
                </c:pt>
                <c:pt idx="2">
                  <c:v>L11</c:v>
                </c:pt>
                <c:pt idx="3">
                  <c:v>L15</c:v>
                </c:pt>
                <c:pt idx="4">
                  <c:v>L19</c:v>
                </c:pt>
                <c:pt idx="5">
                  <c:v>L23</c:v>
                </c:pt>
                <c:pt idx="6">
                  <c:v>L27</c:v>
                </c:pt>
                <c:pt idx="7">
                  <c:v>L31</c:v>
                </c:pt>
              </c:strCache>
            </c:strRef>
          </c:cat>
          <c:val>
            <c:numRef>
              <c:f>'Chart Data'!$D$2:$D$9</c:f>
              <c:numCache>
                <c:formatCode>General</c:formatCode>
                <c:ptCount val="8"/>
                <c:pt idx="0">
                  <c:v>1.71</c:v>
                </c:pt>
                <c:pt idx="1">
                  <c:v>7.6</c:v>
                </c:pt>
                <c:pt idx="2">
                  <c:v>4.02</c:v>
                </c:pt>
                <c:pt idx="3">
                  <c:v>3.27</c:v>
                </c:pt>
                <c:pt idx="4">
                  <c:v>2.88</c:v>
                </c:pt>
                <c:pt idx="5">
                  <c:v>2.73</c:v>
                </c:pt>
                <c:pt idx="6">
                  <c:v>2.37</c:v>
                </c:pt>
                <c:pt idx="7">
                  <c:v>4.26</c:v>
                </c:pt>
              </c:numCache>
            </c:numRef>
          </c:val>
          <c:smooth val="0"/>
        </c:ser>
        <c:ser>
          <c:idx val="2"/>
          <c:order val="2"/>
          <c:tx>
            <c:v>Hotel miss</c:v>
          </c:tx>
          <c:spPr>
            <a:ln xmlns:a="http://schemas.openxmlformats.org/drawingml/2006/main" w="38100">
              <a:solidFill>
                <a:srgbClr val="18A875"/>
              </a:solidFill>
            </a:ln>
          </c:spPr>
          <c:marker>
            <c:symbol val="circle"/>
            <c:size val="8"/>
            <c:spPr>
              <a:solidFill xmlns:a="http://schemas.openxmlformats.org/drawingml/2006/main">
                <a:srgbClr val="18A875"/>
              </a:solidFill>
            </c:spPr>
          </c:marker>
          <c:cat>
            <c:strRef>
              <c:f>'Chart Data'!$E$2:$E$9</c:f>
              <c:strCache>
                <c:ptCount val="8"/>
                <c:pt idx="0">
                  <c:v>L3</c:v>
                </c:pt>
                <c:pt idx="1">
                  <c:v>L7</c:v>
                </c:pt>
                <c:pt idx="2">
                  <c:v>L11</c:v>
                </c:pt>
                <c:pt idx="3">
                  <c:v>L15</c:v>
                </c:pt>
                <c:pt idx="4">
                  <c:v>L19</c:v>
                </c:pt>
                <c:pt idx="5">
                  <c:v>L23</c:v>
                </c:pt>
                <c:pt idx="6">
                  <c:v>L27</c:v>
                </c:pt>
                <c:pt idx="7">
                  <c:v>L31</c:v>
                </c:pt>
              </c:strCache>
            </c:strRef>
          </c:cat>
          <c:val>
            <c:numRef>
              <c:f>'Chart Data'!$F$2:$F$9</c:f>
              <c:numCache>
                <c:formatCode>General</c:formatCode>
                <c:ptCount val="8"/>
                <c:pt idx="0">
                  <c:v>0.53</c:v>
                </c:pt>
                <c:pt idx="1">
                  <c:v>0.29</c:v>
                </c:pt>
                <c:pt idx="2">
                  <c:v>2.74</c:v>
                </c:pt>
                <c:pt idx="3">
                  <c:v>7.65</c:v>
                </c:pt>
                <c:pt idx="4">
                  <c:v>10.47</c:v>
                </c:pt>
                <c:pt idx="5">
                  <c:v>4.36</c:v>
                </c:pt>
                <c:pt idx="6">
                  <c:v>6.79</c:v>
                </c:pt>
                <c:pt idx="7">
                  <c:v>5.71</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Captured full-attention transformer layer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Mean head target lift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47cf75a2db2435d"/>
          <a:srcRect xmlns:a="http://schemas.openxmlformats.org/drawingml/2006/main" l="25000" t="0" r="25000"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2050A8-B829-44AA-B2FD-D3DA90EB7246}"/>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39678F-7254-4052-A5E0-B3BD23E8B66F}"/>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0132C7A-3749-4997-ACBD-1F06EDFEED0E}"/>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20E930-B712-4577-BAF1-FC900583CE18}"/>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21C115EF-ED48-455E-9491-382D9240DA2D}"/>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07572A9E-F46A-4C59-A94C-31D1D8FFA6DB}"/>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9B3B7D29-30D3-475A-A1C7-BB9030AF62A6}"/>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112672329"/>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67AE5C7-25C0-4A2E-9419-806DFB041A9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AAA9DAEE-1D5C-4E58-BEBF-AC38D4B21D9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807"/>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Static grounding and trajectory memory expose different failures</a:t>
            </a:r>
          </a:p>
        </p:txBody>
      </p:sp>
      <p:sp>
        <p:nvSpPr>
          <p:cNvPr id="3" name="">
            <a:extLst xmlns:a="http://schemas.openxmlformats.org/drawingml/2006/main">
              <a:ext uri="{FF2B5EF4-FFF2-40B4-BE49-F238E27FC236}">
                <a16:creationId xmlns:a16="http://schemas.microsoft.com/office/drawing/2014/main" id="{BE473DAA-58E6-4965-9ABC-6715A74C2AA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9CC6A9A1-8078-4735-BD17-59F5A29F3E64}"/>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FE251B08-221A-439F-8D70-8F8B465DD946}"/>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8933494-62A3-4EE4-959F-FA2D646CF61F}"/>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02FAFD3D-E51B-494B-9CC3-D960BAF38531}"/>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C9E2735A-9F6D-4C22-B00E-E9E73D313A57}"/>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652A6749-7297-433E-844C-D1289A7F10F2}"/>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2EAD7C3E-A639-4003-8AEC-D563AEBE68DC}"/>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CB91FD61-ED00-475B-ACE7-EC289B3067AC}"/>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E2ACC570-4C21-408E-922A-1B59FCDBAA8F}"/>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34C880AC-5036-4560-B1CC-9D112F97DF20}"/>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E2E302C-B94F-4145-AE4D-11BF5620C78F}"/>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8F12F848-448B-474D-9611-D9639C54ABD7}"/>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A7FA296-0B07-4C39-9A07-40E135C436B4}"/>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1DD56B0-6C56-4ED2-8D00-F6DE64EFC4A7}"/>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93E0DD92-859A-4E8F-BC45-552606493391}"/>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1B35D56E-8283-4C3A-9FA6-4181DC226426}"/>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every earlier screenshot</a:t>
            </a:r>
          </a:p>
        </p:txBody>
      </p:sp>
      <p:sp>
        <p:nvSpPr>
          <p:cNvPr id="20" name="">
            <a:extLst xmlns:a="http://schemas.openxmlformats.org/drawingml/2006/main">
              <a:ext uri="{FF2B5EF4-FFF2-40B4-BE49-F238E27FC236}">
                <a16:creationId xmlns:a16="http://schemas.microsoft.com/office/drawing/2014/main" id="{1F675DAC-B25B-4DD0-B34C-0E00BC7BA0D1}"/>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C6F3F6F-D4DE-4A4D-A4A8-5C74BA6E45D2}"/>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FB7D5CC7-6638-486E-B5D8-DD053C72BF3E}"/>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F6608248-BA65-4592-9014-8B801966F6AB}"/>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E53ACE4F-16F2-4FF4-83C6-B9A5F70402BB}"/>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C1E3A5A-482F-4300-816A-10A8B6BC034A}"/>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413A33CA-47B3-4F34-A6C3-9C53F19A7CD4}"/>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55371CE4-5684-4E34-A05D-7949E5908495}"/>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3ACABF0C-6BD6-4587-9208-F47CF7A5A584}"/>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475333B-A359-4C49-9805-82FD96892D95}"/>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9E662A9D-3526-4A89-80CB-8578FDDAD984}"/>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6A69EFB5-4766-435D-B243-5E9E2FFB0BBE}"/>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99A55558-4089-41E8-B747-AED880373958}"/>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619DD74-EC48-4253-82C6-614B63341347}"/>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FA0ABCC3-02E2-4B72-AAC2-69B90D4A7D9E}"/>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2EDB9913-8D37-4705-85F9-F64CDA2B144F}"/>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F2BDAF"/>
                </a:solidFill>
                <a:latin typeface="Helvetica Neue"/>
                <a:ea typeface="Helvetica Neue"/>
                <a:cs typeface="Helvetica Neue"/>
              </a:defRPr>
            </a:pPr>
            <a:r>
              <a:rPr sz="1125" b="1">
                <a:solidFill>
                  <a:srgbClr val="F2BDAF"/>
                </a:solidFill>
                <a:latin typeface="Helvetica Neue"/>
                <a:ea typeface="Helvetica Neue"/>
                <a:cs typeface="Helvetica Neue"/>
              </a:rPr>
              <a:t>miss</a:t>
            </a:r>
          </a:p>
        </p:txBody>
      </p:sp>
      <p:sp>
        <p:nvSpPr>
          <p:cNvPr id="36" name="">
            <a:extLst xmlns:a="http://schemas.openxmlformats.org/drawingml/2006/main">
              <a:ext uri="{FF2B5EF4-FFF2-40B4-BE49-F238E27FC236}">
                <a16:creationId xmlns:a16="http://schemas.microsoft.com/office/drawing/2014/main" id="{2EA0FA52-9747-45CA-92D1-D43D3C03F2C7}"/>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7BC"/>
                </a:solidFill>
                <a:latin typeface="Helvetica Neue"/>
                <a:ea typeface="Helvetica Neue"/>
                <a:cs typeface="Helvetica Neue"/>
              </a:defRPr>
            </a:pPr>
            <a:r>
              <a:rPr sz="1125" b="1">
                <a:solidFill>
                  <a:srgbClr val="F0C7BC"/>
                </a:solidFill>
                <a:latin typeface="Helvetica Neue"/>
                <a:ea typeface="Helvetica Neue"/>
                <a:cs typeface="Helvetica Neue"/>
              </a:rPr>
              <a:t>Target: Signal Quay Rooms at $172</a:t>
            </a:r>
          </a:p>
        </p:txBody>
      </p:sp>
      <p:sp>
        <p:nvSpPr>
          <p:cNvPr id="37" name="">
            <a:extLst xmlns:a="http://schemas.openxmlformats.org/drawingml/2006/main">
              <a:ext uri="{FF2B5EF4-FFF2-40B4-BE49-F238E27FC236}">
                <a16:creationId xmlns:a16="http://schemas.microsoft.com/office/drawing/2014/main" id="{0386427C-0337-4D31-88D5-595989AB29B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73F69CC-1292-4C29-ACA6-2ABA6ADCDC9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1792223829"/>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B4EDD3B-737D-4866-9E2E-4FBEFA3E171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E7F52857-8658-46A0-959B-C5784D92E37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17C70504-6A22-4B56-BE61-DDE48B14A0D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E28E51F9-5443-4057-A438-B1F8F7BE2263}"/>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689537CB-3B86-4ED6-9C07-EAA3B8E3CE2D}"/>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3DB48A9-3242-4BEE-84CC-6066CBBC7A04}"/>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EB1BFD2D-E5E6-4A4A-9AF2-B80F0B35B834}"/>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8" name="">
            <a:extLst xmlns:a="http://schemas.openxmlformats.org/drawingml/2006/main">
              <a:ext uri="{FF2B5EF4-FFF2-40B4-BE49-F238E27FC236}">
                <a16:creationId xmlns:a16="http://schemas.microsoft.com/office/drawing/2014/main" id="{2C619B38-1548-4CF4-941F-A7DE268BE6B2}"/>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EEDD454-A5BA-4204-B69B-A7236174EC34}"/>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0" name="">
            <a:extLst xmlns:a="http://schemas.openxmlformats.org/drawingml/2006/main">
              <a:ext uri="{FF2B5EF4-FFF2-40B4-BE49-F238E27FC236}">
                <a16:creationId xmlns:a16="http://schemas.microsoft.com/office/drawing/2014/main" id="{B7A9B187-6DA1-462E-A28E-892CE8B9DA4B}"/>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1" name="">
            <a:extLst xmlns:a="http://schemas.openxmlformats.org/drawingml/2006/main">
              <a:ext uri="{FF2B5EF4-FFF2-40B4-BE49-F238E27FC236}">
                <a16:creationId xmlns:a16="http://schemas.microsoft.com/office/drawing/2014/main" id="{B1EF03F7-0AEC-4160-8F01-7D466D48FA08}"/>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2" name="">
            <a:extLst xmlns:a="http://schemas.openxmlformats.org/drawingml/2006/main">
              <a:ext uri="{FF2B5EF4-FFF2-40B4-BE49-F238E27FC236}">
                <a16:creationId xmlns:a16="http://schemas.microsoft.com/office/drawing/2014/main" id="{25B7A05E-EE44-4BE5-8E46-50D7CE4A7468}"/>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0F09A91-0D0B-47B4-9F5F-F811CB57DE52}"/>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5B0BEBEE-BFD9-400D-A286-F308A42FCE4A}"/>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5" name="">
            <a:extLst xmlns:a="http://schemas.openxmlformats.org/drawingml/2006/main">
              <a:ext uri="{FF2B5EF4-FFF2-40B4-BE49-F238E27FC236}">
                <a16:creationId xmlns:a16="http://schemas.microsoft.com/office/drawing/2014/main" id="{D0831D6B-8F9E-48D8-B0A6-36A5DB443D2C}"/>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FB74410-D817-409D-AEA2-D1B517A35AA1}"/>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7" name="">
            <a:extLst xmlns:a="http://schemas.openxmlformats.org/drawingml/2006/main">
              <a:ext uri="{FF2B5EF4-FFF2-40B4-BE49-F238E27FC236}">
                <a16:creationId xmlns:a16="http://schemas.microsoft.com/office/drawing/2014/main" id="{1EEA0E9C-319B-4EEE-81CF-FC81588D40E5}"/>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8" name="">
            <a:extLst xmlns:a="http://schemas.openxmlformats.org/drawingml/2006/main">
              <a:ext uri="{FF2B5EF4-FFF2-40B4-BE49-F238E27FC236}">
                <a16:creationId xmlns:a16="http://schemas.microsoft.com/office/drawing/2014/main" id="{2FB83C81-4CDE-41DF-A29D-859CCE7A3028}"/>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0399A64B-53B9-463F-B5B8-86A729199C85}"/>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90BDECB-141F-486B-8759-E3716A971719}"/>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2D0B2037-BC50-432D-AEC5-14BF1EAF937D}"/>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2" name="">
            <a:extLst xmlns:a="http://schemas.openxmlformats.org/drawingml/2006/main">
              <a:ext uri="{FF2B5EF4-FFF2-40B4-BE49-F238E27FC236}">
                <a16:creationId xmlns:a16="http://schemas.microsoft.com/office/drawing/2014/main" id="{1F8ECF8C-27AB-47F6-BE84-A9F2FE4486BF}"/>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1525E22-C6CB-436B-80F0-D55C24B270D4}"/>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4" name="">
            <a:extLst xmlns:a="http://schemas.openxmlformats.org/drawingml/2006/main">
              <a:ext uri="{FF2B5EF4-FFF2-40B4-BE49-F238E27FC236}">
                <a16:creationId xmlns:a16="http://schemas.microsoft.com/office/drawing/2014/main" id="{0F787AE4-3598-40BD-B3D5-31E3B7DD350F}"/>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5" name="">
            <a:extLst xmlns:a="http://schemas.openxmlformats.org/drawingml/2006/main">
              <a:ext uri="{FF2B5EF4-FFF2-40B4-BE49-F238E27FC236}">
                <a16:creationId xmlns:a16="http://schemas.microsoft.com/office/drawing/2014/main" id="{EE3DAFCB-3086-4BF5-AD59-A15694CBF31E}"/>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6" name="">
            <a:extLst xmlns:a="http://schemas.openxmlformats.org/drawingml/2006/main">
              <a:ext uri="{FF2B5EF4-FFF2-40B4-BE49-F238E27FC236}">
                <a16:creationId xmlns:a16="http://schemas.microsoft.com/office/drawing/2014/main" id="{23A946AB-1647-4C93-8A7C-DB478F84304D}"/>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3C284C7-69C4-4AE2-8AE1-6B25BA713EDB}"/>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8" name="">
            <a:extLst xmlns:a="http://schemas.openxmlformats.org/drawingml/2006/main">
              <a:ext uri="{FF2B5EF4-FFF2-40B4-BE49-F238E27FC236}">
                <a16:creationId xmlns:a16="http://schemas.microsoft.com/office/drawing/2014/main" id="{4891C85F-B313-49D2-8C56-41018A1812BF}"/>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29" name="">
            <a:extLst xmlns:a="http://schemas.openxmlformats.org/drawingml/2006/main">
              <a:ext uri="{FF2B5EF4-FFF2-40B4-BE49-F238E27FC236}">
                <a16:creationId xmlns:a16="http://schemas.microsoft.com/office/drawing/2014/main" id="{B720B5A3-4A55-4F0E-A9A3-C1EC5A1591A3}"/>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0" name="">
            <a:extLst xmlns:a="http://schemas.openxmlformats.org/drawingml/2006/main">
              <a:ext uri="{FF2B5EF4-FFF2-40B4-BE49-F238E27FC236}">
                <a16:creationId xmlns:a16="http://schemas.microsoft.com/office/drawing/2014/main" id="{0B545B42-00B6-429F-A740-60D2F99AB710}"/>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1" name="">
            <a:extLst xmlns:a="http://schemas.openxmlformats.org/drawingml/2006/main">
              <a:ext uri="{FF2B5EF4-FFF2-40B4-BE49-F238E27FC236}">
                <a16:creationId xmlns:a16="http://schemas.microsoft.com/office/drawing/2014/main" id="{0580EF5A-D3F4-4A43-A3D5-F595E0C4ED15}"/>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2" name="">
            <a:extLst xmlns:a="http://schemas.openxmlformats.org/drawingml/2006/main">
              <a:ext uri="{FF2B5EF4-FFF2-40B4-BE49-F238E27FC236}">
                <a16:creationId xmlns:a16="http://schemas.microsoft.com/office/drawing/2014/main" id="{FE6FC7D8-0A96-479C-A089-829D1A688220}"/>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3" name="">
            <a:extLst xmlns:a="http://schemas.openxmlformats.org/drawingml/2006/main">
              <a:ext uri="{FF2B5EF4-FFF2-40B4-BE49-F238E27FC236}">
                <a16:creationId xmlns:a16="http://schemas.microsoft.com/office/drawing/2014/main" id="{42C32D36-D58C-4CE6-B801-49DBBBDF11BB}"/>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4" name="">
            <a:extLst xmlns:a="http://schemas.openxmlformats.org/drawingml/2006/main">
              <a:ext uri="{FF2B5EF4-FFF2-40B4-BE49-F238E27FC236}">
                <a16:creationId xmlns:a16="http://schemas.microsoft.com/office/drawing/2014/main" id="{F605067E-926D-42DF-A95D-A2084201D77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F8CAA0B-AA11-4DCA-B29B-55BD41E72CF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Implementation: docs/attention-attribution.md · tests/test_attribution.py · tests/test_contrast.py</a:t>
            </a:r>
          </a:p>
        </p:txBody>
      </p:sp>
    </p:spTree>
    <p:extLst>
      <p:ext uri="{BB962C8B-B14F-4D97-AF65-F5344CB8AC3E}">
        <p14:creationId xmlns:p14="http://schemas.microsoft.com/office/powerpoint/2010/main" val="1028332193"/>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C2FA170-C8F3-4148-BD3D-272789F7163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VISUAL GROUNDING HIT</a:t>
            </a:r>
          </a:p>
        </p:txBody>
      </p:sp>
      <p:sp>
        <p:nvSpPr>
          <p:cNvPr id="2" name="">
            <a:extLst xmlns:a="http://schemas.openxmlformats.org/drawingml/2006/main">
              <a:ext uri="{FF2B5EF4-FFF2-40B4-BE49-F238E27FC236}">
                <a16:creationId xmlns:a16="http://schemas.microsoft.com/office/drawing/2014/main" id="{BF387179-B079-49DB-9707-D5AE3E0BAC3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Subtracting image saliency reveals the selected template</a:t>
            </a:r>
          </a:p>
        </p:txBody>
      </p:sp>
      <p:sp>
        <p:nvSpPr>
          <p:cNvPr id="3" name="">
            <a:extLst xmlns:a="http://schemas.openxmlformats.org/drawingml/2006/main">
              <a:ext uri="{FF2B5EF4-FFF2-40B4-BE49-F238E27FC236}">
                <a16:creationId xmlns:a16="http://schemas.microsoft.com/office/drawing/2014/main" id="{B9793191-EBAB-43BA-8867-092188634CB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56B4CEDC-08A4-4438-9242-859F49245CCF}"/>
              </a:ext>
            </a:extLst>
          </p:cNvPr>
          <p:cNvSpPr>
            <a:spLocks xmlns:a="http://schemas.openxmlformats.org/drawingml/2006/main" noGrp="1"/>
          </p:cNvSpPr>
          <p:nvPr/>
        </p:nvSpPr>
        <p:spPr>
          <a:xfrm xmlns:a="http://schemas.openxmlformats.org/drawingml/2006/main">
            <a:off x="609600" y="116205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“Create a Psychedelic vibrant presentation”</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cb3cf7c7ae44707"/>
          <a:srcRect xmlns:a="http://schemas.openxmlformats.org/drawingml/2006/main" l="0" t="73" r="0" b="73"/>
          <a:stretch xmlns:a="http://schemas.openxmlformats.org/drawingml/2006/main">
            <a:fillRect l="0" t="0" r="0" b="0"/>
          </a:stretch>
        </p:blipFill>
        <p:spPr>
          <a:xfrm xmlns:a="http://schemas.openxmlformats.org/drawingml/2006/main">
            <a:off x="609600" y="1657350"/>
            <a:ext cx="5219700" cy="3257550"/>
          </a:xfrm>
          <a:prstGeom xmlns:a="http://schemas.openxmlformats.org/drawingml/2006/main" prst="roundRect">
            <a:avLst>
              <a:gd name="adj" fmla="val 3509"/>
            </a:avLst>
          </a:prstGeom>
        </p:spPr>
      </p:pic>
      <p:sp>
        <p:nvSpPr>
          <p:cNvPr id="6" name="">
            <a:extLst xmlns:a="http://schemas.openxmlformats.org/drawingml/2006/main">
              <a:ext uri="{FF2B5EF4-FFF2-40B4-BE49-F238E27FC236}">
                <a16:creationId xmlns:a16="http://schemas.microsoft.com/office/drawing/2014/main" id="{FA184F56-AD70-48E1-9F86-1056D768235E}"/>
              </a:ext>
            </a:extLst>
          </p:cNvPr>
          <p:cNvSpPr>
            <a:spLocks xmlns:a="http://schemas.openxmlformats.org/drawingml/2006/main" noGrp="1"/>
          </p:cNvSpPr>
          <p:nvPr/>
        </p:nvSpPr>
        <p:spPr>
          <a:xfrm xmlns:a="http://schemas.openxmlformats.org/drawingml/2006/main">
            <a:off x="6096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349b538d169146ac"/>
          <a:srcRect xmlns:a="http://schemas.openxmlformats.org/drawingml/2006/main" l="0" t="73" r="0" b="73"/>
          <a:stretch xmlns:a="http://schemas.openxmlformats.org/drawingml/2006/main">
            <a:fillRect l="0" t="0" r="0" b="0"/>
          </a:stretch>
        </p:blipFill>
        <p:spPr>
          <a:xfrm xmlns:a="http://schemas.openxmlformats.org/drawingml/2006/main">
            <a:off x="6362700" y="1657350"/>
            <a:ext cx="5219700" cy="3257550"/>
          </a:xfrm>
          <a:prstGeom xmlns:a="http://schemas.openxmlformats.org/drawingml/2006/main" prst="roundRect">
            <a:avLst>
              <a:gd name="adj" fmla="val 3509"/>
            </a:avLst>
          </a:prstGeom>
        </p:spPr>
      </p:pic>
      <p:sp>
        <p:nvSpPr>
          <p:cNvPr id="8" name="">
            <a:extLst xmlns:a="http://schemas.openxmlformats.org/drawingml/2006/main">
              <a:ext uri="{FF2B5EF4-FFF2-40B4-BE49-F238E27FC236}">
                <a16:creationId xmlns:a16="http://schemas.microsoft.com/office/drawing/2014/main" id="{714C60D9-3ADA-44C0-ACCA-65068FA4B00C}"/>
              </a:ext>
            </a:extLst>
          </p:cNvPr>
          <p:cNvSpPr>
            <a:spLocks xmlns:a="http://schemas.openxmlformats.org/drawingml/2006/main" noGrp="1"/>
          </p:cNvSpPr>
          <p:nvPr/>
        </p:nvSpPr>
        <p:spPr>
          <a:xfrm xmlns:a="http://schemas.openxmlformats.org/drawingml/2006/main">
            <a:off x="63627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A1097293-9E61-4A4D-BBAC-272B52B5C7BC}"/>
              </a:ext>
            </a:extLst>
          </p:cNvPr>
          <p:cNvSpPr>
            <a:spLocks xmlns:a="http://schemas.openxmlformats.org/drawingml/2006/main" noGrp="1"/>
          </p:cNvSpPr>
          <p:nvPr/>
        </p:nvSpPr>
        <p:spPr>
          <a:xfrm xmlns:a="http://schemas.openxmlformats.org/drawingml/2006/main">
            <a:off x="800100" y="1828800"/>
            <a:ext cx="11620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22C77AB-DB6B-46BC-8258-8BC84F94BCCD}"/>
              </a:ext>
            </a:extLst>
          </p:cNvPr>
          <p:cNvSpPr>
            <a:spLocks xmlns:a="http://schemas.openxmlformats.org/drawingml/2006/main" noGrp="1"/>
          </p:cNvSpPr>
          <p:nvPr/>
        </p:nvSpPr>
        <p:spPr>
          <a:xfrm xmlns:a="http://schemas.openxmlformats.org/drawingml/2006/main">
            <a:off x="895350" y="184785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RAW ROLLOUT</a:t>
            </a:r>
          </a:p>
        </p:txBody>
      </p:sp>
      <p:sp>
        <p:nvSpPr>
          <p:cNvPr id="11" name="">
            <a:extLst xmlns:a="http://schemas.openxmlformats.org/drawingml/2006/main">
              <a:ext uri="{FF2B5EF4-FFF2-40B4-BE49-F238E27FC236}">
                <a16:creationId xmlns:a16="http://schemas.microsoft.com/office/drawing/2014/main" id="{42F8D604-9D7A-4F4D-BE95-332B98C85F96}"/>
              </a:ext>
            </a:extLst>
          </p:cNvPr>
          <p:cNvSpPr>
            <a:spLocks xmlns:a="http://schemas.openxmlformats.org/drawingml/2006/main" noGrp="1"/>
          </p:cNvSpPr>
          <p:nvPr/>
        </p:nvSpPr>
        <p:spPr>
          <a:xfrm xmlns:a="http://schemas.openxmlformats.org/drawingml/2006/main">
            <a:off x="6553200" y="1828800"/>
            <a:ext cx="21717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163F6D4-5EEF-4749-BDB8-3164422BFCD1}"/>
              </a:ext>
            </a:extLst>
          </p:cNvPr>
          <p:cNvSpPr>
            <a:spLocks xmlns:a="http://schemas.openxmlformats.org/drawingml/2006/main" noGrp="1"/>
          </p:cNvSpPr>
          <p:nvPr/>
        </p:nvSpPr>
        <p:spPr>
          <a:xfrm xmlns:a="http://schemas.openxmlformats.org/drawingml/2006/main">
            <a:off x="6648450" y="1847850"/>
            <a:ext cx="1981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PROMPT BASELINE</a:t>
            </a:r>
          </a:p>
        </p:txBody>
      </p:sp>
      <p:sp>
        <p:nvSpPr>
          <p:cNvPr id="13" name="">
            <a:extLst xmlns:a="http://schemas.openxmlformats.org/drawingml/2006/main">
              <a:ext uri="{FF2B5EF4-FFF2-40B4-BE49-F238E27FC236}">
                <a16:creationId xmlns:a16="http://schemas.microsoft.com/office/drawing/2014/main" id="{E9685C7F-75D7-4EA5-A00A-7BF1CB0FBFF9}"/>
              </a:ext>
            </a:extLst>
          </p:cNvPr>
          <p:cNvSpPr>
            <a:spLocks xmlns:a="http://schemas.openxmlformats.org/drawingml/2006/main" noGrp="1"/>
          </p:cNvSpPr>
          <p:nvPr/>
        </p:nvSpPr>
        <p:spPr>
          <a:xfrm xmlns:a="http://schemas.openxmlformats.org/drawingml/2006/main">
            <a:off x="6096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2B7FCBC7-1A3F-4F81-B326-411D0AB76F36}"/>
              </a:ext>
            </a:extLst>
          </p:cNvPr>
          <p:cNvSpPr>
            <a:spLocks xmlns:a="http://schemas.openxmlformats.org/drawingml/2006/main" noGrp="1"/>
          </p:cNvSpPr>
          <p:nvPr/>
        </p:nvSpPr>
        <p:spPr>
          <a:xfrm xmlns:a="http://schemas.openxmlformats.org/drawingml/2006/main">
            <a:off x="60960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9EC3337-74C1-4D3B-ABE6-7A8439E5C389}"/>
              </a:ext>
            </a:extLst>
          </p:cNvPr>
          <p:cNvSpPr>
            <a:spLocks xmlns:a="http://schemas.openxmlformats.org/drawingml/2006/main" noGrp="1"/>
          </p:cNvSpPr>
          <p:nvPr/>
        </p:nvSpPr>
        <p:spPr>
          <a:xfrm xmlns:a="http://schemas.openxmlformats.org/drawingml/2006/main">
            <a:off x="8001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16" name="">
            <a:extLst xmlns:a="http://schemas.openxmlformats.org/drawingml/2006/main">
              <a:ext uri="{FF2B5EF4-FFF2-40B4-BE49-F238E27FC236}">
                <a16:creationId xmlns:a16="http://schemas.microsoft.com/office/drawing/2014/main" id="{53359D22-9EC0-4DEC-B8B3-4D44FADFF7FF}"/>
              </a:ext>
            </a:extLst>
          </p:cNvPr>
          <p:cNvSpPr>
            <a:spLocks xmlns:a="http://schemas.openxmlformats.org/drawingml/2006/main" noGrp="1"/>
          </p:cNvSpPr>
          <p:nvPr/>
        </p:nvSpPr>
        <p:spPr>
          <a:xfrm xmlns:a="http://schemas.openxmlformats.org/drawingml/2006/main">
            <a:off x="8001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3.85×</a:t>
            </a:r>
          </a:p>
        </p:txBody>
      </p:sp>
      <p:sp>
        <p:nvSpPr>
          <p:cNvPr id="17" name="">
            <a:extLst xmlns:a="http://schemas.openxmlformats.org/drawingml/2006/main">
              <a:ext uri="{FF2B5EF4-FFF2-40B4-BE49-F238E27FC236}">
                <a16:creationId xmlns:a16="http://schemas.microsoft.com/office/drawing/2014/main" id="{9B1EFE7C-32B3-4682-BA07-A439B87F0A46}"/>
              </a:ext>
            </a:extLst>
          </p:cNvPr>
          <p:cNvSpPr>
            <a:spLocks xmlns:a="http://schemas.openxmlformats.org/drawingml/2006/main" noGrp="1"/>
          </p:cNvSpPr>
          <p:nvPr/>
        </p:nvSpPr>
        <p:spPr>
          <a:xfrm xmlns:a="http://schemas.openxmlformats.org/drawingml/2006/main">
            <a:off x="8001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raw rollout</a:t>
            </a:r>
          </a:p>
        </p:txBody>
      </p:sp>
      <p:sp>
        <p:nvSpPr>
          <p:cNvPr id="18" name="">
            <a:extLst xmlns:a="http://schemas.openxmlformats.org/drawingml/2006/main">
              <a:ext uri="{FF2B5EF4-FFF2-40B4-BE49-F238E27FC236}">
                <a16:creationId xmlns:a16="http://schemas.microsoft.com/office/drawing/2014/main" id="{9F95650F-0F3D-45FB-848A-F307C6839238}"/>
              </a:ext>
            </a:extLst>
          </p:cNvPr>
          <p:cNvSpPr>
            <a:spLocks xmlns:a="http://schemas.openxmlformats.org/drawingml/2006/main" noGrp="1"/>
          </p:cNvSpPr>
          <p:nvPr/>
        </p:nvSpPr>
        <p:spPr>
          <a:xfrm xmlns:a="http://schemas.openxmlformats.org/drawingml/2006/main">
            <a:off x="31432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D76E42F4-BFA9-4543-BE9F-3B7673BBDE31}"/>
              </a:ext>
            </a:extLst>
          </p:cNvPr>
          <p:cNvSpPr>
            <a:spLocks xmlns:a="http://schemas.openxmlformats.org/drawingml/2006/main" noGrp="1"/>
          </p:cNvSpPr>
          <p:nvPr/>
        </p:nvSpPr>
        <p:spPr>
          <a:xfrm xmlns:a="http://schemas.openxmlformats.org/drawingml/2006/main">
            <a:off x="314325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7332E2F-9454-48F8-8580-B9A8030FC9C4}"/>
              </a:ext>
            </a:extLst>
          </p:cNvPr>
          <p:cNvSpPr>
            <a:spLocks xmlns:a="http://schemas.openxmlformats.org/drawingml/2006/main" noGrp="1"/>
          </p:cNvSpPr>
          <p:nvPr/>
        </p:nvSpPr>
        <p:spPr>
          <a:xfrm xmlns:a="http://schemas.openxmlformats.org/drawingml/2006/main">
            <a:off x="33337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21" name="">
            <a:extLst xmlns:a="http://schemas.openxmlformats.org/drawingml/2006/main">
              <a:ext uri="{FF2B5EF4-FFF2-40B4-BE49-F238E27FC236}">
                <a16:creationId xmlns:a16="http://schemas.microsoft.com/office/drawing/2014/main" id="{BC048FDF-0F0E-4E37-B5A4-4979547395D0}"/>
              </a:ext>
            </a:extLst>
          </p:cNvPr>
          <p:cNvSpPr>
            <a:spLocks xmlns:a="http://schemas.openxmlformats.org/drawingml/2006/main" noGrp="1"/>
          </p:cNvSpPr>
          <p:nvPr/>
        </p:nvSpPr>
        <p:spPr>
          <a:xfrm xmlns:a="http://schemas.openxmlformats.org/drawingml/2006/main">
            <a:off x="33337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outside</a:t>
            </a:r>
          </a:p>
        </p:txBody>
      </p:sp>
      <p:sp>
        <p:nvSpPr>
          <p:cNvPr id="22" name="">
            <a:extLst xmlns:a="http://schemas.openxmlformats.org/drawingml/2006/main">
              <a:ext uri="{FF2B5EF4-FFF2-40B4-BE49-F238E27FC236}">
                <a16:creationId xmlns:a16="http://schemas.microsoft.com/office/drawing/2014/main" id="{1BAAF816-B735-46D8-B844-0C4AC0EB5701}"/>
              </a:ext>
            </a:extLst>
          </p:cNvPr>
          <p:cNvSpPr>
            <a:spLocks xmlns:a="http://schemas.openxmlformats.org/drawingml/2006/main" noGrp="1"/>
          </p:cNvSpPr>
          <p:nvPr/>
        </p:nvSpPr>
        <p:spPr>
          <a:xfrm xmlns:a="http://schemas.openxmlformats.org/drawingml/2006/main">
            <a:off x="33337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generic top-left saliency</a:t>
            </a:r>
          </a:p>
        </p:txBody>
      </p:sp>
      <p:sp>
        <p:nvSpPr>
          <p:cNvPr id="23" name="">
            <a:extLst xmlns:a="http://schemas.openxmlformats.org/drawingml/2006/main">
              <a:ext uri="{FF2B5EF4-FFF2-40B4-BE49-F238E27FC236}">
                <a16:creationId xmlns:a16="http://schemas.microsoft.com/office/drawing/2014/main" id="{9EFCB9C6-F58F-4CAC-A384-59848A3018E7}"/>
              </a:ext>
            </a:extLst>
          </p:cNvPr>
          <p:cNvSpPr>
            <a:spLocks xmlns:a="http://schemas.openxmlformats.org/drawingml/2006/main" noGrp="1"/>
          </p:cNvSpPr>
          <p:nvPr/>
        </p:nvSpPr>
        <p:spPr>
          <a:xfrm xmlns:a="http://schemas.openxmlformats.org/drawingml/2006/main">
            <a:off x="63627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1AEDF841-BF7F-4E21-97E2-592C278380E6}"/>
              </a:ext>
            </a:extLst>
          </p:cNvPr>
          <p:cNvSpPr>
            <a:spLocks xmlns:a="http://schemas.openxmlformats.org/drawingml/2006/main" noGrp="1"/>
          </p:cNvSpPr>
          <p:nvPr/>
        </p:nvSpPr>
        <p:spPr>
          <a:xfrm xmlns:a="http://schemas.openxmlformats.org/drawingml/2006/main">
            <a:off x="6362700" y="514350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3676A42-6A6E-49BA-8B2D-C4C539E86409}"/>
              </a:ext>
            </a:extLst>
          </p:cNvPr>
          <p:cNvSpPr>
            <a:spLocks xmlns:a="http://schemas.openxmlformats.org/drawingml/2006/main" noGrp="1"/>
          </p:cNvSpPr>
          <p:nvPr/>
        </p:nvSpPr>
        <p:spPr>
          <a:xfrm xmlns:a="http://schemas.openxmlformats.org/drawingml/2006/main">
            <a:off x="65532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26" name="">
            <a:extLst xmlns:a="http://schemas.openxmlformats.org/drawingml/2006/main">
              <a:ext uri="{FF2B5EF4-FFF2-40B4-BE49-F238E27FC236}">
                <a16:creationId xmlns:a16="http://schemas.microsoft.com/office/drawing/2014/main" id="{4845FE6B-4A82-4ECB-99DA-EF0720856A2A}"/>
              </a:ext>
            </a:extLst>
          </p:cNvPr>
          <p:cNvSpPr>
            <a:spLocks xmlns:a="http://schemas.openxmlformats.org/drawingml/2006/main" noGrp="1"/>
          </p:cNvSpPr>
          <p:nvPr/>
        </p:nvSpPr>
        <p:spPr>
          <a:xfrm xmlns:a="http://schemas.openxmlformats.org/drawingml/2006/main">
            <a:off x="65532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16.08×</a:t>
            </a:r>
          </a:p>
        </p:txBody>
      </p:sp>
      <p:sp>
        <p:nvSpPr>
          <p:cNvPr id="27" name="">
            <a:extLst xmlns:a="http://schemas.openxmlformats.org/drawingml/2006/main">
              <a:ext uri="{FF2B5EF4-FFF2-40B4-BE49-F238E27FC236}">
                <a16:creationId xmlns:a16="http://schemas.microsoft.com/office/drawing/2014/main" id="{C4306C04-1524-4980-9E61-D13E48663910}"/>
              </a:ext>
            </a:extLst>
          </p:cNvPr>
          <p:cNvSpPr>
            <a:spLocks xmlns:a="http://schemas.openxmlformats.org/drawingml/2006/main" noGrp="1"/>
          </p:cNvSpPr>
          <p:nvPr/>
        </p:nvSpPr>
        <p:spPr>
          <a:xfrm xmlns:a="http://schemas.openxmlformats.org/drawingml/2006/main">
            <a:off x="65532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instruction differential</a:t>
            </a:r>
          </a:p>
        </p:txBody>
      </p:sp>
      <p:sp>
        <p:nvSpPr>
          <p:cNvPr id="28" name="">
            <a:extLst xmlns:a="http://schemas.openxmlformats.org/drawingml/2006/main">
              <a:ext uri="{FF2B5EF4-FFF2-40B4-BE49-F238E27FC236}">
                <a16:creationId xmlns:a16="http://schemas.microsoft.com/office/drawing/2014/main" id="{6B1DE676-CD2A-459D-947E-451767440AFF}"/>
              </a:ext>
            </a:extLst>
          </p:cNvPr>
          <p:cNvSpPr>
            <a:spLocks xmlns:a="http://schemas.openxmlformats.org/drawingml/2006/main" noGrp="1"/>
          </p:cNvSpPr>
          <p:nvPr/>
        </p:nvSpPr>
        <p:spPr>
          <a:xfrm xmlns:a="http://schemas.openxmlformats.org/drawingml/2006/main">
            <a:off x="88963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9" name="">
            <a:extLst xmlns:a="http://schemas.openxmlformats.org/drawingml/2006/main">
              <a:ext uri="{FF2B5EF4-FFF2-40B4-BE49-F238E27FC236}">
                <a16:creationId xmlns:a16="http://schemas.microsoft.com/office/drawing/2014/main" id="{AE2FE2D3-4AAC-4E18-BC61-E27F221457FD}"/>
              </a:ext>
            </a:extLst>
          </p:cNvPr>
          <p:cNvSpPr>
            <a:spLocks xmlns:a="http://schemas.openxmlformats.org/drawingml/2006/main" noGrp="1"/>
          </p:cNvSpPr>
          <p:nvPr/>
        </p:nvSpPr>
        <p:spPr>
          <a:xfrm xmlns:a="http://schemas.openxmlformats.org/drawingml/2006/main">
            <a:off x="8896350" y="5143500"/>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6AE51BAD-DD7D-4537-9CD3-8A78EF53755D}"/>
              </a:ext>
            </a:extLst>
          </p:cNvPr>
          <p:cNvSpPr>
            <a:spLocks xmlns:a="http://schemas.openxmlformats.org/drawingml/2006/main" noGrp="1"/>
          </p:cNvSpPr>
          <p:nvPr/>
        </p:nvSpPr>
        <p:spPr>
          <a:xfrm xmlns:a="http://schemas.openxmlformats.org/drawingml/2006/main">
            <a:off x="90868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31" name="">
            <a:extLst xmlns:a="http://schemas.openxmlformats.org/drawingml/2006/main">
              <a:ext uri="{FF2B5EF4-FFF2-40B4-BE49-F238E27FC236}">
                <a16:creationId xmlns:a16="http://schemas.microsoft.com/office/drawing/2014/main" id="{40246BC0-31A1-4D56-A40A-EB26C209E74F}"/>
              </a:ext>
            </a:extLst>
          </p:cNvPr>
          <p:cNvSpPr>
            <a:spLocks xmlns:a="http://schemas.openxmlformats.org/drawingml/2006/main" noGrp="1"/>
          </p:cNvSpPr>
          <p:nvPr/>
        </p:nvSpPr>
        <p:spPr>
          <a:xfrm xmlns:a="http://schemas.openxmlformats.org/drawingml/2006/main">
            <a:off x="90868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inside</a:t>
            </a:r>
          </a:p>
        </p:txBody>
      </p:sp>
      <p:sp>
        <p:nvSpPr>
          <p:cNvPr id="32" name="">
            <a:extLst xmlns:a="http://schemas.openxmlformats.org/drawingml/2006/main">
              <a:ext uri="{FF2B5EF4-FFF2-40B4-BE49-F238E27FC236}">
                <a16:creationId xmlns:a16="http://schemas.microsoft.com/office/drawing/2014/main" id="{1213328B-2A31-4AE2-B02B-28B5A3551F16}"/>
              </a:ext>
            </a:extLst>
          </p:cNvPr>
          <p:cNvSpPr>
            <a:spLocks xmlns:a="http://schemas.openxmlformats.org/drawingml/2006/main" noGrp="1"/>
          </p:cNvSpPr>
          <p:nvPr/>
        </p:nvSpPr>
        <p:spPr>
          <a:xfrm xmlns:a="http://schemas.openxmlformats.org/drawingml/2006/main">
            <a:off x="90868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3.2% of frame diagonal away</a:t>
            </a:r>
          </a:p>
        </p:txBody>
      </p:sp>
      <p:sp>
        <p:nvSpPr>
          <p:cNvPr id="33" name="">
            <a:extLst xmlns:a="http://schemas.openxmlformats.org/drawingml/2006/main">
              <a:ext uri="{FF2B5EF4-FFF2-40B4-BE49-F238E27FC236}">
                <a16:creationId xmlns:a16="http://schemas.microsoft.com/office/drawing/2014/main" id="{C01869D5-CD35-4C0C-AE66-66417398D2C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7BA127B-E8D8-4AE2-8C28-F4750A230B5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powerpoint_windows_59 · 4 same-image controls · LOO cosine 0.925 mean / 0.828 minimum</a:t>
            </a:r>
          </a:p>
        </p:txBody>
      </p:sp>
    </p:spTree>
    <p:extLst>
      <p:ext uri="{BB962C8B-B14F-4D97-AF65-F5344CB8AC3E}">
        <p14:creationId xmlns:p14="http://schemas.microsoft.com/office/powerpoint/2010/main" val="826911181"/>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B02D031-597D-4D9E-AB4F-F43728144F4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GROUNDING MISS</a:t>
            </a:r>
          </a:p>
        </p:txBody>
      </p:sp>
      <p:sp>
        <p:nvSpPr>
          <p:cNvPr id="2" name="">
            <a:extLst xmlns:a="http://schemas.openxmlformats.org/drawingml/2006/main">
              <a:ext uri="{FF2B5EF4-FFF2-40B4-BE49-F238E27FC236}">
                <a16:creationId xmlns:a16="http://schemas.microsoft.com/office/drawing/2014/main" id="{82F77077-B032-4B6C-8E83-8149ABA9D9C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right region wins, but the wrong affordance receives the click</a:t>
            </a:r>
          </a:p>
        </p:txBody>
      </p:sp>
      <p:sp>
        <p:nvSpPr>
          <p:cNvPr id="3" name="">
            <a:extLst xmlns:a="http://schemas.openxmlformats.org/drawingml/2006/main">
              <a:ext uri="{FF2B5EF4-FFF2-40B4-BE49-F238E27FC236}">
                <a16:creationId xmlns:a16="http://schemas.microsoft.com/office/drawing/2014/main" id="{2137AC51-DF7F-46EC-8A10-FA00A71D4C4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730E9351-A62E-43E6-9F3D-6344E6702899}"/>
              </a:ext>
            </a:extLst>
          </p:cNvPr>
          <p:cNvSpPr>
            <a:spLocks xmlns:a="http://schemas.openxmlformats.org/drawingml/2006/main" noGrp="1"/>
          </p:cNvSpPr>
          <p:nvPr/>
        </p:nvSpPr>
        <p:spPr>
          <a:xfrm xmlns:a="http://schemas.openxmlformats.org/drawingml/2006/main">
            <a:off x="762000" y="12001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Instruction: Create new slide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c667a6c1b584282"/>
          <a:srcRect xmlns:a="http://schemas.openxmlformats.org/drawingml/2006/main" l="0" t="4494" r="0" b="4494"/>
          <a:stretch xmlns:a="http://schemas.openxmlformats.org/drawingml/2006/main">
            <a:fillRect l="0" t="0" r="0" b="0"/>
          </a:stretch>
        </p:blipFill>
        <p:spPr>
          <a:xfrm xmlns:a="http://schemas.openxmlformats.org/drawingml/2006/main">
            <a:off x="609600" y="1562100"/>
            <a:ext cx="7334250" cy="4171950"/>
          </a:xfrm>
          <a:prstGeom xmlns:a="http://schemas.openxmlformats.org/drawingml/2006/main" prst="roundRect">
            <a:avLst>
              <a:gd name="adj" fmla="val 2740"/>
            </a:avLst>
          </a:prstGeom>
        </p:spPr>
      </p:pic>
      <p:sp>
        <p:nvSpPr>
          <p:cNvPr id="6" name="">
            <a:extLst xmlns:a="http://schemas.openxmlformats.org/drawingml/2006/main">
              <a:ext uri="{FF2B5EF4-FFF2-40B4-BE49-F238E27FC236}">
                <a16:creationId xmlns:a16="http://schemas.microsoft.com/office/drawing/2014/main" id="{451CF21F-B7E0-4E45-B0FE-A140D18BAEC6}"/>
              </a:ext>
            </a:extLst>
          </p:cNvPr>
          <p:cNvSpPr>
            <a:spLocks xmlns:a="http://schemas.openxmlformats.org/drawingml/2006/main" noGrp="1"/>
          </p:cNvSpPr>
          <p:nvPr/>
        </p:nvSpPr>
        <p:spPr>
          <a:xfrm xmlns:a="http://schemas.openxmlformats.org/drawingml/2006/main">
            <a:off x="609600" y="1562100"/>
            <a:ext cx="7334250" cy="4171950"/>
          </a:xfrm>
          <a:prstGeom xmlns:a="http://schemas.openxmlformats.org/drawingml/2006/main" prst="roundRect">
            <a:avLst>
              <a:gd name="adj" fmla="val 1826"/>
            </a:avLst>
          </a:prstGeom>
          <a:noFill xmlns:a="http://schemas.openxmlformats.org/drawingml/2006/main"/>
          <a:ln xmlns:a="http://schemas.openxmlformats.org/drawingml/2006/main" w="9525">
            <a:solidFill>
              <a:srgbClr val="D9D4C8"/>
            </a:solidFill>
          </a:ln>
        </p:spPr>
      </p:sp>
      <p:sp>
        <p:nvSpPr>
          <p:cNvPr id="7" name="">
            <a:extLst xmlns:a="http://schemas.openxmlformats.org/drawingml/2006/main">
              <a:ext uri="{FF2B5EF4-FFF2-40B4-BE49-F238E27FC236}">
                <a16:creationId xmlns:a16="http://schemas.microsoft.com/office/drawing/2014/main" id="{18EA3366-C315-475A-B3C3-BE0670D4D9D0}"/>
              </a:ext>
            </a:extLst>
          </p:cNvPr>
          <p:cNvSpPr>
            <a:spLocks xmlns:a="http://schemas.openxmlformats.org/drawingml/2006/main" noGrp="1"/>
          </p:cNvSpPr>
          <p:nvPr/>
        </p:nvSpPr>
        <p:spPr>
          <a:xfrm xmlns:a="http://schemas.openxmlformats.org/drawingml/2006/main">
            <a:off x="8305800" y="1562100"/>
            <a:ext cx="3276600" cy="4171950"/>
          </a:xfrm>
          <a:prstGeom xmlns:a="http://schemas.openxmlformats.org/drawingml/2006/main" prst="roundRect">
            <a:avLst>
              <a:gd name="adj" fmla="val 2326"/>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6441225-9616-4709-ACAB-72D6284D497E}"/>
              </a:ext>
            </a:extLst>
          </p:cNvPr>
          <p:cNvSpPr>
            <a:spLocks xmlns:a="http://schemas.openxmlformats.org/drawingml/2006/main" noGrp="1"/>
          </p:cNvSpPr>
          <p:nvPr/>
        </p:nvSpPr>
        <p:spPr>
          <a:xfrm xmlns:a="http://schemas.openxmlformats.org/drawingml/2006/main">
            <a:off x="8572500" y="1809750"/>
            <a:ext cx="1428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F6B1BA8-1021-4135-84E8-17F962E2968E}"/>
              </a:ext>
            </a:extLst>
          </p:cNvPr>
          <p:cNvSpPr>
            <a:spLocks xmlns:a="http://schemas.openxmlformats.org/drawingml/2006/main" noGrp="1"/>
          </p:cNvSpPr>
          <p:nvPr/>
        </p:nvSpPr>
        <p:spPr>
          <a:xfrm xmlns:a="http://schemas.openxmlformats.org/drawingml/2006/main">
            <a:off x="8667750" y="18288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GROUNDING MISS</a:t>
            </a:r>
          </a:p>
        </p:txBody>
      </p:sp>
      <p:sp>
        <p:nvSpPr>
          <p:cNvPr id="10" name="">
            <a:extLst xmlns:a="http://schemas.openxmlformats.org/drawingml/2006/main">
              <a:ext uri="{FF2B5EF4-FFF2-40B4-BE49-F238E27FC236}">
                <a16:creationId xmlns:a16="http://schemas.microsoft.com/office/drawing/2014/main" id="{753C60C6-1A8A-40F6-868C-D3834F540FA2}"/>
              </a:ext>
            </a:extLst>
          </p:cNvPr>
          <p:cNvSpPr>
            <a:spLocks xmlns:a="http://schemas.openxmlformats.org/drawingml/2006/main" noGrp="1"/>
          </p:cNvSpPr>
          <p:nvPr/>
        </p:nvSpPr>
        <p:spPr>
          <a:xfrm xmlns:a="http://schemas.openxmlformats.org/drawingml/2006/main">
            <a:off x="8572500" y="2343150"/>
            <a:ext cx="2571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76"/>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The differential map concentrates in the correct top-left task region…</a:t>
            </a:r>
          </a:p>
        </p:txBody>
      </p:sp>
      <p:sp>
        <p:nvSpPr>
          <p:cNvPr id="11" name="">
            <a:extLst xmlns:a="http://schemas.openxmlformats.org/drawingml/2006/main">
              <a:ext uri="{FF2B5EF4-FFF2-40B4-BE49-F238E27FC236}">
                <a16:creationId xmlns:a16="http://schemas.microsoft.com/office/drawing/2014/main" id="{3B7B4B53-07BA-4EFC-ACAB-B545031E2691}"/>
              </a:ext>
            </a:extLst>
          </p:cNvPr>
          <p:cNvSpPr>
            <a:spLocks xmlns:a="http://schemas.openxmlformats.org/drawingml/2006/main" noGrp="1"/>
          </p:cNvSpPr>
          <p:nvPr/>
        </p:nvSpPr>
        <p:spPr>
          <a:xfrm xmlns:a="http://schemas.openxmlformats.org/drawingml/2006/main">
            <a:off x="8572500" y="3295650"/>
            <a:ext cx="2571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5CFD8"/>
                </a:solidFill>
                <a:latin typeface="Helvetica Neue"/>
                <a:ea typeface="Helvetica Neue"/>
                <a:cs typeface="Helvetica Neue"/>
              </a:defRPr>
            </a:pPr>
            <a:r>
              <a:rPr sz="1350" b="0">
                <a:solidFill>
                  <a:srgbClr val="C5CFD8"/>
                </a:solidFill>
                <a:latin typeface="Helvetica Neue"/>
                <a:ea typeface="Helvetica Neue"/>
                <a:cs typeface="Helvetica Neue"/>
              </a:rPr>
              <a:t>…but its peak lands on the slide thumbnail, not the tiny New Slide button.</a:t>
            </a:r>
          </a:p>
        </p:txBody>
      </p:sp>
      <p:sp>
        <p:nvSpPr>
          <p:cNvPr id="12" name="">
            <a:extLst xmlns:a="http://schemas.openxmlformats.org/drawingml/2006/main">
              <a:ext uri="{FF2B5EF4-FFF2-40B4-BE49-F238E27FC236}">
                <a16:creationId xmlns:a16="http://schemas.microsoft.com/office/drawing/2014/main" id="{4FCB1917-4DAD-43A6-8F5A-BA2CCA16B530}"/>
              </a:ext>
            </a:extLst>
          </p:cNvPr>
          <p:cNvSpPr>
            <a:spLocks xmlns:a="http://schemas.openxmlformats.org/drawingml/2006/main" noGrp="1"/>
          </p:cNvSpPr>
          <p:nvPr/>
        </p:nvSpPr>
        <p:spPr>
          <a:xfrm xmlns:a="http://schemas.openxmlformats.org/drawingml/2006/main">
            <a:off x="8572500" y="4305300"/>
            <a:ext cx="25717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9FE479E-CBA9-4471-AC0D-20E90E17DE6B}"/>
              </a:ext>
            </a:extLst>
          </p:cNvPr>
          <p:cNvSpPr>
            <a:spLocks xmlns:a="http://schemas.openxmlformats.org/drawingml/2006/main" noGrp="1"/>
          </p:cNvSpPr>
          <p:nvPr/>
        </p:nvSpPr>
        <p:spPr>
          <a:xfrm xmlns:a="http://schemas.openxmlformats.org/drawingml/2006/main">
            <a:off x="8572500" y="4514850"/>
            <a:ext cx="1257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Predicted click</a:t>
            </a:r>
          </a:p>
        </p:txBody>
      </p:sp>
      <p:sp>
        <p:nvSpPr>
          <p:cNvPr id="14" name="">
            <a:extLst xmlns:a="http://schemas.openxmlformats.org/drawingml/2006/main">
              <a:ext uri="{FF2B5EF4-FFF2-40B4-BE49-F238E27FC236}">
                <a16:creationId xmlns:a16="http://schemas.microsoft.com/office/drawing/2014/main" id="{2BC1FF00-C30A-4A66-9D5E-D4DDAEC17B1D}"/>
              </a:ext>
            </a:extLst>
          </p:cNvPr>
          <p:cNvSpPr>
            <a:spLocks xmlns:a="http://schemas.openxmlformats.org/drawingml/2006/main" noGrp="1"/>
          </p:cNvSpPr>
          <p:nvPr/>
        </p:nvSpPr>
        <p:spPr>
          <a:xfrm xmlns:a="http://schemas.openxmlformats.org/drawingml/2006/main">
            <a:off x="9848850" y="4486275"/>
            <a:ext cx="1295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(331, 270)</a:t>
            </a:r>
          </a:p>
        </p:txBody>
      </p:sp>
      <p:sp>
        <p:nvSpPr>
          <p:cNvPr id="15" name="">
            <a:extLst xmlns:a="http://schemas.openxmlformats.org/drawingml/2006/main">
              <a:ext uri="{FF2B5EF4-FFF2-40B4-BE49-F238E27FC236}">
                <a16:creationId xmlns:a16="http://schemas.microsoft.com/office/drawing/2014/main" id="{A03BB23E-D405-41D2-B471-F8E24624AE39}"/>
              </a:ext>
            </a:extLst>
          </p:cNvPr>
          <p:cNvSpPr>
            <a:spLocks xmlns:a="http://schemas.openxmlformats.org/drawingml/2006/main" noGrp="1"/>
          </p:cNvSpPr>
          <p:nvPr/>
        </p:nvSpPr>
        <p:spPr>
          <a:xfrm xmlns:a="http://schemas.openxmlformats.org/drawingml/2006/main">
            <a:off x="8572500" y="48958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Prompt-diff peak</a:t>
            </a:r>
          </a:p>
        </p:txBody>
      </p:sp>
      <p:sp>
        <p:nvSpPr>
          <p:cNvPr id="16" name="">
            <a:extLst xmlns:a="http://schemas.openxmlformats.org/drawingml/2006/main">
              <a:ext uri="{FF2B5EF4-FFF2-40B4-BE49-F238E27FC236}">
                <a16:creationId xmlns:a16="http://schemas.microsoft.com/office/drawing/2014/main" id="{C4015756-5DDB-43E7-8993-1F7509DCE8E7}"/>
              </a:ext>
            </a:extLst>
          </p:cNvPr>
          <p:cNvSpPr>
            <a:spLocks xmlns:a="http://schemas.openxmlformats.org/drawingml/2006/main" noGrp="1"/>
          </p:cNvSpPr>
          <p:nvPr/>
        </p:nvSpPr>
        <p:spPr>
          <a:xfrm xmlns:a="http://schemas.openxmlformats.org/drawingml/2006/main">
            <a:off x="9829800" y="4867275"/>
            <a:ext cx="131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9.9% diag away</a:t>
            </a:r>
          </a:p>
        </p:txBody>
      </p:sp>
      <p:sp>
        <p:nvSpPr>
          <p:cNvPr id="17" name="">
            <a:extLst xmlns:a="http://schemas.openxmlformats.org/drawingml/2006/main">
              <a:ext uri="{FF2B5EF4-FFF2-40B4-BE49-F238E27FC236}">
                <a16:creationId xmlns:a16="http://schemas.microsoft.com/office/drawing/2014/main" id="{7DA8BAAD-8FA7-4E4C-8827-947CC52B1864}"/>
              </a:ext>
            </a:extLst>
          </p:cNvPr>
          <p:cNvSpPr>
            <a:spLocks xmlns:a="http://schemas.openxmlformats.org/drawingml/2006/main" noGrp="1"/>
          </p:cNvSpPr>
          <p:nvPr/>
        </p:nvSpPr>
        <p:spPr>
          <a:xfrm xmlns:a="http://schemas.openxmlformats.org/drawingml/2006/main">
            <a:off x="8572500" y="52768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F1C7BC"/>
                </a:solidFill>
                <a:latin typeface="Helvetica Neue"/>
                <a:ea typeface="Helvetica Neue"/>
                <a:cs typeface="Helvetica Neue"/>
              </a:defRPr>
            </a:pPr>
            <a:r>
              <a:rPr sz="975" b="0">
                <a:solidFill>
                  <a:srgbClr val="F1C7BC"/>
                </a:solidFill>
                <a:latin typeface="Helvetica Neue"/>
                <a:ea typeface="Helvetica Neue"/>
                <a:cs typeface="Helvetica Neue"/>
              </a:rPr>
              <a:t>The model resolves the intent class, but not the target binding needed for action.</a:t>
            </a:r>
          </a:p>
        </p:txBody>
      </p:sp>
      <p:sp>
        <p:nvSpPr>
          <p:cNvPr id="18" name="">
            <a:extLst xmlns:a="http://schemas.openxmlformats.org/drawingml/2006/main">
              <a:ext uri="{FF2B5EF4-FFF2-40B4-BE49-F238E27FC236}">
                <a16:creationId xmlns:a16="http://schemas.microsoft.com/office/drawing/2014/main" id="{0C0625A5-0F6D-424C-93E7-E5219703290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9D9A00F-18D6-4A27-86F4-9074FCAF5B1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powerpoint_windows_48 · prompt-baseline stability 0.970 mean / 0.953 minimum</a:t>
            </a:r>
          </a:p>
        </p:txBody>
      </p:sp>
    </p:spTree>
    <p:extLst>
      <p:ext uri="{BB962C8B-B14F-4D97-AF65-F5344CB8AC3E}">
        <p14:creationId xmlns:p14="http://schemas.microsoft.com/office/powerpoint/2010/main" val="1220825736"/>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A0977A61-3B76-4379-A78D-766EAFAD41C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MULTI-TURN PROMPT BASELINE</a:t>
            </a:r>
          </a:p>
        </p:txBody>
      </p:sp>
      <p:sp>
        <p:nvSpPr>
          <p:cNvPr id="2" name="">
            <a:extLst xmlns:a="http://schemas.openxmlformats.org/drawingml/2006/main">
              <a:ext uri="{FF2B5EF4-FFF2-40B4-BE49-F238E27FC236}">
                <a16:creationId xmlns:a16="http://schemas.microsoft.com/office/drawing/2014/main" id="{A8DAB4D3-FF02-44AD-91AB-697911BB44A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right hotel is retrieved, then its button is missed</a:t>
            </a:r>
          </a:p>
        </p:txBody>
      </p:sp>
      <p:sp>
        <p:nvSpPr>
          <p:cNvPr id="3" name="">
            <a:extLst xmlns:a="http://schemas.openxmlformats.org/drawingml/2006/main">
              <a:ext uri="{FF2B5EF4-FFF2-40B4-BE49-F238E27FC236}">
                <a16:creationId xmlns:a16="http://schemas.microsoft.com/office/drawing/2014/main" id="{6AECAEE3-20A7-4D9F-94D7-4262692F0BA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FEB2620F-BD2C-45CA-A1AA-D2A42DC1E6E4}"/>
              </a:ext>
            </a:extLst>
          </p:cNvPr>
          <p:cNvSpPr>
            <a:spLocks xmlns:a="http://schemas.openxmlformats.org/drawingml/2006/main" noGrp="1"/>
          </p:cNvSpPr>
          <p:nvPr/>
        </p:nvSpPr>
        <p:spPr>
          <a:xfrm xmlns:a="http://schemas.openxmlformats.org/drawingml/2006/main">
            <a:off x="609600" y="1162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Target minus same-history instruction ensemble for the final x/y coordinate tokens</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f11e999459b34956"/>
          <a:srcRect xmlns:a="http://schemas.openxmlformats.org/drawingml/2006/main" l="74" t="0" r="74" b="0"/>
          <a:stretch xmlns:a="http://schemas.openxmlformats.org/drawingml/2006/main">
            <a:fillRect l="0" t="0" r="0" b="0"/>
          </a:stretch>
        </p:blipFill>
        <p:spPr>
          <a:xfrm xmlns:a="http://schemas.openxmlformats.org/drawingml/2006/main">
            <a:off x="609600" y="1581150"/>
            <a:ext cx="2571750" cy="1609725"/>
          </a:xfrm>
          <a:prstGeom xmlns:a="http://schemas.openxmlformats.org/drawingml/2006/main" prst="roundRect">
            <a:avLst>
              <a:gd name="adj" fmla="val 7101"/>
            </a:avLst>
          </a:prstGeom>
        </p:spPr>
      </p:pic>
      <p:sp>
        <p:nvSpPr>
          <p:cNvPr id="6" name="">
            <a:extLst xmlns:a="http://schemas.openxmlformats.org/drawingml/2006/main">
              <a:ext uri="{FF2B5EF4-FFF2-40B4-BE49-F238E27FC236}">
                <a16:creationId xmlns:a16="http://schemas.microsoft.com/office/drawing/2014/main" id="{D265CAE2-10EA-4B0B-8324-A828A2F2BDC6}"/>
              </a:ext>
            </a:extLst>
          </p:cNvPr>
          <p:cNvSpPr>
            <a:spLocks xmlns:a="http://schemas.openxmlformats.org/drawingml/2006/main" noGrp="1"/>
          </p:cNvSpPr>
          <p:nvPr/>
        </p:nvSpPr>
        <p:spPr>
          <a:xfrm xmlns:a="http://schemas.openxmlformats.org/drawingml/2006/main">
            <a:off x="6096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7" name="">
            <a:extLst xmlns:a="http://schemas.openxmlformats.org/drawingml/2006/main">
              <a:ext uri="{FF2B5EF4-FFF2-40B4-BE49-F238E27FC236}">
                <a16:creationId xmlns:a16="http://schemas.microsoft.com/office/drawing/2014/main" id="{0E20837D-A45C-43BB-92B7-CC70E348F4AE}"/>
              </a:ext>
            </a:extLst>
          </p:cNvPr>
          <p:cNvSpPr>
            <a:spLocks xmlns:a="http://schemas.openxmlformats.org/drawingml/2006/main" noGrp="1"/>
          </p:cNvSpPr>
          <p:nvPr/>
        </p:nvSpPr>
        <p:spPr>
          <a:xfrm xmlns:a="http://schemas.openxmlformats.org/drawingml/2006/main">
            <a:off x="7048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CDDF8EB-8117-4710-B858-C532B7B4E145}"/>
              </a:ext>
            </a:extLst>
          </p:cNvPr>
          <p:cNvSpPr>
            <a:spLocks xmlns:a="http://schemas.openxmlformats.org/drawingml/2006/main" noGrp="1"/>
          </p:cNvSpPr>
          <p:nvPr/>
        </p:nvSpPr>
        <p:spPr>
          <a:xfrm xmlns:a="http://schemas.openxmlformats.org/drawingml/2006/main">
            <a:off x="8001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0 · START</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5eaddeeca6164dc6"/>
          <a:srcRect xmlns:a="http://schemas.openxmlformats.org/drawingml/2006/main" l="74" t="0" r="74" b="0"/>
          <a:stretch xmlns:a="http://schemas.openxmlformats.org/drawingml/2006/main">
            <a:fillRect l="0" t="0" r="0" b="0"/>
          </a:stretch>
        </p:blipFill>
        <p:spPr>
          <a:xfrm xmlns:a="http://schemas.openxmlformats.org/drawingml/2006/main">
            <a:off x="3333750" y="1581150"/>
            <a:ext cx="2571750" cy="1609725"/>
          </a:xfrm>
          <a:prstGeom xmlns:a="http://schemas.openxmlformats.org/drawingml/2006/main" prst="roundRect">
            <a:avLst>
              <a:gd name="adj" fmla="val 7101"/>
            </a:avLst>
          </a:prstGeom>
        </p:spPr>
      </p:pic>
      <p:sp>
        <p:nvSpPr>
          <p:cNvPr id="10" name="">
            <a:extLst xmlns:a="http://schemas.openxmlformats.org/drawingml/2006/main">
              <a:ext uri="{FF2B5EF4-FFF2-40B4-BE49-F238E27FC236}">
                <a16:creationId xmlns:a16="http://schemas.microsoft.com/office/drawing/2014/main" id="{E983F4D3-B5DB-472C-8A3C-C79D2C778D15}"/>
              </a:ext>
            </a:extLst>
          </p:cNvPr>
          <p:cNvSpPr>
            <a:spLocks xmlns:a="http://schemas.openxmlformats.org/drawingml/2006/main" noGrp="1"/>
          </p:cNvSpPr>
          <p:nvPr/>
        </p:nvSpPr>
        <p:spPr>
          <a:xfrm xmlns:a="http://schemas.openxmlformats.org/drawingml/2006/main">
            <a:off x="33337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1041B96D-7979-426D-9D52-8F3625D3E2BE}"/>
              </a:ext>
            </a:extLst>
          </p:cNvPr>
          <p:cNvSpPr>
            <a:spLocks xmlns:a="http://schemas.openxmlformats.org/drawingml/2006/main" noGrp="1"/>
          </p:cNvSpPr>
          <p:nvPr/>
        </p:nvSpPr>
        <p:spPr>
          <a:xfrm xmlns:a="http://schemas.openxmlformats.org/drawingml/2006/main">
            <a:off x="342900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C332B14-A74E-4FC9-B475-C11BB308F312}"/>
              </a:ext>
            </a:extLst>
          </p:cNvPr>
          <p:cNvSpPr>
            <a:spLocks xmlns:a="http://schemas.openxmlformats.org/drawingml/2006/main" noGrp="1"/>
          </p:cNvSpPr>
          <p:nvPr/>
        </p:nvSpPr>
        <p:spPr>
          <a:xfrm xmlns:a="http://schemas.openxmlformats.org/drawingml/2006/main">
            <a:off x="35242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1 · SCROLL 500</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933246ba728a4752"/>
          <a:srcRect xmlns:a="http://schemas.openxmlformats.org/drawingml/2006/main" l="74" t="0" r="74" b="0"/>
          <a:stretch xmlns:a="http://schemas.openxmlformats.org/drawingml/2006/main">
            <a:fillRect l="0" t="0" r="0" b="0"/>
          </a:stretch>
        </p:blipFill>
        <p:spPr>
          <a:xfrm xmlns:a="http://schemas.openxmlformats.org/drawingml/2006/main">
            <a:off x="6057900" y="1581150"/>
            <a:ext cx="2571750" cy="1609725"/>
          </a:xfrm>
          <a:prstGeom xmlns:a="http://schemas.openxmlformats.org/drawingml/2006/main" prst="roundRect">
            <a:avLst>
              <a:gd name="adj" fmla="val 7101"/>
            </a:avLst>
          </a:prstGeom>
        </p:spPr>
      </p:pic>
      <p:sp>
        <p:nvSpPr>
          <p:cNvPr id="14" name="">
            <a:extLst xmlns:a="http://schemas.openxmlformats.org/drawingml/2006/main">
              <a:ext uri="{FF2B5EF4-FFF2-40B4-BE49-F238E27FC236}">
                <a16:creationId xmlns:a16="http://schemas.microsoft.com/office/drawing/2014/main" id="{E8FFAF24-0985-4E44-B869-292861CDEC48}"/>
              </a:ext>
            </a:extLst>
          </p:cNvPr>
          <p:cNvSpPr>
            <a:spLocks xmlns:a="http://schemas.openxmlformats.org/drawingml/2006/main" noGrp="1"/>
          </p:cNvSpPr>
          <p:nvPr/>
        </p:nvSpPr>
        <p:spPr>
          <a:xfrm xmlns:a="http://schemas.openxmlformats.org/drawingml/2006/main">
            <a:off x="60579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5" name="">
            <a:extLst xmlns:a="http://schemas.openxmlformats.org/drawingml/2006/main">
              <a:ext uri="{FF2B5EF4-FFF2-40B4-BE49-F238E27FC236}">
                <a16:creationId xmlns:a16="http://schemas.microsoft.com/office/drawing/2014/main" id="{662C0EAC-80F9-4520-AA37-F0E2DBAAD533}"/>
              </a:ext>
            </a:extLst>
          </p:cNvPr>
          <p:cNvSpPr>
            <a:spLocks xmlns:a="http://schemas.openxmlformats.org/drawingml/2006/main" noGrp="1"/>
          </p:cNvSpPr>
          <p:nvPr/>
        </p:nvSpPr>
        <p:spPr>
          <a:xfrm xmlns:a="http://schemas.openxmlformats.org/drawingml/2006/main">
            <a:off x="61531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09C9F54-68F4-4020-B5FC-675123B142C0}"/>
              </a:ext>
            </a:extLst>
          </p:cNvPr>
          <p:cNvSpPr>
            <a:spLocks xmlns:a="http://schemas.openxmlformats.org/drawingml/2006/main" noGrp="1"/>
          </p:cNvSpPr>
          <p:nvPr/>
        </p:nvSpPr>
        <p:spPr>
          <a:xfrm xmlns:a="http://schemas.openxmlformats.org/drawingml/2006/main">
            <a:off x="62484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2 · TARGET APPEARS</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f6fe9c454cb141d6"/>
          <a:srcRect xmlns:a="http://schemas.openxmlformats.org/drawingml/2006/main" l="74" t="0" r="74" b="0"/>
          <a:stretch xmlns:a="http://schemas.openxmlformats.org/drawingml/2006/main">
            <a:fillRect l="0" t="0" r="0" b="0"/>
          </a:stretch>
        </p:blipFill>
        <p:spPr>
          <a:xfrm xmlns:a="http://schemas.openxmlformats.org/drawingml/2006/main">
            <a:off x="8782050" y="1581150"/>
            <a:ext cx="2571750" cy="1609725"/>
          </a:xfrm>
          <a:prstGeom xmlns:a="http://schemas.openxmlformats.org/drawingml/2006/main" prst="roundRect">
            <a:avLst>
              <a:gd name="adj" fmla="val 7101"/>
            </a:avLst>
          </a:prstGeom>
        </p:spPr>
      </p:pic>
      <p:sp>
        <p:nvSpPr>
          <p:cNvPr id="18" name="">
            <a:extLst xmlns:a="http://schemas.openxmlformats.org/drawingml/2006/main">
              <a:ext uri="{FF2B5EF4-FFF2-40B4-BE49-F238E27FC236}">
                <a16:creationId xmlns:a16="http://schemas.microsoft.com/office/drawing/2014/main" id="{B20AC40C-0EA8-4157-9997-5459ACB7E901}"/>
              </a:ext>
            </a:extLst>
          </p:cNvPr>
          <p:cNvSpPr>
            <a:spLocks xmlns:a="http://schemas.openxmlformats.org/drawingml/2006/main" noGrp="1"/>
          </p:cNvSpPr>
          <p:nvPr/>
        </p:nvSpPr>
        <p:spPr>
          <a:xfrm xmlns:a="http://schemas.openxmlformats.org/drawingml/2006/main">
            <a:off x="87820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316D8960-47C6-44AD-BEC2-8882E9B00F48}"/>
              </a:ext>
            </a:extLst>
          </p:cNvPr>
          <p:cNvSpPr>
            <a:spLocks xmlns:a="http://schemas.openxmlformats.org/drawingml/2006/main" noGrp="1"/>
          </p:cNvSpPr>
          <p:nvPr/>
        </p:nvSpPr>
        <p:spPr>
          <a:xfrm xmlns:a="http://schemas.openxmlformats.org/drawingml/2006/main">
            <a:off x="8877300" y="3295650"/>
            <a:ext cx="2095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182FADA-F468-453B-AA21-6EF9E52F73F2}"/>
              </a:ext>
            </a:extLst>
          </p:cNvPr>
          <p:cNvSpPr>
            <a:spLocks xmlns:a="http://schemas.openxmlformats.org/drawingml/2006/main" noGrp="1"/>
          </p:cNvSpPr>
          <p:nvPr/>
        </p:nvSpPr>
        <p:spPr>
          <a:xfrm xmlns:a="http://schemas.openxmlformats.org/drawingml/2006/main">
            <a:off x="89725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3 · CLICK</a:t>
            </a:r>
          </a:p>
        </p:txBody>
      </p:sp>
      <p:sp>
        <p:nvSpPr>
          <p:cNvPr id="21" name="">
            <a:extLst xmlns:a="http://schemas.openxmlformats.org/drawingml/2006/main">
              <a:ext uri="{FF2B5EF4-FFF2-40B4-BE49-F238E27FC236}">
                <a16:creationId xmlns:a16="http://schemas.microsoft.com/office/drawing/2014/main" id="{0518AC86-3517-46C8-B74E-8B60C2F93131}"/>
              </a:ext>
            </a:extLst>
          </p:cNvPr>
          <p:cNvSpPr>
            <a:spLocks xmlns:a="http://schemas.openxmlformats.org/drawingml/2006/main" noGrp="1"/>
          </p:cNvSpPr>
          <p:nvPr/>
        </p:nvSpPr>
        <p:spPr>
          <a:xfrm xmlns:a="http://schemas.openxmlformats.org/drawingml/2006/main">
            <a:off x="6096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2" name="">
            <a:extLst xmlns:a="http://schemas.openxmlformats.org/drawingml/2006/main">
              <a:ext uri="{FF2B5EF4-FFF2-40B4-BE49-F238E27FC236}">
                <a16:creationId xmlns:a16="http://schemas.microsoft.com/office/drawing/2014/main" id="{E7AE6583-3A56-4716-94E1-7B7D6F8B8AED}"/>
              </a:ext>
            </a:extLst>
          </p:cNvPr>
          <p:cNvSpPr>
            <a:spLocks xmlns:a="http://schemas.openxmlformats.org/drawingml/2006/main" noGrp="1"/>
          </p:cNvSpPr>
          <p:nvPr/>
        </p:nvSpPr>
        <p:spPr>
          <a:xfrm xmlns:a="http://schemas.openxmlformats.org/drawingml/2006/main">
            <a:off x="609600" y="3790950"/>
            <a:ext cx="66675" cy="10287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B7F12F3-60A2-4A45-A0C5-CC7396F2B49E}"/>
              </a:ext>
            </a:extLst>
          </p:cNvPr>
          <p:cNvSpPr>
            <a:spLocks xmlns:a="http://schemas.openxmlformats.org/drawingml/2006/main" noGrp="1"/>
          </p:cNvSpPr>
          <p:nvPr/>
        </p:nvSpPr>
        <p:spPr>
          <a:xfrm xmlns:a="http://schemas.openxmlformats.org/drawingml/2006/main">
            <a:off x="8001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EARLIER-FRAME TARGET LIFT</a:t>
            </a:r>
          </a:p>
        </p:txBody>
      </p:sp>
      <p:sp>
        <p:nvSpPr>
          <p:cNvPr id="24" name="">
            <a:extLst xmlns:a="http://schemas.openxmlformats.org/drawingml/2006/main">
              <a:ext uri="{FF2B5EF4-FFF2-40B4-BE49-F238E27FC236}">
                <a16:creationId xmlns:a16="http://schemas.microsoft.com/office/drawing/2014/main" id="{022408B2-6501-43CC-9442-33754C8B0606}"/>
              </a:ext>
            </a:extLst>
          </p:cNvPr>
          <p:cNvSpPr>
            <a:spLocks xmlns:a="http://schemas.openxmlformats.org/drawingml/2006/main" noGrp="1"/>
          </p:cNvSpPr>
          <p:nvPr/>
        </p:nvSpPr>
        <p:spPr>
          <a:xfrm xmlns:a="http://schemas.openxmlformats.org/drawingml/2006/main">
            <a:off x="8001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2.78×</a:t>
            </a:r>
          </a:p>
        </p:txBody>
      </p:sp>
      <p:sp>
        <p:nvSpPr>
          <p:cNvPr id="25" name="">
            <a:extLst xmlns:a="http://schemas.openxmlformats.org/drawingml/2006/main">
              <a:ext uri="{FF2B5EF4-FFF2-40B4-BE49-F238E27FC236}">
                <a16:creationId xmlns:a16="http://schemas.microsoft.com/office/drawing/2014/main" id="{36AB6509-6A2C-4A48-8239-74A456ADC837}"/>
              </a:ext>
            </a:extLst>
          </p:cNvPr>
          <p:cNvSpPr>
            <a:spLocks xmlns:a="http://schemas.openxmlformats.org/drawingml/2006/main" noGrp="1"/>
          </p:cNvSpPr>
          <p:nvPr/>
        </p:nvSpPr>
        <p:spPr>
          <a:xfrm xmlns:a="http://schemas.openxmlformats.org/drawingml/2006/main">
            <a:off x="8001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frame 2: target button at viewport edge</a:t>
            </a:r>
          </a:p>
        </p:txBody>
      </p:sp>
      <p:sp>
        <p:nvSpPr>
          <p:cNvPr id="26" name="">
            <a:extLst xmlns:a="http://schemas.openxmlformats.org/drawingml/2006/main">
              <a:ext uri="{FF2B5EF4-FFF2-40B4-BE49-F238E27FC236}">
                <a16:creationId xmlns:a16="http://schemas.microsoft.com/office/drawing/2014/main" id="{14B39BF2-5704-422E-9865-3AB845A6E8AB}"/>
              </a:ext>
            </a:extLst>
          </p:cNvPr>
          <p:cNvSpPr>
            <a:spLocks xmlns:a="http://schemas.openxmlformats.org/drawingml/2006/main" noGrp="1"/>
          </p:cNvSpPr>
          <p:nvPr/>
        </p:nvSpPr>
        <p:spPr>
          <a:xfrm xmlns:a="http://schemas.openxmlformats.org/drawingml/2006/main">
            <a:off x="41148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7" name="">
            <a:extLst xmlns:a="http://schemas.openxmlformats.org/drawingml/2006/main">
              <a:ext uri="{FF2B5EF4-FFF2-40B4-BE49-F238E27FC236}">
                <a16:creationId xmlns:a16="http://schemas.microsoft.com/office/drawing/2014/main" id="{D38CC6C4-31DB-467D-9B7A-9F8F8DAAFDDF}"/>
              </a:ext>
            </a:extLst>
          </p:cNvPr>
          <p:cNvSpPr>
            <a:spLocks xmlns:a="http://schemas.openxmlformats.org/drawingml/2006/main" noGrp="1"/>
          </p:cNvSpPr>
          <p:nvPr/>
        </p:nvSpPr>
        <p:spPr>
          <a:xfrm xmlns:a="http://schemas.openxmlformats.org/drawingml/2006/main">
            <a:off x="41148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2F5F146-CEF1-4FF2-8B0B-13E7D1FD1CB6}"/>
              </a:ext>
            </a:extLst>
          </p:cNvPr>
          <p:cNvSpPr>
            <a:spLocks xmlns:a="http://schemas.openxmlformats.org/drawingml/2006/main" noGrp="1"/>
          </p:cNvSpPr>
          <p:nvPr/>
        </p:nvSpPr>
        <p:spPr>
          <a:xfrm xmlns:a="http://schemas.openxmlformats.org/drawingml/2006/main">
            <a:off x="43053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CURRENT-FRAME TARGET LIFT</a:t>
            </a:r>
          </a:p>
        </p:txBody>
      </p:sp>
      <p:sp>
        <p:nvSpPr>
          <p:cNvPr id="29" name="">
            <a:extLst xmlns:a="http://schemas.openxmlformats.org/drawingml/2006/main">
              <a:ext uri="{FF2B5EF4-FFF2-40B4-BE49-F238E27FC236}">
                <a16:creationId xmlns:a16="http://schemas.microsoft.com/office/drawing/2014/main" id="{E6892DF6-40DC-4E03-B61E-25B3B8C0CC4E}"/>
              </a:ext>
            </a:extLst>
          </p:cNvPr>
          <p:cNvSpPr>
            <a:spLocks xmlns:a="http://schemas.openxmlformats.org/drawingml/2006/main" noGrp="1"/>
          </p:cNvSpPr>
          <p:nvPr/>
        </p:nvSpPr>
        <p:spPr>
          <a:xfrm xmlns:a="http://schemas.openxmlformats.org/drawingml/2006/main">
            <a:off x="43053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8.59×</a:t>
            </a:r>
          </a:p>
        </p:txBody>
      </p:sp>
      <p:sp>
        <p:nvSpPr>
          <p:cNvPr id="30" name="">
            <a:extLst xmlns:a="http://schemas.openxmlformats.org/drawingml/2006/main">
              <a:ext uri="{FF2B5EF4-FFF2-40B4-BE49-F238E27FC236}">
                <a16:creationId xmlns:a16="http://schemas.microsoft.com/office/drawing/2014/main" id="{D38FD1B4-F839-4174-BA49-9DE53E9901D8}"/>
              </a:ext>
            </a:extLst>
          </p:cNvPr>
          <p:cNvSpPr>
            <a:spLocks xmlns:a="http://schemas.openxmlformats.org/drawingml/2006/main" noGrp="1"/>
          </p:cNvSpPr>
          <p:nvPr/>
        </p:nvSpPr>
        <p:spPr>
          <a:xfrm xmlns:a="http://schemas.openxmlformats.org/drawingml/2006/main">
            <a:off x="43053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frame 3: prompt differential</a:t>
            </a:r>
          </a:p>
        </p:txBody>
      </p:sp>
      <p:sp>
        <p:nvSpPr>
          <p:cNvPr id="31" name="">
            <a:extLst xmlns:a="http://schemas.openxmlformats.org/drawingml/2006/main">
              <a:ext uri="{FF2B5EF4-FFF2-40B4-BE49-F238E27FC236}">
                <a16:creationId xmlns:a16="http://schemas.microsoft.com/office/drawing/2014/main" id="{8EEE3AB5-4C07-4154-94A5-15AE6C08CAA5}"/>
              </a:ext>
            </a:extLst>
          </p:cNvPr>
          <p:cNvSpPr>
            <a:spLocks xmlns:a="http://schemas.openxmlformats.org/drawingml/2006/main" noGrp="1"/>
          </p:cNvSpPr>
          <p:nvPr/>
        </p:nvSpPr>
        <p:spPr>
          <a:xfrm xmlns:a="http://schemas.openxmlformats.org/drawingml/2006/main">
            <a:off x="7620000" y="3790950"/>
            <a:ext cx="39624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E5EA6196-1617-4C82-A0C7-44C4DAD58C3F}"/>
              </a:ext>
            </a:extLst>
          </p:cNvPr>
          <p:cNvSpPr>
            <a:spLocks xmlns:a="http://schemas.openxmlformats.org/drawingml/2006/main" noGrp="1"/>
          </p:cNvSpPr>
          <p:nvPr/>
        </p:nvSpPr>
        <p:spPr>
          <a:xfrm xmlns:a="http://schemas.openxmlformats.org/drawingml/2006/main">
            <a:off x="76200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6660549-A2D8-426B-BB02-BAB5372B8C35}"/>
              </a:ext>
            </a:extLst>
          </p:cNvPr>
          <p:cNvSpPr>
            <a:spLocks xmlns:a="http://schemas.openxmlformats.org/drawingml/2006/main" noGrp="1"/>
          </p:cNvSpPr>
          <p:nvPr/>
        </p:nvSpPr>
        <p:spPr>
          <a:xfrm xmlns:a="http://schemas.openxmlformats.org/drawingml/2006/main">
            <a:off x="7810500" y="3924300"/>
            <a:ext cx="3657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ISSUED CLICK</a:t>
            </a:r>
          </a:p>
        </p:txBody>
      </p:sp>
      <p:sp>
        <p:nvSpPr>
          <p:cNvPr id="34" name="">
            <a:extLst xmlns:a="http://schemas.openxmlformats.org/drawingml/2006/main">
              <a:ext uri="{FF2B5EF4-FFF2-40B4-BE49-F238E27FC236}">
                <a16:creationId xmlns:a16="http://schemas.microsoft.com/office/drawing/2014/main" id="{1F554C20-519F-407E-B2E1-AB0D91D79EE1}"/>
              </a:ext>
            </a:extLst>
          </p:cNvPr>
          <p:cNvSpPr>
            <a:spLocks xmlns:a="http://schemas.openxmlformats.org/drawingml/2006/main" noGrp="1"/>
          </p:cNvSpPr>
          <p:nvPr/>
        </p:nvSpPr>
        <p:spPr>
          <a:xfrm xmlns:a="http://schemas.openxmlformats.org/drawingml/2006/main">
            <a:off x="7810500" y="4114800"/>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MISS</a:t>
            </a:r>
          </a:p>
        </p:txBody>
      </p:sp>
      <p:sp>
        <p:nvSpPr>
          <p:cNvPr id="35" name="">
            <a:extLst xmlns:a="http://schemas.openxmlformats.org/drawingml/2006/main">
              <a:ext uri="{FF2B5EF4-FFF2-40B4-BE49-F238E27FC236}">
                <a16:creationId xmlns:a16="http://schemas.microsoft.com/office/drawing/2014/main" id="{B50033A0-21B1-4B56-81BE-B45E94B29B7C}"/>
              </a:ext>
            </a:extLst>
          </p:cNvPr>
          <p:cNvSpPr>
            <a:spLocks xmlns:a="http://schemas.openxmlformats.org/drawingml/2006/main" noGrp="1"/>
          </p:cNvSpPr>
          <p:nvPr/>
        </p:nvSpPr>
        <p:spPr>
          <a:xfrm xmlns:a="http://schemas.openxmlformats.org/drawingml/2006/main">
            <a:off x="7810500" y="4524375"/>
            <a:ext cx="365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(960,120): correct card, wrong affordance</a:t>
            </a:r>
          </a:p>
        </p:txBody>
      </p:sp>
      <p:sp>
        <p:nvSpPr>
          <p:cNvPr id="36" name="">
            <a:extLst xmlns:a="http://schemas.openxmlformats.org/drawingml/2006/main">
              <a:ext uri="{FF2B5EF4-FFF2-40B4-BE49-F238E27FC236}">
                <a16:creationId xmlns:a16="http://schemas.microsoft.com/office/drawing/2014/main" id="{4F8FDFCD-6C70-43E2-A552-677797E721BF}"/>
              </a:ext>
            </a:extLst>
          </p:cNvPr>
          <p:cNvSpPr>
            <a:spLocks xmlns:a="http://schemas.openxmlformats.org/drawingml/2006/main" noGrp="1"/>
          </p:cNvSpPr>
          <p:nvPr/>
        </p:nvSpPr>
        <p:spPr>
          <a:xfrm xmlns:a="http://schemas.openxmlformats.org/drawingml/2006/main">
            <a:off x="609600" y="5048250"/>
            <a:ext cx="10972800" cy="1028700"/>
          </a:xfrm>
          <a:prstGeom xmlns:a="http://schemas.openxmlformats.org/drawingml/2006/main" prst="roundRect">
            <a:avLst>
              <a:gd name="adj" fmla="val 7407"/>
            </a:avLst>
          </a:prstGeom>
          <a:solidFill xmlns:a="http://schemas.openxmlformats.org/drawingml/2006/main">
            <a:srgbClr val="1C27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9DF5FDB-D2F0-48EE-A2CB-2D7954E32C6F}"/>
              </a:ext>
            </a:extLst>
          </p:cNvPr>
          <p:cNvSpPr>
            <a:spLocks xmlns:a="http://schemas.openxmlformats.org/drawingml/2006/main" noGrp="1"/>
          </p:cNvSpPr>
          <p:nvPr/>
        </p:nvSpPr>
        <p:spPr>
          <a:xfrm xmlns:a="http://schemas.openxmlformats.org/drawingml/2006/main">
            <a:off x="857250" y="52482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Interpretation</a:t>
            </a:r>
          </a:p>
        </p:txBody>
      </p:sp>
      <p:sp>
        <p:nvSpPr>
          <p:cNvPr id="38" name="">
            <a:extLst xmlns:a="http://schemas.openxmlformats.org/drawingml/2006/main">
              <a:ext uri="{FF2B5EF4-FFF2-40B4-BE49-F238E27FC236}">
                <a16:creationId xmlns:a16="http://schemas.microsoft.com/office/drawing/2014/main" id="{60515CFE-2820-43D3-8437-6F8DF0A30F4B}"/>
              </a:ext>
            </a:extLst>
          </p:cNvPr>
          <p:cNvSpPr>
            <a:spLocks xmlns:a="http://schemas.openxmlformats.org/drawingml/2006/main" noGrp="1"/>
          </p:cNvSpPr>
          <p:nvPr/>
        </p:nvSpPr>
        <p:spPr>
          <a:xfrm xmlns:a="http://schemas.openxmlformats.org/drawingml/2006/main">
            <a:off x="857250" y="5514975"/>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252"/>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Semantic retrieval survives across frames; precise action binding does not.</a:t>
            </a:r>
          </a:p>
        </p:txBody>
      </p:sp>
      <p:sp>
        <p:nvSpPr>
          <p:cNvPr id="39" name="">
            <a:extLst xmlns:a="http://schemas.openxmlformats.org/drawingml/2006/main">
              <a:ext uri="{FF2B5EF4-FFF2-40B4-BE49-F238E27FC236}">
                <a16:creationId xmlns:a16="http://schemas.microsoft.com/office/drawing/2014/main" id="{91ECD409-F93B-4043-ADAF-6F7AF611CC13}"/>
              </a:ext>
            </a:extLst>
          </p:cNvPr>
          <p:cNvSpPr>
            <a:spLocks xmlns:a="http://schemas.openxmlformats.org/drawingml/2006/main" noGrp="1"/>
          </p:cNvSpPr>
          <p:nvPr/>
        </p:nvSpPr>
        <p:spPr>
          <a:xfrm xmlns:a="http://schemas.openxmlformats.org/drawingml/2006/main">
            <a:off x="7620000" y="5276850"/>
            <a:ext cx="3562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C4CED7"/>
                </a:solidFill>
                <a:latin typeface="Helvetica Neue"/>
                <a:ea typeface="Helvetica Neue"/>
                <a:cs typeface="Helvetica Neue"/>
              </a:defRPr>
            </a:pPr>
            <a:r>
              <a:rPr sz="1125" b="0">
                <a:solidFill>
                  <a:srgbClr val="C4CED7"/>
                </a:solidFill>
                <a:latin typeface="Helvetica Neue"/>
                <a:ea typeface="Helvetica Neue"/>
                <a:cs typeface="Helvetica Neue"/>
              </a:rPr>
              <a:t>Peak remains outside the button. Attention is diagnostic evidence, not a causal explanation of the miss.</a:t>
            </a:r>
          </a:p>
        </p:txBody>
      </p:sp>
      <p:sp>
        <p:nvSpPr>
          <p:cNvPr id="40" name="">
            <a:extLst xmlns:a="http://schemas.openxmlformats.org/drawingml/2006/main">
              <a:ext uri="{FF2B5EF4-FFF2-40B4-BE49-F238E27FC236}">
                <a16:creationId xmlns:a16="http://schemas.microsoft.com/office/drawing/2014/main" id="{24FD2529-DED4-46E8-8D10-AF3C7D59EE8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0BC6C7A7-7551-429F-87A0-6DE2E589B7F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 included controls · 1 excluded without a y span · LOO cosine 0.898 mean / 0.769 minimum</a:t>
            </a:r>
          </a:p>
        </p:txBody>
      </p:sp>
    </p:spTree>
    <p:extLst>
      <p:ext uri="{BB962C8B-B14F-4D97-AF65-F5344CB8AC3E}">
        <p14:creationId xmlns:p14="http://schemas.microsoft.com/office/powerpoint/2010/main" val="268074220"/>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20A56C-26C5-4F31-8883-6801F55E0CC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LAYER LENS</a:t>
            </a:r>
          </a:p>
        </p:txBody>
      </p:sp>
      <p:sp>
        <p:nvSpPr>
          <p:cNvPr id="2" name="">
            <a:extLst xmlns:a="http://schemas.openxmlformats.org/drawingml/2006/main">
              <a:ext uri="{FF2B5EF4-FFF2-40B4-BE49-F238E27FC236}">
                <a16:creationId xmlns:a16="http://schemas.microsoft.com/office/drawing/2014/main" id="{214BF124-275F-44C2-AE61-758A38DF22A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Mid-late routing may be an early correctness feature</a:t>
            </a:r>
          </a:p>
        </p:txBody>
      </p:sp>
      <p:sp>
        <p:nvSpPr>
          <p:cNvPr id="3" name="">
            <a:extLst xmlns:a="http://schemas.openxmlformats.org/drawingml/2006/main">
              <a:ext uri="{FF2B5EF4-FFF2-40B4-BE49-F238E27FC236}">
                <a16:creationId xmlns:a16="http://schemas.microsoft.com/office/drawing/2014/main" id="{D53E7B1E-14F6-4D72-9C6E-A2255299718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graphicFrame>
        <p:nvGraphicFramePr>
          <p:cNvPr id="23" name="Chart"/>
          <p:cNvGraphicFramePr/>
          <p:nvPr/>
        </p:nvGraphicFramePr>
        <p:xfrm>
          <a:off xmlns:a="http://schemas.openxmlformats.org/drawingml/2006/main" x="609600" y="1466850"/>
          <a:ext xmlns:a="http://schemas.openxmlformats.org/drawingml/2006/main" cx="6896100" cy="4171950"/>
        </p:xfrm>
        <a:graphic xmlns:a="http://schemas.openxmlformats.org/drawingml/2006/main">
          <a:graphicData uri="http://schemas.openxmlformats.org/drawingml/2006/chart">
            <c:chart xmlns:r="http://schemas.openxmlformats.org/officeDocument/2006/relationships" xmlns:c="http://schemas.openxmlformats.org/drawingml/2006/chart" r:id="R71cb6c33d78d4183"/>
          </a:graphicData>
        </a:graphic>
      </p:graphicFrame>
      <p:sp>
        <p:nvSpPr>
          <p:cNvPr id="5" name="">
            <a:extLst xmlns:a="http://schemas.openxmlformats.org/drawingml/2006/main">
              <a:ext uri="{FF2B5EF4-FFF2-40B4-BE49-F238E27FC236}">
                <a16:creationId xmlns:a16="http://schemas.microsoft.com/office/drawing/2014/main" id="{F1643E1A-D9A1-4ECF-BA45-E6B7943934AC}"/>
              </a:ext>
            </a:extLst>
          </p:cNvPr>
          <p:cNvSpPr>
            <a:spLocks xmlns:a="http://schemas.openxmlformats.org/drawingml/2006/main" noGrp="1"/>
          </p:cNvSpPr>
          <p:nvPr/>
        </p:nvSpPr>
        <p:spPr>
          <a:xfrm xmlns:a="http://schemas.openxmlformats.org/drawingml/2006/main">
            <a:off x="7810500" y="1466850"/>
            <a:ext cx="3771900" cy="4171950"/>
          </a:xfrm>
          <a:prstGeom xmlns:a="http://schemas.openxmlformats.org/drawingml/2006/main" prst="roundRect">
            <a:avLst>
              <a:gd name="adj" fmla="val 2020"/>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B99D1BD-5924-44E6-9E42-1FED8A24D8B5}"/>
              </a:ext>
            </a:extLst>
          </p:cNvPr>
          <p:cNvSpPr>
            <a:spLocks xmlns:a="http://schemas.openxmlformats.org/drawingml/2006/main" noGrp="1"/>
          </p:cNvSpPr>
          <p:nvPr/>
        </p:nvSpPr>
        <p:spPr>
          <a:xfrm xmlns:a="http://schemas.openxmlformats.org/drawingml/2006/main">
            <a:off x="8096250" y="1733550"/>
            <a:ext cx="10287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F7CD3DE-D7D2-4D75-975B-82241CD071DF}"/>
              </a:ext>
            </a:extLst>
          </p:cNvPr>
          <p:cNvSpPr>
            <a:spLocks xmlns:a="http://schemas.openxmlformats.org/drawingml/2006/main" noGrp="1"/>
          </p:cNvSpPr>
          <p:nvPr/>
        </p:nvSpPr>
        <p:spPr>
          <a:xfrm xmlns:a="http://schemas.openxmlformats.org/drawingml/2006/main">
            <a:off x="8191500" y="1752600"/>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LAYER 19</a:t>
            </a:r>
          </a:p>
        </p:txBody>
      </p:sp>
      <p:sp>
        <p:nvSpPr>
          <p:cNvPr id="8" name="">
            <a:extLst xmlns:a="http://schemas.openxmlformats.org/drawingml/2006/main">
              <a:ext uri="{FF2B5EF4-FFF2-40B4-BE49-F238E27FC236}">
                <a16:creationId xmlns:a16="http://schemas.microsoft.com/office/drawing/2014/main" id="{E9D89875-D3FF-4B40-B824-A010DD19C1BE}"/>
              </a:ext>
            </a:extLst>
          </p:cNvPr>
          <p:cNvSpPr>
            <a:spLocks xmlns:a="http://schemas.openxmlformats.org/drawingml/2006/main" noGrp="1"/>
          </p:cNvSpPr>
          <p:nvPr/>
        </p:nvSpPr>
        <p:spPr>
          <a:xfrm xmlns:a="http://schemas.openxmlformats.org/drawingml/2006/main">
            <a:off x="8096250" y="2209800"/>
            <a:ext cx="140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537"/>
          </a:bodyPr>
          <a:lstStyle xmlns:a="http://schemas.openxmlformats.org/drawingml/2006/main"/>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38.99×</a:t>
            </a:r>
          </a:p>
        </p:txBody>
      </p:sp>
      <p:sp>
        <p:nvSpPr>
          <p:cNvPr id="9" name="">
            <a:extLst xmlns:a="http://schemas.openxmlformats.org/drawingml/2006/main">
              <a:ext uri="{FF2B5EF4-FFF2-40B4-BE49-F238E27FC236}">
                <a16:creationId xmlns:a16="http://schemas.microsoft.com/office/drawing/2014/main" id="{0E8DB248-C9E2-486B-8B87-B34F2544CE32}"/>
              </a:ext>
            </a:extLst>
          </p:cNvPr>
          <p:cNvSpPr>
            <a:spLocks xmlns:a="http://schemas.openxmlformats.org/drawingml/2006/main" noGrp="1"/>
          </p:cNvSpPr>
          <p:nvPr/>
        </p:nvSpPr>
        <p:spPr>
          <a:xfrm xmlns:a="http://schemas.openxmlformats.org/drawingml/2006/main">
            <a:off x="9525000" y="23336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2BDAF"/>
                </a:solidFill>
                <a:latin typeface="Helvetica Neue"/>
                <a:ea typeface="Helvetica Neue"/>
                <a:cs typeface="Helvetica Neue"/>
              </a:defRPr>
            </a:pPr>
            <a:r>
              <a:rPr sz="1125" b="0">
                <a:solidFill>
                  <a:srgbClr val="F2BDAF"/>
                </a:solidFill>
                <a:latin typeface="Helvetica Neue"/>
                <a:ea typeface="Helvetica Neue"/>
                <a:cs typeface="Helvetica Neue"/>
              </a:rPr>
              <a:t>static hit</a:t>
            </a:r>
          </a:p>
        </p:txBody>
      </p:sp>
      <p:sp>
        <p:nvSpPr>
          <p:cNvPr id="10" name="">
            <a:extLst xmlns:a="http://schemas.openxmlformats.org/drawingml/2006/main">
              <a:ext uri="{FF2B5EF4-FFF2-40B4-BE49-F238E27FC236}">
                <a16:creationId xmlns:a16="http://schemas.microsoft.com/office/drawing/2014/main" id="{D27AE32A-C81B-4905-B896-F9943172F694}"/>
              </a:ext>
            </a:extLst>
          </p:cNvPr>
          <p:cNvSpPr>
            <a:spLocks xmlns:a="http://schemas.openxmlformats.org/drawingml/2006/main" noGrp="1"/>
          </p:cNvSpPr>
          <p:nvPr/>
        </p:nvSpPr>
        <p:spPr>
          <a:xfrm xmlns:a="http://schemas.openxmlformats.org/drawingml/2006/main">
            <a:off x="8096250" y="2781300"/>
            <a:ext cx="140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10.47×</a:t>
            </a:r>
          </a:p>
        </p:txBody>
      </p:sp>
      <p:sp>
        <p:nvSpPr>
          <p:cNvPr id="11" name="">
            <a:extLst xmlns:a="http://schemas.openxmlformats.org/drawingml/2006/main">
              <a:ext uri="{FF2B5EF4-FFF2-40B4-BE49-F238E27FC236}">
                <a16:creationId xmlns:a16="http://schemas.microsoft.com/office/drawing/2014/main" id="{DB981E0A-05FC-4CC9-BEAA-F69C80E3F896}"/>
              </a:ext>
            </a:extLst>
          </p:cNvPr>
          <p:cNvSpPr>
            <a:spLocks xmlns:a="http://schemas.openxmlformats.org/drawingml/2006/main" noGrp="1"/>
          </p:cNvSpPr>
          <p:nvPr/>
        </p:nvSpPr>
        <p:spPr>
          <a:xfrm xmlns:a="http://schemas.openxmlformats.org/drawingml/2006/main">
            <a:off x="9525000" y="28670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8DDBC1"/>
                </a:solidFill>
                <a:latin typeface="Helvetica Neue"/>
                <a:ea typeface="Helvetica Neue"/>
                <a:cs typeface="Helvetica Neue"/>
              </a:defRPr>
            </a:pPr>
            <a:r>
              <a:rPr sz="1125" b="0">
                <a:solidFill>
                  <a:srgbClr val="8DDBC1"/>
                </a:solidFill>
                <a:latin typeface="Helvetica Neue"/>
                <a:ea typeface="Helvetica Neue"/>
                <a:cs typeface="Helvetica Neue"/>
              </a:rPr>
              <a:t>hotel miss</a:t>
            </a:r>
          </a:p>
        </p:txBody>
      </p:sp>
      <p:sp>
        <p:nvSpPr>
          <p:cNvPr id="12" name="">
            <a:extLst xmlns:a="http://schemas.openxmlformats.org/drawingml/2006/main">
              <a:ext uri="{FF2B5EF4-FFF2-40B4-BE49-F238E27FC236}">
                <a16:creationId xmlns:a16="http://schemas.microsoft.com/office/drawing/2014/main" id="{43D1B466-5D49-481A-B10D-72F539E65EA6}"/>
              </a:ext>
            </a:extLst>
          </p:cNvPr>
          <p:cNvSpPr>
            <a:spLocks xmlns:a="http://schemas.openxmlformats.org/drawingml/2006/main" noGrp="1"/>
          </p:cNvSpPr>
          <p:nvPr/>
        </p:nvSpPr>
        <p:spPr>
          <a:xfrm xmlns:a="http://schemas.openxmlformats.org/drawingml/2006/main">
            <a:off x="8096250" y="3238500"/>
            <a:ext cx="140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2.88×</a:t>
            </a:r>
          </a:p>
        </p:txBody>
      </p:sp>
      <p:sp>
        <p:nvSpPr>
          <p:cNvPr id="13" name="">
            <a:extLst xmlns:a="http://schemas.openxmlformats.org/drawingml/2006/main">
              <a:ext uri="{FF2B5EF4-FFF2-40B4-BE49-F238E27FC236}">
                <a16:creationId xmlns:a16="http://schemas.microsoft.com/office/drawing/2014/main" id="{AA681688-F92D-4C20-B655-D20920516460}"/>
              </a:ext>
            </a:extLst>
          </p:cNvPr>
          <p:cNvSpPr>
            <a:spLocks xmlns:a="http://schemas.openxmlformats.org/drawingml/2006/main" noGrp="1"/>
          </p:cNvSpPr>
          <p:nvPr/>
        </p:nvSpPr>
        <p:spPr>
          <a:xfrm xmlns:a="http://schemas.openxmlformats.org/drawingml/2006/main">
            <a:off x="9525000" y="33242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9FC8F0"/>
                </a:solidFill>
                <a:latin typeface="Helvetica Neue"/>
                <a:ea typeface="Helvetica Neue"/>
                <a:cs typeface="Helvetica Neue"/>
              </a:defRPr>
            </a:pPr>
            <a:r>
              <a:rPr sz="1125" b="0">
                <a:solidFill>
                  <a:srgbClr val="9FC8F0"/>
                </a:solidFill>
                <a:latin typeface="Helvetica Neue"/>
                <a:ea typeface="Helvetica Neue"/>
                <a:cs typeface="Helvetica Neue"/>
              </a:rPr>
              <a:t>static miss</a:t>
            </a:r>
          </a:p>
        </p:txBody>
      </p:sp>
      <p:sp>
        <p:nvSpPr>
          <p:cNvPr id="14" name="">
            <a:extLst xmlns:a="http://schemas.openxmlformats.org/drawingml/2006/main">
              <a:ext uri="{FF2B5EF4-FFF2-40B4-BE49-F238E27FC236}">
                <a16:creationId xmlns:a16="http://schemas.microsoft.com/office/drawing/2014/main" id="{3D164BB5-007E-4BFF-A747-B4E61BE58B6C}"/>
              </a:ext>
            </a:extLst>
          </p:cNvPr>
          <p:cNvSpPr>
            <a:spLocks xmlns:a="http://schemas.openxmlformats.org/drawingml/2006/main" noGrp="1"/>
          </p:cNvSpPr>
          <p:nvPr/>
        </p:nvSpPr>
        <p:spPr>
          <a:xfrm xmlns:a="http://schemas.openxmlformats.org/drawingml/2006/main">
            <a:off x="8096250" y="3781425"/>
            <a:ext cx="32004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D8D35CB-BA14-43CD-93FE-86DA16B4D1E4}"/>
              </a:ext>
            </a:extLst>
          </p:cNvPr>
          <p:cNvSpPr>
            <a:spLocks xmlns:a="http://schemas.openxmlformats.org/drawingml/2006/main" noGrp="1"/>
          </p:cNvSpPr>
          <p:nvPr/>
        </p:nvSpPr>
        <p:spPr>
          <a:xfrm xmlns:a="http://schemas.openxmlformats.org/drawingml/2006/main">
            <a:off x="8096250" y="40005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E5B249"/>
                </a:solidFill>
                <a:latin typeface="Helvetica Neue"/>
                <a:ea typeface="Helvetica Neue"/>
                <a:cs typeface="Helvetica Neue"/>
              </a:defRPr>
            </a:pPr>
            <a:r>
              <a:rPr sz="1050" b="1">
                <a:solidFill>
                  <a:srgbClr val="E5B249"/>
                </a:solidFill>
                <a:latin typeface="Helvetica Neue"/>
                <a:ea typeface="Helvetica Neue"/>
                <a:cs typeface="Helvetica Neue"/>
              </a:rPr>
              <a:t>Prospective test</a:t>
            </a:r>
          </a:p>
        </p:txBody>
      </p:sp>
      <p:sp>
        <p:nvSpPr>
          <p:cNvPr id="16" name="">
            <a:extLst xmlns:a="http://schemas.openxmlformats.org/drawingml/2006/main">
              <a:ext uri="{FF2B5EF4-FFF2-40B4-BE49-F238E27FC236}">
                <a16:creationId xmlns:a16="http://schemas.microsoft.com/office/drawing/2014/main" id="{C6B02983-B91E-4379-947E-14BC664C607D}"/>
              </a:ext>
            </a:extLst>
          </p:cNvPr>
          <p:cNvSpPr>
            <a:spLocks xmlns:a="http://schemas.openxmlformats.org/drawingml/2006/main" noGrp="1"/>
          </p:cNvSpPr>
          <p:nvPr/>
        </p:nvSpPr>
        <p:spPr>
          <a:xfrm xmlns:a="http://schemas.openxmlformats.org/drawingml/2006/main">
            <a:off x="8096250" y="4295775"/>
            <a:ext cx="3028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Fit a tiny outcome or ambiguity readout on frozen layer features.</a:t>
            </a:r>
          </a:p>
        </p:txBody>
      </p:sp>
      <p:sp>
        <p:nvSpPr>
          <p:cNvPr id="17" name="">
            <a:extLst xmlns:a="http://schemas.openxmlformats.org/drawingml/2006/main">
              <a:ext uri="{FF2B5EF4-FFF2-40B4-BE49-F238E27FC236}">
                <a16:creationId xmlns:a16="http://schemas.microsoft.com/office/drawing/2014/main" id="{FF54E0C1-DCC5-4FEA-A62A-13A9515DC2FB}"/>
              </a:ext>
            </a:extLst>
          </p:cNvPr>
          <p:cNvSpPr>
            <a:spLocks xmlns:a="http://schemas.openxmlformats.org/drawingml/2006/main" noGrp="1"/>
          </p:cNvSpPr>
          <p:nvPr/>
        </p:nvSpPr>
        <p:spPr>
          <a:xfrm xmlns:a="http://schemas.openxmlformats.org/drawingml/2006/main">
            <a:off x="8096250" y="4953000"/>
            <a:ext cx="3028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Evaluate held-out Brier score, ECE, and selective risk. N=3 examples cannot establish confidence.</a:t>
            </a:r>
          </a:p>
        </p:txBody>
      </p:sp>
      <p:sp>
        <p:nvSpPr>
          <p:cNvPr id="18" name="">
            <a:extLst xmlns:a="http://schemas.openxmlformats.org/drawingml/2006/main">
              <a:ext uri="{FF2B5EF4-FFF2-40B4-BE49-F238E27FC236}">
                <a16:creationId xmlns:a16="http://schemas.microsoft.com/office/drawing/2014/main" id="{E06281B8-C8DF-4072-B586-75CEDC653CE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8BBAE93-BD7A-437F-8996-05B6E3EE763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Per-head rows use direct value-norm attention; multiplied rollout has no unique head identity</a:t>
            </a:r>
          </a:p>
        </p:txBody>
      </p:sp>
    </p:spTree>
    <p:extLst>
      <p:ext uri="{BB962C8B-B14F-4D97-AF65-F5344CB8AC3E}">
        <p14:creationId xmlns:p14="http://schemas.microsoft.com/office/powerpoint/2010/main" val="231948437"/>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DCE0114-4424-49A2-8B84-3894167E725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40DD0F5B-949E-4372-985B-8A7E2EE3B35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Turn a diagnostic into testable model improvements</a:t>
            </a:r>
          </a:p>
        </p:txBody>
      </p:sp>
      <p:sp>
        <p:nvSpPr>
          <p:cNvPr id="3" name="">
            <a:extLst xmlns:a="http://schemas.openxmlformats.org/drawingml/2006/main">
              <a:ext uri="{FF2B5EF4-FFF2-40B4-BE49-F238E27FC236}">
                <a16:creationId xmlns:a16="http://schemas.microsoft.com/office/drawing/2014/main" id="{4FEBDFE8-4496-4B58-B353-E097ECCC142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00A0ACB9-F0FD-45ED-BA56-5BD0FA3230E4}"/>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4D74D22A-BE46-402F-BCFF-8BBBBF9CC139}"/>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EB0FC3E-F4EF-416F-AA82-8317049D6A3F}"/>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EBC044C0-51E5-4F91-901D-946F5D173F7F}"/>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1010945-639D-459F-B43A-442D77116719}"/>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CALIBRATED DECISION HEADS</a:t>
            </a:r>
          </a:p>
        </p:txBody>
      </p:sp>
      <p:sp>
        <p:nvSpPr>
          <p:cNvPr id="9" name="">
            <a:extLst xmlns:a="http://schemas.openxmlformats.org/drawingml/2006/main">
              <a:ext uri="{FF2B5EF4-FFF2-40B4-BE49-F238E27FC236}">
                <a16:creationId xmlns:a16="http://schemas.microsoft.com/office/drawing/2014/main" id="{F12A0ECD-D61C-4AC4-8362-514FF47BE33A}"/>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Predict action success, ambiguity, and safety-refusal risk. Train with proper scoring rules; trigger clarification or abstention by calibrated thresholds.</a:t>
            </a:r>
          </a:p>
        </p:txBody>
      </p:sp>
      <p:sp>
        <p:nvSpPr>
          <p:cNvPr id="10" name="">
            <a:extLst xmlns:a="http://schemas.openxmlformats.org/drawingml/2006/main">
              <a:ext uri="{FF2B5EF4-FFF2-40B4-BE49-F238E27FC236}">
                <a16:creationId xmlns:a16="http://schemas.microsoft.com/office/drawing/2014/main" id="{D52F3758-B3E8-4026-AE6E-49AB42700473}"/>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68C7635D-5A3A-4D58-B429-B7275221C176}"/>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FE87EE-4AE8-4572-9A8A-EA948244512D}"/>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C70DB087-766F-4E09-B8DC-7E4E1BD22BF9}"/>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BE4549F-943B-4306-B7B2-BF0E3F6C780B}"/>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VALIDATION</a:t>
            </a:r>
          </a:p>
        </p:txBody>
      </p:sp>
      <p:sp>
        <p:nvSpPr>
          <p:cNvPr id="15" name="">
            <a:extLst xmlns:a="http://schemas.openxmlformats.org/drawingml/2006/main">
              <a:ext uri="{FF2B5EF4-FFF2-40B4-BE49-F238E27FC236}">
                <a16:creationId xmlns:a16="http://schemas.microsoft.com/office/drawing/2014/main" id="{523D7BB7-9FAF-488E-B0DC-09D0D305C22F}"/>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Mask, patch-swap, ablate, or activation-patch the highlighted regions. Ask whether changing the routed evidence changes the action.</a:t>
            </a:r>
          </a:p>
        </p:txBody>
      </p:sp>
      <p:sp>
        <p:nvSpPr>
          <p:cNvPr id="16" name="">
            <a:extLst xmlns:a="http://schemas.openxmlformats.org/drawingml/2006/main">
              <a:ext uri="{FF2B5EF4-FFF2-40B4-BE49-F238E27FC236}">
                <a16:creationId xmlns:a16="http://schemas.microsoft.com/office/drawing/2014/main" id="{3FBFE41E-28D3-42B8-988C-23643CD0FD24}"/>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F2293C5B-144A-4B72-8FE8-83D8C209D81C}"/>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34C348D-5558-46E6-93E7-19B595D77877}"/>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EDF63930-B7A3-4A4F-9EE2-64CE70F2950A}"/>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4B91D4A-A035-48B0-B683-98BE1D7596B7}"/>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D8CACCA4-8594-4020-A154-5DD65D0F4580}"/>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Measure which historical frame supplies evidence, then learn retrieval or compression that preserves task-relevant patches without full-frame quadratic cost.</a:t>
            </a:r>
          </a:p>
        </p:txBody>
      </p:sp>
      <p:sp>
        <p:nvSpPr>
          <p:cNvPr id="22" name="">
            <a:extLst xmlns:a="http://schemas.openxmlformats.org/drawingml/2006/main">
              <a:ext uri="{FF2B5EF4-FFF2-40B4-BE49-F238E27FC236}">
                <a16:creationId xmlns:a16="http://schemas.microsoft.com/office/drawing/2014/main" id="{100646A7-1FF5-4F88-A41C-A23B5E359947}"/>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D6E3DEB6-7DFD-4592-BF04-F3B1646BD8EC}"/>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0D5A1E9-3C27-428F-9310-B5B119C22DC4}"/>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73752732-2F16-4E03-9234-9EF7FE4E8D36}"/>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362F5E4-730F-407C-BB33-C5A8A80273E7}"/>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FINE-TUNING DELTA LENS</a:t>
            </a:r>
          </a:p>
        </p:txBody>
      </p:sp>
      <p:sp>
        <p:nvSpPr>
          <p:cNvPr id="27" name="">
            <a:extLst xmlns:a="http://schemas.openxmlformats.org/drawingml/2006/main">
              <a:ext uri="{FF2B5EF4-FFF2-40B4-BE49-F238E27FC236}">
                <a16:creationId xmlns:a16="http://schemas.microsoft.com/office/drawing/2014/main" id="{CDAD53F1-C431-46A9-8D96-D9563FD09D58}"/>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Teacher-force identical action tokens through base Qwen and Holo. Compare where instruction-specific routing appears, disappears, or sharpens.</a:t>
            </a:r>
          </a:p>
        </p:txBody>
      </p:sp>
      <p:sp>
        <p:nvSpPr>
          <p:cNvPr id="28" name="">
            <a:extLst xmlns:a="http://schemas.openxmlformats.org/drawingml/2006/main">
              <a:ext uri="{FF2B5EF4-FFF2-40B4-BE49-F238E27FC236}">
                <a16:creationId xmlns:a16="http://schemas.microsoft.com/office/drawing/2014/main" id="{6EB613CA-3866-47F7-97E4-B4962F1121DC}"/>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D1F99E4-7F20-4E65-ADDE-9F990B1CD77C}"/>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1F905034-EAAE-47A9-A3BA-7C7EF84C5B8D}"/>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817"/>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  measured mid-training lift  →  GRPO + LoRA with verifiable environment reward</a:t>
            </a:r>
          </a:p>
        </p:txBody>
      </p:sp>
      <p:sp>
        <p:nvSpPr>
          <p:cNvPr id="31" name="">
            <a:extLst xmlns:a="http://schemas.openxmlformats.org/drawingml/2006/main">
              <a:ext uri="{FF2B5EF4-FFF2-40B4-BE49-F238E27FC236}">
                <a16:creationId xmlns:a16="http://schemas.microsoft.com/office/drawing/2014/main" id="{CEF5F9F2-0EAC-4E20-8C5B-34936C30DAAA}"/>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for audit and diagnosis, not as the reward target.</a:t>
            </a:r>
          </a:p>
        </p:txBody>
      </p:sp>
      <p:sp>
        <p:nvSpPr>
          <p:cNvPr id="32" name="">
            <a:extLst xmlns:a="http://schemas.openxmlformats.org/drawingml/2006/main">
              <a:ext uri="{FF2B5EF4-FFF2-40B4-BE49-F238E27FC236}">
                <a16:creationId xmlns:a16="http://schemas.microsoft.com/office/drawing/2014/main" id="{5FC9AD26-FE35-4F9C-A6C6-F98A210BB96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46AD8CE-CBCD-4D47-BEFE-F69DCD3CD72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The highest-value next result is an intervention, not a prettier heatmap</a:t>
            </a:r>
          </a:p>
        </p:txBody>
      </p:sp>
    </p:spTree>
    <p:extLst>
      <p:ext uri="{BB962C8B-B14F-4D97-AF65-F5344CB8AC3E}">
        <p14:creationId xmlns:p14="http://schemas.microsoft.com/office/powerpoint/2010/main" val="1875089626"/>
      </p:ext>
    </p:extLst>
  </p:cSld>
</p:sld>
</file>

<file path=ppt/slides/slide9.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75A00C72-5598-4CA7-AC84-04A226C7189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BCAB4844-A484-403E-B9C4-8ED53B444B5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 baseline-first story, with falsifiable next steps</a:t>
            </a:r>
          </a:p>
        </p:txBody>
      </p:sp>
      <p:sp>
        <p:nvSpPr>
          <p:cNvPr id="3" name="">
            <a:extLst xmlns:a="http://schemas.openxmlformats.org/drawingml/2006/main">
              <a:ext uri="{FF2B5EF4-FFF2-40B4-BE49-F238E27FC236}">
                <a16:creationId xmlns:a16="http://schemas.microsoft.com/office/drawing/2014/main" id="{57DA5561-3916-428E-B2CC-B28DE44AE7F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813A8AA0-619F-47A5-8910-9911848DF2CD}"/>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20EB25-112A-482F-94F9-5613D3FC2485}"/>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9700FEC-2350-4031-980A-5711FFE1BE7F}"/>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EE097ABB-8FC3-464B-9C93-F6297CFA39D1}"/>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9A387ACF-A2FE-4B38-A233-7CFA014CA524}"/>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6FD3EE0-A320-444C-A626-C420A084D1E6}"/>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7544292B-CB89-4A7A-9C57-ABCA9DDB2275}"/>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retrieval from binding</a:t>
            </a:r>
          </a:p>
        </p:txBody>
      </p:sp>
      <p:sp>
        <p:nvSpPr>
          <p:cNvPr id="11" name="">
            <a:extLst xmlns:a="http://schemas.openxmlformats.org/drawingml/2006/main">
              <a:ext uri="{FF2B5EF4-FFF2-40B4-BE49-F238E27FC236}">
                <a16:creationId xmlns:a16="http://schemas.microsoft.com/office/drawing/2014/main" id="{99AEDDFA-D92E-41CC-BDE3-B5E5CF316CEA}"/>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Both misses find a relevant region but fail at precise affordance selection.</a:t>
            </a:r>
          </a:p>
        </p:txBody>
      </p:sp>
      <p:sp>
        <p:nvSpPr>
          <p:cNvPr id="12" name="">
            <a:extLst xmlns:a="http://schemas.openxmlformats.org/drawingml/2006/main">
              <a:ext uri="{FF2B5EF4-FFF2-40B4-BE49-F238E27FC236}">
                <a16:creationId xmlns:a16="http://schemas.microsoft.com/office/drawing/2014/main" id="{80CE33B0-2EB6-4125-BDB9-E12C4C9DEEFC}"/>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79E3030-FA06-48BB-BA84-5C77707C99C9}"/>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19D4BE7D-FF49-491C-8D1A-F675F978349C}"/>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Treat layers as candidate features</a:t>
            </a:r>
          </a:p>
        </p:txBody>
      </p:sp>
      <p:sp>
        <p:nvSpPr>
          <p:cNvPr id="15" name="">
            <a:extLst xmlns:a="http://schemas.openxmlformats.org/drawingml/2006/main">
              <a:ext uri="{FF2B5EF4-FFF2-40B4-BE49-F238E27FC236}">
                <a16:creationId xmlns:a16="http://schemas.microsoft.com/office/drawing/2014/main" id="{651C97A2-90C8-4350-BD6C-B3C9EEB23EE6}"/>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Calibrate and intervene before calling them confidence or mechanism.</a:t>
            </a:r>
          </a:p>
        </p:txBody>
      </p:sp>
      <p:sp>
        <p:nvSpPr>
          <p:cNvPr id="16" name="">
            <a:extLst xmlns:a="http://schemas.openxmlformats.org/drawingml/2006/main">
              <a:ext uri="{FF2B5EF4-FFF2-40B4-BE49-F238E27FC236}">
                <a16:creationId xmlns:a16="http://schemas.microsoft.com/office/drawing/2014/main" id="{DCB137B7-22C3-4C35-BE8D-626257AB54E3}"/>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632C57F-9ACE-49FF-9FB2-356A6C02A117}"/>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C94991FE-51EF-428B-B23F-EBE4FB1FD69E}"/>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FB08B44-3919-4DF1-AF0F-5EF1152800F1}"/>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FEE83BEA-989F-4580-B721-1A7A480C94AA}"/>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 prompt difference</a:t>
            </a:r>
          </a:p>
        </p:txBody>
      </p:sp>
      <p:sp>
        <p:nvSpPr>
          <p:cNvPr id="21" name="">
            <a:extLst xmlns:a="http://schemas.openxmlformats.org/drawingml/2006/main">
              <a:ext uri="{FF2B5EF4-FFF2-40B4-BE49-F238E27FC236}">
                <a16:creationId xmlns:a16="http://schemas.microsoft.com/office/drawing/2014/main" id="{42661E5C-1CAC-4538-AEDD-7866FF95B138}"/>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8EE952AF-50BB-46C3-B1C2-73010C49BC94}"/>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662D2AF-3A0A-4700-BEA7-52365B141713}"/>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78489B0B-3D76-417A-A714-B569EFDC8422}"/>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2639E289-CA25-4F25-8A89-36A769F8B734}"/>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8EA482B0-6D26-4156-91F8-5F2A098E0A8E}"/>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3B0B7E7-2CE0-436A-AD36-53F6E5DB15B9}"/>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C3D872C9-9541-4572-9C1A-89E28B1214A2}"/>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E4F94F3C-F8E8-43DD-8D88-0D108606A7DD}"/>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0C8A6771-BD6A-4BC3-9FC2-00A8B3D4FB8C}"/>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F3F5FF9-7417-4DEB-BFA7-62F0A7633681}"/>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7D54FE6E-E6BF-47E0-8420-403E3F89429C}"/>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Sort layer and head statistics</a:t>
            </a:r>
          </a:p>
        </p:txBody>
      </p:sp>
      <p:sp>
        <p:nvSpPr>
          <p:cNvPr id="33" name="">
            <a:extLst xmlns:a="http://schemas.openxmlformats.org/drawingml/2006/main">
              <a:ext uri="{FF2B5EF4-FFF2-40B4-BE49-F238E27FC236}">
                <a16:creationId xmlns:a16="http://schemas.microsoft.com/office/drawing/2014/main" id="{BE0B404A-1813-4BED-BE25-BF876885EBC4}"/>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Turn observations into intervention hypotheses.</a:t>
            </a:r>
          </a:p>
        </p:txBody>
      </p:sp>
      <p:sp>
        <p:nvSpPr>
          <p:cNvPr id="34" name="">
            <a:extLst xmlns:a="http://schemas.openxmlformats.org/drawingml/2006/main">
              <a:ext uri="{FF2B5EF4-FFF2-40B4-BE49-F238E27FC236}">
                <a16:creationId xmlns:a16="http://schemas.microsoft.com/office/drawing/2014/main" id="{4FE70FB2-633F-4372-BA81-12CA2A0AAF4A}"/>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8CC6715-CF86-4A0D-AA2E-D5ADF884D3ED}"/>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experiment: patch intervention across a frozen, matched evaluation split</a:t>
            </a:r>
          </a:p>
        </p:txBody>
      </p:sp>
      <p:sp>
        <p:nvSpPr>
          <p:cNvPr id="36" name="">
            <a:extLst xmlns:a="http://schemas.openxmlformats.org/drawingml/2006/main">
              <a:ext uri="{FF2B5EF4-FFF2-40B4-BE49-F238E27FC236}">
                <a16:creationId xmlns:a16="http://schemas.microsoft.com/office/drawing/2014/main" id="{1E2B65F5-BD8B-469D-AD44-68D03E3E811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D9DE875-2317-4C74-8E8D-9EBF791EE95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data/attributions/hotel-cheapest-multiframe-contrast/viewer.html</a:t>
            </a:r>
          </a:p>
        </p:txBody>
      </p:sp>
    </p:spTree>
    <p:extLst>
      <p:ext uri="{BB962C8B-B14F-4D97-AF65-F5344CB8AC3E}">
        <p14:creationId xmlns:p14="http://schemas.microsoft.com/office/powerpoint/2010/main" val="4822154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2026-09-21T00:38:54.0390000Z</dcterms:created>
  <dcterms:modified xsi:type="dcterms:W3CDTF">2026-09-21T00:38:54.0390000Z</dcterms:modified>
</coreProperties>
</file>