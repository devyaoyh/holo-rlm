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fc22be268e44efd" /><Relationship Type="http://schemas.openxmlformats.org/officeDocument/2006/relationships/extended-properties" Target="/docProps/app.xml" Id="R5d5b9dbc36ca4d78" /><Relationship Type="http://schemas.openxmlformats.org/officeDocument/2006/relationships/officeDocument" Target="/ppt/presentation.xml" Id="R2a68e709830d4b8e" /></Relationships>
</file>

<file path=ppt/presentation.xml><?xml version="1.0" encoding="utf-8"?>
<p:presentation xmlns:p="http://schemas.openxmlformats.org/presentationml/2006/main">
  <p:sldMasterIdLst>
    <p:sldMasterId xmlns:r="http://schemas.openxmlformats.org/officeDocument/2006/relationships" id="2147483648" r:id="R87579bd1d41f4a1d"/>
  </p:sldMasterIdLst>
  <p:notesMasterIdLst>
    <p:notesMasterId xmlns:r="http://schemas.openxmlformats.org/officeDocument/2006/relationships" r:id="R30e6e97365da488f"/>
  </p:notesMasterIdLst>
  <p:sldIdLst>
    <p:sldId xmlns:r="http://schemas.openxmlformats.org/officeDocument/2006/relationships" id="256" r:id="R6e645a3039db48a8"/>
    <p:sldId xmlns:r="http://schemas.openxmlformats.org/officeDocument/2006/relationships" id="257" r:id="R145839dcb50c4175"/>
    <p:sldId xmlns:r="http://schemas.openxmlformats.org/officeDocument/2006/relationships" id="258" r:id="R96baa2e8408a4068"/>
    <p:sldId xmlns:r="http://schemas.openxmlformats.org/officeDocument/2006/relationships" id="259" r:id="Rc1ce1aea7ac64e65"/>
    <p:sldId xmlns:r="http://schemas.openxmlformats.org/officeDocument/2006/relationships" id="260" r:id="R38f54174273645ec"/>
    <p:sldId xmlns:r="http://schemas.openxmlformats.org/officeDocument/2006/relationships" id="261" r:id="Red6d242a368a4176"/>
    <p:sldId xmlns:r="http://schemas.openxmlformats.org/officeDocument/2006/relationships" id="262" r:id="Reb5152ff3dde4f78"/>
    <p:sldId xmlns:r="http://schemas.openxmlformats.org/officeDocument/2006/relationships" id="263" r:id="Rabbf58624db44cb3"/>
    <p:sldId xmlns:r="http://schemas.openxmlformats.org/officeDocument/2006/relationships" id="264" r:id="Rcf65dca3e182477b"/>
    <p:sldId xmlns:r="http://schemas.openxmlformats.org/officeDocument/2006/relationships" id="265" r:id="R3fe152a78605412e"/>
    <p:sldId xmlns:r="http://schemas.openxmlformats.org/officeDocument/2006/relationships" id="266" r:id="R28129176bfa449db"/>
    <p:sldId xmlns:r="http://schemas.openxmlformats.org/officeDocument/2006/relationships" id="267" r:id="R40cd8add9f994881"/>
    <p:sldId xmlns:r="http://schemas.openxmlformats.org/officeDocument/2006/relationships" id="268" r:id="Rdc00824cc90146e9"/>
    <p:sldId xmlns:r="http://schemas.openxmlformats.org/officeDocument/2006/relationships" id="269" r:id="R457c60701936443a"/>
    <p:sldId xmlns:r="http://schemas.openxmlformats.org/officeDocument/2006/relationships" id="270" r:id="Rd1709f6fa74c45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619ccfa0044a8b" /><Relationship Type="http://schemas.openxmlformats.org/officeDocument/2006/relationships/slideMaster" Target="/ppt/slideMasters/slideMaster1.xml" Id="R87579bd1d41f4a1d" /><Relationship Type="http://schemas.openxmlformats.org/officeDocument/2006/relationships/notesMaster" Target="/ppt/notesMasters/notesMaster1.xml" Id="R30e6e97365da488f" /><Relationship Type="http://schemas.openxmlformats.org/officeDocument/2006/relationships/presProps" Target="/ppt/presProps.xml" Id="R32488a99ebcc4e0c" /><Relationship Type="http://schemas.openxmlformats.org/officeDocument/2006/relationships/tableStyles" Target="/ppt/tableStyles.xml" Id="R6d7d133a7d664b76" /><Relationship Type="http://schemas.openxmlformats.org/officeDocument/2006/relationships/slide" Target="/ppt/slides/slide1.xml" Id="R6e645a3039db48a8" /><Relationship Type="http://schemas.openxmlformats.org/officeDocument/2006/relationships/slide" Target="/ppt/slides/slide2.xml" Id="R145839dcb50c4175" /><Relationship Type="http://schemas.openxmlformats.org/officeDocument/2006/relationships/slide" Target="/ppt/slides/slide3.xml" Id="R96baa2e8408a4068" /><Relationship Type="http://schemas.openxmlformats.org/officeDocument/2006/relationships/slide" Target="/ppt/slides/slide4.xml" Id="Rc1ce1aea7ac64e65" /><Relationship Type="http://schemas.openxmlformats.org/officeDocument/2006/relationships/slide" Target="/ppt/slides/slide5.xml" Id="R38f54174273645ec" /><Relationship Type="http://schemas.openxmlformats.org/officeDocument/2006/relationships/slide" Target="/ppt/slides/slide6.xml" Id="Red6d242a368a4176" /><Relationship Type="http://schemas.openxmlformats.org/officeDocument/2006/relationships/slide" Target="/ppt/slides/slide7.xml" Id="Reb5152ff3dde4f78" /><Relationship Type="http://schemas.openxmlformats.org/officeDocument/2006/relationships/slide" Target="/ppt/slides/slide8.xml" Id="Rabbf58624db44cb3" /><Relationship Type="http://schemas.openxmlformats.org/officeDocument/2006/relationships/slide" Target="/ppt/slides/slide9.xml" Id="Rcf65dca3e182477b" /><Relationship Type="http://schemas.openxmlformats.org/officeDocument/2006/relationships/slide" Target="/ppt/slides/slide10.xml" Id="R3fe152a78605412e" /><Relationship Type="http://schemas.openxmlformats.org/officeDocument/2006/relationships/slide" Target="/ppt/slides/slide11.xml" Id="R28129176bfa449db" /><Relationship Type="http://schemas.openxmlformats.org/officeDocument/2006/relationships/slide" Target="/ppt/slides/slide12.xml" Id="R40cd8add9f994881" /><Relationship Type="http://schemas.openxmlformats.org/officeDocument/2006/relationships/slide" Target="/ppt/slides/slide13.xml" Id="Rdc00824cc90146e9" /><Relationship Type="http://schemas.openxmlformats.org/officeDocument/2006/relationships/slide" Target="/ppt/slides/slide14.xml" Id="R457c60701936443a" /><Relationship Type="http://schemas.openxmlformats.org/officeDocument/2006/relationships/slide" Target="/ppt/slides/slide15.xml" Id="Rd1709f6fa74c45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0279a516c342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864479937449e0" /><Relationship Type="http://schemas.openxmlformats.org/officeDocument/2006/relationships/notesMaster" Target="/ppt/notesMasters/notesMaster1.xml" Id="R1e3f1f163b774b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e07ba315ee41b0" /><Relationship Type="http://schemas.openxmlformats.org/officeDocument/2006/relationships/notesMaster" Target="/ppt/notesMasters/notesMaster1.xml" Id="R744d43abe58746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d9595072444b75" /><Relationship Type="http://schemas.openxmlformats.org/officeDocument/2006/relationships/notesMaster" Target="/ppt/notesMasters/notesMaster1.xml" Id="R91bc7ee7bc0149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df0f8cb7fb4f65" /><Relationship Type="http://schemas.openxmlformats.org/officeDocument/2006/relationships/notesMaster" Target="/ppt/notesMasters/notesMaster1.xml" Id="Rc7690631b54b47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150e0097ec4215" /><Relationship Type="http://schemas.openxmlformats.org/officeDocument/2006/relationships/notesMaster" Target="/ppt/notesMasters/notesMaster1.xml" Id="Rfd1ecf6bf4714e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7ce6b339cf43db" /><Relationship Type="http://schemas.openxmlformats.org/officeDocument/2006/relationships/notesMaster" Target="/ppt/notesMasters/notesMaster1.xml" Id="R75d84933fde446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b668de8160408c" /><Relationship Type="http://schemas.openxmlformats.org/officeDocument/2006/relationships/notesMaster" Target="/ppt/notesMasters/notesMaster1.xml" Id="Rd0b82297298542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94ab1c02804c96" /><Relationship Type="http://schemas.openxmlformats.org/officeDocument/2006/relationships/notesMaster" Target="/ppt/notesMasters/notesMaster1.xml" Id="R80b463d21ab341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34bb2479a849a3" /><Relationship Type="http://schemas.openxmlformats.org/officeDocument/2006/relationships/notesMaster" Target="/ppt/notesMasters/notesMaster1.xml" Id="R07c4e1c4895045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dda338b03f4693" /><Relationship Type="http://schemas.openxmlformats.org/officeDocument/2006/relationships/notesMaster" Target="/ppt/notesMasters/notesMaster1.xml" Id="Rf609b4a2547b4f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7d0322ccef4ca7" /><Relationship Type="http://schemas.openxmlformats.org/officeDocument/2006/relationships/notesMaster" Target="/ppt/notesMasters/notesMaster1.xml" Id="R8e2c16565f5b47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5de95af6bfe4f8d" /><Relationship Type="http://schemas.openxmlformats.org/officeDocument/2006/relationships/notesMaster" Target="/ppt/notesMasters/notesMaster1.xml" Id="R1ca8e83fd4094ce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bd4122f21344008" /><Relationship Type="http://schemas.openxmlformats.org/officeDocument/2006/relationships/notesMaster" Target="/ppt/notesMasters/notesMaster1.xml" Id="R60ae2d5e395c44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80621b65544c19" /><Relationship Type="http://schemas.openxmlformats.org/officeDocument/2006/relationships/notesMaster" Target="/ppt/notesMasters/notesMaster1.xml" Id="R20e24c43d76b4d2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3b7dd09f094184" /><Relationship Type="http://schemas.openxmlformats.org/officeDocument/2006/relationships/notesMaster" Target="/ppt/notesMasters/notesMaster1.xml" Id="Rd8b48003e3e24b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question: what is specific to the current instruction after removing generic image saliency, and can the same machinery follow evidence across a multi-turn trajectory?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Separate the two settings. ScreenSpot gives real high-resolution grounding examples. The synthetic hotel task gives exact replay and multi-frame memory. The two PowerPoint examples are not a same-image success/failure pair, so use them to motivate hypotheses rather than causal claims. The hotel trace is a Holo failure after three scrolls and one click. Sources: docs/screenspot-case-study.md and data/attributions/traj-20260919T164806Z-ba81a14a16/trajectory.json.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2:55–4:05 — Define the symbols once. A is the attention-weight matrix. V contains the value vectors. R is the residual-aware rollout across the eight captured full-attention blocks. M is the resulting image-patch map traced from the generated x/y coordinate-value tokens. Value-norm changes the routing matrix before rollout. Rollout mixes attention and identity 50/50 and multiplies the captured layers in model order. Then average only the generated x/y value-token maps. Target lift is the positive target-minus-control mass inside the target box divided by the target-box area fraction; 1× means spatially uniform positive residual mass. Hybrid linear-attention blocks are omitted because they expose no equivalent square softmax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4:05–5:05 — Treat subtraction as the analysis choice, analogous to choosing a resting-state baseline in fMRI. Both panels use the same native 2880x1800 screenshot, official localization prompt, Holo free-generation output (209,243), x/y coordinate-token aggregation, and value-norm rollout. The left panel subtracts the mean map from generated tokens strictly before the x/y value span. It removes completion state already present before the action and leaves 6.75% of positive residual mass in the oracle, a 168.8x lift. The right panel subtracts the mean of four separately measured same-image instructions: Cut, Copy, Send backward, and Add comment. It leaves 18.58% in the tiny oracle, a 464.4x lift, with minimum leave-one-control-out cosine 0.991. The diverse ensemble removes generic image saliency and highlights what is specific to Fill color; the causal baseline asks what changed within this completion. Neither map is a causal feature explanation.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5:05–6:00 — This is the failure case under the same full-resolution official protocol and the same four-control baseline design. Holo freely emits (124,73), projecting to (357.1,131.4) pixels. The x coordinate is inside the annotated proofing-language control, while y falls 7.4 pixels below its bottom edge. After value-norm rollout and subtraction of four same-image controls—Check accessibility, Translate, Add comment, and Show comments—the peak patch is still inside the oracle. The tiny box receives 17.15% of positive residual mass, a 278.6x lift, and the leave-one-control-out floor is 0.951. This is consistent with a localized visual route but an imprecise action readout. It does not prove that attention caused the miss.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6:00–7:10 — This rerun uses the exact three 1024×720 trajectory frames at the checkpoint-native 16,777,216-pixel ceiling, producing a 22×32 merged-token grid per frame. Every condition receives the same neutral user setup, the same two teacher-forced scroll actions, and the same image bytes. The generic official hotel system prompt is retained; only the final visible-target instruction changes. Four controls request Juniper's button, Ember's button, the Lumen name, or the StayLocal logo, each with an independently curated oracle coordinate. Holo's value-norm target-box differential is 10.74 percentage points, versus 6.55 for base Qwen, a +4.19-point delta. Minimum leave-one-control-out cosine is 0.957. The current frame carries 68.1% of Holo's positive prompt differential, and the cheapest button carries 34.5%. This is a teacher-forced routing diagnostic, not a free-generation accuracy result. It shows that the final coordinate-token path can retrieve the sequence and bind to the visible cheapest affordance when resolution is preserved. Source: artifacts/screenspot-presentation/native-saliency-ppt48-hotel35-v1/native-saliency-summary.json.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7:10–8:15 — This slide replaces the earlier three selected matrices with the balanced official-protocol pilot. Each item uses four visible, task-valid alternate click instructions on the same screenshot and the same 2,097,152-pixel eager-attention profile. Layer rank means rank among the eight captured full-attention layers. H10 rank means rank among the 16 heads within Layer 19. Holo3.1-4B uses full attention at zero-based layers 3, 7, 11, 15, 19, 23, 27, and 31, so both Layer 15 and Layer 19 are full-attention layers. The intervening layers use Gated DeltaNet and are outside this rollout. Across two hits and two misses, Layer 19 has the highest mean at 158.4×, narrowly ahead of Layer 15 at 151.4×. Layer 19 is top on two items and has median item rank 2. H11, H14, H10, and H2 form the strongest aggregate cluster. H10 ranks third within Layer 19 and never ranks first on an individual item. This is descriptive routing evidence from a four-item pilot, not a stable Layer 19 mechanism. Sources: data/remote-results/attention-layer19-balanced-v1/aggregate/aggregate.json and https://huggingface.co/Hcompany/Holo-3.1-4B/blob/main/config.json.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8:15–9:05 — Introduce the matched causal pair. The pixel corruption crops both equal-size tiles from the original before either paste, then exchanges them without resizing or resampling; 0.91% of pixels change. The swap creates a localized visual counterfactual while preserving task wording and layout. It may alter recognition as well as coordinate binding. The teacher-forced coordinate margin is the log probability of the correct six x/y value tokens minus the log probability of the distractor coordinate tokens. Syntax tokens are excluded. A nat is a natural-log unit, so exp(margin) is the target-to-distractor sequence-probability ratio. +1.70 nats means 5.47× target preference. −2.64 nats means 14.07× distractor preference.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9:05–10:00 — The schematic defines activation patching: capture one component from the clean run, replace the corresponding component in the corrupted run, then measure the change in teacher-forced coordinate margin. Patching all clean layer-19 visual-token residuals restores 1.85 nats, or 42.7% of the clean–corrupt gap. Restricting the patch to four target-overlapping tokens restores 1.44 nats, or 33.2%. Mean-replacing those same clean tokens removes 1.48 nats. The isolated layer-19/head-10 attention output restores only 0.024 nats, so the causal claim stays regional and residual-stream level for this one matched case. The chart leads with those three contrasts; the distractor and MLP probes remain in the secondary line.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10:00–11:05 — This is the standalone fine-tuning comparison. The layer chart teacher-forces identical oracle and distractor action tokens through the official Qwen3.5-4B base and Holo3.1-4B, using the same Holo processor, prompts, image order, and action suffixes. All five ScreenSpot probes end with a positive Holo-minus-Qwen oracle-margin shift, averaging 1.14 nats per scored token; three cross from a negative base margin to a positive Holo margin. The hotel final click ends at +0.37 nats per token, while earlier hotel steps are mixed. The top triptych is a separate paired instruction-control diagnostic on powerpoint_windows_59. Each checkpoint sees the same native-resolution screenshot and official localization prompt for the target plus four visible alternate tasks: blank presentation, Scientific discovery, Animal magnetism, and the template search box. Every task uses an independently image-derived oracle coordinate, so neither model's rollout selects a control target. We separately L1-normalize the five value-norm maps, subtract the mean control map from the target map within each checkpoint, then subtract Qwen from Holo. The target-minus-control mass is 13.15 percentage points for Qwen and 12.37 for Holo, so the paired Holo-minus-Qwen change is −0.78 point. Leave-one-control-out cosine remains at least 0.949 for Qwen and 0.950 for Holo. Raw attention again moves in the opposite direction at +1.36 points. This one case supports a fine-tuning shift in action preference, but not stronger value-weighted target grounding. In the three-frame hotel prompt, Holo moves value-norm image attention away from the earliest frame and toward the middle and current frames. The ScreenSpot processor grid is 56 by 90 from a 2880 by 1800 source, retaining 99.6% of source area; each hotel frame uses a 22 by 32 grid from 1024 by 720, retaining 97.8%. Attention is descriptive; the layerwise logit lens also includes each checkpoint's own final norm and unembedding. Sources: data/remote-results/delta-lens-qwen35-vs-holo31-20260921-dcd8c5e5, data/local-results/attention-delta-ppt59-controls-v1, artifacts/screenspot-presentation/delta-lens-paired-controls-v1/paired-control-attention-summary.json, and data/local-results/attention-delta-hotel-step2-native-v1.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11:05–11:55 — The single-case intervention and eight-case delta lens change the agenda. Scale the matched protocol across a frozen split and report effect distributions. Search causal subspaces because the salient head was not sufficient by itself. Extend patching across historical frames to separate memory retrieval from action binding. For the delta lens, separate residual-stream changes from changes in each checkpoint’s final norm and unembedding, then expand beyond five ScreenSpot probes and one hotel trace. The training program remains oracle SFT, measured causal effects, then GRPO plus LoRA with verifiable reward. Do not optimize the heatmap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11:55–12:45 — Close on three defensible conclusions. The prompt ensemble exposes target-specific routing. Correct and incorrect cases can share coarse routing while differing in precise binding. In the matched intervention, regional layer-19 residuals pass both restoration and ablation tests, while the strongest direct-attention head does not. Fine-tuning moves every ScreenSpot diagnostic margin toward the oracle, but attention weighting choices and the hotel trajectory show that internal redistribution is selective. In the live demo, show raw versus prompt differential on the hit, the static miss, the hotel frames, then the clean/corrupted pair and intervention chart. The result is one matched case, so the next claim requires a frozen evaluation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f9edf37b6b4b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605e2608154f7e" /><Relationship Type="http://schemas.openxmlformats.org/officeDocument/2006/relationships/slideLayout" Target="/ppt/slideLayouts/slideLayout1.xml" Id="R2ebf23eba79c4e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bf23eba79c4e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9a79bba9324526" /><Relationship Type="http://schemas.openxmlformats.org/officeDocument/2006/relationships/image" Target="/ppt/media/image.png" Id="Rdb7b12a1d5c14848" /><Relationship Type="http://schemas.openxmlformats.org/officeDocument/2006/relationships/notesSlide" Target="/ppt/notesSlides/notesSlide1.xml" Id="R8d86080a6b6f48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81ab5713cb44b87" /><Relationship Type="http://schemas.openxmlformats.org/officeDocument/2006/relationships/notesSlide" Target="/ppt/notesSlides/notesSlide2.xml" Id="R5d1488f618a244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75db49ab7f4ba7" /><Relationship Type="http://schemas.openxmlformats.org/officeDocument/2006/relationships/chart" Target="/ppt/slides/charts/chart1.xml" Id="R5badc191b1214d48" /><Relationship Type="http://schemas.openxmlformats.org/officeDocument/2006/relationships/notesSlide" Target="/ppt/notesSlides/notesSlide3.xml" Id="R3871d289f9344c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31c214cc004931" /><Relationship Type="http://schemas.openxmlformats.org/officeDocument/2006/relationships/chart" Target="/ppt/slides/charts/chart2.xml" Id="Rf858026f5a294a12" /><Relationship Type="http://schemas.openxmlformats.org/officeDocument/2006/relationships/notesSlide" Target="/ppt/notesSlides/notesSlide4.xml" Id="R3f8169a555c645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c4ba0131484212" /><Relationship Type="http://schemas.openxmlformats.org/officeDocument/2006/relationships/notesSlide" Target="/ppt/notesSlides/notesSlide5.xml" Id="R5dadfb0578ee4f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00b15835a140b1" /><Relationship Type="http://schemas.openxmlformats.org/officeDocument/2006/relationships/image" Target="/ppt/media/image2.png" Id="Rd64568d95e8a4686" /><Relationship Type="http://schemas.openxmlformats.org/officeDocument/2006/relationships/image" Target="/ppt/media/image3.png" Id="Ra318e0b0f48b4e9c" /><Relationship Type="http://schemas.openxmlformats.org/officeDocument/2006/relationships/notesSlide" Target="/ppt/notesSlides/notesSlide6.xml" Id="R3cb10729d7514c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552bb3fe4749e9" /><Relationship Type="http://schemas.openxmlformats.org/officeDocument/2006/relationships/image" Target="/ppt/media/image4.png" Id="Rb443f847e5554446" /><Relationship Type="http://schemas.openxmlformats.org/officeDocument/2006/relationships/notesSlide" Target="/ppt/notesSlides/notesSlide7.xml" Id="R85b6ac561bd044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dd4eb342d446c1" /><Relationship Type="http://schemas.openxmlformats.org/officeDocument/2006/relationships/image" Target="/ppt/media/image5.png" Id="R0376da91513043b0" /><Relationship Type="http://schemas.openxmlformats.org/officeDocument/2006/relationships/image" Target="/ppt/media/image6.png" Id="Re7c1072c4232444f" /><Relationship Type="http://schemas.openxmlformats.org/officeDocument/2006/relationships/image" Target="/ppt/media/image7.png" Id="R24394c06a3a842b1" /><Relationship Type="http://schemas.openxmlformats.org/officeDocument/2006/relationships/notesSlide" Target="/ppt/notesSlides/notesSlide8.xml" Id="R56a04ab8c33d4b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4c8b56c8874475d" /><Relationship Type="http://schemas.openxmlformats.org/officeDocument/2006/relationships/notesSlide" Target="/ppt/notesSlides/notesSlide9.xml" Id="Rcf7281fdedfa4c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2c64a4effc844f9" /><Relationship Type="http://schemas.openxmlformats.org/officeDocument/2006/relationships/image" Target="/ppt/media/image8.png" Id="R79561bf211324230" /><Relationship Type="http://schemas.openxmlformats.org/officeDocument/2006/relationships/image" Target="/ppt/media/image9.png" Id="Rb559568f31e54acd" /><Relationship Type="http://schemas.openxmlformats.org/officeDocument/2006/relationships/notesSlide" Target="/ppt/notesSlides/notesSlide10.xml" Id="R24be8d5e7686499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050b430e34a48c1" /><Relationship Type="http://schemas.openxmlformats.org/officeDocument/2006/relationships/chart" Target="/ppt/slides/charts/chart3.xml" Id="R76b14baf8b1547ac" /><Relationship Type="http://schemas.openxmlformats.org/officeDocument/2006/relationships/notesSlide" Target="/ppt/notesSlides/notesSlide11.xml" Id="R57d7973c63974e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76b3d3b70fc4b38" /><Relationship Type="http://schemas.openxmlformats.org/officeDocument/2006/relationships/image" Target="/ppt/media/image10.png" Id="R6aba86fde14d429d" /><Relationship Type="http://schemas.openxmlformats.org/officeDocument/2006/relationships/image" Target="/ppt/media/image11.png" Id="R7ef4a8fa19c64ec6" /><Relationship Type="http://schemas.openxmlformats.org/officeDocument/2006/relationships/image" Target="/ppt/media/image12.png" Id="R1a5974a01fa148aa" /><Relationship Type="http://schemas.openxmlformats.org/officeDocument/2006/relationships/chart" Target="/ppt/slides/charts/chart4.xml" Id="R0c52596bd83f4b7f" /><Relationship Type="http://schemas.openxmlformats.org/officeDocument/2006/relationships/chart" Target="/ppt/slides/charts/chart5.xml" Id="Rcfa2d99ec1f04716" /><Relationship Type="http://schemas.openxmlformats.org/officeDocument/2006/relationships/notesSlide" Target="/ppt/notesSlides/notesSlide12.xml" Id="R3200de452a0d47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aa6213fc4e64b43" /><Relationship Type="http://schemas.openxmlformats.org/officeDocument/2006/relationships/notesSlide" Target="/ppt/notesSlides/notesSlide13.xml" Id="R4e7f7044f1694c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b6e27d6cb454d14" /><Relationship Type="http://schemas.openxmlformats.org/officeDocument/2006/relationships/notesSlide" Target="/ppt/notesSlides/notesSlide14.xml" Id="Rdd986c33ae3a4d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3a57e3fc0604d89" /><Relationship Type="http://schemas.openxmlformats.org/officeDocument/2006/relationships/notesSlide" Target="/ppt/notesSlides/notesSlide15.xml" Id="Rd946b51467b14cb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Clean activation restoration</c:v>
          </c:tx>
          <c:spPr>
            <a:solidFill xmlns:a="http://schemas.openxmlformats.org/drawingml/2006/main">
              <a:srgbClr val="F05A3C"/>
            </a:solidFill>
          </c:spPr>
          <c:cat>
            <c:strRef>
              <c:f>'Chart Data'!$A$2:$A$4</c:f>
              <c:strCache>
                <c:ptCount val="3"/>
                <c:pt idx="0">
                  <c:v>All visual residuals</c:v>
                </c:pt>
                <c:pt idx="1">
                  <c:v>Target-patch residuals</c:v>
                </c:pt>
                <c:pt idx="2">
                  <c:v>Isolated L19 / H10</c:v>
                </c:pt>
              </c:strCache>
            </c:strRef>
          </c:cat>
          <c:val>
            <c:numRef>
              <c:f>'Chart Data'!$B$2:$B$4</c:f>
              <c:numCache>
                <c:formatCode>General</c:formatCode>
                <c:ptCount val="3"/>
                <c:pt idx="0">
                  <c:v>1.853</c:v>
                </c:pt>
                <c:pt idx="1">
                  <c:v>1.444</c:v>
                </c:pt>
                <c:pt idx="2">
                  <c:v>0.024</c:v>
                </c:pt>
              </c:numCache>
            </c:numRef>
          </c:val>
        </c:ser>
        <c:ser>
          <c:idx val="1"/>
          <c:order val="1"/>
          <c:tx>
            <c:v>Clean-run ablation drop</c:v>
          </c:tx>
          <c:spPr>
            <a:solidFill xmlns:a="http://schemas.openxmlformats.org/drawingml/2006/main">
              <a:srgbClr val="2D84D3"/>
            </a:solidFill>
          </c:spPr>
          <c:cat>
            <c:strRef>
              <c:f>'Chart Data'!$C$2:$C$4</c:f>
              <c:strCache>
                <c:ptCount val="3"/>
                <c:pt idx="0">
                  <c:v>All visual residuals</c:v>
                </c:pt>
                <c:pt idx="1">
                  <c:v>Target-patch residuals</c:v>
                </c:pt>
                <c:pt idx="2">
                  <c:v>Isolated L19 / H10</c:v>
                </c:pt>
              </c:strCache>
            </c:strRef>
          </c:cat>
          <c:val>
            <c:numRef>
              <c:f>'Chart Data'!$D$2:$D$4</c:f>
              <c:numCache>
                <c:formatCode>General</c:formatCode>
                <c:ptCount val="3"/>
                <c:pt idx="0">
                  <c:v>0.846</c:v>
                </c:pt>
                <c:pt idx="1">
                  <c:v>1.481</c:v>
                </c:pt>
                <c:pt idx="2">
                  <c:v>0.09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Change in coordinate margin (nats)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ScreenSpot mean</c:v>
          </c:tx>
          <c:spPr>
            <a:ln xmlns:a="http://schemas.openxmlformats.org/drawingml/2006/main" w="28575">
              <a:solidFill>
                <a:srgbClr val="F05A3C"/>
              </a:solidFill>
            </a:ln>
          </c:spPr>
          <c:marker>
            <c:spPr>
              <a:solidFill xmlns:a="http://schemas.openxmlformats.org/drawingml/2006/main">
                <a:srgbClr val="F05A3C"/>
              </a:solidFill>
            </c:spPr>
          </c:marker>
          <c:cat>
            <c:strRef>
              <c:f>'Chart Data'!$A$2:$A$33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Data'!$B$2:$B$33</c:f>
              <c:numCache>
                <c:formatCode>General</c:formatCode>
                <c:ptCount val="32"/>
                <c:pt idx="0">
                  <c:v>-0.006</c:v>
                </c:pt>
                <c:pt idx="1">
                  <c:v>-0.393</c:v>
                </c:pt>
                <c:pt idx="2">
                  <c:v>-1.487</c:v>
                </c:pt>
                <c:pt idx="3">
                  <c:v>-0.266</c:v>
                </c:pt>
                <c:pt idx="4">
                  <c:v>-0.803</c:v>
                </c:pt>
                <c:pt idx="5">
                  <c:v>-0.791</c:v>
                </c:pt>
                <c:pt idx="6">
                  <c:v>0.715</c:v>
                </c:pt>
                <c:pt idx="7">
                  <c:v>0.471</c:v>
                </c:pt>
                <c:pt idx="8">
                  <c:v>0.587</c:v>
                </c:pt>
                <c:pt idx="9">
                  <c:v>0.788</c:v>
                </c:pt>
                <c:pt idx="10">
                  <c:v>0.662</c:v>
                </c:pt>
                <c:pt idx="11">
                  <c:v>0.902</c:v>
                </c:pt>
                <c:pt idx="12">
                  <c:v>0.447</c:v>
                </c:pt>
                <c:pt idx="13">
                  <c:v>-0.127</c:v>
                </c:pt>
                <c:pt idx="14">
                  <c:v>-0.307</c:v>
                </c:pt>
                <c:pt idx="15">
                  <c:v>-0.446</c:v>
                </c:pt>
                <c:pt idx="16">
                  <c:v>0.004</c:v>
                </c:pt>
                <c:pt idx="17">
                  <c:v>-0.641</c:v>
                </c:pt>
                <c:pt idx="18">
                  <c:v>-0.294</c:v>
                </c:pt>
                <c:pt idx="19">
                  <c:v>-2.074</c:v>
                </c:pt>
                <c:pt idx="20">
                  <c:v>-1.849</c:v>
                </c:pt>
                <c:pt idx="21">
                  <c:v>-2.277</c:v>
                </c:pt>
                <c:pt idx="22">
                  <c:v>-3.042</c:v>
                </c:pt>
                <c:pt idx="23">
                  <c:v>-1.442</c:v>
                </c:pt>
                <c:pt idx="24">
                  <c:v>-1.745</c:v>
                </c:pt>
                <c:pt idx="25">
                  <c:v>-1.396</c:v>
                </c:pt>
                <c:pt idx="26">
                  <c:v>-1.075</c:v>
                </c:pt>
                <c:pt idx="27">
                  <c:v>-1.243</c:v>
                </c:pt>
                <c:pt idx="28">
                  <c:v>-1.251</c:v>
                </c:pt>
                <c:pt idx="29">
                  <c:v>-1.484</c:v>
                </c:pt>
                <c:pt idx="30">
                  <c:v>1.763</c:v>
                </c:pt>
                <c:pt idx="31">
                  <c:v>1.142</c:v>
                </c:pt>
              </c:numCache>
            </c:numRef>
          </c:val>
        </c:ser>
        <c:ser>
          <c:idx val="1"/>
          <c:order val="1"/>
          <c:tx>
            <c:v>Hotel final click</c:v>
          </c:tx>
          <c:spPr>
            <a:ln xmlns:a="http://schemas.openxmlformats.org/drawingml/2006/main" w="19050">
              <a:solidFill>
                <a:srgbClr val="2D84D3"/>
              </a:solidFill>
            </a:ln>
          </c:spPr>
          <c:marker>
            <c:spPr>
              <a:solidFill xmlns:a="http://schemas.openxmlformats.org/drawingml/2006/main">
                <a:srgbClr val="2D84D3"/>
              </a:solidFill>
            </c:spPr>
          </c:marker>
          <c:cat>
            <c:strRef>
              <c:f>'Chart Data'!$C$2:$C$33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Data'!$D$2:$D$33</c:f>
              <c:numCache>
                <c:formatCode>General</c:formatCode>
                <c:ptCount val="32"/>
                <c:pt idx="0">
                  <c:v>-0.088</c:v>
                </c:pt>
                <c:pt idx="1">
                  <c:v>-0.056</c:v>
                </c:pt>
                <c:pt idx="2">
                  <c:v>0.414</c:v>
                </c:pt>
                <c:pt idx="3">
                  <c:v>0.001</c:v>
                </c:pt>
                <c:pt idx="4">
                  <c:v>-0.364</c:v>
                </c:pt>
                <c:pt idx="5">
                  <c:v>-0.082</c:v>
                </c:pt>
                <c:pt idx="6">
                  <c:v>-1.386</c:v>
                </c:pt>
                <c:pt idx="7">
                  <c:v>0.02</c:v>
                </c:pt>
                <c:pt idx="8">
                  <c:v>-0.19</c:v>
                </c:pt>
                <c:pt idx="9">
                  <c:v>-0.244</c:v>
                </c:pt>
                <c:pt idx="10">
                  <c:v>-0.213</c:v>
                </c:pt>
                <c:pt idx="11">
                  <c:v>-0.379</c:v>
                </c:pt>
                <c:pt idx="12">
                  <c:v>-0.509</c:v>
                </c:pt>
                <c:pt idx="13">
                  <c:v>-0.043</c:v>
                </c:pt>
                <c:pt idx="14">
                  <c:v>-0.011</c:v>
                </c:pt>
                <c:pt idx="15">
                  <c:v>-0.285</c:v>
                </c:pt>
                <c:pt idx="16">
                  <c:v>-0.399</c:v>
                </c:pt>
                <c:pt idx="17">
                  <c:v>0.224</c:v>
                </c:pt>
                <c:pt idx="18">
                  <c:v>-1.055</c:v>
                </c:pt>
                <c:pt idx="19">
                  <c:v>0.852</c:v>
                </c:pt>
                <c:pt idx="20">
                  <c:v>-0.512</c:v>
                </c:pt>
                <c:pt idx="21">
                  <c:v>-0.894</c:v>
                </c:pt>
                <c:pt idx="22">
                  <c:v>0.393</c:v>
                </c:pt>
                <c:pt idx="23">
                  <c:v>-0.563</c:v>
                </c:pt>
                <c:pt idx="24">
                  <c:v>-0.946</c:v>
                </c:pt>
                <c:pt idx="25">
                  <c:v>-2.441</c:v>
                </c:pt>
                <c:pt idx="26">
                  <c:v>-1.111</c:v>
                </c:pt>
                <c:pt idx="27">
                  <c:v>1.07</c:v>
                </c:pt>
                <c:pt idx="28">
                  <c:v>0.395</c:v>
                </c:pt>
                <c:pt idx="29">
                  <c:v>0.04</c:v>
                </c:pt>
                <c:pt idx="30">
                  <c:v>-0.08</c:v>
                </c:pt>
                <c:pt idx="31">
                  <c:v>0.366</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Transformer layer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Holo − Qwen margin (nats/token)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Qwen</c:v>
          </c:tx>
          <c:spPr>
            <a:solidFill xmlns:a="http://schemas.openxmlformats.org/drawingml/2006/main">
              <a:srgbClr val="2D84D3"/>
            </a:solidFill>
          </c:spPr>
          <c:cat>
            <c:strRef>
              <c:f>'Chart Data'!$A$2:$A$4</c:f>
              <c:strCache>
                <c:ptCount val="3"/>
                <c:pt idx="0">
                  <c:v>Earliest</c:v>
                </c:pt>
                <c:pt idx="1">
                  <c:v>Middle</c:v>
                </c:pt>
                <c:pt idx="2">
                  <c:v>Current</c:v>
                </c:pt>
              </c:strCache>
            </c:strRef>
          </c:cat>
          <c:val>
            <c:numRef>
              <c:f>'Chart Data'!$B$2:$B$4</c:f>
              <c:numCache>
                <c:formatCode>General</c:formatCode>
                <c:ptCount val="3"/>
                <c:pt idx="0">
                  <c:v>36.8</c:v>
                </c:pt>
                <c:pt idx="1">
                  <c:v>15</c:v>
                </c:pt>
                <c:pt idx="2">
                  <c:v>48.2</c:v>
                </c:pt>
              </c:numCache>
            </c:numRef>
          </c:val>
        </c:ser>
        <c:ser>
          <c:idx val="1"/>
          <c:order val="1"/>
          <c:tx>
            <c:v>Holo</c:v>
          </c:tx>
          <c:spPr>
            <a:solidFill xmlns:a="http://schemas.openxmlformats.org/drawingml/2006/main">
              <a:srgbClr val="F05A3C"/>
            </a:solidFill>
          </c:spPr>
          <c:cat>
            <c:strRef>
              <c:f>'Chart Data'!$C$2:$C$4</c:f>
              <c:strCache>
                <c:ptCount val="3"/>
                <c:pt idx="0">
                  <c:v>Earliest</c:v>
                </c:pt>
                <c:pt idx="1">
                  <c:v>Middle</c:v>
                </c:pt>
                <c:pt idx="2">
                  <c:v>Current</c:v>
                </c:pt>
              </c:strCache>
            </c:strRef>
          </c:cat>
          <c:val>
            <c:numRef>
              <c:f>'Chart Data'!$D$2:$D$4</c:f>
              <c:numCache>
                <c:formatCode>General</c:formatCode>
                <c:ptCount val="3"/>
                <c:pt idx="0">
                  <c:v>20.2</c:v>
                </c:pt>
                <c:pt idx="1">
                  <c:v>23</c:v>
                </c:pt>
                <c:pt idx="2">
                  <c:v>56.8</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 of image attention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b7b12a1d5c14848"/>
          <a:srcRect xmlns:a="http://schemas.openxmlformats.org/drawingml/2006/main" l="25000" t="0" r="25000" b="0"/>
          <a:stretch xmlns:a="http://schemas.openxmlformats.org/drawingml/2006/main">
            <a:fillRect l="0" t="0" r="0" b="0"/>
          </a:stretch>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43B47C-78A1-4622-BA1D-F4BC9DA2BB64}"/>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6772087-01F4-4627-A276-B793AB4B4251}"/>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8A1A4A-9F05-486A-8A06-211A9D72A818}"/>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5D4E00D-767C-4953-BFA5-8FE49E52FC54}"/>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B1418704-CF95-4288-B037-EB6E3695C620}"/>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7DCD9A12-989C-401B-B317-F82665A6F015}"/>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A2C5D2CC-7D94-4D80-860F-6C0AC7F455D9}"/>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21 Sep 2026</a:t>
            </a:r>
          </a:p>
        </p:txBody>
      </p:sp>
    </p:spTree>
    <p:extLst>
      <p:ext uri="{BB962C8B-B14F-4D97-AF65-F5344CB8AC3E}">
        <p14:creationId xmlns:p14="http://schemas.microsoft.com/office/powerpoint/2010/main" val="1547936552"/>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78DAA1DD-74AA-43C1-878A-88741418F01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2B32A8B7-A65C-45A7-A576-966A705CB27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case-study settings reveal different failure modes</a:t>
            </a:r>
          </a:p>
        </p:txBody>
      </p:sp>
      <p:sp>
        <p:nvSpPr>
          <p:cNvPr id="3" name="">
            <a:extLst xmlns:a="http://schemas.openxmlformats.org/drawingml/2006/main">
              <a:ext uri="{FF2B5EF4-FFF2-40B4-BE49-F238E27FC236}">
                <a16:creationId xmlns:a16="http://schemas.microsoft.com/office/drawing/2014/main" id="{C9386892-442A-4A6D-8274-C8365DE7BDE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247CEC9F-4E1A-4383-99A3-C77099B37C33}"/>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0F97A5A2-9BDD-4750-80B3-0E9E04C1687E}"/>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FB47E51-3D04-45F7-B95F-6A158AFA405F}"/>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829AA5B2-CD7E-4233-8CB3-F42482EEFE49}"/>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AFA7ACE3-0318-468A-9967-4FA4859C97A4}"/>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0D412763-4097-4091-A877-431521FD53F2}"/>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8A875"/>
                </a:solidFill>
                <a:latin typeface="Helvetica Neue"/>
                <a:ea typeface="Helvetica Neue"/>
                <a:cs typeface="Helvetica Neue"/>
              </a:defRPr>
            </a:pPr>
            <a:r>
              <a:rPr sz="1050" b="1">
                <a:solidFill>
                  <a:srgbClr val="18A875"/>
                </a:solidFill>
                <a:latin typeface="Helvetica Neue"/>
                <a:ea typeface="Helvetica Neue"/>
                <a:cs typeface="Helvetica Neue"/>
              </a:rPr>
              <a:t>Visual hit</a:t>
            </a:r>
          </a:p>
        </p:txBody>
      </p:sp>
      <p:sp>
        <p:nvSpPr>
          <p:cNvPr id="10" name="">
            <a:extLst xmlns:a="http://schemas.openxmlformats.org/drawingml/2006/main">
              <a:ext uri="{FF2B5EF4-FFF2-40B4-BE49-F238E27FC236}">
                <a16:creationId xmlns:a16="http://schemas.microsoft.com/office/drawing/2014/main" id="{7AF05E7E-E19C-4488-9B4C-7D1BDC4E05CD}"/>
              </a:ext>
            </a:extLst>
          </p:cNvPr>
          <p:cNvSpPr>
            <a:spLocks xmlns:a="http://schemas.openxmlformats.org/drawingml/2006/main" noGrp="1"/>
          </p:cNvSpPr>
          <p:nvPr/>
        </p:nvSpPr>
        <p:spPr>
          <a:xfrm xmlns:a="http://schemas.openxmlformats.org/drawingml/2006/main">
            <a:off x="857250" y="34099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Psychedelic vibrant</a:t>
            </a:r>
          </a:p>
        </p:txBody>
      </p:sp>
      <p:sp>
        <p:nvSpPr>
          <p:cNvPr id="11" name="">
            <a:extLst xmlns:a="http://schemas.openxmlformats.org/drawingml/2006/main">
              <a:ext uri="{FF2B5EF4-FFF2-40B4-BE49-F238E27FC236}">
                <a16:creationId xmlns:a16="http://schemas.microsoft.com/office/drawing/2014/main" id="{E93FE264-75C5-431C-8AC1-D3CB43DA92BC}"/>
              </a:ext>
            </a:extLst>
          </p:cNvPr>
          <p:cNvSpPr>
            <a:spLocks xmlns:a="http://schemas.openxmlformats.org/drawingml/2006/main" noGrp="1"/>
          </p:cNvSpPr>
          <p:nvPr/>
        </p:nvSpPr>
        <p:spPr>
          <a:xfrm xmlns:a="http://schemas.openxmlformats.org/drawingml/2006/main">
            <a:off x="3105150" y="314325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05A3C"/>
                </a:solidFill>
                <a:latin typeface="Helvetica Neue"/>
                <a:ea typeface="Helvetica Neue"/>
                <a:cs typeface="Helvetica Neue"/>
              </a:defRPr>
            </a:pPr>
            <a:r>
              <a:rPr sz="1050" b="1">
                <a:solidFill>
                  <a:srgbClr val="F05A3C"/>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3A46E655-234D-4F87-9B4D-22685F8EA9A9}"/>
              </a:ext>
            </a:extLst>
          </p:cNvPr>
          <p:cNvSpPr>
            <a:spLocks xmlns:a="http://schemas.openxmlformats.org/drawingml/2006/main" noGrp="1"/>
          </p:cNvSpPr>
          <p:nvPr/>
        </p:nvSpPr>
        <p:spPr>
          <a:xfrm xmlns:a="http://schemas.openxmlformats.org/drawingml/2006/main">
            <a:off x="3105150" y="3409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Create new slide</a:t>
            </a:r>
          </a:p>
        </p:txBody>
      </p:sp>
      <p:sp>
        <p:nvSpPr>
          <p:cNvPr id="13" name="">
            <a:extLst xmlns:a="http://schemas.openxmlformats.org/drawingml/2006/main">
              <a:ext uri="{FF2B5EF4-FFF2-40B4-BE49-F238E27FC236}">
                <a16:creationId xmlns:a16="http://schemas.microsoft.com/office/drawing/2014/main" id="{20A81698-77FB-4CD8-A9AC-4BF8A1A14431}"/>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F0FA7F0-39EC-4386-902F-64BE3632261E}"/>
              </a:ext>
            </a:extLst>
          </p:cNvPr>
          <p:cNvSpPr>
            <a:spLocks xmlns:a="http://schemas.openxmlformats.org/drawingml/2006/main" noGrp="1"/>
          </p:cNvSpPr>
          <p:nvPr/>
        </p:nvSpPr>
        <p:spPr>
          <a:xfrm xmlns:a="http://schemas.openxmlformats.org/drawingml/2006/main">
            <a:off x="857250" y="4267200"/>
            <a:ext cx="4400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These examples share PowerPoint on Windows, but use different images and prompts. They illustrate failure modes rather than form a matched causal pair.</a:t>
            </a:r>
          </a:p>
        </p:txBody>
      </p:sp>
      <p:sp>
        <p:nvSpPr>
          <p:cNvPr id="15" name="">
            <a:extLst xmlns:a="http://schemas.openxmlformats.org/drawingml/2006/main">
              <a:ext uri="{FF2B5EF4-FFF2-40B4-BE49-F238E27FC236}">
                <a16:creationId xmlns:a16="http://schemas.microsoft.com/office/drawing/2014/main" id="{F07B3FFE-7D48-4AD2-82DE-337C0CE1FBE7}"/>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21DE074-AE48-4573-BCF8-E72257FC7020}"/>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6F9143C-E329-46A7-91FB-1EF6EE985E39}"/>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8" name="">
            <a:extLst xmlns:a="http://schemas.openxmlformats.org/drawingml/2006/main">
              <a:ext uri="{FF2B5EF4-FFF2-40B4-BE49-F238E27FC236}">
                <a16:creationId xmlns:a16="http://schemas.microsoft.com/office/drawing/2014/main" id="{868BFB5E-D183-4F5E-8C2C-479B41E3608A}"/>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9" name="">
            <a:extLst xmlns:a="http://schemas.openxmlformats.org/drawingml/2006/main">
              <a:ext uri="{FF2B5EF4-FFF2-40B4-BE49-F238E27FC236}">
                <a16:creationId xmlns:a16="http://schemas.microsoft.com/office/drawing/2014/main" id="{FF04E14C-D23D-491D-A559-E81F74C051B9}"/>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every earlier screenshot</a:t>
            </a:r>
          </a:p>
        </p:txBody>
      </p:sp>
      <p:sp>
        <p:nvSpPr>
          <p:cNvPr id="20" name="">
            <a:extLst xmlns:a="http://schemas.openxmlformats.org/drawingml/2006/main">
              <a:ext uri="{FF2B5EF4-FFF2-40B4-BE49-F238E27FC236}">
                <a16:creationId xmlns:a16="http://schemas.microsoft.com/office/drawing/2014/main" id="{D97CBBCD-399F-4205-BC7A-42DF984ED6F6}"/>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975BAB9-437F-4747-A623-30AEE70DC63B}"/>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2" name="">
            <a:extLst xmlns:a="http://schemas.openxmlformats.org/drawingml/2006/main">
              <a:ext uri="{FF2B5EF4-FFF2-40B4-BE49-F238E27FC236}">
                <a16:creationId xmlns:a16="http://schemas.microsoft.com/office/drawing/2014/main" id="{0DE8988F-1E70-4D6A-9B47-3373A09A5DC9}"/>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3" name="">
            <a:extLst xmlns:a="http://schemas.openxmlformats.org/drawingml/2006/main">
              <a:ext uri="{FF2B5EF4-FFF2-40B4-BE49-F238E27FC236}">
                <a16:creationId xmlns:a16="http://schemas.microsoft.com/office/drawing/2014/main" id="{36562434-036E-43A3-A79F-3DFD197973F0}"/>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4" name="">
            <a:extLst xmlns:a="http://schemas.openxmlformats.org/drawingml/2006/main">
              <a:ext uri="{FF2B5EF4-FFF2-40B4-BE49-F238E27FC236}">
                <a16:creationId xmlns:a16="http://schemas.microsoft.com/office/drawing/2014/main" id="{8451E85E-EE2C-4F4C-9609-0B65DEE159B5}"/>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DEE672C-91A4-4F93-B279-7C3870BEB892}"/>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6" name="">
            <a:extLst xmlns:a="http://schemas.openxmlformats.org/drawingml/2006/main">
              <a:ext uri="{FF2B5EF4-FFF2-40B4-BE49-F238E27FC236}">
                <a16:creationId xmlns:a16="http://schemas.microsoft.com/office/drawing/2014/main" id="{1C7E2A61-3BEA-4416-ADD8-6050742C9DA5}"/>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7" name="">
            <a:extLst xmlns:a="http://schemas.openxmlformats.org/drawingml/2006/main">
              <a:ext uri="{FF2B5EF4-FFF2-40B4-BE49-F238E27FC236}">
                <a16:creationId xmlns:a16="http://schemas.microsoft.com/office/drawing/2014/main" id="{11A76164-6A08-4EF5-8EC8-51099AC518D3}"/>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8" name="">
            <a:extLst xmlns:a="http://schemas.openxmlformats.org/drawingml/2006/main">
              <a:ext uri="{FF2B5EF4-FFF2-40B4-BE49-F238E27FC236}">
                <a16:creationId xmlns:a16="http://schemas.microsoft.com/office/drawing/2014/main" id="{836AD957-170C-4A6E-B7ED-4C22A7069183}"/>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DEECFE7-8D44-4ACF-8F82-82E84A6E8AA8}"/>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30" name="">
            <a:extLst xmlns:a="http://schemas.openxmlformats.org/drawingml/2006/main">
              <a:ext uri="{FF2B5EF4-FFF2-40B4-BE49-F238E27FC236}">
                <a16:creationId xmlns:a16="http://schemas.microsoft.com/office/drawing/2014/main" id="{394A7E10-501E-4264-9B8F-D4C6BE5F8932}"/>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31" name="">
            <a:extLst xmlns:a="http://schemas.openxmlformats.org/drawingml/2006/main">
              <a:ext uri="{FF2B5EF4-FFF2-40B4-BE49-F238E27FC236}">
                <a16:creationId xmlns:a16="http://schemas.microsoft.com/office/drawing/2014/main" id="{BAD3ADD8-A72D-4EAE-B6E4-42551ED70572}"/>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2" name="">
            <a:extLst xmlns:a="http://schemas.openxmlformats.org/drawingml/2006/main">
              <a:ext uri="{FF2B5EF4-FFF2-40B4-BE49-F238E27FC236}">
                <a16:creationId xmlns:a16="http://schemas.microsoft.com/office/drawing/2014/main" id="{56EE6DC1-813D-438F-9569-9D4DB9FC8B18}"/>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996ACB9-AF41-4C5C-9D44-AD5B127FF6DC}"/>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4" name="">
            <a:extLst xmlns:a="http://schemas.openxmlformats.org/drawingml/2006/main">
              <a:ext uri="{FF2B5EF4-FFF2-40B4-BE49-F238E27FC236}">
                <a16:creationId xmlns:a16="http://schemas.microsoft.com/office/drawing/2014/main" id="{F794E866-17D5-4673-A771-8DFB9A16EB22}"/>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5" name="">
            <a:extLst xmlns:a="http://schemas.openxmlformats.org/drawingml/2006/main">
              <a:ext uri="{FF2B5EF4-FFF2-40B4-BE49-F238E27FC236}">
                <a16:creationId xmlns:a16="http://schemas.microsoft.com/office/drawing/2014/main" id="{4E8BE434-4C85-4C84-829E-77A88F3202E7}"/>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F2BDAF"/>
                </a:solidFill>
                <a:latin typeface="Helvetica Neue"/>
                <a:ea typeface="Helvetica Neue"/>
                <a:cs typeface="Helvetica Neue"/>
              </a:defRPr>
            </a:pPr>
            <a:r>
              <a:rPr sz="1125" b="1">
                <a:solidFill>
                  <a:srgbClr val="F2BDAF"/>
                </a:solidFill>
                <a:latin typeface="Helvetica Neue"/>
                <a:ea typeface="Helvetica Neue"/>
                <a:cs typeface="Helvetica Neue"/>
              </a:rPr>
              <a:t>miss</a:t>
            </a:r>
          </a:p>
        </p:txBody>
      </p:sp>
      <p:sp>
        <p:nvSpPr>
          <p:cNvPr id="36" name="">
            <a:extLst xmlns:a="http://schemas.openxmlformats.org/drawingml/2006/main">
              <a:ext uri="{FF2B5EF4-FFF2-40B4-BE49-F238E27FC236}">
                <a16:creationId xmlns:a16="http://schemas.microsoft.com/office/drawing/2014/main" id="{0C05430F-DF96-4C05-9543-BB2AD7C50A5E}"/>
              </a:ext>
            </a:extLst>
          </p:cNvPr>
          <p:cNvSpPr>
            <a:spLocks xmlns:a="http://schemas.openxmlformats.org/drawingml/2006/main" noGrp="1"/>
          </p:cNvSpPr>
          <p:nvPr/>
        </p:nvSpPr>
        <p:spPr>
          <a:xfrm xmlns:a="http://schemas.openxmlformats.org/drawingml/2006/main">
            <a:off x="6477000" y="5286375"/>
            <a:ext cx="436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C7BC"/>
                </a:solidFill>
                <a:latin typeface="Helvetica Neue"/>
                <a:ea typeface="Helvetica Neue"/>
                <a:cs typeface="Helvetica Neue"/>
              </a:defRPr>
            </a:pPr>
            <a:r>
              <a:rPr sz="1125" b="1">
                <a:solidFill>
                  <a:srgbClr val="F0C7BC"/>
                </a:solidFill>
                <a:latin typeface="Helvetica Neue"/>
                <a:ea typeface="Helvetica Neue"/>
                <a:cs typeface="Helvetica Neue"/>
              </a:rPr>
              <a:t>Target: Signal Quay Rooms at $172</a:t>
            </a:r>
          </a:p>
        </p:txBody>
      </p:sp>
      <p:sp>
        <p:nvSpPr>
          <p:cNvPr id="37" name="">
            <a:extLst xmlns:a="http://schemas.openxmlformats.org/drawingml/2006/main">
              <a:ext uri="{FF2B5EF4-FFF2-40B4-BE49-F238E27FC236}">
                <a16:creationId xmlns:a16="http://schemas.microsoft.com/office/drawing/2014/main" id="{F7FF2B3B-FD89-45A4-B87A-8C85C62AA1F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AD1BEBE-3A41-4949-A44A-20970CF24B9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ScreenSpot-Pro supplies real GUI cases · the deterministic hotel fixture supplies replayable trajectories</a:t>
            </a:r>
          </a:p>
        </p:txBody>
      </p:sp>
    </p:spTree>
    <p:extLst>
      <p:ext uri="{BB962C8B-B14F-4D97-AF65-F5344CB8AC3E}">
        <p14:creationId xmlns:p14="http://schemas.microsoft.com/office/powerpoint/2010/main" val="2076915099"/>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B4AC0D3-8C85-49DC-9A86-04362E96C0A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79197B81-5991-41C8-B7BC-EB8D0FBE740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6C79503A-4E10-47D9-90E6-177F1EF4E98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95683E50-BCFE-41FB-BD2F-5D94C0EBCB76}"/>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A1269B3A-5800-4499-B5B0-E2A0ABCF863E}"/>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93CA430A-C682-4667-BA4E-B20D0CFC71F9}"/>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BA2021C8-9BEB-4B4F-A4CE-7E1C2B69084C}"/>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E7CA681E-055C-4615-9C85-112A86FD1BA8}"/>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AA147F43-21F3-4591-8F93-5E1ED6708945}"/>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0B077C91-3039-4A93-A5B3-38F165B58D16}"/>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A5ABD5D-966C-4678-A2DD-A66B127F6DD6}"/>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5badc191b1214d48"/>
          </a:graphicData>
        </a:graphic>
      </p:graphicFrame>
      <p:sp>
        <p:nvSpPr>
          <p:cNvPr id="13" name="">
            <a:extLst xmlns:a="http://schemas.openxmlformats.org/drawingml/2006/main">
              <a:ext uri="{FF2B5EF4-FFF2-40B4-BE49-F238E27FC236}">
                <a16:creationId xmlns:a16="http://schemas.microsoft.com/office/drawing/2014/main" id="{56E841CA-5567-40CE-806E-C24C965442AC}"/>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DA71D9FF-A270-4AA2-94A6-D5252217CE75}"/>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2A3FE1E8-6AC6-456A-A7FD-F5BA34A1E6F0}"/>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87B0AFE-CD97-4102-9F1F-049A3B608087}"/>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6C92D7E8-82C8-4D9A-BF69-60DCEF5EB488}"/>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677EBDC4-8966-44BB-95F7-E7F1E9DA0431}"/>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D0BDF001-E442-4989-96D1-84F555B70C0C}"/>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20AD18B0-BFB7-4CC9-9220-1D391F0D1AAE}"/>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33437BE5-D657-45AD-B955-74832542B333}"/>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350F2DEE-0D73-4AE1-A308-AC4168E5AF36}"/>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EE6FF6FD-D0AE-4FAE-8500-0D107375F8F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A636825-E185-48B4-A5BB-15FF65D28DD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737339928"/>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E083360-9D78-4FD1-9A9A-A73F27F4261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494491F0-D3A4-4351-957B-DEDBEDA8751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15EFF5BB-4E54-4E71-A12D-4DF58651591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83B61499-C621-4022-871E-5CCB28EE9484}"/>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E46EA2DF-6618-4502-A100-7460A8B67BB4}"/>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f858026f5a294a12"/>
          </a:graphicData>
        </a:graphic>
      </p:graphicFrame>
      <p:sp>
        <p:nvSpPr>
          <p:cNvPr id="7" name="">
            <a:extLst xmlns:a="http://schemas.openxmlformats.org/drawingml/2006/main">
              <a:ext uri="{FF2B5EF4-FFF2-40B4-BE49-F238E27FC236}">
                <a16:creationId xmlns:a16="http://schemas.microsoft.com/office/drawing/2014/main" id="{62C5AE37-EAA8-4D48-93CA-9BB8AC76E2E1}"/>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CC7B422-94AF-4810-896A-9F2A3560E81A}"/>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5B46D9F1-2134-4778-92C5-F97152F877F2}"/>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4D628F6B-A103-453A-9812-E39EBB19E642}"/>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6F2135FC-FB06-46B1-A259-8C3486DC4974}"/>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24F9EB4-D18F-45F3-A456-CDC158A9350D}"/>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CC1E36F7-C825-4796-A232-E34D4B863959}"/>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BB7B677B-4047-474D-9789-4C85BBCD4CAB}"/>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659C294B-45AC-46FA-A855-D99EF3FA5B80}"/>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3DBABF1D-BCAB-473C-9FFC-82C016864888}"/>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6D2630B-94A4-486E-BDC9-B7791D77E3B2}"/>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8574CEDD-0EEF-4AFC-BEC6-A7158139269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5A9A0C8-2D63-47DE-B366-51FFCC115C3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1531078422"/>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1CEA1DE-7FCD-4153-818A-F0AF987C902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CALCULATION</a:t>
            </a:r>
          </a:p>
        </p:txBody>
      </p:sp>
      <p:sp>
        <p:nvSpPr>
          <p:cNvPr id="2" name="">
            <a:extLst xmlns:a="http://schemas.openxmlformats.org/drawingml/2006/main">
              <a:ext uri="{FF2B5EF4-FFF2-40B4-BE49-F238E27FC236}">
                <a16:creationId xmlns:a16="http://schemas.microsoft.com/office/drawing/2014/main" id="{B110E3AD-40BD-4586-8B7C-B9E611229F0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40746B35-3255-4574-96BC-ED0FFAA0988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70340743-1661-4848-89E9-4083017BD22E}"/>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ABE39CD5-FA91-424C-9138-EFC5AA014A30}"/>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19F42018-15C6-450E-B4C9-39747AA5E4F6}"/>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0ADD92C-1CAB-4EAF-8B54-44EEC2BC63EC}"/>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584A1588-C8AA-40CA-98E1-A57B69C51CDA}"/>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A0A31771-A1C6-41D9-B2EF-B02A915D820A}"/>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01067C9-C317-4A5D-8C77-6ADB685433BF}"/>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1CA90D64-68E5-4EC9-94C7-177DFE3A99DD}"/>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Suppress high attention paths carrying little value signal</a:t>
            </a:r>
          </a:p>
        </p:txBody>
      </p:sp>
      <p:sp>
        <p:nvSpPr>
          <p:cNvPr id="12" name="">
            <a:extLst xmlns:a="http://schemas.openxmlformats.org/drawingml/2006/main">
              <a:ext uri="{FF2B5EF4-FFF2-40B4-BE49-F238E27FC236}">
                <a16:creationId xmlns:a16="http://schemas.microsoft.com/office/drawing/2014/main" id="{F21D5C91-E90E-4973-BFA1-94DE164B4701}"/>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05101C78-98B5-4F02-868D-94AED272D76B}"/>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41B3EBD-AFD1-4101-B51D-296B01889916}"/>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72D41D8B-25F2-467D-B6B1-8E750299AB9F}"/>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FB2CF88A-477E-40D9-A37C-10511366ED65}"/>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3608E81-171E-4962-9CE1-14D8EA01DE1F}"/>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696C8385-D220-4D58-9822-FF6694CA9C5F}"/>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8 captured full-attention blocks with residual flow</a:t>
            </a:r>
          </a:p>
        </p:txBody>
      </p:sp>
      <p:sp>
        <p:nvSpPr>
          <p:cNvPr id="19" name="">
            <a:extLst xmlns:a="http://schemas.openxmlformats.org/drawingml/2006/main">
              <a:ext uri="{FF2B5EF4-FFF2-40B4-BE49-F238E27FC236}">
                <a16:creationId xmlns:a16="http://schemas.microsoft.com/office/drawing/2014/main" id="{7444EDCC-570C-4E3E-90FC-27D96D2EF00D}"/>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623C0229-007B-43B0-B416-F5CEA4DD1389}"/>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BA0F7E7-0FF1-4A02-BD8C-EA2E36435D3D}"/>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7F3AF4B5-B5B8-451C-95D0-335B8E4B482D}"/>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 PARAMETER</a:t>
            </a:r>
          </a:p>
        </p:txBody>
      </p:sp>
      <p:sp>
        <p:nvSpPr>
          <p:cNvPr id="23" name="">
            <a:extLst xmlns:a="http://schemas.openxmlformats.org/drawingml/2006/main">
              <a:ext uri="{FF2B5EF4-FFF2-40B4-BE49-F238E27FC236}">
                <a16:creationId xmlns:a16="http://schemas.microsoft.com/office/drawing/2014/main" id="{8FDD31CE-0A20-42A0-9F29-A25024983CF7}"/>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E4F4E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78C49F3-880F-4986-B370-9EFF5F6EB1F4}"/>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88E5581F-7C92-42EF-B1EA-22187207126C}"/>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x/y value-token maps; token length cannot inflate a parameter</a:t>
            </a:r>
          </a:p>
        </p:txBody>
      </p:sp>
      <p:sp>
        <p:nvSpPr>
          <p:cNvPr id="26" name="">
            <a:extLst xmlns:a="http://schemas.openxmlformats.org/drawingml/2006/main">
              <a:ext uri="{FF2B5EF4-FFF2-40B4-BE49-F238E27FC236}">
                <a16:creationId xmlns:a16="http://schemas.microsoft.com/office/drawing/2014/main" id="{9DB47814-5189-4CC4-91B4-4F5AD61E5320}"/>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Two baselines ask different questions</a:t>
            </a:r>
          </a:p>
        </p:txBody>
      </p:sp>
      <p:sp>
        <p:nvSpPr>
          <p:cNvPr id="27" name="">
            <a:extLst xmlns:a="http://schemas.openxmlformats.org/drawingml/2006/main">
              <a:ext uri="{FF2B5EF4-FFF2-40B4-BE49-F238E27FC236}">
                <a16:creationId xmlns:a16="http://schemas.microsoft.com/office/drawing/2014/main" id="{F272D55C-EFE4-48F4-B5C7-33C584E9FC23}"/>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428B622-A61C-4F32-BD59-BC60994916B3}"/>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CAUSAL PREVIOUS-TOKEN</a:t>
            </a:r>
          </a:p>
        </p:txBody>
      </p:sp>
      <p:sp>
        <p:nvSpPr>
          <p:cNvPr id="29" name="">
            <a:extLst xmlns:a="http://schemas.openxmlformats.org/drawingml/2006/main">
              <a:ext uri="{FF2B5EF4-FFF2-40B4-BE49-F238E27FC236}">
                <a16:creationId xmlns:a16="http://schemas.microsoft.com/office/drawing/2014/main" id="{6CF5A372-1612-4F3A-A002-3BDAC90A3F86}"/>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Dtoken = M(x,y) − mean(M(s &lt; start(x)))</a:t>
            </a:r>
          </a:p>
        </p:txBody>
      </p:sp>
      <p:sp>
        <p:nvSpPr>
          <p:cNvPr id="30" name="">
            <a:extLst xmlns:a="http://schemas.openxmlformats.org/drawingml/2006/main">
              <a:ext uri="{FF2B5EF4-FFF2-40B4-BE49-F238E27FC236}">
                <a16:creationId xmlns:a16="http://schemas.microsoft.com/office/drawing/2014/main" id="{FEBE4276-FD65-457E-B330-0F1F1EBDDAC2}"/>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What is above the generation state already present before the coordinate sequence?</a:t>
            </a:r>
          </a:p>
        </p:txBody>
      </p:sp>
      <p:sp>
        <p:nvSpPr>
          <p:cNvPr id="31" name="">
            <a:extLst xmlns:a="http://schemas.openxmlformats.org/drawingml/2006/main">
              <a:ext uri="{FF2B5EF4-FFF2-40B4-BE49-F238E27FC236}">
                <a16:creationId xmlns:a16="http://schemas.microsoft.com/office/drawing/2014/main" id="{953D4C63-7B79-4213-946E-DE75E2E1ABD2}"/>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3C8D760F-B24E-492D-80A1-19BD74CD6DA5}"/>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SAME-IMAGE INSTRUCTION ENSEMBLE</a:t>
            </a:r>
          </a:p>
        </p:txBody>
      </p:sp>
      <p:sp>
        <p:nvSpPr>
          <p:cNvPr id="33" name="">
            <a:extLst xmlns:a="http://schemas.openxmlformats.org/drawingml/2006/main">
              <a:ext uri="{FF2B5EF4-FFF2-40B4-BE49-F238E27FC236}">
                <a16:creationId xmlns:a16="http://schemas.microsoft.com/office/drawing/2014/main" id="{519BCFD8-A33A-48C4-9D96-F9A17DC6CA0F}"/>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Dprompt = Mtarget − mean(Mcontrol,k)</a:t>
            </a:r>
          </a:p>
        </p:txBody>
      </p:sp>
      <p:sp>
        <p:nvSpPr>
          <p:cNvPr id="34" name="">
            <a:extLst xmlns:a="http://schemas.openxmlformats.org/drawingml/2006/main">
              <a:ext uri="{FF2B5EF4-FFF2-40B4-BE49-F238E27FC236}">
                <a16:creationId xmlns:a16="http://schemas.microsoft.com/office/drawing/2014/main" id="{7CF0DC30-D051-4F2F-8560-4116850F4EC8}"/>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is specific to this instruction after subtracting inherent image saliency?</a:t>
            </a:r>
          </a:p>
        </p:txBody>
      </p:sp>
      <p:sp>
        <p:nvSpPr>
          <p:cNvPr id="35" name="">
            <a:extLst xmlns:a="http://schemas.openxmlformats.org/drawingml/2006/main">
              <a:ext uri="{FF2B5EF4-FFF2-40B4-BE49-F238E27FC236}">
                <a16:creationId xmlns:a16="http://schemas.microsoft.com/office/drawing/2014/main" id="{2EFC8E0D-BFAC-4F6C-8598-96F5D162F26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9946273-A85F-48D2-951A-BC50DAB61C8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spatially uniform residual mass.</a:t>
            </a:r>
          </a:p>
        </p:txBody>
      </p:sp>
    </p:spTree>
    <p:extLst>
      <p:ext uri="{BB962C8B-B14F-4D97-AF65-F5344CB8AC3E}">
        <p14:creationId xmlns:p14="http://schemas.microsoft.com/office/powerpoint/2010/main" val="1230370419"/>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8885FB8-1CAD-4C47-B9E4-8AF7F4FADA8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4CF837C5-E54D-4318-B1D3-835D9238A63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Same action, different task-specific maps</a:t>
            </a:r>
          </a:p>
        </p:txBody>
      </p:sp>
      <p:sp>
        <p:nvSpPr>
          <p:cNvPr id="3" name="">
            <a:extLst xmlns:a="http://schemas.openxmlformats.org/drawingml/2006/main">
              <a:ext uri="{FF2B5EF4-FFF2-40B4-BE49-F238E27FC236}">
                <a16:creationId xmlns:a16="http://schemas.microsoft.com/office/drawing/2014/main" id="{971CD721-D96D-4647-BE8B-28A607A3A7B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CB542CB4-ED76-49DB-92A9-1D7ECE81EF3E}"/>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CDBE1177-891D-4EF1-9E50-98E6CC6BD3B4}"/>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F2EC83D-4D18-4EBB-9C32-2B5B7E6443F7}"/>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3E5AF731-6EE7-429D-A226-04B9FAD4DE43}"/>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CAUSAL PRIOR-TOKEN SUBTRACTION</a:t>
            </a:r>
          </a:p>
        </p:txBody>
      </p:sp>
      <p:sp>
        <p:nvSpPr>
          <p:cNvPr id="8" name="">
            <a:extLst xmlns:a="http://schemas.openxmlformats.org/drawingml/2006/main">
              <a:ext uri="{FF2B5EF4-FFF2-40B4-BE49-F238E27FC236}">
                <a16:creationId xmlns:a16="http://schemas.microsoft.com/office/drawing/2014/main" id="{BFEC507C-A591-4ECB-A2EA-EB7E84B77DDF}"/>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d64568d95e8a4686"/>
          <a:srcRect xmlns:a="http://schemas.openxmlformats.org/drawingml/2006/main" l="0" t="1625" r="0" b="1625"/>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D47F1246-84B9-4438-B07E-C45C92640C10}"/>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318e0b0f48b4e9c"/>
          <a:srcRect xmlns:a="http://schemas.openxmlformats.org/drawingml/2006/main" l="0" t="1625" r="0" b="1625"/>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D368D5A9-AD01-467F-9D6D-4C35BC98D67C}"/>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1ED9DA28-533F-44DB-AB2A-CDC802801AAE}"/>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493E369-5E13-433E-A252-A8EB250713E2}"/>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169× target lift</a:t>
            </a:r>
          </a:p>
        </p:txBody>
      </p:sp>
      <p:sp>
        <p:nvSpPr>
          <p:cNvPr id="15" name="">
            <a:extLst xmlns:a="http://schemas.openxmlformats.org/drawingml/2006/main">
              <a:ext uri="{FF2B5EF4-FFF2-40B4-BE49-F238E27FC236}">
                <a16:creationId xmlns:a16="http://schemas.microsoft.com/office/drawing/2014/main" id="{6196A9A0-D50B-4662-BC7B-D9C0C6784A20}"/>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6.8% of positive residual mass</a:t>
            </a:r>
          </a:p>
        </p:txBody>
      </p:sp>
      <p:sp>
        <p:nvSpPr>
          <p:cNvPr id="16" name="">
            <a:extLst xmlns:a="http://schemas.openxmlformats.org/drawingml/2006/main">
              <a:ext uri="{FF2B5EF4-FFF2-40B4-BE49-F238E27FC236}">
                <a16:creationId xmlns:a16="http://schemas.microsoft.com/office/drawing/2014/main" id="{D5EC48DA-1B77-419B-9909-9AB721EA4AAC}"/>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D6D0FBC-40AB-46CA-A4A6-ED1A05DD06D0}"/>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095C4760-7EC5-45B2-A51F-A121E860E3CA}"/>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18.6% · LOO ≥0.991</a:t>
            </a:r>
          </a:p>
        </p:txBody>
      </p:sp>
      <p:sp>
        <p:nvSpPr>
          <p:cNvPr id="19" name="">
            <a:extLst xmlns:a="http://schemas.openxmlformats.org/drawingml/2006/main">
              <a:ext uri="{FF2B5EF4-FFF2-40B4-BE49-F238E27FC236}">
                <a16:creationId xmlns:a16="http://schemas.microsoft.com/office/drawing/2014/main" id="{8A387CF7-4B4A-4BED-9880-A973B5B041A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C3C88A4-9E63-456E-A36E-2B3CA4244EA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Value-norm rollout first · native 2880×1800 → 56×90 merged grid · only the baseline changes</a:t>
            </a:r>
          </a:p>
        </p:txBody>
      </p:sp>
    </p:spTree>
    <p:extLst>
      <p:ext uri="{BB962C8B-B14F-4D97-AF65-F5344CB8AC3E}">
        <p14:creationId xmlns:p14="http://schemas.microsoft.com/office/powerpoint/2010/main" val="71289388"/>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08BC68E-B079-454A-84A1-2457EE90B02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E4943E67-E78D-4664-AAC8-A6B9C83D1BA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12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Grounding signal reaches the target; pointer readout falls outside</a:t>
            </a:r>
          </a:p>
        </p:txBody>
      </p:sp>
      <p:sp>
        <p:nvSpPr>
          <p:cNvPr id="3" name="">
            <a:extLst xmlns:a="http://schemas.openxmlformats.org/drawingml/2006/main">
              <a:ext uri="{FF2B5EF4-FFF2-40B4-BE49-F238E27FC236}">
                <a16:creationId xmlns:a16="http://schemas.microsoft.com/office/drawing/2014/main" id="{22EC0DD5-F49B-4ADF-8854-C14740F0AD5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91BEC966-BE13-45D3-A894-E7CBBF8B6D6A}"/>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DA7F7DAD-09E6-4A1B-95D2-AC9B3B386A79}"/>
              </a:ext>
            </a:extLst>
          </p:cNvPr>
          <p:cNvSpPr>
            <a:spLocks xmlns:a="http://schemas.openxmlformats.org/drawingml/2006/main" noGrp="1"/>
          </p:cNvSpPr>
          <p:nvPr/>
        </p:nvSpPr>
        <p:spPr>
          <a:xfrm xmlns:a="http://schemas.openxmlformats.org/drawingml/2006/main">
            <a:off x="8153400" y="1104900"/>
            <a:ext cx="34290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147F7CA-901D-44B2-BB1E-5F899C0B7CEE}"/>
              </a:ext>
            </a:extLst>
          </p:cNvPr>
          <p:cNvSpPr>
            <a:spLocks xmlns:a="http://schemas.openxmlformats.org/drawingml/2006/main" noGrp="1"/>
          </p:cNvSpPr>
          <p:nvPr/>
        </p:nvSpPr>
        <p:spPr>
          <a:xfrm xmlns:a="http://schemas.openxmlformats.org/drawingml/2006/main">
            <a:off x="8248650" y="1123950"/>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CONTROLS</a:t>
            </a:r>
          </a:p>
        </p:txBody>
      </p:sp>
      <p:sp>
        <p:nvSpPr>
          <p:cNvPr id="7" name="">
            <a:extLst xmlns:a="http://schemas.openxmlformats.org/drawingml/2006/main">
              <a:ext uri="{FF2B5EF4-FFF2-40B4-BE49-F238E27FC236}">
                <a16:creationId xmlns:a16="http://schemas.microsoft.com/office/drawing/2014/main" id="{BA9374BA-398F-4AA9-96F1-7EB8BF676F91}"/>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DIVERSE-INSTRUCTION BASELINE</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b443f847e5554446"/>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ADE92F13-8973-46B7-A10C-59C13F804C5B}"/>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F5424039-20F1-47F5-9CBF-4FB60140D3CE}"/>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6A2844E-F282-4411-A096-6065C8A25E7D}"/>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97DB3C5-5DD4-4C70-A6CC-8ED94B01DC38}"/>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803E462F-2327-42D6-B598-89AF2993F2A4}"/>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2CA0C29A-74AE-4D61-B176-4C1796442AEF}"/>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3DF8226F-2C85-493D-BF77-328EBF12DE0F}"/>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557DC6F-745C-412A-A1E9-A1C56B5D0E76}"/>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4D24A8F6-A915-4BCC-81FC-264A0E45E742}"/>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9CB8C9E1-6402-40A5-9D4A-CF5EA6709A2B}"/>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DD4308FF-6AAA-443A-BB83-49BB012FB941}"/>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D5ECA762-AA66-4D84-A11E-73846CD9AF3D}"/>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CF5A5633-BEDD-496B-AEA3-406BC7469573}"/>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F4DD1640-2A65-4A4C-B18D-CBE7E549D209}"/>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EA31A753-6910-4D2E-BF0D-21CC116DAE78}"/>
              </a:ext>
            </a:extLst>
          </p:cNvPr>
          <p:cNvSpPr>
            <a:spLocks xmlns:a="http://schemas.openxmlformats.org/drawingml/2006/main" noGrp="1"/>
          </p:cNvSpPr>
          <p:nvPr/>
        </p:nvSpPr>
        <p:spPr>
          <a:xfrm xmlns:a="http://schemas.openxmlformats.org/drawingml/2006/main">
            <a:off x="8724900" y="53530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The routing map and final action disagree at the benchmark boundary.</a:t>
            </a:r>
          </a:p>
        </p:txBody>
      </p:sp>
      <p:sp>
        <p:nvSpPr>
          <p:cNvPr id="24" name="">
            <a:extLst xmlns:a="http://schemas.openxmlformats.org/drawingml/2006/main">
              <a:ext uri="{FF2B5EF4-FFF2-40B4-BE49-F238E27FC236}">
                <a16:creationId xmlns:a16="http://schemas.microsoft.com/office/drawing/2014/main" id="{96FF0274-E80F-4BC0-8055-6E70C9AE04B5}"/>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5" name="">
            <a:extLst xmlns:a="http://schemas.openxmlformats.org/drawingml/2006/main">
              <a:ext uri="{FF2B5EF4-FFF2-40B4-BE49-F238E27FC236}">
                <a16:creationId xmlns:a16="http://schemas.microsoft.com/office/drawing/2014/main" id="{945FC266-8EC0-4A40-B987-6D3D7638B4A7}"/>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6" name="">
            <a:extLst xmlns:a="http://schemas.openxmlformats.org/drawingml/2006/main">
              <a:ext uri="{FF2B5EF4-FFF2-40B4-BE49-F238E27FC236}">
                <a16:creationId xmlns:a16="http://schemas.microsoft.com/office/drawing/2014/main" id="{2164CE3F-30DB-410C-920E-3B7EB310880D}"/>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7" name="">
            <a:extLst xmlns:a="http://schemas.openxmlformats.org/drawingml/2006/main">
              <a:ext uri="{FF2B5EF4-FFF2-40B4-BE49-F238E27FC236}">
                <a16:creationId xmlns:a16="http://schemas.microsoft.com/office/drawing/2014/main" id="{B7ECBB6A-A14E-4B17-8841-EE695A75229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F67024D-06B1-465A-A03E-0B494AD2AB1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1487693866"/>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1234C5E-6852-46CC-AA14-CB20FC15440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DESCRIPTIVE ATTRIBUTION</a:t>
            </a:r>
          </a:p>
        </p:txBody>
      </p:sp>
      <p:sp>
        <p:nvSpPr>
          <p:cNvPr id="2" name="">
            <a:extLst xmlns:a="http://schemas.openxmlformats.org/drawingml/2006/main">
              <a:ext uri="{FF2B5EF4-FFF2-40B4-BE49-F238E27FC236}">
                <a16:creationId xmlns:a16="http://schemas.microsoft.com/office/drawing/2014/main" id="{422C5C49-D20D-46C4-BDDB-9A8A093EC00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action path resolves onto the cheapest button</a:t>
            </a:r>
          </a:p>
        </p:txBody>
      </p:sp>
      <p:sp>
        <p:nvSpPr>
          <p:cNvPr id="3" name="">
            <a:extLst xmlns:a="http://schemas.openxmlformats.org/drawingml/2006/main">
              <a:ext uri="{FF2B5EF4-FFF2-40B4-BE49-F238E27FC236}">
                <a16:creationId xmlns:a16="http://schemas.microsoft.com/office/drawing/2014/main" id="{67C724D8-21F7-4B7C-8CCD-EFE6156FA4D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DD6465BD-14EF-4EE9-AAB6-B2FF91FD2FFC}"/>
              </a:ext>
            </a:extLst>
          </p:cNvPr>
          <p:cNvSpPr>
            <a:spLocks xmlns:a="http://schemas.openxmlformats.org/drawingml/2006/main" noGrp="1"/>
          </p:cNvSpPr>
          <p:nvPr/>
        </p:nvSpPr>
        <p:spPr>
          <a:xfrm xmlns:a="http://schemas.openxmlformats.org/drawingml/2006/main">
            <a:off x="609600" y="1162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Value-norm target minus 4 same-history alternate instructions on teacher-forced x/y tokens</a:t>
            </a:r>
          </a:p>
        </p:txBody>
      </p:sp>
      <p:sp>
        <p:nvSpPr>
          <p:cNvPr id="5" name="">
            <a:extLst xmlns:a="http://schemas.openxmlformats.org/drawingml/2006/main">
              <a:ext uri="{FF2B5EF4-FFF2-40B4-BE49-F238E27FC236}">
                <a16:creationId xmlns:a16="http://schemas.microsoft.com/office/drawing/2014/main" id="{3A838C94-66A4-4BB9-9436-DE89CFFDD1F2}"/>
              </a:ext>
            </a:extLst>
          </p:cNvPr>
          <p:cNvSpPr>
            <a:spLocks xmlns:a="http://schemas.openxmlformats.org/drawingml/2006/main" noGrp="1"/>
          </p:cNvSpPr>
          <p:nvPr/>
        </p:nvSpPr>
        <p:spPr>
          <a:xfrm xmlns:a="http://schemas.openxmlformats.org/drawingml/2006/main">
            <a:off x="9525000" y="1133475"/>
            <a:ext cx="20574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0B81D59-3642-4E18-860D-ED3B531D7BA7}"/>
              </a:ext>
            </a:extLst>
          </p:cNvPr>
          <p:cNvSpPr>
            <a:spLocks xmlns:a="http://schemas.openxmlformats.org/drawingml/2006/main" noGrp="1"/>
          </p:cNvSpPr>
          <p:nvPr/>
        </p:nvSpPr>
        <p:spPr>
          <a:xfrm xmlns:a="http://schemas.openxmlformats.org/drawingml/2006/main">
            <a:off x="9620250" y="1152525"/>
            <a:ext cx="186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BOX = ORACLE</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0376da91513043b0"/>
          <a:srcRect xmlns:a="http://schemas.openxmlformats.org/drawingml/2006/main" l="0" t="30" r="0" b="30"/>
          <a:stretch xmlns:a="http://schemas.openxmlformats.org/drawingml/2006/main">
            <a:fillRect l="0" t="0" r="0" b="0"/>
          </a:stretch>
        </p:blipFill>
        <p:spPr>
          <a:xfrm xmlns:a="http://schemas.openxmlformats.org/drawingml/2006/main">
            <a:off x="609600" y="1581150"/>
            <a:ext cx="3524250" cy="2476500"/>
          </a:xfrm>
          <a:prstGeom xmlns:a="http://schemas.openxmlformats.org/drawingml/2006/main" prst="roundRect">
            <a:avLst>
              <a:gd name="adj" fmla="val 4615"/>
            </a:avLst>
          </a:prstGeom>
        </p:spPr>
      </p:pic>
      <p:sp>
        <p:nvSpPr>
          <p:cNvPr id="8" name="">
            <a:extLst xmlns:a="http://schemas.openxmlformats.org/drawingml/2006/main">
              <a:ext uri="{FF2B5EF4-FFF2-40B4-BE49-F238E27FC236}">
                <a16:creationId xmlns:a16="http://schemas.microsoft.com/office/drawing/2014/main" id="{770C7F95-998C-46B9-B5E2-620B18F78AFE}"/>
              </a:ext>
            </a:extLst>
          </p:cNvPr>
          <p:cNvSpPr>
            <a:spLocks xmlns:a="http://schemas.openxmlformats.org/drawingml/2006/main" noGrp="1"/>
          </p:cNvSpPr>
          <p:nvPr/>
        </p:nvSpPr>
        <p:spPr>
          <a:xfrm xmlns:a="http://schemas.openxmlformats.org/drawingml/2006/main">
            <a:off x="609600" y="1581150"/>
            <a:ext cx="3524250" cy="2476500"/>
          </a:xfrm>
          <a:prstGeom xmlns:a="http://schemas.openxmlformats.org/drawingml/2006/main" prst="roundRect">
            <a:avLst>
              <a:gd name="adj" fmla="val 3077"/>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04146C31-96E4-4874-BB73-DA7D480248DC}"/>
              </a:ext>
            </a:extLst>
          </p:cNvPr>
          <p:cNvSpPr>
            <a:spLocks xmlns:a="http://schemas.openxmlformats.org/drawingml/2006/main" noGrp="1"/>
          </p:cNvSpPr>
          <p:nvPr/>
        </p:nvSpPr>
        <p:spPr>
          <a:xfrm xmlns:a="http://schemas.openxmlformats.org/drawingml/2006/main">
            <a:off x="723900" y="4171950"/>
            <a:ext cx="23812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F8C95A4-783B-4C96-8256-0FDF5A0C2975}"/>
              </a:ext>
            </a:extLst>
          </p:cNvPr>
          <p:cNvSpPr>
            <a:spLocks xmlns:a="http://schemas.openxmlformats.org/drawingml/2006/main" noGrp="1"/>
          </p:cNvSpPr>
          <p:nvPr/>
        </p:nvSpPr>
        <p:spPr>
          <a:xfrm xmlns:a="http://schemas.openxmlformats.org/drawingml/2006/main">
            <a:off x="819150" y="419100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0 · TOP RESULTS</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e7c1072c4232444f"/>
          <a:srcRect xmlns:a="http://schemas.openxmlformats.org/drawingml/2006/main" l="0" t="30" r="0" b="30"/>
          <a:stretch xmlns:a="http://schemas.openxmlformats.org/drawingml/2006/main">
            <a:fillRect l="0" t="0" r="0" b="0"/>
          </a:stretch>
        </p:blipFill>
        <p:spPr>
          <a:xfrm xmlns:a="http://schemas.openxmlformats.org/drawingml/2006/main">
            <a:off x="4286250" y="1581150"/>
            <a:ext cx="3524250" cy="2476500"/>
          </a:xfrm>
          <a:prstGeom xmlns:a="http://schemas.openxmlformats.org/drawingml/2006/main" prst="roundRect">
            <a:avLst>
              <a:gd name="adj" fmla="val 4615"/>
            </a:avLst>
          </a:prstGeom>
        </p:spPr>
      </p:pic>
      <p:sp>
        <p:nvSpPr>
          <p:cNvPr id="12" name="">
            <a:extLst xmlns:a="http://schemas.openxmlformats.org/drawingml/2006/main">
              <a:ext uri="{FF2B5EF4-FFF2-40B4-BE49-F238E27FC236}">
                <a16:creationId xmlns:a16="http://schemas.microsoft.com/office/drawing/2014/main" id="{08CB621D-AD73-4F13-81F8-1A27155D0B8F}"/>
              </a:ext>
            </a:extLst>
          </p:cNvPr>
          <p:cNvSpPr>
            <a:spLocks xmlns:a="http://schemas.openxmlformats.org/drawingml/2006/main" noGrp="1"/>
          </p:cNvSpPr>
          <p:nvPr/>
        </p:nvSpPr>
        <p:spPr>
          <a:xfrm xmlns:a="http://schemas.openxmlformats.org/drawingml/2006/main">
            <a:off x="4286250" y="1581150"/>
            <a:ext cx="3524250" cy="2476500"/>
          </a:xfrm>
          <a:prstGeom xmlns:a="http://schemas.openxmlformats.org/drawingml/2006/main" prst="roundRect">
            <a:avLst>
              <a:gd name="adj" fmla="val 3077"/>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25681B7F-3FB5-4767-9B6C-F6F005AFF795}"/>
              </a:ext>
            </a:extLst>
          </p:cNvPr>
          <p:cNvSpPr>
            <a:spLocks xmlns:a="http://schemas.openxmlformats.org/drawingml/2006/main" noGrp="1"/>
          </p:cNvSpPr>
          <p:nvPr/>
        </p:nvSpPr>
        <p:spPr>
          <a:xfrm xmlns:a="http://schemas.openxmlformats.org/drawingml/2006/main">
            <a:off x="4400550" y="4171950"/>
            <a:ext cx="23812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289B0FE-CB1A-4815-98DC-F7B32F9AD5C8}"/>
              </a:ext>
            </a:extLst>
          </p:cNvPr>
          <p:cNvSpPr>
            <a:spLocks xmlns:a="http://schemas.openxmlformats.org/drawingml/2006/main" noGrp="1"/>
          </p:cNvSpPr>
          <p:nvPr/>
        </p:nvSpPr>
        <p:spPr>
          <a:xfrm xmlns:a="http://schemas.openxmlformats.org/drawingml/2006/main">
            <a:off x="4495800" y="419100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1 · MID LIST</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24394c06a3a842b1"/>
          <a:srcRect xmlns:a="http://schemas.openxmlformats.org/drawingml/2006/main" l="0" t="30" r="0" b="30"/>
          <a:stretch xmlns:a="http://schemas.openxmlformats.org/drawingml/2006/main">
            <a:fillRect l="0" t="0" r="0" b="0"/>
          </a:stretch>
        </p:blipFill>
        <p:spPr>
          <a:xfrm xmlns:a="http://schemas.openxmlformats.org/drawingml/2006/main">
            <a:off x="7962900" y="1581150"/>
            <a:ext cx="3524250" cy="2476500"/>
          </a:xfrm>
          <a:prstGeom xmlns:a="http://schemas.openxmlformats.org/drawingml/2006/main" prst="roundRect">
            <a:avLst>
              <a:gd name="adj" fmla="val 4615"/>
            </a:avLst>
          </a:prstGeom>
        </p:spPr>
      </p:pic>
      <p:sp>
        <p:nvSpPr>
          <p:cNvPr id="16" name="">
            <a:extLst xmlns:a="http://schemas.openxmlformats.org/drawingml/2006/main">
              <a:ext uri="{FF2B5EF4-FFF2-40B4-BE49-F238E27FC236}">
                <a16:creationId xmlns:a16="http://schemas.microsoft.com/office/drawing/2014/main" id="{1C4503ED-F431-48D3-A8E4-C29BD72575D7}"/>
              </a:ext>
            </a:extLst>
          </p:cNvPr>
          <p:cNvSpPr>
            <a:spLocks xmlns:a="http://schemas.openxmlformats.org/drawingml/2006/main" noGrp="1"/>
          </p:cNvSpPr>
          <p:nvPr/>
        </p:nvSpPr>
        <p:spPr>
          <a:xfrm xmlns:a="http://schemas.openxmlformats.org/drawingml/2006/main">
            <a:off x="7962900" y="1581150"/>
            <a:ext cx="3524250" cy="2476500"/>
          </a:xfrm>
          <a:prstGeom xmlns:a="http://schemas.openxmlformats.org/drawingml/2006/main" prst="roundRect">
            <a:avLst>
              <a:gd name="adj" fmla="val 3077"/>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25B1AC45-196E-4146-9B16-BE683789D494}"/>
              </a:ext>
            </a:extLst>
          </p:cNvPr>
          <p:cNvSpPr>
            <a:spLocks xmlns:a="http://schemas.openxmlformats.org/drawingml/2006/main" noGrp="1"/>
          </p:cNvSpPr>
          <p:nvPr/>
        </p:nvSpPr>
        <p:spPr>
          <a:xfrm xmlns:a="http://schemas.openxmlformats.org/drawingml/2006/main">
            <a:off x="8077200" y="4171950"/>
            <a:ext cx="23812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C2BC13F-CB16-4594-A8F8-53C6F24B022B}"/>
              </a:ext>
            </a:extLst>
          </p:cNvPr>
          <p:cNvSpPr>
            <a:spLocks xmlns:a="http://schemas.openxmlformats.org/drawingml/2006/main" noGrp="1"/>
          </p:cNvSpPr>
          <p:nvPr/>
        </p:nvSpPr>
        <p:spPr>
          <a:xfrm xmlns:a="http://schemas.openxmlformats.org/drawingml/2006/main">
            <a:off x="8172450" y="419100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2 · CHEAPEST VISIBLE</a:t>
            </a:r>
          </a:p>
        </p:txBody>
      </p:sp>
      <p:sp>
        <p:nvSpPr>
          <p:cNvPr id="19" name="">
            <a:extLst xmlns:a="http://schemas.openxmlformats.org/drawingml/2006/main">
              <a:ext uri="{FF2B5EF4-FFF2-40B4-BE49-F238E27FC236}">
                <a16:creationId xmlns:a16="http://schemas.microsoft.com/office/drawing/2014/main" id="{2A40010D-6208-49DC-B2A8-9ACC359BCBC7}"/>
              </a:ext>
            </a:extLst>
          </p:cNvPr>
          <p:cNvSpPr>
            <a:spLocks xmlns:a="http://schemas.openxmlformats.org/drawingml/2006/main" noGrp="1"/>
          </p:cNvSpPr>
          <p:nvPr/>
        </p:nvSpPr>
        <p:spPr>
          <a:xfrm xmlns:a="http://schemas.openxmlformats.org/drawingml/2006/main">
            <a:off x="609600" y="468630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DA1AAA56-A119-4E6B-AF56-BEF0CF102ACF}"/>
              </a:ext>
            </a:extLst>
          </p:cNvPr>
          <p:cNvSpPr>
            <a:spLocks xmlns:a="http://schemas.openxmlformats.org/drawingml/2006/main" noGrp="1"/>
          </p:cNvSpPr>
          <p:nvPr/>
        </p:nvSpPr>
        <p:spPr>
          <a:xfrm xmlns:a="http://schemas.openxmlformats.org/drawingml/2006/main">
            <a:off x="609600" y="468630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325C17E-2B3B-4AF8-BCF0-D395FC2D03C7}"/>
              </a:ext>
            </a:extLst>
          </p:cNvPr>
          <p:cNvSpPr>
            <a:spLocks xmlns:a="http://schemas.openxmlformats.org/drawingml/2006/main" noGrp="1"/>
          </p:cNvSpPr>
          <p:nvPr/>
        </p:nvSpPr>
        <p:spPr>
          <a:xfrm xmlns:a="http://schemas.openxmlformats.org/drawingml/2006/main">
            <a:off x="800100" y="481965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HOLO TARGET-BOX DIFFERENTIAL</a:t>
            </a:r>
          </a:p>
        </p:txBody>
      </p:sp>
      <p:sp>
        <p:nvSpPr>
          <p:cNvPr id="22" name="">
            <a:extLst xmlns:a="http://schemas.openxmlformats.org/drawingml/2006/main">
              <a:ext uri="{FF2B5EF4-FFF2-40B4-BE49-F238E27FC236}">
                <a16:creationId xmlns:a16="http://schemas.microsoft.com/office/drawing/2014/main" id="{22328423-4641-4193-A460-28C709D04F59}"/>
              </a:ext>
            </a:extLst>
          </p:cNvPr>
          <p:cNvSpPr>
            <a:spLocks xmlns:a="http://schemas.openxmlformats.org/drawingml/2006/main" noGrp="1"/>
          </p:cNvSpPr>
          <p:nvPr/>
        </p:nvSpPr>
        <p:spPr>
          <a:xfrm xmlns:a="http://schemas.openxmlformats.org/drawingml/2006/main">
            <a:off x="800100" y="501015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10.74 pp</a:t>
            </a:r>
          </a:p>
        </p:txBody>
      </p:sp>
      <p:sp>
        <p:nvSpPr>
          <p:cNvPr id="23" name="">
            <a:extLst xmlns:a="http://schemas.openxmlformats.org/drawingml/2006/main">
              <a:ext uri="{FF2B5EF4-FFF2-40B4-BE49-F238E27FC236}">
                <a16:creationId xmlns:a16="http://schemas.microsoft.com/office/drawing/2014/main" id="{23352D25-450C-42C8-AF31-012BD135C2D6}"/>
              </a:ext>
            </a:extLst>
          </p:cNvPr>
          <p:cNvSpPr>
            <a:spLocks xmlns:a="http://schemas.openxmlformats.org/drawingml/2006/main" noGrp="1"/>
          </p:cNvSpPr>
          <p:nvPr/>
        </p:nvSpPr>
        <p:spPr>
          <a:xfrm xmlns:a="http://schemas.openxmlformats.org/drawingml/2006/main">
            <a:off x="800100" y="541972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34.5% of positive residual mass</a:t>
            </a:r>
          </a:p>
        </p:txBody>
      </p:sp>
      <p:sp>
        <p:nvSpPr>
          <p:cNvPr id="24" name="">
            <a:extLst xmlns:a="http://schemas.openxmlformats.org/drawingml/2006/main">
              <a:ext uri="{FF2B5EF4-FFF2-40B4-BE49-F238E27FC236}">
                <a16:creationId xmlns:a16="http://schemas.microsoft.com/office/drawing/2014/main" id="{D104656E-472A-4A6E-A0E4-67EA88A76E7B}"/>
              </a:ext>
            </a:extLst>
          </p:cNvPr>
          <p:cNvSpPr>
            <a:spLocks xmlns:a="http://schemas.openxmlformats.org/drawingml/2006/main" noGrp="1"/>
          </p:cNvSpPr>
          <p:nvPr/>
        </p:nvSpPr>
        <p:spPr>
          <a:xfrm xmlns:a="http://schemas.openxmlformats.org/drawingml/2006/main">
            <a:off x="4114800" y="468630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5" name="">
            <a:extLst xmlns:a="http://schemas.openxmlformats.org/drawingml/2006/main">
              <a:ext uri="{FF2B5EF4-FFF2-40B4-BE49-F238E27FC236}">
                <a16:creationId xmlns:a16="http://schemas.microsoft.com/office/drawing/2014/main" id="{4121A189-D143-4918-8885-156E806F14C4}"/>
              </a:ext>
            </a:extLst>
          </p:cNvPr>
          <p:cNvSpPr>
            <a:spLocks xmlns:a="http://schemas.openxmlformats.org/drawingml/2006/main" noGrp="1"/>
          </p:cNvSpPr>
          <p:nvPr/>
        </p:nvSpPr>
        <p:spPr>
          <a:xfrm xmlns:a="http://schemas.openxmlformats.org/drawingml/2006/main">
            <a:off x="4114800" y="4686300"/>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235E717-4D57-423E-91C6-9C5A0FA69EFB}"/>
              </a:ext>
            </a:extLst>
          </p:cNvPr>
          <p:cNvSpPr>
            <a:spLocks xmlns:a="http://schemas.openxmlformats.org/drawingml/2006/main" noGrp="1"/>
          </p:cNvSpPr>
          <p:nvPr/>
        </p:nvSpPr>
        <p:spPr>
          <a:xfrm xmlns:a="http://schemas.openxmlformats.org/drawingml/2006/main">
            <a:off x="4305300" y="481965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HOLO − QWEN</a:t>
            </a:r>
          </a:p>
        </p:txBody>
      </p:sp>
      <p:sp>
        <p:nvSpPr>
          <p:cNvPr id="27" name="">
            <a:extLst xmlns:a="http://schemas.openxmlformats.org/drawingml/2006/main">
              <a:ext uri="{FF2B5EF4-FFF2-40B4-BE49-F238E27FC236}">
                <a16:creationId xmlns:a16="http://schemas.microsoft.com/office/drawing/2014/main" id="{DC3FD8DA-B012-4986-8B61-2EEDCF00479E}"/>
              </a:ext>
            </a:extLst>
          </p:cNvPr>
          <p:cNvSpPr>
            <a:spLocks xmlns:a="http://schemas.openxmlformats.org/drawingml/2006/main" noGrp="1"/>
          </p:cNvSpPr>
          <p:nvPr/>
        </p:nvSpPr>
        <p:spPr>
          <a:xfrm xmlns:a="http://schemas.openxmlformats.org/drawingml/2006/main">
            <a:off x="4305300" y="501015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+4.19 pp</a:t>
            </a:r>
          </a:p>
        </p:txBody>
      </p:sp>
      <p:sp>
        <p:nvSpPr>
          <p:cNvPr id="28" name="">
            <a:extLst xmlns:a="http://schemas.openxmlformats.org/drawingml/2006/main">
              <a:ext uri="{FF2B5EF4-FFF2-40B4-BE49-F238E27FC236}">
                <a16:creationId xmlns:a16="http://schemas.microsoft.com/office/drawing/2014/main" id="{A45B3752-8429-4520-9EAF-85597C5D2250}"/>
              </a:ext>
            </a:extLst>
          </p:cNvPr>
          <p:cNvSpPr>
            <a:spLocks xmlns:a="http://schemas.openxmlformats.org/drawingml/2006/main" noGrp="1"/>
          </p:cNvSpPr>
          <p:nvPr/>
        </p:nvSpPr>
        <p:spPr>
          <a:xfrm xmlns:a="http://schemas.openxmlformats.org/drawingml/2006/main">
            <a:off x="4305300" y="541972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same images, history, and controls</a:t>
            </a:r>
          </a:p>
        </p:txBody>
      </p:sp>
      <p:sp>
        <p:nvSpPr>
          <p:cNvPr id="29" name="">
            <a:extLst xmlns:a="http://schemas.openxmlformats.org/drawingml/2006/main">
              <a:ext uri="{FF2B5EF4-FFF2-40B4-BE49-F238E27FC236}">
                <a16:creationId xmlns:a16="http://schemas.microsoft.com/office/drawing/2014/main" id="{9A1F48CD-E9AC-4996-B23B-1D1A19E404D1}"/>
              </a:ext>
            </a:extLst>
          </p:cNvPr>
          <p:cNvSpPr>
            <a:spLocks xmlns:a="http://schemas.openxmlformats.org/drawingml/2006/main" noGrp="1"/>
          </p:cNvSpPr>
          <p:nvPr/>
        </p:nvSpPr>
        <p:spPr>
          <a:xfrm xmlns:a="http://schemas.openxmlformats.org/drawingml/2006/main">
            <a:off x="7620000" y="4686300"/>
            <a:ext cx="39624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0" name="">
            <a:extLst xmlns:a="http://schemas.openxmlformats.org/drawingml/2006/main">
              <a:ext uri="{FF2B5EF4-FFF2-40B4-BE49-F238E27FC236}">
                <a16:creationId xmlns:a16="http://schemas.microsoft.com/office/drawing/2014/main" id="{9B8A27B5-230F-4BAA-90C6-26AEB0047A40}"/>
              </a:ext>
            </a:extLst>
          </p:cNvPr>
          <p:cNvSpPr>
            <a:spLocks xmlns:a="http://schemas.openxmlformats.org/drawingml/2006/main" noGrp="1"/>
          </p:cNvSpPr>
          <p:nvPr/>
        </p:nvSpPr>
        <p:spPr>
          <a:xfrm xmlns:a="http://schemas.openxmlformats.org/drawingml/2006/main">
            <a:off x="7620000" y="4686300"/>
            <a:ext cx="66675" cy="10287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2963A58-C8C6-4793-B755-68446C19E6CA}"/>
              </a:ext>
            </a:extLst>
          </p:cNvPr>
          <p:cNvSpPr>
            <a:spLocks xmlns:a="http://schemas.openxmlformats.org/drawingml/2006/main" noGrp="1"/>
          </p:cNvSpPr>
          <p:nvPr/>
        </p:nvSpPr>
        <p:spPr>
          <a:xfrm xmlns:a="http://schemas.openxmlformats.org/drawingml/2006/main">
            <a:off x="7810500" y="4819650"/>
            <a:ext cx="3657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CONTROL STABILITY</a:t>
            </a:r>
          </a:p>
        </p:txBody>
      </p:sp>
      <p:sp>
        <p:nvSpPr>
          <p:cNvPr id="32" name="">
            <a:extLst xmlns:a="http://schemas.openxmlformats.org/drawingml/2006/main">
              <a:ext uri="{FF2B5EF4-FFF2-40B4-BE49-F238E27FC236}">
                <a16:creationId xmlns:a16="http://schemas.microsoft.com/office/drawing/2014/main" id="{E237F989-AC66-41F1-8333-55BFBC20E65C}"/>
              </a:ext>
            </a:extLst>
          </p:cNvPr>
          <p:cNvSpPr>
            <a:spLocks xmlns:a="http://schemas.openxmlformats.org/drawingml/2006/main" noGrp="1"/>
          </p:cNvSpPr>
          <p:nvPr/>
        </p:nvSpPr>
        <p:spPr>
          <a:xfrm xmlns:a="http://schemas.openxmlformats.org/drawingml/2006/main">
            <a:off x="7810500" y="5010150"/>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0.957</a:t>
            </a:r>
          </a:p>
        </p:txBody>
      </p:sp>
      <p:sp>
        <p:nvSpPr>
          <p:cNvPr id="33" name="">
            <a:extLst xmlns:a="http://schemas.openxmlformats.org/drawingml/2006/main">
              <a:ext uri="{FF2B5EF4-FFF2-40B4-BE49-F238E27FC236}">
                <a16:creationId xmlns:a16="http://schemas.microsoft.com/office/drawing/2014/main" id="{EE35E37D-D79F-46BF-B5B7-E6333A41024B}"/>
              </a:ext>
            </a:extLst>
          </p:cNvPr>
          <p:cNvSpPr>
            <a:spLocks xmlns:a="http://schemas.openxmlformats.org/drawingml/2006/main" noGrp="1"/>
          </p:cNvSpPr>
          <p:nvPr/>
        </p:nvSpPr>
        <p:spPr>
          <a:xfrm xmlns:a="http://schemas.openxmlformats.org/drawingml/2006/main">
            <a:off x="7810500" y="5419725"/>
            <a:ext cx="3657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minimum leave-one-control-out cosine</a:t>
            </a:r>
          </a:p>
        </p:txBody>
      </p:sp>
      <p:sp>
        <p:nvSpPr>
          <p:cNvPr id="34" name="">
            <a:extLst xmlns:a="http://schemas.openxmlformats.org/drawingml/2006/main">
              <a:ext uri="{FF2B5EF4-FFF2-40B4-BE49-F238E27FC236}">
                <a16:creationId xmlns:a16="http://schemas.microsoft.com/office/drawing/2014/main" id="{516A4C29-8F33-4609-8842-60076FAF5682}"/>
              </a:ext>
            </a:extLst>
          </p:cNvPr>
          <p:cNvSpPr>
            <a:spLocks xmlns:a="http://schemas.openxmlformats.org/drawingml/2006/main" noGrp="1"/>
          </p:cNvSpPr>
          <p:nvPr/>
        </p:nvSpPr>
        <p:spPr>
          <a:xfrm xmlns:a="http://schemas.openxmlformats.org/drawingml/2006/main">
            <a:off x="609600" y="5867400"/>
            <a:ext cx="10972800" cy="438150"/>
          </a:xfrm>
          <a:prstGeom xmlns:a="http://schemas.openxmlformats.org/drawingml/2006/main" prst="roundRect">
            <a:avLst>
              <a:gd name="adj" fmla="val 17391"/>
            </a:avLst>
          </a:prstGeom>
          <a:solidFill xmlns:a="http://schemas.openxmlformats.org/drawingml/2006/main">
            <a:srgbClr val="1C2733"/>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816B74F9-7487-4D89-82A8-0810F2FB8C4A}"/>
              </a:ext>
            </a:extLst>
          </p:cNvPr>
          <p:cNvSpPr>
            <a:spLocks xmlns:a="http://schemas.openxmlformats.org/drawingml/2006/main" noGrp="1"/>
          </p:cNvSpPr>
          <p:nvPr/>
        </p:nvSpPr>
        <p:spPr>
          <a:xfrm xmlns:a="http://schemas.openxmlformats.org/drawingml/2006/main">
            <a:off x="800100" y="5962650"/>
            <a:ext cx="10591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The current frame carries 68.1% of Holo's positive prompt differential; the oracle button alone carries 34.5%.</a:t>
            </a:r>
          </a:p>
        </p:txBody>
      </p:sp>
      <p:sp>
        <p:nvSpPr>
          <p:cNvPr id="36" name="">
            <a:extLst xmlns:a="http://schemas.openxmlformats.org/drawingml/2006/main">
              <a:ext uri="{FF2B5EF4-FFF2-40B4-BE49-F238E27FC236}">
                <a16:creationId xmlns:a16="http://schemas.microsoft.com/office/drawing/2014/main" id="{B1991C8E-6D18-40FF-B623-6A965531A80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1CE402A-2F49-458A-9306-20DF902E32F3}"/>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Native 1024×720 → 22×32 per frame · identical 3-frame / 2-scroll history · no max-width downsampling</a:t>
            </a:r>
          </a:p>
        </p:txBody>
      </p:sp>
    </p:spTree>
    <p:extLst>
      <p:ext uri="{BB962C8B-B14F-4D97-AF65-F5344CB8AC3E}">
        <p14:creationId xmlns:p14="http://schemas.microsoft.com/office/powerpoint/2010/main" val="1013782465"/>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E2EA6771-7699-42BB-9297-468BF99C6DE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PILOT AGGREGATE · N=4</a:t>
            </a:r>
          </a:p>
        </p:txBody>
      </p:sp>
      <p:sp>
        <p:nvSpPr>
          <p:cNvPr id="2" name="">
            <a:extLst xmlns:a="http://schemas.openxmlformats.org/drawingml/2006/main">
              <a:ext uri="{FF2B5EF4-FFF2-40B4-BE49-F238E27FC236}">
                <a16:creationId xmlns:a16="http://schemas.microsoft.com/office/drawing/2014/main" id="{861D0623-1B87-4609-B629-745FD16E2BE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56"/>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Layer 19 has the highest mean lift, narrowly ahead of Layer 15</a:t>
            </a:r>
          </a:p>
        </p:txBody>
      </p:sp>
      <p:sp>
        <p:nvSpPr>
          <p:cNvPr id="3" name="">
            <a:extLst xmlns:a="http://schemas.openxmlformats.org/drawingml/2006/main">
              <a:ext uri="{FF2B5EF4-FFF2-40B4-BE49-F238E27FC236}">
                <a16:creationId xmlns:a16="http://schemas.microsoft.com/office/drawing/2014/main" id="{A126A52D-7F41-4174-93F9-6D2FCB9641E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EA232CC1-9B9A-4638-AEDE-3FF2C0A9846A}"/>
              </a:ext>
            </a:extLst>
          </p:cNvPr>
          <p:cNvSpPr>
            <a:spLocks xmlns:a="http://schemas.openxmlformats.org/drawingml/2006/main" noGrp="1"/>
          </p:cNvSpPr>
          <p:nvPr/>
        </p:nvSpPr>
        <p:spPr>
          <a:xfrm xmlns:a="http://schemas.openxmlformats.org/drawingml/2006/main">
            <a:off x="609600" y="11239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Target lift uses four visible alternate click tasks on the same screenshot. Official harness: 2 hits and 2 misses.</a:t>
            </a:r>
          </a:p>
        </p:txBody>
      </p:sp>
      <p:sp>
        <p:nvSpPr>
          <p:cNvPr id="5" name="">
            <a:extLst xmlns:a="http://schemas.openxmlformats.org/drawingml/2006/main">
              <a:ext uri="{FF2B5EF4-FFF2-40B4-BE49-F238E27FC236}">
                <a16:creationId xmlns:a16="http://schemas.microsoft.com/office/drawing/2014/main" id="{CFA3C8D5-D5BE-48AA-A1CC-05B1479D1096}"/>
              </a:ext>
            </a:extLst>
          </p:cNvPr>
          <p:cNvSpPr>
            <a:spLocks xmlns:a="http://schemas.openxmlformats.org/drawingml/2006/main" noGrp="1"/>
          </p:cNvSpPr>
          <p:nvPr/>
        </p:nvSpPr>
        <p:spPr>
          <a:xfrm xmlns:a="http://schemas.openxmlformats.org/drawingml/2006/main">
            <a:off x="609600" y="1495425"/>
            <a:ext cx="5962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MEAN TARGET LIFT ACROSS 8 CAPTURED FULL-ATTENTION LAYERS</a:t>
            </a:r>
          </a:p>
        </p:txBody>
      </p:sp>
      <p:sp>
        <p:nvSpPr>
          <p:cNvPr id="6" name="">
            <a:extLst xmlns:a="http://schemas.openxmlformats.org/drawingml/2006/main">
              <a:ext uri="{FF2B5EF4-FFF2-40B4-BE49-F238E27FC236}">
                <a16:creationId xmlns:a16="http://schemas.microsoft.com/office/drawing/2014/main" id="{1359DF4D-9669-49BB-B191-7B469594D520}"/>
              </a:ext>
            </a:extLst>
          </p:cNvPr>
          <p:cNvSpPr>
            <a:spLocks xmlns:a="http://schemas.openxmlformats.org/drawingml/2006/main" noGrp="1"/>
          </p:cNvSpPr>
          <p:nvPr/>
        </p:nvSpPr>
        <p:spPr>
          <a:xfrm xmlns:a="http://schemas.openxmlformats.org/drawingml/2006/main">
            <a:off x="609600" y="1809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a:t>
            </a:r>
          </a:p>
        </p:txBody>
      </p:sp>
      <p:sp>
        <p:nvSpPr>
          <p:cNvPr id="7" name="">
            <a:extLst xmlns:a="http://schemas.openxmlformats.org/drawingml/2006/main">
              <a:ext uri="{FF2B5EF4-FFF2-40B4-BE49-F238E27FC236}">
                <a16:creationId xmlns:a16="http://schemas.microsoft.com/office/drawing/2014/main" id="{4058A819-2EA2-463D-822A-279E61F40C56}"/>
              </a:ext>
            </a:extLst>
          </p:cNvPr>
          <p:cNvSpPr>
            <a:spLocks xmlns:a="http://schemas.openxmlformats.org/drawingml/2006/main" noGrp="1"/>
          </p:cNvSpPr>
          <p:nvPr/>
        </p:nvSpPr>
        <p:spPr>
          <a:xfrm xmlns:a="http://schemas.openxmlformats.org/drawingml/2006/main">
            <a:off x="1047750" y="1790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82F26A3-A39B-46F3-890F-D904BE4C5252}"/>
              </a:ext>
            </a:extLst>
          </p:cNvPr>
          <p:cNvSpPr>
            <a:spLocks xmlns:a="http://schemas.openxmlformats.org/drawingml/2006/main" noGrp="1"/>
          </p:cNvSpPr>
          <p:nvPr/>
        </p:nvSpPr>
        <p:spPr>
          <a:xfrm xmlns:a="http://schemas.openxmlformats.org/drawingml/2006/main">
            <a:off x="1047750" y="1790700"/>
            <a:ext cx="97622" cy="209550"/>
          </a:xfrm>
          <a:prstGeom xmlns:a="http://schemas.openxmlformats.org/drawingml/2006/main" prst="roundRect">
            <a:avLst>
              <a:gd name="adj" fmla="val 50000"/>
            </a:avLst>
          </a:prstGeom>
          <a:solidFill xmlns:a="http://schemas.openxmlformats.org/drawingml/2006/main">
            <a:srgbClr val="1C27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B49006A-A52F-4132-88F9-063623F9EC0C}"/>
              </a:ext>
            </a:extLst>
          </p:cNvPr>
          <p:cNvSpPr>
            <a:spLocks xmlns:a="http://schemas.openxmlformats.org/drawingml/2006/main" noGrp="1"/>
          </p:cNvSpPr>
          <p:nvPr/>
        </p:nvSpPr>
        <p:spPr>
          <a:xfrm xmlns:a="http://schemas.openxmlformats.org/drawingml/2006/main">
            <a:off x="5791200" y="1800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3.3×</a:t>
            </a:r>
          </a:p>
        </p:txBody>
      </p:sp>
      <p:sp>
        <p:nvSpPr>
          <p:cNvPr id="10" name="">
            <a:extLst xmlns:a="http://schemas.openxmlformats.org/drawingml/2006/main">
              <a:ext uri="{FF2B5EF4-FFF2-40B4-BE49-F238E27FC236}">
                <a16:creationId xmlns:a16="http://schemas.microsoft.com/office/drawing/2014/main" id="{1EC40E42-4747-49BD-A126-C2BE1EF96B7C}"/>
              </a:ext>
            </a:extLst>
          </p:cNvPr>
          <p:cNvSpPr>
            <a:spLocks xmlns:a="http://schemas.openxmlformats.org/drawingml/2006/main" noGrp="1"/>
          </p:cNvSpPr>
          <p:nvPr/>
        </p:nvSpPr>
        <p:spPr>
          <a:xfrm xmlns:a="http://schemas.openxmlformats.org/drawingml/2006/main">
            <a:off x="609600" y="2114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L7</a:t>
            </a:r>
          </a:p>
        </p:txBody>
      </p:sp>
      <p:sp>
        <p:nvSpPr>
          <p:cNvPr id="11" name="">
            <a:extLst xmlns:a="http://schemas.openxmlformats.org/drawingml/2006/main">
              <a:ext uri="{FF2B5EF4-FFF2-40B4-BE49-F238E27FC236}">
                <a16:creationId xmlns:a16="http://schemas.microsoft.com/office/drawing/2014/main" id="{430C2A63-D597-4B9C-8823-0EB674656CA7}"/>
              </a:ext>
            </a:extLst>
          </p:cNvPr>
          <p:cNvSpPr>
            <a:spLocks xmlns:a="http://schemas.openxmlformats.org/drawingml/2006/main" noGrp="1"/>
          </p:cNvSpPr>
          <p:nvPr/>
        </p:nvSpPr>
        <p:spPr>
          <a:xfrm xmlns:a="http://schemas.openxmlformats.org/drawingml/2006/main">
            <a:off x="1047750" y="2095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C1FA395-8D4E-4FF4-B101-17D7366FF2C4}"/>
              </a:ext>
            </a:extLst>
          </p:cNvPr>
          <p:cNvSpPr>
            <a:spLocks xmlns:a="http://schemas.openxmlformats.org/drawingml/2006/main" noGrp="1"/>
          </p:cNvSpPr>
          <p:nvPr/>
        </p:nvSpPr>
        <p:spPr>
          <a:xfrm xmlns:a="http://schemas.openxmlformats.org/drawingml/2006/main">
            <a:off x="1047750" y="2095500"/>
            <a:ext cx="197378" cy="209550"/>
          </a:xfrm>
          <a:prstGeom xmlns:a="http://schemas.openxmlformats.org/drawingml/2006/main" prst="roundRect">
            <a:avLst>
              <a:gd name="adj" fmla="val 38606"/>
            </a:avLst>
          </a:prstGeom>
          <a:solidFill xmlns:a="http://schemas.openxmlformats.org/drawingml/2006/main">
            <a:srgbClr val="1C273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07E0071-62F3-4860-9F6A-2CA034B8C271}"/>
              </a:ext>
            </a:extLst>
          </p:cNvPr>
          <p:cNvSpPr>
            <a:spLocks xmlns:a="http://schemas.openxmlformats.org/drawingml/2006/main" noGrp="1"/>
          </p:cNvSpPr>
          <p:nvPr/>
        </p:nvSpPr>
        <p:spPr>
          <a:xfrm xmlns:a="http://schemas.openxmlformats.org/drawingml/2006/main">
            <a:off x="5791200" y="2105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6.8×</a:t>
            </a:r>
          </a:p>
        </p:txBody>
      </p:sp>
      <p:sp>
        <p:nvSpPr>
          <p:cNvPr id="14" name="">
            <a:extLst xmlns:a="http://schemas.openxmlformats.org/drawingml/2006/main">
              <a:ext uri="{FF2B5EF4-FFF2-40B4-BE49-F238E27FC236}">
                <a16:creationId xmlns:a16="http://schemas.microsoft.com/office/drawing/2014/main" id="{2187C168-63E7-4997-80F4-8B7628984F95}"/>
              </a:ext>
            </a:extLst>
          </p:cNvPr>
          <p:cNvSpPr>
            <a:spLocks xmlns:a="http://schemas.openxmlformats.org/drawingml/2006/main" noGrp="1"/>
          </p:cNvSpPr>
          <p:nvPr/>
        </p:nvSpPr>
        <p:spPr>
          <a:xfrm xmlns:a="http://schemas.openxmlformats.org/drawingml/2006/main">
            <a:off x="609600" y="2419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L11</a:t>
            </a:r>
          </a:p>
        </p:txBody>
      </p:sp>
      <p:sp>
        <p:nvSpPr>
          <p:cNvPr id="15" name="">
            <a:extLst xmlns:a="http://schemas.openxmlformats.org/drawingml/2006/main">
              <a:ext uri="{FF2B5EF4-FFF2-40B4-BE49-F238E27FC236}">
                <a16:creationId xmlns:a16="http://schemas.microsoft.com/office/drawing/2014/main" id="{BC7D24E6-6499-4C45-A033-810B57750D02}"/>
              </a:ext>
            </a:extLst>
          </p:cNvPr>
          <p:cNvSpPr>
            <a:spLocks xmlns:a="http://schemas.openxmlformats.org/drawingml/2006/main" noGrp="1"/>
          </p:cNvSpPr>
          <p:nvPr/>
        </p:nvSpPr>
        <p:spPr>
          <a:xfrm xmlns:a="http://schemas.openxmlformats.org/drawingml/2006/main">
            <a:off x="1047750" y="2400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699F615-2AF4-4D7E-B6F8-52A8F85B2428}"/>
              </a:ext>
            </a:extLst>
          </p:cNvPr>
          <p:cNvSpPr>
            <a:spLocks xmlns:a="http://schemas.openxmlformats.org/drawingml/2006/main" noGrp="1"/>
          </p:cNvSpPr>
          <p:nvPr/>
        </p:nvSpPr>
        <p:spPr>
          <a:xfrm xmlns:a="http://schemas.openxmlformats.org/drawingml/2006/main">
            <a:off x="1047750" y="2400300"/>
            <a:ext cx="248514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C4794E2-3A48-4DFD-A145-F9F3033AD379}"/>
              </a:ext>
            </a:extLst>
          </p:cNvPr>
          <p:cNvSpPr>
            <a:spLocks xmlns:a="http://schemas.openxmlformats.org/drawingml/2006/main" noGrp="1"/>
          </p:cNvSpPr>
          <p:nvPr/>
        </p:nvSpPr>
        <p:spPr>
          <a:xfrm xmlns:a="http://schemas.openxmlformats.org/drawingml/2006/main">
            <a:off x="5791200" y="2409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85.1×</a:t>
            </a:r>
          </a:p>
        </p:txBody>
      </p:sp>
      <p:sp>
        <p:nvSpPr>
          <p:cNvPr id="18" name="">
            <a:extLst xmlns:a="http://schemas.openxmlformats.org/drawingml/2006/main">
              <a:ext uri="{FF2B5EF4-FFF2-40B4-BE49-F238E27FC236}">
                <a16:creationId xmlns:a16="http://schemas.microsoft.com/office/drawing/2014/main" id="{6D464779-6185-43AE-9A8F-7E2E67310933}"/>
              </a:ext>
            </a:extLst>
          </p:cNvPr>
          <p:cNvSpPr>
            <a:spLocks xmlns:a="http://schemas.openxmlformats.org/drawingml/2006/main" noGrp="1"/>
          </p:cNvSpPr>
          <p:nvPr/>
        </p:nvSpPr>
        <p:spPr>
          <a:xfrm xmlns:a="http://schemas.openxmlformats.org/drawingml/2006/main">
            <a:off x="609600" y="27241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L15</a:t>
            </a:r>
          </a:p>
        </p:txBody>
      </p:sp>
      <p:sp>
        <p:nvSpPr>
          <p:cNvPr id="19" name="">
            <a:extLst xmlns:a="http://schemas.openxmlformats.org/drawingml/2006/main">
              <a:ext uri="{FF2B5EF4-FFF2-40B4-BE49-F238E27FC236}">
                <a16:creationId xmlns:a16="http://schemas.microsoft.com/office/drawing/2014/main" id="{DFAAED6E-91A6-42C3-9BBF-869F475998FE}"/>
              </a:ext>
            </a:extLst>
          </p:cNvPr>
          <p:cNvSpPr>
            <a:spLocks xmlns:a="http://schemas.openxmlformats.org/drawingml/2006/main" noGrp="1"/>
          </p:cNvSpPr>
          <p:nvPr/>
        </p:nvSpPr>
        <p:spPr>
          <a:xfrm xmlns:a="http://schemas.openxmlformats.org/drawingml/2006/main">
            <a:off x="1047750" y="27051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1E2E5F7-835E-4A26-9620-233131047C0C}"/>
              </a:ext>
            </a:extLst>
          </p:cNvPr>
          <p:cNvSpPr>
            <a:spLocks xmlns:a="http://schemas.openxmlformats.org/drawingml/2006/main" noGrp="1"/>
          </p:cNvSpPr>
          <p:nvPr/>
        </p:nvSpPr>
        <p:spPr>
          <a:xfrm xmlns:a="http://schemas.openxmlformats.org/drawingml/2006/main">
            <a:off x="1047750" y="2705100"/>
            <a:ext cx="4422660"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11B5BCC-B6F8-4F47-A0F2-17B4B62EF7ED}"/>
              </a:ext>
            </a:extLst>
          </p:cNvPr>
          <p:cNvSpPr>
            <a:spLocks xmlns:a="http://schemas.openxmlformats.org/drawingml/2006/main" noGrp="1"/>
          </p:cNvSpPr>
          <p:nvPr/>
        </p:nvSpPr>
        <p:spPr>
          <a:xfrm xmlns:a="http://schemas.openxmlformats.org/drawingml/2006/main">
            <a:off x="5791200" y="27146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151.4×</a:t>
            </a:r>
          </a:p>
        </p:txBody>
      </p:sp>
      <p:sp>
        <p:nvSpPr>
          <p:cNvPr id="22" name="">
            <a:extLst xmlns:a="http://schemas.openxmlformats.org/drawingml/2006/main">
              <a:ext uri="{FF2B5EF4-FFF2-40B4-BE49-F238E27FC236}">
                <a16:creationId xmlns:a16="http://schemas.microsoft.com/office/drawing/2014/main" id="{90C57435-8D93-4349-906A-91CCDA1C5A9F}"/>
              </a:ext>
            </a:extLst>
          </p:cNvPr>
          <p:cNvSpPr>
            <a:spLocks xmlns:a="http://schemas.openxmlformats.org/drawingml/2006/main" noGrp="1"/>
          </p:cNvSpPr>
          <p:nvPr/>
        </p:nvSpPr>
        <p:spPr>
          <a:xfrm xmlns:a="http://schemas.openxmlformats.org/drawingml/2006/main">
            <a:off x="609600" y="3028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L19</a:t>
            </a:r>
          </a:p>
        </p:txBody>
      </p:sp>
      <p:sp>
        <p:nvSpPr>
          <p:cNvPr id="23" name="">
            <a:extLst xmlns:a="http://schemas.openxmlformats.org/drawingml/2006/main">
              <a:ext uri="{FF2B5EF4-FFF2-40B4-BE49-F238E27FC236}">
                <a16:creationId xmlns:a16="http://schemas.microsoft.com/office/drawing/2014/main" id="{2E70914D-BE4C-4275-A14D-71E0C2363B26}"/>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A543AE9-B257-448C-B742-5A2C5319D4D5}"/>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F05A3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CEA82DC-B8A7-4545-B300-42829C809CAA}"/>
              </a:ext>
            </a:extLst>
          </p:cNvPr>
          <p:cNvSpPr>
            <a:spLocks xmlns:a="http://schemas.openxmlformats.org/drawingml/2006/main" noGrp="1"/>
          </p:cNvSpPr>
          <p:nvPr/>
        </p:nvSpPr>
        <p:spPr>
          <a:xfrm xmlns:a="http://schemas.openxmlformats.org/drawingml/2006/main">
            <a:off x="5791200" y="30194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158.4×</a:t>
            </a:r>
          </a:p>
        </p:txBody>
      </p:sp>
      <p:sp>
        <p:nvSpPr>
          <p:cNvPr id="26" name="">
            <a:extLst xmlns:a="http://schemas.openxmlformats.org/drawingml/2006/main">
              <a:ext uri="{FF2B5EF4-FFF2-40B4-BE49-F238E27FC236}">
                <a16:creationId xmlns:a16="http://schemas.microsoft.com/office/drawing/2014/main" id="{32E28E75-F6DE-4001-96E2-EDBD85388B64}"/>
              </a:ext>
            </a:extLst>
          </p:cNvPr>
          <p:cNvSpPr>
            <a:spLocks xmlns:a="http://schemas.openxmlformats.org/drawingml/2006/main" noGrp="1"/>
          </p:cNvSpPr>
          <p:nvPr/>
        </p:nvSpPr>
        <p:spPr>
          <a:xfrm xmlns:a="http://schemas.openxmlformats.org/drawingml/2006/main">
            <a:off x="609600" y="3333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L23</a:t>
            </a:r>
          </a:p>
        </p:txBody>
      </p:sp>
      <p:sp>
        <p:nvSpPr>
          <p:cNvPr id="27" name="">
            <a:extLst xmlns:a="http://schemas.openxmlformats.org/drawingml/2006/main">
              <a:ext uri="{FF2B5EF4-FFF2-40B4-BE49-F238E27FC236}">
                <a16:creationId xmlns:a16="http://schemas.microsoft.com/office/drawing/2014/main" id="{C820CCAA-FD87-4D5D-AFE4-1EDF350F9718}"/>
              </a:ext>
            </a:extLst>
          </p:cNvPr>
          <p:cNvSpPr>
            <a:spLocks xmlns:a="http://schemas.openxmlformats.org/drawingml/2006/main" noGrp="1"/>
          </p:cNvSpPr>
          <p:nvPr/>
        </p:nvSpPr>
        <p:spPr>
          <a:xfrm xmlns:a="http://schemas.openxmlformats.org/drawingml/2006/main">
            <a:off x="1047750" y="3314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CCF5109-0705-4EEE-85DC-57C6C37B41F5}"/>
              </a:ext>
            </a:extLst>
          </p:cNvPr>
          <p:cNvSpPr>
            <a:spLocks xmlns:a="http://schemas.openxmlformats.org/drawingml/2006/main" noGrp="1"/>
          </p:cNvSpPr>
          <p:nvPr/>
        </p:nvSpPr>
        <p:spPr>
          <a:xfrm xmlns:a="http://schemas.openxmlformats.org/drawingml/2006/main">
            <a:off x="1047750" y="3314700"/>
            <a:ext cx="3651576"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0F3E90C-9D8B-4A63-9A0E-98B8981BD8B0}"/>
              </a:ext>
            </a:extLst>
          </p:cNvPr>
          <p:cNvSpPr>
            <a:spLocks xmlns:a="http://schemas.openxmlformats.org/drawingml/2006/main" noGrp="1"/>
          </p:cNvSpPr>
          <p:nvPr/>
        </p:nvSpPr>
        <p:spPr>
          <a:xfrm xmlns:a="http://schemas.openxmlformats.org/drawingml/2006/main">
            <a:off x="5791200" y="3324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125.0×</a:t>
            </a:r>
          </a:p>
        </p:txBody>
      </p:sp>
      <p:sp>
        <p:nvSpPr>
          <p:cNvPr id="30" name="">
            <a:extLst xmlns:a="http://schemas.openxmlformats.org/drawingml/2006/main">
              <a:ext uri="{FF2B5EF4-FFF2-40B4-BE49-F238E27FC236}">
                <a16:creationId xmlns:a16="http://schemas.microsoft.com/office/drawing/2014/main" id="{23A47927-65B1-4B44-988F-D094B37414E6}"/>
              </a:ext>
            </a:extLst>
          </p:cNvPr>
          <p:cNvSpPr>
            <a:spLocks xmlns:a="http://schemas.openxmlformats.org/drawingml/2006/main" noGrp="1"/>
          </p:cNvSpPr>
          <p:nvPr/>
        </p:nvSpPr>
        <p:spPr>
          <a:xfrm xmlns:a="http://schemas.openxmlformats.org/drawingml/2006/main">
            <a:off x="609600" y="3638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L27</a:t>
            </a:r>
          </a:p>
        </p:txBody>
      </p:sp>
      <p:sp>
        <p:nvSpPr>
          <p:cNvPr id="31" name="">
            <a:extLst xmlns:a="http://schemas.openxmlformats.org/drawingml/2006/main">
              <a:ext uri="{FF2B5EF4-FFF2-40B4-BE49-F238E27FC236}">
                <a16:creationId xmlns:a16="http://schemas.microsoft.com/office/drawing/2014/main" id="{BE36831C-7107-4FEB-A288-CE59E9AE7300}"/>
              </a:ext>
            </a:extLst>
          </p:cNvPr>
          <p:cNvSpPr>
            <a:spLocks xmlns:a="http://schemas.openxmlformats.org/drawingml/2006/main" noGrp="1"/>
          </p:cNvSpPr>
          <p:nvPr/>
        </p:nvSpPr>
        <p:spPr>
          <a:xfrm xmlns:a="http://schemas.openxmlformats.org/drawingml/2006/main">
            <a:off x="1047750" y="3619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BE75659-34C9-458E-92E5-08C274AFBA01}"/>
              </a:ext>
            </a:extLst>
          </p:cNvPr>
          <p:cNvSpPr>
            <a:spLocks xmlns:a="http://schemas.openxmlformats.org/drawingml/2006/main" noGrp="1"/>
          </p:cNvSpPr>
          <p:nvPr/>
        </p:nvSpPr>
        <p:spPr>
          <a:xfrm xmlns:a="http://schemas.openxmlformats.org/drawingml/2006/main">
            <a:off x="1047750" y="3619500"/>
            <a:ext cx="2765029"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372CCB6-92C0-4D3F-85DB-AD0146CC05C4}"/>
              </a:ext>
            </a:extLst>
          </p:cNvPr>
          <p:cNvSpPr>
            <a:spLocks xmlns:a="http://schemas.openxmlformats.org/drawingml/2006/main" noGrp="1"/>
          </p:cNvSpPr>
          <p:nvPr/>
        </p:nvSpPr>
        <p:spPr>
          <a:xfrm xmlns:a="http://schemas.openxmlformats.org/drawingml/2006/main">
            <a:off x="5791200" y="3629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94.6×</a:t>
            </a:r>
          </a:p>
        </p:txBody>
      </p:sp>
      <p:sp>
        <p:nvSpPr>
          <p:cNvPr id="34" name="">
            <a:extLst xmlns:a="http://schemas.openxmlformats.org/drawingml/2006/main">
              <a:ext uri="{FF2B5EF4-FFF2-40B4-BE49-F238E27FC236}">
                <a16:creationId xmlns:a16="http://schemas.microsoft.com/office/drawing/2014/main" id="{96CE6925-E90A-4002-ABB6-93BB42261342}"/>
              </a:ext>
            </a:extLst>
          </p:cNvPr>
          <p:cNvSpPr>
            <a:spLocks xmlns:a="http://schemas.openxmlformats.org/drawingml/2006/main" noGrp="1"/>
          </p:cNvSpPr>
          <p:nvPr/>
        </p:nvSpPr>
        <p:spPr>
          <a:xfrm xmlns:a="http://schemas.openxmlformats.org/drawingml/2006/main">
            <a:off x="609600" y="3943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L31</a:t>
            </a:r>
          </a:p>
        </p:txBody>
      </p:sp>
      <p:sp>
        <p:nvSpPr>
          <p:cNvPr id="35" name="">
            <a:extLst xmlns:a="http://schemas.openxmlformats.org/drawingml/2006/main">
              <a:ext uri="{FF2B5EF4-FFF2-40B4-BE49-F238E27FC236}">
                <a16:creationId xmlns:a16="http://schemas.microsoft.com/office/drawing/2014/main" id="{6CD4ADB1-122D-4A1B-BF8D-B12C4E5C9A8B}"/>
              </a:ext>
            </a:extLst>
          </p:cNvPr>
          <p:cNvSpPr>
            <a:spLocks xmlns:a="http://schemas.openxmlformats.org/drawingml/2006/main" noGrp="1"/>
          </p:cNvSpPr>
          <p:nvPr/>
        </p:nvSpPr>
        <p:spPr>
          <a:xfrm xmlns:a="http://schemas.openxmlformats.org/drawingml/2006/main">
            <a:off x="1047750" y="3924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3AFFA53-AC40-45F0-B69A-2D58A6B960F4}"/>
              </a:ext>
            </a:extLst>
          </p:cNvPr>
          <p:cNvSpPr>
            <a:spLocks xmlns:a="http://schemas.openxmlformats.org/drawingml/2006/main" noGrp="1"/>
          </p:cNvSpPr>
          <p:nvPr/>
        </p:nvSpPr>
        <p:spPr>
          <a:xfrm xmlns:a="http://schemas.openxmlformats.org/drawingml/2006/main">
            <a:off x="1047750" y="3924300"/>
            <a:ext cx="195775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EA3CD55-6F8E-4C5A-A9C6-D80B99FF69D0}"/>
              </a:ext>
            </a:extLst>
          </p:cNvPr>
          <p:cNvSpPr>
            <a:spLocks xmlns:a="http://schemas.openxmlformats.org/drawingml/2006/main" noGrp="1"/>
          </p:cNvSpPr>
          <p:nvPr/>
        </p:nvSpPr>
        <p:spPr>
          <a:xfrm xmlns:a="http://schemas.openxmlformats.org/drawingml/2006/main">
            <a:off x="5791200" y="3933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67.0×</a:t>
            </a:r>
          </a:p>
        </p:txBody>
      </p:sp>
      <p:sp>
        <p:nvSpPr>
          <p:cNvPr id="38" name="">
            <a:extLst xmlns:a="http://schemas.openxmlformats.org/drawingml/2006/main">
              <a:ext uri="{FF2B5EF4-FFF2-40B4-BE49-F238E27FC236}">
                <a16:creationId xmlns:a16="http://schemas.microsoft.com/office/drawing/2014/main" id="{7115F92E-6859-4432-9AD5-E33FEDE6A3D4}"/>
              </a:ext>
            </a:extLst>
          </p:cNvPr>
          <p:cNvSpPr>
            <a:spLocks xmlns:a="http://schemas.openxmlformats.org/drawingml/2006/main" noGrp="1"/>
          </p:cNvSpPr>
          <p:nvPr/>
        </p:nvSpPr>
        <p:spPr>
          <a:xfrm xmlns:a="http://schemas.openxmlformats.org/drawingml/2006/main">
            <a:off x="6800850" y="1485900"/>
            <a:ext cx="4781550" cy="2724150"/>
          </a:xfrm>
          <a:prstGeom xmlns:a="http://schemas.openxmlformats.org/drawingml/2006/main" prst="roundRect">
            <a:avLst>
              <a:gd name="adj" fmla="val 2797"/>
            </a:avLst>
          </a:prstGeom>
          <a:solidFill xmlns:a="http://schemas.openxmlformats.org/drawingml/2006/main">
            <a:srgbClr val="1C273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36053B17-AE05-4D9C-83BC-EAF9E785729A}"/>
              </a:ext>
            </a:extLst>
          </p:cNvPr>
          <p:cNvSpPr>
            <a:spLocks xmlns:a="http://schemas.openxmlformats.org/drawingml/2006/main" noGrp="1"/>
          </p:cNvSpPr>
          <p:nvPr/>
        </p:nvSpPr>
        <p:spPr>
          <a:xfrm xmlns:a="http://schemas.openxmlformats.org/drawingml/2006/main">
            <a:off x="7048500" y="169545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WHAT REPLICATED</a:t>
            </a:r>
          </a:p>
        </p:txBody>
      </p:sp>
      <p:sp>
        <p:nvSpPr>
          <p:cNvPr id="40" name="">
            <a:extLst xmlns:a="http://schemas.openxmlformats.org/drawingml/2006/main">
              <a:ext uri="{FF2B5EF4-FFF2-40B4-BE49-F238E27FC236}">
                <a16:creationId xmlns:a16="http://schemas.microsoft.com/office/drawing/2014/main" id="{94864C8B-0A3C-44AF-909F-16BE0CF8F8B8}"/>
              </a:ext>
            </a:extLst>
          </p:cNvPr>
          <p:cNvSpPr>
            <a:spLocks xmlns:a="http://schemas.openxmlformats.org/drawingml/2006/main" noGrp="1"/>
          </p:cNvSpPr>
          <p:nvPr/>
        </p:nvSpPr>
        <p:spPr>
          <a:xfrm xmlns:a="http://schemas.openxmlformats.org/drawingml/2006/main">
            <a:off x="7048500" y="19716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L19 ranks #1 of 8</a:t>
            </a:r>
          </a:p>
        </p:txBody>
      </p:sp>
      <p:sp>
        <p:nvSpPr>
          <p:cNvPr id="41" name="">
            <a:extLst xmlns:a="http://schemas.openxmlformats.org/drawingml/2006/main">
              <a:ext uri="{FF2B5EF4-FFF2-40B4-BE49-F238E27FC236}">
                <a16:creationId xmlns:a16="http://schemas.microsoft.com/office/drawing/2014/main" id="{09660C46-B1C8-497C-BE02-9A8E92900659}"/>
              </a:ext>
            </a:extLst>
          </p:cNvPr>
          <p:cNvSpPr>
            <a:spLocks xmlns:a="http://schemas.openxmlformats.org/drawingml/2006/main" noGrp="1"/>
          </p:cNvSpPr>
          <p:nvPr/>
        </p:nvSpPr>
        <p:spPr>
          <a:xfrm xmlns:a="http://schemas.openxmlformats.org/drawingml/2006/main">
            <a:off x="7048500" y="2333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158.4× mean vs 151.4× at L15</a:t>
            </a:r>
          </a:p>
        </p:txBody>
      </p:sp>
      <p:sp>
        <p:nvSpPr>
          <p:cNvPr id="42" name="">
            <a:extLst xmlns:a="http://schemas.openxmlformats.org/drawingml/2006/main">
              <a:ext uri="{FF2B5EF4-FFF2-40B4-BE49-F238E27FC236}">
                <a16:creationId xmlns:a16="http://schemas.microsoft.com/office/drawing/2014/main" id="{C9CB5BDE-B85B-4B1A-B955-1B67137BF370}"/>
              </a:ext>
            </a:extLst>
          </p:cNvPr>
          <p:cNvSpPr>
            <a:spLocks xmlns:a="http://schemas.openxmlformats.org/drawingml/2006/main" noGrp="1"/>
          </p:cNvSpPr>
          <p:nvPr/>
        </p:nvSpPr>
        <p:spPr>
          <a:xfrm xmlns:a="http://schemas.openxmlformats.org/drawingml/2006/main">
            <a:off x="7048500" y="254317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L15 and L19 are both full-attention layers.</a:t>
            </a:r>
          </a:p>
        </p:txBody>
      </p:sp>
      <p:sp>
        <p:nvSpPr>
          <p:cNvPr id="43" name="">
            <a:extLst xmlns:a="http://schemas.openxmlformats.org/drawingml/2006/main">
              <a:ext uri="{FF2B5EF4-FFF2-40B4-BE49-F238E27FC236}">
                <a16:creationId xmlns:a16="http://schemas.microsoft.com/office/drawing/2014/main" id="{C1F717F2-C7E2-48D2-86D4-980F0F2D1E81}"/>
              </a:ext>
            </a:extLst>
          </p:cNvPr>
          <p:cNvSpPr>
            <a:spLocks xmlns:a="http://schemas.openxmlformats.org/drawingml/2006/main" noGrp="1"/>
          </p:cNvSpPr>
          <p:nvPr/>
        </p:nvSpPr>
        <p:spPr>
          <a:xfrm xmlns:a="http://schemas.openxmlformats.org/drawingml/2006/main">
            <a:off x="7048500" y="2800350"/>
            <a:ext cx="4286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2863FDD-93FB-4793-BAB6-C7FA917E1108}"/>
              </a:ext>
            </a:extLst>
          </p:cNvPr>
          <p:cNvSpPr>
            <a:spLocks xmlns:a="http://schemas.openxmlformats.org/drawingml/2006/main" noGrp="1"/>
          </p:cNvSpPr>
          <p:nvPr/>
        </p:nvSpPr>
        <p:spPr>
          <a:xfrm xmlns:a="http://schemas.openxmlformats.org/drawingml/2006/main">
            <a:off x="7048500" y="29241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TOP HEADS FORM AN L19 CLUSTER</a:t>
            </a:r>
          </a:p>
        </p:txBody>
      </p:sp>
      <p:sp>
        <p:nvSpPr>
          <p:cNvPr id="45" name="">
            <a:extLst xmlns:a="http://schemas.openxmlformats.org/drawingml/2006/main">
              <a:ext uri="{FF2B5EF4-FFF2-40B4-BE49-F238E27FC236}">
                <a16:creationId xmlns:a16="http://schemas.microsoft.com/office/drawing/2014/main" id="{01F278F8-78B7-46F0-B57A-7F4EC05718DC}"/>
              </a:ext>
            </a:extLst>
          </p:cNvPr>
          <p:cNvSpPr>
            <a:spLocks xmlns:a="http://schemas.openxmlformats.org/drawingml/2006/main" noGrp="1"/>
          </p:cNvSpPr>
          <p:nvPr/>
        </p:nvSpPr>
        <p:spPr>
          <a:xfrm xmlns:a="http://schemas.openxmlformats.org/drawingml/2006/main">
            <a:off x="7048500" y="31718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H11 312.1×   H14 293.8×</a:t>
            </a:r>
          </a:p>
        </p:txBody>
      </p:sp>
      <p:sp>
        <p:nvSpPr>
          <p:cNvPr id="46" name="">
            <a:extLst xmlns:a="http://schemas.openxmlformats.org/drawingml/2006/main">
              <a:ext uri="{FF2B5EF4-FFF2-40B4-BE49-F238E27FC236}">
                <a16:creationId xmlns:a16="http://schemas.microsoft.com/office/drawing/2014/main" id="{E19A3BF5-C9B5-41FB-A0EB-6827B70BEAFF}"/>
              </a:ext>
            </a:extLst>
          </p:cNvPr>
          <p:cNvSpPr>
            <a:spLocks xmlns:a="http://schemas.openxmlformats.org/drawingml/2006/main" noGrp="1"/>
          </p:cNvSpPr>
          <p:nvPr/>
        </p:nvSpPr>
        <p:spPr>
          <a:xfrm xmlns:a="http://schemas.openxmlformats.org/drawingml/2006/main">
            <a:off x="7048500" y="3448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H10 264.7×   H2 245.6×</a:t>
            </a:r>
          </a:p>
        </p:txBody>
      </p:sp>
      <p:sp>
        <p:nvSpPr>
          <p:cNvPr id="47" name="">
            <a:extLst xmlns:a="http://schemas.openxmlformats.org/drawingml/2006/main">
              <a:ext uri="{FF2B5EF4-FFF2-40B4-BE49-F238E27FC236}">
                <a16:creationId xmlns:a16="http://schemas.microsoft.com/office/drawing/2014/main" id="{5F26E7F9-A431-482A-B3D9-C7A0DFF9AC5E}"/>
              </a:ext>
            </a:extLst>
          </p:cNvPr>
          <p:cNvSpPr>
            <a:spLocks xmlns:a="http://schemas.openxmlformats.org/drawingml/2006/main" noGrp="1"/>
          </p:cNvSpPr>
          <p:nvPr/>
        </p:nvSpPr>
        <p:spPr>
          <a:xfrm xmlns:a="http://schemas.openxmlformats.org/drawingml/2006/main">
            <a:off x="7048500" y="378142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4CED7"/>
                </a:solidFill>
                <a:latin typeface="Helvetica Neue"/>
                <a:ea typeface="Helvetica Neue"/>
                <a:cs typeface="Helvetica Neue"/>
              </a:defRPr>
            </a:pPr>
            <a:r>
              <a:rPr sz="900" b="0">
                <a:solidFill>
                  <a:srgbClr val="C4CED7"/>
                </a:solidFill>
                <a:latin typeface="Helvetica Neue"/>
                <a:ea typeface="Helvetica Neue"/>
                <a:cs typeface="Helvetica Neue"/>
              </a:rPr>
              <a:t>H10 ranks #3 among 16 heads within L19 and never ranks first on an individual item.</a:t>
            </a:r>
          </a:p>
        </p:txBody>
      </p:sp>
      <p:graphicFrame>
        <p:nvGraphicFramePr>
          <p:cNvPr id="98" name=""/>
          <p:cNvGraphicFramePr/>
          <p:nvPr/>
        </p:nvGraphicFramePr>
        <p:xfrm>
          <a:off xmlns:a="http://schemas.openxmlformats.org/drawingml/2006/main" x="609600" y="4457700"/>
          <a:ext xmlns:a="http://schemas.openxmlformats.org/drawingml/2006/main" cx="10972800" cy="1352550"/>
        </p:xfrm>
        <a:graphic xmlns:a="http://schemas.openxmlformats.org/drawingml/2006/main">
          <a:graphicData uri="http://schemas.openxmlformats.org/drawingml/2006/table">
            <a:tbl>
              <a:tblPr/>
              <a:tblGrid>
                <a:gridCol w="2705100"/>
                <a:gridCol w="1238250"/>
                <a:gridCol w="1714500"/>
                <a:gridCol w="1619250"/>
                <a:gridCol w="1809750"/>
                <a:gridCol w="1885950"/>
              </a:tblGrid>
              <a:tr h="270510">
                <a:tc>
                  <a:txBody>
                    <a:bodyPr>
                      <a:normAutofit/>
                    </a:bodyPr>
                    <a:lstStyle/>
                    <a:p>
                      <a:pPr algn="l"/>
                      <a:r>
                        <a:rPr sz="750" b="1">
                          <a:solidFill>
                            <a:srgbClr val="FFFFFF"/>
                          </a:solidFill>
                          <a:latin typeface="Helvetica Neue"/>
                          <a:ea typeface="Helvetica Neue"/>
                          <a:cs typeface="Helvetica Neue"/>
                        </a:rPr>
                        <a:t>ITEM</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LIFT</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RANK</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L19/H10</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H10 RANK</a:t>
                      </a:r>
                    </a:p>
                  </a:txBody>
                  <a:tcPr marL="76200" marR="76200" marT="19050" marB="19050" anchor="ctr">
                    <a:solidFill>
                      <a:srgbClr val="1C2733"/>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373.0×</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661.1×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2.2×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#5</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1.4×</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#7</a:t>
                      </a:r>
                    </a:p>
                  </a:txBody>
                  <a:tcPr marL="76200" marR="76200" marT="19050" marB="19050" anchor="ctr">
                    <a:solidFill>
                      <a:srgbClr val="ECE7DD"/>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214.3×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353.2×</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44.3×</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43.2×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#6</a:t>
                      </a:r>
                    </a:p>
                  </a:txBody>
                  <a:tcPr marL="76200" marR="76200" marT="19050" marB="19050" anchor="ctr">
                    <a:solidFill>
                      <a:srgbClr val="ECE7DD"/>
                    </a:solidFill>
                  </a:tcPr>
                </a:tc>
              </a:tr>
            </a:tbl>
          </a:graphicData>
        </a:graphic>
      </p:graphicFrame>
      <p:sp>
        <p:nvSpPr>
          <p:cNvPr id="49" name="">
            <a:extLst xmlns:a="http://schemas.openxmlformats.org/drawingml/2006/main">
              <a:ext uri="{FF2B5EF4-FFF2-40B4-BE49-F238E27FC236}">
                <a16:creationId xmlns:a16="http://schemas.microsoft.com/office/drawing/2014/main" id="{9CEB80E2-F12F-4137-BA44-F43AED00D78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9979DA68-78E5-4B8D-98CD-A9F45946691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Captured full-attention layers: L3, L7, L11, L15, L19, L23, L27, L31. Intervening Gated DeltaNet layers are outside this rollout.</a:t>
            </a:r>
          </a:p>
        </p:txBody>
      </p:sp>
    </p:spTree>
    <p:extLst>
      <p:ext uri="{BB962C8B-B14F-4D97-AF65-F5344CB8AC3E}">
        <p14:creationId xmlns:p14="http://schemas.microsoft.com/office/powerpoint/2010/main" val="1331562326"/>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1E9170B-126A-491D-8DB3-467561D158C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EC702001-3E1D-4937-8591-9F90D919CAE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5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Matched tile swap reverses the teacher-forced coordinate margin</a:t>
            </a:r>
          </a:p>
        </p:txBody>
      </p:sp>
      <p:sp>
        <p:nvSpPr>
          <p:cNvPr id="3" name="">
            <a:extLst xmlns:a="http://schemas.openxmlformats.org/drawingml/2006/main">
              <a:ext uri="{FF2B5EF4-FFF2-40B4-BE49-F238E27FC236}">
                <a16:creationId xmlns:a16="http://schemas.microsoft.com/office/drawing/2014/main" id="{D4A7CBE4-19ED-42B6-B716-20D7E63B3B5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091A7619-2A22-4490-A729-9D8C3BFBF00D}"/>
              </a:ext>
            </a:extLst>
          </p:cNvPr>
          <p:cNvSpPr>
            <a:spLocks xmlns:a="http://schemas.openxmlformats.org/drawingml/2006/main" noGrp="1"/>
          </p:cNvSpPr>
          <p:nvPr/>
        </p:nvSpPr>
        <p:spPr>
          <a:xfrm xmlns:a="http://schemas.openxmlformats.org/drawingml/2006/main">
            <a:off x="609600" y="114300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Create a Psychedelic vibrant presentation</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79561bf211324230"/>
          <a:srcRect xmlns:a="http://schemas.openxmlformats.org/drawingml/2006/main" l="2799" t="0" r="2799" b="0"/>
          <a:stretch xmlns:a="http://schemas.openxmlformats.org/drawingml/2006/main">
            <a:fillRect l="0" t="0" r="0" b="0"/>
          </a:stretch>
        </p:blipFill>
        <p:spPr>
          <a:xfrm xmlns:a="http://schemas.openxmlformats.org/drawingml/2006/main">
            <a:off x="609600" y="1562100"/>
            <a:ext cx="5219700" cy="2457450"/>
          </a:xfrm>
          <a:prstGeom xmlns:a="http://schemas.openxmlformats.org/drawingml/2006/main" prst="roundRect">
            <a:avLst>
              <a:gd name="adj" fmla="val 4651"/>
            </a:avLst>
          </a:prstGeom>
        </p:spPr>
      </p:pic>
      <p:sp>
        <p:nvSpPr>
          <p:cNvPr id="6" name="">
            <a:extLst xmlns:a="http://schemas.openxmlformats.org/drawingml/2006/main">
              <a:ext uri="{FF2B5EF4-FFF2-40B4-BE49-F238E27FC236}">
                <a16:creationId xmlns:a16="http://schemas.microsoft.com/office/drawing/2014/main" id="{F40653A5-4F92-472B-8E4F-7E4DBE431A87}"/>
              </a:ext>
            </a:extLst>
          </p:cNvPr>
          <p:cNvSpPr>
            <a:spLocks xmlns:a="http://schemas.openxmlformats.org/drawingml/2006/main" noGrp="1"/>
          </p:cNvSpPr>
          <p:nvPr/>
        </p:nvSpPr>
        <p:spPr>
          <a:xfrm xmlns:a="http://schemas.openxmlformats.org/drawingml/2006/main">
            <a:off x="6096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b559568f31e54acd"/>
          <a:srcRect xmlns:a="http://schemas.openxmlformats.org/drawingml/2006/main" l="2799" t="0" r="2799" b="0"/>
          <a:stretch xmlns:a="http://schemas.openxmlformats.org/drawingml/2006/main">
            <a:fillRect l="0" t="0" r="0" b="0"/>
          </a:stretch>
        </p:blipFill>
        <p:spPr>
          <a:xfrm xmlns:a="http://schemas.openxmlformats.org/drawingml/2006/main">
            <a:off x="6362700" y="1562100"/>
            <a:ext cx="5219700" cy="2457450"/>
          </a:xfrm>
          <a:prstGeom xmlns:a="http://schemas.openxmlformats.org/drawingml/2006/main" prst="roundRect">
            <a:avLst>
              <a:gd name="adj" fmla="val 4651"/>
            </a:avLst>
          </a:prstGeom>
        </p:spPr>
      </p:pic>
      <p:sp>
        <p:nvSpPr>
          <p:cNvPr id="8" name="">
            <a:extLst xmlns:a="http://schemas.openxmlformats.org/drawingml/2006/main">
              <a:ext uri="{FF2B5EF4-FFF2-40B4-BE49-F238E27FC236}">
                <a16:creationId xmlns:a16="http://schemas.microsoft.com/office/drawing/2014/main" id="{1AD75F00-4F62-4F49-99C6-EFA3B3B62B6B}"/>
              </a:ext>
            </a:extLst>
          </p:cNvPr>
          <p:cNvSpPr>
            <a:spLocks xmlns:a="http://schemas.openxmlformats.org/drawingml/2006/main" noGrp="1"/>
          </p:cNvSpPr>
          <p:nvPr/>
        </p:nvSpPr>
        <p:spPr>
          <a:xfrm xmlns:a="http://schemas.openxmlformats.org/drawingml/2006/main">
            <a:off x="63627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9A3712C1-0715-4931-8733-92F753464F18}"/>
              </a:ext>
            </a:extLst>
          </p:cNvPr>
          <p:cNvSpPr>
            <a:spLocks xmlns:a="http://schemas.openxmlformats.org/drawingml/2006/main" noGrp="1"/>
          </p:cNvSpPr>
          <p:nvPr/>
        </p:nvSpPr>
        <p:spPr>
          <a:xfrm xmlns:a="http://schemas.openxmlformats.org/drawingml/2006/main">
            <a:off x="800100" y="1752600"/>
            <a:ext cx="742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8BAA1A8-4E19-4534-8F29-6CC0FB001DF0}"/>
              </a:ext>
            </a:extLst>
          </p:cNvPr>
          <p:cNvSpPr>
            <a:spLocks xmlns:a="http://schemas.openxmlformats.org/drawingml/2006/main" noGrp="1"/>
          </p:cNvSpPr>
          <p:nvPr/>
        </p:nvSpPr>
        <p:spPr>
          <a:xfrm xmlns:a="http://schemas.openxmlformats.org/drawingml/2006/main">
            <a:off x="895350" y="177165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sp>
        <p:nvSpPr>
          <p:cNvPr id="11" name="">
            <a:extLst xmlns:a="http://schemas.openxmlformats.org/drawingml/2006/main">
              <a:ext uri="{FF2B5EF4-FFF2-40B4-BE49-F238E27FC236}">
                <a16:creationId xmlns:a16="http://schemas.microsoft.com/office/drawing/2014/main" id="{DF865446-5A75-4362-8E56-6D1C1AA4E504}"/>
              </a:ext>
            </a:extLst>
          </p:cNvPr>
          <p:cNvSpPr>
            <a:spLocks xmlns:a="http://schemas.openxmlformats.org/drawingml/2006/main" noGrp="1"/>
          </p:cNvSpPr>
          <p:nvPr/>
        </p:nvSpPr>
        <p:spPr>
          <a:xfrm xmlns:a="http://schemas.openxmlformats.org/drawingml/2006/main">
            <a:off x="6553200" y="1752600"/>
            <a:ext cx="1885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6EF1CFF-78E7-4C89-A05F-562E18FE2A9E}"/>
              </a:ext>
            </a:extLst>
          </p:cNvPr>
          <p:cNvSpPr>
            <a:spLocks xmlns:a="http://schemas.openxmlformats.org/drawingml/2006/main" noGrp="1"/>
          </p:cNvSpPr>
          <p:nvPr/>
        </p:nvSpPr>
        <p:spPr>
          <a:xfrm xmlns:a="http://schemas.openxmlformats.org/drawingml/2006/main">
            <a:off x="6648450" y="1771650"/>
            <a:ext cx="169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0.91% OF PIXELS SWAPPED</a:t>
            </a:r>
          </a:p>
        </p:txBody>
      </p:sp>
      <p:sp>
        <p:nvSpPr>
          <p:cNvPr id="13" name="">
            <a:extLst xmlns:a="http://schemas.openxmlformats.org/drawingml/2006/main">
              <a:ext uri="{FF2B5EF4-FFF2-40B4-BE49-F238E27FC236}">
                <a16:creationId xmlns:a16="http://schemas.microsoft.com/office/drawing/2014/main" id="{2EC1A2D7-D39F-40D0-96D2-1DC214CE7C99}"/>
              </a:ext>
            </a:extLst>
          </p:cNvPr>
          <p:cNvSpPr>
            <a:spLocks xmlns:a="http://schemas.openxmlformats.org/drawingml/2006/main" noGrp="1"/>
          </p:cNvSpPr>
          <p:nvPr/>
        </p:nvSpPr>
        <p:spPr>
          <a:xfrm xmlns:a="http://schemas.openxmlformats.org/drawingml/2006/main">
            <a:off x="6096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at (482,351)</a:t>
            </a:r>
          </a:p>
        </p:txBody>
      </p:sp>
      <p:sp>
        <p:nvSpPr>
          <p:cNvPr id="14" name="">
            <a:extLst xmlns:a="http://schemas.openxmlformats.org/drawingml/2006/main">
              <a:ext uri="{FF2B5EF4-FFF2-40B4-BE49-F238E27FC236}">
                <a16:creationId xmlns:a16="http://schemas.microsoft.com/office/drawing/2014/main" id="{3AAAE89D-2657-45BE-B81E-2BCF79F944CD}"/>
              </a:ext>
            </a:extLst>
          </p:cNvPr>
          <p:cNvSpPr>
            <a:spLocks xmlns:a="http://schemas.openxmlformats.org/drawingml/2006/main" noGrp="1"/>
          </p:cNvSpPr>
          <p:nvPr/>
        </p:nvSpPr>
        <p:spPr>
          <a:xfrm xmlns:a="http://schemas.openxmlformats.org/drawingml/2006/main">
            <a:off x="63627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moves to (406,351)</a:t>
            </a:r>
          </a:p>
        </p:txBody>
      </p:sp>
      <p:sp>
        <p:nvSpPr>
          <p:cNvPr id="15" name="">
            <a:extLst xmlns:a="http://schemas.openxmlformats.org/drawingml/2006/main">
              <a:ext uri="{FF2B5EF4-FFF2-40B4-BE49-F238E27FC236}">
                <a16:creationId xmlns:a16="http://schemas.microsoft.com/office/drawing/2014/main" id="{27030712-CF40-4904-AF4B-44497E09B939}"/>
              </a:ext>
            </a:extLst>
          </p:cNvPr>
          <p:cNvSpPr>
            <a:spLocks xmlns:a="http://schemas.openxmlformats.org/drawingml/2006/main" noGrp="1"/>
          </p:cNvSpPr>
          <p:nvPr/>
        </p:nvSpPr>
        <p:spPr>
          <a:xfrm xmlns:a="http://schemas.openxmlformats.org/drawingml/2006/main">
            <a:off x="609600" y="4400550"/>
            <a:ext cx="10972800" cy="1466850"/>
          </a:xfrm>
          <a:prstGeom xmlns:a="http://schemas.openxmlformats.org/drawingml/2006/main" prst="roundRect">
            <a:avLst>
              <a:gd name="adj" fmla="val 5195"/>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5368CE3-58B7-4473-92D1-2A0C6815912F}"/>
              </a:ext>
            </a:extLst>
          </p:cNvPr>
          <p:cNvSpPr>
            <a:spLocks xmlns:a="http://schemas.openxmlformats.org/drawingml/2006/main" noGrp="1"/>
          </p:cNvSpPr>
          <p:nvPr/>
        </p:nvSpPr>
        <p:spPr>
          <a:xfrm xmlns:a="http://schemas.openxmlformats.org/drawingml/2006/main">
            <a:off x="857250" y="4581525"/>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TEACHER-FORCED COORDINATE MARGIN</a:t>
            </a:r>
          </a:p>
        </p:txBody>
      </p:sp>
      <p:sp>
        <p:nvSpPr>
          <p:cNvPr id="17" name="">
            <a:extLst xmlns:a="http://schemas.openxmlformats.org/drawingml/2006/main">
              <a:ext uri="{FF2B5EF4-FFF2-40B4-BE49-F238E27FC236}">
                <a16:creationId xmlns:a16="http://schemas.microsoft.com/office/drawing/2014/main" id="{520C3D5A-1AB3-429B-8982-DADFC7B2F96A}"/>
              </a:ext>
            </a:extLst>
          </p:cNvPr>
          <p:cNvSpPr>
            <a:spLocks xmlns:a="http://schemas.openxmlformats.org/drawingml/2006/main" noGrp="1"/>
          </p:cNvSpPr>
          <p:nvPr/>
        </p:nvSpPr>
        <p:spPr>
          <a:xfrm xmlns:a="http://schemas.openxmlformats.org/drawingml/2006/main">
            <a:off x="857250" y="487680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margin = log p(correct coordinate tokens) − log p(distractor coordinate tokens)</a:t>
            </a:r>
          </a:p>
        </p:txBody>
      </p:sp>
      <p:sp>
        <p:nvSpPr>
          <p:cNvPr id="18" name="">
            <a:extLst xmlns:a="http://schemas.openxmlformats.org/drawingml/2006/main">
              <a:ext uri="{FF2B5EF4-FFF2-40B4-BE49-F238E27FC236}">
                <a16:creationId xmlns:a16="http://schemas.microsoft.com/office/drawing/2014/main" id="{4491341F-BF0E-4789-AEAF-D8179049F922}"/>
              </a:ext>
            </a:extLst>
          </p:cNvPr>
          <p:cNvSpPr>
            <a:spLocks xmlns:a="http://schemas.openxmlformats.org/drawingml/2006/main" noGrp="1"/>
          </p:cNvSpPr>
          <p:nvPr/>
        </p:nvSpPr>
        <p:spPr>
          <a:xfrm xmlns:a="http://schemas.openxmlformats.org/drawingml/2006/main">
            <a:off x="857250" y="5238750"/>
            <a:ext cx="733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5B249"/>
                </a:solidFill>
                <a:latin typeface="Helvetica Neue"/>
                <a:ea typeface="Helvetica Neue"/>
                <a:cs typeface="Helvetica Neue"/>
              </a:defRPr>
            </a:pPr>
            <a:r>
              <a:rPr sz="1125" b="1">
                <a:solidFill>
                  <a:srgbClr val="E5B249"/>
                </a:solidFill>
                <a:latin typeface="Helvetica Neue"/>
                <a:ea typeface="Helvetica Neue"/>
                <a:cs typeface="Helvetica Neue"/>
              </a:rPr>
              <a:t>+1 nat multiplies the target-to-distractor probability ratio by e ≈ 2.72</a:t>
            </a:r>
          </a:p>
        </p:txBody>
      </p:sp>
      <p:sp>
        <p:nvSpPr>
          <p:cNvPr id="19" name="">
            <a:extLst xmlns:a="http://schemas.openxmlformats.org/drawingml/2006/main">
              <a:ext uri="{FF2B5EF4-FFF2-40B4-BE49-F238E27FC236}">
                <a16:creationId xmlns:a16="http://schemas.microsoft.com/office/drawing/2014/main" id="{0ACFFD7B-0CBC-4DB0-BCBD-CC2CAF7C45BE}"/>
              </a:ext>
            </a:extLst>
          </p:cNvPr>
          <p:cNvSpPr>
            <a:spLocks xmlns:a="http://schemas.openxmlformats.org/drawingml/2006/main" noGrp="1"/>
          </p:cNvSpPr>
          <p:nvPr/>
        </p:nvSpPr>
        <p:spPr>
          <a:xfrm xmlns:a="http://schemas.openxmlformats.org/drawingml/2006/main">
            <a:off x="857250" y="5524500"/>
            <a:ext cx="7334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BBC6D0"/>
                </a:solidFill>
                <a:latin typeface="Helvetica Neue"/>
                <a:ea typeface="Helvetica Neue"/>
                <a:cs typeface="Helvetica Neue"/>
              </a:defRPr>
            </a:pPr>
            <a:r>
              <a:rPr sz="900" b="0">
                <a:solidFill>
                  <a:srgbClr val="BBC6D0"/>
                </a:solidFill>
                <a:latin typeface="Helvetica Neue"/>
                <a:ea typeface="Helvetica Neue"/>
                <a:cs typeface="Helvetica Neue"/>
              </a:rPr>
              <a:t>Six coordinate tokens per candidate; syntax excluded; later tokens use each candidate’s own prefix</a:t>
            </a:r>
          </a:p>
        </p:txBody>
      </p:sp>
      <p:sp>
        <p:nvSpPr>
          <p:cNvPr id="20" name="">
            <a:extLst xmlns:a="http://schemas.openxmlformats.org/drawingml/2006/main">
              <a:ext uri="{FF2B5EF4-FFF2-40B4-BE49-F238E27FC236}">
                <a16:creationId xmlns:a16="http://schemas.microsoft.com/office/drawing/2014/main" id="{1AC572F1-32D2-43B0-A8D9-03C8B0C50BF5}"/>
              </a:ext>
            </a:extLst>
          </p:cNvPr>
          <p:cNvSpPr>
            <a:spLocks xmlns:a="http://schemas.openxmlformats.org/drawingml/2006/main" noGrp="1"/>
          </p:cNvSpPr>
          <p:nvPr/>
        </p:nvSpPr>
        <p:spPr>
          <a:xfrm xmlns:a="http://schemas.openxmlformats.org/drawingml/2006/main">
            <a:off x="8458200" y="4619625"/>
            <a:ext cx="12763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46CBDF12-751E-45C3-8C9B-7D68475161A4}"/>
              </a:ext>
            </a:extLst>
          </p:cNvPr>
          <p:cNvSpPr>
            <a:spLocks xmlns:a="http://schemas.openxmlformats.org/drawingml/2006/main" noGrp="1"/>
          </p:cNvSpPr>
          <p:nvPr/>
        </p:nvSpPr>
        <p:spPr>
          <a:xfrm xmlns:a="http://schemas.openxmlformats.org/drawingml/2006/main">
            <a:off x="8458200" y="4619625"/>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5DE2F12-66AE-4CC7-A8CF-132AC173F28F}"/>
              </a:ext>
            </a:extLst>
          </p:cNvPr>
          <p:cNvSpPr>
            <a:spLocks xmlns:a="http://schemas.openxmlformats.org/drawingml/2006/main" noGrp="1"/>
          </p:cNvSpPr>
          <p:nvPr/>
        </p:nvSpPr>
        <p:spPr>
          <a:xfrm xmlns:a="http://schemas.openxmlformats.org/drawingml/2006/main">
            <a:off x="8648700" y="4752975"/>
            <a:ext cx="97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CLEAN</a:t>
            </a:r>
          </a:p>
        </p:txBody>
      </p:sp>
      <p:sp>
        <p:nvSpPr>
          <p:cNvPr id="23" name="">
            <a:extLst xmlns:a="http://schemas.openxmlformats.org/drawingml/2006/main">
              <a:ext uri="{FF2B5EF4-FFF2-40B4-BE49-F238E27FC236}">
                <a16:creationId xmlns:a16="http://schemas.microsoft.com/office/drawing/2014/main" id="{BECC2A10-E471-4B13-AD26-CDD70AC5965D}"/>
              </a:ext>
            </a:extLst>
          </p:cNvPr>
          <p:cNvSpPr>
            <a:spLocks xmlns:a="http://schemas.openxmlformats.org/drawingml/2006/main" noGrp="1"/>
          </p:cNvSpPr>
          <p:nvPr/>
        </p:nvSpPr>
        <p:spPr>
          <a:xfrm xmlns:a="http://schemas.openxmlformats.org/drawingml/2006/main">
            <a:off x="8648700" y="4943475"/>
            <a:ext cx="97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+1.70</a:t>
            </a:r>
          </a:p>
        </p:txBody>
      </p:sp>
      <p:sp>
        <p:nvSpPr>
          <p:cNvPr id="24" name="">
            <a:extLst xmlns:a="http://schemas.openxmlformats.org/drawingml/2006/main">
              <a:ext uri="{FF2B5EF4-FFF2-40B4-BE49-F238E27FC236}">
                <a16:creationId xmlns:a16="http://schemas.microsoft.com/office/drawing/2014/main" id="{872DAC35-293C-40EF-9459-1834B1435DAF}"/>
              </a:ext>
            </a:extLst>
          </p:cNvPr>
          <p:cNvSpPr>
            <a:spLocks xmlns:a="http://schemas.openxmlformats.org/drawingml/2006/main" noGrp="1"/>
          </p:cNvSpPr>
          <p:nvPr/>
        </p:nvSpPr>
        <p:spPr>
          <a:xfrm xmlns:a="http://schemas.openxmlformats.org/drawingml/2006/main">
            <a:off x="8648700" y="535305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5.47× target</a:t>
            </a:r>
          </a:p>
        </p:txBody>
      </p:sp>
      <p:sp>
        <p:nvSpPr>
          <p:cNvPr id="25" name="">
            <a:extLst xmlns:a="http://schemas.openxmlformats.org/drawingml/2006/main">
              <a:ext uri="{FF2B5EF4-FFF2-40B4-BE49-F238E27FC236}">
                <a16:creationId xmlns:a16="http://schemas.microsoft.com/office/drawing/2014/main" id="{3FEC0B36-AA53-4E42-BE49-25F198EDC3F4}"/>
              </a:ext>
            </a:extLst>
          </p:cNvPr>
          <p:cNvSpPr>
            <a:spLocks xmlns:a="http://schemas.openxmlformats.org/drawingml/2006/main" noGrp="1"/>
          </p:cNvSpPr>
          <p:nvPr/>
        </p:nvSpPr>
        <p:spPr>
          <a:xfrm xmlns:a="http://schemas.openxmlformats.org/drawingml/2006/main">
            <a:off x="9886950" y="4619625"/>
            <a:ext cx="1428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9A021CD5-9A46-49F3-85B8-B04E73DC57F6}"/>
              </a:ext>
            </a:extLst>
          </p:cNvPr>
          <p:cNvSpPr>
            <a:spLocks xmlns:a="http://schemas.openxmlformats.org/drawingml/2006/main" noGrp="1"/>
          </p:cNvSpPr>
          <p:nvPr/>
        </p:nvSpPr>
        <p:spPr>
          <a:xfrm xmlns:a="http://schemas.openxmlformats.org/drawingml/2006/main">
            <a:off x="9886950" y="4619625"/>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F364DD2-81BA-443E-8AE0-9B888695CB52}"/>
              </a:ext>
            </a:extLst>
          </p:cNvPr>
          <p:cNvSpPr>
            <a:spLocks xmlns:a="http://schemas.openxmlformats.org/drawingml/2006/main" noGrp="1"/>
          </p:cNvSpPr>
          <p:nvPr/>
        </p:nvSpPr>
        <p:spPr>
          <a:xfrm xmlns:a="http://schemas.openxmlformats.org/drawingml/2006/main">
            <a:off x="10077450" y="4752975"/>
            <a:ext cx="1123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CORRUPTED</a:t>
            </a:r>
          </a:p>
        </p:txBody>
      </p:sp>
      <p:sp>
        <p:nvSpPr>
          <p:cNvPr id="28" name="">
            <a:extLst xmlns:a="http://schemas.openxmlformats.org/drawingml/2006/main">
              <a:ext uri="{FF2B5EF4-FFF2-40B4-BE49-F238E27FC236}">
                <a16:creationId xmlns:a16="http://schemas.microsoft.com/office/drawing/2014/main" id="{7F6BBF8E-C7DD-43A5-B03A-5F2F39155BFF}"/>
              </a:ext>
            </a:extLst>
          </p:cNvPr>
          <p:cNvSpPr>
            <a:spLocks xmlns:a="http://schemas.openxmlformats.org/drawingml/2006/main" noGrp="1"/>
          </p:cNvSpPr>
          <p:nvPr/>
        </p:nvSpPr>
        <p:spPr>
          <a:xfrm xmlns:a="http://schemas.openxmlformats.org/drawingml/2006/main">
            <a:off x="10077450" y="4943475"/>
            <a:ext cx="112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−2.64</a:t>
            </a:r>
          </a:p>
        </p:txBody>
      </p:sp>
      <p:sp>
        <p:nvSpPr>
          <p:cNvPr id="29" name="">
            <a:extLst xmlns:a="http://schemas.openxmlformats.org/drawingml/2006/main">
              <a:ext uri="{FF2B5EF4-FFF2-40B4-BE49-F238E27FC236}">
                <a16:creationId xmlns:a16="http://schemas.microsoft.com/office/drawing/2014/main" id="{7D3AC7A2-3651-4013-A6DA-42DFB600CE90}"/>
              </a:ext>
            </a:extLst>
          </p:cNvPr>
          <p:cNvSpPr>
            <a:spLocks xmlns:a="http://schemas.openxmlformats.org/drawingml/2006/main" noGrp="1"/>
          </p:cNvSpPr>
          <p:nvPr/>
        </p:nvSpPr>
        <p:spPr>
          <a:xfrm xmlns:a="http://schemas.openxmlformats.org/drawingml/2006/main">
            <a:off x="10077450" y="5353050"/>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14.07× distractor</a:t>
            </a:r>
          </a:p>
        </p:txBody>
      </p:sp>
      <p:sp>
        <p:nvSpPr>
          <p:cNvPr id="30" name="">
            <a:extLst xmlns:a="http://schemas.openxmlformats.org/drawingml/2006/main">
              <a:ext uri="{FF2B5EF4-FFF2-40B4-BE49-F238E27FC236}">
                <a16:creationId xmlns:a16="http://schemas.microsoft.com/office/drawing/2014/main" id="{D056FA86-6192-4053-B6B5-B0D7C5F4808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FFC0E2A-E859-47D0-AAF8-3948F7EC8E1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Lossless equal-size tile swap · 0.91% of pixels changed · localized perturbation may alter recognition and coordinate binding</a:t>
            </a:r>
          </a:p>
        </p:txBody>
      </p:sp>
    </p:spTree>
    <p:extLst>
      <p:ext uri="{BB962C8B-B14F-4D97-AF65-F5344CB8AC3E}">
        <p14:creationId xmlns:p14="http://schemas.microsoft.com/office/powerpoint/2010/main" val="1032486812"/>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2118235-3333-4733-BA03-0BAEDA11B46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0E17F570-675D-450B-B8FF-D467D727487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Target-region residuals recover one-third of the coordinate margin</a:t>
            </a:r>
          </a:p>
        </p:txBody>
      </p:sp>
      <p:sp>
        <p:nvSpPr>
          <p:cNvPr id="3" name="">
            <a:extLst xmlns:a="http://schemas.openxmlformats.org/drawingml/2006/main">
              <a:ext uri="{FF2B5EF4-FFF2-40B4-BE49-F238E27FC236}">
                <a16:creationId xmlns:a16="http://schemas.microsoft.com/office/drawing/2014/main" id="{1B0A47CE-5300-4D18-A737-F2703314032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7B9327AD-770C-4A15-88CD-F51B4037BAC3}"/>
              </a:ext>
            </a:extLst>
          </p:cNvPr>
          <p:cNvSpPr>
            <a:spLocks xmlns:a="http://schemas.openxmlformats.org/drawingml/2006/main" noGrp="1"/>
          </p:cNvSpPr>
          <p:nvPr/>
        </p:nvSpPr>
        <p:spPr>
          <a:xfrm xmlns:a="http://schemas.openxmlformats.org/drawingml/2006/main">
            <a:off x="609600" y="1162050"/>
            <a:ext cx="1924050" cy="323850"/>
          </a:xfrm>
          <a:prstGeom xmlns:a="http://schemas.openxmlformats.org/drawingml/2006/main" prst="roundRect">
            <a:avLst>
              <a:gd name="adj" fmla="val 23529"/>
            </a:avLst>
          </a:prstGeom>
          <a:solidFill xmlns:a="http://schemas.openxmlformats.org/drawingml/2006/main">
            <a:srgbClr val="FCE2D9"/>
          </a:solidFill>
          <a:ln xmlns:a="http://schemas.openxmlformats.org/drawingml/2006/main" w="9525">
            <a:solidFill>
              <a:srgbClr val="F05A3C"/>
            </a:solidFill>
          </a:ln>
        </p:spPr>
      </p:sp>
      <p:sp>
        <p:nvSpPr>
          <p:cNvPr id="5" name="">
            <a:extLst xmlns:a="http://schemas.openxmlformats.org/drawingml/2006/main">
              <a:ext uri="{FF2B5EF4-FFF2-40B4-BE49-F238E27FC236}">
                <a16:creationId xmlns:a16="http://schemas.microsoft.com/office/drawing/2014/main" id="{4294B0C3-8B8E-4DBD-ADF9-195BDA51245C}"/>
              </a:ext>
            </a:extLst>
          </p:cNvPr>
          <p:cNvSpPr>
            <a:spLocks xmlns:a="http://schemas.openxmlformats.org/drawingml/2006/main" noGrp="1"/>
          </p:cNvSpPr>
          <p:nvPr/>
        </p:nvSpPr>
        <p:spPr>
          <a:xfrm xmlns:a="http://schemas.openxmlformats.org/drawingml/2006/main">
            <a:off x="2857500" y="1162050"/>
            <a:ext cx="2057400" cy="323850"/>
          </a:xfrm>
          <a:prstGeom xmlns:a="http://schemas.openxmlformats.org/drawingml/2006/main" prst="roundRect">
            <a:avLst>
              <a:gd name="adj" fmla="val 23529"/>
            </a:avLst>
          </a:prstGeom>
          <a:solidFill xmlns:a="http://schemas.openxmlformats.org/drawingml/2006/main">
            <a:srgbClr val="DDECF9"/>
          </a:solidFill>
          <a:ln xmlns:a="http://schemas.openxmlformats.org/drawingml/2006/main" w="9525">
            <a:solidFill>
              <a:srgbClr val="2D84D3"/>
            </a:solidFill>
          </a:ln>
        </p:spPr>
      </p:sp>
      <p:sp>
        <p:nvSpPr>
          <p:cNvPr id="6" name="">
            <a:extLst xmlns:a="http://schemas.openxmlformats.org/drawingml/2006/main">
              <a:ext uri="{FF2B5EF4-FFF2-40B4-BE49-F238E27FC236}">
                <a16:creationId xmlns:a16="http://schemas.microsoft.com/office/drawing/2014/main" id="{FE5F6AA9-4DED-4C7E-B0B3-2964C133A31C}"/>
              </a:ext>
            </a:extLst>
          </p:cNvPr>
          <p:cNvSpPr>
            <a:spLocks xmlns:a="http://schemas.openxmlformats.org/drawingml/2006/main" noGrp="1"/>
          </p:cNvSpPr>
          <p:nvPr/>
        </p:nvSpPr>
        <p:spPr>
          <a:xfrm xmlns:a="http://schemas.openxmlformats.org/drawingml/2006/main">
            <a:off x="5238750" y="1162050"/>
            <a:ext cx="2457450" cy="323850"/>
          </a:xfrm>
          <a:prstGeom xmlns:a="http://schemas.openxmlformats.org/drawingml/2006/main" prst="roundRect">
            <a:avLst>
              <a:gd name="adj" fmla="val 23529"/>
            </a:avLst>
          </a:prstGeom>
          <a:solidFill xmlns:a="http://schemas.openxmlformats.org/drawingml/2006/main">
            <a:srgbClr val="E4F4EE"/>
          </a:solidFill>
          <a:ln xmlns:a="http://schemas.openxmlformats.org/drawingml/2006/main" w="9525">
            <a:solidFill>
              <a:srgbClr val="18A875"/>
            </a:solidFill>
          </a:ln>
        </p:spPr>
      </p:sp>
      <p:sp>
        <p:nvSpPr>
          <p:cNvPr id="7" name="">
            <a:extLst xmlns:a="http://schemas.openxmlformats.org/drawingml/2006/main">
              <a:ext uri="{FF2B5EF4-FFF2-40B4-BE49-F238E27FC236}">
                <a16:creationId xmlns:a16="http://schemas.microsoft.com/office/drawing/2014/main" id="{1D1D896C-FA95-4E51-8BDB-793A4F7EE266}"/>
              </a:ext>
            </a:extLst>
          </p:cNvPr>
          <p:cNvSpPr>
            <a:spLocks xmlns:a="http://schemas.openxmlformats.org/drawingml/2006/main" noGrp="1"/>
          </p:cNvSpPr>
          <p:nvPr/>
        </p:nvSpPr>
        <p:spPr>
          <a:xfrm xmlns:a="http://schemas.openxmlformats.org/drawingml/2006/main">
            <a:off x="723900" y="1219200"/>
            <a:ext cx="1695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Clean activation source</a:t>
            </a:r>
          </a:p>
        </p:txBody>
      </p:sp>
      <p:sp>
        <p:nvSpPr>
          <p:cNvPr id="8" name="">
            <a:extLst xmlns:a="http://schemas.openxmlformats.org/drawingml/2006/main">
              <a:ext uri="{FF2B5EF4-FFF2-40B4-BE49-F238E27FC236}">
                <a16:creationId xmlns:a16="http://schemas.microsoft.com/office/drawing/2014/main" id="{504ADAE9-4C33-44FA-964C-D73AE91042AA}"/>
              </a:ext>
            </a:extLst>
          </p:cNvPr>
          <p:cNvSpPr>
            <a:spLocks xmlns:a="http://schemas.openxmlformats.org/drawingml/2006/main" noGrp="1"/>
          </p:cNvSpPr>
          <p:nvPr/>
        </p:nvSpPr>
        <p:spPr>
          <a:xfrm xmlns:a="http://schemas.openxmlformats.org/drawingml/2006/main">
            <a:off x="2971800" y="1219200"/>
            <a:ext cx="1828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Corrupted run destination</a:t>
            </a:r>
          </a:p>
        </p:txBody>
      </p:sp>
      <p:sp>
        <p:nvSpPr>
          <p:cNvPr id="9" name="">
            <a:extLst xmlns:a="http://schemas.openxmlformats.org/drawingml/2006/main">
              <a:ext uri="{FF2B5EF4-FFF2-40B4-BE49-F238E27FC236}">
                <a16:creationId xmlns:a16="http://schemas.microsoft.com/office/drawing/2014/main" id="{97DE3E3F-738A-42D8-BEC8-6CC7735CE659}"/>
              </a:ext>
            </a:extLst>
          </p:cNvPr>
          <p:cNvSpPr>
            <a:spLocks xmlns:a="http://schemas.openxmlformats.org/drawingml/2006/main" noGrp="1"/>
          </p:cNvSpPr>
          <p:nvPr/>
        </p:nvSpPr>
        <p:spPr>
          <a:xfrm xmlns:a="http://schemas.openxmlformats.org/drawingml/2006/main">
            <a:off x="5353050" y="1219200"/>
            <a:ext cx="2228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Change in coordinate margin</a:t>
            </a:r>
          </a:p>
        </p:txBody>
      </p:sp>
      <p:cxnSp>
        <p:nvCxnSpPr>
          <p:cNvPr id="37" name=""/>
          <p:cNvCxnSpPr>
            <a:stCxn xmlns:a="http://schemas.openxmlformats.org/drawingml/2006/main" id="5" idx="1"/>
            <a:endCxn xmlns:a="http://schemas.openxmlformats.org/drawingml/2006/main" id="4" idx="3"/>
          </p:cNvCxnSpPr>
          <p:nvPr/>
        </p:nvCxnSpPr>
        <p:spPr>
          <a:xfrm xmlns:a="http://schemas.openxmlformats.org/drawingml/2006/main" flipH="1">
            <a:off x="253365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cxnSp>
        <p:nvCxnSpPr>
          <p:cNvPr id="38" name=""/>
          <p:cNvCxnSpPr>
            <a:stCxn xmlns:a="http://schemas.openxmlformats.org/drawingml/2006/main" id="6" idx="1"/>
            <a:endCxn xmlns:a="http://schemas.openxmlformats.org/drawingml/2006/main" id="5" idx="3"/>
          </p:cNvCxnSpPr>
          <p:nvPr/>
        </p:nvCxnSpPr>
        <p:spPr>
          <a:xfrm xmlns:a="http://schemas.openxmlformats.org/drawingml/2006/main" flipH="1">
            <a:off x="491490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graphicFrame>
        <p:nvGraphicFramePr>
          <p:cNvPr id="39" name="Chart"/>
          <p:cNvGraphicFramePr/>
          <p:nvPr/>
        </p:nvGraphicFramePr>
        <p:xfrm>
          <a:off xmlns:a="http://schemas.openxmlformats.org/drawingml/2006/main" x="609600" y="1714500"/>
          <a:ext xmlns:a="http://schemas.openxmlformats.org/drawingml/2006/main" cx="7086600" cy="3714750"/>
        </p:xfrm>
        <a:graphic xmlns:a="http://schemas.openxmlformats.org/drawingml/2006/main">
          <a:graphicData uri="http://schemas.openxmlformats.org/drawingml/2006/chart">
            <c:chart xmlns:r="http://schemas.openxmlformats.org/officeDocument/2006/relationships" xmlns:c="http://schemas.openxmlformats.org/drawingml/2006/chart" r:id="R76b14baf8b1547ac"/>
          </a:graphicData>
        </a:graphic>
      </p:graphicFrame>
      <p:sp>
        <p:nvSpPr>
          <p:cNvPr id="13" name="">
            <a:extLst xmlns:a="http://schemas.openxmlformats.org/drawingml/2006/main">
              <a:ext uri="{FF2B5EF4-FFF2-40B4-BE49-F238E27FC236}">
                <a16:creationId xmlns:a16="http://schemas.microsoft.com/office/drawing/2014/main" id="{072BF41F-4DCA-4DCE-8C19-1E5A78AE7009}"/>
              </a:ext>
            </a:extLst>
          </p:cNvPr>
          <p:cNvSpPr>
            <a:spLocks xmlns:a="http://schemas.openxmlformats.org/drawingml/2006/main" noGrp="1"/>
          </p:cNvSpPr>
          <p:nvPr/>
        </p:nvSpPr>
        <p:spPr>
          <a:xfrm xmlns:a="http://schemas.openxmlformats.org/drawingml/2006/main">
            <a:off x="609600" y="5572125"/>
            <a:ext cx="7086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Other restoration probes: distractor −0.13 · MLP15 +0.03 · MLP19 +0.12 · MLP23 +0.20 nats</a:t>
            </a:r>
          </a:p>
        </p:txBody>
      </p:sp>
      <p:sp>
        <p:nvSpPr>
          <p:cNvPr id="14" name="">
            <a:extLst xmlns:a="http://schemas.openxmlformats.org/drawingml/2006/main">
              <a:ext uri="{FF2B5EF4-FFF2-40B4-BE49-F238E27FC236}">
                <a16:creationId xmlns:a16="http://schemas.microsoft.com/office/drawing/2014/main" id="{0EFC036B-D8EB-4414-97E7-9B2388C87A33}"/>
              </a:ext>
            </a:extLst>
          </p:cNvPr>
          <p:cNvSpPr>
            <a:spLocks xmlns:a="http://schemas.openxmlformats.org/drawingml/2006/main" noGrp="1"/>
          </p:cNvSpPr>
          <p:nvPr/>
        </p:nvSpPr>
        <p:spPr>
          <a:xfrm xmlns:a="http://schemas.openxmlformats.org/drawingml/2006/main">
            <a:off x="8001000" y="1714500"/>
            <a:ext cx="3581400" cy="3905250"/>
          </a:xfrm>
          <a:prstGeom xmlns:a="http://schemas.openxmlformats.org/drawingml/2006/main" prst="roundRect">
            <a:avLst>
              <a:gd name="adj" fmla="val 2128"/>
            </a:avLst>
          </a:prstGeom>
          <a:solidFill xmlns:a="http://schemas.openxmlformats.org/drawingml/2006/main">
            <a:srgbClr val="1C273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F551D43-4505-4CCB-9C4D-BFFFAAD3C726}"/>
              </a:ext>
            </a:extLst>
          </p:cNvPr>
          <p:cNvSpPr>
            <a:spLocks xmlns:a="http://schemas.openxmlformats.org/drawingml/2006/main" noGrp="1"/>
          </p:cNvSpPr>
          <p:nvPr/>
        </p:nvSpPr>
        <p:spPr>
          <a:xfrm xmlns:a="http://schemas.openxmlformats.org/drawingml/2006/main">
            <a:off x="8286750" y="1962150"/>
            <a:ext cx="13906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7B18697-BBCD-4558-BF75-5428E7E57A6A}"/>
              </a:ext>
            </a:extLst>
          </p:cNvPr>
          <p:cNvSpPr>
            <a:spLocks xmlns:a="http://schemas.openxmlformats.org/drawingml/2006/main" noGrp="1"/>
          </p:cNvSpPr>
          <p:nvPr/>
        </p:nvSpPr>
        <p:spPr>
          <a:xfrm xmlns:a="http://schemas.openxmlformats.org/drawingml/2006/main">
            <a:off x="8382000" y="1981200"/>
            <a:ext cx="1200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REGION</a:t>
            </a:r>
          </a:p>
        </p:txBody>
      </p:sp>
      <p:sp>
        <p:nvSpPr>
          <p:cNvPr id="17" name="">
            <a:extLst xmlns:a="http://schemas.openxmlformats.org/drawingml/2006/main">
              <a:ext uri="{FF2B5EF4-FFF2-40B4-BE49-F238E27FC236}">
                <a16:creationId xmlns:a16="http://schemas.microsoft.com/office/drawing/2014/main" id="{FC98D531-C1B8-446B-A0E5-8CC550A6A773}"/>
              </a:ext>
            </a:extLst>
          </p:cNvPr>
          <p:cNvSpPr>
            <a:spLocks xmlns:a="http://schemas.openxmlformats.org/drawingml/2006/main" noGrp="1"/>
          </p:cNvSpPr>
          <p:nvPr/>
        </p:nvSpPr>
        <p:spPr>
          <a:xfrm xmlns:a="http://schemas.openxmlformats.org/drawingml/2006/main">
            <a:off x="8286750" y="24003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33.2%</a:t>
            </a:r>
          </a:p>
        </p:txBody>
      </p:sp>
      <p:sp>
        <p:nvSpPr>
          <p:cNvPr id="18" name="">
            <a:extLst xmlns:a="http://schemas.openxmlformats.org/drawingml/2006/main">
              <a:ext uri="{FF2B5EF4-FFF2-40B4-BE49-F238E27FC236}">
                <a16:creationId xmlns:a16="http://schemas.microsoft.com/office/drawing/2014/main" id="{23AB1037-253B-4FA6-A8D4-91742D9F3C87}"/>
              </a:ext>
            </a:extLst>
          </p:cNvPr>
          <p:cNvSpPr>
            <a:spLocks xmlns:a="http://schemas.openxmlformats.org/drawingml/2006/main" noGrp="1"/>
          </p:cNvSpPr>
          <p:nvPr/>
        </p:nvSpPr>
        <p:spPr>
          <a:xfrm xmlns:a="http://schemas.openxmlformats.org/drawingml/2006/main">
            <a:off x="8286750" y="28194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BDE7D8"/>
                </a:solidFill>
                <a:latin typeface="Helvetica Neue"/>
                <a:ea typeface="Helvetica Neue"/>
                <a:cs typeface="Helvetica Neue"/>
              </a:defRPr>
            </a:pPr>
            <a:r>
              <a:rPr sz="1275" b="0">
                <a:solidFill>
                  <a:srgbClr val="BDE7D8"/>
                </a:solidFill>
                <a:latin typeface="Helvetica Neue"/>
                <a:ea typeface="Helvetica Neue"/>
                <a:cs typeface="Helvetica Neue"/>
              </a:rPr>
              <a:t>of the 4.34-nat gap recovered by four target patches</a:t>
            </a:r>
          </a:p>
        </p:txBody>
      </p:sp>
      <p:sp>
        <p:nvSpPr>
          <p:cNvPr id="19" name="">
            <a:extLst xmlns:a="http://schemas.openxmlformats.org/drawingml/2006/main">
              <a:ext uri="{FF2B5EF4-FFF2-40B4-BE49-F238E27FC236}">
                <a16:creationId xmlns:a16="http://schemas.microsoft.com/office/drawing/2014/main" id="{CEE7034C-BC37-4F28-98AD-68ED19169C6C}"/>
              </a:ext>
            </a:extLst>
          </p:cNvPr>
          <p:cNvSpPr>
            <a:spLocks xmlns:a="http://schemas.openxmlformats.org/drawingml/2006/main" noGrp="1"/>
          </p:cNvSpPr>
          <p:nvPr/>
        </p:nvSpPr>
        <p:spPr>
          <a:xfrm xmlns:a="http://schemas.openxmlformats.org/drawingml/2006/main">
            <a:off x="8286750" y="3409950"/>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+0.024 nats</a:t>
            </a:r>
          </a:p>
        </p:txBody>
      </p:sp>
      <p:sp>
        <p:nvSpPr>
          <p:cNvPr id="20" name="">
            <a:extLst xmlns:a="http://schemas.openxmlformats.org/drawingml/2006/main">
              <a:ext uri="{FF2B5EF4-FFF2-40B4-BE49-F238E27FC236}">
                <a16:creationId xmlns:a16="http://schemas.microsoft.com/office/drawing/2014/main" id="{5A8D32A8-7276-4836-B5F3-1206FA0E5947}"/>
              </a:ext>
            </a:extLst>
          </p:cNvPr>
          <p:cNvSpPr>
            <a:spLocks xmlns:a="http://schemas.openxmlformats.org/drawingml/2006/main" noGrp="1"/>
          </p:cNvSpPr>
          <p:nvPr/>
        </p:nvSpPr>
        <p:spPr>
          <a:xfrm xmlns:a="http://schemas.openxmlformats.org/drawingml/2006/main">
            <a:off x="8286750" y="37719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2BDAF"/>
                </a:solidFill>
                <a:latin typeface="Helvetica Neue"/>
                <a:ea typeface="Helvetica Neue"/>
                <a:cs typeface="Helvetica Neue"/>
              </a:defRPr>
            </a:pPr>
            <a:r>
              <a:rPr sz="1200" b="0">
                <a:solidFill>
                  <a:srgbClr val="F2BDAF"/>
                </a:solidFill>
                <a:latin typeface="Helvetica Neue"/>
                <a:ea typeface="Helvetica Neue"/>
                <a:cs typeface="Helvetica Neue"/>
              </a:rPr>
              <a:t>restored by isolated L19/H10</a:t>
            </a:r>
          </a:p>
        </p:txBody>
      </p:sp>
      <p:sp>
        <p:nvSpPr>
          <p:cNvPr id="21" name="">
            <a:extLst xmlns:a="http://schemas.openxmlformats.org/drawingml/2006/main">
              <a:ext uri="{FF2B5EF4-FFF2-40B4-BE49-F238E27FC236}">
                <a16:creationId xmlns:a16="http://schemas.microsoft.com/office/drawing/2014/main" id="{375E1C72-C9EC-4BCC-B6F8-AF520D6E5B04}"/>
              </a:ext>
            </a:extLst>
          </p:cNvPr>
          <p:cNvSpPr>
            <a:spLocks xmlns:a="http://schemas.openxmlformats.org/drawingml/2006/main" noGrp="1"/>
          </p:cNvSpPr>
          <p:nvPr/>
        </p:nvSpPr>
        <p:spPr>
          <a:xfrm xmlns:a="http://schemas.openxmlformats.org/drawingml/2006/main">
            <a:off x="8286750" y="4171950"/>
            <a:ext cx="30099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DC7163B-F6EB-49FA-8A03-E9537BA2B96B}"/>
              </a:ext>
            </a:extLst>
          </p:cNvPr>
          <p:cNvSpPr>
            <a:spLocks xmlns:a="http://schemas.openxmlformats.org/drawingml/2006/main" noGrp="1"/>
          </p:cNvSpPr>
          <p:nvPr/>
        </p:nvSpPr>
        <p:spPr>
          <a:xfrm xmlns:a="http://schemas.openxmlformats.org/drawingml/2006/main">
            <a:off x="8286750" y="4343400"/>
            <a:ext cx="142875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F12616B-6538-440D-A546-CAC9A598CD86}"/>
              </a:ext>
            </a:extLst>
          </p:cNvPr>
          <p:cNvSpPr>
            <a:spLocks xmlns:a="http://schemas.openxmlformats.org/drawingml/2006/main" noGrp="1"/>
          </p:cNvSpPr>
          <p:nvPr/>
        </p:nvSpPr>
        <p:spPr>
          <a:xfrm xmlns:a="http://schemas.openxmlformats.org/drawingml/2006/main">
            <a:off x="8382000" y="43624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CAUSAL READING</a:t>
            </a:r>
          </a:p>
        </p:txBody>
      </p:sp>
      <p:sp>
        <p:nvSpPr>
          <p:cNvPr id="24" name="">
            <a:extLst xmlns:a="http://schemas.openxmlformats.org/drawingml/2006/main">
              <a:ext uri="{FF2B5EF4-FFF2-40B4-BE49-F238E27FC236}">
                <a16:creationId xmlns:a16="http://schemas.microsoft.com/office/drawing/2014/main" id="{65B400A8-FCB2-4F2F-9150-4E84EEAA5E53}"/>
              </a:ext>
            </a:extLst>
          </p:cNvPr>
          <p:cNvSpPr>
            <a:spLocks xmlns:a="http://schemas.openxmlformats.org/drawingml/2006/main" noGrp="1"/>
          </p:cNvSpPr>
          <p:nvPr/>
        </p:nvSpPr>
        <p:spPr>
          <a:xfrm xmlns:a="http://schemas.openxmlformats.org/drawingml/2006/main">
            <a:off x="8286750" y="4762500"/>
            <a:ext cx="2914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Regional, not head-local</a:t>
            </a:r>
          </a:p>
        </p:txBody>
      </p:sp>
      <p:sp>
        <p:nvSpPr>
          <p:cNvPr id="25" name="">
            <a:extLst xmlns:a="http://schemas.openxmlformats.org/drawingml/2006/main">
              <a:ext uri="{FF2B5EF4-FFF2-40B4-BE49-F238E27FC236}">
                <a16:creationId xmlns:a16="http://schemas.microsoft.com/office/drawing/2014/main" id="{B4ED03DD-83DB-4A7D-A22E-2026E45970D8}"/>
              </a:ext>
            </a:extLst>
          </p:cNvPr>
          <p:cNvSpPr>
            <a:spLocks xmlns:a="http://schemas.openxmlformats.org/drawingml/2006/main" noGrp="1"/>
          </p:cNvSpPr>
          <p:nvPr/>
        </p:nvSpPr>
        <p:spPr>
          <a:xfrm xmlns:a="http://schemas.openxmlformats.org/drawingml/2006/main">
            <a:off x="8286750" y="5143500"/>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Target residuals pass restoration and ablation; the selected head alone does not.</a:t>
            </a:r>
          </a:p>
        </p:txBody>
      </p:sp>
      <p:sp>
        <p:nvSpPr>
          <p:cNvPr id="26" name="">
            <a:extLst xmlns:a="http://schemas.openxmlformats.org/drawingml/2006/main">
              <a:ext uri="{FF2B5EF4-FFF2-40B4-BE49-F238E27FC236}">
                <a16:creationId xmlns:a16="http://schemas.microsoft.com/office/drawing/2014/main" id="{23DAF03C-E44C-4607-820B-ED1F8844B68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23AA2B3-21D5-4F12-B467-55435AA749B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Causal bars: one matched tile swap · activation patching replaces one corrupted-run tensor with its clean counterpart</a:t>
            </a:r>
          </a:p>
        </p:txBody>
      </p:sp>
    </p:spTree>
    <p:extLst>
      <p:ext uri="{BB962C8B-B14F-4D97-AF65-F5344CB8AC3E}">
        <p14:creationId xmlns:p14="http://schemas.microsoft.com/office/powerpoint/2010/main" val="348797388"/>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B324E4C-8577-4431-B22E-EF5890F7B67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FINE-TUNING DELTA LENS</a:t>
            </a:r>
          </a:p>
        </p:txBody>
      </p:sp>
      <p:sp>
        <p:nvSpPr>
          <p:cNvPr id="2" name="">
            <a:extLst xmlns:a="http://schemas.openxmlformats.org/drawingml/2006/main">
              <a:ext uri="{FF2B5EF4-FFF2-40B4-BE49-F238E27FC236}">
                <a16:creationId xmlns:a16="http://schemas.microsoft.com/office/drawing/2014/main" id="{2CA1E21C-9512-4581-979A-8004ABB7F9D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175"/>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Action margins improve without stronger value-weighted target grounding</a:t>
            </a:r>
          </a:p>
        </p:txBody>
      </p:sp>
      <p:sp>
        <p:nvSpPr>
          <p:cNvPr id="3" name="">
            <a:extLst xmlns:a="http://schemas.openxmlformats.org/drawingml/2006/main">
              <a:ext uri="{FF2B5EF4-FFF2-40B4-BE49-F238E27FC236}">
                <a16:creationId xmlns:a16="http://schemas.microsoft.com/office/drawing/2014/main" id="{E5519869-4D12-4F82-B34C-9251647EB1B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059152AA-A8CD-4AB1-9E7B-5F6AF6E0BB4D}"/>
              </a:ext>
            </a:extLst>
          </p:cNvPr>
          <p:cNvSpPr>
            <a:spLocks xmlns:a="http://schemas.openxmlformats.org/drawingml/2006/main" noGrp="1"/>
          </p:cNvSpPr>
          <p:nvPr/>
        </p:nvSpPr>
        <p:spPr>
          <a:xfrm xmlns:a="http://schemas.openxmlformats.org/drawingml/2006/main">
            <a:off x="609600" y="1085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Same native screenshot and official prompt, with independent oracle coordinates for four alternate instructions per checkpoint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aba86fde14d429d"/>
          <a:srcRect xmlns:a="http://schemas.openxmlformats.org/drawingml/2006/main" l="0" t="7778" r="0" b="7778"/>
          <a:stretch xmlns:a="http://schemas.openxmlformats.org/drawingml/2006/main">
            <a:fillRect l="0" t="0" r="0" b="0"/>
          </a:stretch>
        </p:blipFill>
        <p:spPr>
          <a:xfrm xmlns:a="http://schemas.openxmlformats.org/drawingml/2006/main">
            <a:off x="609600" y="1466850"/>
            <a:ext cx="3429000" cy="1809750"/>
          </a:xfrm>
          <a:prstGeom xmlns:a="http://schemas.openxmlformats.org/drawingml/2006/main" prst="roundRect">
            <a:avLst>
              <a:gd name="adj" fmla="val 6316"/>
            </a:avLst>
          </a:prstGeom>
        </p:spPr>
      </p:pic>
      <p:sp>
        <p:nvSpPr>
          <p:cNvPr id="6" name="">
            <a:extLst xmlns:a="http://schemas.openxmlformats.org/drawingml/2006/main">
              <a:ext uri="{FF2B5EF4-FFF2-40B4-BE49-F238E27FC236}">
                <a16:creationId xmlns:a16="http://schemas.microsoft.com/office/drawing/2014/main" id="{6D827247-6B8A-468E-9A15-12DA93B3FED6}"/>
              </a:ext>
            </a:extLst>
          </p:cNvPr>
          <p:cNvSpPr>
            <a:spLocks xmlns:a="http://schemas.openxmlformats.org/drawingml/2006/main" noGrp="1"/>
          </p:cNvSpPr>
          <p:nvPr/>
        </p:nvSpPr>
        <p:spPr>
          <a:xfrm xmlns:a="http://schemas.openxmlformats.org/drawingml/2006/main">
            <a:off x="6096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ef4a8fa19c64ec6"/>
          <a:srcRect xmlns:a="http://schemas.openxmlformats.org/drawingml/2006/main" l="0" t="7778" r="0" b="7778"/>
          <a:stretch xmlns:a="http://schemas.openxmlformats.org/drawingml/2006/main">
            <a:fillRect l="0" t="0" r="0" b="0"/>
          </a:stretch>
        </p:blipFill>
        <p:spPr>
          <a:xfrm xmlns:a="http://schemas.openxmlformats.org/drawingml/2006/main">
            <a:off x="4381500" y="1466850"/>
            <a:ext cx="3429000" cy="1809750"/>
          </a:xfrm>
          <a:prstGeom xmlns:a="http://schemas.openxmlformats.org/drawingml/2006/main" prst="roundRect">
            <a:avLst>
              <a:gd name="adj" fmla="val 6316"/>
            </a:avLst>
          </a:prstGeom>
        </p:spPr>
      </p:pic>
      <p:sp>
        <p:nvSpPr>
          <p:cNvPr id="8" name="">
            <a:extLst xmlns:a="http://schemas.openxmlformats.org/drawingml/2006/main">
              <a:ext uri="{FF2B5EF4-FFF2-40B4-BE49-F238E27FC236}">
                <a16:creationId xmlns:a16="http://schemas.microsoft.com/office/drawing/2014/main" id="{C62B2CD3-1678-4D88-9E8F-2D58E6FB57AC}"/>
              </a:ext>
            </a:extLst>
          </p:cNvPr>
          <p:cNvSpPr>
            <a:spLocks xmlns:a="http://schemas.openxmlformats.org/drawingml/2006/main" noGrp="1"/>
          </p:cNvSpPr>
          <p:nvPr/>
        </p:nvSpPr>
        <p:spPr>
          <a:xfrm xmlns:a="http://schemas.openxmlformats.org/drawingml/2006/main">
            <a:off x="43815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a5974a01fa148aa"/>
          <a:srcRect xmlns:a="http://schemas.openxmlformats.org/drawingml/2006/main" l="0" t="7778" r="0" b="7778"/>
          <a:stretch xmlns:a="http://schemas.openxmlformats.org/drawingml/2006/main">
            <a:fillRect l="0" t="0" r="0" b="0"/>
          </a:stretch>
        </p:blipFill>
        <p:spPr>
          <a:xfrm xmlns:a="http://schemas.openxmlformats.org/drawingml/2006/main">
            <a:off x="8153400" y="1466850"/>
            <a:ext cx="3429000" cy="1809750"/>
          </a:xfrm>
          <a:prstGeom xmlns:a="http://schemas.openxmlformats.org/drawingml/2006/main" prst="roundRect">
            <a:avLst>
              <a:gd name="adj" fmla="val 6316"/>
            </a:avLst>
          </a:prstGeom>
        </p:spPr>
      </p:pic>
      <p:sp>
        <p:nvSpPr>
          <p:cNvPr id="10" name="">
            <a:extLst xmlns:a="http://schemas.openxmlformats.org/drawingml/2006/main">
              <a:ext uri="{FF2B5EF4-FFF2-40B4-BE49-F238E27FC236}">
                <a16:creationId xmlns:a16="http://schemas.microsoft.com/office/drawing/2014/main" id="{5E56FBB6-7A6A-427E-B245-8E5A94B86E33}"/>
              </a:ext>
            </a:extLst>
          </p:cNvPr>
          <p:cNvSpPr>
            <a:spLocks xmlns:a="http://schemas.openxmlformats.org/drawingml/2006/main" noGrp="1"/>
          </p:cNvSpPr>
          <p:nvPr/>
        </p:nvSpPr>
        <p:spPr>
          <a:xfrm xmlns:a="http://schemas.openxmlformats.org/drawingml/2006/main">
            <a:off x="81534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589AC4DD-4DF1-4F64-A383-EA8DA7831EEE}"/>
              </a:ext>
            </a:extLst>
          </p:cNvPr>
          <p:cNvSpPr>
            <a:spLocks xmlns:a="http://schemas.openxmlformats.org/drawingml/2006/main" noGrp="1"/>
          </p:cNvSpPr>
          <p:nvPr/>
        </p:nvSpPr>
        <p:spPr>
          <a:xfrm xmlns:a="http://schemas.openxmlformats.org/drawingml/2006/main">
            <a:off x="704850" y="1562100"/>
            <a:ext cx="32385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169E3FA-B0DC-48BC-8E23-5A4876DF103A}"/>
              </a:ext>
            </a:extLst>
          </p:cNvPr>
          <p:cNvSpPr>
            <a:spLocks xmlns:a="http://schemas.openxmlformats.org/drawingml/2006/main" noGrp="1"/>
          </p:cNvSpPr>
          <p:nvPr/>
        </p:nvSpPr>
        <p:spPr>
          <a:xfrm xmlns:a="http://schemas.openxmlformats.org/drawingml/2006/main">
            <a:off x="8001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QWEN · TARGET − CONTROL +13.2 PP</a:t>
            </a:r>
          </a:p>
        </p:txBody>
      </p:sp>
      <p:sp>
        <p:nvSpPr>
          <p:cNvPr id="13" name="">
            <a:extLst xmlns:a="http://schemas.openxmlformats.org/drawingml/2006/main">
              <a:ext uri="{FF2B5EF4-FFF2-40B4-BE49-F238E27FC236}">
                <a16:creationId xmlns:a16="http://schemas.microsoft.com/office/drawing/2014/main" id="{35EBBEE7-24D1-4716-BED3-BCAC2C3F5B48}"/>
              </a:ext>
            </a:extLst>
          </p:cNvPr>
          <p:cNvSpPr>
            <a:spLocks xmlns:a="http://schemas.openxmlformats.org/drawingml/2006/main" noGrp="1"/>
          </p:cNvSpPr>
          <p:nvPr/>
        </p:nvSpPr>
        <p:spPr>
          <a:xfrm xmlns:a="http://schemas.openxmlformats.org/drawingml/2006/main">
            <a:off x="4476750" y="1562100"/>
            <a:ext cx="32385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430A9A9-4BA3-4FB2-A4AA-076CE97A0C25}"/>
              </a:ext>
            </a:extLst>
          </p:cNvPr>
          <p:cNvSpPr>
            <a:spLocks xmlns:a="http://schemas.openxmlformats.org/drawingml/2006/main" noGrp="1"/>
          </p:cNvSpPr>
          <p:nvPr/>
        </p:nvSpPr>
        <p:spPr>
          <a:xfrm xmlns:a="http://schemas.openxmlformats.org/drawingml/2006/main">
            <a:off x="45720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TARGET − CONTROL +12.4 PP</a:t>
            </a:r>
          </a:p>
        </p:txBody>
      </p:sp>
      <p:sp>
        <p:nvSpPr>
          <p:cNvPr id="15" name="">
            <a:extLst xmlns:a="http://schemas.openxmlformats.org/drawingml/2006/main">
              <a:ext uri="{FF2B5EF4-FFF2-40B4-BE49-F238E27FC236}">
                <a16:creationId xmlns:a16="http://schemas.microsoft.com/office/drawing/2014/main" id="{D683F4E3-25D6-47E8-BB56-4A5808355C0B}"/>
              </a:ext>
            </a:extLst>
          </p:cNvPr>
          <p:cNvSpPr>
            <a:spLocks xmlns:a="http://schemas.openxmlformats.org/drawingml/2006/main" noGrp="1"/>
          </p:cNvSpPr>
          <p:nvPr/>
        </p:nvSpPr>
        <p:spPr>
          <a:xfrm xmlns:a="http://schemas.openxmlformats.org/drawingml/2006/main">
            <a:off x="8248650" y="1562100"/>
            <a:ext cx="3238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5B39473-64CE-49D2-A0DA-D276EA84F750}"/>
              </a:ext>
            </a:extLst>
          </p:cNvPr>
          <p:cNvSpPr>
            <a:spLocks xmlns:a="http://schemas.openxmlformats.org/drawingml/2006/main" noGrp="1"/>
          </p:cNvSpPr>
          <p:nvPr/>
        </p:nvSpPr>
        <p:spPr>
          <a:xfrm xmlns:a="http://schemas.openxmlformats.org/drawingml/2006/main">
            <a:off x="83439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QWEN · -0.8 PP AT TARGET</a:t>
            </a:r>
          </a:p>
        </p:txBody>
      </p:sp>
      <p:sp>
        <p:nvSpPr>
          <p:cNvPr id="17" name="">
            <a:extLst xmlns:a="http://schemas.openxmlformats.org/drawingml/2006/main">
              <a:ext uri="{FF2B5EF4-FFF2-40B4-BE49-F238E27FC236}">
                <a16:creationId xmlns:a16="http://schemas.microsoft.com/office/drawing/2014/main" id="{6962B35A-0526-4734-89FA-0120631C766B}"/>
              </a:ext>
            </a:extLst>
          </p:cNvPr>
          <p:cNvSpPr>
            <a:spLocks xmlns:a="http://schemas.openxmlformats.org/drawingml/2006/main" noGrp="1"/>
          </p:cNvSpPr>
          <p:nvPr/>
        </p:nvSpPr>
        <p:spPr>
          <a:xfrm xmlns:a="http://schemas.openxmlformats.org/drawingml/2006/main">
            <a:off x="609600" y="35242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ACTION-MARGIN DELTA BY LAYER</a:t>
            </a:r>
          </a:p>
        </p:txBody>
      </p:sp>
      <p:graphicFrame>
        <p:nvGraphicFramePr>
          <p:cNvPr id="43" name="Chart"/>
          <p:cNvGraphicFramePr/>
          <p:nvPr/>
        </p:nvGraphicFramePr>
        <p:xfrm>
          <a:off xmlns:a="http://schemas.openxmlformats.org/drawingml/2006/main" x="609600" y="3733800"/>
          <a:ext xmlns:a="http://schemas.openxmlformats.org/drawingml/2006/main" cx="6858000" cy="2038350"/>
        </p:xfrm>
        <a:graphic xmlns:a="http://schemas.openxmlformats.org/drawingml/2006/main">
          <a:graphicData uri="http://schemas.openxmlformats.org/drawingml/2006/chart">
            <c:chart xmlns:r="http://schemas.openxmlformats.org/officeDocument/2006/relationships" xmlns:c="http://schemas.openxmlformats.org/drawingml/2006/chart" r:id="R0c52596bd83f4b7f"/>
          </a:graphicData>
        </a:graphic>
      </p:graphicFrame>
      <p:sp>
        <p:nvSpPr>
          <p:cNvPr id="19" name="">
            <a:extLst xmlns:a="http://schemas.openxmlformats.org/drawingml/2006/main">
              <a:ext uri="{FF2B5EF4-FFF2-40B4-BE49-F238E27FC236}">
                <a16:creationId xmlns:a16="http://schemas.microsoft.com/office/drawing/2014/main" id="{3A815DD2-9146-4E3E-885D-819DC0DC8B6D}"/>
              </a:ext>
            </a:extLst>
          </p:cNvPr>
          <p:cNvSpPr>
            <a:spLocks xmlns:a="http://schemas.openxmlformats.org/drawingml/2006/main" noGrp="1"/>
          </p:cNvSpPr>
          <p:nvPr/>
        </p:nvSpPr>
        <p:spPr>
          <a:xfrm xmlns:a="http://schemas.openxmlformats.org/drawingml/2006/main">
            <a:off x="7772400" y="35242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HOTEL FINAL STEP · VALUE-NORM ATTENTION</a:t>
            </a:r>
          </a:p>
        </p:txBody>
      </p:sp>
      <p:graphicFrame>
        <p:nvGraphicFramePr>
          <p:cNvPr id="45" name="Chart"/>
          <p:cNvGraphicFramePr/>
          <p:nvPr/>
        </p:nvGraphicFramePr>
        <p:xfrm>
          <a:off xmlns:a="http://schemas.openxmlformats.org/drawingml/2006/main" x="7772400" y="3733800"/>
          <a:ext xmlns:a="http://schemas.openxmlformats.org/drawingml/2006/main" cx="3810000" cy="2038350"/>
        </p:xfrm>
        <a:graphic xmlns:a="http://schemas.openxmlformats.org/drawingml/2006/main">
          <a:graphicData uri="http://schemas.openxmlformats.org/drawingml/2006/chart">
            <c:chart xmlns:r="http://schemas.openxmlformats.org/officeDocument/2006/relationships" xmlns:c="http://schemas.openxmlformats.org/drawingml/2006/chart" r:id="Rcfa2d99ec1f04716"/>
          </a:graphicData>
        </a:graphic>
      </p:graphicFrame>
      <p:sp>
        <p:nvSpPr>
          <p:cNvPr id="21" name="">
            <a:extLst xmlns:a="http://schemas.openxmlformats.org/drawingml/2006/main">
              <a:ext uri="{FF2B5EF4-FFF2-40B4-BE49-F238E27FC236}">
                <a16:creationId xmlns:a16="http://schemas.microsoft.com/office/drawing/2014/main" id="{F7E2F009-9D7E-4EA1-906B-C3A95281DF42}"/>
              </a:ext>
            </a:extLst>
          </p:cNvPr>
          <p:cNvSpPr>
            <a:spLocks xmlns:a="http://schemas.openxmlformats.org/drawingml/2006/main" noGrp="1"/>
          </p:cNvSpPr>
          <p:nvPr/>
        </p:nvSpPr>
        <p:spPr>
          <a:xfrm xmlns:a="http://schemas.openxmlformats.org/drawingml/2006/main">
            <a:off x="609600" y="5905500"/>
            <a:ext cx="10972800" cy="361950"/>
          </a:xfrm>
          <a:prstGeom xmlns:a="http://schemas.openxmlformats.org/drawingml/2006/main" prst="roundRect">
            <a:avLst>
              <a:gd name="adj" fmla="val 21053"/>
            </a:avLst>
          </a:prstGeom>
          <a:solidFill xmlns:a="http://schemas.openxmlformats.org/drawingml/2006/main">
            <a:srgbClr val="1C273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62F1C67-E557-4E24-A45A-A0EDAA8B508B}"/>
              </a:ext>
            </a:extLst>
          </p:cNvPr>
          <p:cNvSpPr>
            <a:spLocks xmlns:a="http://schemas.openxmlformats.org/drawingml/2006/main" noGrp="1"/>
          </p:cNvSpPr>
          <p:nvPr/>
        </p:nvSpPr>
        <p:spPr>
          <a:xfrm xmlns:a="http://schemas.openxmlformats.org/drawingml/2006/main">
            <a:off x="781050" y="59817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5/5 ScreenSpot final shifts positive · mean +1.14 nats/token · 3 cross zero</a:t>
            </a:r>
          </a:p>
        </p:txBody>
      </p:sp>
      <p:sp>
        <p:nvSpPr>
          <p:cNvPr id="23" name="">
            <a:extLst xmlns:a="http://schemas.openxmlformats.org/drawingml/2006/main">
              <a:ext uri="{FF2B5EF4-FFF2-40B4-BE49-F238E27FC236}">
                <a16:creationId xmlns:a16="http://schemas.microsoft.com/office/drawing/2014/main" id="{275DB054-3EFF-4C2E-B62A-80F72ABAFB0E}"/>
              </a:ext>
            </a:extLst>
          </p:cNvPr>
          <p:cNvSpPr>
            <a:spLocks xmlns:a="http://schemas.openxmlformats.org/drawingml/2006/main" noGrp="1"/>
          </p:cNvSpPr>
          <p:nvPr/>
        </p:nvSpPr>
        <p:spPr>
          <a:xfrm xmlns:a="http://schemas.openxmlformats.org/drawingml/2006/main">
            <a:off x="6115050" y="5981700"/>
            <a:ext cx="5257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5E2B8"/>
                </a:solidFill>
                <a:latin typeface="Helvetica Neue"/>
                <a:ea typeface="Helvetica Neue"/>
                <a:cs typeface="Helvetica Neue"/>
              </a:defRPr>
            </a:pPr>
            <a:r>
              <a:rPr sz="975" b="1">
                <a:solidFill>
                  <a:srgbClr val="F5E2B8"/>
                </a:solidFill>
                <a:latin typeface="Helvetica Neue"/>
                <a:ea typeface="Helvetica Neue"/>
                <a:cs typeface="Helvetica Neue"/>
              </a:rPr>
              <a:t>Paired value-norm -0.78 pp · LOO ≥0.95 · raw +1.36 pp</a:t>
            </a:r>
          </a:p>
        </p:txBody>
      </p:sp>
      <p:sp>
        <p:nvSpPr>
          <p:cNvPr id="24" name="">
            <a:extLst xmlns:a="http://schemas.openxmlformats.org/drawingml/2006/main">
              <a:ext uri="{FF2B5EF4-FFF2-40B4-BE49-F238E27FC236}">
                <a16:creationId xmlns:a16="http://schemas.microsoft.com/office/drawing/2014/main" id="{B1AE6CE2-232C-48B4-B1C1-254BD4C3AF2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7E46B78-D58A-4FC3-A7B5-C3461F7062E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Native input ceiling: ScreenSpot retains 99.6% area; hotel frames retain 97.8% after patch alignment · attention is descriptive, not causal</a:t>
            </a:r>
          </a:p>
        </p:txBody>
      </p:sp>
    </p:spTree>
    <p:extLst>
      <p:ext uri="{BB962C8B-B14F-4D97-AF65-F5344CB8AC3E}">
        <p14:creationId xmlns:p14="http://schemas.microsoft.com/office/powerpoint/2010/main" val="880551482"/>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AB3615E-6D0C-45D0-B7B0-0F2C13D5C69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DIRECTIONS</a:t>
            </a:r>
          </a:p>
        </p:txBody>
      </p:sp>
      <p:sp>
        <p:nvSpPr>
          <p:cNvPr id="2" name="">
            <a:extLst xmlns:a="http://schemas.openxmlformats.org/drawingml/2006/main">
              <a:ext uri="{FF2B5EF4-FFF2-40B4-BE49-F238E27FC236}">
                <a16:creationId xmlns:a16="http://schemas.microsoft.com/office/drawing/2014/main" id="{34580C7B-E6FF-4022-9C94-F06A5FE9F84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one intervention to a causal evaluation set</a:t>
            </a:r>
          </a:p>
        </p:txBody>
      </p:sp>
      <p:sp>
        <p:nvSpPr>
          <p:cNvPr id="3" name="">
            <a:extLst xmlns:a="http://schemas.openxmlformats.org/drawingml/2006/main">
              <a:ext uri="{FF2B5EF4-FFF2-40B4-BE49-F238E27FC236}">
                <a16:creationId xmlns:a16="http://schemas.microsoft.com/office/drawing/2014/main" id="{2A9F1E20-94BA-4ECD-AA6B-04A3762ED70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664E1AFA-1CD3-4326-878D-74E06EA6A197}"/>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DC392E96-4D81-458D-BB9B-26D3D5051EE3}"/>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6927A95-C569-4314-8AD7-59DF99B5964A}"/>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5FCBC995-37D6-4716-8DA6-94F3C729777F}"/>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BC16574-DE23-4624-981A-392102D230CF}"/>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MATCHED INTERVENTION SPLIT</a:t>
            </a:r>
          </a:p>
        </p:txBody>
      </p:sp>
      <p:sp>
        <p:nvSpPr>
          <p:cNvPr id="9" name="">
            <a:extLst xmlns:a="http://schemas.openxmlformats.org/drawingml/2006/main">
              <a:ext uri="{FF2B5EF4-FFF2-40B4-BE49-F238E27FC236}">
                <a16:creationId xmlns:a16="http://schemas.microsoft.com/office/drawing/2014/main" id="{C91B41AF-BBC6-4E64-8440-F0DEEB7E0F30}"/>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Freeze a diverse set of target–distractor swaps, pre-register coordinate margins, and report effect distributions with bootstrap intervals.</a:t>
            </a:r>
          </a:p>
        </p:txBody>
      </p:sp>
      <p:sp>
        <p:nvSpPr>
          <p:cNvPr id="10" name="">
            <a:extLst xmlns:a="http://schemas.openxmlformats.org/drawingml/2006/main">
              <a:ext uri="{FF2B5EF4-FFF2-40B4-BE49-F238E27FC236}">
                <a16:creationId xmlns:a16="http://schemas.microsoft.com/office/drawing/2014/main" id="{BE3A7991-0F27-4ACA-88E6-44D6977244D2}"/>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5BECB416-DBC2-41B8-A433-DEDCBB238A74}"/>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7FBDB38-DFF0-4E53-9200-46ABA8CD014C}"/>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FC3DCF41-1F73-4F65-9EE8-2BC7A51497CE}"/>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1286596-9ED3-4F02-BB8B-26BDB9B325C2}"/>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CAUSAL SUBSPACE SEARCH</a:t>
            </a:r>
          </a:p>
        </p:txBody>
      </p:sp>
      <p:sp>
        <p:nvSpPr>
          <p:cNvPr id="15" name="">
            <a:extLst xmlns:a="http://schemas.openxmlformats.org/drawingml/2006/main">
              <a:ext uri="{FF2B5EF4-FFF2-40B4-BE49-F238E27FC236}">
                <a16:creationId xmlns:a16="http://schemas.microsoft.com/office/drawing/2014/main" id="{F6915114-65E8-4504-871A-135DB4C588DC}"/>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Test multi-head and low-rank residual subspaces. A single salient head was neither necessary nor sufficient in this case.</a:t>
            </a:r>
          </a:p>
        </p:txBody>
      </p:sp>
      <p:sp>
        <p:nvSpPr>
          <p:cNvPr id="16" name="">
            <a:extLst xmlns:a="http://schemas.openxmlformats.org/drawingml/2006/main">
              <a:ext uri="{FF2B5EF4-FFF2-40B4-BE49-F238E27FC236}">
                <a16:creationId xmlns:a16="http://schemas.microsoft.com/office/drawing/2014/main" id="{306CD934-BB6B-4563-96D1-DDFA903E66D1}"/>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B1DF1387-3A58-4A66-9B2E-926DF74E1CE4}"/>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BC339EF-810D-4641-83EA-9C6BCA7A73FF}"/>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28138AB2-5D62-4436-A748-840FC6983854}"/>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E4F4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CB033AF-339D-4E95-97B8-9798AE83FB33}"/>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8771FB0B-80DB-4D1F-AF69-C938BC35156D}"/>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Patch target evidence across historical frames to identify when retrieval succeeds but precise action binding fails.</a:t>
            </a:r>
          </a:p>
        </p:txBody>
      </p:sp>
      <p:sp>
        <p:nvSpPr>
          <p:cNvPr id="22" name="">
            <a:extLst xmlns:a="http://schemas.openxmlformats.org/drawingml/2006/main">
              <a:ext uri="{FF2B5EF4-FFF2-40B4-BE49-F238E27FC236}">
                <a16:creationId xmlns:a16="http://schemas.microsoft.com/office/drawing/2014/main" id="{8CB2463D-EE03-4E71-BEB7-7AFFA7652E56}"/>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FCB7A67E-A8B6-4F3E-863C-6EB3B91BB1E9}"/>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FFBB2A8-6D7F-409D-B403-1EF3073D95C6}"/>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93171D80-2542-47EF-AA06-7A466450C617}"/>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F22E4DF-3EA1-44A2-B188-309A68CBCCF9}"/>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DELTA-LENS DECOMPOSITION</a:t>
            </a:r>
          </a:p>
        </p:txBody>
      </p:sp>
      <p:sp>
        <p:nvSpPr>
          <p:cNvPr id="27" name="">
            <a:extLst xmlns:a="http://schemas.openxmlformats.org/drawingml/2006/main">
              <a:ext uri="{FF2B5EF4-FFF2-40B4-BE49-F238E27FC236}">
                <a16:creationId xmlns:a16="http://schemas.microsoft.com/office/drawing/2014/main" id="{50B0FC50-3CE1-4601-AB38-BF98F6B665DA}"/>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Separate residual changes from final norm and unembedding changes. Scale beyond five ScreenSpot probes and one hotel trace.</a:t>
            </a:r>
          </a:p>
        </p:txBody>
      </p:sp>
      <p:sp>
        <p:nvSpPr>
          <p:cNvPr id="28" name="">
            <a:extLst xmlns:a="http://schemas.openxmlformats.org/drawingml/2006/main">
              <a:ext uri="{FF2B5EF4-FFF2-40B4-BE49-F238E27FC236}">
                <a16:creationId xmlns:a16="http://schemas.microsoft.com/office/drawing/2014/main" id="{2A33C65F-D5D9-412E-8DB8-59E023DDF5BE}"/>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EB8749D-8154-4AA1-AD4A-DCCA5800A6D4}"/>
              </a:ext>
            </a:extLst>
          </p:cNvPr>
          <p:cNvSpPr>
            <a:spLocks xmlns:a="http://schemas.openxmlformats.org/drawingml/2006/main" noGrp="1"/>
          </p:cNvSpPr>
          <p:nvPr/>
        </p:nvSpPr>
        <p:spPr>
          <a:xfrm xmlns:a="http://schemas.openxmlformats.org/drawingml/2006/main">
            <a:off x="857250" y="542925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TRAINING LOOP</a:t>
            </a:r>
          </a:p>
        </p:txBody>
      </p:sp>
      <p:sp>
        <p:nvSpPr>
          <p:cNvPr id="30" name="">
            <a:extLst xmlns:a="http://schemas.openxmlformats.org/drawingml/2006/main">
              <a:ext uri="{FF2B5EF4-FFF2-40B4-BE49-F238E27FC236}">
                <a16:creationId xmlns:a16="http://schemas.microsoft.com/office/drawing/2014/main" id="{453322F3-4F71-4364-9BA9-08629AC44F8D}"/>
              </a:ext>
            </a:extLst>
          </p:cNvPr>
          <p:cNvSpPr>
            <a:spLocks xmlns:a="http://schemas.openxmlformats.org/drawingml/2006/main" noGrp="1"/>
          </p:cNvSpPr>
          <p:nvPr/>
        </p:nvSpPr>
        <p:spPr>
          <a:xfrm xmlns:a="http://schemas.openxmlformats.org/drawingml/2006/main">
            <a:off x="2514600" y="5391150"/>
            <a:ext cx="859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21"/>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Oracle SFT, followed by measured causal recovery and GRPO + LoRA with verifiable reward</a:t>
            </a:r>
          </a:p>
        </p:txBody>
      </p:sp>
      <p:sp>
        <p:nvSpPr>
          <p:cNvPr id="31" name="">
            <a:extLst xmlns:a="http://schemas.openxmlformats.org/drawingml/2006/main">
              <a:ext uri="{FF2B5EF4-FFF2-40B4-BE49-F238E27FC236}">
                <a16:creationId xmlns:a16="http://schemas.microsoft.com/office/drawing/2014/main" id="{E0786B24-FCD2-40E5-A45D-A27A565CD50D}"/>
              </a:ext>
            </a:extLst>
          </p:cNvPr>
          <p:cNvSpPr>
            <a:spLocks xmlns:a="http://schemas.openxmlformats.org/drawingml/2006/main" noGrp="1"/>
          </p:cNvSpPr>
          <p:nvPr/>
        </p:nvSpPr>
        <p:spPr>
          <a:xfrm xmlns:a="http://schemas.openxmlformats.org/drawingml/2006/main">
            <a:off x="2514600" y="5734050"/>
            <a:ext cx="859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Use attribution to choose interventions, not as the reward target.</a:t>
            </a:r>
          </a:p>
        </p:txBody>
      </p:sp>
      <p:sp>
        <p:nvSpPr>
          <p:cNvPr id="32" name="">
            <a:extLst xmlns:a="http://schemas.openxmlformats.org/drawingml/2006/main">
              <a:ext uri="{FF2B5EF4-FFF2-40B4-BE49-F238E27FC236}">
                <a16:creationId xmlns:a16="http://schemas.microsoft.com/office/drawing/2014/main" id="{3E8D32F7-9BFE-473B-892B-C321EEF92D4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E32F1F8-491E-4C41-BDDB-254325CC3B5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Scale the matched protocol before making a population-level mechanism claim</a:t>
            </a:r>
          </a:p>
        </p:txBody>
      </p:sp>
    </p:spTree>
    <p:extLst>
      <p:ext uri="{BB962C8B-B14F-4D97-AF65-F5344CB8AC3E}">
        <p14:creationId xmlns:p14="http://schemas.microsoft.com/office/powerpoint/2010/main" val="1311248348"/>
      </p:ext>
    </p:extLst>
  </p:cSld>
</p:sld>
</file>

<file path=ppt/slides/slide14.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646534A-1E6E-446D-943A-FBB4F183C34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F5CF1693-296C-450B-96A9-0A83E1B8AE4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3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Attribution narrows the search and intervention tests the mechanism</a:t>
            </a:r>
          </a:p>
        </p:txBody>
      </p:sp>
      <p:sp>
        <p:nvSpPr>
          <p:cNvPr id="3" name="">
            <a:extLst xmlns:a="http://schemas.openxmlformats.org/drawingml/2006/main">
              <a:ext uri="{FF2B5EF4-FFF2-40B4-BE49-F238E27FC236}">
                <a16:creationId xmlns:a16="http://schemas.microsoft.com/office/drawing/2014/main" id="{E3FFA8FE-CE00-4193-8DFB-FAB065506DB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0B50E8CF-2307-4011-9746-2DFE94BF3E8D}"/>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A99C805-2A0E-4856-95A4-32061E71E1E2}"/>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36B3E903-28D0-4C58-9AFD-2966038143B6}"/>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Remove general awareness</a:t>
            </a:r>
          </a:p>
        </p:txBody>
      </p:sp>
      <p:sp>
        <p:nvSpPr>
          <p:cNvPr id="7" name="">
            <a:extLst xmlns:a="http://schemas.openxmlformats.org/drawingml/2006/main">
              <a:ext uri="{FF2B5EF4-FFF2-40B4-BE49-F238E27FC236}">
                <a16:creationId xmlns:a16="http://schemas.microsoft.com/office/drawing/2014/main" id="{CB776C00-A656-439B-8F61-6E41D97767B6}"/>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Same-image instruction controls make target-specific routing visible.</a:t>
            </a:r>
          </a:p>
        </p:txBody>
      </p:sp>
      <p:sp>
        <p:nvSpPr>
          <p:cNvPr id="8" name="">
            <a:extLst xmlns:a="http://schemas.openxmlformats.org/drawingml/2006/main">
              <a:ext uri="{FF2B5EF4-FFF2-40B4-BE49-F238E27FC236}">
                <a16:creationId xmlns:a16="http://schemas.microsoft.com/office/drawing/2014/main" id="{E01C9358-73B8-473E-936C-FB39FD084497}"/>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C249D89-8B20-4D02-B62E-0BC9A33C073C}"/>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53F725C5-792F-49FA-BFA7-8524772F89D4}"/>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Separate routing from mechanism</a:t>
            </a:r>
          </a:p>
        </p:txBody>
      </p:sp>
      <p:sp>
        <p:nvSpPr>
          <p:cNvPr id="11" name="">
            <a:extLst xmlns:a="http://schemas.openxmlformats.org/drawingml/2006/main">
              <a:ext uri="{FF2B5EF4-FFF2-40B4-BE49-F238E27FC236}">
                <a16:creationId xmlns:a16="http://schemas.microsoft.com/office/drawing/2014/main" id="{509AEE79-929E-4D52-A6F1-ED43479F1639}"/>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strongest attention head did not carry the coordinate effect by itself.</a:t>
            </a:r>
          </a:p>
        </p:txBody>
      </p:sp>
      <p:sp>
        <p:nvSpPr>
          <p:cNvPr id="12" name="">
            <a:extLst xmlns:a="http://schemas.openxmlformats.org/drawingml/2006/main">
              <a:ext uri="{FF2B5EF4-FFF2-40B4-BE49-F238E27FC236}">
                <a16:creationId xmlns:a16="http://schemas.microsoft.com/office/drawing/2014/main" id="{2F958956-2912-47E8-8124-9AB5E67536A8}"/>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69687BA-96C3-4ED2-8CE2-28B98B79317E}"/>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A09EF860-A71A-44AC-8D02-EEE66AD9A071}"/>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Patch the target evidence</a:t>
            </a:r>
          </a:p>
        </p:txBody>
      </p:sp>
      <p:sp>
        <p:nvSpPr>
          <p:cNvPr id="15" name="">
            <a:extLst xmlns:a="http://schemas.openxmlformats.org/drawingml/2006/main">
              <a:ext uri="{FF2B5EF4-FFF2-40B4-BE49-F238E27FC236}">
                <a16:creationId xmlns:a16="http://schemas.microsoft.com/office/drawing/2014/main" id="{61EDB164-A12D-4369-AD9A-21E8DFB2789E}"/>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Four target residual tokens recover one-third of the matched corruption gap.</a:t>
            </a:r>
          </a:p>
        </p:txBody>
      </p:sp>
      <p:sp>
        <p:nvSpPr>
          <p:cNvPr id="16" name="">
            <a:extLst xmlns:a="http://schemas.openxmlformats.org/drawingml/2006/main">
              <a:ext uri="{FF2B5EF4-FFF2-40B4-BE49-F238E27FC236}">
                <a16:creationId xmlns:a16="http://schemas.microsoft.com/office/drawing/2014/main" id="{A4B76BA5-6A7A-4511-AB6A-0FCBFAF2DD54}"/>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E7EE263-399B-488E-9581-528D11099F87}"/>
              </a:ext>
            </a:extLst>
          </p:cNvPr>
          <p:cNvSpPr>
            <a:spLocks xmlns:a="http://schemas.openxmlformats.org/drawingml/2006/main" noGrp="1"/>
          </p:cNvSpPr>
          <p:nvPr/>
        </p:nvSpPr>
        <p:spPr>
          <a:xfrm xmlns:a="http://schemas.openxmlformats.org/drawingml/2006/main">
            <a:off x="6438900" y="16573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LIVE DEMO · 90 SECONDS</a:t>
            </a:r>
          </a:p>
        </p:txBody>
      </p:sp>
      <p:sp>
        <p:nvSpPr>
          <p:cNvPr id="18" name="">
            <a:extLst xmlns:a="http://schemas.openxmlformats.org/drawingml/2006/main">
              <a:ext uri="{FF2B5EF4-FFF2-40B4-BE49-F238E27FC236}">
                <a16:creationId xmlns:a16="http://schemas.microsoft.com/office/drawing/2014/main" id="{80F97CD9-75CF-429D-8A1F-D43F76862583}"/>
              </a:ext>
            </a:extLst>
          </p:cNvPr>
          <p:cNvSpPr>
            <a:spLocks xmlns:a="http://schemas.openxmlformats.org/drawingml/2006/main" noGrp="1"/>
          </p:cNvSpPr>
          <p:nvPr/>
        </p:nvSpPr>
        <p:spPr>
          <a:xfrm xmlns:a="http://schemas.openxmlformats.org/drawingml/2006/main">
            <a:off x="6438900" y="20764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5C8ED2E-6006-488E-9D01-3FAE8FCDE52F}"/>
              </a:ext>
            </a:extLst>
          </p:cNvPr>
          <p:cNvSpPr>
            <a:spLocks xmlns:a="http://schemas.openxmlformats.org/drawingml/2006/main" noGrp="1"/>
          </p:cNvSpPr>
          <p:nvPr/>
        </p:nvSpPr>
        <p:spPr>
          <a:xfrm xmlns:a="http://schemas.openxmlformats.org/drawingml/2006/main">
            <a:off x="6534150" y="20955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CA2CDD32-F372-47F8-B797-3A7AAEA2E13E}"/>
              </a:ext>
            </a:extLst>
          </p:cNvPr>
          <p:cNvSpPr>
            <a:spLocks xmlns:a="http://schemas.openxmlformats.org/drawingml/2006/main" noGrp="1"/>
          </p:cNvSpPr>
          <p:nvPr/>
        </p:nvSpPr>
        <p:spPr>
          <a:xfrm xmlns:a="http://schemas.openxmlformats.org/drawingml/2006/main">
            <a:off x="6953250" y="20859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hit: raw versus prompt difference</a:t>
            </a:r>
          </a:p>
        </p:txBody>
      </p:sp>
      <p:sp>
        <p:nvSpPr>
          <p:cNvPr id="21" name="">
            <a:extLst xmlns:a="http://schemas.openxmlformats.org/drawingml/2006/main">
              <a:ext uri="{FF2B5EF4-FFF2-40B4-BE49-F238E27FC236}">
                <a16:creationId xmlns:a16="http://schemas.microsoft.com/office/drawing/2014/main" id="{44EF0451-F6EF-41B1-A04C-BBC851C347BD}"/>
              </a:ext>
            </a:extLst>
          </p:cNvPr>
          <p:cNvSpPr>
            <a:spLocks xmlns:a="http://schemas.openxmlformats.org/drawingml/2006/main" noGrp="1"/>
          </p:cNvSpPr>
          <p:nvPr/>
        </p:nvSpPr>
        <p:spPr>
          <a:xfrm xmlns:a="http://schemas.openxmlformats.org/drawingml/2006/main">
            <a:off x="6953250" y="23526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Peak enters the selected template.</a:t>
            </a:r>
          </a:p>
        </p:txBody>
      </p:sp>
      <p:sp>
        <p:nvSpPr>
          <p:cNvPr id="22" name="">
            <a:extLst xmlns:a="http://schemas.openxmlformats.org/drawingml/2006/main">
              <a:ext uri="{FF2B5EF4-FFF2-40B4-BE49-F238E27FC236}">
                <a16:creationId xmlns:a16="http://schemas.microsoft.com/office/drawing/2014/main" id="{9E33566C-60E0-4696-87AC-DB76E47D3722}"/>
              </a:ext>
            </a:extLst>
          </p:cNvPr>
          <p:cNvSpPr>
            <a:spLocks xmlns:a="http://schemas.openxmlformats.org/drawingml/2006/main" noGrp="1"/>
          </p:cNvSpPr>
          <p:nvPr/>
        </p:nvSpPr>
        <p:spPr>
          <a:xfrm xmlns:a="http://schemas.openxmlformats.org/drawingml/2006/main">
            <a:off x="6438900" y="28194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DE42A23-3862-427B-8786-B1C295A60F82}"/>
              </a:ext>
            </a:extLst>
          </p:cNvPr>
          <p:cNvSpPr>
            <a:spLocks xmlns:a="http://schemas.openxmlformats.org/drawingml/2006/main" noGrp="1"/>
          </p:cNvSpPr>
          <p:nvPr/>
        </p:nvSpPr>
        <p:spPr>
          <a:xfrm xmlns:a="http://schemas.openxmlformats.org/drawingml/2006/main">
            <a:off x="6534150" y="28384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7F64577C-B056-4088-AEEA-CD3EA2127277}"/>
              </a:ext>
            </a:extLst>
          </p:cNvPr>
          <p:cNvSpPr>
            <a:spLocks xmlns:a="http://schemas.openxmlformats.org/drawingml/2006/main" noGrp="1"/>
          </p:cNvSpPr>
          <p:nvPr/>
        </p:nvSpPr>
        <p:spPr>
          <a:xfrm xmlns:a="http://schemas.openxmlformats.org/drawingml/2006/main">
            <a:off x="6953250" y="28289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miss: inspect click binding</a:t>
            </a:r>
          </a:p>
        </p:txBody>
      </p:sp>
      <p:sp>
        <p:nvSpPr>
          <p:cNvPr id="25" name="">
            <a:extLst xmlns:a="http://schemas.openxmlformats.org/drawingml/2006/main">
              <a:ext uri="{FF2B5EF4-FFF2-40B4-BE49-F238E27FC236}">
                <a16:creationId xmlns:a16="http://schemas.microsoft.com/office/drawing/2014/main" id="{EBAEC940-175D-4A0E-A9E0-A69211B1AAEE}"/>
              </a:ext>
            </a:extLst>
          </p:cNvPr>
          <p:cNvSpPr>
            <a:spLocks xmlns:a="http://schemas.openxmlformats.org/drawingml/2006/main" noGrp="1"/>
          </p:cNvSpPr>
          <p:nvPr/>
        </p:nvSpPr>
        <p:spPr>
          <a:xfrm xmlns:a="http://schemas.openxmlformats.org/drawingml/2006/main">
            <a:off x="6953250" y="30956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Correct task region, wrong tiny affordance.</a:t>
            </a:r>
          </a:p>
        </p:txBody>
      </p:sp>
      <p:sp>
        <p:nvSpPr>
          <p:cNvPr id="26" name="">
            <a:extLst xmlns:a="http://schemas.openxmlformats.org/drawingml/2006/main">
              <a:ext uri="{FF2B5EF4-FFF2-40B4-BE49-F238E27FC236}">
                <a16:creationId xmlns:a16="http://schemas.microsoft.com/office/drawing/2014/main" id="{8D1796AF-4F33-4D0A-A018-A6134137F351}"/>
              </a:ext>
            </a:extLst>
          </p:cNvPr>
          <p:cNvSpPr>
            <a:spLocks xmlns:a="http://schemas.openxmlformats.org/drawingml/2006/main" noGrp="1"/>
          </p:cNvSpPr>
          <p:nvPr/>
        </p:nvSpPr>
        <p:spPr>
          <a:xfrm xmlns:a="http://schemas.openxmlformats.org/drawingml/2006/main">
            <a:off x="6438900" y="35623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D5E7E93-209C-4FC6-B931-D5223FB9BD00}"/>
              </a:ext>
            </a:extLst>
          </p:cNvPr>
          <p:cNvSpPr>
            <a:spLocks xmlns:a="http://schemas.openxmlformats.org/drawingml/2006/main" noGrp="1"/>
          </p:cNvSpPr>
          <p:nvPr/>
        </p:nvSpPr>
        <p:spPr>
          <a:xfrm xmlns:a="http://schemas.openxmlformats.org/drawingml/2006/main">
            <a:off x="6534150" y="35814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9295AF54-2793-4513-AE3B-AAC6B766B9D9}"/>
              </a:ext>
            </a:extLst>
          </p:cNvPr>
          <p:cNvSpPr>
            <a:spLocks xmlns:a="http://schemas.openxmlformats.org/drawingml/2006/main" noGrp="1"/>
          </p:cNvSpPr>
          <p:nvPr/>
        </p:nvSpPr>
        <p:spPr>
          <a:xfrm xmlns:a="http://schemas.openxmlformats.org/drawingml/2006/main">
            <a:off x="6953250" y="35718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Hotel trace: step through four frames</a:t>
            </a:r>
          </a:p>
        </p:txBody>
      </p:sp>
      <p:sp>
        <p:nvSpPr>
          <p:cNvPr id="29" name="">
            <a:extLst xmlns:a="http://schemas.openxmlformats.org/drawingml/2006/main">
              <a:ext uri="{FF2B5EF4-FFF2-40B4-BE49-F238E27FC236}">
                <a16:creationId xmlns:a16="http://schemas.microsoft.com/office/drawing/2014/main" id="{0D4D7D21-2549-4217-BC85-8316F0674369}"/>
              </a:ext>
            </a:extLst>
          </p:cNvPr>
          <p:cNvSpPr>
            <a:spLocks xmlns:a="http://schemas.openxmlformats.org/drawingml/2006/main" noGrp="1"/>
          </p:cNvSpPr>
          <p:nvPr/>
        </p:nvSpPr>
        <p:spPr>
          <a:xfrm xmlns:a="http://schemas.openxmlformats.org/drawingml/2006/main">
            <a:off x="6953250" y="38385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Evidence appears before the failed final click.</a:t>
            </a:r>
          </a:p>
        </p:txBody>
      </p:sp>
      <p:sp>
        <p:nvSpPr>
          <p:cNvPr id="30" name="">
            <a:extLst xmlns:a="http://schemas.openxmlformats.org/drawingml/2006/main">
              <a:ext uri="{FF2B5EF4-FFF2-40B4-BE49-F238E27FC236}">
                <a16:creationId xmlns:a16="http://schemas.microsoft.com/office/drawing/2014/main" id="{E3524F39-60E5-4F2C-9E20-8D491ADC9945}"/>
              </a:ext>
            </a:extLst>
          </p:cNvPr>
          <p:cNvSpPr>
            <a:spLocks xmlns:a="http://schemas.openxmlformats.org/drawingml/2006/main" noGrp="1"/>
          </p:cNvSpPr>
          <p:nvPr/>
        </p:nvSpPr>
        <p:spPr>
          <a:xfrm xmlns:a="http://schemas.openxmlformats.org/drawingml/2006/main">
            <a:off x="6438900" y="430530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68FEAFA-260D-4E21-AC93-F8937A6A144E}"/>
              </a:ext>
            </a:extLst>
          </p:cNvPr>
          <p:cNvSpPr>
            <a:spLocks xmlns:a="http://schemas.openxmlformats.org/drawingml/2006/main" noGrp="1"/>
          </p:cNvSpPr>
          <p:nvPr/>
        </p:nvSpPr>
        <p:spPr>
          <a:xfrm xmlns:a="http://schemas.openxmlformats.org/drawingml/2006/main">
            <a:off x="6534150" y="43243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695FC6AA-BAFF-4E62-965D-57A35D624666}"/>
              </a:ext>
            </a:extLst>
          </p:cNvPr>
          <p:cNvSpPr>
            <a:spLocks xmlns:a="http://schemas.openxmlformats.org/drawingml/2006/main" noGrp="1"/>
          </p:cNvSpPr>
          <p:nvPr/>
        </p:nvSpPr>
        <p:spPr>
          <a:xfrm xmlns:a="http://schemas.openxmlformats.org/drawingml/2006/main">
            <a:off x="6953250" y="43148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Matched tile swap</a:t>
            </a:r>
          </a:p>
        </p:txBody>
      </p:sp>
      <p:sp>
        <p:nvSpPr>
          <p:cNvPr id="33" name="">
            <a:extLst xmlns:a="http://schemas.openxmlformats.org/drawingml/2006/main">
              <a:ext uri="{FF2B5EF4-FFF2-40B4-BE49-F238E27FC236}">
                <a16:creationId xmlns:a16="http://schemas.microsoft.com/office/drawing/2014/main" id="{FA6700D3-A304-4635-8576-379774CC9361}"/>
              </a:ext>
            </a:extLst>
          </p:cNvPr>
          <p:cNvSpPr>
            <a:spLocks xmlns:a="http://schemas.openxmlformats.org/drawingml/2006/main" noGrp="1"/>
          </p:cNvSpPr>
          <p:nvPr/>
        </p:nvSpPr>
        <p:spPr>
          <a:xfrm xmlns:a="http://schemas.openxmlformats.org/drawingml/2006/main">
            <a:off x="6953250" y="45815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Compare target-patch recovery with the head-level null.</a:t>
            </a:r>
          </a:p>
        </p:txBody>
      </p:sp>
      <p:sp>
        <p:nvSpPr>
          <p:cNvPr id="34" name="">
            <a:extLst xmlns:a="http://schemas.openxmlformats.org/drawingml/2006/main">
              <a:ext uri="{FF2B5EF4-FFF2-40B4-BE49-F238E27FC236}">
                <a16:creationId xmlns:a16="http://schemas.microsoft.com/office/drawing/2014/main" id="{6E8D6792-9BBA-4C75-A21B-09EE80757A3D}"/>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F4CD1670-EA77-421B-B81E-81B22EA1CC60}"/>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Next decisive result: repeat the matched intervention across a frozen evaluation split</a:t>
            </a:r>
          </a:p>
        </p:txBody>
      </p:sp>
      <p:sp>
        <p:nvSpPr>
          <p:cNvPr id="36" name="">
            <a:extLst xmlns:a="http://schemas.openxmlformats.org/drawingml/2006/main">
              <a:ext uri="{FF2B5EF4-FFF2-40B4-BE49-F238E27FC236}">
                <a16:creationId xmlns:a16="http://schemas.microsoft.com/office/drawing/2014/main" id="{8F7C5620-04B1-4446-B3D2-675A9499C52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07CB146-1E02-4D1D-9597-0A70E60368C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Viewers: ScreenSpot hit + miss · causal result: artifacts/causal-intervention/powerpoint_windows_59_swap/results.json</a:t>
            </a:r>
          </a:p>
        </p:txBody>
      </p:sp>
    </p:spTree>
    <p:extLst>
      <p:ext uri="{BB962C8B-B14F-4D97-AF65-F5344CB8AC3E}">
        <p14:creationId xmlns:p14="http://schemas.microsoft.com/office/powerpoint/2010/main" val="1775498790"/>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28F5CF-97A5-4CF3-8A08-42F21E26363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D3CAD2FD-99DD-4BC0-B59F-7D29032B341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9F4F6708-8636-4E5C-B56A-4778467A2B1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56F4CF29-02C4-49F4-AFC6-005059DBF2DF}"/>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23A5E6A8-C95A-44B5-9E6C-2CD3D586A48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2A88A05-3FB9-426A-9986-EED417BD8DE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10612288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2026-09-22T03:47:57.3660000Z</dcterms:created>
  <dcterms:modified xsi:type="dcterms:W3CDTF">2026-09-22T03:47:57.3660000Z</dcterms:modified>
</coreProperties>
</file>