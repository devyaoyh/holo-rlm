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9cb8fe75e984e3e" /><Relationship Type="http://schemas.openxmlformats.org/officeDocument/2006/relationships/extended-properties" Target="/docProps/app.xml" Id="Rf07591b3b18642b4" /><Relationship Type="http://schemas.openxmlformats.org/officeDocument/2006/relationships/officeDocument" Target="/ppt/presentation.xml" Id="R854d1e3e40794b6d" /></Relationships>
</file>

<file path=ppt/presentation.xml><?xml version="1.0" encoding="utf-8"?>
<p:presentation xmlns:p="http://schemas.openxmlformats.org/presentationml/2006/main">
  <p:sldMasterIdLst>
    <p:sldMasterId xmlns:r="http://schemas.openxmlformats.org/officeDocument/2006/relationships" id="2147483648" r:id="R37ec743b25b44a73"/>
  </p:sldMasterIdLst>
  <p:notesMasterIdLst>
    <p:notesMasterId xmlns:r="http://schemas.openxmlformats.org/officeDocument/2006/relationships" r:id="R420470e6725f4c48"/>
  </p:notesMasterIdLst>
  <p:sldIdLst>
    <p:sldId xmlns:r="http://schemas.openxmlformats.org/officeDocument/2006/relationships" id="256" r:id="R76c73a004d104e10"/>
    <p:sldId xmlns:r="http://schemas.openxmlformats.org/officeDocument/2006/relationships" id="257" r:id="Rcd30093493424c61"/>
    <p:sldId xmlns:r="http://schemas.openxmlformats.org/officeDocument/2006/relationships" id="258" r:id="R261f42d7e7fd47dd"/>
    <p:sldId xmlns:r="http://schemas.openxmlformats.org/officeDocument/2006/relationships" id="259" r:id="Rae4fb494426541bf"/>
    <p:sldId xmlns:r="http://schemas.openxmlformats.org/officeDocument/2006/relationships" id="260" r:id="R1a6b2a5ab2e444a2"/>
    <p:sldId xmlns:r="http://schemas.openxmlformats.org/officeDocument/2006/relationships" id="261" r:id="R482d54b7fd0444d1"/>
    <p:sldId xmlns:r="http://schemas.openxmlformats.org/officeDocument/2006/relationships" id="262" r:id="Rf176c20fa7ad4fd7"/>
    <p:sldId xmlns:r="http://schemas.openxmlformats.org/officeDocument/2006/relationships" id="263" r:id="R72d312c95ba24596"/>
    <p:sldId xmlns:r="http://schemas.openxmlformats.org/officeDocument/2006/relationships" id="264" r:id="R93ee988a6ea140d9"/>
    <p:sldId xmlns:r="http://schemas.openxmlformats.org/officeDocument/2006/relationships" id="265" r:id="R42a842aad14e4ba4"/>
    <p:sldId xmlns:r="http://schemas.openxmlformats.org/officeDocument/2006/relationships" id="266" r:id="R797a0b77103a4336"/>
    <p:sldId xmlns:r="http://schemas.openxmlformats.org/officeDocument/2006/relationships" id="267" r:id="R8bffecf9015a4a92"/>
    <p:sldId xmlns:r="http://schemas.openxmlformats.org/officeDocument/2006/relationships" id="268" r:id="Ra926cb8978df4a5b"/>
    <p:sldId xmlns:r="http://schemas.openxmlformats.org/officeDocument/2006/relationships" id="269" r:id="R9ff9b5859f4845d6"/>
    <p:sldId xmlns:r="http://schemas.openxmlformats.org/officeDocument/2006/relationships" id="270" r:id="R1d1f45c9dceb43d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4c78940c1c84d5b" /><Relationship Type="http://schemas.openxmlformats.org/officeDocument/2006/relationships/slideMaster" Target="/ppt/slideMasters/slideMaster1.xml" Id="R37ec743b25b44a73" /><Relationship Type="http://schemas.openxmlformats.org/officeDocument/2006/relationships/notesMaster" Target="/ppt/notesMasters/notesMaster1.xml" Id="R420470e6725f4c48" /><Relationship Type="http://schemas.openxmlformats.org/officeDocument/2006/relationships/presProps" Target="/ppt/presProps.xml" Id="R55338e45234a42dd" /><Relationship Type="http://schemas.openxmlformats.org/officeDocument/2006/relationships/tableStyles" Target="/ppt/tableStyles.xml" Id="R0a854849c93d4eee" /><Relationship Type="http://schemas.openxmlformats.org/officeDocument/2006/relationships/slide" Target="/ppt/slides/slide1.xml" Id="R76c73a004d104e10" /><Relationship Type="http://schemas.openxmlformats.org/officeDocument/2006/relationships/slide" Target="/ppt/slides/slide2.xml" Id="Rcd30093493424c61" /><Relationship Type="http://schemas.openxmlformats.org/officeDocument/2006/relationships/slide" Target="/ppt/slides/slide3.xml" Id="R261f42d7e7fd47dd" /><Relationship Type="http://schemas.openxmlformats.org/officeDocument/2006/relationships/slide" Target="/ppt/slides/slide4.xml" Id="Rae4fb494426541bf" /><Relationship Type="http://schemas.openxmlformats.org/officeDocument/2006/relationships/slide" Target="/ppt/slides/slide5.xml" Id="R1a6b2a5ab2e444a2" /><Relationship Type="http://schemas.openxmlformats.org/officeDocument/2006/relationships/slide" Target="/ppt/slides/slide6.xml" Id="R482d54b7fd0444d1" /><Relationship Type="http://schemas.openxmlformats.org/officeDocument/2006/relationships/slide" Target="/ppt/slides/slide7.xml" Id="Rf176c20fa7ad4fd7" /><Relationship Type="http://schemas.openxmlformats.org/officeDocument/2006/relationships/slide" Target="/ppt/slides/slide8.xml" Id="R72d312c95ba24596" /><Relationship Type="http://schemas.openxmlformats.org/officeDocument/2006/relationships/slide" Target="/ppt/slides/slide9.xml" Id="R93ee988a6ea140d9" /><Relationship Type="http://schemas.openxmlformats.org/officeDocument/2006/relationships/slide" Target="/ppt/slides/slide10.xml" Id="R42a842aad14e4ba4" /><Relationship Type="http://schemas.openxmlformats.org/officeDocument/2006/relationships/slide" Target="/ppt/slides/slide11.xml" Id="R797a0b77103a4336" /><Relationship Type="http://schemas.openxmlformats.org/officeDocument/2006/relationships/slide" Target="/ppt/slides/slide12.xml" Id="R8bffecf9015a4a92" /><Relationship Type="http://schemas.openxmlformats.org/officeDocument/2006/relationships/slide" Target="/ppt/slides/slide13.xml" Id="Ra926cb8978df4a5b" /><Relationship Type="http://schemas.openxmlformats.org/officeDocument/2006/relationships/slide" Target="/ppt/slides/slide14.xml" Id="R9ff9b5859f4845d6" /><Relationship Type="http://schemas.openxmlformats.org/officeDocument/2006/relationships/slide" Target="/ppt/slides/slide15.xml" Id="R1d1f45c9dceb43d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30e751066eb444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53f018cd164dbf" /><Relationship Type="http://schemas.openxmlformats.org/officeDocument/2006/relationships/notesMaster" Target="/ppt/notesMasters/notesMaster1.xml" Id="R74f130b3653941e5" /></Relationships>
</file>

<file path=ppt/notesSlides/_rels/notesSlide2.xml.rels>&#65279;<?xml version="1.0" encoding="utf-8"?><Relationships xmlns="http://schemas.openxmlformats.org/package/2006/relationships"><Relationship Type="http://schemas.openxmlformats.org/officeDocument/2006/relationships/slide" Target="/ppt/slides/slide2.xml" Id="Refe889dfc43b4dfa" /><Relationship Type="http://schemas.openxmlformats.org/officeDocument/2006/relationships/notesMaster" Target="/ppt/notesMasters/notesMaster1.xml" Id="Rc6e9bc2f6dff47b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c1ca2697d00410c" /><Relationship Type="http://schemas.openxmlformats.org/officeDocument/2006/relationships/notesMaster" Target="/ppt/notesMasters/notesMaster1.xml" Id="R5da167e7bce742ec"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47f0583ba847a7" /><Relationship Type="http://schemas.openxmlformats.org/officeDocument/2006/relationships/notesMaster" Target="/ppt/notesMasters/notesMaster1.xml" Id="R69ab06c4ff3a45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57af63bbc4e443ac" /><Relationship Type="http://schemas.openxmlformats.org/officeDocument/2006/relationships/notesMaster" Target="/ppt/notesMasters/notesMaster1.xml" Id="R68bf67fa44de42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965d45eb0b5b4677" /><Relationship Type="http://schemas.openxmlformats.org/officeDocument/2006/relationships/notesMaster" Target="/ppt/notesMasters/notesMaster1.xml" Id="R46d9bad437a94cc0" /></Relationships>
</file>

<file path=ppt/notesSlides/_rels/notesSlide7.xml.rels>&#65279;<?xml version="1.0" encoding="utf-8"?><Relationships xmlns="http://schemas.openxmlformats.org/package/2006/relationships"><Relationship Type="http://schemas.openxmlformats.org/officeDocument/2006/relationships/slide" Target="/ppt/slides/slide7.xml" Id="R763d406cfcf34735" /><Relationship Type="http://schemas.openxmlformats.org/officeDocument/2006/relationships/notesMaster" Target="/ppt/notesMasters/notesMaster1.xml" Id="Rae8d8cbceb654356" /></Relationships>
</file>

<file path=ppt/notesSlides/_rels/notesSlide8.xml.rels>&#65279;<?xml version="1.0" encoding="utf-8"?><Relationships xmlns="http://schemas.openxmlformats.org/package/2006/relationships"><Relationship Type="http://schemas.openxmlformats.org/officeDocument/2006/relationships/slide" Target="/ppt/slides/slide8.xml" Id="Rd410b5df0d3e4052" /><Relationship Type="http://schemas.openxmlformats.org/officeDocument/2006/relationships/notesMaster" Target="/ppt/notesMasters/notesMaster1.xml" Id="R95a08e7062ae41dd" /></Relationships>
</file>

<file path=ppt/notesSlides/_rels/notesSlide9.xml.rels>&#65279;<?xml version="1.0" encoding="utf-8"?><Relationships xmlns="http://schemas.openxmlformats.org/package/2006/relationships"><Relationship Type="http://schemas.openxmlformats.org/officeDocument/2006/relationships/slide" Target="/ppt/slides/slide9.xml" Id="R9ba2dcd45a654af6" /><Relationship Type="http://schemas.openxmlformats.org/officeDocument/2006/relationships/notesMaster" Target="/ppt/notesMasters/notesMaster1.xml" Id="Rf2708ecbe3c243e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b187af1231a40f5" /><Relationship Type="http://schemas.openxmlformats.org/officeDocument/2006/relationships/notesMaster" Target="/ppt/notesMasters/notesMaster1.xml" Id="R40bb65909ec448f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07bc365c22c4c1d" /><Relationship Type="http://schemas.openxmlformats.org/officeDocument/2006/relationships/notesMaster" Target="/ppt/notesMasters/notesMaster1.xml" Id="Rc1984be16ad947c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3b0aafe122b42c2" /><Relationship Type="http://schemas.openxmlformats.org/officeDocument/2006/relationships/notesMaster" Target="/ppt/notesMasters/notesMaster1.xml" Id="R0a5610c6bf684fb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955e4100e464bab" /><Relationship Type="http://schemas.openxmlformats.org/officeDocument/2006/relationships/notesMaster" Target="/ppt/notesMasters/notesMaster1.xml" Id="R2286e4f7f4ae499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9e1a82210864150" /><Relationship Type="http://schemas.openxmlformats.org/officeDocument/2006/relationships/notesMaster" Target="/ppt/notesMasters/notesMaster1.xml" Id="R9c523cef6b4f4ad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e5cf3915ac34ca4" /><Relationship Type="http://schemas.openxmlformats.org/officeDocument/2006/relationships/notesMaster" Target="/ppt/notesMasters/notesMaster1.xml" Id="R5d01bf473eba47c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 Frame the question: what is specific to the current instruction after removing generic image saliency, and can the same machinery follow evidence across a multi-turn trajectory? The visual is the final prompt-differential map for the ScreenSpot visual hit. Source: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0:35–1:15 — Introduce two complementary capabilities rather than two failures. ScreenSpot-Pro isolates static UI localization from one screenshot and instruction. The hotel environment tests context retrieval across a sequence of screenshots and actions. The current official-tool free rollout succeeds: Holo scrolls three times, retains the three latest screenshots, selects Lumen Harbor Rooms at £122, and clicks its button. Sources: docs/screenspot-case-study.md and artifacts/screenspot-presentation/hotel-freegen-official-tools-v1/hotel-freegen-summary.json.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1:15–2:10 — This is the complete local replication: 1,581 items, 1,042 strict point-in-box successes, no request failures, and 100% valid JSON. The 65.9% result is 0.6 percentage point below the approximately 66.5% Holo3.1-4B reference supplied by the project owner. ScreenSpot-Pro's UI type describes the annotated click target: icon means no text hint is present; targets with text labels belong to the text category even when an icon is also present. Raw accuracy is 79.4% for text targets and 44.0% for icon targets. The bottom matrix remains a diagnostic raw breakdown. Its action columns use our first-recognized-verb dictionary rather than an official ScreenSpot-Pro label. Icon plus file or transfer actions are lowest at 36.1% on 36 items. Icon plus navigation or reveal is the larger weak cell at 40.3% on 149 items. Do not interpret the raw UI split before examining target geometry on the next slide. Sources: data/remote-results/run/screenspot-full-official/summary.json, artifacts/screenspot-presentation/screenspot-benchmark-breakdown.json, and https://openreview.net/pdf?id=BS75DmIsRL.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2:10–2:55 — Show the observed geometry before interpreting the raw icon-versus-text accuracy gap. Each item's target area is its annotated bounding-box area divided by screenshot area. The histogram uses fixed area buckets and normalizes separately within the 604 icon targets and 977 text targets, so each series sums to 100%. The median normalized text-target area is 4.77 times the icon median. Median heights are nearly identical at 25 versus 24 pixels, while median widths are 111 versus 26 pixels. Strict ScreenSpot accuracy is point-in-box, so wider text boxes provide more click tolerance. This distribution is more transparent than a single model-adjusted gap. It does not establish how much of the performance gap target size causes. Sources: artifacts/screenspot-presentation/screenspot-target-size-analysis.json, scripts/analyze_screenspot_target_size.py, and the official annotations at revision 210e78d3844251110bff86c95835ebd37a6930fa.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2:55–3:50 — This is a paired success-retention experiment, not a new unconditional ScreenSpot-Pro accuracy estimate. We froze 36 items that were strict hits in the full native-resolution run: six size-spread targets in each application-by-UI-type stratum across Photoshop, PowerPoint, and VS Code. Every item was rerun in one Holo model process at 100%, 75%, 50%, and 25% of its original width and height using Lanczos downsampling. The official localization prompt, VisualLocalizerOutput schema, temperature zero, thinking-disabled decoding, and normalized 0–1000 coordinates remain fixed. The server stays at image_max_pixels 16777216, so it cannot add a second hidden resize. The same-run native rerun is 36 of 36. Retention is 25 of 36 at 75%, 22 of 36 at 50%, and 4 of 36 at 25% linear resolution. Wilson 95% intervals are 53.1 to 82.0%, 44.9 to 75.2%, and 4.4 to 25.3%. At half resolution, text targets retain 15 of 18 clicks while icon targets retain 7 of 18. Retained targets have about 4.1 times the median normalized area of failures. All 144 completions are valid JSON. The cohort is selected on native success, so use this as evidence of resolution sensitivity, not as the benchmark's full accuracy curve. Sources: artifacts/screenspot-presentation/screenspot-resolution-ablation-v1.json, docs/screenspot-resolution-ablation.md, and benchmarks/resolution_ablation/screenspot_success_retention_v1.json.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3:50–4:30 — Use the resolution result to motivate the next mechanistic experiment. Re-run the same frozen items at 100, 75, 50, and 25 percent linear resolution with eager attention enabled. At every scale, capture the target instruction plus four visible same-image alternate instructions. The primary map is value-norm rollout after subtracting the mean control map. Compare target mass, target lift, peak distance, and target-patch rank between retained and lost clicks. If target-specific attribution collapses before the click fails, the bottleneck is visual encoding. If the signal remains localized while coordinates drift, the bottleneck is action readout. The existing one-case pixel-budget pilot points toward the first pattern, but it is not the same intervention and stays in the notes rather than the headline.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4:30–5:30 — The left panel is the value-norm rollout for Holo's freely generated x/y coordinate tokens. It places 4.43% of its positive mass in the tiny oracle, a 110.7x lift. The right panel subtracts the mean of four separately measured same-image instructions: Cut, Copy, Send backward, and Add comment. That baseline raises the target-specific concentration to 18.58% and 464.4x lift, with minimum leave-one-control-out cosine 0.991. Both panels use the same native 2880x1800 screenshot, official localization prompt, Holo output (209,243), and x/y token aggregation. The comparison shows how a resting-state-like control removes generic image saliency. Neither map by itself proves a causal mechanism. Source: data/remote-results/slide67-native-controls-20260922 and artifacts/screenspot-presentation/slide67-native-contrast-v1.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5:30–6:20 — This failure uses the same full-resolution official protocol and a four-instruction same-image baseline. Holo freely emits (124,73), projecting to (357.1,131.4) pixels. The x coordinate falls inside the annotated proofing-language control, while y lands 7.4 pixels below its bottom edge. After value-norm rollout and subtraction of Check accessibility, Translate, Add comment, and Show comments, the peak patch remains inside the oracle. The tiny box receives 17.15% of positive residual mass, a 278.6x lift, with a 0.951 leave-one-control-out floor. This pattern is consistent with localized visual evidence followed by imprecise coordinate extraction. Attention remains descriptive rather than causal. Source: data/remote-results/slide67-native-controls-20260922 and artifacts/screenspot-presentation/slide67-native-contrast-v1.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6:20–7:20 — This is a genuine free Holo rollout. The run uses our revised hotel prompt and the exact HoloDesktop runtime 0.1.10 tool schema. Holo receives native 1024x720 screenshots under the official three-screenshot retention window, freely emits three scrolls, then clicks normalized (650,450). The projected pixel click (665,324) lands inside the fixture-defined button for Lumen Harbor Rooms at £122. Value-norm rollout for the generated y-coordinate tokens allocates 38.6%, 29.2%, and 32.2% of image mass across scroll offsets 500, 1000, and 1124. All three frames contribute and no single frame dominates. Do not call this a recency preference: the separate teacher-forced Qwen-to-Holo comparison uses a different run and attribution contrast. This slide supports cross-frame context retrieval, not a causal memory mechanism. Source: artifacts/screenspot-presentation/hotel-freegen-official-tools-v1/hotel-freegen-summary.json and data/remote-results/hotel-official-tools-native-20260922-rerun.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7:20–8:20 — Define the causal panel without phase labels. Four equal-size tile pairs produce eight mirrored instructions. The corruption swaps the target and distractor tiles without resizing or changing the prompt. Both checkpoints receive the Holo processor and official VisualLocalizerOutput request. The model is teacher-forced through equal-length coordinate candidates. The metric is the x-digit log-probability margin because the paired y coordinate stays fixed in this horizontal panel. First screen visual-region residuals and coordinate states across layers. Then test the selected Layer 15 coordinate state and all sixteen attention heads. Sources: benchmarks/activation_patching/qwen_holo_action_panel_v1 and benchmarks/activation_patching/qwen_holo_action_panel_v1_phase_b_layer15.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8:20–9:20 — Lead with the directly interpretable intervention. Replacing the corrupted-run Layer 15 x-coordinate residual with the clean-run state raises Holo's target-over-distractor margin by a median 1.01 nats, versus 0.10 for Qwen. Holo restoration is positive in seven of eight prompts, and the paired Holo-minus-Qwen median is +0.72 nats. Zero-ablation means setting that same coordinate residual to zero in the clean run; the median clean-margin drop is 4.51 nats for Holo and 6.27 for Qwen. Both models therefore rely on this state. Fine-tuning increases its recoverability rather than creating a Holo-exclusive necessity. The all-head sweep also rejects a single-head explanation: Holo head 1 restores 0.54 nats, but Qwen uses the same head at 0.36. Sources: data/remote-results/qwen-holo-action-panel-v1-20260922 and data/remote-results/qwen-holo-action-panel-v1-20260922-phase-b-layer15.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9:20–10:10 — Four directions follow directly from the evidence. First, trace the existing downsampling cohort to distinguish lost visual signal from coordinate readout failure. Second, repeat the causal panel across independent images and applications. Third, intervene on historical frames to test context retrieval causally. Fourth, train coordinate precision with oracle trajectories and verifiable environment reward while keeping a frozen diagnostic split. Attribution should select hypotheses and intervention sites; behavior remains the evaluation target.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10:10–11:10 — Close on the combined evidence. ScreenSpot replication shows that geometry and resolution strongly condition localization. The strict-miss example shows that target-specific attention may remain aligned when the final coordinate falls outside. The successful hotel rollout shows that evidence from multiple retained frames reaches the final action. The causal panel adds a model-comparison result: Holo develops a more recoverable Layer 15 coordinate state than Qwen, but both models rely on the state and no single head explains it. The strongest current hypothesis is that fine-tuning improves action-state formation and coordinate extraction more clearly than it improves target-directed visual attention.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methods slide — Value-norm multiplies attention weights by the corresponding value-vector magnitude before normalization. Residual-aware rollout mixes each captured full-attention matrix with identity and composes the eight matrices in model order. We average only the generated x/y value-token maps. The raw map asks where the coordinate route goes. The diverse-instruction baseline subtracts four same-image alternate tasks and asks what remains specific to the target instruction. Target lift compares positive target mass with the target's share of image area. Hybrid Gated DeltaNet layers do not expose an equivalent square attention matrix and therefore sit outside this rollout.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Read across by action family and down by the benchmark's official target-element label. ScreenSpot-Pro defines icon targets as elements with no text hint; any target with a text label belongs to the text category even when it also includes an icon. The action-family columns are our deterministic instruction-verb taxonomy, not official benchmark labels. Each cell shows cohort accuracy and one real completed instruction selected for clear category membership. We replaced two visually ambiguous Blender examples after review because their released ui_type annotations appear inconsistent with the paper's stated rule. The Other bucket is omitted from the 2 × 6 grid; it contains 373 items at 64.1% accuracy. Sources: https://openreview.net/pdf?id=BS75DmIsRL, https://huggingface.co/datasets/yyyang/UI-Grounding-Benchmarks/blob/main/ScreenSpot-Pro/annotations/blender_windows.json, data/remote-results/run/screenspot-full-official/summary.json, and artifacts/screenspot-presentation/screenspot-category-examples.json.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dffc5711fe540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b82c76cafa4818" /><Relationship Type="http://schemas.openxmlformats.org/officeDocument/2006/relationships/slideLayout" Target="/ppt/slideLayouts/slideLayout1.xml" Id="R349d71a4644948e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49d71a4644948e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10319951f8b41ec" /><Relationship Type="http://schemas.openxmlformats.org/officeDocument/2006/relationships/image" Target="/ppt/media/image.png" Id="R07d3c9b5cf0f45ef" /><Relationship Type="http://schemas.openxmlformats.org/officeDocument/2006/relationships/notesSlide" Target="/ppt/notesSlides/notesSlide1.xml" Id="R4295ec746798496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432f54c9dcc426f" /><Relationship Type="http://schemas.openxmlformats.org/officeDocument/2006/relationships/notesSlide" Target="/ppt/notesSlides/notesSlide2.xml" Id="R48042e68351e453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fd39427d9b94116" /><Relationship Type="http://schemas.openxmlformats.org/officeDocument/2006/relationships/chart" Target="/ppt/slides/charts/chart1.xml" Id="R5457d97dbca34ef0" /><Relationship Type="http://schemas.openxmlformats.org/officeDocument/2006/relationships/notesSlide" Target="/ppt/notesSlides/notesSlide3.xml" Id="Rfd48ee7bf32e4b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72875be7a7940e7" /><Relationship Type="http://schemas.openxmlformats.org/officeDocument/2006/relationships/chart" Target="/ppt/slides/charts/chart2.xml" Id="R23a628278bfb48fd" /><Relationship Type="http://schemas.openxmlformats.org/officeDocument/2006/relationships/notesSlide" Target="/ppt/notesSlides/notesSlide4.xml" Id="Rcb5c77891686426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31f0871ac764125" /><Relationship Type="http://schemas.openxmlformats.org/officeDocument/2006/relationships/chart" Target="/ppt/slides/charts/chart3.xml" Id="Re30ad68bdfe148c9" /><Relationship Type="http://schemas.openxmlformats.org/officeDocument/2006/relationships/notesSlide" Target="/ppt/notesSlides/notesSlide5.xml" Id="R56ad4facbc644e9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6a89e5783a145cb" /><Relationship Type="http://schemas.openxmlformats.org/officeDocument/2006/relationships/notesSlide" Target="/ppt/notesSlides/notesSlide6.xml" Id="R78ae6f9cebea4b3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f60e129dba548fb" /><Relationship Type="http://schemas.openxmlformats.org/officeDocument/2006/relationships/image" Target="/ppt/media/image2.png" Id="Rc8888510a83e4191" /><Relationship Type="http://schemas.openxmlformats.org/officeDocument/2006/relationships/image" Target="/ppt/media/image3.png" Id="Rceb184af78aa492b" /><Relationship Type="http://schemas.openxmlformats.org/officeDocument/2006/relationships/notesSlide" Target="/ppt/notesSlides/notesSlide7.xml" Id="R1de853050b404f7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b3697ed24e348b9" /><Relationship Type="http://schemas.openxmlformats.org/officeDocument/2006/relationships/image" Target="/ppt/media/image4.png" Id="Rf00fca5e6e11443a" /><Relationship Type="http://schemas.openxmlformats.org/officeDocument/2006/relationships/notesSlide" Target="/ppt/notesSlides/notesSlide8.xml" Id="R2180e570721a423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870615d686649a8" /><Relationship Type="http://schemas.openxmlformats.org/officeDocument/2006/relationships/image" Target="/ppt/media/image5.png" Id="R0bf4685983a74c33" /><Relationship Type="http://schemas.openxmlformats.org/officeDocument/2006/relationships/image" Target="/ppt/media/image6.png" Id="R128bbe923b984e3c" /><Relationship Type="http://schemas.openxmlformats.org/officeDocument/2006/relationships/image" Target="/ppt/media/image7.png" Id="R9cdd926680f0478e" /><Relationship Type="http://schemas.openxmlformats.org/officeDocument/2006/relationships/notesSlide" Target="/ppt/notesSlides/notesSlide9.xml" Id="Red1b9c22a38b44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ab29cfbf58044d3" /><Relationship Type="http://schemas.openxmlformats.org/officeDocument/2006/relationships/image" Target="/ppt/media/image8.png" Id="R2fac5b157b414ff0" /><Relationship Type="http://schemas.openxmlformats.org/officeDocument/2006/relationships/image" Target="/ppt/media/image9.png" Id="Raf30c2ab6cae447c" /><Relationship Type="http://schemas.openxmlformats.org/officeDocument/2006/relationships/notesSlide" Target="/ppt/notesSlides/notesSlide10.xml" Id="Rfd45231a860b407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d93058370064544" /><Relationship Type="http://schemas.openxmlformats.org/officeDocument/2006/relationships/notesSlide" Target="/ppt/notesSlides/notesSlide11.xml" Id="R42cce0b7d68446e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7912129f5074135" /><Relationship Type="http://schemas.openxmlformats.org/officeDocument/2006/relationships/notesSlide" Target="/ppt/notesSlides/notesSlide12.xml" Id="R389a9dbfa71d4d6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a3ca34b691c4e8a" /><Relationship Type="http://schemas.openxmlformats.org/officeDocument/2006/relationships/notesSlide" Target="/ppt/notesSlides/notesSlide13.xml" Id="R1c077215e7b14eb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25eb75a992647e9" /><Relationship Type="http://schemas.openxmlformats.org/officeDocument/2006/relationships/notesSlide" Target="/ppt/notesSlides/notesSlide14.xml" Id="R40d3fff013bb49e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9373322b36f4f37" /><Relationship Type="http://schemas.openxmlformats.org/officeDocument/2006/relationships/notesSlide" Target="/ppt/notesSlides/notesSlide15.xml" Id="R13de25472f13434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Accuracy</c:v>
          </c:tx>
          <c:spPr>
            <a:solidFill xmlns:a="http://schemas.openxmlformats.org/drawingml/2006/main">
              <a:srgbClr val="2D84D3"/>
            </a:solidFill>
          </c:spPr>
          <c:cat>
            <c:strRef>
              <c:f>'Chart Data'!$A$2:$A$3</c:f>
              <c:strCache>
                <c:ptCount val="2"/>
                <c:pt idx="0">
                  <c:v>Text targets  n=977</c:v>
                </c:pt>
                <c:pt idx="1">
                  <c:v>Icon targets  n=604</c:v>
                </c:pt>
              </c:strCache>
            </c:strRef>
          </c:cat>
          <c:val>
            <c:numRef>
              <c:f>'Chart Data'!$B$2:$B$3</c:f>
              <c:numCache>
                <c:formatCode>General</c:formatCode>
                <c:ptCount val="2"/>
                <c:pt idx="0">
                  <c:v>0.7943</c:v>
                </c:pt>
                <c:pt idx="1">
                  <c:v>0.4404</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975" b="1">
                <a:solidFill>
                  <a:srgbClr val="10151C"/>
                </a:solidFill>
                <a:latin typeface="Helvetica Neue"/>
                <a:ea typeface="Helvetica Neue"/>
                <a:cs typeface="Helvetica Neue"/>
              </a:defRPr>
            </a:pPr>
          </a:p>
        </c:txPr>
        <c:crossAx val="48650112"/>
        <c:crossBetween val="between"/>
      </c:valAx>
      <c:spPr>
        <a:solidFill xmlns:a="http://schemas.openxmlformats.org/drawingml/2006/main">
          <a:srgbClr val="F5F2EB"/>
        </a:solidFill>
        <a:ln xmlns:a="http://schemas.openxmlformats.org/drawingml/2006/main" w="0">
          <a:noFill/>
        </a:ln>
      </c:spPr>
    </c:plotArea>
    <c:plotVisOnly val="1"/>
  </c:chart>
  <c:spPr>
    <a:solidFill xmlns:a="http://schemas.openxmlformats.org/drawingml/2006/main">
      <a:srgbClr val="F5F2EB"/>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Icon</c:v>
          </c:tx>
          <c:spPr>
            <a:solidFill xmlns:a="http://schemas.openxmlformats.org/drawingml/2006/main">
              <a:srgbClr val="F05A3C"/>
            </a:solidFill>
          </c:spPr>
          <c:cat>
            <c:strRef>
              <c:f>'Chart Data'!$A$2:$A$8</c:f>
              <c:strCache>
                <c:ptCount val="7"/>
                <c:pt idx="0">
                  <c:v>&lt;0.01%</c:v>
                </c:pt>
                <c:pt idx="1">
                  <c:v>0.01–0.02%</c:v>
                </c:pt>
                <c:pt idx="2">
                  <c:v>0.02–0.05%</c:v>
                </c:pt>
                <c:pt idx="3">
                  <c:v>0.05–0.10%</c:v>
                </c:pt>
                <c:pt idx="4">
                  <c:v>0.10–0.20%</c:v>
                </c:pt>
                <c:pt idx="5">
                  <c:v>0.20–0.50%</c:v>
                </c:pt>
                <c:pt idx="6">
                  <c:v>≥0.50%</c:v>
                </c:pt>
              </c:strCache>
            </c:strRef>
          </c:cat>
          <c:val>
            <c:numRef>
              <c:f>'Chart Data'!$B$2:$B$8</c:f>
              <c:numCache>
                <c:formatCode>General</c:formatCode>
                <c:ptCount val="7"/>
                <c:pt idx="0">
                  <c:v>35.4</c:v>
                </c:pt>
                <c:pt idx="1">
                  <c:v>38.9</c:v>
                </c:pt>
                <c:pt idx="2">
                  <c:v>19.5</c:v>
                </c:pt>
                <c:pt idx="3">
                  <c:v>4.1</c:v>
                </c:pt>
                <c:pt idx="4">
                  <c:v>0.8</c:v>
                </c:pt>
                <c:pt idx="5">
                  <c:v>0.7</c:v>
                </c:pt>
                <c:pt idx="6">
                  <c:v>0.5</c:v>
                </c:pt>
              </c:numCache>
            </c:numRef>
          </c:val>
        </c:ser>
        <c:ser>
          <c:idx val="1"/>
          <c:order val="1"/>
          <c:tx>
            <c:v>Text</c:v>
          </c:tx>
          <c:spPr>
            <a:solidFill xmlns:a="http://schemas.openxmlformats.org/drawingml/2006/main">
              <a:srgbClr val="2D84D3"/>
            </a:solidFill>
          </c:spPr>
          <c:cat>
            <c:strRef>
              <c:f>'Chart Data'!$C$2:$C$8</c:f>
              <c:strCache>
                <c:ptCount val="7"/>
                <c:pt idx="0">
                  <c:v>&lt;0.01%</c:v>
                </c:pt>
                <c:pt idx="1">
                  <c:v>0.01–0.02%</c:v>
                </c:pt>
                <c:pt idx="2">
                  <c:v>0.02–0.05%</c:v>
                </c:pt>
                <c:pt idx="3">
                  <c:v>0.05–0.10%</c:v>
                </c:pt>
                <c:pt idx="4">
                  <c:v>0.10–0.20%</c:v>
                </c:pt>
                <c:pt idx="5">
                  <c:v>0.20–0.50%</c:v>
                </c:pt>
                <c:pt idx="6">
                  <c:v>≥0.50%</c:v>
                </c:pt>
              </c:strCache>
            </c:strRef>
          </c:cat>
          <c:val>
            <c:numRef>
              <c:f>'Chart Data'!$D$2:$D$8</c:f>
              <c:numCache>
                <c:formatCode>General</c:formatCode>
                <c:ptCount val="7"/>
                <c:pt idx="0">
                  <c:v>4.6</c:v>
                </c:pt>
                <c:pt idx="1">
                  <c:v>8.5</c:v>
                </c:pt>
                <c:pt idx="2">
                  <c:v>24</c:v>
                </c:pt>
                <c:pt idx="3">
                  <c:v>37.6</c:v>
                </c:pt>
                <c:pt idx="4">
                  <c:v>20.5</c:v>
                </c:pt>
                <c:pt idx="5">
                  <c:v>3.9</c:v>
                </c:pt>
                <c:pt idx="6">
                  <c:v>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Target area as share of screenshot</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Share within UI type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Success retention</c:v>
          </c:tx>
          <c:spPr>
            <a:solidFill xmlns:a="http://schemas.openxmlformats.org/drawingml/2006/main">
              <a:srgbClr val="2D84D3"/>
            </a:solidFill>
          </c:spPr>
          <c:cat>
            <c:strRef>
              <c:f>'Chart Data'!$A$2:$A$5</c:f>
              <c:strCache>
                <c:ptCount val="4"/>
                <c:pt idx="0">
                  <c:v>100%
100% area</c:v>
                </c:pt>
                <c:pt idx="1">
                  <c:v>75%
56% area</c:v>
                </c:pt>
                <c:pt idx="2">
                  <c:v>50%
25% area</c:v>
                </c:pt>
                <c:pt idx="3">
                  <c:v>25%
6.25% area</c:v>
                </c:pt>
              </c:strCache>
            </c:strRef>
          </c:cat>
          <c:val>
            <c:numRef>
              <c:f>'Chart Data'!$B$2:$B$5</c:f>
              <c:numCache>
                <c:formatCode>General</c:formatCode>
                <c:ptCount val="4"/>
                <c:pt idx="0">
                  <c:v>100</c:v>
                </c:pt>
                <c:pt idx="1">
                  <c:v>69.4</c:v>
                </c:pt>
                <c:pt idx="2">
                  <c:v>61.1</c:v>
                </c:pt>
                <c:pt idx="3">
                  <c:v>11.1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Linear resolution and retained source area</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Previously correct clicks retained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7d3c9b5cf0f45ef"/>
          <a:srcRect xmlns:a="http://schemas.openxmlformats.org/drawingml/2006/main" l="28000" t="8000" r="28000" b="8000"/>
          <a:stretch xmlns:a="http://schemas.openxmlformats.org/drawingml/2006/main"/>
        </p:blipFill>
        <p:spPr>
          <a:xfrm xmlns:a="http://schemas.openxmlformats.org/drawingml/2006/main">
            <a:off x="6705600" y="0"/>
            <a:ext cx="54864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33CE254-7C9A-4790-8D50-0ECEB5B9F1A0}"/>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oundRect">
            <a:avLst>
              <a:gd name="adj" fmla="val 1389"/>
            </a:avLst>
          </a:prstGeom>
          <a:noFill xmlns:a="http://schemas.openxmlformats.org/drawingml/2006/main"/>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CF9879F-6003-40B1-8EE3-4E2D7533780E}"/>
              </a:ext>
            </a:extLst>
          </p:cNvPr>
          <p:cNvSpPr>
            <a:spLocks xmlns:a="http://schemas.openxmlformats.org/drawingml/2006/main" noGrp="1"/>
          </p:cNvSpPr>
          <p:nvPr/>
        </p:nvSpPr>
        <p:spPr>
          <a:xfrm xmlns:a="http://schemas.openxmlformats.org/drawingml/2006/main">
            <a:off x="6096000" y="0"/>
            <a:ext cx="1200150" cy="6858000"/>
          </a:xfrm>
          <a:prstGeom xmlns:a="http://schemas.openxmlformats.org/drawingml/2006/main" prst="rect">
            <a:avLst/>
          </a:prstGeom>
          <a:gradFill xmlns:a="http://schemas.openxmlformats.org/drawingml/2006/main">
            <a:gsLst>
              <a:gs pos="0">
                <a:srgbClr val="10151C"/>
              </a:gs>
              <a:gs pos="100000">
                <a:srgbClr val="10151C">
                  <a:alpha val="0"/>
                </a:srgbClr>
              </a:gs>
            </a:gsLst>
            <a:lin ang="0"/>
          </a:gra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2674410-1EC5-46EE-9EAF-A41E9C868F48}"/>
              </a:ext>
            </a:extLst>
          </p:cNvPr>
          <p:cNvSpPr>
            <a:spLocks xmlns:a="http://schemas.openxmlformats.org/drawingml/2006/main" noGrp="1"/>
          </p:cNvSpPr>
          <p:nvPr/>
        </p:nvSpPr>
        <p:spPr>
          <a:xfrm xmlns:a="http://schemas.openxmlformats.org/drawingml/2006/main">
            <a:off x="609600" y="590550"/>
            <a:ext cx="21336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3C9B70D-C7F1-4FC9-934E-31EF6BC728E5}"/>
              </a:ext>
            </a:extLst>
          </p:cNvPr>
          <p:cNvSpPr>
            <a:spLocks xmlns:a="http://schemas.openxmlformats.org/drawingml/2006/main" noGrp="1"/>
          </p:cNvSpPr>
          <p:nvPr/>
        </p:nvSpPr>
        <p:spPr>
          <a:xfrm xmlns:a="http://schemas.openxmlformats.org/drawingml/2006/main">
            <a:off x="704850" y="609600"/>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MECHANISTIC GUI ANALYSIS</a:t>
            </a:r>
          </a:p>
        </p:txBody>
      </p:sp>
      <p:sp>
        <p:nvSpPr>
          <p:cNvPr id="6" name="">
            <a:extLst xmlns:a="http://schemas.openxmlformats.org/drawingml/2006/main">
              <a:ext uri="{FF2B5EF4-FFF2-40B4-BE49-F238E27FC236}">
                <a16:creationId xmlns:a16="http://schemas.microsoft.com/office/drawing/2014/main" id="{5E3D3CDF-6167-4FFC-9082-12F93B966F83}"/>
              </a:ext>
            </a:extLst>
          </p:cNvPr>
          <p:cNvSpPr>
            <a:spLocks xmlns:a="http://schemas.openxmlformats.org/drawingml/2006/main" noGrp="1"/>
          </p:cNvSpPr>
          <p:nvPr/>
        </p:nvSpPr>
        <p:spPr>
          <a:xfrm xmlns:a="http://schemas.openxmlformats.org/drawingml/2006/main">
            <a:off x="609600" y="1352550"/>
            <a:ext cx="5619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When attention</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stops being generic</a:t>
            </a:r>
          </a:p>
        </p:txBody>
      </p:sp>
      <p:sp>
        <p:nvSpPr>
          <p:cNvPr id="7" name="">
            <a:extLst xmlns:a="http://schemas.openxmlformats.org/drawingml/2006/main">
              <a:ext uri="{FF2B5EF4-FFF2-40B4-BE49-F238E27FC236}">
                <a16:creationId xmlns:a16="http://schemas.microsoft.com/office/drawing/2014/main" id="{B36E94CD-A8DC-453E-B322-C0A2A80F02CD}"/>
              </a:ext>
            </a:extLst>
          </p:cNvPr>
          <p:cNvSpPr>
            <a:spLocks xmlns:a="http://schemas.openxmlformats.org/drawingml/2006/main" noGrp="1"/>
          </p:cNvSpPr>
          <p:nvPr/>
        </p:nvSpPr>
        <p:spPr>
          <a:xfrm xmlns:a="http://schemas.openxmlformats.org/drawingml/2006/main">
            <a:off x="647700" y="323850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CBD3DB"/>
                </a:solidFill>
                <a:latin typeface="Helvetica Neue"/>
                <a:ea typeface="Helvetica Neue"/>
                <a:cs typeface="Helvetica Neue"/>
              </a:defRPr>
            </a:pPr>
            <a:r>
              <a:rPr sz="1800" b="0">
                <a:solidFill>
                  <a:srgbClr val="CBD3DB"/>
                </a:solidFill>
                <a:latin typeface="Helvetica Neue"/>
                <a:ea typeface="Helvetica Neue"/>
                <a:cs typeface="Helvetica Neue"/>
              </a:rPr>
              <a:t>Action-token attribution for static GUI grounding and multi-turn visual memory</a:t>
            </a:r>
          </a:p>
        </p:txBody>
      </p:sp>
      <p:sp>
        <p:nvSpPr>
          <p:cNvPr id="8" name="">
            <a:extLst xmlns:a="http://schemas.openxmlformats.org/drawingml/2006/main">
              <a:ext uri="{FF2B5EF4-FFF2-40B4-BE49-F238E27FC236}">
                <a16:creationId xmlns:a16="http://schemas.microsoft.com/office/drawing/2014/main" id="{0A8BB4D4-6DBA-451E-BA54-DC0FBE466541}"/>
              </a:ext>
            </a:extLst>
          </p:cNvPr>
          <p:cNvSpPr>
            <a:spLocks xmlns:a="http://schemas.openxmlformats.org/drawingml/2006/main" noGrp="1"/>
          </p:cNvSpPr>
          <p:nvPr/>
        </p:nvSpPr>
        <p:spPr>
          <a:xfrm xmlns:a="http://schemas.openxmlformats.org/drawingml/2006/main">
            <a:off x="647700" y="5762625"/>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97A4B2"/>
                </a:solidFill>
                <a:latin typeface="Helvetica Neue"/>
                <a:ea typeface="Helvetica Neue"/>
                <a:cs typeface="Helvetica Neue"/>
              </a:defRPr>
            </a:pPr>
            <a:r>
              <a:rPr sz="1050" b="1">
                <a:solidFill>
                  <a:srgbClr val="97A4B2"/>
                </a:solidFill>
                <a:latin typeface="Helvetica Neue"/>
                <a:ea typeface="Helvetica Neue"/>
                <a:cs typeface="Helvetica Neue"/>
              </a:rPr>
              <a:t>Holo 3.1 4B · local Metal traces · 21 Sep 2026</a:t>
            </a:r>
          </a:p>
        </p:txBody>
      </p:sp>
    </p:spTree>
    <p:extLst>
      <p:ext uri="{BB962C8B-B14F-4D97-AF65-F5344CB8AC3E}">
        <p14:creationId xmlns:p14="http://schemas.microsoft.com/office/powerpoint/2010/main" val="262179966"/>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09B6426F-D8BC-4817-9EBC-14E9E5296FBB}"/>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EVALUATION</a:t>
            </a:r>
          </a:p>
        </p:txBody>
      </p:sp>
      <p:sp>
        <p:nvSpPr>
          <p:cNvPr id="2" name="">
            <a:extLst xmlns:a="http://schemas.openxmlformats.org/drawingml/2006/main">
              <a:ext uri="{FF2B5EF4-FFF2-40B4-BE49-F238E27FC236}">
                <a16:creationId xmlns:a16="http://schemas.microsoft.com/office/drawing/2014/main" id="{46327014-F359-4C1D-BCB0-50B23676869E}"/>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Two settings test complementary GUI capabilities</a:t>
            </a:r>
          </a:p>
        </p:txBody>
      </p:sp>
      <p:sp>
        <p:nvSpPr>
          <p:cNvPr id="3" name="">
            <a:extLst xmlns:a="http://schemas.openxmlformats.org/drawingml/2006/main">
              <a:ext uri="{FF2B5EF4-FFF2-40B4-BE49-F238E27FC236}">
                <a16:creationId xmlns:a16="http://schemas.microsoft.com/office/drawing/2014/main" id="{6AD4D28A-EE7C-4A0B-BAF6-16B6B00A28E3}"/>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035DD518-7682-4F55-989A-EE746D67BB70}"/>
              </a:ext>
            </a:extLst>
          </p:cNvPr>
          <p:cNvSpPr>
            <a:spLocks xmlns:a="http://schemas.openxmlformats.org/drawingml/2006/main" noGrp="1"/>
          </p:cNvSpPr>
          <p:nvPr/>
        </p:nvSpPr>
        <p:spPr>
          <a:xfrm xmlns:a="http://schemas.openxmlformats.org/drawingml/2006/main">
            <a:off x="609600" y="1371600"/>
            <a:ext cx="5219700" cy="4381500"/>
          </a:xfrm>
          <a:prstGeom xmlns:a="http://schemas.openxmlformats.org/drawingml/2006/main" prst="roundRect">
            <a:avLst>
              <a:gd name="adj" fmla="val 1739"/>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9BBF7294-ADE2-4383-B492-64EEE13689B3}"/>
              </a:ext>
            </a:extLst>
          </p:cNvPr>
          <p:cNvSpPr>
            <a:spLocks xmlns:a="http://schemas.openxmlformats.org/drawingml/2006/main" noGrp="1"/>
          </p:cNvSpPr>
          <p:nvPr/>
        </p:nvSpPr>
        <p:spPr>
          <a:xfrm xmlns:a="http://schemas.openxmlformats.org/drawingml/2006/main">
            <a:off x="857250" y="1619250"/>
            <a:ext cx="819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385CF25-7E72-4DFE-A122-3B29358CE78C}"/>
              </a:ext>
            </a:extLst>
          </p:cNvPr>
          <p:cNvSpPr>
            <a:spLocks xmlns:a="http://schemas.openxmlformats.org/drawingml/2006/main" noGrp="1"/>
          </p:cNvSpPr>
          <p:nvPr/>
        </p:nvSpPr>
        <p:spPr>
          <a:xfrm xmlns:a="http://schemas.openxmlformats.org/drawingml/2006/main">
            <a:off x="952500" y="163830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STATIC</a:t>
            </a:r>
          </a:p>
        </p:txBody>
      </p:sp>
      <p:sp>
        <p:nvSpPr>
          <p:cNvPr id="7" name="">
            <a:extLst xmlns:a="http://schemas.openxmlformats.org/drawingml/2006/main">
              <a:ext uri="{FF2B5EF4-FFF2-40B4-BE49-F238E27FC236}">
                <a16:creationId xmlns:a16="http://schemas.microsoft.com/office/drawing/2014/main" id="{5B8A7133-22F5-4BCB-98E4-BA74B1DE8F85}"/>
              </a:ext>
            </a:extLst>
          </p:cNvPr>
          <p:cNvSpPr>
            <a:spLocks xmlns:a="http://schemas.openxmlformats.org/drawingml/2006/main" noGrp="1"/>
          </p:cNvSpPr>
          <p:nvPr/>
        </p:nvSpPr>
        <p:spPr>
          <a:xfrm xmlns:a="http://schemas.openxmlformats.org/drawingml/2006/main">
            <a:off x="857250" y="20574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0151C"/>
                </a:solidFill>
                <a:latin typeface="Helvetica Neue"/>
                <a:ea typeface="Helvetica Neue"/>
                <a:cs typeface="Helvetica Neue"/>
              </a:defRPr>
            </a:pPr>
            <a:r>
              <a:rPr sz="2025" b="1">
                <a:solidFill>
                  <a:srgbClr val="10151C"/>
                </a:solidFill>
                <a:latin typeface="Helvetica Neue"/>
                <a:ea typeface="Helvetica Neue"/>
                <a:cs typeface="Helvetica Neue"/>
              </a:rPr>
              <a:t>ScreenSpot-Pro</a:t>
            </a:r>
          </a:p>
        </p:txBody>
      </p:sp>
      <p:sp>
        <p:nvSpPr>
          <p:cNvPr id="8" name="">
            <a:extLst xmlns:a="http://schemas.openxmlformats.org/drawingml/2006/main">
              <a:ext uri="{FF2B5EF4-FFF2-40B4-BE49-F238E27FC236}">
                <a16:creationId xmlns:a16="http://schemas.microsoft.com/office/drawing/2014/main" id="{5BC2DB00-B96F-4653-833C-88D479B318C0}"/>
              </a:ext>
            </a:extLst>
          </p:cNvPr>
          <p:cNvSpPr>
            <a:spLocks xmlns:a="http://schemas.openxmlformats.org/drawingml/2006/main" noGrp="1"/>
          </p:cNvSpPr>
          <p:nvPr/>
        </p:nvSpPr>
        <p:spPr>
          <a:xfrm xmlns:a="http://schemas.openxmlformats.org/drawingml/2006/main">
            <a:off x="857250" y="24574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6717D"/>
                </a:solidFill>
                <a:latin typeface="Helvetica Neue"/>
                <a:ea typeface="Helvetica Neue"/>
                <a:cs typeface="Helvetica Neue"/>
              </a:defRPr>
            </a:pPr>
            <a:r>
              <a:rPr sz="1350" b="0">
                <a:solidFill>
                  <a:srgbClr val="66717D"/>
                </a:solidFill>
                <a:latin typeface="Helvetica Neue"/>
                <a:ea typeface="Helvetica Neue"/>
                <a:cs typeface="Helvetica Neue"/>
              </a:rPr>
              <a:t>One screenshot, one instruction, one click</a:t>
            </a:r>
          </a:p>
        </p:txBody>
      </p:sp>
      <p:sp>
        <p:nvSpPr>
          <p:cNvPr id="9" name="">
            <a:extLst xmlns:a="http://schemas.openxmlformats.org/drawingml/2006/main">
              <a:ext uri="{FF2B5EF4-FFF2-40B4-BE49-F238E27FC236}">
                <a16:creationId xmlns:a16="http://schemas.microsoft.com/office/drawing/2014/main" id="{867C9EE5-F9C6-4391-BDFF-B665010FF018}"/>
              </a:ext>
            </a:extLst>
          </p:cNvPr>
          <p:cNvSpPr>
            <a:spLocks xmlns:a="http://schemas.openxmlformats.org/drawingml/2006/main" noGrp="1"/>
          </p:cNvSpPr>
          <p:nvPr/>
        </p:nvSpPr>
        <p:spPr>
          <a:xfrm xmlns:a="http://schemas.openxmlformats.org/drawingml/2006/main">
            <a:off x="857250" y="31432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CAPABILITY</a:t>
            </a:r>
          </a:p>
        </p:txBody>
      </p:sp>
      <p:sp>
        <p:nvSpPr>
          <p:cNvPr id="10" name="">
            <a:extLst xmlns:a="http://schemas.openxmlformats.org/drawingml/2006/main">
              <a:ext uri="{FF2B5EF4-FFF2-40B4-BE49-F238E27FC236}">
                <a16:creationId xmlns:a16="http://schemas.microsoft.com/office/drawing/2014/main" id="{79383BD4-1764-4826-91B5-6E4CD7E7BA7D}"/>
              </a:ext>
            </a:extLst>
          </p:cNvPr>
          <p:cNvSpPr>
            <a:spLocks xmlns:a="http://schemas.openxmlformats.org/drawingml/2006/main" noGrp="1"/>
          </p:cNvSpPr>
          <p:nvPr/>
        </p:nvSpPr>
        <p:spPr>
          <a:xfrm xmlns:a="http://schemas.openxmlformats.org/drawingml/2006/main">
            <a:off x="857250" y="3409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0151C"/>
                </a:solidFill>
                <a:latin typeface="Helvetica Neue"/>
                <a:ea typeface="Helvetica Neue"/>
                <a:cs typeface="Helvetica Neue"/>
              </a:defRPr>
            </a:pPr>
            <a:r>
              <a:rPr sz="1725" b="1">
                <a:solidFill>
                  <a:srgbClr val="10151C"/>
                </a:solidFill>
                <a:latin typeface="Helvetica Neue"/>
                <a:ea typeface="Helvetica Neue"/>
                <a:cs typeface="Helvetica Neue"/>
              </a:rPr>
              <a:t>UI localization</a:t>
            </a:r>
          </a:p>
        </p:txBody>
      </p:sp>
      <p:sp>
        <p:nvSpPr>
          <p:cNvPr id="11" name="">
            <a:extLst xmlns:a="http://schemas.openxmlformats.org/drawingml/2006/main">
              <a:ext uri="{FF2B5EF4-FFF2-40B4-BE49-F238E27FC236}">
                <a16:creationId xmlns:a16="http://schemas.microsoft.com/office/drawing/2014/main" id="{5A317A86-8A9D-4503-9C0D-5D06D624A3BE}"/>
              </a:ext>
            </a:extLst>
          </p:cNvPr>
          <p:cNvSpPr>
            <a:spLocks xmlns:a="http://schemas.openxmlformats.org/drawingml/2006/main" noGrp="1"/>
          </p:cNvSpPr>
          <p:nvPr/>
        </p:nvSpPr>
        <p:spPr>
          <a:xfrm xmlns:a="http://schemas.openxmlformats.org/drawingml/2006/main">
            <a:off x="857250" y="4000500"/>
            <a:ext cx="440055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5AC3AB4-3900-42AD-AF2F-E3475157A3F3}"/>
              </a:ext>
            </a:extLst>
          </p:cNvPr>
          <p:cNvSpPr>
            <a:spLocks xmlns:a="http://schemas.openxmlformats.org/drawingml/2006/main" noGrp="1"/>
          </p:cNvSpPr>
          <p:nvPr/>
        </p:nvSpPr>
        <p:spPr>
          <a:xfrm xmlns:a="http://schemas.openxmlformats.org/drawingml/2006/main">
            <a:off x="857250" y="4267200"/>
            <a:ext cx="4400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6717D"/>
                </a:solidFill>
                <a:latin typeface="Helvetica Neue"/>
                <a:ea typeface="Helvetica Neue"/>
                <a:cs typeface="Helvetica Neue"/>
              </a:defRPr>
            </a:pPr>
            <a:r>
              <a:rPr sz="1275" b="0">
                <a:solidFill>
                  <a:srgbClr val="66717D"/>
                </a:solidFill>
                <a:latin typeface="Helvetica Neue"/>
                <a:ea typeface="Helvetica Neue"/>
                <a:cs typeface="Helvetica Neue"/>
              </a:rPr>
              <a:t>Can the model map one instruction to the correct clickable region in a dense, high-resolution interface?</a:t>
            </a:r>
          </a:p>
        </p:txBody>
      </p:sp>
      <p:sp>
        <p:nvSpPr>
          <p:cNvPr id="13" name="">
            <a:extLst xmlns:a="http://schemas.openxmlformats.org/drawingml/2006/main">
              <a:ext uri="{FF2B5EF4-FFF2-40B4-BE49-F238E27FC236}">
                <a16:creationId xmlns:a16="http://schemas.microsoft.com/office/drawing/2014/main" id="{0C087F1E-4A55-4945-9DA7-CF159665C0E3}"/>
              </a:ext>
            </a:extLst>
          </p:cNvPr>
          <p:cNvSpPr>
            <a:spLocks xmlns:a="http://schemas.openxmlformats.org/drawingml/2006/main" noGrp="1"/>
          </p:cNvSpPr>
          <p:nvPr/>
        </p:nvSpPr>
        <p:spPr>
          <a:xfrm xmlns:a="http://schemas.openxmlformats.org/drawingml/2006/main">
            <a:off x="6191250" y="1371600"/>
            <a:ext cx="5391150" cy="4381500"/>
          </a:xfrm>
          <a:prstGeom xmlns:a="http://schemas.openxmlformats.org/drawingml/2006/main" prst="roundRect">
            <a:avLst>
              <a:gd name="adj" fmla="val 1739"/>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C26ECBE-0838-4E03-9740-C3906398AE30}"/>
              </a:ext>
            </a:extLst>
          </p:cNvPr>
          <p:cNvSpPr>
            <a:spLocks xmlns:a="http://schemas.openxmlformats.org/drawingml/2006/main" noGrp="1"/>
          </p:cNvSpPr>
          <p:nvPr/>
        </p:nvSpPr>
        <p:spPr>
          <a:xfrm xmlns:a="http://schemas.openxmlformats.org/drawingml/2006/main">
            <a:off x="6477000" y="1619250"/>
            <a:ext cx="11430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1D970F8-C9E4-429B-A6CF-10E1541FBA00}"/>
              </a:ext>
            </a:extLst>
          </p:cNvPr>
          <p:cNvSpPr>
            <a:spLocks xmlns:a="http://schemas.openxmlformats.org/drawingml/2006/main" noGrp="1"/>
          </p:cNvSpPr>
          <p:nvPr/>
        </p:nvSpPr>
        <p:spPr>
          <a:xfrm xmlns:a="http://schemas.openxmlformats.org/drawingml/2006/main">
            <a:off x="6572250" y="16383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MULTI-TURN</a:t>
            </a:r>
          </a:p>
        </p:txBody>
      </p:sp>
      <p:sp>
        <p:nvSpPr>
          <p:cNvPr id="16" name="">
            <a:extLst xmlns:a="http://schemas.openxmlformats.org/drawingml/2006/main">
              <a:ext uri="{FF2B5EF4-FFF2-40B4-BE49-F238E27FC236}">
                <a16:creationId xmlns:a16="http://schemas.microsoft.com/office/drawing/2014/main" id="{B4DF47EC-5A47-43A3-B464-B2F4A1AE929F}"/>
              </a:ext>
            </a:extLst>
          </p:cNvPr>
          <p:cNvSpPr>
            <a:spLocks xmlns:a="http://schemas.openxmlformats.org/drawingml/2006/main" noGrp="1"/>
          </p:cNvSpPr>
          <p:nvPr/>
        </p:nvSpPr>
        <p:spPr>
          <a:xfrm xmlns:a="http://schemas.openxmlformats.org/drawingml/2006/main">
            <a:off x="6477000" y="20574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Synthetic hotel search</a:t>
            </a:r>
          </a:p>
        </p:txBody>
      </p:sp>
      <p:sp>
        <p:nvSpPr>
          <p:cNvPr id="17" name="">
            <a:extLst xmlns:a="http://schemas.openxmlformats.org/drawingml/2006/main">
              <a:ext uri="{FF2B5EF4-FFF2-40B4-BE49-F238E27FC236}">
                <a16:creationId xmlns:a16="http://schemas.microsoft.com/office/drawing/2014/main" id="{CE25F2F8-D38E-4E26-844D-A00437841F79}"/>
              </a:ext>
            </a:extLst>
          </p:cNvPr>
          <p:cNvSpPr>
            <a:spLocks xmlns:a="http://schemas.openxmlformats.org/drawingml/2006/main" noGrp="1"/>
          </p:cNvSpPr>
          <p:nvPr/>
        </p:nvSpPr>
        <p:spPr>
          <a:xfrm xmlns:a="http://schemas.openxmlformats.org/drawingml/2006/main">
            <a:off x="6477000" y="2457450"/>
            <a:ext cx="432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9C3CD"/>
                </a:solidFill>
                <a:latin typeface="Helvetica Neue"/>
                <a:ea typeface="Helvetica Neue"/>
                <a:cs typeface="Helvetica Neue"/>
              </a:defRPr>
            </a:pPr>
            <a:r>
              <a:rPr sz="1350" b="0">
                <a:solidFill>
                  <a:srgbClr val="B9C3CD"/>
                </a:solidFill>
                <a:latin typeface="Helvetica Neue"/>
                <a:ea typeface="Helvetica Neue"/>
                <a:cs typeface="Helvetica Neue"/>
              </a:rPr>
              <a:t>Four model calls retain the three latest screenshots</a:t>
            </a:r>
          </a:p>
        </p:txBody>
      </p:sp>
      <p:sp>
        <p:nvSpPr>
          <p:cNvPr id="18" name="">
            <a:extLst xmlns:a="http://schemas.openxmlformats.org/drawingml/2006/main">
              <a:ext uri="{FF2B5EF4-FFF2-40B4-BE49-F238E27FC236}">
                <a16:creationId xmlns:a16="http://schemas.microsoft.com/office/drawing/2014/main" id="{C96CF93F-0217-41E9-AD21-0354EF396EC5}"/>
              </a:ext>
            </a:extLst>
          </p:cNvPr>
          <p:cNvSpPr>
            <a:spLocks xmlns:a="http://schemas.openxmlformats.org/drawingml/2006/main" noGrp="1"/>
          </p:cNvSpPr>
          <p:nvPr/>
        </p:nvSpPr>
        <p:spPr>
          <a:xfrm xmlns:a="http://schemas.openxmlformats.org/drawingml/2006/main">
            <a:off x="6477000" y="30099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4298FB3-0C4B-4A39-B685-BC9DDC8060AD}"/>
              </a:ext>
            </a:extLst>
          </p:cNvPr>
          <p:cNvSpPr>
            <a:spLocks xmlns:a="http://schemas.openxmlformats.org/drawingml/2006/main" noGrp="1"/>
          </p:cNvSpPr>
          <p:nvPr/>
        </p:nvSpPr>
        <p:spPr>
          <a:xfrm xmlns:a="http://schemas.openxmlformats.org/drawingml/2006/main">
            <a:off x="6572250" y="30289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20" name="">
            <a:extLst xmlns:a="http://schemas.openxmlformats.org/drawingml/2006/main">
              <a:ext uri="{FF2B5EF4-FFF2-40B4-BE49-F238E27FC236}">
                <a16:creationId xmlns:a16="http://schemas.microsoft.com/office/drawing/2014/main" id="{85E1F0D9-1829-41A3-8A25-3D198EEE9ABE}"/>
              </a:ext>
            </a:extLst>
          </p:cNvPr>
          <p:cNvSpPr>
            <a:spLocks xmlns:a="http://schemas.openxmlformats.org/drawingml/2006/main" noGrp="1"/>
          </p:cNvSpPr>
          <p:nvPr/>
        </p:nvSpPr>
        <p:spPr>
          <a:xfrm xmlns:a="http://schemas.openxmlformats.org/drawingml/2006/main">
            <a:off x="7086600" y="30289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1" name="">
            <a:extLst xmlns:a="http://schemas.openxmlformats.org/drawingml/2006/main">
              <a:ext uri="{FF2B5EF4-FFF2-40B4-BE49-F238E27FC236}">
                <a16:creationId xmlns:a16="http://schemas.microsoft.com/office/drawing/2014/main" id="{24F8FDC7-5587-47FC-BE4A-F1E020836CEE}"/>
              </a:ext>
            </a:extLst>
          </p:cNvPr>
          <p:cNvSpPr>
            <a:spLocks xmlns:a="http://schemas.openxmlformats.org/drawingml/2006/main" noGrp="1"/>
          </p:cNvSpPr>
          <p:nvPr/>
        </p:nvSpPr>
        <p:spPr>
          <a:xfrm xmlns:a="http://schemas.openxmlformats.org/drawingml/2006/main">
            <a:off x="9620250" y="30289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2" name="">
            <a:extLst xmlns:a="http://schemas.openxmlformats.org/drawingml/2006/main">
              <a:ext uri="{FF2B5EF4-FFF2-40B4-BE49-F238E27FC236}">
                <a16:creationId xmlns:a16="http://schemas.microsoft.com/office/drawing/2014/main" id="{56CC82B4-0436-4CD3-B41B-C5DC4AFE7587}"/>
              </a:ext>
            </a:extLst>
          </p:cNvPr>
          <p:cNvSpPr>
            <a:spLocks xmlns:a="http://schemas.openxmlformats.org/drawingml/2006/main" noGrp="1"/>
          </p:cNvSpPr>
          <p:nvPr/>
        </p:nvSpPr>
        <p:spPr>
          <a:xfrm xmlns:a="http://schemas.openxmlformats.org/drawingml/2006/main">
            <a:off x="6477000" y="35433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2FF2A73-DD66-400D-90DF-D1DE674F095C}"/>
              </a:ext>
            </a:extLst>
          </p:cNvPr>
          <p:cNvSpPr>
            <a:spLocks xmlns:a="http://schemas.openxmlformats.org/drawingml/2006/main" noGrp="1"/>
          </p:cNvSpPr>
          <p:nvPr/>
        </p:nvSpPr>
        <p:spPr>
          <a:xfrm xmlns:a="http://schemas.openxmlformats.org/drawingml/2006/main">
            <a:off x="6572250" y="35623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24" name="">
            <a:extLst xmlns:a="http://schemas.openxmlformats.org/drawingml/2006/main">
              <a:ext uri="{FF2B5EF4-FFF2-40B4-BE49-F238E27FC236}">
                <a16:creationId xmlns:a16="http://schemas.microsoft.com/office/drawing/2014/main" id="{9B6231A0-F595-439C-B891-66012DEFD21B}"/>
              </a:ext>
            </a:extLst>
          </p:cNvPr>
          <p:cNvSpPr>
            <a:spLocks xmlns:a="http://schemas.openxmlformats.org/drawingml/2006/main" noGrp="1"/>
          </p:cNvSpPr>
          <p:nvPr/>
        </p:nvSpPr>
        <p:spPr>
          <a:xfrm xmlns:a="http://schemas.openxmlformats.org/drawingml/2006/main">
            <a:off x="7086600" y="35623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5" name="">
            <a:extLst xmlns:a="http://schemas.openxmlformats.org/drawingml/2006/main">
              <a:ext uri="{FF2B5EF4-FFF2-40B4-BE49-F238E27FC236}">
                <a16:creationId xmlns:a16="http://schemas.microsoft.com/office/drawing/2014/main" id="{D10C70B2-5503-4C8F-8337-88D99DAA9468}"/>
              </a:ext>
            </a:extLst>
          </p:cNvPr>
          <p:cNvSpPr>
            <a:spLocks xmlns:a="http://schemas.openxmlformats.org/drawingml/2006/main" noGrp="1"/>
          </p:cNvSpPr>
          <p:nvPr/>
        </p:nvSpPr>
        <p:spPr>
          <a:xfrm xmlns:a="http://schemas.openxmlformats.org/drawingml/2006/main">
            <a:off x="9620250" y="35623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6" name="">
            <a:extLst xmlns:a="http://schemas.openxmlformats.org/drawingml/2006/main">
              <a:ext uri="{FF2B5EF4-FFF2-40B4-BE49-F238E27FC236}">
                <a16:creationId xmlns:a16="http://schemas.microsoft.com/office/drawing/2014/main" id="{9D549014-EA76-44E5-A86F-899EF91A4D46}"/>
              </a:ext>
            </a:extLst>
          </p:cNvPr>
          <p:cNvSpPr>
            <a:spLocks xmlns:a="http://schemas.openxmlformats.org/drawingml/2006/main" noGrp="1"/>
          </p:cNvSpPr>
          <p:nvPr/>
        </p:nvSpPr>
        <p:spPr>
          <a:xfrm xmlns:a="http://schemas.openxmlformats.org/drawingml/2006/main">
            <a:off x="6477000" y="40767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A609145C-0FC6-41BD-B768-DE2A9707409E}"/>
              </a:ext>
            </a:extLst>
          </p:cNvPr>
          <p:cNvSpPr>
            <a:spLocks xmlns:a="http://schemas.openxmlformats.org/drawingml/2006/main" noGrp="1"/>
          </p:cNvSpPr>
          <p:nvPr/>
        </p:nvSpPr>
        <p:spPr>
          <a:xfrm xmlns:a="http://schemas.openxmlformats.org/drawingml/2006/main">
            <a:off x="6572250" y="40957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28" name="">
            <a:extLst xmlns:a="http://schemas.openxmlformats.org/drawingml/2006/main">
              <a:ext uri="{FF2B5EF4-FFF2-40B4-BE49-F238E27FC236}">
                <a16:creationId xmlns:a16="http://schemas.microsoft.com/office/drawing/2014/main" id="{F3496E74-904A-4C7D-84C0-604B78FA6C18}"/>
              </a:ext>
            </a:extLst>
          </p:cNvPr>
          <p:cNvSpPr>
            <a:spLocks xmlns:a="http://schemas.openxmlformats.org/drawingml/2006/main" noGrp="1"/>
          </p:cNvSpPr>
          <p:nvPr/>
        </p:nvSpPr>
        <p:spPr>
          <a:xfrm xmlns:a="http://schemas.openxmlformats.org/drawingml/2006/main">
            <a:off x="7086600" y="40957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9" name="">
            <a:extLst xmlns:a="http://schemas.openxmlformats.org/drawingml/2006/main">
              <a:ext uri="{FF2B5EF4-FFF2-40B4-BE49-F238E27FC236}">
                <a16:creationId xmlns:a16="http://schemas.microsoft.com/office/drawing/2014/main" id="{DED3A5A7-CB3C-4987-9446-F742E002928F}"/>
              </a:ext>
            </a:extLst>
          </p:cNvPr>
          <p:cNvSpPr>
            <a:spLocks xmlns:a="http://schemas.openxmlformats.org/drawingml/2006/main" noGrp="1"/>
          </p:cNvSpPr>
          <p:nvPr/>
        </p:nvSpPr>
        <p:spPr>
          <a:xfrm xmlns:a="http://schemas.openxmlformats.org/drawingml/2006/main">
            <a:off x="9620250" y="40957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30" name="">
            <a:extLst xmlns:a="http://schemas.openxmlformats.org/drawingml/2006/main">
              <a:ext uri="{FF2B5EF4-FFF2-40B4-BE49-F238E27FC236}">
                <a16:creationId xmlns:a16="http://schemas.microsoft.com/office/drawing/2014/main" id="{207CBE40-B6B4-4ACA-99D9-BB5D66374FF0}"/>
              </a:ext>
            </a:extLst>
          </p:cNvPr>
          <p:cNvSpPr>
            <a:spLocks xmlns:a="http://schemas.openxmlformats.org/drawingml/2006/main" noGrp="1"/>
          </p:cNvSpPr>
          <p:nvPr/>
        </p:nvSpPr>
        <p:spPr>
          <a:xfrm xmlns:a="http://schemas.openxmlformats.org/drawingml/2006/main">
            <a:off x="6477000" y="4610100"/>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504F025E-3A6A-4687-A4E7-F6345D7B2F1E}"/>
              </a:ext>
            </a:extLst>
          </p:cNvPr>
          <p:cNvSpPr>
            <a:spLocks xmlns:a="http://schemas.openxmlformats.org/drawingml/2006/main" noGrp="1"/>
          </p:cNvSpPr>
          <p:nvPr/>
        </p:nvSpPr>
        <p:spPr>
          <a:xfrm xmlns:a="http://schemas.openxmlformats.org/drawingml/2006/main">
            <a:off x="6572250" y="46291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32" name="">
            <a:extLst xmlns:a="http://schemas.openxmlformats.org/drawingml/2006/main">
              <a:ext uri="{FF2B5EF4-FFF2-40B4-BE49-F238E27FC236}">
                <a16:creationId xmlns:a16="http://schemas.microsoft.com/office/drawing/2014/main" id="{18D495AD-1D75-42B4-A92D-C349CDA5D54A}"/>
              </a:ext>
            </a:extLst>
          </p:cNvPr>
          <p:cNvSpPr>
            <a:spLocks xmlns:a="http://schemas.openxmlformats.org/drawingml/2006/main" noGrp="1"/>
          </p:cNvSpPr>
          <p:nvPr/>
        </p:nvSpPr>
        <p:spPr>
          <a:xfrm xmlns:a="http://schemas.openxmlformats.org/drawingml/2006/main">
            <a:off x="7086600" y="46291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CLICK</a:t>
            </a:r>
          </a:p>
        </p:txBody>
      </p:sp>
      <p:sp>
        <p:nvSpPr>
          <p:cNvPr id="33" name="">
            <a:extLst xmlns:a="http://schemas.openxmlformats.org/drawingml/2006/main">
              <a:ext uri="{FF2B5EF4-FFF2-40B4-BE49-F238E27FC236}">
                <a16:creationId xmlns:a16="http://schemas.microsoft.com/office/drawing/2014/main" id="{44B584F6-FA04-4F71-8B07-B1E1E4798F5F}"/>
              </a:ext>
            </a:extLst>
          </p:cNvPr>
          <p:cNvSpPr>
            <a:spLocks xmlns:a="http://schemas.openxmlformats.org/drawingml/2006/main" noGrp="1"/>
          </p:cNvSpPr>
          <p:nvPr/>
        </p:nvSpPr>
        <p:spPr>
          <a:xfrm xmlns:a="http://schemas.openxmlformats.org/drawingml/2006/main">
            <a:off x="9620250" y="46291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hit</a:t>
            </a:r>
          </a:p>
        </p:txBody>
      </p:sp>
      <p:sp>
        <p:nvSpPr>
          <p:cNvPr id="34" name="">
            <a:extLst xmlns:a="http://schemas.openxmlformats.org/drawingml/2006/main">
              <a:ext uri="{FF2B5EF4-FFF2-40B4-BE49-F238E27FC236}">
                <a16:creationId xmlns:a16="http://schemas.microsoft.com/office/drawing/2014/main" id="{244236F2-A623-40B9-B2E2-702E323A6305}"/>
              </a:ext>
            </a:extLst>
          </p:cNvPr>
          <p:cNvSpPr>
            <a:spLocks xmlns:a="http://schemas.openxmlformats.org/drawingml/2006/main" noGrp="1"/>
          </p:cNvSpPr>
          <p:nvPr/>
        </p:nvSpPr>
        <p:spPr>
          <a:xfrm xmlns:a="http://schemas.openxmlformats.org/drawingml/2006/main">
            <a:off x="6477000" y="5286375"/>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CAPABILITY</a:t>
            </a:r>
          </a:p>
        </p:txBody>
      </p:sp>
      <p:sp>
        <p:nvSpPr>
          <p:cNvPr id="35" name="">
            <a:extLst xmlns:a="http://schemas.openxmlformats.org/drawingml/2006/main">
              <a:ext uri="{FF2B5EF4-FFF2-40B4-BE49-F238E27FC236}">
                <a16:creationId xmlns:a16="http://schemas.microsoft.com/office/drawing/2014/main" id="{B0C69275-2E72-4B29-933B-E5B3127556C1}"/>
              </a:ext>
            </a:extLst>
          </p:cNvPr>
          <p:cNvSpPr>
            <a:spLocks xmlns:a="http://schemas.openxmlformats.org/drawingml/2006/main" noGrp="1"/>
          </p:cNvSpPr>
          <p:nvPr/>
        </p:nvSpPr>
        <p:spPr>
          <a:xfrm xmlns:a="http://schemas.openxmlformats.org/drawingml/2006/main">
            <a:off x="7696200" y="5248275"/>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8FE0BF"/>
                </a:solidFill>
                <a:latin typeface="Helvetica Neue"/>
                <a:ea typeface="Helvetica Neue"/>
                <a:cs typeface="Helvetica Neue"/>
              </a:defRPr>
            </a:pPr>
            <a:r>
              <a:rPr sz="1350" b="1">
                <a:solidFill>
                  <a:srgbClr val="8FE0BF"/>
                </a:solidFill>
                <a:latin typeface="Helvetica Neue"/>
                <a:ea typeface="Helvetica Neue"/>
                <a:cs typeface="Helvetica Neue"/>
              </a:rPr>
              <a:t>Context retrieval across frames</a:t>
            </a:r>
          </a:p>
        </p:txBody>
      </p:sp>
      <p:sp>
        <p:nvSpPr>
          <p:cNvPr id="36" name="">
            <a:extLst xmlns:a="http://schemas.openxmlformats.org/drawingml/2006/main">
              <a:ext uri="{FF2B5EF4-FFF2-40B4-BE49-F238E27FC236}">
                <a16:creationId xmlns:a16="http://schemas.microsoft.com/office/drawing/2014/main" id="{E155790A-C518-4E7C-AAA5-3DBA69EB8358}"/>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6928B36A-2284-4772-A16F-C9A1BF0AF83B}"/>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Static evaluation isolates localization · the hotel environment tests whether earlier visual evidence reaches a later action</a:t>
            </a:r>
          </a:p>
        </p:txBody>
      </p:sp>
    </p:spTree>
    <p:extLst>
      <p:ext uri="{BB962C8B-B14F-4D97-AF65-F5344CB8AC3E}">
        <p14:creationId xmlns:p14="http://schemas.microsoft.com/office/powerpoint/2010/main" val="71507694"/>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6BF49193-8458-4D0E-A38C-327986C3211F}"/>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FULL BENCHMARK REPLICATION</a:t>
            </a:r>
          </a:p>
        </p:txBody>
      </p:sp>
      <p:sp>
        <p:nvSpPr>
          <p:cNvPr id="2" name="">
            <a:extLst xmlns:a="http://schemas.openxmlformats.org/drawingml/2006/main">
              <a:ext uri="{FF2B5EF4-FFF2-40B4-BE49-F238E27FC236}">
                <a16:creationId xmlns:a16="http://schemas.microsoft.com/office/drawing/2014/main" id="{446BC025-FE39-46F4-B72F-53E8C63ED8BD}"/>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65.9% overall, with icon file actions at 36.1%</a:t>
            </a:r>
          </a:p>
        </p:txBody>
      </p:sp>
      <p:sp>
        <p:nvSpPr>
          <p:cNvPr id="3" name="">
            <a:extLst xmlns:a="http://schemas.openxmlformats.org/drawingml/2006/main">
              <a:ext uri="{FF2B5EF4-FFF2-40B4-BE49-F238E27FC236}">
                <a16:creationId xmlns:a16="http://schemas.microsoft.com/office/drawing/2014/main" id="{9CC728A3-7CF4-4864-B956-37F81AAF8895}"/>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9AAFC7FD-5C3C-4126-9D0D-EB61247CE37F}"/>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Holo3.1-4B, official element-localization harness, all 1,581 ScreenSpot-Pro items</a:t>
            </a:r>
          </a:p>
        </p:txBody>
      </p:sp>
      <p:sp>
        <p:nvSpPr>
          <p:cNvPr id="5" name="">
            <a:extLst xmlns:a="http://schemas.openxmlformats.org/drawingml/2006/main">
              <a:ext uri="{FF2B5EF4-FFF2-40B4-BE49-F238E27FC236}">
                <a16:creationId xmlns:a16="http://schemas.microsoft.com/office/drawing/2014/main" id="{34B6C0CE-635D-46B7-B4B6-C796D1363E17}"/>
              </a:ext>
            </a:extLst>
          </p:cNvPr>
          <p:cNvSpPr>
            <a:spLocks xmlns:a="http://schemas.openxmlformats.org/drawingml/2006/main" noGrp="1"/>
          </p:cNvSpPr>
          <p:nvPr/>
        </p:nvSpPr>
        <p:spPr>
          <a:xfrm xmlns:a="http://schemas.openxmlformats.org/drawingml/2006/main">
            <a:off x="609600" y="1543050"/>
            <a:ext cx="257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200" b="1">
                <a:solidFill>
                  <a:srgbClr val="10151C"/>
                </a:solidFill>
                <a:latin typeface="Helvetica Neue"/>
                <a:ea typeface="Helvetica Neue"/>
                <a:cs typeface="Helvetica Neue"/>
              </a:defRPr>
            </a:pPr>
            <a:r>
              <a:rPr sz="4200" b="1">
                <a:solidFill>
                  <a:srgbClr val="10151C"/>
                </a:solidFill>
                <a:latin typeface="Helvetica Neue"/>
                <a:ea typeface="Helvetica Neue"/>
                <a:cs typeface="Helvetica Neue"/>
              </a:rPr>
              <a:t>65.9%</a:t>
            </a:r>
          </a:p>
        </p:txBody>
      </p:sp>
      <p:sp>
        <p:nvSpPr>
          <p:cNvPr id="6" name="">
            <a:extLst xmlns:a="http://schemas.openxmlformats.org/drawingml/2006/main">
              <a:ext uri="{FF2B5EF4-FFF2-40B4-BE49-F238E27FC236}">
                <a16:creationId xmlns:a16="http://schemas.microsoft.com/office/drawing/2014/main" id="{8DB1CBB7-697A-4D31-9CAF-B98A9785B357}"/>
              </a:ext>
            </a:extLst>
          </p:cNvPr>
          <p:cNvSpPr>
            <a:spLocks xmlns:a="http://schemas.openxmlformats.org/drawingml/2006/main" noGrp="1"/>
          </p:cNvSpPr>
          <p:nvPr/>
        </p:nvSpPr>
        <p:spPr>
          <a:xfrm xmlns:a="http://schemas.openxmlformats.org/drawingml/2006/main">
            <a:off x="647700" y="22098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1,042 correct out of 1,581</a:t>
            </a:r>
          </a:p>
        </p:txBody>
      </p:sp>
      <p:sp>
        <p:nvSpPr>
          <p:cNvPr id="7" name="">
            <a:extLst xmlns:a="http://schemas.openxmlformats.org/drawingml/2006/main">
              <a:ext uri="{FF2B5EF4-FFF2-40B4-BE49-F238E27FC236}">
                <a16:creationId xmlns:a16="http://schemas.microsoft.com/office/drawing/2014/main" id="{CA9E24C1-278C-4BD3-A96F-637D63A49EF8}"/>
              </a:ext>
            </a:extLst>
          </p:cNvPr>
          <p:cNvSpPr>
            <a:spLocks xmlns:a="http://schemas.openxmlformats.org/drawingml/2006/main" noGrp="1"/>
          </p:cNvSpPr>
          <p:nvPr/>
        </p:nvSpPr>
        <p:spPr>
          <a:xfrm xmlns:a="http://schemas.openxmlformats.org/drawingml/2006/main">
            <a:off x="647700" y="26193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D84D3"/>
                </a:solidFill>
                <a:latin typeface="Helvetica Neue"/>
                <a:ea typeface="Helvetica Neue"/>
                <a:cs typeface="Helvetica Neue"/>
              </a:defRPr>
            </a:pPr>
            <a:r>
              <a:rPr sz="1125" b="1">
                <a:solidFill>
                  <a:srgbClr val="2D84D3"/>
                </a:solidFill>
                <a:latin typeface="Helvetica Neue"/>
                <a:ea typeface="Helvetica Neue"/>
                <a:cs typeface="Helvetica Neue"/>
              </a:rPr>
              <a:t>Reported 4B reference ≈ 66.5%</a:t>
            </a:r>
          </a:p>
        </p:txBody>
      </p:sp>
      <p:sp>
        <p:nvSpPr>
          <p:cNvPr id="8" name="">
            <a:extLst xmlns:a="http://schemas.openxmlformats.org/drawingml/2006/main">
              <a:ext uri="{FF2B5EF4-FFF2-40B4-BE49-F238E27FC236}">
                <a16:creationId xmlns:a16="http://schemas.microsoft.com/office/drawing/2014/main" id="{AC7C6FA8-162B-4BAD-81BF-8DBE45FF07D4}"/>
              </a:ext>
            </a:extLst>
          </p:cNvPr>
          <p:cNvSpPr>
            <a:spLocks xmlns:a="http://schemas.openxmlformats.org/drawingml/2006/main" noGrp="1"/>
          </p:cNvSpPr>
          <p:nvPr/>
        </p:nvSpPr>
        <p:spPr>
          <a:xfrm xmlns:a="http://schemas.openxmlformats.org/drawingml/2006/main">
            <a:off x="647700" y="28860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Difference: −0.6 percentage point</a:t>
            </a:r>
          </a:p>
        </p:txBody>
      </p:sp>
      <p:sp>
        <p:nvSpPr>
          <p:cNvPr id="9" name="">
            <a:extLst xmlns:a="http://schemas.openxmlformats.org/drawingml/2006/main">
              <a:ext uri="{FF2B5EF4-FFF2-40B4-BE49-F238E27FC236}">
                <a16:creationId xmlns:a16="http://schemas.microsoft.com/office/drawing/2014/main" id="{94FA546D-CE98-437B-8550-AF0353D5B7C9}"/>
              </a:ext>
            </a:extLst>
          </p:cNvPr>
          <p:cNvSpPr>
            <a:spLocks xmlns:a="http://schemas.openxmlformats.org/drawingml/2006/main" noGrp="1"/>
          </p:cNvSpPr>
          <p:nvPr/>
        </p:nvSpPr>
        <p:spPr>
          <a:xfrm xmlns:a="http://schemas.openxmlformats.org/drawingml/2006/main">
            <a:off x="647700" y="324802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100% valid JSON responses</a:t>
            </a:r>
          </a:p>
        </p:txBody>
      </p:sp>
      <p:sp>
        <p:nvSpPr>
          <p:cNvPr id="10" name="">
            <a:extLst xmlns:a="http://schemas.openxmlformats.org/drawingml/2006/main">
              <a:ext uri="{FF2B5EF4-FFF2-40B4-BE49-F238E27FC236}">
                <a16:creationId xmlns:a16="http://schemas.microsoft.com/office/drawing/2014/main" id="{3063404B-6AA8-4307-B4E7-B9F77E6EE1A1}"/>
              </a:ext>
            </a:extLst>
          </p:cNvPr>
          <p:cNvSpPr>
            <a:spLocks xmlns:a="http://schemas.openxmlformats.org/drawingml/2006/main" noGrp="1"/>
          </p:cNvSpPr>
          <p:nvPr/>
        </p:nvSpPr>
        <p:spPr>
          <a:xfrm xmlns:a="http://schemas.openxmlformats.org/drawingml/2006/main">
            <a:off x="3562350" y="1504950"/>
            <a:ext cx="9525" cy="2057400"/>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EA2B850-824A-43FF-ABA0-55BE194C7854}"/>
              </a:ext>
            </a:extLst>
          </p:cNvPr>
          <p:cNvSpPr>
            <a:spLocks xmlns:a="http://schemas.openxmlformats.org/drawingml/2006/main" noGrp="1"/>
          </p:cNvSpPr>
          <p:nvPr/>
        </p:nvSpPr>
        <p:spPr>
          <a:xfrm xmlns:a="http://schemas.openxmlformats.org/drawingml/2006/main">
            <a:off x="3848100" y="15049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ACCURACY BY TARGET UI</a:t>
            </a:r>
          </a:p>
        </p:txBody>
      </p:sp>
      <p:graphicFrame>
        <p:nvGraphicFramePr>
          <p:cNvPr id="37" name="Chart"/>
          <p:cNvGraphicFramePr/>
          <p:nvPr/>
        </p:nvGraphicFramePr>
        <p:xfrm>
          <a:off xmlns:a="http://schemas.openxmlformats.org/drawingml/2006/main" x="3733800" y="1752600"/>
          <a:ext xmlns:a="http://schemas.openxmlformats.org/drawingml/2006/main" cx="4819650" cy="1790700"/>
        </p:xfrm>
        <a:graphic xmlns:a="http://schemas.openxmlformats.org/drawingml/2006/main">
          <a:graphicData uri="http://schemas.openxmlformats.org/drawingml/2006/chart">
            <c:chart xmlns:r="http://schemas.openxmlformats.org/officeDocument/2006/relationships" xmlns:c="http://schemas.openxmlformats.org/drawingml/2006/chart" r:id="R5457d97dbca34ef0"/>
          </a:graphicData>
        </a:graphic>
      </p:graphicFrame>
      <p:sp>
        <p:nvSpPr>
          <p:cNvPr id="13" name="">
            <a:extLst xmlns:a="http://schemas.openxmlformats.org/drawingml/2006/main">
              <a:ext uri="{FF2B5EF4-FFF2-40B4-BE49-F238E27FC236}">
                <a16:creationId xmlns:a16="http://schemas.microsoft.com/office/drawing/2014/main" id="{A1B510DA-50A2-43B5-B5DE-B926FB0CAD6C}"/>
              </a:ext>
            </a:extLst>
          </p:cNvPr>
          <p:cNvSpPr>
            <a:spLocks xmlns:a="http://schemas.openxmlformats.org/drawingml/2006/main" noGrp="1"/>
          </p:cNvSpPr>
          <p:nvPr/>
        </p:nvSpPr>
        <p:spPr>
          <a:xfrm xmlns:a="http://schemas.openxmlformats.org/drawingml/2006/main">
            <a:off x="6610350" y="207645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44.0%</a:t>
            </a:r>
          </a:p>
        </p:txBody>
      </p:sp>
      <p:sp>
        <p:nvSpPr>
          <p:cNvPr id="14" name="">
            <a:extLst xmlns:a="http://schemas.openxmlformats.org/drawingml/2006/main">
              <a:ext uri="{FF2B5EF4-FFF2-40B4-BE49-F238E27FC236}">
                <a16:creationId xmlns:a16="http://schemas.microsoft.com/office/drawing/2014/main" id="{9CC2EF52-55E8-44F0-BEB6-5973B253BD04}"/>
              </a:ext>
            </a:extLst>
          </p:cNvPr>
          <p:cNvSpPr>
            <a:spLocks xmlns:a="http://schemas.openxmlformats.org/drawingml/2006/main" noGrp="1"/>
          </p:cNvSpPr>
          <p:nvPr/>
        </p:nvSpPr>
        <p:spPr>
          <a:xfrm xmlns:a="http://schemas.openxmlformats.org/drawingml/2006/main">
            <a:off x="7800975" y="274320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79.4%</a:t>
            </a:r>
          </a:p>
        </p:txBody>
      </p:sp>
      <p:sp>
        <p:nvSpPr>
          <p:cNvPr id="15" name="">
            <a:extLst xmlns:a="http://schemas.openxmlformats.org/drawingml/2006/main">
              <a:ext uri="{FF2B5EF4-FFF2-40B4-BE49-F238E27FC236}">
                <a16:creationId xmlns:a16="http://schemas.microsoft.com/office/drawing/2014/main" id="{B0301663-2D9B-451E-9128-957B59DF749F}"/>
              </a:ext>
            </a:extLst>
          </p:cNvPr>
          <p:cNvSpPr>
            <a:spLocks xmlns:a="http://schemas.openxmlformats.org/drawingml/2006/main" noGrp="1"/>
          </p:cNvSpPr>
          <p:nvPr/>
        </p:nvSpPr>
        <p:spPr>
          <a:xfrm xmlns:a="http://schemas.openxmlformats.org/drawingml/2006/main">
            <a:off x="8858250" y="1504950"/>
            <a:ext cx="2724150" cy="2057400"/>
          </a:xfrm>
          <a:prstGeom xmlns:a="http://schemas.openxmlformats.org/drawingml/2006/main" prst="roundRect">
            <a:avLst>
              <a:gd name="adj" fmla="val 3704"/>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95DEB25-5828-47DB-A73B-03830F4C140C}"/>
              </a:ext>
            </a:extLst>
          </p:cNvPr>
          <p:cNvSpPr>
            <a:spLocks xmlns:a="http://schemas.openxmlformats.org/drawingml/2006/main" noGrp="1"/>
          </p:cNvSpPr>
          <p:nvPr/>
        </p:nvSpPr>
        <p:spPr>
          <a:xfrm xmlns:a="http://schemas.openxmlformats.org/drawingml/2006/main">
            <a:off x="9086850" y="173355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WEAKEST LABELED CELL</a:t>
            </a:r>
          </a:p>
        </p:txBody>
      </p:sp>
      <p:sp>
        <p:nvSpPr>
          <p:cNvPr id="17" name="">
            <a:extLst xmlns:a="http://schemas.openxmlformats.org/drawingml/2006/main">
              <a:ext uri="{FF2B5EF4-FFF2-40B4-BE49-F238E27FC236}">
                <a16:creationId xmlns:a16="http://schemas.microsoft.com/office/drawing/2014/main" id="{48BB2141-7569-4C76-813A-C7365CEA07C3}"/>
              </a:ext>
            </a:extLst>
          </p:cNvPr>
          <p:cNvSpPr>
            <a:spLocks xmlns:a="http://schemas.openxmlformats.org/drawingml/2006/main" noGrp="1"/>
          </p:cNvSpPr>
          <p:nvPr/>
        </p:nvSpPr>
        <p:spPr>
          <a:xfrm xmlns:a="http://schemas.openxmlformats.org/drawingml/2006/main">
            <a:off x="9086850" y="20478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Icon + file actions</a:t>
            </a:r>
          </a:p>
        </p:txBody>
      </p:sp>
      <p:sp>
        <p:nvSpPr>
          <p:cNvPr id="18" name="">
            <a:extLst xmlns:a="http://schemas.openxmlformats.org/drawingml/2006/main">
              <a:ext uri="{FF2B5EF4-FFF2-40B4-BE49-F238E27FC236}">
                <a16:creationId xmlns:a16="http://schemas.microsoft.com/office/drawing/2014/main" id="{55FF6BA6-BE91-4D17-A925-504C496934EB}"/>
              </a:ext>
            </a:extLst>
          </p:cNvPr>
          <p:cNvSpPr>
            <a:spLocks xmlns:a="http://schemas.openxmlformats.org/drawingml/2006/main" noGrp="1"/>
          </p:cNvSpPr>
          <p:nvPr/>
        </p:nvSpPr>
        <p:spPr>
          <a:xfrm xmlns:a="http://schemas.openxmlformats.org/drawingml/2006/main">
            <a:off x="9086850" y="24384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F05A3C"/>
                </a:solidFill>
                <a:latin typeface="Helvetica Neue"/>
                <a:ea typeface="Helvetica Neue"/>
                <a:cs typeface="Helvetica Neue"/>
              </a:defRPr>
            </a:pPr>
            <a:r>
              <a:rPr sz="2700" b="1">
                <a:solidFill>
                  <a:srgbClr val="F05A3C"/>
                </a:solidFill>
                <a:latin typeface="Helvetica Neue"/>
                <a:ea typeface="Helvetica Neue"/>
                <a:cs typeface="Helvetica Neue"/>
              </a:rPr>
              <a:t>36.1%</a:t>
            </a:r>
          </a:p>
        </p:txBody>
      </p:sp>
      <p:sp>
        <p:nvSpPr>
          <p:cNvPr id="19" name="">
            <a:extLst xmlns:a="http://schemas.openxmlformats.org/drawingml/2006/main">
              <a:ext uri="{FF2B5EF4-FFF2-40B4-BE49-F238E27FC236}">
                <a16:creationId xmlns:a16="http://schemas.microsoft.com/office/drawing/2014/main" id="{B937AEEE-2CC0-4C7F-8AEB-B11B7A9E97CD}"/>
              </a:ext>
            </a:extLst>
          </p:cNvPr>
          <p:cNvSpPr>
            <a:spLocks xmlns:a="http://schemas.openxmlformats.org/drawingml/2006/main" noGrp="1"/>
          </p:cNvSpPr>
          <p:nvPr/>
        </p:nvSpPr>
        <p:spPr>
          <a:xfrm xmlns:a="http://schemas.openxmlformats.org/drawingml/2006/main">
            <a:off x="10267950" y="2552700"/>
            <a:ext cx="106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2BDAF"/>
                </a:solidFill>
                <a:latin typeface="Helvetica Neue"/>
                <a:ea typeface="Helvetica Neue"/>
                <a:cs typeface="Helvetica Neue"/>
              </a:defRPr>
            </a:pPr>
            <a:r>
              <a:rPr sz="1050" b="1">
                <a:solidFill>
                  <a:srgbClr val="F2BDAF"/>
                </a:solidFill>
                <a:latin typeface="Helvetica Neue"/>
                <a:ea typeface="Helvetica Neue"/>
                <a:cs typeface="Helvetica Neue"/>
              </a:rPr>
              <a:t>13 / 36 correct</a:t>
            </a:r>
          </a:p>
        </p:txBody>
      </p:sp>
      <p:sp>
        <p:nvSpPr>
          <p:cNvPr id="20" name="">
            <a:extLst xmlns:a="http://schemas.openxmlformats.org/drawingml/2006/main">
              <a:ext uri="{FF2B5EF4-FFF2-40B4-BE49-F238E27FC236}">
                <a16:creationId xmlns:a16="http://schemas.microsoft.com/office/drawing/2014/main" id="{643E4C17-2EE0-4D49-8552-8D457C97B574}"/>
              </a:ext>
            </a:extLst>
          </p:cNvPr>
          <p:cNvSpPr>
            <a:spLocks xmlns:a="http://schemas.openxmlformats.org/drawingml/2006/main" noGrp="1"/>
          </p:cNvSpPr>
          <p:nvPr/>
        </p:nvSpPr>
        <p:spPr>
          <a:xfrm xmlns:a="http://schemas.openxmlformats.org/drawingml/2006/main">
            <a:off x="9086850" y="30099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The larger icon + navigation cell reaches 40.3% on 149 items.</a:t>
            </a:r>
          </a:p>
        </p:txBody>
      </p:sp>
      <p:sp>
        <p:nvSpPr>
          <p:cNvPr id="21" name="">
            <a:extLst xmlns:a="http://schemas.openxmlformats.org/drawingml/2006/main">
              <a:ext uri="{FF2B5EF4-FFF2-40B4-BE49-F238E27FC236}">
                <a16:creationId xmlns:a16="http://schemas.microsoft.com/office/drawing/2014/main" id="{17974E00-2ED4-4F06-BB72-BDF60B2F95E2}"/>
              </a:ext>
            </a:extLst>
          </p:cNvPr>
          <p:cNvSpPr>
            <a:spLocks xmlns:a="http://schemas.openxmlformats.org/drawingml/2006/main" noGrp="1"/>
          </p:cNvSpPr>
          <p:nvPr/>
        </p:nvSpPr>
        <p:spPr>
          <a:xfrm xmlns:a="http://schemas.openxmlformats.org/drawingml/2006/main">
            <a:off x="609600" y="38862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UI TYPE × INSTRUCTION ACTION FAMILY</a:t>
            </a:r>
          </a:p>
        </p:txBody>
      </p:sp>
      <p:sp>
        <p:nvSpPr>
          <p:cNvPr id="22" name="">
            <a:extLst xmlns:a="http://schemas.openxmlformats.org/drawingml/2006/main">
              <a:ext uri="{FF2B5EF4-FFF2-40B4-BE49-F238E27FC236}">
                <a16:creationId xmlns:a16="http://schemas.microsoft.com/office/drawing/2014/main" id="{11A4B729-1110-45F7-AC11-B840498B2093}"/>
              </a:ext>
            </a:extLst>
          </p:cNvPr>
          <p:cNvSpPr>
            <a:spLocks xmlns:a="http://schemas.openxmlformats.org/drawingml/2006/main" noGrp="1"/>
          </p:cNvSpPr>
          <p:nvPr/>
        </p:nvSpPr>
        <p:spPr>
          <a:xfrm xmlns:a="http://schemas.openxmlformats.org/drawingml/2006/main">
            <a:off x="7543800" y="388620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6717D"/>
                </a:solidFill>
                <a:latin typeface="Helvetica Neue"/>
                <a:ea typeface="Helvetica Neue"/>
                <a:cs typeface="Helvetica Neue"/>
              </a:defRPr>
            </a:pPr>
            <a:r>
              <a:rPr sz="900" b="0">
                <a:solidFill>
                  <a:srgbClr val="66717D"/>
                </a:solidFill>
                <a:latin typeface="Helvetica Neue"/>
                <a:ea typeface="Helvetica Neue"/>
                <a:cs typeface="Helvetica Neue"/>
              </a:rPr>
              <a:t>Accuracy and item count in each cell</a:t>
            </a:r>
          </a:p>
        </p:txBody>
      </p:sp>
      <p:graphicFrame>
        <p:nvGraphicFramePr>
          <p:cNvPr id="48" name=""/>
          <p:cNvGraphicFramePr/>
          <p:nvPr/>
        </p:nvGraphicFramePr>
        <p:xfrm>
          <a:off xmlns:a="http://schemas.openxmlformats.org/drawingml/2006/main" x="609600" y="4171950"/>
          <a:ext xmlns:a="http://schemas.openxmlformats.org/drawingml/2006/main" cx="10972800" cy="1352550"/>
        </p:xfrm>
        <a:graphic xmlns:a="http://schemas.openxmlformats.org/drawingml/2006/main">
          <a:graphicData uri="http://schemas.openxmlformats.org/drawingml/2006/table">
            <a:tbl>
              <a:tblPr/>
              <a:tblGrid>
                <a:gridCol w="1104900"/>
                <a:gridCol w="1409700"/>
                <a:gridCol w="1409700"/>
                <a:gridCol w="1409700"/>
                <a:gridCol w="1409700"/>
                <a:gridCol w="1409700"/>
                <a:gridCol w="1409700"/>
                <a:gridCol w="1409700"/>
              </a:tblGrid>
              <a:tr h="450850">
                <a:tc>
                  <a:txBody>
                    <a:bodyPr>
                      <a:normAutofit/>
                    </a:bodyPr>
                    <a:lstStyle/>
                    <a:p>
                      <a:pPr algn="ctr"/>
                      <a:r>
                        <a:rPr sz="675" b="1">
                          <a:solidFill>
                            <a:srgbClr val="FFFFFF"/>
                          </a:solidFill>
                          <a:latin typeface="Helvetica Neue"/>
                          <a:ea typeface="Helvetica Neue"/>
                          <a:cs typeface="Helvetica Neue"/>
                        </a:rPr>
                        <a:t>UI TYPE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NAVIGATE</a:t>
                      </a:r>
                    </a:p>
                    <a:p>
                      <a:pPr algn="ctr"/>
                      <a:r>
                        <a:rPr sz="675" b="1">
                          <a:solidFill>
                            <a:srgbClr val="FFFFFF"/>
                          </a:solidFill>
                          <a:latin typeface="Helvetica Neue"/>
                          <a:ea typeface="Helvetica Neue"/>
                          <a:cs typeface="Helvetica Neue"/>
                        </a:rPr>
                        <a:t>REVEAL</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SELECT</a:t>
                      </a:r>
                    </a:p>
                    <a:p>
                      <a:pPr algn="ctr"/>
                      <a:r>
                        <a:rPr sz="675" b="1">
                          <a:solidFill>
                            <a:srgbClr val="FFFFFF"/>
                          </a:solidFill>
                          <a:latin typeface="Helvetica Neue"/>
                          <a:ea typeface="Helvetica Neue"/>
                          <a:cs typeface="Helvetica Neue"/>
                        </a:rPr>
                        <a:t>ACTIVATE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CREATE</a:t>
                      </a:r>
                    </a:p>
                    <a:p>
                      <a:pPr algn="ctr"/>
                      <a:r>
                        <a:rPr sz="675" b="1">
                          <a:solidFill>
                            <a:srgbClr val="FFFFFF"/>
                          </a:solidFill>
                          <a:latin typeface="Helvetica Neue"/>
                          <a:ea typeface="Helvetica Neue"/>
                          <a:cs typeface="Helvetica Neue"/>
                        </a:rPr>
                        <a:t>INSERT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EDIT</a:t>
                      </a:r>
                    </a:p>
                    <a:p>
                      <a:pPr algn="ctr"/>
                      <a:r>
                        <a:rPr sz="675" b="1">
                          <a:solidFill>
                            <a:srgbClr val="FFFFFF"/>
                          </a:solidFill>
                          <a:latin typeface="Helvetica Neue"/>
                          <a:ea typeface="Helvetica Neue"/>
                          <a:cs typeface="Helvetica Neue"/>
                        </a:rPr>
                        <a:t>FORMAT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REMOVE</a:t>
                      </a:r>
                    </a:p>
                    <a:p>
                      <a:pPr algn="ctr"/>
                      <a:r>
                        <a:rPr sz="675" b="1">
                          <a:solidFill>
                            <a:srgbClr val="FFFFFF"/>
                          </a:solidFill>
                          <a:latin typeface="Helvetica Neue"/>
                          <a:ea typeface="Helvetica Neue"/>
                          <a:cs typeface="Helvetica Neue"/>
                        </a:rPr>
                        <a:t>CLOSE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FILE</a:t>
                      </a:r>
                    </a:p>
                    <a:p>
                      <a:pPr algn="ctr"/>
                      <a:r>
                        <a:rPr sz="675" b="1">
                          <a:solidFill>
                            <a:srgbClr val="FFFFFF"/>
                          </a:solidFill>
                          <a:latin typeface="Helvetica Neue"/>
                          <a:ea typeface="Helvetica Neue"/>
                          <a:cs typeface="Helvetica Neue"/>
                        </a:rPr>
                        <a:t>TRANSFER</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OTHER</a:t>
                      </a:r>
                    </a:p>
                  </a:txBody>
                  <a:tcPr marL="47625" marR="47625" marT="19050" marB="19050" anchor="ctr">
                    <a:solidFill>
                      <a:srgbClr val="1C2733"/>
                    </a:solidFill>
                  </a:tcPr>
                </a:tc>
              </a:tr>
              <a:tr h="450850">
                <a:tc>
                  <a:txBody>
                    <a:bodyPr>
                      <a:normAutofit/>
                    </a:bodyPr>
                    <a:lstStyle/>
                    <a:p>
                      <a:pPr algn="ctr"/>
                      <a:r>
                        <a:rPr sz="900" b="1">
                          <a:solidFill>
                            <a:srgbClr val="FFFFFF"/>
                          </a:solidFill>
                          <a:latin typeface="Helvetica Neue"/>
                          <a:ea typeface="Helvetica Neue"/>
                          <a:cs typeface="Helvetica Neue"/>
                        </a:rPr>
                        <a:t>ICON</a:t>
                      </a:r>
                    </a:p>
                  </a:txBody>
                  <a:tcPr marL="47625" marR="47625" marT="19050" marB="19050" anchor="ctr">
                    <a:solidFill>
                      <a:srgbClr val="1C2733"/>
                    </a:solidFill>
                  </a:tcPr>
                </a:tc>
                <a:tc>
                  <a:txBody>
                    <a:bodyPr>
                      <a:normAutofit/>
                    </a:bodyPr>
                    <a:lstStyle/>
                    <a:p>
                      <a:pPr algn="ctr"/>
                      <a:r>
                        <a:rPr sz="900" b="1">
                          <a:solidFill>
                            <a:srgbClr val="A33D29"/>
                          </a:solidFill>
                          <a:latin typeface="Helvetica Neue"/>
                          <a:ea typeface="Helvetica Neue"/>
                          <a:cs typeface="Helvetica Neue"/>
                        </a:rPr>
                        <a:t>40.3%</a:t>
                      </a:r>
                    </a:p>
                    <a:p>
                      <a:pPr algn="ctr"/>
                      <a:r>
                        <a:rPr sz="900" b="1">
                          <a:solidFill>
                            <a:srgbClr val="A33D29"/>
                          </a:solidFill>
                          <a:latin typeface="Helvetica Neue"/>
                          <a:ea typeface="Helvetica Neue"/>
                          <a:cs typeface="Helvetica Neue"/>
                        </a:rPr>
                        <a:t>n=149</a:t>
                      </a:r>
                    </a:p>
                  </a:txBody>
                  <a:tcPr marL="47625" marR="47625" marT="19050" marB="19050" anchor="ctr">
                    <a:solidFill>
                      <a:srgbClr val="F7E4DB"/>
                    </a:solidFill>
                  </a:tcPr>
                </a:tc>
                <a:tc>
                  <a:txBody>
                    <a:bodyPr>
                      <a:normAutofit/>
                    </a:bodyPr>
                    <a:lstStyle/>
                    <a:p>
                      <a:pPr algn="ctr"/>
                      <a:r>
                        <a:rPr sz="900" b="1">
                          <a:solidFill>
                            <a:srgbClr val="10151C"/>
                          </a:solidFill>
                          <a:latin typeface="Helvetica Neue"/>
                          <a:ea typeface="Helvetica Neue"/>
                          <a:cs typeface="Helvetica Neue"/>
                        </a:rPr>
                        <a:t>52.6%</a:t>
                      </a:r>
                    </a:p>
                    <a:p>
                      <a:pPr algn="ctr"/>
                      <a:r>
                        <a:rPr sz="900" b="1">
                          <a:solidFill>
                            <a:srgbClr val="10151C"/>
                          </a:solidFill>
                          <a:latin typeface="Helvetica Neue"/>
                          <a:ea typeface="Helvetica Neue"/>
                          <a:cs typeface="Helvetica Neue"/>
                        </a:rPr>
                        <a:t>n=76</a:t>
                      </a:r>
                    </a:p>
                  </a:txBody>
                  <a:tcPr marL="47625" marR="47625" marT="19050" marB="19050" anchor="ctr">
                    <a:solidFill>
                      <a:srgbClr val="F0E7DE"/>
                    </a:solidFill>
                  </a:tcPr>
                </a:tc>
                <a:tc>
                  <a:txBody>
                    <a:bodyPr>
                      <a:normAutofit/>
                    </a:bodyPr>
                    <a:lstStyle/>
                    <a:p>
                      <a:pPr algn="ctr"/>
                      <a:r>
                        <a:rPr sz="900" b="1">
                          <a:solidFill>
                            <a:srgbClr val="A33D29"/>
                          </a:solidFill>
                          <a:latin typeface="Helvetica Neue"/>
                          <a:ea typeface="Helvetica Neue"/>
                          <a:cs typeface="Helvetica Neue"/>
                        </a:rPr>
                        <a:t>43.2%</a:t>
                      </a:r>
                    </a:p>
                    <a:p>
                      <a:pPr algn="ctr"/>
                      <a:r>
                        <a:rPr sz="900" b="1">
                          <a:solidFill>
                            <a:srgbClr val="A33D29"/>
                          </a:solidFill>
                          <a:latin typeface="Helvetica Neue"/>
                          <a:ea typeface="Helvetica Neue"/>
                          <a:cs typeface="Helvetica Neue"/>
                        </a:rPr>
                        <a:t>n=81</a:t>
                      </a:r>
                    </a:p>
                  </a:txBody>
                  <a:tcPr marL="47625" marR="47625" marT="19050" marB="19050" anchor="ctr">
                    <a:solidFill>
                      <a:srgbClr val="F5E5DC"/>
                    </a:solidFill>
                  </a:tcPr>
                </a:tc>
                <a:tc>
                  <a:txBody>
                    <a:bodyPr>
                      <a:normAutofit/>
                    </a:bodyPr>
                    <a:lstStyle/>
                    <a:p>
                      <a:pPr algn="ctr"/>
                      <a:r>
                        <a:rPr sz="900" b="1">
                          <a:solidFill>
                            <a:srgbClr val="10151C"/>
                          </a:solidFill>
                          <a:latin typeface="Helvetica Neue"/>
                          <a:ea typeface="Helvetica Neue"/>
                          <a:cs typeface="Helvetica Neue"/>
                        </a:rPr>
                        <a:t>45.0%</a:t>
                      </a:r>
                    </a:p>
                    <a:p>
                      <a:pPr algn="ctr"/>
                      <a:r>
                        <a:rPr sz="900" b="1">
                          <a:solidFill>
                            <a:srgbClr val="10151C"/>
                          </a:solidFill>
                          <a:latin typeface="Helvetica Neue"/>
                          <a:ea typeface="Helvetica Neue"/>
                          <a:cs typeface="Helvetica Neue"/>
                        </a:rPr>
                        <a:t>n=80</a:t>
                      </a:r>
                    </a:p>
                  </a:txBody>
                  <a:tcPr marL="47625" marR="47625" marT="19050" marB="19050" anchor="ctr">
                    <a:solidFill>
                      <a:srgbClr val="F4E5DD"/>
                    </a:solidFill>
                  </a:tcPr>
                </a:tc>
                <a:tc>
                  <a:txBody>
                    <a:bodyPr>
                      <a:normAutofit/>
                    </a:bodyPr>
                    <a:lstStyle/>
                    <a:p>
                      <a:pPr algn="ctr"/>
                      <a:r>
                        <a:rPr sz="900" b="1">
                          <a:solidFill>
                            <a:srgbClr val="10151C"/>
                          </a:solidFill>
                          <a:latin typeface="Helvetica Neue"/>
                          <a:ea typeface="Helvetica Neue"/>
                          <a:cs typeface="Helvetica Neue"/>
                        </a:rPr>
                        <a:t>59.6%</a:t>
                      </a:r>
                    </a:p>
                    <a:p>
                      <a:pPr algn="ctr"/>
                      <a:r>
                        <a:rPr sz="900" b="1">
                          <a:solidFill>
                            <a:srgbClr val="10151C"/>
                          </a:solidFill>
                          <a:latin typeface="Helvetica Neue"/>
                          <a:ea typeface="Helvetica Neue"/>
                          <a:cs typeface="Helvetica Neue"/>
                        </a:rPr>
                        <a:t>n=52</a:t>
                      </a:r>
                    </a:p>
                  </a:txBody>
                  <a:tcPr marL="47625" marR="47625" marT="19050" marB="19050" anchor="ctr">
                    <a:solidFill>
                      <a:srgbClr val="ECE8E0"/>
                    </a:solidFill>
                  </a:tcPr>
                </a:tc>
                <a:tc>
                  <a:txBody>
                    <a:bodyPr>
                      <a:normAutofit/>
                    </a:bodyPr>
                    <a:lstStyle/>
                    <a:p>
                      <a:pPr algn="ctr"/>
                      <a:r>
                        <a:rPr sz="900" b="1">
                          <a:solidFill>
                            <a:srgbClr val="A33D29"/>
                          </a:solidFill>
                          <a:latin typeface="Helvetica Neue"/>
                          <a:ea typeface="Helvetica Neue"/>
                          <a:cs typeface="Helvetica Neue"/>
                        </a:rPr>
                        <a:t>36.1%</a:t>
                      </a:r>
                    </a:p>
                    <a:p>
                      <a:pPr algn="ctr"/>
                      <a:r>
                        <a:rPr sz="900" b="1">
                          <a:solidFill>
                            <a:srgbClr val="A33D29"/>
                          </a:solidFill>
                          <a:latin typeface="Helvetica Neue"/>
                          <a:ea typeface="Helvetica Neue"/>
                          <a:cs typeface="Helvetica Neue"/>
                        </a:rPr>
                        <a:t>n=36</a:t>
                      </a:r>
                    </a:p>
                  </a:txBody>
                  <a:tcPr marL="47625" marR="47625" marT="19050" marB="19050" anchor="ctr">
                    <a:solidFill>
                      <a:srgbClr val="F9E3DA"/>
                    </a:solidFill>
                  </a:tcPr>
                </a:tc>
                <a:tc>
                  <a:txBody>
                    <a:bodyPr>
                      <a:normAutofit/>
                    </a:bodyPr>
                    <a:lstStyle/>
                    <a:p>
                      <a:pPr algn="ctr"/>
                      <a:r>
                        <a:rPr sz="900" b="1">
                          <a:solidFill>
                            <a:srgbClr val="A33D29"/>
                          </a:solidFill>
                          <a:latin typeface="Helvetica Neue"/>
                          <a:ea typeface="Helvetica Neue"/>
                          <a:cs typeface="Helvetica Neue"/>
                        </a:rPr>
                        <a:t>39.2%</a:t>
                      </a:r>
                    </a:p>
                    <a:p>
                      <a:pPr algn="ctr"/>
                      <a:r>
                        <a:rPr sz="900" b="1">
                          <a:solidFill>
                            <a:srgbClr val="A33D29"/>
                          </a:solidFill>
                          <a:latin typeface="Helvetica Neue"/>
                          <a:ea typeface="Helvetica Neue"/>
                          <a:cs typeface="Helvetica Neue"/>
                        </a:rPr>
                        <a:t>n=130</a:t>
                      </a:r>
                    </a:p>
                  </a:txBody>
                  <a:tcPr marL="47625" marR="47625" marT="19050" marB="19050" anchor="ctr">
                    <a:solidFill>
                      <a:srgbClr val="F7E4DB"/>
                    </a:solidFill>
                  </a:tcPr>
                </a:tc>
              </a:tr>
              <a:tr h="450850">
                <a:tc>
                  <a:txBody>
                    <a:bodyPr>
                      <a:normAutofit/>
                    </a:bodyPr>
                    <a:lstStyle/>
                    <a:p>
                      <a:pPr algn="ctr"/>
                      <a:r>
                        <a:rPr sz="900" b="1">
                          <a:solidFill>
                            <a:srgbClr val="FFFFFF"/>
                          </a:solidFill>
                          <a:latin typeface="Helvetica Neue"/>
                          <a:ea typeface="Helvetica Neue"/>
                          <a:cs typeface="Helvetica Neue"/>
                        </a:rPr>
                        <a:t>TEXT</a:t>
                      </a:r>
                    </a:p>
                  </a:txBody>
                  <a:tcPr marL="47625" marR="47625" marT="19050" marB="19050" anchor="ctr">
                    <a:solidFill>
                      <a:srgbClr val="1C2733"/>
                    </a:solidFill>
                  </a:tcPr>
                </a:tc>
                <a:tc>
                  <a:txBody>
                    <a:bodyPr>
                      <a:normAutofit/>
                    </a:bodyPr>
                    <a:lstStyle/>
                    <a:p>
                      <a:pPr algn="ctr"/>
                      <a:r>
                        <a:rPr sz="900" b="1">
                          <a:solidFill>
                            <a:srgbClr val="10151C"/>
                          </a:solidFill>
                          <a:latin typeface="Helvetica Neue"/>
                          <a:ea typeface="Helvetica Neue"/>
                          <a:cs typeface="Helvetica Neue"/>
                        </a:rPr>
                        <a:t>77.0%</a:t>
                      </a:r>
                    </a:p>
                    <a:p>
                      <a:pPr algn="ctr"/>
                      <a:r>
                        <a:rPr sz="900" b="1">
                          <a:solidFill>
                            <a:srgbClr val="10151C"/>
                          </a:solidFill>
                          <a:latin typeface="Helvetica Neue"/>
                          <a:ea typeface="Helvetica Neue"/>
                          <a:cs typeface="Helvetica Neue"/>
                        </a:rPr>
                        <a:t>n=161</a:t>
                      </a:r>
                    </a:p>
                  </a:txBody>
                  <a:tcPr marL="47625" marR="47625" marT="19050" marB="19050" anchor="ctr">
                    <a:solidFill>
                      <a:srgbClr val="E3ECE4"/>
                    </a:solidFill>
                  </a:tcPr>
                </a:tc>
                <a:tc>
                  <a:txBody>
                    <a:bodyPr>
                      <a:normAutofit/>
                    </a:bodyPr>
                    <a:lstStyle/>
                    <a:p>
                      <a:pPr algn="ctr"/>
                      <a:r>
                        <a:rPr sz="900" b="1">
                          <a:solidFill>
                            <a:srgbClr val="10151C"/>
                          </a:solidFill>
                          <a:latin typeface="Helvetica Neue"/>
                          <a:ea typeface="Helvetica Neue"/>
                          <a:cs typeface="Helvetica Neue"/>
                        </a:rPr>
                        <a:t>80.8%</a:t>
                      </a:r>
                    </a:p>
                    <a:p>
                      <a:pPr algn="ctr"/>
                      <a:r>
                        <a:rPr sz="900" b="1">
                          <a:solidFill>
                            <a:srgbClr val="10151C"/>
                          </a:solidFill>
                          <a:latin typeface="Helvetica Neue"/>
                          <a:ea typeface="Helvetica Neue"/>
                          <a:cs typeface="Helvetica Neue"/>
                        </a:rPr>
                        <a:t>n=151</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80.3%</a:t>
                      </a:r>
                    </a:p>
                    <a:p>
                      <a:pPr algn="ctr"/>
                      <a:r>
                        <a:rPr sz="900" b="1">
                          <a:solidFill>
                            <a:srgbClr val="10151C"/>
                          </a:solidFill>
                          <a:latin typeface="Helvetica Neue"/>
                          <a:ea typeface="Helvetica Neue"/>
                          <a:cs typeface="Helvetica Neue"/>
                        </a:rPr>
                        <a:t>n=152</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79.4%</a:t>
                      </a:r>
                    </a:p>
                    <a:p>
                      <a:pPr algn="ctr"/>
                      <a:r>
                        <a:rPr sz="900" b="1">
                          <a:solidFill>
                            <a:srgbClr val="10151C"/>
                          </a:solidFill>
                          <a:latin typeface="Helvetica Neue"/>
                          <a:ea typeface="Helvetica Neue"/>
                          <a:cs typeface="Helvetica Neue"/>
                        </a:rPr>
                        <a:t>n=180</a:t>
                      </a:r>
                    </a:p>
                  </a:txBody>
                  <a:tcPr marL="47625" marR="47625" marT="19050" marB="19050" anchor="ctr">
                    <a:solidFill>
                      <a:srgbClr val="E2EDE5"/>
                    </a:solidFill>
                  </a:tcPr>
                </a:tc>
                <a:tc>
                  <a:txBody>
                    <a:bodyPr>
                      <a:normAutofit/>
                    </a:bodyPr>
                    <a:lstStyle/>
                    <a:p>
                      <a:pPr algn="ctr"/>
                      <a:r>
                        <a:rPr sz="900" b="1">
                          <a:solidFill>
                            <a:srgbClr val="10151C"/>
                          </a:solidFill>
                          <a:latin typeface="Helvetica Neue"/>
                          <a:ea typeface="Helvetica Neue"/>
                          <a:cs typeface="Helvetica Neue"/>
                        </a:rPr>
                        <a:t>85.1%</a:t>
                      </a:r>
                    </a:p>
                    <a:p>
                      <a:pPr algn="ctr"/>
                      <a:r>
                        <a:rPr sz="900" b="1">
                          <a:solidFill>
                            <a:srgbClr val="10151C"/>
                          </a:solidFill>
                          <a:latin typeface="Helvetica Neue"/>
                          <a:ea typeface="Helvetica Neue"/>
                          <a:cs typeface="Helvetica Neue"/>
                        </a:rPr>
                        <a:t>n=47</a:t>
                      </a:r>
                    </a:p>
                  </a:txBody>
                  <a:tcPr marL="47625" marR="47625" marT="19050" marB="19050" anchor="ctr">
                    <a:solidFill>
                      <a:srgbClr val="DFEEE6"/>
                    </a:solidFill>
                  </a:tcPr>
                </a:tc>
                <a:tc>
                  <a:txBody>
                    <a:bodyPr>
                      <a:normAutofit/>
                    </a:bodyPr>
                    <a:lstStyle/>
                    <a:p>
                      <a:pPr algn="ctr"/>
                      <a:r>
                        <a:rPr sz="900" b="1">
                          <a:solidFill>
                            <a:srgbClr val="10151C"/>
                          </a:solidFill>
                          <a:latin typeface="Helvetica Neue"/>
                          <a:ea typeface="Helvetica Neue"/>
                          <a:cs typeface="Helvetica Neue"/>
                        </a:rPr>
                        <a:t>86.0%</a:t>
                      </a:r>
                    </a:p>
                    <a:p>
                      <a:pPr algn="ctr"/>
                      <a:r>
                        <a:rPr sz="900" b="1">
                          <a:solidFill>
                            <a:srgbClr val="10151C"/>
                          </a:solidFill>
                          <a:latin typeface="Helvetica Neue"/>
                          <a:ea typeface="Helvetica Neue"/>
                          <a:cs typeface="Helvetica Neue"/>
                        </a:rPr>
                        <a:t>n=43</a:t>
                      </a:r>
                    </a:p>
                  </a:txBody>
                  <a:tcPr marL="47625" marR="47625" marT="19050" marB="19050" anchor="ctr">
                    <a:solidFill>
                      <a:srgbClr val="DEEEE6"/>
                    </a:solidFill>
                  </a:tcPr>
                </a:tc>
                <a:tc>
                  <a:txBody>
                    <a:bodyPr>
                      <a:normAutofit/>
                    </a:bodyPr>
                    <a:lstStyle/>
                    <a:p>
                      <a:pPr algn="ctr"/>
                      <a:r>
                        <a:rPr sz="900" b="1">
                          <a:solidFill>
                            <a:srgbClr val="10151C"/>
                          </a:solidFill>
                          <a:latin typeface="Helvetica Neue"/>
                          <a:ea typeface="Helvetica Neue"/>
                          <a:cs typeface="Helvetica Neue"/>
                        </a:rPr>
                        <a:t>77.4%</a:t>
                      </a:r>
                    </a:p>
                    <a:p>
                      <a:pPr algn="ctr"/>
                      <a:r>
                        <a:rPr sz="900" b="1">
                          <a:solidFill>
                            <a:srgbClr val="10151C"/>
                          </a:solidFill>
                          <a:latin typeface="Helvetica Neue"/>
                          <a:ea typeface="Helvetica Neue"/>
                          <a:cs typeface="Helvetica Neue"/>
                        </a:rPr>
                        <a:t>n=243</a:t>
                      </a:r>
                    </a:p>
                  </a:txBody>
                  <a:tcPr marL="47625" marR="47625" marT="19050" marB="19050" anchor="ctr">
                    <a:solidFill>
                      <a:srgbClr val="E3ECE4"/>
                    </a:solidFill>
                  </a:tcPr>
                </a:tc>
              </a:tr>
            </a:tbl>
          </a:graphicData>
        </a:graphic>
      </p:graphicFrame>
      <p:sp>
        <p:nvSpPr>
          <p:cNvPr id="24" name="">
            <a:extLst xmlns:a="http://schemas.openxmlformats.org/drawingml/2006/main">
              <a:ext uri="{FF2B5EF4-FFF2-40B4-BE49-F238E27FC236}">
                <a16:creationId xmlns:a16="http://schemas.microsoft.com/office/drawing/2014/main" id="{42AA200A-D92C-4E2E-9892-B71219BA9FD3}"/>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087441CE-D763-4CF8-94EE-35D270A42CE1}"/>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Raw point-in-box accuracy. UI type is the official target label; action families are diagnostic. Target geometry follows on the next slide.</a:t>
            </a:r>
          </a:p>
        </p:txBody>
      </p:sp>
    </p:spTree>
    <p:extLst>
      <p:ext uri="{BB962C8B-B14F-4D97-AF65-F5344CB8AC3E}">
        <p14:creationId xmlns:p14="http://schemas.microsoft.com/office/powerpoint/2010/main" val="1593692585"/>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A33DEA0-C2F1-4D97-8447-3AE7D0CDCF95}"/>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TARGET GEOMETRY</a:t>
            </a:r>
          </a:p>
        </p:txBody>
      </p:sp>
      <p:sp>
        <p:nvSpPr>
          <p:cNvPr id="2" name="">
            <a:extLst xmlns:a="http://schemas.openxmlformats.org/drawingml/2006/main">
              <a:ext uri="{FF2B5EF4-FFF2-40B4-BE49-F238E27FC236}">
                <a16:creationId xmlns:a16="http://schemas.microsoft.com/office/drawing/2014/main" id="{FD71CEF5-C6AC-4874-82B2-BD1F6BB3C53B}"/>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Text target boxes are 4.77× larger at the median</a:t>
            </a:r>
          </a:p>
        </p:txBody>
      </p:sp>
      <p:sp>
        <p:nvSpPr>
          <p:cNvPr id="3" name="">
            <a:extLst xmlns:a="http://schemas.openxmlformats.org/drawingml/2006/main">
              <a:ext uri="{FF2B5EF4-FFF2-40B4-BE49-F238E27FC236}">
                <a16:creationId xmlns:a16="http://schemas.microsoft.com/office/drawing/2014/main" id="{6A4393E1-7B40-423E-A7CB-B56DA98B211F}"/>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BE3909AE-BEFC-4FC3-BB7A-B190C079030A}"/>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Normalized area is the annotated click-box area divided by screenshot area. Each series sums to 100%.</a:t>
            </a:r>
          </a:p>
        </p:txBody>
      </p:sp>
      <p:sp>
        <p:nvSpPr>
          <p:cNvPr id="5" name="">
            <a:extLst xmlns:a="http://schemas.openxmlformats.org/drawingml/2006/main">
              <a:ext uri="{FF2B5EF4-FFF2-40B4-BE49-F238E27FC236}">
                <a16:creationId xmlns:a16="http://schemas.microsoft.com/office/drawing/2014/main" id="{09BD1FA3-8D5F-4955-9DA0-1CA004104F9D}"/>
              </a:ext>
            </a:extLst>
          </p:cNvPr>
          <p:cNvSpPr>
            <a:spLocks xmlns:a="http://schemas.openxmlformats.org/drawingml/2006/main" noGrp="1"/>
          </p:cNvSpPr>
          <p:nvPr/>
        </p:nvSpPr>
        <p:spPr>
          <a:xfrm xmlns:a="http://schemas.openxmlformats.org/drawingml/2006/main">
            <a:off x="609600" y="1562100"/>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SHARE OF TARGETS BY NORMALIZED AREA BUCKET</a:t>
            </a:r>
          </a:p>
        </p:txBody>
      </p:sp>
      <p:graphicFrame>
        <p:nvGraphicFramePr>
          <p:cNvPr id="25"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23a628278bfb48fd"/>
          </a:graphicData>
        </a:graphic>
      </p:graphicFrame>
      <p:sp>
        <p:nvSpPr>
          <p:cNvPr id="7" name="">
            <a:extLst xmlns:a="http://schemas.openxmlformats.org/drawingml/2006/main">
              <a:ext uri="{FF2B5EF4-FFF2-40B4-BE49-F238E27FC236}">
                <a16:creationId xmlns:a16="http://schemas.microsoft.com/office/drawing/2014/main" id="{307746A5-243D-4227-B2ED-71DD3EE343B6}"/>
              </a:ext>
            </a:extLst>
          </p:cNvPr>
          <p:cNvSpPr>
            <a:spLocks xmlns:a="http://schemas.openxmlformats.org/drawingml/2006/main" noGrp="1"/>
          </p:cNvSpPr>
          <p:nvPr/>
        </p:nvSpPr>
        <p:spPr>
          <a:xfrm xmlns:a="http://schemas.openxmlformats.org/drawingml/2006/main">
            <a:off x="8801100" y="1562100"/>
            <a:ext cx="2781300" cy="3962400"/>
          </a:xfrm>
          <a:prstGeom xmlns:a="http://schemas.openxmlformats.org/drawingml/2006/main" prst="roundRect">
            <a:avLst>
              <a:gd name="adj" fmla="val 2740"/>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2B756EB-4E54-4B05-A82F-9EBED74AD0F8}"/>
              </a:ext>
            </a:extLst>
          </p:cNvPr>
          <p:cNvSpPr>
            <a:spLocks xmlns:a="http://schemas.openxmlformats.org/drawingml/2006/main" noGrp="1"/>
          </p:cNvSpPr>
          <p:nvPr/>
        </p:nvSpPr>
        <p:spPr>
          <a:xfrm xmlns:a="http://schemas.openxmlformats.org/drawingml/2006/main">
            <a:off x="9067800" y="18478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TARGET AREA</a:t>
            </a:r>
          </a:p>
        </p:txBody>
      </p:sp>
      <p:sp>
        <p:nvSpPr>
          <p:cNvPr id="9" name="">
            <a:extLst xmlns:a="http://schemas.openxmlformats.org/drawingml/2006/main">
              <a:ext uri="{FF2B5EF4-FFF2-40B4-BE49-F238E27FC236}">
                <a16:creationId xmlns:a16="http://schemas.microsoft.com/office/drawing/2014/main" id="{E5AFC792-755B-4C86-BE9E-79061AC5850F}"/>
              </a:ext>
            </a:extLst>
          </p:cNvPr>
          <p:cNvSpPr>
            <a:spLocks xmlns:a="http://schemas.openxmlformats.org/drawingml/2006/main" noGrp="1"/>
          </p:cNvSpPr>
          <p:nvPr/>
        </p:nvSpPr>
        <p:spPr>
          <a:xfrm xmlns:a="http://schemas.openxmlformats.org/drawingml/2006/main">
            <a:off x="9067800" y="2190750"/>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defRPr sz="3900" b="1">
                <a:solidFill>
                  <a:srgbClr val="F05A3C"/>
                </a:solidFill>
                <a:latin typeface="Helvetica Neue"/>
                <a:ea typeface="Helvetica Neue"/>
                <a:cs typeface="Helvetica Neue"/>
              </a:defRPr>
            </a:pPr>
            <a:r>
              <a:rPr sz="3900" b="1">
                <a:solidFill>
                  <a:srgbClr val="F05A3C"/>
                </a:solidFill>
                <a:latin typeface="Helvetica Neue"/>
                <a:ea typeface="Helvetica Neue"/>
                <a:cs typeface="Helvetica Neue"/>
              </a:rPr>
              <a:t>4.77×</a:t>
            </a:r>
          </a:p>
        </p:txBody>
      </p:sp>
      <p:sp>
        <p:nvSpPr>
          <p:cNvPr id="10" name="">
            <a:extLst xmlns:a="http://schemas.openxmlformats.org/drawingml/2006/main">
              <a:ext uri="{FF2B5EF4-FFF2-40B4-BE49-F238E27FC236}">
                <a16:creationId xmlns:a16="http://schemas.microsoft.com/office/drawing/2014/main" id="{206AA50B-CD6F-4A8C-AFBD-9F67CE181832}"/>
              </a:ext>
            </a:extLst>
          </p:cNvPr>
          <p:cNvSpPr>
            <a:spLocks xmlns:a="http://schemas.openxmlformats.org/drawingml/2006/main" noGrp="1"/>
          </p:cNvSpPr>
          <p:nvPr/>
        </p:nvSpPr>
        <p:spPr>
          <a:xfrm xmlns:a="http://schemas.openxmlformats.org/drawingml/2006/main">
            <a:off x="9067800" y="280035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2BDAF"/>
                </a:solidFill>
                <a:latin typeface="Helvetica Neue"/>
                <a:ea typeface="Helvetica Neue"/>
                <a:cs typeface="Helvetica Neue"/>
              </a:defRPr>
            </a:pPr>
            <a:r>
              <a:rPr sz="1275" b="0">
                <a:solidFill>
                  <a:srgbClr val="F2BDAF"/>
                </a:solidFill>
                <a:latin typeface="Helvetica Neue"/>
                <a:ea typeface="Helvetica Neue"/>
                <a:cs typeface="Helvetica Neue"/>
              </a:rPr>
              <a:t>text versus icon</a:t>
            </a:r>
          </a:p>
        </p:txBody>
      </p:sp>
      <p:sp>
        <p:nvSpPr>
          <p:cNvPr id="11" name="">
            <a:extLst xmlns:a="http://schemas.openxmlformats.org/drawingml/2006/main">
              <a:ext uri="{FF2B5EF4-FFF2-40B4-BE49-F238E27FC236}">
                <a16:creationId xmlns:a16="http://schemas.microsoft.com/office/drawing/2014/main" id="{DDB68B80-C91E-44D4-B78D-CBDACCC4F67D}"/>
              </a:ext>
            </a:extLst>
          </p:cNvPr>
          <p:cNvSpPr>
            <a:spLocks xmlns:a="http://schemas.openxmlformats.org/drawingml/2006/main" noGrp="1"/>
          </p:cNvSpPr>
          <p:nvPr/>
        </p:nvSpPr>
        <p:spPr>
          <a:xfrm xmlns:a="http://schemas.openxmlformats.org/drawingml/2006/main">
            <a:off x="9067800" y="3257550"/>
            <a:ext cx="2247900" cy="9525"/>
          </a:xfrm>
          <a:prstGeom xmlns:a="http://schemas.openxmlformats.org/drawingml/2006/main" prst="rect">
            <a:avLst/>
          </a:prstGeom>
          <a:solidFill xmlns:a="http://schemas.openxmlformats.org/drawingml/2006/main">
            <a:srgbClr val="43515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D00090C-458B-48FC-A34F-7686023247B0}"/>
              </a:ext>
            </a:extLst>
          </p:cNvPr>
          <p:cNvSpPr>
            <a:spLocks xmlns:a="http://schemas.openxmlformats.org/drawingml/2006/main" noGrp="1"/>
          </p:cNvSpPr>
          <p:nvPr/>
        </p:nvSpPr>
        <p:spPr>
          <a:xfrm xmlns:a="http://schemas.openxmlformats.org/drawingml/2006/main">
            <a:off x="9067800" y="3524250"/>
            <a:ext cx="2247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CLICK BOX</a:t>
            </a:r>
          </a:p>
        </p:txBody>
      </p:sp>
      <p:sp>
        <p:nvSpPr>
          <p:cNvPr id="13" name="">
            <a:extLst xmlns:a="http://schemas.openxmlformats.org/drawingml/2006/main">
              <a:ext uri="{FF2B5EF4-FFF2-40B4-BE49-F238E27FC236}">
                <a16:creationId xmlns:a16="http://schemas.microsoft.com/office/drawing/2014/main" id="{8B59B0CA-7514-4D65-AD0D-E4F1D88EF600}"/>
              </a:ext>
            </a:extLst>
          </p:cNvPr>
          <p:cNvSpPr>
            <a:spLocks xmlns:a="http://schemas.openxmlformats.org/drawingml/2006/main" noGrp="1"/>
          </p:cNvSpPr>
          <p:nvPr/>
        </p:nvSpPr>
        <p:spPr>
          <a:xfrm xmlns:a="http://schemas.openxmlformats.org/drawingml/2006/main">
            <a:off x="9067800" y="38290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Text   111 × 25 px</a:t>
            </a:r>
          </a:p>
        </p:txBody>
      </p:sp>
      <p:sp>
        <p:nvSpPr>
          <p:cNvPr id="14" name="">
            <a:extLst xmlns:a="http://schemas.openxmlformats.org/drawingml/2006/main">
              <a:ext uri="{FF2B5EF4-FFF2-40B4-BE49-F238E27FC236}">
                <a16:creationId xmlns:a16="http://schemas.microsoft.com/office/drawing/2014/main" id="{F6B61869-4D72-42D0-9BA6-5447155698BD}"/>
              </a:ext>
            </a:extLst>
          </p:cNvPr>
          <p:cNvSpPr>
            <a:spLocks xmlns:a="http://schemas.openxmlformats.org/drawingml/2006/main" noGrp="1"/>
          </p:cNvSpPr>
          <p:nvPr/>
        </p:nvSpPr>
        <p:spPr>
          <a:xfrm xmlns:a="http://schemas.openxmlformats.org/drawingml/2006/main">
            <a:off x="9067800" y="419100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Icon     26 × 24 px</a:t>
            </a:r>
          </a:p>
        </p:txBody>
      </p:sp>
      <p:sp>
        <p:nvSpPr>
          <p:cNvPr id="15" name="">
            <a:extLst xmlns:a="http://schemas.openxmlformats.org/drawingml/2006/main">
              <a:ext uri="{FF2B5EF4-FFF2-40B4-BE49-F238E27FC236}">
                <a16:creationId xmlns:a16="http://schemas.microsoft.com/office/drawing/2014/main" id="{3B74BA2D-DEFC-4CAD-8898-4200C6E779CA}"/>
              </a:ext>
            </a:extLst>
          </p:cNvPr>
          <p:cNvSpPr>
            <a:spLocks xmlns:a="http://schemas.openxmlformats.org/drawingml/2006/main" noGrp="1"/>
          </p:cNvSpPr>
          <p:nvPr/>
        </p:nvSpPr>
        <p:spPr>
          <a:xfrm xmlns:a="http://schemas.openxmlformats.org/drawingml/2006/main">
            <a:off x="9067800" y="46863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The difference is mostly width.</a:t>
            </a:r>
          </a:p>
        </p:txBody>
      </p:sp>
      <p:sp>
        <p:nvSpPr>
          <p:cNvPr id="16" name="">
            <a:extLst xmlns:a="http://schemas.openxmlformats.org/drawingml/2006/main">
              <a:ext uri="{FF2B5EF4-FFF2-40B4-BE49-F238E27FC236}">
                <a16:creationId xmlns:a16="http://schemas.microsoft.com/office/drawing/2014/main" id="{0DA68C60-4677-42B5-BE08-B6E9D0A9ED89}"/>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oundRect">
            <a:avLst>
              <a:gd name="adj" fmla="val 18182"/>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F5CA6F3-149D-4974-9A30-B163B196D893}"/>
              </a:ext>
            </a:extLst>
          </p:cNvPr>
          <p:cNvSpPr>
            <a:spLocks xmlns:a="http://schemas.openxmlformats.org/drawingml/2006/main" noGrp="1"/>
          </p:cNvSpPr>
          <p:nvPr/>
        </p:nvSpPr>
        <p:spPr>
          <a:xfrm xmlns:a="http://schemas.openxmlformats.org/drawingml/2006/main">
            <a:off x="800100" y="5905500"/>
            <a:ext cx="10591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Point-in-box scoring gives wider text regions more click tolerance, so the raw UI gap mixes recognition with target geometry.</a:t>
            </a:r>
          </a:p>
        </p:txBody>
      </p:sp>
      <p:sp>
        <p:nvSpPr>
          <p:cNvPr id="18" name="">
            <a:extLst xmlns:a="http://schemas.openxmlformats.org/drawingml/2006/main">
              <a:ext uri="{FF2B5EF4-FFF2-40B4-BE49-F238E27FC236}">
                <a16:creationId xmlns:a16="http://schemas.microsoft.com/office/drawing/2014/main" id="{42A16D98-0D41-482A-ACFE-519755E00547}"/>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41D086A-AC78-40D1-92B6-C81E97D7119E}"/>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All 1,581 official annotations. Buckets show observed within-label distributions, not accuracy or a causal adjustment.</a:t>
            </a:r>
          </a:p>
        </p:txBody>
      </p:sp>
    </p:spTree>
    <p:extLst>
      <p:ext uri="{BB962C8B-B14F-4D97-AF65-F5344CB8AC3E}">
        <p14:creationId xmlns:p14="http://schemas.microsoft.com/office/powerpoint/2010/main" val="118433979"/>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A5195C3-E125-4E21-9324-C6B11125E56E}"/>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RESOLUTION ABLATION</a:t>
            </a:r>
          </a:p>
        </p:txBody>
      </p:sp>
      <p:sp>
        <p:nvSpPr>
          <p:cNvPr id="2" name="">
            <a:extLst xmlns:a="http://schemas.openxmlformats.org/drawingml/2006/main">
              <a:ext uri="{FF2B5EF4-FFF2-40B4-BE49-F238E27FC236}">
                <a16:creationId xmlns:a16="http://schemas.microsoft.com/office/drawing/2014/main" id="{3AEBB19E-EB14-4785-B8C4-643F17F9C276}"/>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162"/>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Only 11% of native-success clicks survive at quarter resolution</a:t>
            </a:r>
          </a:p>
        </p:txBody>
      </p:sp>
      <p:sp>
        <p:nvSpPr>
          <p:cNvPr id="3" name="">
            <a:extLst xmlns:a="http://schemas.openxmlformats.org/drawingml/2006/main">
              <a:ext uri="{FF2B5EF4-FFF2-40B4-BE49-F238E27FC236}">
                <a16:creationId xmlns:a16="http://schemas.microsoft.com/office/drawing/2014/main" id="{BC2B06C2-2482-4225-9C55-6214DD4BF362}"/>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987AFC3C-C762-4E1A-A86B-F4AF37EDAECC}"/>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Paired retention across 36 ScreenSpot-Pro items that Holo localizes correctly at native resolution</a:t>
            </a:r>
          </a:p>
        </p:txBody>
      </p:sp>
      <p:sp>
        <p:nvSpPr>
          <p:cNvPr id="5" name="">
            <a:extLst xmlns:a="http://schemas.openxmlformats.org/drawingml/2006/main">
              <a:ext uri="{FF2B5EF4-FFF2-40B4-BE49-F238E27FC236}">
                <a16:creationId xmlns:a16="http://schemas.microsoft.com/office/drawing/2014/main" id="{B43B5A95-19C3-4C33-9A38-EDA5B01DB75B}"/>
              </a:ext>
            </a:extLst>
          </p:cNvPr>
          <p:cNvSpPr>
            <a:spLocks xmlns:a="http://schemas.openxmlformats.org/drawingml/2006/main" noGrp="1"/>
          </p:cNvSpPr>
          <p:nvPr/>
        </p:nvSpPr>
        <p:spPr>
          <a:xfrm xmlns:a="http://schemas.openxmlformats.org/drawingml/2006/main">
            <a:off x="609600" y="1562100"/>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SUCCESS RETENTION UNDER CONTROLLED DOWNSAMPLING</a:t>
            </a:r>
          </a:p>
        </p:txBody>
      </p:sp>
      <p:graphicFrame>
        <p:nvGraphicFramePr>
          <p:cNvPr id="26"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e30ad68bdfe148c9"/>
          </a:graphicData>
        </a:graphic>
      </p:graphicFrame>
      <p:sp>
        <p:nvSpPr>
          <p:cNvPr id="7" name="">
            <a:extLst xmlns:a="http://schemas.openxmlformats.org/drawingml/2006/main">
              <a:ext uri="{FF2B5EF4-FFF2-40B4-BE49-F238E27FC236}">
                <a16:creationId xmlns:a16="http://schemas.microsoft.com/office/drawing/2014/main" id="{C6C5D1B1-20BA-4AA4-9D3A-1F7CDC24F9AE}"/>
              </a:ext>
            </a:extLst>
          </p:cNvPr>
          <p:cNvSpPr>
            <a:spLocks xmlns:a="http://schemas.openxmlformats.org/drawingml/2006/main" noGrp="1"/>
          </p:cNvSpPr>
          <p:nvPr/>
        </p:nvSpPr>
        <p:spPr>
          <a:xfrm xmlns:a="http://schemas.openxmlformats.org/drawingml/2006/main">
            <a:off x="8801100" y="1562100"/>
            <a:ext cx="2781300" cy="3962400"/>
          </a:xfrm>
          <a:prstGeom xmlns:a="http://schemas.openxmlformats.org/drawingml/2006/main" prst="roundRect">
            <a:avLst>
              <a:gd name="adj" fmla="val 2740"/>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5D1A565-7522-4D34-86A5-A2764F71014F}"/>
              </a:ext>
            </a:extLst>
          </p:cNvPr>
          <p:cNvSpPr>
            <a:spLocks xmlns:a="http://schemas.openxmlformats.org/drawingml/2006/main" noGrp="1"/>
          </p:cNvSpPr>
          <p:nvPr/>
        </p:nvSpPr>
        <p:spPr>
          <a:xfrm xmlns:a="http://schemas.openxmlformats.org/drawingml/2006/main">
            <a:off x="9067800" y="18478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QUARTER RESOLUTION</a:t>
            </a:r>
          </a:p>
        </p:txBody>
      </p:sp>
      <p:sp>
        <p:nvSpPr>
          <p:cNvPr id="9" name="">
            <a:extLst xmlns:a="http://schemas.openxmlformats.org/drawingml/2006/main">
              <a:ext uri="{FF2B5EF4-FFF2-40B4-BE49-F238E27FC236}">
                <a16:creationId xmlns:a16="http://schemas.microsoft.com/office/drawing/2014/main" id="{2B7FE526-F742-48D1-8988-5EE14F61762C}"/>
              </a:ext>
            </a:extLst>
          </p:cNvPr>
          <p:cNvSpPr>
            <a:spLocks xmlns:a="http://schemas.openxmlformats.org/drawingml/2006/main" noGrp="1"/>
          </p:cNvSpPr>
          <p:nvPr/>
        </p:nvSpPr>
        <p:spPr>
          <a:xfrm xmlns:a="http://schemas.openxmlformats.org/drawingml/2006/main">
            <a:off x="9067800" y="2152650"/>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defRPr sz="3900" b="1">
                <a:solidFill>
                  <a:srgbClr val="F05A3C"/>
                </a:solidFill>
                <a:latin typeface="Helvetica Neue"/>
                <a:ea typeface="Helvetica Neue"/>
                <a:cs typeface="Helvetica Neue"/>
              </a:defRPr>
            </a:pPr>
            <a:r>
              <a:rPr sz="3900" b="1">
                <a:solidFill>
                  <a:srgbClr val="F05A3C"/>
                </a:solidFill>
                <a:latin typeface="Helvetica Neue"/>
                <a:ea typeface="Helvetica Neue"/>
                <a:cs typeface="Helvetica Neue"/>
              </a:rPr>
              <a:t>11.1%</a:t>
            </a:r>
          </a:p>
        </p:txBody>
      </p:sp>
      <p:sp>
        <p:nvSpPr>
          <p:cNvPr id="10" name="">
            <a:extLst xmlns:a="http://schemas.openxmlformats.org/drawingml/2006/main">
              <a:ext uri="{FF2B5EF4-FFF2-40B4-BE49-F238E27FC236}">
                <a16:creationId xmlns:a16="http://schemas.microsoft.com/office/drawing/2014/main" id="{C78E16C9-8349-4CCC-B891-2452C79396A8}"/>
              </a:ext>
            </a:extLst>
          </p:cNvPr>
          <p:cNvSpPr>
            <a:spLocks xmlns:a="http://schemas.openxmlformats.org/drawingml/2006/main" noGrp="1"/>
          </p:cNvSpPr>
          <p:nvPr/>
        </p:nvSpPr>
        <p:spPr>
          <a:xfrm xmlns:a="http://schemas.openxmlformats.org/drawingml/2006/main">
            <a:off x="9067800" y="278130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2BDAF"/>
                </a:solidFill>
                <a:latin typeface="Helvetica Neue"/>
                <a:ea typeface="Helvetica Neue"/>
                <a:cs typeface="Helvetica Neue"/>
              </a:defRPr>
            </a:pPr>
            <a:r>
              <a:rPr sz="1275" b="0">
                <a:solidFill>
                  <a:srgbClr val="F2BDAF"/>
                </a:solidFill>
                <a:latin typeface="Helvetica Neue"/>
                <a:ea typeface="Helvetica Neue"/>
                <a:cs typeface="Helvetica Neue"/>
              </a:rPr>
              <a:t>4/36 clicks survive</a:t>
            </a:r>
          </a:p>
        </p:txBody>
      </p:sp>
      <p:sp>
        <p:nvSpPr>
          <p:cNvPr id="11" name="">
            <a:extLst xmlns:a="http://schemas.openxmlformats.org/drawingml/2006/main">
              <a:ext uri="{FF2B5EF4-FFF2-40B4-BE49-F238E27FC236}">
                <a16:creationId xmlns:a16="http://schemas.microsoft.com/office/drawing/2014/main" id="{D46CB714-D1ED-47DA-9B9A-FFBC31D2E6F9}"/>
              </a:ext>
            </a:extLst>
          </p:cNvPr>
          <p:cNvSpPr>
            <a:spLocks xmlns:a="http://schemas.openxmlformats.org/drawingml/2006/main" noGrp="1"/>
          </p:cNvSpPr>
          <p:nvPr/>
        </p:nvSpPr>
        <p:spPr>
          <a:xfrm xmlns:a="http://schemas.openxmlformats.org/drawingml/2006/main">
            <a:off x="9067800" y="30670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95% CI 4.4–25.3%</a:t>
            </a:r>
          </a:p>
        </p:txBody>
      </p:sp>
      <p:sp>
        <p:nvSpPr>
          <p:cNvPr id="12" name="">
            <a:extLst xmlns:a="http://schemas.openxmlformats.org/drawingml/2006/main">
              <a:ext uri="{FF2B5EF4-FFF2-40B4-BE49-F238E27FC236}">
                <a16:creationId xmlns:a16="http://schemas.microsoft.com/office/drawing/2014/main" id="{AE64DF9E-AFD7-44EA-AAE1-6A2FA11C52C1}"/>
              </a:ext>
            </a:extLst>
          </p:cNvPr>
          <p:cNvSpPr>
            <a:spLocks xmlns:a="http://schemas.openxmlformats.org/drawingml/2006/main" noGrp="1"/>
          </p:cNvSpPr>
          <p:nvPr/>
        </p:nvSpPr>
        <p:spPr>
          <a:xfrm xmlns:a="http://schemas.openxmlformats.org/drawingml/2006/main">
            <a:off x="9067800" y="3371850"/>
            <a:ext cx="2247900" cy="9525"/>
          </a:xfrm>
          <a:prstGeom xmlns:a="http://schemas.openxmlformats.org/drawingml/2006/main" prst="rect">
            <a:avLst/>
          </a:prstGeom>
          <a:solidFill xmlns:a="http://schemas.openxmlformats.org/drawingml/2006/main">
            <a:srgbClr val="43515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13DF6A5-FCE2-4648-84CE-958C4A733EBE}"/>
              </a:ext>
            </a:extLst>
          </p:cNvPr>
          <p:cNvSpPr>
            <a:spLocks xmlns:a="http://schemas.openxmlformats.org/drawingml/2006/main" noGrp="1"/>
          </p:cNvSpPr>
          <p:nvPr/>
        </p:nvSpPr>
        <p:spPr>
          <a:xfrm xmlns:a="http://schemas.openxmlformats.org/drawingml/2006/main">
            <a:off x="9067800" y="3600450"/>
            <a:ext cx="2247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AT HALF RESOLUTION</a:t>
            </a:r>
          </a:p>
        </p:txBody>
      </p:sp>
      <p:sp>
        <p:nvSpPr>
          <p:cNvPr id="14" name="">
            <a:extLst xmlns:a="http://schemas.openxmlformats.org/drawingml/2006/main">
              <a:ext uri="{FF2B5EF4-FFF2-40B4-BE49-F238E27FC236}">
                <a16:creationId xmlns:a16="http://schemas.microsoft.com/office/drawing/2014/main" id="{A35BDEF8-2B93-4B34-963F-48D7E6D63C7F}"/>
              </a:ext>
            </a:extLst>
          </p:cNvPr>
          <p:cNvSpPr>
            <a:spLocks xmlns:a="http://schemas.openxmlformats.org/drawingml/2006/main" noGrp="1"/>
          </p:cNvSpPr>
          <p:nvPr/>
        </p:nvSpPr>
        <p:spPr>
          <a:xfrm xmlns:a="http://schemas.openxmlformats.org/drawingml/2006/main">
            <a:off x="9067800" y="39052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Text   83.3%</a:t>
            </a:r>
          </a:p>
        </p:txBody>
      </p:sp>
      <p:sp>
        <p:nvSpPr>
          <p:cNvPr id="15" name="">
            <a:extLst xmlns:a="http://schemas.openxmlformats.org/drawingml/2006/main">
              <a:ext uri="{FF2B5EF4-FFF2-40B4-BE49-F238E27FC236}">
                <a16:creationId xmlns:a16="http://schemas.microsoft.com/office/drawing/2014/main" id="{CE849117-276D-477A-9BAE-CD1B77A5D8C1}"/>
              </a:ext>
            </a:extLst>
          </p:cNvPr>
          <p:cNvSpPr>
            <a:spLocks xmlns:a="http://schemas.openxmlformats.org/drawingml/2006/main" noGrp="1"/>
          </p:cNvSpPr>
          <p:nvPr/>
        </p:nvSpPr>
        <p:spPr>
          <a:xfrm xmlns:a="http://schemas.openxmlformats.org/drawingml/2006/main">
            <a:off x="9067800" y="426720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05A3C"/>
                </a:solidFill>
                <a:latin typeface="Helvetica Neue"/>
                <a:ea typeface="Helvetica Neue"/>
                <a:cs typeface="Helvetica Neue"/>
              </a:defRPr>
            </a:pPr>
            <a:r>
              <a:rPr sz="1500" b="1">
                <a:solidFill>
                  <a:srgbClr val="F05A3C"/>
                </a:solidFill>
                <a:latin typeface="Helvetica Neue"/>
                <a:ea typeface="Helvetica Neue"/>
                <a:cs typeface="Helvetica Neue"/>
              </a:rPr>
              <a:t>Icon    38.9%</a:t>
            </a:r>
          </a:p>
        </p:txBody>
      </p:sp>
      <p:sp>
        <p:nvSpPr>
          <p:cNvPr id="16" name="">
            <a:extLst xmlns:a="http://schemas.openxmlformats.org/drawingml/2006/main">
              <a:ext uri="{FF2B5EF4-FFF2-40B4-BE49-F238E27FC236}">
                <a16:creationId xmlns:a16="http://schemas.microsoft.com/office/drawing/2014/main" id="{53626B0D-770C-4867-9EA2-C3CA0276FD84}"/>
              </a:ext>
            </a:extLst>
          </p:cNvPr>
          <p:cNvSpPr>
            <a:spLocks xmlns:a="http://schemas.openxmlformats.org/drawingml/2006/main" noGrp="1"/>
          </p:cNvSpPr>
          <p:nvPr/>
        </p:nvSpPr>
        <p:spPr>
          <a:xfrm xmlns:a="http://schemas.openxmlformats.org/drawingml/2006/main">
            <a:off x="9067800" y="4743450"/>
            <a:ext cx="2247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Smaller icon targets lose more of their successful clicks.</a:t>
            </a:r>
          </a:p>
        </p:txBody>
      </p:sp>
      <p:sp>
        <p:nvSpPr>
          <p:cNvPr id="17" name="">
            <a:extLst xmlns:a="http://schemas.openxmlformats.org/drawingml/2006/main">
              <a:ext uri="{FF2B5EF4-FFF2-40B4-BE49-F238E27FC236}">
                <a16:creationId xmlns:a16="http://schemas.microsoft.com/office/drawing/2014/main" id="{44FB17D3-3BE3-46B5-BB7B-BC344D6E8C87}"/>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oundRect">
            <a:avLst>
              <a:gd name="adj" fmla="val 18182"/>
            </a:avLst>
          </a:prstGeom>
          <a:solidFill xmlns:a="http://schemas.openxmlformats.org/drawingml/2006/main">
            <a:srgbClr val="1C273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D19FEDD-9301-4C20-9F8B-DDC170CF1067}"/>
              </a:ext>
            </a:extLst>
          </p:cNvPr>
          <p:cNvSpPr>
            <a:spLocks xmlns:a="http://schemas.openxmlformats.org/drawingml/2006/main" noGrp="1"/>
          </p:cNvSpPr>
          <p:nvPr/>
        </p:nvSpPr>
        <p:spPr>
          <a:xfrm xmlns:a="http://schemas.openxmlformats.org/drawingml/2006/main">
            <a:off x="800100" y="5905500"/>
            <a:ext cx="10591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Reducing each dimension to 25% cuts retained area to 6.25% and success by 88.9 percentage points.</a:t>
            </a:r>
          </a:p>
        </p:txBody>
      </p:sp>
      <p:sp>
        <p:nvSpPr>
          <p:cNvPr id="19" name="">
            <a:extLst xmlns:a="http://schemas.openxmlformats.org/drawingml/2006/main">
              <a:ext uri="{FF2B5EF4-FFF2-40B4-BE49-F238E27FC236}">
                <a16:creationId xmlns:a16="http://schemas.microsoft.com/office/drawing/2014/main" id="{996F4D8C-8948-4FA7-B5C0-8A27C0478180}"/>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A845D81-A262-46C8-83C5-5D4522DCA3BD}"/>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36 selected native successes · 144 deterministic requests · official prompt and normalized 0–1000 coordinates · all outputs valid JSON</a:t>
            </a:r>
          </a:p>
        </p:txBody>
      </p:sp>
    </p:spTree>
    <p:extLst>
      <p:ext uri="{BB962C8B-B14F-4D97-AF65-F5344CB8AC3E}">
        <p14:creationId xmlns:p14="http://schemas.microsoft.com/office/powerpoint/2010/main" val="646326014"/>
      </p:ext>
    </p:extLst>
  </p:cSld>
</p:sld>
</file>

<file path=ppt/slides/slide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5B741507-901E-4EFF-97DA-0C4B1570C0F5}"/>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NEXT EXPERIMENT</a:t>
            </a:r>
          </a:p>
        </p:txBody>
      </p:sp>
      <p:sp>
        <p:nvSpPr>
          <p:cNvPr id="2" name="">
            <a:extLst xmlns:a="http://schemas.openxmlformats.org/drawingml/2006/main">
              <a:ext uri="{FF2B5EF4-FFF2-40B4-BE49-F238E27FC236}">
                <a16:creationId xmlns:a16="http://schemas.microsoft.com/office/drawing/2014/main" id="{7972473D-E584-4884-9BB8-468AA2A2AA76}"/>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001"/>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Does downsampling erase the target signal before the click fails?</a:t>
            </a:r>
          </a:p>
        </p:txBody>
      </p:sp>
      <p:sp>
        <p:nvSpPr>
          <p:cNvPr id="3" name="">
            <a:extLst xmlns:a="http://schemas.openxmlformats.org/drawingml/2006/main">
              <a:ext uri="{FF2B5EF4-FFF2-40B4-BE49-F238E27FC236}">
                <a16:creationId xmlns:a16="http://schemas.microsoft.com/office/drawing/2014/main" id="{8F1EF647-1691-45A8-B78B-2A83F153B55F}"/>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E66DBA37-61AC-44AB-9217-C34F449F1A6A}"/>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Planned paired attribution study on the same frozen ScreenSpot-Pro resolution cohort</a:t>
            </a:r>
          </a:p>
        </p:txBody>
      </p:sp>
      <p:sp>
        <p:nvSpPr>
          <p:cNvPr id="5" name="">
            <a:extLst xmlns:a="http://schemas.openxmlformats.org/drawingml/2006/main">
              <a:ext uri="{FF2B5EF4-FFF2-40B4-BE49-F238E27FC236}">
                <a16:creationId xmlns:a16="http://schemas.microsoft.com/office/drawing/2014/main" id="{1CB70B69-DF8D-4258-B8C3-76EFB3D1F696}"/>
              </a:ext>
            </a:extLst>
          </p:cNvPr>
          <p:cNvSpPr>
            <a:spLocks xmlns:a="http://schemas.openxmlformats.org/drawingml/2006/main" noGrp="1"/>
          </p:cNvSpPr>
          <p:nvPr/>
        </p:nvSpPr>
        <p:spPr>
          <a:xfrm xmlns:a="http://schemas.openxmlformats.org/drawingml/2006/main">
            <a:off x="609600" y="1543050"/>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CONTROLLED INPUTS</a:t>
            </a:r>
          </a:p>
        </p:txBody>
      </p:sp>
      <p:sp>
        <p:nvSpPr>
          <p:cNvPr id="6" name="">
            <a:extLst xmlns:a="http://schemas.openxmlformats.org/drawingml/2006/main">
              <a:ext uri="{FF2B5EF4-FFF2-40B4-BE49-F238E27FC236}">
                <a16:creationId xmlns:a16="http://schemas.microsoft.com/office/drawing/2014/main" id="{63FBB5F4-9328-4EAD-91AA-4CF5CF6B9F7E}"/>
              </a:ext>
            </a:extLst>
          </p:cNvPr>
          <p:cNvSpPr>
            <a:spLocks xmlns:a="http://schemas.openxmlformats.org/drawingml/2006/main" noGrp="1"/>
          </p:cNvSpPr>
          <p:nvPr/>
        </p:nvSpPr>
        <p:spPr>
          <a:xfrm xmlns:a="http://schemas.openxmlformats.org/drawingml/2006/main">
            <a:off x="609600" y="1847850"/>
            <a:ext cx="11811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9D4C8"/>
            </a:solidFill>
          </a:ln>
        </p:spPr>
      </p:sp>
      <p:sp>
        <p:nvSpPr>
          <p:cNvPr id="7" name="">
            <a:extLst xmlns:a="http://schemas.openxmlformats.org/drawingml/2006/main">
              <a:ext uri="{FF2B5EF4-FFF2-40B4-BE49-F238E27FC236}">
                <a16:creationId xmlns:a16="http://schemas.microsoft.com/office/drawing/2014/main" id="{03B0376A-45E9-4302-8E7B-58340AB153D0}"/>
              </a:ext>
            </a:extLst>
          </p:cNvPr>
          <p:cNvSpPr>
            <a:spLocks xmlns:a="http://schemas.openxmlformats.org/drawingml/2006/main" noGrp="1"/>
          </p:cNvSpPr>
          <p:nvPr/>
        </p:nvSpPr>
        <p:spPr>
          <a:xfrm xmlns:a="http://schemas.openxmlformats.org/drawingml/2006/main">
            <a:off x="609600" y="2038350"/>
            <a:ext cx="1181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a:solidFill>
                  <a:srgbClr val="18A875"/>
                </a:solidFill>
                <a:latin typeface="Helvetica Neue"/>
                <a:ea typeface="Helvetica Neue"/>
                <a:cs typeface="Helvetica Neue"/>
              </a:defRPr>
            </a:pPr>
            <a:r>
              <a:rPr sz="2025" b="1">
                <a:solidFill>
                  <a:srgbClr val="18A875"/>
                </a:solidFill>
                <a:latin typeface="Helvetica Neue"/>
                <a:ea typeface="Helvetica Neue"/>
                <a:cs typeface="Helvetica Neue"/>
              </a:rPr>
              <a:t>100%</a:t>
            </a:r>
          </a:p>
        </p:txBody>
      </p:sp>
      <p:sp>
        <p:nvSpPr>
          <p:cNvPr id="8" name="">
            <a:extLst xmlns:a="http://schemas.openxmlformats.org/drawingml/2006/main">
              <a:ext uri="{FF2B5EF4-FFF2-40B4-BE49-F238E27FC236}">
                <a16:creationId xmlns:a16="http://schemas.microsoft.com/office/drawing/2014/main" id="{696D7C7C-D4D4-493B-876A-82A5370DD8FA}"/>
              </a:ext>
            </a:extLst>
          </p:cNvPr>
          <p:cNvSpPr>
            <a:spLocks xmlns:a="http://schemas.openxmlformats.org/drawingml/2006/main" noGrp="1"/>
          </p:cNvSpPr>
          <p:nvPr/>
        </p:nvSpPr>
        <p:spPr>
          <a:xfrm xmlns:a="http://schemas.openxmlformats.org/drawingml/2006/main">
            <a:off x="609600" y="2457450"/>
            <a:ext cx="1181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100% area</a:t>
            </a:r>
          </a:p>
        </p:txBody>
      </p:sp>
      <p:sp>
        <p:nvSpPr>
          <p:cNvPr id="9" name="">
            <a:extLst xmlns:a="http://schemas.openxmlformats.org/drawingml/2006/main">
              <a:ext uri="{FF2B5EF4-FFF2-40B4-BE49-F238E27FC236}">
                <a16:creationId xmlns:a16="http://schemas.microsoft.com/office/drawing/2014/main" id="{25D3E404-247D-491D-AE82-E4877340FD00}"/>
              </a:ext>
            </a:extLst>
          </p:cNvPr>
          <p:cNvSpPr>
            <a:spLocks xmlns:a="http://schemas.openxmlformats.org/drawingml/2006/main" noGrp="1"/>
          </p:cNvSpPr>
          <p:nvPr/>
        </p:nvSpPr>
        <p:spPr>
          <a:xfrm xmlns:a="http://schemas.openxmlformats.org/drawingml/2006/main">
            <a:off x="1962150" y="1847850"/>
            <a:ext cx="11811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9D4C8"/>
            </a:solidFill>
          </a:ln>
        </p:spPr>
      </p:sp>
      <p:sp>
        <p:nvSpPr>
          <p:cNvPr id="10" name="">
            <a:extLst xmlns:a="http://schemas.openxmlformats.org/drawingml/2006/main">
              <a:ext uri="{FF2B5EF4-FFF2-40B4-BE49-F238E27FC236}">
                <a16:creationId xmlns:a16="http://schemas.microsoft.com/office/drawing/2014/main" id="{6D64CF03-9072-433C-979B-CEE86DE28B68}"/>
              </a:ext>
            </a:extLst>
          </p:cNvPr>
          <p:cNvSpPr>
            <a:spLocks xmlns:a="http://schemas.openxmlformats.org/drawingml/2006/main" noGrp="1"/>
          </p:cNvSpPr>
          <p:nvPr/>
        </p:nvSpPr>
        <p:spPr>
          <a:xfrm xmlns:a="http://schemas.openxmlformats.org/drawingml/2006/main">
            <a:off x="1962150" y="2038350"/>
            <a:ext cx="1181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a:solidFill>
                  <a:srgbClr val="2D84D3"/>
                </a:solidFill>
                <a:latin typeface="Helvetica Neue"/>
                <a:ea typeface="Helvetica Neue"/>
                <a:cs typeface="Helvetica Neue"/>
              </a:defRPr>
            </a:pPr>
            <a:r>
              <a:rPr sz="2025" b="1">
                <a:solidFill>
                  <a:srgbClr val="2D84D3"/>
                </a:solidFill>
                <a:latin typeface="Helvetica Neue"/>
                <a:ea typeface="Helvetica Neue"/>
                <a:cs typeface="Helvetica Neue"/>
              </a:rPr>
              <a:t>75%</a:t>
            </a:r>
          </a:p>
        </p:txBody>
      </p:sp>
      <p:sp>
        <p:nvSpPr>
          <p:cNvPr id="11" name="">
            <a:extLst xmlns:a="http://schemas.openxmlformats.org/drawingml/2006/main">
              <a:ext uri="{FF2B5EF4-FFF2-40B4-BE49-F238E27FC236}">
                <a16:creationId xmlns:a16="http://schemas.microsoft.com/office/drawing/2014/main" id="{3D2FAA06-8AC1-46F5-B0B3-A0D467568EC7}"/>
              </a:ext>
            </a:extLst>
          </p:cNvPr>
          <p:cNvSpPr>
            <a:spLocks xmlns:a="http://schemas.openxmlformats.org/drawingml/2006/main" noGrp="1"/>
          </p:cNvSpPr>
          <p:nvPr/>
        </p:nvSpPr>
        <p:spPr>
          <a:xfrm xmlns:a="http://schemas.openxmlformats.org/drawingml/2006/main">
            <a:off x="1962150" y="2457450"/>
            <a:ext cx="1181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56% area</a:t>
            </a:r>
          </a:p>
        </p:txBody>
      </p:sp>
      <p:sp>
        <p:nvSpPr>
          <p:cNvPr id="12" name="">
            <a:extLst xmlns:a="http://schemas.openxmlformats.org/drawingml/2006/main">
              <a:ext uri="{FF2B5EF4-FFF2-40B4-BE49-F238E27FC236}">
                <a16:creationId xmlns:a16="http://schemas.microsoft.com/office/drawing/2014/main" id="{9086D70A-E3FD-4417-B36B-9C67B20FF42C}"/>
              </a:ext>
            </a:extLst>
          </p:cNvPr>
          <p:cNvSpPr>
            <a:spLocks xmlns:a="http://schemas.openxmlformats.org/drawingml/2006/main" noGrp="1"/>
          </p:cNvSpPr>
          <p:nvPr/>
        </p:nvSpPr>
        <p:spPr>
          <a:xfrm xmlns:a="http://schemas.openxmlformats.org/drawingml/2006/main">
            <a:off x="3314700" y="1847850"/>
            <a:ext cx="11811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01DBEBBB-70AE-46D6-8D1B-A23B9BF27B07}"/>
              </a:ext>
            </a:extLst>
          </p:cNvPr>
          <p:cNvSpPr>
            <a:spLocks xmlns:a="http://schemas.openxmlformats.org/drawingml/2006/main" noGrp="1"/>
          </p:cNvSpPr>
          <p:nvPr/>
        </p:nvSpPr>
        <p:spPr>
          <a:xfrm xmlns:a="http://schemas.openxmlformats.org/drawingml/2006/main">
            <a:off x="3314700" y="2038350"/>
            <a:ext cx="1181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a:solidFill>
                  <a:srgbClr val="2D84D3"/>
                </a:solidFill>
                <a:latin typeface="Helvetica Neue"/>
                <a:ea typeface="Helvetica Neue"/>
                <a:cs typeface="Helvetica Neue"/>
              </a:defRPr>
            </a:pPr>
            <a:r>
              <a:rPr sz="2025" b="1">
                <a:solidFill>
                  <a:srgbClr val="2D84D3"/>
                </a:solidFill>
                <a:latin typeface="Helvetica Neue"/>
                <a:ea typeface="Helvetica Neue"/>
                <a:cs typeface="Helvetica Neue"/>
              </a:rPr>
              <a:t>50%</a:t>
            </a:r>
          </a:p>
        </p:txBody>
      </p:sp>
      <p:sp>
        <p:nvSpPr>
          <p:cNvPr id="14" name="">
            <a:extLst xmlns:a="http://schemas.openxmlformats.org/drawingml/2006/main">
              <a:ext uri="{FF2B5EF4-FFF2-40B4-BE49-F238E27FC236}">
                <a16:creationId xmlns:a16="http://schemas.microsoft.com/office/drawing/2014/main" id="{73CEF2F3-035D-4A88-A0D1-00ED6D5E4DEA}"/>
              </a:ext>
            </a:extLst>
          </p:cNvPr>
          <p:cNvSpPr>
            <a:spLocks xmlns:a="http://schemas.openxmlformats.org/drawingml/2006/main" noGrp="1"/>
          </p:cNvSpPr>
          <p:nvPr/>
        </p:nvSpPr>
        <p:spPr>
          <a:xfrm xmlns:a="http://schemas.openxmlformats.org/drawingml/2006/main">
            <a:off x="3314700" y="2457450"/>
            <a:ext cx="1181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25% area</a:t>
            </a:r>
          </a:p>
        </p:txBody>
      </p:sp>
      <p:sp>
        <p:nvSpPr>
          <p:cNvPr id="15" name="">
            <a:extLst xmlns:a="http://schemas.openxmlformats.org/drawingml/2006/main">
              <a:ext uri="{FF2B5EF4-FFF2-40B4-BE49-F238E27FC236}">
                <a16:creationId xmlns:a16="http://schemas.microsoft.com/office/drawing/2014/main" id="{D2E66DD9-C5E4-4641-A054-692D29274D4E}"/>
              </a:ext>
            </a:extLst>
          </p:cNvPr>
          <p:cNvSpPr>
            <a:spLocks xmlns:a="http://schemas.openxmlformats.org/drawingml/2006/main" noGrp="1"/>
          </p:cNvSpPr>
          <p:nvPr/>
        </p:nvSpPr>
        <p:spPr>
          <a:xfrm xmlns:a="http://schemas.openxmlformats.org/drawingml/2006/main">
            <a:off x="4667250" y="1847850"/>
            <a:ext cx="11811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9D4C8"/>
            </a:solidFill>
          </a:ln>
        </p:spPr>
      </p:sp>
      <p:sp>
        <p:nvSpPr>
          <p:cNvPr id="16" name="">
            <a:extLst xmlns:a="http://schemas.openxmlformats.org/drawingml/2006/main">
              <a:ext uri="{FF2B5EF4-FFF2-40B4-BE49-F238E27FC236}">
                <a16:creationId xmlns:a16="http://schemas.microsoft.com/office/drawing/2014/main" id="{D6B11581-FAA1-4E85-A86E-470A902B2E47}"/>
              </a:ext>
            </a:extLst>
          </p:cNvPr>
          <p:cNvSpPr>
            <a:spLocks xmlns:a="http://schemas.openxmlformats.org/drawingml/2006/main" noGrp="1"/>
          </p:cNvSpPr>
          <p:nvPr/>
        </p:nvSpPr>
        <p:spPr>
          <a:xfrm xmlns:a="http://schemas.openxmlformats.org/drawingml/2006/main">
            <a:off x="4667250" y="2038350"/>
            <a:ext cx="1181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a:solidFill>
                  <a:srgbClr val="F05A3C"/>
                </a:solidFill>
                <a:latin typeface="Helvetica Neue"/>
                <a:ea typeface="Helvetica Neue"/>
                <a:cs typeface="Helvetica Neue"/>
              </a:defRPr>
            </a:pPr>
            <a:r>
              <a:rPr sz="2025" b="1">
                <a:solidFill>
                  <a:srgbClr val="F05A3C"/>
                </a:solidFill>
                <a:latin typeface="Helvetica Neue"/>
                <a:ea typeface="Helvetica Neue"/>
                <a:cs typeface="Helvetica Neue"/>
              </a:rPr>
              <a:t>25%</a:t>
            </a:r>
          </a:p>
        </p:txBody>
      </p:sp>
      <p:sp>
        <p:nvSpPr>
          <p:cNvPr id="17" name="">
            <a:extLst xmlns:a="http://schemas.openxmlformats.org/drawingml/2006/main">
              <a:ext uri="{FF2B5EF4-FFF2-40B4-BE49-F238E27FC236}">
                <a16:creationId xmlns:a16="http://schemas.microsoft.com/office/drawing/2014/main" id="{A05E5229-2306-4631-B912-FBF46AA59ED8}"/>
              </a:ext>
            </a:extLst>
          </p:cNvPr>
          <p:cNvSpPr>
            <a:spLocks xmlns:a="http://schemas.openxmlformats.org/drawingml/2006/main" noGrp="1"/>
          </p:cNvSpPr>
          <p:nvPr/>
        </p:nvSpPr>
        <p:spPr>
          <a:xfrm xmlns:a="http://schemas.openxmlformats.org/drawingml/2006/main">
            <a:off x="4667250" y="2457450"/>
            <a:ext cx="1181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6.25% area</a:t>
            </a:r>
          </a:p>
        </p:txBody>
      </p:sp>
      <p:sp>
        <p:nvSpPr>
          <p:cNvPr id="18" name="">
            <a:extLst xmlns:a="http://schemas.openxmlformats.org/drawingml/2006/main">
              <a:ext uri="{FF2B5EF4-FFF2-40B4-BE49-F238E27FC236}">
                <a16:creationId xmlns:a16="http://schemas.microsoft.com/office/drawing/2014/main" id="{0A9B08F0-48E2-49DD-B090-6281FD342DE8}"/>
              </a:ext>
            </a:extLst>
          </p:cNvPr>
          <p:cNvSpPr>
            <a:spLocks xmlns:a="http://schemas.openxmlformats.org/drawingml/2006/main" noGrp="1"/>
          </p:cNvSpPr>
          <p:nvPr/>
        </p:nvSpPr>
        <p:spPr>
          <a:xfrm xmlns:a="http://schemas.openxmlformats.org/drawingml/2006/main">
            <a:off x="609600" y="308610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6717D"/>
                </a:solidFill>
                <a:latin typeface="Helvetica Neue"/>
                <a:ea typeface="Helvetica Neue"/>
                <a:cs typeface="Helvetica Neue"/>
              </a:defRPr>
            </a:pPr>
            <a:r>
              <a:rPr sz="1200" b="0">
                <a:solidFill>
                  <a:srgbClr val="66717D"/>
                </a:solidFill>
                <a:latin typeface="Helvetica Neue"/>
                <a:ea typeface="Helvetica Neue"/>
                <a:cs typeface="Helvetica Neue"/>
              </a:rPr>
              <a:t>Same item, instruction, prompt, coordinate contract, and decoding settings</a:t>
            </a:r>
          </a:p>
        </p:txBody>
      </p:sp>
      <p:sp>
        <p:nvSpPr>
          <p:cNvPr id="19" name="">
            <a:extLst xmlns:a="http://schemas.openxmlformats.org/drawingml/2006/main">
              <a:ext uri="{FF2B5EF4-FFF2-40B4-BE49-F238E27FC236}">
                <a16:creationId xmlns:a16="http://schemas.microsoft.com/office/drawing/2014/main" id="{FE32A712-3767-4514-8816-F93BCF516B7C}"/>
              </a:ext>
            </a:extLst>
          </p:cNvPr>
          <p:cNvSpPr>
            <a:spLocks xmlns:a="http://schemas.openxmlformats.org/drawingml/2006/main" noGrp="1"/>
          </p:cNvSpPr>
          <p:nvPr/>
        </p:nvSpPr>
        <p:spPr>
          <a:xfrm xmlns:a="http://schemas.openxmlformats.org/drawingml/2006/main">
            <a:off x="6191250" y="1543050"/>
            <a:ext cx="5391150" cy="1943100"/>
          </a:xfrm>
          <a:prstGeom xmlns:a="http://schemas.openxmlformats.org/drawingml/2006/main" prst="roundRect">
            <a:avLst>
              <a:gd name="adj" fmla="val 3922"/>
            </a:avLst>
          </a:prstGeom>
          <a:solidFill xmlns:a="http://schemas.openxmlformats.org/drawingml/2006/main">
            <a:srgbClr val="1C273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41B7A36-8665-4A00-AC11-33CC171E8778}"/>
              </a:ext>
            </a:extLst>
          </p:cNvPr>
          <p:cNvSpPr>
            <a:spLocks xmlns:a="http://schemas.openxmlformats.org/drawingml/2006/main" noGrp="1"/>
          </p:cNvSpPr>
          <p:nvPr/>
        </p:nvSpPr>
        <p:spPr>
          <a:xfrm xmlns:a="http://schemas.openxmlformats.org/drawingml/2006/main">
            <a:off x="6457950" y="179070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PRIMARY ATTRIBUTION</a:t>
            </a:r>
          </a:p>
        </p:txBody>
      </p:sp>
      <p:sp>
        <p:nvSpPr>
          <p:cNvPr id="21" name="">
            <a:extLst xmlns:a="http://schemas.openxmlformats.org/drawingml/2006/main">
              <a:ext uri="{FF2B5EF4-FFF2-40B4-BE49-F238E27FC236}">
                <a16:creationId xmlns:a16="http://schemas.microsoft.com/office/drawing/2014/main" id="{E9378244-25B4-4D23-9BC7-361643AC744C}"/>
              </a:ext>
            </a:extLst>
          </p:cNvPr>
          <p:cNvSpPr>
            <a:spLocks xmlns:a="http://schemas.openxmlformats.org/drawingml/2006/main" noGrp="1"/>
          </p:cNvSpPr>
          <p:nvPr/>
        </p:nvSpPr>
        <p:spPr>
          <a:xfrm xmlns:a="http://schemas.openxmlformats.org/drawingml/2006/main">
            <a:off x="6457950" y="213360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Value-norm rollout</a:t>
            </a:r>
          </a:p>
        </p:txBody>
      </p:sp>
      <p:sp>
        <p:nvSpPr>
          <p:cNvPr id="22" name="">
            <a:extLst xmlns:a="http://schemas.openxmlformats.org/drawingml/2006/main">
              <a:ext uri="{FF2B5EF4-FFF2-40B4-BE49-F238E27FC236}">
                <a16:creationId xmlns:a16="http://schemas.microsoft.com/office/drawing/2014/main" id="{9415CD8F-D3CA-400B-9D26-9295FB191794}"/>
              </a:ext>
            </a:extLst>
          </p:cNvPr>
          <p:cNvSpPr>
            <a:spLocks xmlns:a="http://schemas.openxmlformats.org/drawingml/2006/main" noGrp="1"/>
          </p:cNvSpPr>
          <p:nvPr/>
        </p:nvSpPr>
        <p:spPr>
          <a:xfrm xmlns:a="http://schemas.openxmlformats.org/drawingml/2006/main">
            <a:off x="6457950" y="249555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C4CED7"/>
                </a:solidFill>
                <a:latin typeface="Helvetica Neue"/>
                <a:ea typeface="Helvetica Neue"/>
                <a:cs typeface="Helvetica Neue"/>
              </a:defRPr>
            </a:pPr>
            <a:r>
              <a:rPr sz="1275" b="0">
                <a:solidFill>
                  <a:srgbClr val="C4CED7"/>
                </a:solidFill>
                <a:latin typeface="Helvetica Neue"/>
                <a:ea typeface="Helvetica Neue"/>
                <a:cs typeface="Helvetica Neue"/>
              </a:rPr>
              <a:t>minus the mean of four visible same-image alternate instructions</a:t>
            </a:r>
          </a:p>
        </p:txBody>
      </p:sp>
      <p:sp>
        <p:nvSpPr>
          <p:cNvPr id="23" name="">
            <a:extLst xmlns:a="http://schemas.openxmlformats.org/drawingml/2006/main">
              <a:ext uri="{FF2B5EF4-FFF2-40B4-BE49-F238E27FC236}">
                <a16:creationId xmlns:a16="http://schemas.microsoft.com/office/drawing/2014/main" id="{767117A0-E8F1-4F3D-8919-B4277B20C0E5}"/>
              </a:ext>
            </a:extLst>
          </p:cNvPr>
          <p:cNvSpPr>
            <a:spLocks xmlns:a="http://schemas.openxmlformats.org/drawingml/2006/main" noGrp="1"/>
          </p:cNvSpPr>
          <p:nvPr/>
        </p:nvSpPr>
        <p:spPr>
          <a:xfrm xmlns:a="http://schemas.openxmlformats.org/drawingml/2006/main">
            <a:off x="6457950" y="3086100"/>
            <a:ext cx="457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8FE0BF"/>
                </a:solidFill>
                <a:latin typeface="Helvetica Neue"/>
                <a:ea typeface="Helvetica Neue"/>
                <a:cs typeface="Helvetica Neue"/>
              </a:defRPr>
            </a:pPr>
            <a:r>
              <a:rPr sz="1050" b="1">
                <a:solidFill>
                  <a:srgbClr val="8FE0BF"/>
                </a:solidFill>
                <a:latin typeface="Helvetica Neue"/>
                <a:ea typeface="Helvetica Neue"/>
                <a:cs typeface="Helvetica Neue"/>
              </a:rPr>
              <a:t>Compare retained clicks with clicks lost after downsampling</a:t>
            </a:r>
          </a:p>
        </p:txBody>
      </p:sp>
      <p:sp>
        <p:nvSpPr>
          <p:cNvPr id="24" name="">
            <a:extLst xmlns:a="http://schemas.openxmlformats.org/drawingml/2006/main">
              <a:ext uri="{FF2B5EF4-FFF2-40B4-BE49-F238E27FC236}">
                <a16:creationId xmlns:a16="http://schemas.microsoft.com/office/drawing/2014/main" id="{C37E92BD-66AC-4AA1-81CA-8554CAD631E0}"/>
              </a:ext>
            </a:extLst>
          </p:cNvPr>
          <p:cNvSpPr>
            <a:spLocks xmlns:a="http://schemas.openxmlformats.org/drawingml/2006/main" noGrp="1"/>
          </p:cNvSpPr>
          <p:nvPr/>
        </p:nvSpPr>
        <p:spPr>
          <a:xfrm xmlns:a="http://schemas.openxmlformats.org/drawingml/2006/main">
            <a:off x="609600" y="381000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MEASURE</a:t>
            </a:r>
          </a:p>
        </p:txBody>
      </p:sp>
      <p:sp>
        <p:nvSpPr>
          <p:cNvPr id="25" name="">
            <a:extLst xmlns:a="http://schemas.openxmlformats.org/drawingml/2006/main">
              <a:ext uri="{FF2B5EF4-FFF2-40B4-BE49-F238E27FC236}">
                <a16:creationId xmlns:a16="http://schemas.microsoft.com/office/drawing/2014/main" id="{0BF5AB22-F867-4037-A633-2C1F0B10E994}"/>
              </a:ext>
            </a:extLst>
          </p:cNvPr>
          <p:cNvSpPr>
            <a:spLocks xmlns:a="http://schemas.openxmlformats.org/drawingml/2006/main" noGrp="1"/>
          </p:cNvSpPr>
          <p:nvPr/>
        </p:nvSpPr>
        <p:spPr>
          <a:xfrm xmlns:a="http://schemas.openxmlformats.org/drawingml/2006/main">
            <a:off x="609600" y="4095750"/>
            <a:ext cx="337185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9D4C8"/>
            </a:solidFill>
          </a:ln>
        </p:spPr>
      </p:sp>
      <p:sp>
        <p:nvSpPr>
          <p:cNvPr id="26" name="">
            <a:extLst xmlns:a="http://schemas.openxmlformats.org/drawingml/2006/main">
              <a:ext uri="{FF2B5EF4-FFF2-40B4-BE49-F238E27FC236}">
                <a16:creationId xmlns:a16="http://schemas.microsoft.com/office/drawing/2014/main" id="{1E366898-B64D-44D3-A7E3-FB3B9F25905C}"/>
              </a:ext>
            </a:extLst>
          </p:cNvPr>
          <p:cNvSpPr>
            <a:spLocks xmlns:a="http://schemas.openxmlformats.org/drawingml/2006/main" noGrp="1"/>
          </p:cNvSpPr>
          <p:nvPr/>
        </p:nvSpPr>
        <p:spPr>
          <a:xfrm xmlns:a="http://schemas.openxmlformats.org/drawingml/2006/main">
            <a:off x="800100" y="4286250"/>
            <a:ext cx="4000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5F509BF-E4A2-4C4C-B734-08219A0E73B6}"/>
              </a:ext>
            </a:extLst>
          </p:cNvPr>
          <p:cNvSpPr>
            <a:spLocks xmlns:a="http://schemas.openxmlformats.org/drawingml/2006/main" noGrp="1"/>
          </p:cNvSpPr>
          <p:nvPr/>
        </p:nvSpPr>
        <p:spPr>
          <a:xfrm xmlns:a="http://schemas.openxmlformats.org/drawingml/2006/main">
            <a:off x="895350" y="4305300"/>
            <a:ext cx="209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28" name="">
            <a:extLst xmlns:a="http://schemas.openxmlformats.org/drawingml/2006/main">
              <a:ext uri="{FF2B5EF4-FFF2-40B4-BE49-F238E27FC236}">
                <a16:creationId xmlns:a16="http://schemas.microsoft.com/office/drawing/2014/main" id="{E6BA1337-BFD4-489F-812E-CF0BAD082BB3}"/>
              </a:ext>
            </a:extLst>
          </p:cNvPr>
          <p:cNvSpPr>
            <a:spLocks xmlns:a="http://schemas.openxmlformats.org/drawingml/2006/main" noGrp="1"/>
          </p:cNvSpPr>
          <p:nvPr/>
        </p:nvSpPr>
        <p:spPr>
          <a:xfrm xmlns:a="http://schemas.openxmlformats.org/drawingml/2006/main">
            <a:off x="1352550" y="43053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Target mass and lift</a:t>
            </a:r>
          </a:p>
        </p:txBody>
      </p:sp>
      <p:sp>
        <p:nvSpPr>
          <p:cNvPr id="29" name="">
            <a:extLst xmlns:a="http://schemas.openxmlformats.org/drawingml/2006/main">
              <a:ext uri="{FF2B5EF4-FFF2-40B4-BE49-F238E27FC236}">
                <a16:creationId xmlns:a16="http://schemas.microsoft.com/office/drawing/2014/main" id="{14F0CF66-326B-4FDD-97C1-7DA928847148}"/>
              </a:ext>
            </a:extLst>
          </p:cNvPr>
          <p:cNvSpPr>
            <a:spLocks xmlns:a="http://schemas.openxmlformats.org/drawingml/2006/main" noGrp="1"/>
          </p:cNvSpPr>
          <p:nvPr/>
        </p:nvSpPr>
        <p:spPr>
          <a:xfrm xmlns:a="http://schemas.openxmlformats.org/drawingml/2006/main">
            <a:off x="819150" y="4686300"/>
            <a:ext cx="295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Does instruction-specific attribution remain concentrated in the annotated box?</a:t>
            </a:r>
          </a:p>
        </p:txBody>
      </p:sp>
      <p:sp>
        <p:nvSpPr>
          <p:cNvPr id="30" name="">
            <a:extLst xmlns:a="http://schemas.openxmlformats.org/drawingml/2006/main">
              <a:ext uri="{FF2B5EF4-FFF2-40B4-BE49-F238E27FC236}">
                <a16:creationId xmlns:a16="http://schemas.microsoft.com/office/drawing/2014/main" id="{785A25F8-BD4D-466E-B59E-F068E94A7652}"/>
              </a:ext>
            </a:extLst>
          </p:cNvPr>
          <p:cNvSpPr>
            <a:spLocks xmlns:a="http://schemas.openxmlformats.org/drawingml/2006/main" noGrp="1"/>
          </p:cNvSpPr>
          <p:nvPr/>
        </p:nvSpPr>
        <p:spPr>
          <a:xfrm xmlns:a="http://schemas.openxmlformats.org/drawingml/2006/main">
            <a:off x="4267200" y="4095750"/>
            <a:ext cx="337185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9D4C8"/>
            </a:solidFill>
          </a:ln>
        </p:spPr>
      </p:sp>
      <p:sp>
        <p:nvSpPr>
          <p:cNvPr id="31" name="">
            <a:extLst xmlns:a="http://schemas.openxmlformats.org/drawingml/2006/main">
              <a:ext uri="{FF2B5EF4-FFF2-40B4-BE49-F238E27FC236}">
                <a16:creationId xmlns:a16="http://schemas.microsoft.com/office/drawing/2014/main" id="{EF0DD439-F00C-4821-BA6E-0A8F04E40A12}"/>
              </a:ext>
            </a:extLst>
          </p:cNvPr>
          <p:cNvSpPr>
            <a:spLocks xmlns:a="http://schemas.openxmlformats.org/drawingml/2006/main" noGrp="1"/>
          </p:cNvSpPr>
          <p:nvPr/>
        </p:nvSpPr>
        <p:spPr>
          <a:xfrm xmlns:a="http://schemas.openxmlformats.org/drawingml/2006/main">
            <a:off x="4457700" y="4286250"/>
            <a:ext cx="4000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2E72DE74-C0C3-4006-8DAB-AFED9D5A4BE8}"/>
              </a:ext>
            </a:extLst>
          </p:cNvPr>
          <p:cNvSpPr>
            <a:spLocks xmlns:a="http://schemas.openxmlformats.org/drawingml/2006/main" noGrp="1"/>
          </p:cNvSpPr>
          <p:nvPr/>
        </p:nvSpPr>
        <p:spPr>
          <a:xfrm xmlns:a="http://schemas.openxmlformats.org/drawingml/2006/main">
            <a:off x="4552950" y="4305300"/>
            <a:ext cx="209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33" name="">
            <a:extLst xmlns:a="http://schemas.openxmlformats.org/drawingml/2006/main">
              <a:ext uri="{FF2B5EF4-FFF2-40B4-BE49-F238E27FC236}">
                <a16:creationId xmlns:a16="http://schemas.microsoft.com/office/drawing/2014/main" id="{4CAB4831-6452-4FF5-8400-D2408EE75AB2}"/>
              </a:ext>
            </a:extLst>
          </p:cNvPr>
          <p:cNvSpPr>
            <a:spLocks xmlns:a="http://schemas.openxmlformats.org/drawingml/2006/main" noGrp="1"/>
          </p:cNvSpPr>
          <p:nvPr/>
        </p:nvSpPr>
        <p:spPr>
          <a:xfrm xmlns:a="http://schemas.openxmlformats.org/drawingml/2006/main">
            <a:off x="5010150" y="43053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Peak distance and patch rank</a:t>
            </a:r>
          </a:p>
        </p:txBody>
      </p:sp>
      <p:sp>
        <p:nvSpPr>
          <p:cNvPr id="34" name="">
            <a:extLst xmlns:a="http://schemas.openxmlformats.org/drawingml/2006/main">
              <a:ext uri="{FF2B5EF4-FFF2-40B4-BE49-F238E27FC236}">
                <a16:creationId xmlns:a16="http://schemas.microsoft.com/office/drawing/2014/main" id="{6CBC9C82-A136-42C9-B443-1205AF9EE3E2}"/>
              </a:ext>
            </a:extLst>
          </p:cNvPr>
          <p:cNvSpPr>
            <a:spLocks xmlns:a="http://schemas.openxmlformats.org/drawingml/2006/main" noGrp="1"/>
          </p:cNvSpPr>
          <p:nvPr/>
        </p:nvSpPr>
        <p:spPr>
          <a:xfrm xmlns:a="http://schemas.openxmlformats.org/drawingml/2006/main">
            <a:off x="4476750" y="4686300"/>
            <a:ext cx="295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Does the strongest patch move away before the generated coordinate drifts?</a:t>
            </a:r>
          </a:p>
        </p:txBody>
      </p:sp>
      <p:sp>
        <p:nvSpPr>
          <p:cNvPr id="35" name="">
            <a:extLst xmlns:a="http://schemas.openxmlformats.org/drawingml/2006/main">
              <a:ext uri="{FF2B5EF4-FFF2-40B4-BE49-F238E27FC236}">
                <a16:creationId xmlns:a16="http://schemas.microsoft.com/office/drawing/2014/main" id="{2C6ECF53-DD52-4B66-93BE-B037E45E2703}"/>
              </a:ext>
            </a:extLst>
          </p:cNvPr>
          <p:cNvSpPr>
            <a:spLocks xmlns:a="http://schemas.openxmlformats.org/drawingml/2006/main" noGrp="1"/>
          </p:cNvSpPr>
          <p:nvPr/>
        </p:nvSpPr>
        <p:spPr>
          <a:xfrm xmlns:a="http://schemas.openxmlformats.org/drawingml/2006/main">
            <a:off x="7924800" y="4095750"/>
            <a:ext cx="337185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9D4C8"/>
            </a:solidFill>
          </a:ln>
        </p:spPr>
      </p:sp>
      <p:sp>
        <p:nvSpPr>
          <p:cNvPr id="36" name="">
            <a:extLst xmlns:a="http://schemas.openxmlformats.org/drawingml/2006/main">
              <a:ext uri="{FF2B5EF4-FFF2-40B4-BE49-F238E27FC236}">
                <a16:creationId xmlns:a16="http://schemas.microsoft.com/office/drawing/2014/main" id="{8111990A-DF8B-4989-9494-3AA54DAA62DA}"/>
              </a:ext>
            </a:extLst>
          </p:cNvPr>
          <p:cNvSpPr>
            <a:spLocks xmlns:a="http://schemas.openxmlformats.org/drawingml/2006/main" noGrp="1"/>
          </p:cNvSpPr>
          <p:nvPr/>
        </p:nvSpPr>
        <p:spPr>
          <a:xfrm xmlns:a="http://schemas.openxmlformats.org/drawingml/2006/main">
            <a:off x="8115300" y="4286250"/>
            <a:ext cx="4000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BC8B4973-BF5F-48B4-A929-A5F577BBB90F}"/>
              </a:ext>
            </a:extLst>
          </p:cNvPr>
          <p:cNvSpPr>
            <a:spLocks xmlns:a="http://schemas.openxmlformats.org/drawingml/2006/main" noGrp="1"/>
          </p:cNvSpPr>
          <p:nvPr/>
        </p:nvSpPr>
        <p:spPr>
          <a:xfrm xmlns:a="http://schemas.openxmlformats.org/drawingml/2006/main">
            <a:off x="8210550" y="4305300"/>
            <a:ext cx="209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38" name="">
            <a:extLst xmlns:a="http://schemas.openxmlformats.org/drawingml/2006/main">
              <a:ext uri="{FF2B5EF4-FFF2-40B4-BE49-F238E27FC236}">
                <a16:creationId xmlns:a16="http://schemas.microsoft.com/office/drawing/2014/main" id="{2B61D94C-2920-4AC2-AD8A-6B9BD0E4D722}"/>
              </a:ext>
            </a:extLst>
          </p:cNvPr>
          <p:cNvSpPr>
            <a:spLocks xmlns:a="http://schemas.openxmlformats.org/drawingml/2006/main" noGrp="1"/>
          </p:cNvSpPr>
          <p:nvPr/>
        </p:nvSpPr>
        <p:spPr>
          <a:xfrm xmlns:a="http://schemas.openxmlformats.org/drawingml/2006/main">
            <a:off x="8667750" y="43053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Retained versus lost clicks</a:t>
            </a:r>
          </a:p>
        </p:txBody>
      </p:sp>
      <p:sp>
        <p:nvSpPr>
          <p:cNvPr id="39" name="">
            <a:extLst xmlns:a="http://schemas.openxmlformats.org/drawingml/2006/main">
              <a:ext uri="{FF2B5EF4-FFF2-40B4-BE49-F238E27FC236}">
                <a16:creationId xmlns:a16="http://schemas.microsoft.com/office/drawing/2014/main" id="{FE3A48C3-0760-4241-855F-261ACE00597D}"/>
              </a:ext>
            </a:extLst>
          </p:cNvPr>
          <p:cNvSpPr>
            <a:spLocks xmlns:a="http://schemas.openxmlformats.org/drawingml/2006/main" noGrp="1"/>
          </p:cNvSpPr>
          <p:nvPr/>
        </p:nvSpPr>
        <p:spPr>
          <a:xfrm xmlns:a="http://schemas.openxmlformats.org/drawingml/2006/main">
            <a:off x="8134350" y="4686300"/>
            <a:ext cx="295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Which failure mode separates the two groups as resolution falls?</a:t>
            </a:r>
          </a:p>
        </p:txBody>
      </p:sp>
      <p:sp>
        <p:nvSpPr>
          <p:cNvPr id="40" name="">
            <a:extLst xmlns:a="http://schemas.openxmlformats.org/drawingml/2006/main">
              <a:ext uri="{FF2B5EF4-FFF2-40B4-BE49-F238E27FC236}">
                <a16:creationId xmlns:a16="http://schemas.microsoft.com/office/drawing/2014/main" id="{7806578B-D91F-4983-9777-9E9070435D2C}"/>
              </a:ext>
            </a:extLst>
          </p:cNvPr>
          <p:cNvSpPr>
            <a:spLocks xmlns:a="http://schemas.openxmlformats.org/drawingml/2006/main" noGrp="1"/>
          </p:cNvSpPr>
          <p:nvPr/>
        </p:nvSpPr>
        <p:spPr>
          <a:xfrm xmlns:a="http://schemas.openxmlformats.org/drawingml/2006/main">
            <a:off x="609600" y="5600700"/>
            <a:ext cx="109728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CB20CA3E-B591-47B4-9A9F-764C71EC77F4}"/>
              </a:ext>
            </a:extLst>
          </p:cNvPr>
          <p:cNvSpPr>
            <a:spLocks xmlns:a="http://schemas.openxmlformats.org/drawingml/2006/main" noGrp="1"/>
          </p:cNvSpPr>
          <p:nvPr/>
        </p:nvSpPr>
        <p:spPr>
          <a:xfrm xmlns:a="http://schemas.openxmlformats.org/drawingml/2006/main">
            <a:off x="800100" y="5743575"/>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F05A3C"/>
                </a:solidFill>
                <a:latin typeface="Helvetica Neue"/>
                <a:ea typeface="Helvetica Neue"/>
                <a:cs typeface="Helvetica Neue"/>
              </a:defRPr>
            </a:pPr>
            <a:r>
              <a:rPr sz="1350" b="1">
                <a:solidFill>
                  <a:srgbClr val="F05A3C"/>
                </a:solidFill>
                <a:latin typeface="Helvetica Neue"/>
                <a:ea typeface="Helvetica Neue"/>
                <a:cs typeface="Helvetica Neue"/>
              </a:rPr>
              <a:t>Signal collapses: improve visual encoding</a:t>
            </a:r>
          </a:p>
        </p:txBody>
      </p:sp>
      <p:sp>
        <p:nvSpPr>
          <p:cNvPr id="42" name="">
            <a:extLst xmlns:a="http://schemas.openxmlformats.org/drawingml/2006/main">
              <a:ext uri="{FF2B5EF4-FFF2-40B4-BE49-F238E27FC236}">
                <a16:creationId xmlns:a16="http://schemas.microsoft.com/office/drawing/2014/main" id="{16246D2A-CF02-4D2D-8CEF-9AD3961C8BEB}"/>
              </a:ext>
            </a:extLst>
          </p:cNvPr>
          <p:cNvSpPr>
            <a:spLocks xmlns:a="http://schemas.openxmlformats.org/drawingml/2006/main" noGrp="1"/>
          </p:cNvSpPr>
          <p:nvPr/>
        </p:nvSpPr>
        <p:spPr>
          <a:xfrm xmlns:a="http://schemas.openxmlformats.org/drawingml/2006/main">
            <a:off x="6629400" y="5743575"/>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8FE0BF"/>
                </a:solidFill>
                <a:latin typeface="Helvetica Neue"/>
                <a:ea typeface="Helvetica Neue"/>
                <a:cs typeface="Helvetica Neue"/>
              </a:defRPr>
            </a:pPr>
            <a:r>
              <a:rPr sz="1350" b="1">
                <a:solidFill>
                  <a:srgbClr val="8FE0BF"/>
                </a:solidFill>
                <a:latin typeface="Helvetica Neue"/>
                <a:ea typeface="Helvetica Neue"/>
                <a:cs typeface="Helvetica Neue"/>
              </a:rPr>
              <a:t>Signal survives: improve coordinate readout</a:t>
            </a:r>
          </a:p>
        </p:txBody>
      </p:sp>
      <p:sp>
        <p:nvSpPr>
          <p:cNvPr id="43" name="">
            <a:extLst xmlns:a="http://schemas.openxmlformats.org/drawingml/2006/main">
              <a:ext uri="{FF2B5EF4-FFF2-40B4-BE49-F238E27FC236}">
                <a16:creationId xmlns:a16="http://schemas.microsoft.com/office/drawing/2014/main" id="{21505862-683B-45A6-BC10-B7F6F7E7D627}"/>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B6DDF663-8F5E-4833-BC8C-BB574B281663}"/>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Planned experiment · eager-attention rerun required · paired inference at every scale</a:t>
            </a:r>
          </a:p>
        </p:txBody>
      </p:sp>
    </p:spTree>
    <p:extLst>
      <p:ext uri="{BB962C8B-B14F-4D97-AF65-F5344CB8AC3E}">
        <p14:creationId xmlns:p14="http://schemas.microsoft.com/office/powerpoint/2010/main" val="1324638686"/>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7F5BFD6-70FB-4AB0-90EE-3CB26102CA9F}"/>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ATTRIBUTION BASELINE MATTERS</a:t>
            </a:r>
          </a:p>
        </p:txBody>
      </p:sp>
      <p:sp>
        <p:nvSpPr>
          <p:cNvPr id="2" name="">
            <a:extLst xmlns:a="http://schemas.openxmlformats.org/drawingml/2006/main">
              <a:ext uri="{FF2B5EF4-FFF2-40B4-BE49-F238E27FC236}">
                <a16:creationId xmlns:a16="http://schemas.microsoft.com/office/drawing/2014/main" id="{F3B2C5E8-B1A8-4093-896F-C5D0E2DE9432}"/>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Same action, different task-specific maps</a:t>
            </a:r>
          </a:p>
        </p:txBody>
      </p:sp>
      <p:sp>
        <p:nvSpPr>
          <p:cNvPr id="3" name="">
            <a:extLst xmlns:a="http://schemas.openxmlformats.org/drawingml/2006/main">
              <a:ext uri="{FF2B5EF4-FFF2-40B4-BE49-F238E27FC236}">
                <a16:creationId xmlns:a16="http://schemas.microsoft.com/office/drawing/2014/main" id="{C53DCB3C-15AE-410C-B980-B9277DBA5C53}"/>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B4FB7880-2C0A-492D-9CE8-0035E1E8402F}"/>
              </a:ext>
            </a:extLst>
          </p:cNvPr>
          <p:cNvSpPr>
            <a:spLocks xmlns:a="http://schemas.openxmlformats.org/drawingml/2006/main" noGrp="1"/>
          </p:cNvSpPr>
          <p:nvPr/>
        </p:nvSpPr>
        <p:spPr>
          <a:xfrm xmlns:a="http://schemas.openxmlformats.org/drawingml/2006/main">
            <a:off x="609600" y="110490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Fill color · free Holo click (209,243)</a:t>
            </a:r>
          </a:p>
        </p:txBody>
      </p:sp>
      <p:sp>
        <p:nvSpPr>
          <p:cNvPr id="5" name="">
            <a:extLst xmlns:a="http://schemas.openxmlformats.org/drawingml/2006/main">
              <a:ext uri="{FF2B5EF4-FFF2-40B4-BE49-F238E27FC236}">
                <a16:creationId xmlns:a16="http://schemas.microsoft.com/office/drawing/2014/main" id="{CD8E86FC-A344-4899-B25E-5CAD0F498AAD}"/>
              </a:ext>
            </a:extLst>
          </p:cNvPr>
          <p:cNvSpPr>
            <a:spLocks xmlns:a="http://schemas.openxmlformats.org/drawingml/2006/main" noGrp="1"/>
          </p:cNvSpPr>
          <p:nvPr/>
        </p:nvSpPr>
        <p:spPr>
          <a:xfrm xmlns:a="http://schemas.openxmlformats.org/drawingml/2006/main">
            <a:off x="7981950" y="1076325"/>
            <a:ext cx="36004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0407CBD-61A1-4994-A373-FCCA372EA0D4}"/>
              </a:ext>
            </a:extLst>
          </p:cNvPr>
          <p:cNvSpPr>
            <a:spLocks xmlns:a="http://schemas.openxmlformats.org/drawingml/2006/main" noGrp="1"/>
          </p:cNvSpPr>
          <p:nvPr/>
        </p:nvSpPr>
        <p:spPr>
          <a:xfrm xmlns:a="http://schemas.openxmlformats.org/drawingml/2006/main">
            <a:off x="8077200" y="1095375"/>
            <a:ext cx="3409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GREEN = ORACLE · WHITE = CLICK</a:t>
            </a:r>
          </a:p>
        </p:txBody>
      </p:sp>
      <p:sp>
        <p:nvSpPr>
          <p:cNvPr id="7" name="">
            <a:extLst xmlns:a="http://schemas.openxmlformats.org/drawingml/2006/main">
              <a:ext uri="{FF2B5EF4-FFF2-40B4-BE49-F238E27FC236}">
                <a16:creationId xmlns:a16="http://schemas.microsoft.com/office/drawing/2014/main" id="{2BD7532F-497D-4070-882B-10271FF33029}"/>
              </a:ext>
            </a:extLst>
          </p:cNvPr>
          <p:cNvSpPr>
            <a:spLocks xmlns:a="http://schemas.openxmlformats.org/drawingml/2006/main" noGrp="1"/>
          </p:cNvSpPr>
          <p:nvPr/>
        </p:nvSpPr>
        <p:spPr>
          <a:xfrm xmlns:a="http://schemas.openxmlformats.org/drawingml/2006/main">
            <a:off x="609600" y="1457325"/>
            <a:ext cx="518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VALUE-NORM ROLLOUT</a:t>
            </a:r>
          </a:p>
        </p:txBody>
      </p:sp>
      <p:sp>
        <p:nvSpPr>
          <p:cNvPr id="8" name="">
            <a:extLst xmlns:a="http://schemas.openxmlformats.org/drawingml/2006/main">
              <a:ext uri="{FF2B5EF4-FFF2-40B4-BE49-F238E27FC236}">
                <a16:creationId xmlns:a16="http://schemas.microsoft.com/office/drawing/2014/main" id="{BDB1D7D1-39FB-4EB6-B9F0-017E5652719F}"/>
              </a:ext>
            </a:extLst>
          </p:cNvPr>
          <p:cNvSpPr>
            <a:spLocks xmlns:a="http://schemas.openxmlformats.org/drawingml/2006/main" noGrp="1"/>
          </p:cNvSpPr>
          <p:nvPr/>
        </p:nvSpPr>
        <p:spPr>
          <a:xfrm xmlns:a="http://schemas.openxmlformats.org/drawingml/2006/main">
            <a:off x="6400800" y="1457325"/>
            <a:ext cx="518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VALUE-NORM + DIVERSE-INSTRUCTION SUBTRACTION</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c8888510a83e4191"/>
          <a:srcRect xmlns:a="http://schemas.openxmlformats.org/drawingml/2006/main" l="0" t="1625" r="0" b="1625"/>
          <a:stretch xmlns:a="http://schemas.openxmlformats.org/drawingml/2006/main">
            <a:fillRect l="0" t="0" r="0" b="0"/>
          </a:stretch>
        </p:blipFill>
        <p:spPr>
          <a:xfrm xmlns:a="http://schemas.openxmlformats.org/drawingml/2006/main">
            <a:off x="609600" y="1714500"/>
            <a:ext cx="5181600" cy="3810000"/>
          </a:xfrm>
          <a:prstGeom xmlns:a="http://schemas.openxmlformats.org/drawingml/2006/main" prst="roundRect">
            <a:avLst>
              <a:gd name="adj" fmla="val 3000"/>
            </a:avLst>
          </a:prstGeom>
        </p:spPr>
      </p:pic>
      <p:sp>
        <p:nvSpPr>
          <p:cNvPr id="10" name="">
            <a:extLst xmlns:a="http://schemas.openxmlformats.org/drawingml/2006/main">
              <a:ext uri="{FF2B5EF4-FFF2-40B4-BE49-F238E27FC236}">
                <a16:creationId xmlns:a16="http://schemas.microsoft.com/office/drawing/2014/main" id="{94BC45D0-0E6A-4217-ABEF-CB6D830C7387}"/>
              </a:ext>
            </a:extLst>
          </p:cNvPr>
          <p:cNvSpPr>
            <a:spLocks xmlns:a="http://schemas.openxmlformats.org/drawingml/2006/main" noGrp="1"/>
          </p:cNvSpPr>
          <p:nvPr/>
        </p:nvSpPr>
        <p:spPr>
          <a:xfrm xmlns:a="http://schemas.openxmlformats.org/drawingml/2006/main">
            <a:off x="609600" y="1714500"/>
            <a:ext cx="5181600" cy="3810000"/>
          </a:xfrm>
          <a:prstGeom xmlns:a="http://schemas.openxmlformats.org/drawingml/2006/main" prst="roundRect">
            <a:avLst>
              <a:gd name="adj" fmla="val 2000"/>
            </a:avLst>
          </a:prstGeom>
          <a:noFill xmlns:a="http://schemas.openxmlformats.org/drawingml/2006/main"/>
          <a:ln xmlns:a="http://schemas.openxmlformats.org/drawingml/2006/main" w="9525">
            <a:solidFill>
              <a:srgbClr val="D9D4C8"/>
            </a:solidFill>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ceb184af78aa492b"/>
          <a:srcRect xmlns:a="http://schemas.openxmlformats.org/drawingml/2006/main" l="0" t="1625" r="0" b="1625"/>
          <a:stretch xmlns:a="http://schemas.openxmlformats.org/drawingml/2006/main">
            <a:fillRect l="0" t="0" r="0" b="0"/>
          </a:stretch>
        </p:blipFill>
        <p:spPr>
          <a:xfrm xmlns:a="http://schemas.openxmlformats.org/drawingml/2006/main">
            <a:off x="6400800" y="1714500"/>
            <a:ext cx="5181600" cy="3810000"/>
          </a:xfrm>
          <a:prstGeom xmlns:a="http://schemas.openxmlformats.org/drawingml/2006/main" prst="roundRect">
            <a:avLst>
              <a:gd name="adj" fmla="val 3000"/>
            </a:avLst>
          </a:prstGeom>
        </p:spPr>
      </p:pic>
      <p:sp>
        <p:nvSpPr>
          <p:cNvPr id="12" name="">
            <a:extLst xmlns:a="http://schemas.openxmlformats.org/drawingml/2006/main">
              <a:ext uri="{FF2B5EF4-FFF2-40B4-BE49-F238E27FC236}">
                <a16:creationId xmlns:a16="http://schemas.microsoft.com/office/drawing/2014/main" id="{E442A90F-A484-40CD-96CB-E603188D2346}"/>
              </a:ext>
            </a:extLst>
          </p:cNvPr>
          <p:cNvSpPr>
            <a:spLocks xmlns:a="http://schemas.openxmlformats.org/drawingml/2006/main" noGrp="1"/>
          </p:cNvSpPr>
          <p:nvPr/>
        </p:nvSpPr>
        <p:spPr>
          <a:xfrm xmlns:a="http://schemas.openxmlformats.org/drawingml/2006/main">
            <a:off x="6400800" y="1714500"/>
            <a:ext cx="5181600" cy="3810000"/>
          </a:xfrm>
          <a:prstGeom xmlns:a="http://schemas.openxmlformats.org/drawingml/2006/main" prst="roundRect">
            <a:avLst>
              <a:gd name="adj" fmla="val 2000"/>
            </a:avLst>
          </a:prstGeom>
          <a:noFill xmlns:a="http://schemas.openxmlformats.org/drawingml/2006/main"/>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2C4FC8C1-954D-4EC6-A9F9-3A2171017667}"/>
              </a:ext>
            </a:extLst>
          </p:cNvPr>
          <p:cNvSpPr>
            <a:spLocks xmlns:a="http://schemas.openxmlformats.org/drawingml/2006/main" noGrp="1"/>
          </p:cNvSpPr>
          <p:nvPr/>
        </p:nvSpPr>
        <p:spPr>
          <a:xfrm xmlns:a="http://schemas.openxmlformats.org/drawingml/2006/main">
            <a:off x="609600" y="5657850"/>
            <a:ext cx="51816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737BBF4-823E-4993-9A16-99DEA8EA6FCC}"/>
              </a:ext>
            </a:extLst>
          </p:cNvPr>
          <p:cNvSpPr>
            <a:spLocks xmlns:a="http://schemas.openxmlformats.org/drawingml/2006/main" noGrp="1"/>
          </p:cNvSpPr>
          <p:nvPr/>
        </p:nvSpPr>
        <p:spPr>
          <a:xfrm xmlns:a="http://schemas.openxmlformats.org/drawingml/2006/main">
            <a:off x="800100" y="5743575"/>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05A3C"/>
                </a:solidFill>
                <a:latin typeface="Helvetica Neue"/>
                <a:ea typeface="Helvetica Neue"/>
                <a:cs typeface="Helvetica Neue"/>
              </a:defRPr>
            </a:pPr>
            <a:r>
              <a:rPr sz="1575" b="1">
                <a:solidFill>
                  <a:srgbClr val="F05A3C"/>
                </a:solidFill>
                <a:latin typeface="Helvetica Neue"/>
                <a:ea typeface="Helvetica Neue"/>
                <a:cs typeface="Helvetica Neue"/>
              </a:rPr>
              <a:t>111× target lift</a:t>
            </a:r>
          </a:p>
        </p:txBody>
      </p:sp>
      <p:sp>
        <p:nvSpPr>
          <p:cNvPr id="15" name="">
            <a:extLst xmlns:a="http://schemas.openxmlformats.org/drawingml/2006/main">
              <a:ext uri="{FF2B5EF4-FFF2-40B4-BE49-F238E27FC236}">
                <a16:creationId xmlns:a16="http://schemas.microsoft.com/office/drawing/2014/main" id="{C05C3BF2-E22E-4B54-83D9-E9116BC558B7}"/>
              </a:ext>
            </a:extLst>
          </p:cNvPr>
          <p:cNvSpPr>
            <a:spLocks xmlns:a="http://schemas.openxmlformats.org/drawingml/2006/main" noGrp="1"/>
          </p:cNvSpPr>
          <p:nvPr/>
        </p:nvSpPr>
        <p:spPr>
          <a:xfrm xmlns:a="http://schemas.openxmlformats.org/drawingml/2006/main">
            <a:off x="2781300" y="5781675"/>
            <a:ext cx="2781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D5DEE6"/>
                </a:solidFill>
                <a:latin typeface="Helvetica Neue"/>
                <a:ea typeface="Helvetica Neue"/>
                <a:cs typeface="Helvetica Neue"/>
              </a:defRPr>
            </a:pPr>
            <a:r>
              <a:rPr sz="975" b="0">
                <a:solidFill>
                  <a:srgbClr val="D5DEE6"/>
                </a:solidFill>
                <a:latin typeface="Helvetica Neue"/>
                <a:ea typeface="Helvetica Neue"/>
                <a:cs typeface="Helvetica Neue"/>
              </a:rPr>
              <a:t>4.4% of positive mass</a:t>
            </a:r>
          </a:p>
        </p:txBody>
      </p:sp>
      <p:sp>
        <p:nvSpPr>
          <p:cNvPr id="16" name="">
            <a:extLst xmlns:a="http://schemas.openxmlformats.org/drawingml/2006/main">
              <a:ext uri="{FF2B5EF4-FFF2-40B4-BE49-F238E27FC236}">
                <a16:creationId xmlns:a16="http://schemas.microsoft.com/office/drawing/2014/main" id="{888C3735-3BED-49CF-A516-AC686641A6C0}"/>
              </a:ext>
            </a:extLst>
          </p:cNvPr>
          <p:cNvSpPr>
            <a:spLocks xmlns:a="http://schemas.openxmlformats.org/drawingml/2006/main" noGrp="1"/>
          </p:cNvSpPr>
          <p:nvPr/>
        </p:nvSpPr>
        <p:spPr>
          <a:xfrm xmlns:a="http://schemas.openxmlformats.org/drawingml/2006/main">
            <a:off x="6400800" y="5657850"/>
            <a:ext cx="51816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E3ACDFB-C7C6-439A-A2E6-9A5ED432D681}"/>
              </a:ext>
            </a:extLst>
          </p:cNvPr>
          <p:cNvSpPr>
            <a:spLocks xmlns:a="http://schemas.openxmlformats.org/drawingml/2006/main" noGrp="1"/>
          </p:cNvSpPr>
          <p:nvPr/>
        </p:nvSpPr>
        <p:spPr>
          <a:xfrm xmlns:a="http://schemas.openxmlformats.org/drawingml/2006/main">
            <a:off x="6591300" y="5743575"/>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8A875"/>
                </a:solidFill>
                <a:latin typeface="Helvetica Neue"/>
                <a:ea typeface="Helvetica Neue"/>
                <a:cs typeface="Helvetica Neue"/>
              </a:defRPr>
            </a:pPr>
            <a:r>
              <a:rPr sz="1575" b="1">
                <a:solidFill>
                  <a:srgbClr val="18A875"/>
                </a:solidFill>
                <a:latin typeface="Helvetica Neue"/>
                <a:ea typeface="Helvetica Neue"/>
                <a:cs typeface="Helvetica Neue"/>
              </a:rPr>
              <a:t>464× target lift</a:t>
            </a:r>
          </a:p>
        </p:txBody>
      </p:sp>
      <p:sp>
        <p:nvSpPr>
          <p:cNvPr id="18" name="">
            <a:extLst xmlns:a="http://schemas.openxmlformats.org/drawingml/2006/main">
              <a:ext uri="{FF2B5EF4-FFF2-40B4-BE49-F238E27FC236}">
                <a16:creationId xmlns:a16="http://schemas.microsoft.com/office/drawing/2014/main" id="{A6F29809-1086-4F23-BADA-5A70A35303C6}"/>
              </a:ext>
            </a:extLst>
          </p:cNvPr>
          <p:cNvSpPr>
            <a:spLocks xmlns:a="http://schemas.openxmlformats.org/drawingml/2006/main" noGrp="1"/>
          </p:cNvSpPr>
          <p:nvPr/>
        </p:nvSpPr>
        <p:spPr>
          <a:xfrm xmlns:a="http://schemas.openxmlformats.org/drawingml/2006/main">
            <a:off x="8743950" y="5781675"/>
            <a:ext cx="2609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D5DEE6"/>
                </a:solidFill>
                <a:latin typeface="Helvetica Neue"/>
                <a:ea typeface="Helvetica Neue"/>
                <a:cs typeface="Helvetica Neue"/>
              </a:defRPr>
            </a:pPr>
            <a:r>
              <a:rPr sz="975" b="0">
                <a:solidFill>
                  <a:srgbClr val="D5DEE6"/>
                </a:solidFill>
                <a:latin typeface="Helvetica Neue"/>
                <a:ea typeface="Helvetica Neue"/>
                <a:cs typeface="Helvetica Neue"/>
              </a:rPr>
              <a:t>18.6% · LOO ≥0.991</a:t>
            </a:r>
          </a:p>
        </p:txBody>
      </p:sp>
      <p:sp>
        <p:nvSpPr>
          <p:cNvPr id="19" name="">
            <a:extLst xmlns:a="http://schemas.openxmlformats.org/drawingml/2006/main">
              <a:ext uri="{FF2B5EF4-FFF2-40B4-BE49-F238E27FC236}">
                <a16:creationId xmlns:a16="http://schemas.microsoft.com/office/drawing/2014/main" id="{DF6EF32E-5F6F-4940-A6E3-546D992084F0}"/>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2B8FFDF-F088-46BE-A087-558707362D53}"/>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Same native screenshot, official prompt, generated click, coordinate tokens, and value-norm rollout · only the baseline changes</a:t>
            </a:r>
          </a:p>
        </p:txBody>
      </p:sp>
    </p:spTree>
    <p:extLst>
      <p:ext uri="{BB962C8B-B14F-4D97-AF65-F5344CB8AC3E}">
        <p14:creationId xmlns:p14="http://schemas.microsoft.com/office/powerpoint/2010/main" val="42365397"/>
      </p:ext>
    </p:extLst>
  </p:cSld>
</p:sld>
</file>

<file path=ppt/slides/slide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0AE42FEF-8B75-4DB8-BF0C-21E4728EB3ED}"/>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FREE GENERATION · STRICT MISS</a:t>
            </a:r>
          </a:p>
        </p:txBody>
      </p:sp>
      <p:sp>
        <p:nvSpPr>
          <p:cNvPr id="2" name="">
            <a:extLst xmlns:a="http://schemas.openxmlformats.org/drawingml/2006/main">
              <a:ext uri="{FF2B5EF4-FFF2-40B4-BE49-F238E27FC236}">
                <a16:creationId xmlns:a16="http://schemas.microsoft.com/office/drawing/2014/main" id="{979FAF05-7192-442A-8D31-76DD8E30E681}"/>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Target-specific attention survives a 7.4-pixel click miss</a:t>
            </a:r>
          </a:p>
        </p:txBody>
      </p:sp>
      <p:sp>
        <p:nvSpPr>
          <p:cNvPr id="3" name="">
            <a:extLst xmlns:a="http://schemas.openxmlformats.org/drawingml/2006/main">
              <a:ext uri="{FF2B5EF4-FFF2-40B4-BE49-F238E27FC236}">
                <a16:creationId xmlns:a16="http://schemas.microsoft.com/office/drawing/2014/main" id="{4176FEBF-D48D-4B59-8209-2A353FB196BB}"/>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4DBBA006-FD85-4C00-8521-C79116226BC2}"/>
              </a:ext>
            </a:extLst>
          </p:cNvPr>
          <p:cNvSpPr>
            <a:spLocks xmlns:a="http://schemas.openxmlformats.org/drawingml/2006/main" noGrp="1"/>
          </p:cNvSpPr>
          <p:nvPr/>
        </p:nvSpPr>
        <p:spPr>
          <a:xfrm xmlns:a="http://schemas.openxmlformats.org/drawingml/2006/main">
            <a:off x="609600" y="11430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Choose the language for proofing tools</a:t>
            </a:r>
          </a:p>
        </p:txBody>
      </p:sp>
      <p:sp>
        <p:nvSpPr>
          <p:cNvPr id="5" name="">
            <a:extLst xmlns:a="http://schemas.openxmlformats.org/drawingml/2006/main">
              <a:ext uri="{FF2B5EF4-FFF2-40B4-BE49-F238E27FC236}">
                <a16:creationId xmlns:a16="http://schemas.microsoft.com/office/drawing/2014/main" id="{BD1810C9-85D1-4584-BC0E-566EC3C552B5}"/>
              </a:ext>
            </a:extLst>
          </p:cNvPr>
          <p:cNvSpPr>
            <a:spLocks xmlns:a="http://schemas.openxmlformats.org/drawingml/2006/main" noGrp="1"/>
          </p:cNvSpPr>
          <p:nvPr/>
        </p:nvSpPr>
        <p:spPr>
          <a:xfrm xmlns:a="http://schemas.openxmlformats.org/drawingml/2006/main">
            <a:off x="7943850" y="1104900"/>
            <a:ext cx="36385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34FC756-92C4-4274-901B-A0CE6FB7E6FD}"/>
              </a:ext>
            </a:extLst>
          </p:cNvPr>
          <p:cNvSpPr>
            <a:spLocks xmlns:a="http://schemas.openxmlformats.org/drawingml/2006/main" noGrp="1"/>
          </p:cNvSpPr>
          <p:nvPr/>
        </p:nvSpPr>
        <p:spPr>
          <a:xfrm xmlns:a="http://schemas.openxmlformats.org/drawingml/2006/main">
            <a:off x="8039100" y="1123950"/>
            <a:ext cx="3448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TARGET − 4 SAME-IMAGE INSTRUCTIONS</a:t>
            </a:r>
          </a:p>
        </p:txBody>
      </p:sp>
      <p:sp>
        <p:nvSpPr>
          <p:cNvPr id="7" name="">
            <a:extLst xmlns:a="http://schemas.openxmlformats.org/drawingml/2006/main">
              <a:ext uri="{FF2B5EF4-FFF2-40B4-BE49-F238E27FC236}">
                <a16:creationId xmlns:a16="http://schemas.microsoft.com/office/drawing/2014/main" id="{5C91B9F0-83F8-4019-8D96-4C89BE6FF77E}"/>
              </a:ext>
            </a:extLst>
          </p:cNvPr>
          <p:cNvSpPr>
            <a:spLocks xmlns:a="http://schemas.openxmlformats.org/drawingml/2006/main" noGrp="1"/>
          </p:cNvSpPr>
          <p:nvPr/>
        </p:nvSpPr>
        <p:spPr>
          <a:xfrm xmlns:a="http://schemas.openxmlformats.org/drawingml/2006/main">
            <a:off x="609600" y="1466850"/>
            <a:ext cx="457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DIVERSE-INSTRUCTION SUBTRACTION</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f00fca5e6e11443a"/>
          <a:srcRect xmlns:a="http://schemas.openxmlformats.org/drawingml/2006/main" l="0" t="74" r="0" b="74"/>
          <a:stretch xmlns:a="http://schemas.openxmlformats.org/drawingml/2006/main">
            <a:fillRect l="0" t="0" r="0" b="0"/>
          </a:stretch>
        </p:blipFill>
        <p:spPr>
          <a:xfrm xmlns:a="http://schemas.openxmlformats.org/drawingml/2006/main">
            <a:off x="609600" y="1695450"/>
            <a:ext cx="7524750" cy="2838450"/>
          </a:xfrm>
          <a:prstGeom xmlns:a="http://schemas.openxmlformats.org/drawingml/2006/main" prst="roundRect">
            <a:avLst>
              <a:gd name="adj" fmla="val 4027"/>
            </a:avLst>
          </a:prstGeom>
        </p:spPr>
      </p:pic>
      <p:sp>
        <p:nvSpPr>
          <p:cNvPr id="9" name="">
            <a:extLst xmlns:a="http://schemas.openxmlformats.org/drawingml/2006/main">
              <a:ext uri="{FF2B5EF4-FFF2-40B4-BE49-F238E27FC236}">
                <a16:creationId xmlns:a16="http://schemas.microsoft.com/office/drawing/2014/main" id="{93868876-8225-4595-B202-14EDE707A59E}"/>
              </a:ext>
            </a:extLst>
          </p:cNvPr>
          <p:cNvSpPr>
            <a:spLocks xmlns:a="http://schemas.openxmlformats.org/drawingml/2006/main" noGrp="1"/>
          </p:cNvSpPr>
          <p:nvPr/>
        </p:nvSpPr>
        <p:spPr>
          <a:xfrm xmlns:a="http://schemas.openxmlformats.org/drawingml/2006/main">
            <a:off x="609600" y="1695450"/>
            <a:ext cx="7524750" cy="2838450"/>
          </a:xfrm>
          <a:prstGeom xmlns:a="http://schemas.openxmlformats.org/drawingml/2006/main" prst="roundRect">
            <a:avLst>
              <a:gd name="adj" fmla="val 2685"/>
            </a:avLst>
          </a:prstGeom>
          <a:noFill xmlns:a="http://schemas.openxmlformats.org/drawingml/2006/main"/>
          <a:ln xmlns:a="http://schemas.openxmlformats.org/drawingml/2006/main" w="9525">
            <a:solidFill>
              <a:srgbClr val="D9D4C8"/>
            </a:solidFill>
          </a:ln>
        </p:spPr>
      </p:sp>
      <p:sp>
        <p:nvSpPr>
          <p:cNvPr id="10" name="">
            <a:extLst xmlns:a="http://schemas.openxmlformats.org/drawingml/2006/main">
              <a:ext uri="{FF2B5EF4-FFF2-40B4-BE49-F238E27FC236}">
                <a16:creationId xmlns:a16="http://schemas.microsoft.com/office/drawing/2014/main" id="{8A36CF90-E51A-40FB-AD79-0159EACD2612}"/>
              </a:ext>
            </a:extLst>
          </p:cNvPr>
          <p:cNvSpPr>
            <a:spLocks xmlns:a="http://schemas.openxmlformats.org/drawingml/2006/main" noGrp="1"/>
          </p:cNvSpPr>
          <p:nvPr/>
        </p:nvSpPr>
        <p:spPr>
          <a:xfrm xmlns:a="http://schemas.openxmlformats.org/drawingml/2006/main">
            <a:off x="8477250" y="1695450"/>
            <a:ext cx="3105150" cy="4171950"/>
          </a:xfrm>
          <a:prstGeom xmlns:a="http://schemas.openxmlformats.org/drawingml/2006/main" prst="roundRect">
            <a:avLst>
              <a:gd name="adj" fmla="val 2454"/>
            </a:avLst>
          </a:prstGeom>
          <a:solidFill xmlns:a="http://schemas.openxmlformats.org/drawingml/2006/main">
            <a:srgbClr val="1C273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BDF070A-2D8A-4910-A929-0A45DBA5FE20}"/>
              </a:ext>
            </a:extLst>
          </p:cNvPr>
          <p:cNvSpPr>
            <a:spLocks xmlns:a="http://schemas.openxmlformats.org/drawingml/2006/main" noGrp="1"/>
          </p:cNvSpPr>
          <p:nvPr/>
        </p:nvSpPr>
        <p:spPr>
          <a:xfrm xmlns:a="http://schemas.openxmlformats.org/drawingml/2006/main">
            <a:off x="8724900" y="1924050"/>
            <a:ext cx="1200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FBEAAF5-8D9A-48C5-8D20-60A1B5304F84}"/>
              </a:ext>
            </a:extLst>
          </p:cNvPr>
          <p:cNvSpPr>
            <a:spLocks xmlns:a="http://schemas.openxmlformats.org/drawingml/2006/main" noGrp="1"/>
          </p:cNvSpPr>
          <p:nvPr/>
        </p:nvSpPr>
        <p:spPr>
          <a:xfrm xmlns:a="http://schemas.openxmlformats.org/drawingml/2006/main">
            <a:off x="8820150" y="19431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STRICT MISS</a:t>
            </a:r>
          </a:p>
        </p:txBody>
      </p:sp>
      <p:sp>
        <p:nvSpPr>
          <p:cNvPr id="13" name="">
            <a:extLst xmlns:a="http://schemas.openxmlformats.org/drawingml/2006/main">
              <a:ext uri="{FF2B5EF4-FFF2-40B4-BE49-F238E27FC236}">
                <a16:creationId xmlns:a16="http://schemas.microsoft.com/office/drawing/2014/main" id="{7CDB4704-8744-43A8-BEC3-8F7816818F3D}"/>
              </a:ext>
            </a:extLst>
          </p:cNvPr>
          <p:cNvSpPr>
            <a:spLocks xmlns:a="http://schemas.openxmlformats.org/drawingml/2006/main" noGrp="1"/>
          </p:cNvSpPr>
          <p:nvPr/>
        </p:nvSpPr>
        <p:spPr>
          <a:xfrm xmlns:a="http://schemas.openxmlformats.org/drawingml/2006/main">
            <a:off x="8724900" y="23812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(124, 73)</a:t>
            </a:r>
          </a:p>
        </p:txBody>
      </p:sp>
      <p:sp>
        <p:nvSpPr>
          <p:cNvPr id="14" name="">
            <a:extLst xmlns:a="http://schemas.openxmlformats.org/drawingml/2006/main">
              <a:ext uri="{FF2B5EF4-FFF2-40B4-BE49-F238E27FC236}">
                <a16:creationId xmlns:a16="http://schemas.microsoft.com/office/drawing/2014/main" id="{B8008A94-FDAB-4851-8CF1-CC5AF898F4BA}"/>
              </a:ext>
            </a:extLst>
          </p:cNvPr>
          <p:cNvSpPr>
            <a:spLocks xmlns:a="http://schemas.openxmlformats.org/drawingml/2006/main" noGrp="1"/>
          </p:cNvSpPr>
          <p:nvPr/>
        </p:nvSpPr>
        <p:spPr>
          <a:xfrm xmlns:a="http://schemas.openxmlformats.org/drawingml/2006/main">
            <a:off x="8724900" y="28575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2BDAF"/>
                </a:solidFill>
                <a:latin typeface="Helvetica Neue"/>
                <a:ea typeface="Helvetica Neue"/>
                <a:cs typeface="Helvetica Neue"/>
              </a:defRPr>
            </a:pPr>
            <a:r>
              <a:rPr sz="1350" b="1">
                <a:solidFill>
                  <a:srgbClr val="F2BDAF"/>
                </a:solidFill>
                <a:latin typeface="Helvetica Neue"/>
                <a:ea typeface="Helvetica Neue"/>
                <a:cs typeface="Helvetica Neue"/>
              </a:rPr>
              <a:t>7.4 px below the annotated box</a:t>
            </a:r>
          </a:p>
        </p:txBody>
      </p:sp>
      <p:sp>
        <p:nvSpPr>
          <p:cNvPr id="15" name="">
            <a:extLst xmlns:a="http://schemas.openxmlformats.org/drawingml/2006/main">
              <a:ext uri="{FF2B5EF4-FFF2-40B4-BE49-F238E27FC236}">
                <a16:creationId xmlns:a16="http://schemas.microsoft.com/office/drawing/2014/main" id="{02403348-5F1D-4C55-A4A0-1D4CA4D39C4E}"/>
              </a:ext>
            </a:extLst>
          </p:cNvPr>
          <p:cNvSpPr>
            <a:spLocks xmlns:a="http://schemas.openxmlformats.org/drawingml/2006/main" noGrp="1"/>
          </p:cNvSpPr>
          <p:nvPr/>
        </p:nvSpPr>
        <p:spPr>
          <a:xfrm xmlns:a="http://schemas.openxmlformats.org/drawingml/2006/main">
            <a:off x="8724900" y="3543300"/>
            <a:ext cx="23812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1F0D72C-7810-459F-B98E-FA6BCB565428}"/>
              </a:ext>
            </a:extLst>
          </p:cNvPr>
          <p:cNvSpPr>
            <a:spLocks xmlns:a="http://schemas.openxmlformats.org/drawingml/2006/main" noGrp="1"/>
          </p:cNvSpPr>
          <p:nvPr/>
        </p:nvSpPr>
        <p:spPr>
          <a:xfrm xmlns:a="http://schemas.openxmlformats.org/drawingml/2006/main">
            <a:off x="8724900" y="37528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positive mass in oracle</a:t>
            </a:r>
          </a:p>
        </p:txBody>
      </p:sp>
      <p:sp>
        <p:nvSpPr>
          <p:cNvPr id="17" name="">
            <a:extLst xmlns:a="http://schemas.openxmlformats.org/drawingml/2006/main">
              <a:ext uri="{FF2B5EF4-FFF2-40B4-BE49-F238E27FC236}">
                <a16:creationId xmlns:a16="http://schemas.microsoft.com/office/drawing/2014/main" id="{12744030-3335-4739-AA16-19F70DACF052}"/>
              </a:ext>
            </a:extLst>
          </p:cNvPr>
          <p:cNvSpPr>
            <a:spLocks xmlns:a="http://schemas.openxmlformats.org/drawingml/2006/main" noGrp="1"/>
          </p:cNvSpPr>
          <p:nvPr/>
        </p:nvSpPr>
        <p:spPr>
          <a:xfrm xmlns:a="http://schemas.openxmlformats.org/drawingml/2006/main">
            <a:off x="10401300" y="37147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17.1%</a:t>
            </a:r>
          </a:p>
        </p:txBody>
      </p:sp>
      <p:sp>
        <p:nvSpPr>
          <p:cNvPr id="18" name="">
            <a:extLst xmlns:a="http://schemas.openxmlformats.org/drawingml/2006/main">
              <a:ext uri="{FF2B5EF4-FFF2-40B4-BE49-F238E27FC236}">
                <a16:creationId xmlns:a16="http://schemas.microsoft.com/office/drawing/2014/main" id="{B5E81DFB-5837-4EC5-8641-9BA34B4FA978}"/>
              </a:ext>
            </a:extLst>
          </p:cNvPr>
          <p:cNvSpPr>
            <a:spLocks xmlns:a="http://schemas.openxmlformats.org/drawingml/2006/main" noGrp="1"/>
          </p:cNvSpPr>
          <p:nvPr/>
        </p:nvSpPr>
        <p:spPr>
          <a:xfrm xmlns:a="http://schemas.openxmlformats.org/drawingml/2006/main">
            <a:off x="8724900" y="41719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target lift</a:t>
            </a:r>
          </a:p>
        </p:txBody>
      </p:sp>
      <p:sp>
        <p:nvSpPr>
          <p:cNvPr id="19" name="">
            <a:extLst xmlns:a="http://schemas.openxmlformats.org/drawingml/2006/main">
              <a:ext uri="{FF2B5EF4-FFF2-40B4-BE49-F238E27FC236}">
                <a16:creationId xmlns:a16="http://schemas.microsoft.com/office/drawing/2014/main" id="{BA8EA844-EAD8-4AA7-A936-BCA5B3B208F8}"/>
              </a:ext>
            </a:extLst>
          </p:cNvPr>
          <p:cNvSpPr>
            <a:spLocks xmlns:a="http://schemas.openxmlformats.org/drawingml/2006/main" noGrp="1"/>
          </p:cNvSpPr>
          <p:nvPr/>
        </p:nvSpPr>
        <p:spPr>
          <a:xfrm xmlns:a="http://schemas.openxmlformats.org/drawingml/2006/main">
            <a:off x="10401300" y="41338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279×</a:t>
            </a:r>
          </a:p>
        </p:txBody>
      </p:sp>
      <p:sp>
        <p:nvSpPr>
          <p:cNvPr id="20" name="">
            <a:extLst xmlns:a="http://schemas.openxmlformats.org/drawingml/2006/main">
              <a:ext uri="{FF2B5EF4-FFF2-40B4-BE49-F238E27FC236}">
                <a16:creationId xmlns:a16="http://schemas.microsoft.com/office/drawing/2014/main" id="{9C918833-CF79-44CF-9613-45B85710D367}"/>
              </a:ext>
            </a:extLst>
          </p:cNvPr>
          <p:cNvSpPr>
            <a:spLocks xmlns:a="http://schemas.openxmlformats.org/drawingml/2006/main" noGrp="1"/>
          </p:cNvSpPr>
          <p:nvPr/>
        </p:nvSpPr>
        <p:spPr>
          <a:xfrm xmlns:a="http://schemas.openxmlformats.org/drawingml/2006/main">
            <a:off x="8724900" y="45910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peak patch</a:t>
            </a:r>
          </a:p>
        </p:txBody>
      </p:sp>
      <p:sp>
        <p:nvSpPr>
          <p:cNvPr id="21" name="">
            <a:extLst xmlns:a="http://schemas.openxmlformats.org/drawingml/2006/main">
              <a:ext uri="{FF2B5EF4-FFF2-40B4-BE49-F238E27FC236}">
                <a16:creationId xmlns:a16="http://schemas.microsoft.com/office/drawing/2014/main" id="{CD6CECDB-EE5F-43DA-96D9-5D243C5DB183}"/>
              </a:ext>
            </a:extLst>
          </p:cNvPr>
          <p:cNvSpPr>
            <a:spLocks xmlns:a="http://schemas.openxmlformats.org/drawingml/2006/main" noGrp="1"/>
          </p:cNvSpPr>
          <p:nvPr/>
        </p:nvSpPr>
        <p:spPr>
          <a:xfrm xmlns:a="http://schemas.openxmlformats.org/drawingml/2006/main">
            <a:off x="10401300" y="45529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inside</a:t>
            </a:r>
          </a:p>
        </p:txBody>
      </p:sp>
      <p:sp>
        <p:nvSpPr>
          <p:cNvPr id="22" name="">
            <a:extLst xmlns:a="http://schemas.openxmlformats.org/drawingml/2006/main">
              <a:ext uri="{FF2B5EF4-FFF2-40B4-BE49-F238E27FC236}">
                <a16:creationId xmlns:a16="http://schemas.microsoft.com/office/drawing/2014/main" id="{9AB1F467-0B25-4332-9C91-B6C3746142C2}"/>
              </a:ext>
            </a:extLst>
          </p:cNvPr>
          <p:cNvSpPr>
            <a:spLocks xmlns:a="http://schemas.openxmlformats.org/drawingml/2006/main" noGrp="1"/>
          </p:cNvSpPr>
          <p:nvPr/>
        </p:nvSpPr>
        <p:spPr>
          <a:xfrm xmlns:a="http://schemas.openxmlformats.org/drawingml/2006/main">
            <a:off x="8724900" y="50673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control stability ≥0.951</a:t>
            </a:r>
          </a:p>
        </p:txBody>
      </p:sp>
      <p:sp>
        <p:nvSpPr>
          <p:cNvPr id="23" name="">
            <a:extLst xmlns:a="http://schemas.openxmlformats.org/drawingml/2006/main">
              <a:ext uri="{FF2B5EF4-FFF2-40B4-BE49-F238E27FC236}">
                <a16:creationId xmlns:a16="http://schemas.microsoft.com/office/drawing/2014/main" id="{981CE99A-1507-4403-8A60-62F2BFA3B817}"/>
              </a:ext>
            </a:extLst>
          </p:cNvPr>
          <p:cNvSpPr>
            <a:spLocks xmlns:a="http://schemas.openxmlformats.org/drawingml/2006/main" noGrp="1"/>
          </p:cNvSpPr>
          <p:nvPr/>
        </p:nvSpPr>
        <p:spPr>
          <a:xfrm xmlns:a="http://schemas.openxmlformats.org/drawingml/2006/main">
            <a:off x="609600" y="4762500"/>
            <a:ext cx="7524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9D4C8"/>
            </a:solidFill>
          </a:ln>
        </p:spPr>
      </p:sp>
      <p:sp>
        <p:nvSpPr>
          <p:cNvPr id="24" name="">
            <a:extLst xmlns:a="http://schemas.openxmlformats.org/drawingml/2006/main">
              <a:ext uri="{FF2B5EF4-FFF2-40B4-BE49-F238E27FC236}">
                <a16:creationId xmlns:a16="http://schemas.microsoft.com/office/drawing/2014/main" id="{32EA4F32-DB7D-4B9C-B79C-3201A164CD20}"/>
              </a:ext>
            </a:extLst>
          </p:cNvPr>
          <p:cNvSpPr>
            <a:spLocks xmlns:a="http://schemas.openxmlformats.org/drawingml/2006/main" noGrp="1"/>
          </p:cNvSpPr>
          <p:nvPr/>
        </p:nvSpPr>
        <p:spPr>
          <a:xfrm xmlns:a="http://schemas.openxmlformats.org/drawingml/2006/main">
            <a:off x="838200" y="495300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ACTION-PRECISION FAILURE</a:t>
            </a:r>
          </a:p>
        </p:txBody>
      </p:sp>
      <p:sp>
        <p:nvSpPr>
          <p:cNvPr id="25" name="">
            <a:extLst xmlns:a="http://schemas.openxmlformats.org/drawingml/2006/main">
              <a:ext uri="{FF2B5EF4-FFF2-40B4-BE49-F238E27FC236}">
                <a16:creationId xmlns:a16="http://schemas.microsoft.com/office/drawing/2014/main" id="{20477F57-FD02-4C32-82DC-69D2D87518C2}"/>
              </a:ext>
            </a:extLst>
          </p:cNvPr>
          <p:cNvSpPr>
            <a:spLocks xmlns:a="http://schemas.openxmlformats.org/drawingml/2006/main" noGrp="1"/>
          </p:cNvSpPr>
          <p:nvPr/>
        </p:nvSpPr>
        <p:spPr>
          <a:xfrm xmlns:a="http://schemas.openxmlformats.org/drawingml/2006/main">
            <a:off x="838200" y="5219700"/>
            <a:ext cx="699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151C"/>
                </a:solidFill>
                <a:latin typeface="Helvetica Neue"/>
                <a:ea typeface="Helvetica Neue"/>
                <a:cs typeface="Helvetica Neue"/>
              </a:defRPr>
            </a:pPr>
            <a:r>
              <a:rPr sz="1350" b="1">
                <a:solidFill>
                  <a:srgbClr val="10151C"/>
                </a:solidFill>
                <a:latin typeface="Helvetica Neue"/>
                <a:ea typeface="Helvetica Neue"/>
                <a:cs typeface="Helvetica Neue"/>
              </a:rPr>
              <a:t>The target-specific peak is inside the proofing-language control, but the generated y coordinate crosses the strict point-in-box boundary.</a:t>
            </a:r>
          </a:p>
        </p:txBody>
      </p:sp>
      <p:sp>
        <p:nvSpPr>
          <p:cNvPr id="26" name="">
            <a:extLst xmlns:a="http://schemas.openxmlformats.org/drawingml/2006/main">
              <a:ext uri="{FF2B5EF4-FFF2-40B4-BE49-F238E27FC236}">
                <a16:creationId xmlns:a16="http://schemas.microsoft.com/office/drawing/2014/main" id="{6D0E4C0F-4DE5-4AF8-BCDF-9D697375FE43}"/>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DF9F3D6-82EC-4E3D-85AF-BDA4409C4CEE}"/>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free generation · normalized 0–1000 output · native 2880×1800 input · no downsampling</a:t>
            </a:r>
          </a:p>
        </p:txBody>
      </p:sp>
    </p:spTree>
    <p:extLst>
      <p:ext uri="{BB962C8B-B14F-4D97-AF65-F5344CB8AC3E}">
        <p14:creationId xmlns:p14="http://schemas.microsoft.com/office/powerpoint/2010/main" val="1508354346"/>
      </p:ext>
    </p:extLst>
  </p:cSld>
</p:sld>
</file>

<file path=ppt/slides/slide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CD6D70EE-C220-4046-BEEA-705154820E29}"/>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FREE MULTI-TURN HOTEL ROLLOUT</a:t>
            </a:r>
          </a:p>
        </p:txBody>
      </p:sp>
      <p:sp>
        <p:nvSpPr>
          <p:cNvPr id="2" name="">
            <a:extLst xmlns:a="http://schemas.openxmlformats.org/drawingml/2006/main">
              <a:ext uri="{FF2B5EF4-FFF2-40B4-BE49-F238E27FC236}">
                <a16:creationId xmlns:a16="http://schemas.microsoft.com/office/drawing/2014/main" id="{093591E4-30FE-4D19-83FE-570F7D02E76A}"/>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98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All three retained frames contribute to the correct final click</a:t>
            </a:r>
          </a:p>
        </p:txBody>
      </p:sp>
      <p:sp>
        <p:nvSpPr>
          <p:cNvPr id="3" name="">
            <a:extLst xmlns:a="http://schemas.openxmlformats.org/drawingml/2006/main">
              <a:ext uri="{FF2B5EF4-FFF2-40B4-BE49-F238E27FC236}">
                <a16:creationId xmlns:a16="http://schemas.microsoft.com/office/drawing/2014/main" id="{E202E8A8-6EA9-4292-BB41-479852BC9876}"/>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C0D98BD0-215A-46FE-900D-336905CC9A9E}"/>
              </a:ext>
            </a:extLst>
          </p:cNvPr>
          <p:cNvSpPr>
            <a:spLocks xmlns:a="http://schemas.openxmlformats.org/drawingml/2006/main" noGrp="1"/>
          </p:cNvSpPr>
          <p:nvPr/>
        </p:nvSpPr>
        <p:spPr>
          <a:xfrm xmlns:a="http://schemas.openxmlformats.org/drawingml/2006/main">
            <a:off x="609600" y="11239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Native 1024×720, no teacher forcing, final y-coordinate value-norm rollout</a:t>
            </a:r>
          </a:p>
        </p:txBody>
      </p:sp>
      <p:sp>
        <p:nvSpPr>
          <p:cNvPr id="5" name="">
            <a:extLst xmlns:a="http://schemas.openxmlformats.org/drawingml/2006/main">
              <a:ext uri="{FF2B5EF4-FFF2-40B4-BE49-F238E27FC236}">
                <a16:creationId xmlns:a16="http://schemas.microsoft.com/office/drawing/2014/main" id="{12A843EC-2FA8-4499-A637-1656F2806695}"/>
              </a:ext>
            </a:extLst>
          </p:cNvPr>
          <p:cNvSpPr>
            <a:spLocks xmlns:a="http://schemas.openxmlformats.org/drawingml/2006/main" noGrp="1"/>
          </p:cNvSpPr>
          <p:nvPr/>
        </p:nvSpPr>
        <p:spPr>
          <a:xfrm xmlns:a="http://schemas.openxmlformats.org/drawingml/2006/main">
            <a:off x="8858250" y="1095375"/>
            <a:ext cx="27241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FF07795-6B83-4B55-91A3-BF3006B41564}"/>
              </a:ext>
            </a:extLst>
          </p:cNvPr>
          <p:cNvSpPr>
            <a:spLocks xmlns:a="http://schemas.openxmlformats.org/drawingml/2006/main" noGrp="1"/>
          </p:cNvSpPr>
          <p:nvPr/>
        </p:nvSpPr>
        <p:spPr>
          <a:xfrm xmlns:a="http://schemas.openxmlformats.org/drawingml/2006/main">
            <a:off x="8953500" y="1114425"/>
            <a:ext cx="2533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3196"/>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ORANGE = MODEL CLICK, GREEN = ORACLE</a:t>
            </a:r>
          </a:p>
        </p:txBody>
      </p:sp>
      <p:sp>
        <p:nvSpPr>
          <p:cNvPr id="7" name="">
            <a:extLst xmlns:a="http://schemas.openxmlformats.org/drawingml/2006/main">
              <a:ext uri="{FF2B5EF4-FFF2-40B4-BE49-F238E27FC236}">
                <a16:creationId xmlns:a16="http://schemas.microsoft.com/office/drawing/2014/main" id="{B9ADF76C-C8C7-48B3-A40F-2A7691574C5A}"/>
              </a:ext>
            </a:extLst>
          </p:cNvPr>
          <p:cNvSpPr>
            <a:spLocks xmlns:a="http://schemas.openxmlformats.org/drawingml/2006/main" noGrp="1"/>
          </p:cNvSpPr>
          <p:nvPr/>
        </p:nvSpPr>
        <p:spPr>
          <a:xfrm xmlns:a="http://schemas.openxmlformats.org/drawingml/2006/main">
            <a:off x="609600" y="1400175"/>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HISTORY 1, OFFSET 500</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0bf4685983a74c33"/>
          <a:stretch xmlns:a="http://schemas.openxmlformats.org/drawingml/2006/main"/>
        </p:blipFill>
        <p:spPr>
          <a:xfrm xmlns:a="http://schemas.openxmlformats.org/drawingml/2006/main">
            <a:off x="644932" y="1714500"/>
            <a:ext cx="2215335" cy="43434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E93019E-9D2F-43BD-A200-AF697C1AE3BC}"/>
              </a:ext>
            </a:extLst>
          </p:cNvPr>
          <p:cNvSpPr>
            <a:spLocks xmlns:a="http://schemas.openxmlformats.org/drawingml/2006/main" noGrp="1"/>
          </p:cNvSpPr>
          <p:nvPr/>
        </p:nvSpPr>
        <p:spPr>
          <a:xfrm xmlns:a="http://schemas.openxmlformats.org/drawingml/2006/main">
            <a:off x="609600" y="1714500"/>
            <a:ext cx="2286000" cy="4343400"/>
          </a:xfrm>
          <a:prstGeom xmlns:a="http://schemas.openxmlformats.org/drawingml/2006/main" prst="roundRect">
            <a:avLst>
              <a:gd name="adj" fmla="val 3333"/>
            </a:avLst>
          </a:prstGeom>
          <a:noFill xmlns:a="http://schemas.openxmlformats.org/drawingml/2006/main"/>
          <a:ln xmlns:a="http://schemas.openxmlformats.org/drawingml/2006/main" w="9525">
            <a:solidFill>
              <a:srgbClr val="D9D4C8"/>
            </a:solidFill>
          </a:ln>
        </p:spPr>
      </p:sp>
      <p:sp>
        <p:nvSpPr>
          <p:cNvPr id="10" name="">
            <a:extLst xmlns:a="http://schemas.openxmlformats.org/drawingml/2006/main">
              <a:ext uri="{FF2B5EF4-FFF2-40B4-BE49-F238E27FC236}">
                <a16:creationId xmlns:a16="http://schemas.microsoft.com/office/drawing/2014/main" id="{3F64E251-B450-4FA8-AB5D-B1F629659F5D}"/>
              </a:ext>
            </a:extLst>
          </p:cNvPr>
          <p:cNvSpPr>
            <a:spLocks xmlns:a="http://schemas.openxmlformats.org/drawingml/2006/main" noGrp="1"/>
          </p:cNvSpPr>
          <p:nvPr/>
        </p:nvSpPr>
        <p:spPr>
          <a:xfrm xmlns:a="http://schemas.openxmlformats.org/drawingml/2006/main">
            <a:off x="3124200" y="1400175"/>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HISTORY 2, OFFSET 1000</a:t>
            </a:r>
          </a:p>
        </p:txBody>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128bbe923b984e3c"/>
          <a:stretch xmlns:a="http://schemas.openxmlformats.org/drawingml/2006/main"/>
        </p:blipFill>
        <p:spPr>
          <a:xfrm xmlns:a="http://schemas.openxmlformats.org/drawingml/2006/main">
            <a:off x="3159532" y="1714500"/>
            <a:ext cx="2215335" cy="43434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BDD5FBFC-E758-4425-A3AF-2A1994B61A61}"/>
              </a:ext>
            </a:extLst>
          </p:cNvPr>
          <p:cNvSpPr>
            <a:spLocks xmlns:a="http://schemas.openxmlformats.org/drawingml/2006/main" noGrp="1"/>
          </p:cNvSpPr>
          <p:nvPr/>
        </p:nvSpPr>
        <p:spPr>
          <a:xfrm xmlns:a="http://schemas.openxmlformats.org/drawingml/2006/main">
            <a:off x="3124200" y="1714500"/>
            <a:ext cx="2286000" cy="4343400"/>
          </a:xfrm>
          <a:prstGeom xmlns:a="http://schemas.openxmlformats.org/drawingml/2006/main" prst="roundRect">
            <a:avLst>
              <a:gd name="adj" fmla="val 3333"/>
            </a:avLst>
          </a:prstGeom>
          <a:noFill xmlns:a="http://schemas.openxmlformats.org/drawingml/2006/main"/>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F5AFE2F1-15D9-42B6-B06A-46E80F06ECA6}"/>
              </a:ext>
            </a:extLst>
          </p:cNvPr>
          <p:cNvSpPr>
            <a:spLocks xmlns:a="http://schemas.openxmlformats.org/drawingml/2006/main" noGrp="1"/>
          </p:cNvSpPr>
          <p:nvPr/>
        </p:nvSpPr>
        <p:spPr>
          <a:xfrm xmlns:a="http://schemas.openxmlformats.org/drawingml/2006/main">
            <a:off x="5638800" y="1400175"/>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CURRENT, OFFSET 1124</a:t>
            </a:r>
          </a:p>
        </p:txBody>
      </p:sp>
      <p:sp>
        <p:nvSpPr>
          <p:cNvPr id="14" name="">
            <a:extLst xmlns:a="http://schemas.openxmlformats.org/drawingml/2006/main">
              <a:ext uri="{FF2B5EF4-FFF2-40B4-BE49-F238E27FC236}">
                <a16:creationId xmlns:a16="http://schemas.microsoft.com/office/drawing/2014/main" id="{45ADB50F-87E6-4889-92C1-6A9544392B3B}"/>
              </a:ext>
            </a:extLst>
          </p:cNvPr>
          <p:cNvSpPr>
            <a:spLocks xmlns:a="http://schemas.openxmlformats.org/drawingml/2006/main" noGrp="1"/>
          </p:cNvSpPr>
          <p:nvPr/>
        </p:nvSpPr>
        <p:spPr>
          <a:xfrm xmlns:a="http://schemas.openxmlformats.org/drawingml/2006/main">
            <a:off x="5638800" y="1543050"/>
            <a:ext cx="2286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75" b="1">
                <a:solidFill>
                  <a:srgbClr val="66717D"/>
                </a:solidFill>
                <a:latin typeface="Helvetica Neue"/>
                <a:ea typeface="Helvetica Neue"/>
                <a:cs typeface="Helvetica Neue"/>
              </a:defRPr>
            </a:pPr>
            <a:r>
              <a:rPr sz="675" b="1">
                <a:solidFill>
                  <a:srgbClr val="66717D"/>
                </a:solidFill>
                <a:latin typeface="Helvetica Neue"/>
                <a:ea typeface="Helvetica Neue"/>
                <a:cs typeface="Helvetica Neue"/>
              </a:rPr>
              <a:t>normalized (650,450), pixel (665,324)</a:t>
            </a:r>
          </a:p>
        </p:txBody>
      </p:sp>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9cdd926680f0478e"/>
          <a:stretch xmlns:a="http://schemas.openxmlformats.org/drawingml/2006/main"/>
        </p:blipFill>
        <p:spPr>
          <a:xfrm xmlns:a="http://schemas.openxmlformats.org/drawingml/2006/main">
            <a:off x="5674132" y="1714500"/>
            <a:ext cx="2215335" cy="43434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28490D15-4D3A-46CF-8A9A-3B312467C218}"/>
              </a:ext>
            </a:extLst>
          </p:cNvPr>
          <p:cNvSpPr>
            <a:spLocks xmlns:a="http://schemas.openxmlformats.org/drawingml/2006/main" noGrp="1"/>
          </p:cNvSpPr>
          <p:nvPr/>
        </p:nvSpPr>
        <p:spPr>
          <a:xfrm xmlns:a="http://schemas.openxmlformats.org/drawingml/2006/main">
            <a:off x="5638800" y="1714500"/>
            <a:ext cx="2286000" cy="4343400"/>
          </a:xfrm>
          <a:prstGeom xmlns:a="http://schemas.openxmlformats.org/drawingml/2006/main" prst="roundRect">
            <a:avLst>
              <a:gd name="adj" fmla="val 3333"/>
            </a:avLst>
          </a:prstGeom>
          <a:noFill xmlns:a="http://schemas.openxmlformats.org/drawingml/2006/main"/>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53EEBE68-9165-4D3B-A5DD-3CC6A0FCA1E9}"/>
              </a:ext>
            </a:extLst>
          </p:cNvPr>
          <p:cNvSpPr>
            <a:spLocks xmlns:a="http://schemas.openxmlformats.org/drawingml/2006/main" noGrp="1"/>
          </p:cNvSpPr>
          <p:nvPr/>
        </p:nvSpPr>
        <p:spPr>
          <a:xfrm xmlns:a="http://schemas.openxmlformats.org/drawingml/2006/main">
            <a:off x="6654250" y="3171251"/>
            <a:ext cx="751871" cy="389362"/>
          </a:xfrm>
          <a:prstGeom xmlns:a="http://schemas.openxmlformats.org/drawingml/2006/main" prst="roundRect">
            <a:avLst>
              <a:gd name="adj" fmla="val 19570"/>
            </a:avLst>
          </a:prstGeom>
          <a:noFill xmlns:a="http://schemas.openxmlformats.org/drawingml/2006/main"/>
          <a:ln xmlns:a="http://schemas.openxmlformats.org/drawingml/2006/main" w="9525">
            <a:solidFill>
              <a:srgbClr val="18A875"/>
            </a:solidFill>
          </a:ln>
        </p:spPr>
      </p:sp>
      <p:sp>
        <p:nvSpPr>
          <p:cNvPr id="18" name="">
            <a:extLst xmlns:a="http://schemas.openxmlformats.org/drawingml/2006/main">
              <a:ext uri="{FF2B5EF4-FFF2-40B4-BE49-F238E27FC236}">
                <a16:creationId xmlns:a16="http://schemas.microsoft.com/office/drawing/2014/main" id="{97E9997A-7AF9-4BB9-82E8-1F0AAC596C55}"/>
              </a:ext>
            </a:extLst>
          </p:cNvPr>
          <p:cNvSpPr>
            <a:spLocks xmlns:a="http://schemas.openxmlformats.org/drawingml/2006/main" noGrp="1"/>
          </p:cNvSpPr>
          <p:nvPr/>
        </p:nvSpPr>
        <p:spPr>
          <a:xfrm xmlns:a="http://schemas.openxmlformats.org/drawingml/2006/main">
            <a:off x="7017216" y="3332823"/>
            <a:ext cx="133350" cy="133350"/>
          </a:xfrm>
          <a:prstGeom xmlns:a="http://schemas.openxmlformats.org/drawingml/2006/main" prst="ellipse">
            <a:avLst/>
          </a:prstGeom>
          <a:noFill xmlns:a="http://schemas.openxmlformats.org/drawingml/2006/main"/>
          <a:ln xmlns:a="http://schemas.openxmlformats.org/drawingml/2006/main" w="66675">
            <a:solidFill>
              <a:srgbClr val="F05A3C"/>
            </a:solidFill>
          </a:ln>
        </p:spPr>
      </p:sp>
      <p:sp>
        <p:nvSpPr>
          <p:cNvPr id="19" name="">
            <a:extLst xmlns:a="http://schemas.openxmlformats.org/drawingml/2006/main">
              <a:ext uri="{FF2B5EF4-FFF2-40B4-BE49-F238E27FC236}">
                <a16:creationId xmlns:a16="http://schemas.microsoft.com/office/drawing/2014/main" id="{09680939-E759-489C-8548-547E0CE3189B}"/>
              </a:ext>
            </a:extLst>
          </p:cNvPr>
          <p:cNvSpPr>
            <a:spLocks xmlns:a="http://schemas.openxmlformats.org/drawingml/2006/main" noGrp="1"/>
          </p:cNvSpPr>
          <p:nvPr/>
        </p:nvSpPr>
        <p:spPr>
          <a:xfrm xmlns:a="http://schemas.openxmlformats.org/drawingml/2006/main">
            <a:off x="7017216" y="3332823"/>
            <a:ext cx="133350" cy="133350"/>
          </a:xfrm>
          <a:prstGeom xmlns:a="http://schemas.openxmlformats.org/drawingml/2006/main" prst="ellipse">
            <a:avLst/>
          </a:prstGeom>
          <a:noFill xmlns:a="http://schemas.openxmlformats.org/drawingml/2006/main"/>
          <a:ln xmlns:a="http://schemas.openxmlformats.org/drawingml/2006/main" w="28575">
            <a:solidFill>
              <a:srgbClr val="FFFFFF"/>
            </a:solidFill>
          </a:ln>
        </p:spPr>
      </p:sp>
      <p:sp>
        <p:nvSpPr>
          <p:cNvPr id="20" name="">
            <a:extLst xmlns:a="http://schemas.openxmlformats.org/drawingml/2006/main">
              <a:ext uri="{FF2B5EF4-FFF2-40B4-BE49-F238E27FC236}">
                <a16:creationId xmlns:a16="http://schemas.microsoft.com/office/drawing/2014/main" id="{B5E3D55C-1EBE-47D6-8981-50F5AE7C90C9}"/>
              </a:ext>
            </a:extLst>
          </p:cNvPr>
          <p:cNvSpPr>
            <a:spLocks xmlns:a="http://schemas.openxmlformats.org/drawingml/2006/main" noGrp="1"/>
          </p:cNvSpPr>
          <p:nvPr/>
        </p:nvSpPr>
        <p:spPr>
          <a:xfrm xmlns:a="http://schemas.openxmlformats.org/drawingml/2006/main">
            <a:off x="6960066" y="3366160"/>
            <a:ext cx="247650" cy="66675"/>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5DC29DE-995E-4E67-8F66-826350C29716}"/>
              </a:ext>
            </a:extLst>
          </p:cNvPr>
          <p:cNvSpPr>
            <a:spLocks xmlns:a="http://schemas.openxmlformats.org/drawingml/2006/main" noGrp="1"/>
          </p:cNvSpPr>
          <p:nvPr/>
        </p:nvSpPr>
        <p:spPr>
          <a:xfrm xmlns:a="http://schemas.openxmlformats.org/drawingml/2006/main">
            <a:off x="7050554" y="3275673"/>
            <a:ext cx="66675" cy="24765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2B52AF8-56A7-4A5B-BC23-90FB8A08080F}"/>
              </a:ext>
            </a:extLst>
          </p:cNvPr>
          <p:cNvSpPr>
            <a:spLocks xmlns:a="http://schemas.openxmlformats.org/drawingml/2006/main" noGrp="1"/>
          </p:cNvSpPr>
          <p:nvPr/>
        </p:nvSpPr>
        <p:spPr>
          <a:xfrm xmlns:a="http://schemas.openxmlformats.org/drawingml/2006/main">
            <a:off x="6960066" y="3385210"/>
            <a:ext cx="247650" cy="285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1C3AAF2-D239-488C-B8BE-C7CEF1B9F5E4}"/>
              </a:ext>
            </a:extLst>
          </p:cNvPr>
          <p:cNvSpPr>
            <a:spLocks xmlns:a="http://schemas.openxmlformats.org/drawingml/2006/main" noGrp="1"/>
          </p:cNvSpPr>
          <p:nvPr/>
        </p:nvSpPr>
        <p:spPr>
          <a:xfrm xmlns:a="http://schemas.openxmlformats.org/drawingml/2006/main">
            <a:off x="7069604" y="3275673"/>
            <a:ext cx="28575" cy="2476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9E153E0-F4BB-43A9-8B11-994F8FB9A980}"/>
              </a:ext>
            </a:extLst>
          </p:cNvPr>
          <p:cNvSpPr>
            <a:spLocks xmlns:a="http://schemas.openxmlformats.org/drawingml/2006/main" noGrp="1"/>
          </p:cNvSpPr>
          <p:nvPr/>
        </p:nvSpPr>
        <p:spPr>
          <a:xfrm xmlns:a="http://schemas.openxmlformats.org/drawingml/2006/main">
            <a:off x="8229600" y="1438275"/>
            <a:ext cx="3352800" cy="4619625"/>
          </a:xfrm>
          <a:prstGeom xmlns:a="http://schemas.openxmlformats.org/drawingml/2006/main" prst="roundRect">
            <a:avLst>
              <a:gd name="adj" fmla="val 2273"/>
            </a:avLst>
          </a:prstGeom>
          <a:solidFill xmlns:a="http://schemas.openxmlformats.org/drawingml/2006/main">
            <a:srgbClr val="1C273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9461620-CA95-44E6-873F-B112D1870ABC}"/>
              </a:ext>
            </a:extLst>
          </p:cNvPr>
          <p:cNvSpPr>
            <a:spLocks xmlns:a="http://schemas.openxmlformats.org/drawingml/2006/main" noGrp="1"/>
          </p:cNvSpPr>
          <p:nvPr/>
        </p:nvSpPr>
        <p:spPr>
          <a:xfrm xmlns:a="http://schemas.openxmlformats.org/drawingml/2006/main">
            <a:off x="8477250" y="1657350"/>
            <a:ext cx="17907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D03586D-F9DC-4EAF-B5C3-C62DFC9555B5}"/>
              </a:ext>
            </a:extLst>
          </p:cNvPr>
          <p:cNvSpPr>
            <a:spLocks xmlns:a="http://schemas.openxmlformats.org/drawingml/2006/main" noGrp="1"/>
          </p:cNvSpPr>
          <p:nvPr/>
        </p:nvSpPr>
        <p:spPr>
          <a:xfrm xmlns:a="http://schemas.openxmlformats.org/drawingml/2006/main">
            <a:off x="8572500" y="1676400"/>
            <a:ext cx="1600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FREE ROLLOUT SUCCESS</a:t>
            </a:r>
          </a:p>
        </p:txBody>
      </p:sp>
      <p:sp>
        <p:nvSpPr>
          <p:cNvPr id="27" name="">
            <a:extLst xmlns:a="http://schemas.openxmlformats.org/drawingml/2006/main">
              <a:ext uri="{FF2B5EF4-FFF2-40B4-BE49-F238E27FC236}">
                <a16:creationId xmlns:a16="http://schemas.microsoft.com/office/drawing/2014/main" id="{B83C032E-0DA8-439B-A57F-FAEC8FA4DE81}"/>
              </a:ext>
            </a:extLst>
          </p:cNvPr>
          <p:cNvSpPr>
            <a:spLocks xmlns:a="http://schemas.openxmlformats.org/drawingml/2006/main" noGrp="1"/>
          </p:cNvSpPr>
          <p:nvPr/>
        </p:nvSpPr>
        <p:spPr>
          <a:xfrm xmlns:a="http://schemas.openxmlformats.org/drawingml/2006/main">
            <a:off x="8477250" y="209550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18A875"/>
                </a:solidFill>
                <a:latin typeface="Helvetica Neue"/>
                <a:ea typeface="Helvetica Neue"/>
                <a:cs typeface="Helvetica Neue"/>
              </a:defRPr>
            </a:pPr>
            <a:r>
              <a:rPr sz="750" b="1">
                <a:solidFill>
                  <a:srgbClr val="18A875"/>
                </a:solidFill>
                <a:latin typeface="Helvetica Neue"/>
                <a:ea typeface="Helvetica Neue"/>
                <a:cs typeface="Helvetica Neue"/>
              </a:rPr>
              <a:t>SELECTED HOTEL = ORACLE</a:t>
            </a:r>
          </a:p>
        </p:txBody>
      </p:sp>
      <p:sp>
        <p:nvSpPr>
          <p:cNvPr id="28" name="">
            <a:extLst xmlns:a="http://schemas.openxmlformats.org/drawingml/2006/main">
              <a:ext uri="{FF2B5EF4-FFF2-40B4-BE49-F238E27FC236}">
                <a16:creationId xmlns:a16="http://schemas.microsoft.com/office/drawing/2014/main" id="{146F2FE4-C35C-4D19-8287-A99E3B04E328}"/>
              </a:ext>
            </a:extLst>
          </p:cNvPr>
          <p:cNvSpPr>
            <a:spLocks xmlns:a="http://schemas.openxmlformats.org/drawingml/2006/main" noGrp="1"/>
          </p:cNvSpPr>
          <p:nvPr/>
        </p:nvSpPr>
        <p:spPr>
          <a:xfrm xmlns:a="http://schemas.openxmlformats.org/drawingml/2006/main">
            <a:off x="8477250" y="2295525"/>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Lumen Harbor Rooms</a:t>
            </a:r>
          </a:p>
        </p:txBody>
      </p:sp>
      <p:sp>
        <p:nvSpPr>
          <p:cNvPr id="29" name="">
            <a:extLst xmlns:a="http://schemas.openxmlformats.org/drawingml/2006/main">
              <a:ext uri="{FF2B5EF4-FFF2-40B4-BE49-F238E27FC236}">
                <a16:creationId xmlns:a16="http://schemas.microsoft.com/office/drawing/2014/main" id="{4B1DE4CE-C1AE-4669-81F4-447417934CA1}"/>
              </a:ext>
            </a:extLst>
          </p:cNvPr>
          <p:cNvSpPr>
            <a:spLocks xmlns:a="http://schemas.openxmlformats.org/drawingml/2006/main" noGrp="1"/>
          </p:cNvSpPr>
          <p:nvPr/>
        </p:nvSpPr>
        <p:spPr>
          <a:xfrm xmlns:a="http://schemas.openxmlformats.org/drawingml/2006/main">
            <a:off x="8477250" y="2552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18A875"/>
                </a:solidFill>
                <a:latin typeface="Helvetica Neue"/>
                <a:ea typeface="Helvetica Neue"/>
                <a:cs typeface="Helvetica Neue"/>
              </a:defRPr>
            </a:pPr>
            <a:r>
              <a:rPr sz="1200" b="1">
                <a:solidFill>
                  <a:srgbClr val="18A875"/>
                </a:solidFill>
                <a:latin typeface="Helvetica Neue"/>
                <a:ea typeface="Helvetica Neue"/>
                <a:cs typeface="Helvetica Neue"/>
              </a:rPr>
              <a:t>£122 per night, fixture minimum</a:t>
            </a:r>
          </a:p>
        </p:txBody>
      </p:sp>
      <p:sp>
        <p:nvSpPr>
          <p:cNvPr id="30" name="">
            <a:extLst xmlns:a="http://schemas.openxmlformats.org/drawingml/2006/main">
              <a:ext uri="{FF2B5EF4-FFF2-40B4-BE49-F238E27FC236}">
                <a16:creationId xmlns:a16="http://schemas.microsoft.com/office/drawing/2014/main" id="{57F359D7-476F-42B7-87C3-BE2D4497F16E}"/>
              </a:ext>
            </a:extLst>
          </p:cNvPr>
          <p:cNvSpPr>
            <a:spLocks xmlns:a="http://schemas.openxmlformats.org/drawingml/2006/main" noGrp="1"/>
          </p:cNvSpPr>
          <p:nvPr/>
        </p:nvSpPr>
        <p:spPr>
          <a:xfrm xmlns:a="http://schemas.openxmlformats.org/drawingml/2006/main">
            <a:off x="8477250" y="2905125"/>
            <a:ext cx="1333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F05A3C"/>
                </a:solidFill>
                <a:latin typeface="Helvetica Neue"/>
                <a:ea typeface="Helvetica Neue"/>
                <a:cs typeface="Helvetica Neue"/>
              </a:defRPr>
            </a:pPr>
            <a:r>
              <a:rPr sz="750" b="1">
                <a:solidFill>
                  <a:srgbClr val="F05A3C"/>
                </a:solidFill>
                <a:latin typeface="Helvetica Neue"/>
                <a:ea typeface="Helvetica Neue"/>
                <a:cs typeface="Helvetica Neue"/>
              </a:rPr>
              <a:t>FINAL ACTION</a:t>
            </a:r>
          </a:p>
        </p:txBody>
      </p:sp>
      <p:sp>
        <p:nvSpPr>
          <p:cNvPr id="31" name="">
            <a:extLst xmlns:a="http://schemas.openxmlformats.org/drawingml/2006/main">
              <a:ext uri="{FF2B5EF4-FFF2-40B4-BE49-F238E27FC236}">
                <a16:creationId xmlns:a16="http://schemas.microsoft.com/office/drawing/2014/main" id="{F43C9E2A-0515-44A1-8104-B2EFC2CDDD1B}"/>
              </a:ext>
            </a:extLst>
          </p:cNvPr>
          <p:cNvSpPr>
            <a:spLocks xmlns:a="http://schemas.openxmlformats.org/drawingml/2006/main" noGrp="1"/>
          </p:cNvSpPr>
          <p:nvPr/>
        </p:nvSpPr>
        <p:spPr>
          <a:xfrm xmlns:a="http://schemas.openxmlformats.org/drawingml/2006/main">
            <a:off x="8477250" y="310515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click_desktop (650,450)</a:t>
            </a:r>
          </a:p>
        </p:txBody>
      </p:sp>
      <p:sp>
        <p:nvSpPr>
          <p:cNvPr id="32" name="">
            <a:extLst xmlns:a="http://schemas.openxmlformats.org/drawingml/2006/main">
              <a:ext uri="{FF2B5EF4-FFF2-40B4-BE49-F238E27FC236}">
                <a16:creationId xmlns:a16="http://schemas.microsoft.com/office/drawing/2014/main" id="{F1182530-188A-46EC-92DA-1E32FA40A799}"/>
              </a:ext>
            </a:extLst>
          </p:cNvPr>
          <p:cNvSpPr>
            <a:spLocks xmlns:a="http://schemas.openxmlformats.org/drawingml/2006/main" noGrp="1"/>
          </p:cNvSpPr>
          <p:nvPr/>
        </p:nvSpPr>
        <p:spPr>
          <a:xfrm xmlns:a="http://schemas.openxmlformats.org/drawingml/2006/main">
            <a:off x="8477250" y="3362325"/>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05A3C"/>
                </a:solidFill>
                <a:latin typeface="Helvetica Neue"/>
                <a:ea typeface="Helvetica Neue"/>
                <a:cs typeface="Helvetica Neue"/>
              </a:defRPr>
            </a:pPr>
            <a:r>
              <a:rPr sz="1125" b="1">
                <a:solidFill>
                  <a:srgbClr val="F05A3C"/>
                </a:solidFill>
                <a:latin typeface="Helvetica Neue"/>
                <a:ea typeface="Helvetica Neue"/>
                <a:cs typeface="Helvetica Neue"/>
              </a:rPr>
              <a:t>pixel (665,324), inside target</a:t>
            </a:r>
          </a:p>
        </p:txBody>
      </p:sp>
      <p:sp>
        <p:nvSpPr>
          <p:cNvPr id="33" name="">
            <a:extLst xmlns:a="http://schemas.openxmlformats.org/drawingml/2006/main">
              <a:ext uri="{FF2B5EF4-FFF2-40B4-BE49-F238E27FC236}">
                <a16:creationId xmlns:a16="http://schemas.microsoft.com/office/drawing/2014/main" id="{54B2C486-3A1D-4AB7-AC9A-019349BB452E}"/>
              </a:ext>
            </a:extLst>
          </p:cNvPr>
          <p:cNvSpPr>
            <a:spLocks xmlns:a="http://schemas.openxmlformats.org/drawingml/2006/main" noGrp="1"/>
          </p:cNvSpPr>
          <p:nvPr/>
        </p:nvSpPr>
        <p:spPr>
          <a:xfrm xmlns:a="http://schemas.openxmlformats.org/drawingml/2006/main">
            <a:off x="8477250" y="3743325"/>
            <a:ext cx="285750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5800D4C0-DFEB-42AC-9CCB-9C1663F96DAF}"/>
              </a:ext>
            </a:extLst>
          </p:cNvPr>
          <p:cNvSpPr>
            <a:spLocks xmlns:a="http://schemas.openxmlformats.org/drawingml/2006/main" noGrp="1"/>
          </p:cNvSpPr>
          <p:nvPr/>
        </p:nvSpPr>
        <p:spPr>
          <a:xfrm xmlns:a="http://schemas.openxmlformats.org/drawingml/2006/main">
            <a:off x="8477250" y="390525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FINAL y-TOKEN ROUTING</a:t>
            </a:r>
          </a:p>
        </p:txBody>
      </p:sp>
      <p:sp>
        <p:nvSpPr>
          <p:cNvPr id="35" name="">
            <a:extLst xmlns:a="http://schemas.openxmlformats.org/drawingml/2006/main">
              <a:ext uri="{FF2B5EF4-FFF2-40B4-BE49-F238E27FC236}">
                <a16:creationId xmlns:a16="http://schemas.microsoft.com/office/drawing/2014/main" id="{F498DD3B-1EC3-4B88-9EB3-9C3F8563D9A6}"/>
              </a:ext>
            </a:extLst>
          </p:cNvPr>
          <p:cNvSpPr>
            <a:spLocks xmlns:a="http://schemas.openxmlformats.org/drawingml/2006/main" noGrp="1"/>
          </p:cNvSpPr>
          <p:nvPr/>
        </p:nvSpPr>
        <p:spPr>
          <a:xfrm xmlns:a="http://schemas.openxmlformats.org/drawingml/2006/main">
            <a:off x="8477250" y="42005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H1</a:t>
            </a:r>
          </a:p>
        </p:txBody>
      </p:sp>
      <p:sp>
        <p:nvSpPr>
          <p:cNvPr id="36" name="">
            <a:extLst xmlns:a="http://schemas.openxmlformats.org/drawingml/2006/main">
              <a:ext uri="{FF2B5EF4-FFF2-40B4-BE49-F238E27FC236}">
                <a16:creationId xmlns:a16="http://schemas.microsoft.com/office/drawing/2014/main" id="{CEB32FA7-FD2D-4BFC-B627-DF5375848F3F}"/>
              </a:ext>
            </a:extLst>
          </p:cNvPr>
          <p:cNvSpPr>
            <a:spLocks xmlns:a="http://schemas.openxmlformats.org/drawingml/2006/main" noGrp="1"/>
          </p:cNvSpPr>
          <p:nvPr/>
        </p:nvSpPr>
        <p:spPr>
          <a:xfrm xmlns:a="http://schemas.openxmlformats.org/drawingml/2006/main">
            <a:off x="8782050" y="4219575"/>
            <a:ext cx="2000250" cy="152400"/>
          </a:xfrm>
          <a:prstGeom xmlns:a="http://schemas.openxmlformats.org/drawingml/2006/main" prst="roundRect">
            <a:avLst>
              <a:gd name="adj" fmla="val 50000"/>
            </a:avLst>
          </a:prstGeom>
          <a:solidFill xmlns:a="http://schemas.openxmlformats.org/drawingml/2006/main">
            <a:srgbClr val="465563"/>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BEE91C75-BDD4-4259-A65C-BAA4E587FB0F}"/>
              </a:ext>
            </a:extLst>
          </p:cNvPr>
          <p:cNvSpPr>
            <a:spLocks xmlns:a="http://schemas.openxmlformats.org/drawingml/2006/main" noGrp="1"/>
          </p:cNvSpPr>
          <p:nvPr/>
        </p:nvSpPr>
        <p:spPr>
          <a:xfrm xmlns:a="http://schemas.openxmlformats.org/drawingml/2006/main">
            <a:off x="8782050" y="4219575"/>
            <a:ext cx="1715954" cy="152400"/>
          </a:xfrm>
          <a:prstGeom xmlns:a="http://schemas.openxmlformats.org/drawingml/2006/main" prst="roundRect">
            <a:avLst>
              <a:gd name="adj" fmla="val 50000"/>
            </a:avLst>
          </a:prstGeom>
          <a:solidFill xmlns:a="http://schemas.openxmlformats.org/drawingml/2006/main">
            <a:srgbClr val="2D84D3"/>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7E91B8B1-0B85-41F5-BE58-7C93F449154C}"/>
              </a:ext>
            </a:extLst>
          </p:cNvPr>
          <p:cNvSpPr>
            <a:spLocks xmlns:a="http://schemas.openxmlformats.org/drawingml/2006/main" noGrp="1"/>
          </p:cNvSpPr>
          <p:nvPr/>
        </p:nvSpPr>
        <p:spPr>
          <a:xfrm xmlns:a="http://schemas.openxmlformats.org/drawingml/2006/main">
            <a:off x="10858500" y="41910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38.6%</a:t>
            </a:r>
          </a:p>
        </p:txBody>
      </p:sp>
      <p:sp>
        <p:nvSpPr>
          <p:cNvPr id="39" name="">
            <a:extLst xmlns:a="http://schemas.openxmlformats.org/drawingml/2006/main">
              <a:ext uri="{FF2B5EF4-FFF2-40B4-BE49-F238E27FC236}">
                <a16:creationId xmlns:a16="http://schemas.microsoft.com/office/drawing/2014/main" id="{8B4122D1-EE38-4BA5-ADCA-2A2042BE5214}"/>
              </a:ext>
            </a:extLst>
          </p:cNvPr>
          <p:cNvSpPr>
            <a:spLocks xmlns:a="http://schemas.openxmlformats.org/drawingml/2006/main" noGrp="1"/>
          </p:cNvSpPr>
          <p:nvPr/>
        </p:nvSpPr>
        <p:spPr>
          <a:xfrm xmlns:a="http://schemas.openxmlformats.org/drawingml/2006/main">
            <a:off x="8477250" y="4533900"/>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H2</a:t>
            </a:r>
          </a:p>
        </p:txBody>
      </p:sp>
      <p:sp>
        <p:nvSpPr>
          <p:cNvPr id="40" name="">
            <a:extLst xmlns:a="http://schemas.openxmlformats.org/drawingml/2006/main">
              <a:ext uri="{FF2B5EF4-FFF2-40B4-BE49-F238E27FC236}">
                <a16:creationId xmlns:a16="http://schemas.microsoft.com/office/drawing/2014/main" id="{25B72773-F1A5-4D2C-A590-095C8A3E1B69}"/>
              </a:ext>
            </a:extLst>
          </p:cNvPr>
          <p:cNvSpPr>
            <a:spLocks xmlns:a="http://schemas.openxmlformats.org/drawingml/2006/main" noGrp="1"/>
          </p:cNvSpPr>
          <p:nvPr/>
        </p:nvSpPr>
        <p:spPr>
          <a:xfrm xmlns:a="http://schemas.openxmlformats.org/drawingml/2006/main">
            <a:off x="8782050" y="4552950"/>
            <a:ext cx="2000250" cy="152400"/>
          </a:xfrm>
          <a:prstGeom xmlns:a="http://schemas.openxmlformats.org/drawingml/2006/main" prst="roundRect">
            <a:avLst>
              <a:gd name="adj" fmla="val 50000"/>
            </a:avLst>
          </a:prstGeom>
          <a:solidFill xmlns:a="http://schemas.openxmlformats.org/drawingml/2006/main">
            <a:srgbClr val="465563"/>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023D60C5-5F0B-49CC-A7DE-40E109A2D0AD}"/>
              </a:ext>
            </a:extLst>
          </p:cNvPr>
          <p:cNvSpPr>
            <a:spLocks xmlns:a="http://schemas.openxmlformats.org/drawingml/2006/main" noGrp="1"/>
          </p:cNvSpPr>
          <p:nvPr/>
        </p:nvSpPr>
        <p:spPr>
          <a:xfrm xmlns:a="http://schemas.openxmlformats.org/drawingml/2006/main">
            <a:off x="8782050" y="4552950"/>
            <a:ext cx="1298257" cy="152400"/>
          </a:xfrm>
          <a:prstGeom xmlns:a="http://schemas.openxmlformats.org/drawingml/2006/main" prst="roundRect">
            <a:avLst>
              <a:gd name="adj" fmla="val 50000"/>
            </a:avLst>
          </a:prstGeom>
          <a:solidFill xmlns:a="http://schemas.openxmlformats.org/drawingml/2006/main">
            <a:srgbClr val="2D84D3"/>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02BD4F44-0DA3-4FB0-ACB7-66B44459BA34}"/>
              </a:ext>
            </a:extLst>
          </p:cNvPr>
          <p:cNvSpPr>
            <a:spLocks xmlns:a="http://schemas.openxmlformats.org/drawingml/2006/main" noGrp="1"/>
          </p:cNvSpPr>
          <p:nvPr/>
        </p:nvSpPr>
        <p:spPr>
          <a:xfrm xmlns:a="http://schemas.openxmlformats.org/drawingml/2006/main">
            <a:off x="10858500" y="452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29.2%</a:t>
            </a:r>
          </a:p>
        </p:txBody>
      </p:sp>
      <p:sp>
        <p:nvSpPr>
          <p:cNvPr id="43" name="">
            <a:extLst xmlns:a="http://schemas.openxmlformats.org/drawingml/2006/main">
              <a:ext uri="{FF2B5EF4-FFF2-40B4-BE49-F238E27FC236}">
                <a16:creationId xmlns:a16="http://schemas.microsoft.com/office/drawing/2014/main" id="{223BD472-8955-4984-82F8-3C8825C247EA}"/>
              </a:ext>
            </a:extLst>
          </p:cNvPr>
          <p:cNvSpPr>
            <a:spLocks xmlns:a="http://schemas.openxmlformats.org/drawingml/2006/main" noGrp="1"/>
          </p:cNvSpPr>
          <p:nvPr/>
        </p:nvSpPr>
        <p:spPr>
          <a:xfrm xmlns:a="http://schemas.openxmlformats.org/drawingml/2006/main">
            <a:off x="8477250" y="486727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NOW</a:t>
            </a:r>
          </a:p>
        </p:txBody>
      </p:sp>
      <p:sp>
        <p:nvSpPr>
          <p:cNvPr id="44" name="">
            <a:extLst xmlns:a="http://schemas.openxmlformats.org/drawingml/2006/main">
              <a:ext uri="{FF2B5EF4-FFF2-40B4-BE49-F238E27FC236}">
                <a16:creationId xmlns:a16="http://schemas.microsoft.com/office/drawing/2014/main" id="{E8793712-29F0-4CB0-8D95-60D6660B143B}"/>
              </a:ext>
            </a:extLst>
          </p:cNvPr>
          <p:cNvSpPr>
            <a:spLocks xmlns:a="http://schemas.openxmlformats.org/drawingml/2006/main" noGrp="1"/>
          </p:cNvSpPr>
          <p:nvPr/>
        </p:nvSpPr>
        <p:spPr>
          <a:xfrm xmlns:a="http://schemas.openxmlformats.org/drawingml/2006/main">
            <a:off x="8782050" y="4886325"/>
            <a:ext cx="2000250" cy="152400"/>
          </a:xfrm>
          <a:prstGeom xmlns:a="http://schemas.openxmlformats.org/drawingml/2006/main" prst="roundRect">
            <a:avLst>
              <a:gd name="adj" fmla="val 50000"/>
            </a:avLst>
          </a:prstGeom>
          <a:solidFill xmlns:a="http://schemas.openxmlformats.org/drawingml/2006/main">
            <a:srgbClr val="465563"/>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5EDB079F-2AED-4F51-8BDB-F848E29950F2}"/>
              </a:ext>
            </a:extLst>
          </p:cNvPr>
          <p:cNvSpPr>
            <a:spLocks xmlns:a="http://schemas.openxmlformats.org/drawingml/2006/main" noGrp="1"/>
          </p:cNvSpPr>
          <p:nvPr/>
        </p:nvSpPr>
        <p:spPr>
          <a:xfrm xmlns:a="http://schemas.openxmlformats.org/drawingml/2006/main">
            <a:off x="8782050" y="4886325"/>
            <a:ext cx="1430789" cy="1524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29A446B5-FDA8-46DA-BD51-A261A846B1A7}"/>
              </a:ext>
            </a:extLst>
          </p:cNvPr>
          <p:cNvSpPr>
            <a:spLocks xmlns:a="http://schemas.openxmlformats.org/drawingml/2006/main" noGrp="1"/>
          </p:cNvSpPr>
          <p:nvPr/>
        </p:nvSpPr>
        <p:spPr>
          <a:xfrm xmlns:a="http://schemas.openxmlformats.org/drawingml/2006/main">
            <a:off x="10858500" y="48577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32.2%</a:t>
            </a:r>
          </a:p>
        </p:txBody>
      </p:sp>
      <p:sp>
        <p:nvSpPr>
          <p:cNvPr id="47" name="">
            <a:extLst xmlns:a="http://schemas.openxmlformats.org/drawingml/2006/main">
              <a:ext uri="{FF2B5EF4-FFF2-40B4-BE49-F238E27FC236}">
                <a16:creationId xmlns:a16="http://schemas.microsoft.com/office/drawing/2014/main" id="{219127CF-9CDF-4868-9B49-C636DA66AB83}"/>
              </a:ext>
            </a:extLst>
          </p:cNvPr>
          <p:cNvSpPr>
            <a:spLocks xmlns:a="http://schemas.openxmlformats.org/drawingml/2006/main" noGrp="1"/>
          </p:cNvSpPr>
          <p:nvPr/>
        </p:nvSpPr>
        <p:spPr>
          <a:xfrm xmlns:a="http://schemas.openxmlformats.org/drawingml/2006/main">
            <a:off x="8477250" y="521017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No single frame dominates the final y-coordinate route.</a:t>
            </a:r>
          </a:p>
        </p:txBody>
      </p:sp>
      <p:sp>
        <p:nvSpPr>
          <p:cNvPr id="48" name="">
            <a:extLst xmlns:a="http://schemas.openxmlformats.org/drawingml/2006/main">
              <a:ext uri="{FF2B5EF4-FFF2-40B4-BE49-F238E27FC236}">
                <a16:creationId xmlns:a16="http://schemas.microsoft.com/office/drawing/2014/main" id="{D4ABC8BB-4A18-48B3-8FEA-280417E4DC31}"/>
              </a:ext>
            </a:extLst>
          </p:cNvPr>
          <p:cNvSpPr>
            <a:spLocks xmlns:a="http://schemas.openxmlformats.org/drawingml/2006/main" noGrp="1"/>
          </p:cNvSpPr>
          <p:nvPr/>
        </p:nvSpPr>
        <p:spPr>
          <a:xfrm xmlns:a="http://schemas.openxmlformats.org/drawingml/2006/main">
            <a:off x="8477250" y="5676900"/>
            <a:ext cx="2857500" cy="266700"/>
          </a:xfrm>
          <a:prstGeom xmlns:a="http://schemas.openxmlformats.org/drawingml/2006/main" prst="roundRect">
            <a:avLst>
              <a:gd name="adj" fmla="val 28571"/>
            </a:avLst>
          </a:prstGeom>
          <a:solidFill xmlns:a="http://schemas.openxmlformats.org/drawingml/2006/main">
            <a:srgbClr val="2A3845"/>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E2F817D6-5A8B-4DC7-B7E9-3BDBC9D807C1}"/>
              </a:ext>
            </a:extLst>
          </p:cNvPr>
          <p:cNvSpPr>
            <a:spLocks xmlns:a="http://schemas.openxmlformats.org/drawingml/2006/main" noGrp="1"/>
          </p:cNvSpPr>
          <p:nvPr/>
        </p:nvSpPr>
        <p:spPr>
          <a:xfrm xmlns:a="http://schemas.openxmlformats.org/drawingml/2006/main">
            <a:off x="8572500" y="5715000"/>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750" b="0">
                <a:solidFill>
                  <a:srgbClr val="D5DEE6"/>
                </a:solidFill>
                <a:latin typeface="Helvetica Neue"/>
                <a:ea typeface="Helvetica Neue"/>
                <a:cs typeface="Helvetica Neue"/>
              </a:defRPr>
            </a:pPr>
            <a:r>
              <a:rPr sz="750" b="0">
                <a:solidFill>
                  <a:srgbClr val="D5DEE6"/>
                </a:solidFill>
                <a:latin typeface="Helvetica Neue"/>
                <a:ea typeface="Helvetica Neue"/>
                <a:cs typeface="Helvetica Neue"/>
              </a:rPr>
              <a:t>4 actions, 3 retained screenshots, 1 correct click</a:t>
            </a:r>
          </a:p>
        </p:txBody>
      </p:sp>
      <p:sp>
        <p:nvSpPr>
          <p:cNvPr id="50" name="">
            <a:extLst xmlns:a="http://schemas.openxmlformats.org/drawingml/2006/main">
              <a:ext uri="{FF2B5EF4-FFF2-40B4-BE49-F238E27FC236}">
                <a16:creationId xmlns:a16="http://schemas.microsoft.com/office/drawing/2014/main" id="{A29304C3-6866-41DB-8FE3-8B62D217409F}"/>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25242CF5-331F-4A3E-8C03-5EA09C7FEE85}"/>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Our hotel prompt, official HoloDesktop 0.1.10 tools, normalized 0–1000 coordinates, native resolution</a:t>
            </a:r>
          </a:p>
        </p:txBody>
      </p:sp>
    </p:spTree>
    <p:extLst>
      <p:ext uri="{BB962C8B-B14F-4D97-AF65-F5344CB8AC3E}">
        <p14:creationId xmlns:p14="http://schemas.microsoft.com/office/powerpoint/2010/main" val="243444651"/>
      </p:ext>
    </p:extLst>
  </p:cSld>
</p:sld>
</file>

<file path=ppt/slides/slide1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21731B6B-51B5-4050-9656-E087190B4C26}"/>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EXPERIMENT</a:t>
            </a:r>
          </a:p>
        </p:txBody>
      </p:sp>
      <p:sp>
        <p:nvSpPr>
          <p:cNvPr id="2" name="">
            <a:extLst xmlns:a="http://schemas.openxmlformats.org/drawingml/2006/main">
              <a:ext uri="{FF2B5EF4-FFF2-40B4-BE49-F238E27FC236}">
                <a16:creationId xmlns:a16="http://schemas.microsoft.com/office/drawing/2014/main" id="{C6D6221C-8EBF-4035-A353-134BB0843EB3}"/>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Where visual evidence becomes a coordinate action</a:t>
            </a:r>
          </a:p>
        </p:txBody>
      </p:sp>
      <p:sp>
        <p:nvSpPr>
          <p:cNvPr id="3" name="">
            <a:extLst xmlns:a="http://schemas.openxmlformats.org/drawingml/2006/main">
              <a:ext uri="{FF2B5EF4-FFF2-40B4-BE49-F238E27FC236}">
                <a16:creationId xmlns:a16="http://schemas.microsoft.com/office/drawing/2014/main" id="{05C5B81D-799F-4F85-992F-974B1D9D8BAC}"/>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365C2B43-6345-4829-9F55-7A48506BAC14}"/>
              </a:ext>
            </a:extLst>
          </p:cNvPr>
          <p:cNvSpPr>
            <a:spLocks xmlns:a="http://schemas.openxmlformats.org/drawingml/2006/main" noGrp="1"/>
          </p:cNvSpPr>
          <p:nvPr/>
        </p:nvSpPr>
        <p:spPr>
          <a:xfrm xmlns:a="http://schemas.openxmlformats.org/drawingml/2006/main">
            <a:off x="609600" y="11239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Eight mirrored prompts hold the official request, native image, and teacher-forced coordinate strings fixed</a:t>
            </a:r>
          </a:p>
        </p:txBody>
      </p:sp>
      <p:sp>
        <p:nvSpPr>
          <p:cNvPr id="5" name="">
            <a:extLst xmlns:a="http://schemas.openxmlformats.org/drawingml/2006/main">
              <a:ext uri="{FF2B5EF4-FFF2-40B4-BE49-F238E27FC236}">
                <a16:creationId xmlns:a16="http://schemas.microsoft.com/office/drawing/2014/main" id="{CD225C17-6507-4444-81A2-EEDE3E24E48B}"/>
              </a:ext>
            </a:extLst>
          </p:cNvPr>
          <p:cNvSpPr>
            <a:spLocks xmlns:a="http://schemas.openxmlformats.org/drawingml/2006/main" noGrp="1"/>
          </p:cNvSpPr>
          <p:nvPr/>
        </p:nvSpPr>
        <p:spPr>
          <a:xfrm xmlns:a="http://schemas.openxmlformats.org/drawingml/2006/main">
            <a:off x="609600" y="1524000"/>
            <a:ext cx="8001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B52803B-1C6E-45B8-B1ED-F48A328EE073}"/>
              </a:ext>
            </a:extLst>
          </p:cNvPr>
          <p:cNvSpPr>
            <a:spLocks xmlns:a="http://schemas.openxmlformats.org/drawingml/2006/main" noGrp="1"/>
          </p:cNvSpPr>
          <p:nvPr/>
        </p:nvSpPr>
        <p:spPr>
          <a:xfrm xmlns:a="http://schemas.openxmlformats.org/drawingml/2006/main">
            <a:off x="704850" y="15430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CLEAN</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2fac5b157b414ff0"/>
          <a:srcRect xmlns:a="http://schemas.openxmlformats.org/drawingml/2006/main" l="16533" t="0" r="16533" b="0"/>
          <a:stretch xmlns:a="http://schemas.openxmlformats.org/drawingml/2006/main">
            <a:fillRect l="0" t="0" r="0" b="0"/>
          </a:stretch>
        </p:blipFill>
        <p:spPr>
          <a:xfrm xmlns:a="http://schemas.openxmlformats.org/drawingml/2006/main">
            <a:off x="609600" y="1885950"/>
            <a:ext cx="2381250" cy="1581150"/>
          </a:xfrm>
          <a:prstGeom xmlns:a="http://schemas.openxmlformats.org/drawingml/2006/main" prst="roundRect">
            <a:avLst>
              <a:gd name="adj" fmla="val 7229"/>
            </a:avLst>
          </a:prstGeom>
        </p:spPr>
      </p:pic>
      <p:sp>
        <p:nvSpPr>
          <p:cNvPr id="8" name="">
            <a:extLst xmlns:a="http://schemas.openxmlformats.org/drawingml/2006/main">
              <a:ext uri="{FF2B5EF4-FFF2-40B4-BE49-F238E27FC236}">
                <a16:creationId xmlns:a16="http://schemas.microsoft.com/office/drawing/2014/main" id="{88329235-E0F2-4AA8-85D7-68B388D758DE}"/>
              </a:ext>
            </a:extLst>
          </p:cNvPr>
          <p:cNvSpPr>
            <a:spLocks xmlns:a="http://schemas.openxmlformats.org/drawingml/2006/main" noGrp="1"/>
          </p:cNvSpPr>
          <p:nvPr/>
        </p:nvSpPr>
        <p:spPr>
          <a:xfrm xmlns:a="http://schemas.openxmlformats.org/drawingml/2006/main">
            <a:off x="609600" y="1885950"/>
            <a:ext cx="2381250" cy="1581150"/>
          </a:xfrm>
          <a:prstGeom xmlns:a="http://schemas.openxmlformats.org/drawingml/2006/main" prst="roundRect">
            <a:avLst>
              <a:gd name="adj" fmla="val 4819"/>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B46B6B78-25B5-4217-94EB-8F00E8563C39}"/>
              </a:ext>
            </a:extLst>
          </p:cNvPr>
          <p:cNvSpPr>
            <a:spLocks xmlns:a="http://schemas.openxmlformats.org/drawingml/2006/main" noGrp="1"/>
          </p:cNvSpPr>
          <p:nvPr/>
        </p:nvSpPr>
        <p:spPr>
          <a:xfrm xmlns:a="http://schemas.openxmlformats.org/drawingml/2006/main">
            <a:off x="609600" y="35623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Original tile positions</a:t>
            </a:r>
          </a:p>
        </p:txBody>
      </p:sp>
      <p:sp>
        <p:nvSpPr>
          <p:cNvPr id="10" name="">
            <a:extLst xmlns:a="http://schemas.openxmlformats.org/drawingml/2006/main">
              <a:ext uri="{FF2B5EF4-FFF2-40B4-BE49-F238E27FC236}">
                <a16:creationId xmlns:a16="http://schemas.microsoft.com/office/drawing/2014/main" id="{4746F655-EDB3-4605-925A-7F8B380B09C8}"/>
              </a:ext>
            </a:extLst>
          </p:cNvPr>
          <p:cNvSpPr>
            <a:spLocks xmlns:a="http://schemas.openxmlformats.org/drawingml/2006/main" noGrp="1"/>
          </p:cNvSpPr>
          <p:nvPr/>
        </p:nvSpPr>
        <p:spPr>
          <a:xfrm xmlns:a="http://schemas.openxmlformats.org/drawingml/2006/main">
            <a:off x="609600" y="4095750"/>
            <a:ext cx="11049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E446E6C-E58F-4F08-94E2-F19DAFAFD403}"/>
              </a:ext>
            </a:extLst>
          </p:cNvPr>
          <p:cNvSpPr>
            <a:spLocks xmlns:a="http://schemas.openxmlformats.org/drawingml/2006/main" noGrp="1"/>
          </p:cNvSpPr>
          <p:nvPr/>
        </p:nvSpPr>
        <p:spPr>
          <a:xfrm xmlns:a="http://schemas.openxmlformats.org/drawingml/2006/main">
            <a:off x="704850" y="41148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CORRUPTED</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af30c2ab6cae447c"/>
          <a:srcRect xmlns:a="http://schemas.openxmlformats.org/drawingml/2006/main" l="16533" t="0" r="16533" b="0"/>
          <a:stretch xmlns:a="http://schemas.openxmlformats.org/drawingml/2006/main">
            <a:fillRect l="0" t="0" r="0" b="0"/>
          </a:stretch>
        </p:blipFill>
        <p:spPr>
          <a:xfrm xmlns:a="http://schemas.openxmlformats.org/drawingml/2006/main">
            <a:off x="609600" y="4457700"/>
            <a:ext cx="2381250" cy="1581150"/>
          </a:xfrm>
          <a:prstGeom xmlns:a="http://schemas.openxmlformats.org/drawingml/2006/main" prst="roundRect">
            <a:avLst>
              <a:gd name="adj" fmla="val 7229"/>
            </a:avLst>
          </a:prstGeom>
        </p:spPr>
      </p:pic>
      <p:sp>
        <p:nvSpPr>
          <p:cNvPr id="13" name="">
            <a:extLst xmlns:a="http://schemas.openxmlformats.org/drawingml/2006/main">
              <a:ext uri="{FF2B5EF4-FFF2-40B4-BE49-F238E27FC236}">
                <a16:creationId xmlns:a16="http://schemas.microsoft.com/office/drawing/2014/main" id="{7E212F8C-9CB1-4592-A162-FBFC4CBFE318}"/>
              </a:ext>
            </a:extLst>
          </p:cNvPr>
          <p:cNvSpPr>
            <a:spLocks xmlns:a="http://schemas.openxmlformats.org/drawingml/2006/main" noGrp="1"/>
          </p:cNvSpPr>
          <p:nvPr/>
        </p:nvSpPr>
        <p:spPr>
          <a:xfrm xmlns:a="http://schemas.openxmlformats.org/drawingml/2006/main">
            <a:off x="609600" y="4457700"/>
            <a:ext cx="2381250" cy="1581150"/>
          </a:xfrm>
          <a:prstGeom xmlns:a="http://schemas.openxmlformats.org/drawingml/2006/main" prst="roundRect">
            <a:avLst>
              <a:gd name="adj" fmla="val 4819"/>
            </a:avLst>
          </a:prstGeom>
          <a:noFill xmlns:a="http://schemas.openxmlformats.org/drawingml/2006/main"/>
          <a:ln xmlns:a="http://schemas.openxmlformats.org/drawingml/2006/main" w="9525">
            <a:solidFill>
              <a:srgbClr val="D9D4C8"/>
            </a:solidFill>
          </a:ln>
        </p:spPr>
      </p:sp>
      <p:sp>
        <p:nvSpPr>
          <p:cNvPr id="14" name="">
            <a:extLst xmlns:a="http://schemas.openxmlformats.org/drawingml/2006/main">
              <a:ext uri="{FF2B5EF4-FFF2-40B4-BE49-F238E27FC236}">
                <a16:creationId xmlns:a16="http://schemas.microsoft.com/office/drawing/2014/main" id="{3595FF9F-F945-4489-9C12-B30F839F431C}"/>
              </a:ext>
            </a:extLst>
          </p:cNvPr>
          <p:cNvSpPr>
            <a:spLocks xmlns:a="http://schemas.openxmlformats.org/drawingml/2006/main" noGrp="1"/>
          </p:cNvSpPr>
          <p:nvPr/>
        </p:nvSpPr>
        <p:spPr>
          <a:xfrm xmlns:a="http://schemas.openxmlformats.org/drawingml/2006/main">
            <a:off x="609600" y="613410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Two equal-size tiles swap</a:t>
            </a:r>
          </a:p>
        </p:txBody>
      </p:sp>
      <p:sp>
        <p:nvSpPr>
          <p:cNvPr id="15" name="">
            <a:extLst xmlns:a="http://schemas.openxmlformats.org/drawingml/2006/main">
              <a:ext uri="{FF2B5EF4-FFF2-40B4-BE49-F238E27FC236}">
                <a16:creationId xmlns:a16="http://schemas.microsoft.com/office/drawing/2014/main" id="{16D11F0F-9BBD-49CA-B075-4868B9DCF3F5}"/>
              </a:ext>
            </a:extLst>
          </p:cNvPr>
          <p:cNvSpPr>
            <a:spLocks xmlns:a="http://schemas.openxmlformats.org/drawingml/2006/main" noGrp="1"/>
          </p:cNvSpPr>
          <p:nvPr/>
        </p:nvSpPr>
        <p:spPr>
          <a:xfrm xmlns:a="http://schemas.openxmlformats.org/drawingml/2006/main">
            <a:off x="3276600" y="1524000"/>
            <a:ext cx="8305800" cy="4514850"/>
          </a:xfrm>
          <a:prstGeom xmlns:a="http://schemas.openxmlformats.org/drawingml/2006/main" prst="roundRect">
            <a:avLst>
              <a:gd name="adj" fmla="val 1688"/>
            </a:avLst>
          </a:prstGeom>
          <a:solidFill xmlns:a="http://schemas.openxmlformats.org/drawingml/2006/main">
            <a:srgbClr val="FFFFFF"/>
          </a:solidFill>
          <a:ln xmlns:a="http://schemas.openxmlformats.org/drawingml/2006/main" w="9525">
            <a:solidFill>
              <a:srgbClr val="D9D4C8"/>
            </a:solidFill>
          </a:ln>
        </p:spPr>
      </p:sp>
      <p:sp>
        <p:nvSpPr>
          <p:cNvPr id="16" name="">
            <a:extLst xmlns:a="http://schemas.openxmlformats.org/drawingml/2006/main">
              <a:ext uri="{FF2B5EF4-FFF2-40B4-BE49-F238E27FC236}">
                <a16:creationId xmlns:a16="http://schemas.microsoft.com/office/drawing/2014/main" id="{988ED4B9-A7CA-4F29-B79B-2611CD4B9E61}"/>
              </a:ext>
            </a:extLst>
          </p:cNvPr>
          <p:cNvSpPr>
            <a:spLocks xmlns:a="http://schemas.openxmlformats.org/drawingml/2006/main" noGrp="1"/>
          </p:cNvSpPr>
          <p:nvPr/>
        </p:nvSpPr>
        <p:spPr>
          <a:xfrm xmlns:a="http://schemas.openxmlformats.org/drawingml/2006/main">
            <a:off x="3543300" y="1771650"/>
            <a:ext cx="314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TEACHER-FORCED ACTION SEQUENCE</a:t>
            </a:r>
          </a:p>
        </p:txBody>
      </p:sp>
      <p:sp>
        <p:nvSpPr>
          <p:cNvPr id="17" name="">
            <a:extLst xmlns:a="http://schemas.openxmlformats.org/drawingml/2006/main">
              <a:ext uri="{FF2B5EF4-FFF2-40B4-BE49-F238E27FC236}">
                <a16:creationId xmlns:a16="http://schemas.microsoft.com/office/drawing/2014/main" id="{4ED70DD5-8CCB-4550-BAF1-8C1D0C11A709}"/>
              </a:ext>
            </a:extLst>
          </p:cNvPr>
          <p:cNvSpPr>
            <a:spLocks xmlns:a="http://schemas.openxmlformats.org/drawingml/2006/main" noGrp="1"/>
          </p:cNvSpPr>
          <p:nvPr/>
        </p:nvSpPr>
        <p:spPr>
          <a:xfrm xmlns:a="http://schemas.openxmlformats.org/drawingml/2006/main">
            <a:off x="3543300" y="2000250"/>
            <a:ext cx="695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Image evidence and instruction tokens precede the scored x-coordinate digits</a:t>
            </a:r>
          </a:p>
        </p:txBody>
      </p:sp>
      <p:sp>
        <p:nvSpPr>
          <p:cNvPr id="18" name="">
            <a:extLst xmlns:a="http://schemas.openxmlformats.org/drawingml/2006/main">
              <a:ext uri="{FF2B5EF4-FFF2-40B4-BE49-F238E27FC236}">
                <a16:creationId xmlns:a16="http://schemas.microsoft.com/office/drawing/2014/main" id="{2CE8A61B-6498-4E72-B9B2-F0633DE72C85}"/>
              </a:ext>
            </a:extLst>
          </p:cNvPr>
          <p:cNvSpPr>
            <a:spLocks xmlns:a="http://schemas.openxmlformats.org/drawingml/2006/main" noGrp="1"/>
          </p:cNvSpPr>
          <p:nvPr/>
        </p:nvSpPr>
        <p:spPr>
          <a:xfrm xmlns:a="http://schemas.openxmlformats.org/drawingml/2006/main">
            <a:off x="3543300" y="2457450"/>
            <a:ext cx="1428750" cy="781050"/>
          </a:xfrm>
          <a:prstGeom xmlns:a="http://schemas.openxmlformats.org/drawingml/2006/main" prst="roundRect">
            <a:avLst>
              <a:gd name="adj" fmla="val 9756"/>
            </a:avLst>
          </a:prstGeom>
          <a:solidFill xmlns:a="http://schemas.openxmlformats.org/drawingml/2006/main">
            <a:srgbClr val="DDECF9"/>
          </a:solidFill>
          <a:ln xmlns:a="http://schemas.openxmlformats.org/drawingml/2006/main" w="9525">
            <a:solidFill>
              <a:srgbClr val="2D84D3"/>
            </a:solidFill>
          </a:ln>
        </p:spPr>
      </p:sp>
      <p:sp>
        <p:nvSpPr>
          <p:cNvPr id="19" name="">
            <a:extLst xmlns:a="http://schemas.openxmlformats.org/drawingml/2006/main">
              <a:ext uri="{FF2B5EF4-FFF2-40B4-BE49-F238E27FC236}">
                <a16:creationId xmlns:a16="http://schemas.microsoft.com/office/drawing/2014/main" id="{AFA895E2-92F8-422B-805F-782443AAA6C1}"/>
              </a:ext>
            </a:extLst>
          </p:cNvPr>
          <p:cNvSpPr>
            <a:spLocks xmlns:a="http://schemas.openxmlformats.org/drawingml/2006/main" noGrp="1"/>
          </p:cNvSpPr>
          <p:nvPr/>
        </p:nvSpPr>
        <p:spPr>
          <a:xfrm xmlns:a="http://schemas.openxmlformats.org/drawingml/2006/main">
            <a:off x="3638550" y="2581275"/>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IMAGE</a:t>
            </a:r>
          </a:p>
        </p:txBody>
      </p:sp>
      <p:sp>
        <p:nvSpPr>
          <p:cNvPr id="20" name="">
            <a:extLst xmlns:a="http://schemas.openxmlformats.org/drawingml/2006/main">
              <a:ext uri="{FF2B5EF4-FFF2-40B4-BE49-F238E27FC236}">
                <a16:creationId xmlns:a16="http://schemas.microsoft.com/office/drawing/2014/main" id="{64076D8E-86AB-4CDB-B208-7980D4D1650A}"/>
              </a:ext>
            </a:extLst>
          </p:cNvPr>
          <p:cNvSpPr>
            <a:spLocks xmlns:a="http://schemas.openxmlformats.org/drawingml/2006/main" noGrp="1"/>
          </p:cNvSpPr>
          <p:nvPr/>
        </p:nvSpPr>
        <p:spPr>
          <a:xfrm xmlns:a="http://schemas.openxmlformats.org/drawingml/2006/main">
            <a:off x="3638550" y="28384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patch residuals</a:t>
            </a:r>
          </a:p>
        </p:txBody>
      </p:sp>
      <p:sp>
        <p:nvSpPr>
          <p:cNvPr id="21" name="">
            <a:extLst xmlns:a="http://schemas.openxmlformats.org/drawingml/2006/main">
              <a:ext uri="{FF2B5EF4-FFF2-40B4-BE49-F238E27FC236}">
                <a16:creationId xmlns:a16="http://schemas.microsoft.com/office/drawing/2014/main" id="{4F47A2C0-90BC-43EA-B7CF-5C0331BC6E46}"/>
              </a:ext>
            </a:extLst>
          </p:cNvPr>
          <p:cNvSpPr>
            <a:spLocks xmlns:a="http://schemas.openxmlformats.org/drawingml/2006/main" noGrp="1"/>
          </p:cNvSpPr>
          <p:nvPr/>
        </p:nvSpPr>
        <p:spPr>
          <a:xfrm xmlns:a="http://schemas.openxmlformats.org/drawingml/2006/main">
            <a:off x="5105400" y="2457450"/>
            <a:ext cx="1619250" cy="781050"/>
          </a:xfrm>
          <a:prstGeom xmlns:a="http://schemas.openxmlformats.org/drawingml/2006/main" prst="roundRect">
            <a:avLst>
              <a:gd name="adj" fmla="val 9756"/>
            </a:avLst>
          </a:prstGeom>
          <a:solidFill xmlns:a="http://schemas.openxmlformats.org/drawingml/2006/main">
            <a:srgbClr val="E9EDF1"/>
          </a:solidFill>
          <a:ln xmlns:a="http://schemas.openxmlformats.org/drawingml/2006/main" w="9525">
            <a:solidFill>
              <a:srgbClr val="1C2733"/>
            </a:solidFill>
          </a:ln>
        </p:spPr>
      </p:sp>
      <p:sp>
        <p:nvSpPr>
          <p:cNvPr id="22" name="">
            <a:extLst xmlns:a="http://schemas.openxmlformats.org/drawingml/2006/main">
              <a:ext uri="{FF2B5EF4-FFF2-40B4-BE49-F238E27FC236}">
                <a16:creationId xmlns:a16="http://schemas.microsoft.com/office/drawing/2014/main" id="{0C974C53-A740-4661-9DC6-0A04E7424E49}"/>
              </a:ext>
            </a:extLst>
          </p:cNvPr>
          <p:cNvSpPr>
            <a:spLocks xmlns:a="http://schemas.openxmlformats.org/drawingml/2006/main" noGrp="1"/>
          </p:cNvSpPr>
          <p:nvPr/>
        </p:nvSpPr>
        <p:spPr>
          <a:xfrm xmlns:a="http://schemas.openxmlformats.org/drawingml/2006/main">
            <a:off x="5200650" y="258127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C2733"/>
                </a:solidFill>
                <a:latin typeface="Helvetica Neue"/>
                <a:ea typeface="Helvetica Neue"/>
                <a:cs typeface="Helvetica Neue"/>
              </a:defRPr>
            </a:pPr>
            <a:r>
              <a:rPr sz="825" b="1">
                <a:solidFill>
                  <a:srgbClr val="1C2733"/>
                </a:solidFill>
                <a:latin typeface="Helvetica Neue"/>
                <a:ea typeface="Helvetica Neue"/>
                <a:cs typeface="Helvetica Neue"/>
              </a:rPr>
              <a:t>INSTRUCTION</a:t>
            </a:r>
          </a:p>
        </p:txBody>
      </p:sp>
      <p:sp>
        <p:nvSpPr>
          <p:cNvPr id="23" name="">
            <a:extLst xmlns:a="http://schemas.openxmlformats.org/drawingml/2006/main">
              <a:ext uri="{FF2B5EF4-FFF2-40B4-BE49-F238E27FC236}">
                <a16:creationId xmlns:a16="http://schemas.microsoft.com/office/drawing/2014/main" id="{CD1D869E-984A-4E9D-9D9F-E24ADF733749}"/>
              </a:ext>
            </a:extLst>
          </p:cNvPr>
          <p:cNvSpPr>
            <a:spLocks xmlns:a="http://schemas.openxmlformats.org/drawingml/2006/main" noGrp="1"/>
          </p:cNvSpPr>
          <p:nvPr/>
        </p:nvSpPr>
        <p:spPr>
          <a:xfrm xmlns:a="http://schemas.openxmlformats.org/drawingml/2006/main">
            <a:off x="5200650" y="28384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target name</a:t>
            </a:r>
          </a:p>
        </p:txBody>
      </p:sp>
      <p:sp>
        <p:nvSpPr>
          <p:cNvPr id="24" name="">
            <a:extLst xmlns:a="http://schemas.openxmlformats.org/drawingml/2006/main">
              <a:ext uri="{FF2B5EF4-FFF2-40B4-BE49-F238E27FC236}">
                <a16:creationId xmlns:a16="http://schemas.microsoft.com/office/drawing/2014/main" id="{A281DCB9-1CC9-45E7-A709-93A51389A421}"/>
              </a:ext>
            </a:extLst>
          </p:cNvPr>
          <p:cNvSpPr>
            <a:spLocks xmlns:a="http://schemas.openxmlformats.org/drawingml/2006/main" noGrp="1"/>
          </p:cNvSpPr>
          <p:nvPr/>
        </p:nvSpPr>
        <p:spPr>
          <a:xfrm xmlns:a="http://schemas.openxmlformats.org/drawingml/2006/main">
            <a:off x="6858000" y="2457450"/>
            <a:ext cx="857250" cy="781050"/>
          </a:xfrm>
          <a:prstGeom xmlns:a="http://schemas.openxmlformats.org/drawingml/2006/main" prst="roundRect">
            <a:avLst>
              <a:gd name="adj" fmla="val 9756"/>
            </a:avLst>
          </a:prstGeom>
          <a:solidFill xmlns:a="http://schemas.openxmlformats.org/drawingml/2006/main">
            <a:srgbClr val="FCE2D9"/>
          </a:solidFill>
          <a:ln xmlns:a="http://schemas.openxmlformats.org/drawingml/2006/main" w="9525">
            <a:solidFill>
              <a:srgbClr val="F05A3C"/>
            </a:solidFill>
          </a:ln>
        </p:spPr>
      </p:sp>
      <p:sp>
        <p:nvSpPr>
          <p:cNvPr id="25" name="">
            <a:extLst xmlns:a="http://schemas.openxmlformats.org/drawingml/2006/main">
              <a:ext uri="{FF2B5EF4-FFF2-40B4-BE49-F238E27FC236}">
                <a16:creationId xmlns:a16="http://schemas.microsoft.com/office/drawing/2014/main" id="{AB6A3B49-372F-4FAB-9914-ECBFCDD9962A}"/>
              </a:ext>
            </a:extLst>
          </p:cNvPr>
          <p:cNvSpPr>
            <a:spLocks xmlns:a="http://schemas.openxmlformats.org/drawingml/2006/main" noGrp="1"/>
          </p:cNvSpPr>
          <p:nvPr/>
        </p:nvSpPr>
        <p:spPr>
          <a:xfrm xmlns:a="http://schemas.openxmlformats.org/drawingml/2006/main">
            <a:off x="6953250" y="258127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JSON</a:t>
            </a:r>
          </a:p>
        </p:txBody>
      </p:sp>
      <p:sp>
        <p:nvSpPr>
          <p:cNvPr id="26" name="">
            <a:extLst xmlns:a="http://schemas.openxmlformats.org/drawingml/2006/main">
              <a:ext uri="{FF2B5EF4-FFF2-40B4-BE49-F238E27FC236}">
                <a16:creationId xmlns:a16="http://schemas.microsoft.com/office/drawing/2014/main" id="{6CA1F703-5C1F-410A-8165-F3E47E51523E}"/>
              </a:ext>
            </a:extLst>
          </p:cNvPr>
          <p:cNvSpPr>
            <a:spLocks xmlns:a="http://schemas.openxmlformats.org/drawingml/2006/main" noGrp="1"/>
          </p:cNvSpPr>
          <p:nvPr/>
        </p:nvSpPr>
        <p:spPr>
          <a:xfrm xmlns:a="http://schemas.openxmlformats.org/drawingml/2006/main">
            <a:off x="6953250" y="28384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 x:</a:t>
            </a:r>
          </a:p>
        </p:txBody>
      </p:sp>
      <p:sp>
        <p:nvSpPr>
          <p:cNvPr id="27" name="">
            <a:extLst xmlns:a="http://schemas.openxmlformats.org/drawingml/2006/main">
              <a:ext uri="{FF2B5EF4-FFF2-40B4-BE49-F238E27FC236}">
                <a16:creationId xmlns:a16="http://schemas.microsoft.com/office/drawing/2014/main" id="{40FE47C4-7191-428F-A4D6-8FA85F816AC6}"/>
              </a:ext>
            </a:extLst>
          </p:cNvPr>
          <p:cNvSpPr>
            <a:spLocks xmlns:a="http://schemas.openxmlformats.org/drawingml/2006/main" noGrp="1"/>
          </p:cNvSpPr>
          <p:nvPr/>
        </p:nvSpPr>
        <p:spPr>
          <a:xfrm xmlns:a="http://schemas.openxmlformats.org/drawingml/2006/main">
            <a:off x="7848600" y="2457450"/>
            <a:ext cx="1428750" cy="781050"/>
          </a:xfrm>
          <a:prstGeom xmlns:a="http://schemas.openxmlformats.org/drawingml/2006/main" prst="roundRect">
            <a:avLst>
              <a:gd name="adj" fmla="val 9756"/>
            </a:avLst>
          </a:prstGeom>
          <a:solidFill xmlns:a="http://schemas.openxmlformats.org/drawingml/2006/main">
            <a:srgbClr val="FCE2D9"/>
          </a:solidFill>
          <a:ln xmlns:a="http://schemas.openxmlformats.org/drawingml/2006/main" w="9525">
            <a:solidFill>
              <a:srgbClr val="F05A3C"/>
            </a:solidFill>
          </a:ln>
        </p:spPr>
      </p:sp>
      <p:sp>
        <p:nvSpPr>
          <p:cNvPr id="28" name="">
            <a:extLst xmlns:a="http://schemas.openxmlformats.org/drawingml/2006/main">
              <a:ext uri="{FF2B5EF4-FFF2-40B4-BE49-F238E27FC236}">
                <a16:creationId xmlns:a16="http://schemas.microsoft.com/office/drawing/2014/main" id="{81F2BD75-28FB-4943-ADC6-6EE6BBDE3875}"/>
              </a:ext>
            </a:extLst>
          </p:cNvPr>
          <p:cNvSpPr>
            <a:spLocks xmlns:a="http://schemas.openxmlformats.org/drawingml/2006/main" noGrp="1"/>
          </p:cNvSpPr>
          <p:nvPr/>
        </p:nvSpPr>
        <p:spPr>
          <a:xfrm xmlns:a="http://schemas.openxmlformats.org/drawingml/2006/main">
            <a:off x="7943850" y="2581275"/>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X DIGITS</a:t>
            </a:r>
          </a:p>
        </p:txBody>
      </p:sp>
      <p:sp>
        <p:nvSpPr>
          <p:cNvPr id="29" name="">
            <a:extLst xmlns:a="http://schemas.openxmlformats.org/drawingml/2006/main">
              <a:ext uri="{FF2B5EF4-FFF2-40B4-BE49-F238E27FC236}">
                <a16:creationId xmlns:a16="http://schemas.microsoft.com/office/drawing/2014/main" id="{0844E789-64E9-4CB5-A648-0B650712C11A}"/>
              </a:ext>
            </a:extLst>
          </p:cNvPr>
          <p:cNvSpPr>
            <a:spLocks xmlns:a="http://schemas.openxmlformats.org/drawingml/2006/main" noGrp="1"/>
          </p:cNvSpPr>
          <p:nvPr/>
        </p:nvSpPr>
        <p:spPr>
          <a:xfrm xmlns:a="http://schemas.openxmlformats.org/drawingml/2006/main">
            <a:off x="7943850" y="28384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scored action</a:t>
            </a:r>
          </a:p>
        </p:txBody>
      </p:sp>
      <p:sp>
        <p:nvSpPr>
          <p:cNvPr id="30" name="">
            <a:extLst xmlns:a="http://schemas.openxmlformats.org/drawingml/2006/main">
              <a:ext uri="{FF2B5EF4-FFF2-40B4-BE49-F238E27FC236}">
                <a16:creationId xmlns:a16="http://schemas.microsoft.com/office/drawing/2014/main" id="{164C72C8-2CA4-4DB7-8DE5-631CB4750E55}"/>
              </a:ext>
            </a:extLst>
          </p:cNvPr>
          <p:cNvSpPr>
            <a:spLocks xmlns:a="http://schemas.openxmlformats.org/drawingml/2006/main" noGrp="1"/>
          </p:cNvSpPr>
          <p:nvPr/>
        </p:nvSpPr>
        <p:spPr>
          <a:xfrm xmlns:a="http://schemas.openxmlformats.org/drawingml/2006/main">
            <a:off x="9410700" y="2457450"/>
            <a:ext cx="1333500" cy="781050"/>
          </a:xfrm>
          <a:prstGeom xmlns:a="http://schemas.openxmlformats.org/drawingml/2006/main" prst="roundRect">
            <a:avLst>
              <a:gd name="adj" fmla="val 9756"/>
            </a:avLst>
          </a:prstGeom>
          <a:solidFill xmlns:a="http://schemas.openxmlformats.org/drawingml/2006/main">
            <a:srgbClr val="DDEFE7"/>
          </a:solidFill>
          <a:ln xmlns:a="http://schemas.openxmlformats.org/drawingml/2006/main" w="9525">
            <a:solidFill>
              <a:srgbClr val="18A875"/>
            </a:solidFill>
          </a:ln>
        </p:spPr>
      </p:sp>
      <p:sp>
        <p:nvSpPr>
          <p:cNvPr id="31" name="">
            <a:extLst xmlns:a="http://schemas.openxmlformats.org/drawingml/2006/main">
              <a:ext uri="{FF2B5EF4-FFF2-40B4-BE49-F238E27FC236}">
                <a16:creationId xmlns:a16="http://schemas.microsoft.com/office/drawing/2014/main" id="{4791EFB7-A668-4574-B50E-A04850143D12}"/>
              </a:ext>
            </a:extLst>
          </p:cNvPr>
          <p:cNvSpPr>
            <a:spLocks xmlns:a="http://schemas.openxmlformats.org/drawingml/2006/main" noGrp="1"/>
          </p:cNvSpPr>
          <p:nvPr/>
        </p:nvSpPr>
        <p:spPr>
          <a:xfrm xmlns:a="http://schemas.openxmlformats.org/drawingml/2006/main">
            <a:off x="9505950" y="2581275"/>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Y DIGITS</a:t>
            </a:r>
          </a:p>
        </p:txBody>
      </p:sp>
      <p:sp>
        <p:nvSpPr>
          <p:cNvPr id="32" name="">
            <a:extLst xmlns:a="http://schemas.openxmlformats.org/drawingml/2006/main">
              <a:ext uri="{FF2B5EF4-FFF2-40B4-BE49-F238E27FC236}">
                <a16:creationId xmlns:a16="http://schemas.microsoft.com/office/drawing/2014/main" id="{D5BF0599-5FD6-4BB8-B8F4-0CC6126539CD}"/>
              </a:ext>
            </a:extLst>
          </p:cNvPr>
          <p:cNvSpPr>
            <a:spLocks xmlns:a="http://schemas.openxmlformats.org/drawingml/2006/main" noGrp="1"/>
          </p:cNvSpPr>
          <p:nvPr/>
        </p:nvSpPr>
        <p:spPr>
          <a:xfrm xmlns:a="http://schemas.openxmlformats.org/drawingml/2006/main">
            <a:off x="9505950" y="28384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held matched</a:t>
            </a:r>
          </a:p>
        </p:txBody>
      </p:sp>
      <p:sp>
        <p:nvSpPr>
          <p:cNvPr id="33" name="">
            <a:extLst xmlns:a="http://schemas.openxmlformats.org/drawingml/2006/main">
              <a:ext uri="{FF2B5EF4-FFF2-40B4-BE49-F238E27FC236}">
                <a16:creationId xmlns:a16="http://schemas.microsoft.com/office/drawing/2014/main" id="{548AD46E-8152-481C-86C6-1A026591E08D}"/>
              </a:ext>
            </a:extLst>
          </p:cNvPr>
          <p:cNvSpPr>
            <a:spLocks xmlns:a="http://schemas.openxmlformats.org/drawingml/2006/main" noGrp="1"/>
          </p:cNvSpPr>
          <p:nvPr/>
        </p:nvSpPr>
        <p:spPr>
          <a:xfrm xmlns:a="http://schemas.openxmlformats.org/drawingml/2006/main">
            <a:off x="3543300" y="361950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Replace one internal state in the corrupted run with its clean-run counterpart</a:t>
            </a:r>
          </a:p>
        </p:txBody>
      </p:sp>
      <p:sp>
        <p:nvSpPr>
          <p:cNvPr id="34" name="">
            <a:extLst xmlns:a="http://schemas.openxmlformats.org/drawingml/2006/main">
              <a:ext uri="{FF2B5EF4-FFF2-40B4-BE49-F238E27FC236}">
                <a16:creationId xmlns:a16="http://schemas.microsoft.com/office/drawing/2014/main" id="{FD2676F3-7BFE-469F-AFCE-DE87A2E834F4}"/>
              </a:ext>
            </a:extLst>
          </p:cNvPr>
          <p:cNvSpPr>
            <a:spLocks xmlns:a="http://schemas.openxmlformats.org/drawingml/2006/main" noGrp="1"/>
          </p:cNvSpPr>
          <p:nvPr/>
        </p:nvSpPr>
        <p:spPr>
          <a:xfrm xmlns:a="http://schemas.openxmlformats.org/drawingml/2006/main">
            <a:off x="3543300" y="4019550"/>
            <a:ext cx="3295650" cy="1466850"/>
          </a:xfrm>
          <a:prstGeom xmlns:a="http://schemas.openxmlformats.org/drawingml/2006/main" prst="roundRect">
            <a:avLst>
              <a:gd name="adj" fmla="val 5195"/>
            </a:avLst>
          </a:prstGeom>
          <a:solidFill xmlns:a="http://schemas.openxmlformats.org/drawingml/2006/main">
            <a:srgbClr val="DDECF9"/>
          </a:solidFill>
          <a:ln xmlns:a="http://schemas.openxmlformats.org/drawingml/2006/main" w="9525">
            <a:solidFill>
              <a:srgbClr val="2D84D3"/>
            </a:solidFill>
          </a:ln>
        </p:spPr>
      </p:sp>
      <p:sp>
        <p:nvSpPr>
          <p:cNvPr id="35" name="">
            <a:extLst xmlns:a="http://schemas.openxmlformats.org/drawingml/2006/main">
              <a:ext uri="{FF2B5EF4-FFF2-40B4-BE49-F238E27FC236}">
                <a16:creationId xmlns:a16="http://schemas.microsoft.com/office/drawing/2014/main" id="{E323ECE2-1AEC-4A88-A955-54EAAFEDC12E}"/>
              </a:ext>
            </a:extLst>
          </p:cNvPr>
          <p:cNvSpPr>
            <a:spLocks xmlns:a="http://schemas.openxmlformats.org/drawingml/2006/main" noGrp="1"/>
          </p:cNvSpPr>
          <p:nvPr/>
        </p:nvSpPr>
        <p:spPr>
          <a:xfrm xmlns:a="http://schemas.openxmlformats.org/drawingml/2006/main">
            <a:off x="3733800" y="4210050"/>
            <a:ext cx="16002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45D93FC5-5533-4BFB-97CE-1DB1677C94E0}"/>
              </a:ext>
            </a:extLst>
          </p:cNvPr>
          <p:cNvSpPr>
            <a:spLocks xmlns:a="http://schemas.openxmlformats.org/drawingml/2006/main" noGrp="1"/>
          </p:cNvSpPr>
          <p:nvPr/>
        </p:nvSpPr>
        <p:spPr>
          <a:xfrm xmlns:a="http://schemas.openxmlformats.org/drawingml/2006/main">
            <a:off x="3829050" y="4229100"/>
            <a:ext cx="1409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 · VISUAL REGION</a:t>
            </a:r>
          </a:p>
        </p:txBody>
      </p:sp>
      <p:sp>
        <p:nvSpPr>
          <p:cNvPr id="37" name="">
            <a:extLst xmlns:a="http://schemas.openxmlformats.org/drawingml/2006/main">
              <a:ext uri="{FF2B5EF4-FFF2-40B4-BE49-F238E27FC236}">
                <a16:creationId xmlns:a16="http://schemas.microsoft.com/office/drawing/2014/main" id="{09E5CE69-8350-4F40-A7D8-A63E454EFBEE}"/>
              </a:ext>
            </a:extLst>
          </p:cNvPr>
          <p:cNvSpPr>
            <a:spLocks xmlns:a="http://schemas.openxmlformats.org/drawingml/2006/main" noGrp="1"/>
          </p:cNvSpPr>
          <p:nvPr/>
        </p:nvSpPr>
        <p:spPr>
          <a:xfrm xmlns:a="http://schemas.openxmlformats.org/drawingml/2006/main">
            <a:off x="3733800" y="4629150"/>
            <a:ext cx="2895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Patch target or distractor image-region residuals to test whether localized visual evidence restores the coordinate preference.</a:t>
            </a:r>
          </a:p>
        </p:txBody>
      </p:sp>
      <p:sp>
        <p:nvSpPr>
          <p:cNvPr id="38" name="">
            <a:extLst xmlns:a="http://schemas.openxmlformats.org/drawingml/2006/main">
              <a:ext uri="{FF2B5EF4-FFF2-40B4-BE49-F238E27FC236}">
                <a16:creationId xmlns:a16="http://schemas.microsoft.com/office/drawing/2014/main" id="{2DCF107A-E466-4D1E-BD6F-235428985893}"/>
              </a:ext>
            </a:extLst>
          </p:cNvPr>
          <p:cNvSpPr>
            <a:spLocks xmlns:a="http://schemas.openxmlformats.org/drawingml/2006/main" noGrp="1"/>
          </p:cNvSpPr>
          <p:nvPr/>
        </p:nvSpPr>
        <p:spPr>
          <a:xfrm xmlns:a="http://schemas.openxmlformats.org/drawingml/2006/main">
            <a:off x="7105650" y="4019550"/>
            <a:ext cx="3943350" cy="1466850"/>
          </a:xfrm>
          <a:prstGeom xmlns:a="http://schemas.openxmlformats.org/drawingml/2006/main" prst="roundRect">
            <a:avLst>
              <a:gd name="adj" fmla="val 5195"/>
            </a:avLst>
          </a:prstGeom>
          <a:solidFill xmlns:a="http://schemas.openxmlformats.org/drawingml/2006/main">
            <a:srgbClr val="FCE2D9"/>
          </a:solidFill>
          <a:ln xmlns:a="http://schemas.openxmlformats.org/drawingml/2006/main" w="9525">
            <a:solidFill>
              <a:srgbClr val="F05A3C"/>
            </a:solidFill>
          </a:ln>
        </p:spPr>
      </p:sp>
      <p:sp>
        <p:nvSpPr>
          <p:cNvPr id="39" name="">
            <a:extLst xmlns:a="http://schemas.openxmlformats.org/drawingml/2006/main">
              <a:ext uri="{FF2B5EF4-FFF2-40B4-BE49-F238E27FC236}">
                <a16:creationId xmlns:a16="http://schemas.microsoft.com/office/drawing/2014/main" id="{ACA91C45-DEE5-43D4-957C-BF5800150218}"/>
              </a:ext>
            </a:extLst>
          </p:cNvPr>
          <p:cNvSpPr>
            <a:spLocks xmlns:a="http://schemas.openxmlformats.org/drawingml/2006/main" noGrp="1"/>
          </p:cNvSpPr>
          <p:nvPr/>
        </p:nvSpPr>
        <p:spPr>
          <a:xfrm xmlns:a="http://schemas.openxmlformats.org/drawingml/2006/main">
            <a:off x="7296150" y="4210050"/>
            <a:ext cx="18478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3D01395A-3A0E-4959-B6EB-EAED9FEA510C}"/>
              </a:ext>
            </a:extLst>
          </p:cNvPr>
          <p:cNvSpPr>
            <a:spLocks xmlns:a="http://schemas.openxmlformats.org/drawingml/2006/main" noGrp="1"/>
          </p:cNvSpPr>
          <p:nvPr/>
        </p:nvSpPr>
        <p:spPr>
          <a:xfrm xmlns:a="http://schemas.openxmlformats.org/drawingml/2006/main">
            <a:off x="7391400" y="4229100"/>
            <a:ext cx="1657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 · COORDINATE STATE</a:t>
            </a:r>
          </a:p>
        </p:txBody>
      </p:sp>
      <p:sp>
        <p:nvSpPr>
          <p:cNvPr id="41" name="">
            <a:extLst xmlns:a="http://schemas.openxmlformats.org/drawingml/2006/main">
              <a:ext uri="{FF2B5EF4-FFF2-40B4-BE49-F238E27FC236}">
                <a16:creationId xmlns:a16="http://schemas.microsoft.com/office/drawing/2014/main" id="{A501EEB0-9FD9-4B68-B128-01B3F34415BF}"/>
              </a:ext>
            </a:extLst>
          </p:cNvPr>
          <p:cNvSpPr>
            <a:spLocks xmlns:a="http://schemas.openxmlformats.org/drawingml/2006/main" noGrp="1"/>
          </p:cNvSpPr>
          <p:nvPr/>
        </p:nvSpPr>
        <p:spPr>
          <a:xfrm xmlns:a="http://schemas.openxmlformats.org/drawingml/2006/main">
            <a:off x="7296150" y="4629150"/>
            <a:ext cx="3524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Patch coordinate-token residuals across layers. Then test the selected Layer 15 state and each attention head at x-token positions.</a:t>
            </a:r>
          </a:p>
        </p:txBody>
      </p:sp>
      <p:sp>
        <p:nvSpPr>
          <p:cNvPr id="42" name="">
            <a:extLst xmlns:a="http://schemas.openxmlformats.org/drawingml/2006/main">
              <a:ext uri="{FF2B5EF4-FFF2-40B4-BE49-F238E27FC236}">
                <a16:creationId xmlns:a16="http://schemas.microsoft.com/office/drawing/2014/main" id="{FE32A125-E458-4106-BD38-8E2E5CF4775F}"/>
              </a:ext>
            </a:extLst>
          </p:cNvPr>
          <p:cNvSpPr>
            <a:spLocks xmlns:a="http://schemas.openxmlformats.org/drawingml/2006/main" noGrp="1"/>
          </p:cNvSpPr>
          <p:nvPr/>
        </p:nvSpPr>
        <p:spPr>
          <a:xfrm xmlns:a="http://schemas.openxmlformats.org/drawingml/2006/main">
            <a:off x="3543300" y="5657850"/>
            <a:ext cx="7505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C2733"/>
                </a:solidFill>
                <a:latin typeface="Helvetica Neue"/>
                <a:ea typeface="Helvetica Neue"/>
                <a:cs typeface="Helvetica Neue"/>
              </a:defRPr>
            </a:pPr>
            <a:r>
              <a:rPr sz="1200" b="1">
                <a:solidFill>
                  <a:srgbClr val="1C2733"/>
                </a:solidFill>
                <a:latin typeface="Helvetica Neue"/>
                <a:ea typeface="Helvetica Neue"/>
                <a:cs typeface="Helvetica Neue"/>
              </a:rPr>
              <a:t>Metric: log p(target x digits) − log p(distractor x digits)</a:t>
            </a:r>
          </a:p>
        </p:txBody>
      </p:sp>
      <p:sp>
        <p:nvSpPr>
          <p:cNvPr id="43" name="">
            <a:extLst xmlns:a="http://schemas.openxmlformats.org/drawingml/2006/main">
              <a:ext uri="{FF2B5EF4-FFF2-40B4-BE49-F238E27FC236}">
                <a16:creationId xmlns:a16="http://schemas.microsoft.com/office/drawing/2014/main" id="{8B0A3872-61E4-4F0A-B202-272307BAEF49}"/>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1CD39AF5-C71D-460B-A6F8-49E84820A70B}"/>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Four equal-tile pairs × two mirrored instructions · native 2880×1800 · official VisualLocalizerOutput contract</a:t>
            </a:r>
          </a:p>
        </p:txBody>
      </p:sp>
    </p:spTree>
    <p:extLst>
      <p:ext uri="{BB962C8B-B14F-4D97-AF65-F5344CB8AC3E}">
        <p14:creationId xmlns:p14="http://schemas.microsoft.com/office/powerpoint/2010/main" val="989950424"/>
      </p:ext>
    </p:extLst>
  </p:cSld>
</p:sld>
</file>

<file path=ppt/slides/slide1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ECF63F93-306D-4E6C-9371-907000D56DF9}"/>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RESULT · LAYER 15</a:t>
            </a:r>
          </a:p>
        </p:txBody>
      </p:sp>
      <p:sp>
        <p:nvSpPr>
          <p:cNvPr id="2" name="">
            <a:extLst xmlns:a="http://schemas.openxmlformats.org/drawingml/2006/main">
              <a:ext uri="{FF2B5EF4-FFF2-40B4-BE49-F238E27FC236}">
                <a16:creationId xmlns:a16="http://schemas.microsoft.com/office/drawing/2014/main" id="{6DFF5B36-F144-4166-956A-50285B85C701}"/>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Fine-tuning makes the coordinate state more recoverable</a:t>
            </a:r>
          </a:p>
        </p:txBody>
      </p:sp>
      <p:sp>
        <p:nvSpPr>
          <p:cNvPr id="3" name="">
            <a:extLst xmlns:a="http://schemas.openxmlformats.org/drawingml/2006/main">
              <a:ext uri="{FF2B5EF4-FFF2-40B4-BE49-F238E27FC236}">
                <a16:creationId xmlns:a16="http://schemas.microsoft.com/office/drawing/2014/main" id="{9D2F6C5B-6ED4-447F-AD37-FE55AB18A220}"/>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D42EBC35-2AA8-4E7C-A10C-E3DA666B7C95}"/>
              </a:ext>
            </a:extLst>
          </p:cNvPr>
          <p:cNvSpPr>
            <a:spLocks xmlns:a="http://schemas.openxmlformats.org/drawingml/2006/main" noGrp="1"/>
          </p:cNvSpPr>
          <p:nvPr/>
        </p:nvSpPr>
        <p:spPr>
          <a:xfrm xmlns:a="http://schemas.openxmlformats.org/drawingml/2006/main">
            <a:off x="609600" y="11239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Eight mirrored prompts · x-coordinate teacher forcing · same processor, prompt, image bytes, and candidate syntax</a:t>
            </a:r>
          </a:p>
        </p:txBody>
      </p:sp>
      <p:sp>
        <p:nvSpPr>
          <p:cNvPr id="5" name="">
            <a:extLst xmlns:a="http://schemas.openxmlformats.org/drawingml/2006/main">
              <a:ext uri="{FF2B5EF4-FFF2-40B4-BE49-F238E27FC236}">
                <a16:creationId xmlns:a16="http://schemas.microsoft.com/office/drawing/2014/main" id="{FA052683-6DDF-46D2-A236-6EEC431DCED1}"/>
              </a:ext>
            </a:extLst>
          </p:cNvPr>
          <p:cNvSpPr>
            <a:spLocks xmlns:a="http://schemas.openxmlformats.org/drawingml/2006/main" noGrp="1"/>
          </p:cNvSpPr>
          <p:nvPr/>
        </p:nvSpPr>
        <p:spPr>
          <a:xfrm xmlns:a="http://schemas.openxmlformats.org/drawingml/2006/main">
            <a:off x="609600" y="1524000"/>
            <a:ext cx="5238750" cy="1581150"/>
          </a:xfrm>
          <a:prstGeom xmlns:a="http://schemas.openxmlformats.org/drawingml/2006/main" prst="roundRect">
            <a:avLst>
              <a:gd name="adj" fmla="val 4819"/>
            </a:avLst>
          </a:prstGeom>
          <a:solidFill xmlns:a="http://schemas.openxmlformats.org/drawingml/2006/main">
            <a:srgbClr val="DDEFE7"/>
          </a:solidFill>
          <a:ln xmlns:a="http://schemas.openxmlformats.org/drawingml/2006/main" w="9525">
            <a:solidFill>
              <a:srgbClr val="18A875"/>
            </a:solidFill>
          </a:ln>
        </p:spPr>
      </p:sp>
      <p:sp>
        <p:nvSpPr>
          <p:cNvPr id="6" name="">
            <a:extLst xmlns:a="http://schemas.openxmlformats.org/drawingml/2006/main">
              <a:ext uri="{FF2B5EF4-FFF2-40B4-BE49-F238E27FC236}">
                <a16:creationId xmlns:a16="http://schemas.microsoft.com/office/drawing/2014/main" id="{E7757106-83DE-4193-8CAA-B0EDD0475FA3}"/>
              </a:ext>
            </a:extLst>
          </p:cNvPr>
          <p:cNvSpPr>
            <a:spLocks xmlns:a="http://schemas.openxmlformats.org/drawingml/2006/main" noGrp="1"/>
          </p:cNvSpPr>
          <p:nvPr/>
        </p:nvSpPr>
        <p:spPr>
          <a:xfrm xmlns:a="http://schemas.openxmlformats.org/drawingml/2006/main">
            <a:off x="819150" y="17526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PATCH CLEAN STATE INTO THE CORRUPTED RUN</a:t>
            </a:r>
          </a:p>
        </p:txBody>
      </p:sp>
      <p:sp>
        <p:nvSpPr>
          <p:cNvPr id="7" name="">
            <a:extLst xmlns:a="http://schemas.openxmlformats.org/drawingml/2006/main">
              <a:ext uri="{FF2B5EF4-FFF2-40B4-BE49-F238E27FC236}">
                <a16:creationId xmlns:a16="http://schemas.microsoft.com/office/drawing/2014/main" id="{92D0C5C2-C530-4A8A-A0AC-6DB35BA22E2F}"/>
              </a:ext>
            </a:extLst>
          </p:cNvPr>
          <p:cNvSpPr>
            <a:spLocks xmlns:a="http://schemas.openxmlformats.org/drawingml/2006/main" noGrp="1"/>
          </p:cNvSpPr>
          <p:nvPr/>
        </p:nvSpPr>
        <p:spPr>
          <a:xfrm xmlns:a="http://schemas.openxmlformats.org/drawingml/2006/main">
            <a:off x="819150" y="21145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8A875"/>
                </a:solidFill>
                <a:latin typeface="Helvetica Neue"/>
                <a:ea typeface="Helvetica Neue"/>
                <a:cs typeface="Helvetica Neue"/>
              </a:defRPr>
            </a:pPr>
            <a:r>
              <a:rPr sz="1875" b="1">
                <a:solidFill>
                  <a:srgbClr val="18A875"/>
                </a:solidFill>
                <a:latin typeface="Helvetica Neue"/>
                <a:ea typeface="Helvetica Neue"/>
                <a:cs typeface="Helvetica Neue"/>
              </a:rPr>
              <a:t>Holo  +1.01 nats</a:t>
            </a:r>
          </a:p>
        </p:txBody>
      </p:sp>
      <p:sp>
        <p:nvSpPr>
          <p:cNvPr id="8" name="">
            <a:extLst xmlns:a="http://schemas.openxmlformats.org/drawingml/2006/main">
              <a:ext uri="{FF2B5EF4-FFF2-40B4-BE49-F238E27FC236}">
                <a16:creationId xmlns:a16="http://schemas.microsoft.com/office/drawing/2014/main" id="{BD6157E5-7062-441A-A9B6-7151DDB46347}"/>
              </a:ext>
            </a:extLst>
          </p:cNvPr>
          <p:cNvSpPr>
            <a:spLocks xmlns:a="http://schemas.openxmlformats.org/drawingml/2006/main" noGrp="1"/>
          </p:cNvSpPr>
          <p:nvPr/>
        </p:nvSpPr>
        <p:spPr>
          <a:xfrm xmlns:a="http://schemas.openxmlformats.org/drawingml/2006/main">
            <a:off x="3162300" y="21145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C2733"/>
                </a:solidFill>
                <a:latin typeface="Helvetica Neue"/>
                <a:ea typeface="Helvetica Neue"/>
                <a:cs typeface="Helvetica Neue"/>
              </a:defRPr>
            </a:pPr>
            <a:r>
              <a:rPr sz="1875" b="1">
                <a:solidFill>
                  <a:srgbClr val="1C2733"/>
                </a:solidFill>
                <a:latin typeface="Helvetica Neue"/>
                <a:ea typeface="Helvetica Neue"/>
                <a:cs typeface="Helvetica Neue"/>
              </a:rPr>
              <a:t>Qwen  +0.10 nats</a:t>
            </a:r>
          </a:p>
        </p:txBody>
      </p:sp>
      <p:sp>
        <p:nvSpPr>
          <p:cNvPr id="9" name="">
            <a:extLst xmlns:a="http://schemas.openxmlformats.org/drawingml/2006/main">
              <a:ext uri="{FF2B5EF4-FFF2-40B4-BE49-F238E27FC236}">
                <a16:creationId xmlns:a16="http://schemas.microsoft.com/office/drawing/2014/main" id="{26818DD1-0B4D-45EA-800D-F3F185B3A0E9}"/>
              </a:ext>
            </a:extLst>
          </p:cNvPr>
          <p:cNvSpPr>
            <a:spLocks xmlns:a="http://schemas.openxmlformats.org/drawingml/2006/main" noGrp="1"/>
          </p:cNvSpPr>
          <p:nvPr/>
        </p:nvSpPr>
        <p:spPr>
          <a:xfrm xmlns:a="http://schemas.openxmlformats.org/drawingml/2006/main">
            <a:off x="819150" y="259080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Median gain in target-over-distractor coordinate margin</a:t>
            </a:r>
          </a:p>
        </p:txBody>
      </p:sp>
      <p:sp>
        <p:nvSpPr>
          <p:cNvPr id="10" name="">
            <a:extLst xmlns:a="http://schemas.openxmlformats.org/drawingml/2006/main">
              <a:ext uri="{FF2B5EF4-FFF2-40B4-BE49-F238E27FC236}">
                <a16:creationId xmlns:a16="http://schemas.microsoft.com/office/drawing/2014/main" id="{E52B2F15-021E-4EE1-8979-889BDD8BA8C7}"/>
              </a:ext>
            </a:extLst>
          </p:cNvPr>
          <p:cNvSpPr>
            <a:spLocks xmlns:a="http://schemas.openxmlformats.org/drawingml/2006/main" noGrp="1"/>
          </p:cNvSpPr>
          <p:nvPr/>
        </p:nvSpPr>
        <p:spPr>
          <a:xfrm xmlns:a="http://schemas.openxmlformats.org/drawingml/2006/main">
            <a:off x="6076950" y="1524000"/>
            <a:ext cx="550545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E2BBBD17-C68E-4785-BA92-245BE9AA99A6}"/>
              </a:ext>
            </a:extLst>
          </p:cNvPr>
          <p:cNvSpPr>
            <a:spLocks xmlns:a="http://schemas.openxmlformats.org/drawingml/2006/main" noGrp="1"/>
          </p:cNvSpPr>
          <p:nvPr/>
        </p:nvSpPr>
        <p:spPr>
          <a:xfrm xmlns:a="http://schemas.openxmlformats.org/drawingml/2006/main">
            <a:off x="6286500" y="1752600"/>
            <a:ext cx="457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ZERO THE SAME STATE IN THE CLEAN RUN</a:t>
            </a:r>
          </a:p>
        </p:txBody>
      </p:sp>
      <p:sp>
        <p:nvSpPr>
          <p:cNvPr id="12" name="">
            <a:extLst xmlns:a="http://schemas.openxmlformats.org/drawingml/2006/main">
              <a:ext uri="{FF2B5EF4-FFF2-40B4-BE49-F238E27FC236}">
                <a16:creationId xmlns:a16="http://schemas.microsoft.com/office/drawing/2014/main" id="{D152F20B-63DB-4072-8FBE-97050D233852}"/>
              </a:ext>
            </a:extLst>
          </p:cNvPr>
          <p:cNvSpPr>
            <a:spLocks xmlns:a="http://schemas.openxmlformats.org/drawingml/2006/main" noGrp="1"/>
          </p:cNvSpPr>
          <p:nvPr/>
        </p:nvSpPr>
        <p:spPr>
          <a:xfrm xmlns:a="http://schemas.openxmlformats.org/drawingml/2006/main">
            <a:off x="6286500" y="21145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05A3C"/>
                </a:solidFill>
                <a:latin typeface="Helvetica Neue"/>
                <a:ea typeface="Helvetica Neue"/>
                <a:cs typeface="Helvetica Neue"/>
              </a:defRPr>
            </a:pPr>
            <a:r>
              <a:rPr sz="1575" b="1">
                <a:solidFill>
                  <a:srgbClr val="F05A3C"/>
                </a:solidFill>
                <a:latin typeface="Helvetica Neue"/>
                <a:ea typeface="Helvetica Neue"/>
                <a:cs typeface="Helvetica Neue"/>
              </a:rPr>
              <a:t>Holo  4.51 nats lost</a:t>
            </a:r>
          </a:p>
        </p:txBody>
      </p:sp>
      <p:sp>
        <p:nvSpPr>
          <p:cNvPr id="13" name="">
            <a:extLst xmlns:a="http://schemas.openxmlformats.org/drawingml/2006/main">
              <a:ext uri="{FF2B5EF4-FFF2-40B4-BE49-F238E27FC236}">
                <a16:creationId xmlns:a16="http://schemas.microsoft.com/office/drawing/2014/main" id="{F99836EF-3C53-49A4-9401-DE880DB7CDCA}"/>
              </a:ext>
            </a:extLst>
          </p:cNvPr>
          <p:cNvSpPr>
            <a:spLocks xmlns:a="http://schemas.openxmlformats.org/drawingml/2006/main" noGrp="1"/>
          </p:cNvSpPr>
          <p:nvPr/>
        </p:nvSpPr>
        <p:spPr>
          <a:xfrm xmlns:a="http://schemas.openxmlformats.org/drawingml/2006/main">
            <a:off x="8858250" y="21145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C2733"/>
                </a:solidFill>
                <a:latin typeface="Helvetica Neue"/>
                <a:ea typeface="Helvetica Neue"/>
                <a:cs typeface="Helvetica Neue"/>
              </a:defRPr>
            </a:pPr>
            <a:r>
              <a:rPr sz="1575" b="1">
                <a:solidFill>
                  <a:srgbClr val="1C2733"/>
                </a:solidFill>
                <a:latin typeface="Helvetica Neue"/>
                <a:ea typeface="Helvetica Neue"/>
                <a:cs typeface="Helvetica Neue"/>
              </a:rPr>
              <a:t>Qwen  6.27 nats lost</a:t>
            </a:r>
          </a:p>
        </p:txBody>
      </p:sp>
      <p:sp>
        <p:nvSpPr>
          <p:cNvPr id="14" name="">
            <a:extLst xmlns:a="http://schemas.openxmlformats.org/drawingml/2006/main">
              <a:ext uri="{FF2B5EF4-FFF2-40B4-BE49-F238E27FC236}">
                <a16:creationId xmlns:a16="http://schemas.microsoft.com/office/drawing/2014/main" id="{F1504D7C-CC87-4611-9C82-B2C4ED2592FA}"/>
              </a:ext>
            </a:extLst>
          </p:cNvPr>
          <p:cNvSpPr>
            <a:spLocks xmlns:a="http://schemas.openxmlformats.org/drawingml/2006/main" noGrp="1"/>
          </p:cNvSpPr>
          <p:nvPr/>
        </p:nvSpPr>
        <p:spPr>
          <a:xfrm xmlns:a="http://schemas.openxmlformats.org/drawingml/2006/main">
            <a:off x="6286500" y="257175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Zero-ablation sets the Layer 15 coordinate residual to zero and measures the clean-margin drop</a:t>
            </a:r>
          </a:p>
        </p:txBody>
      </p:sp>
      <p:sp>
        <p:nvSpPr>
          <p:cNvPr id="15" name="">
            <a:extLst xmlns:a="http://schemas.openxmlformats.org/drawingml/2006/main">
              <a:ext uri="{FF2B5EF4-FFF2-40B4-BE49-F238E27FC236}">
                <a16:creationId xmlns:a16="http://schemas.microsoft.com/office/drawing/2014/main" id="{8F1F2843-AD32-4324-B59E-BA3A149C8F9D}"/>
              </a:ext>
            </a:extLst>
          </p:cNvPr>
          <p:cNvSpPr>
            <a:spLocks xmlns:a="http://schemas.openxmlformats.org/drawingml/2006/main" noGrp="1"/>
          </p:cNvSpPr>
          <p:nvPr/>
        </p:nvSpPr>
        <p:spPr>
          <a:xfrm xmlns:a="http://schemas.openxmlformats.org/drawingml/2006/main">
            <a:off x="609600" y="339090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WHAT THE INTERVENTIONS SHOW</a:t>
            </a:r>
          </a:p>
        </p:txBody>
      </p:sp>
      <p:sp>
        <p:nvSpPr>
          <p:cNvPr id="16" name="">
            <a:extLst xmlns:a="http://schemas.openxmlformats.org/drawingml/2006/main">
              <a:ext uri="{FF2B5EF4-FFF2-40B4-BE49-F238E27FC236}">
                <a16:creationId xmlns:a16="http://schemas.microsoft.com/office/drawing/2014/main" id="{88A21699-759F-4756-A3D5-67BC972E18F9}"/>
              </a:ext>
            </a:extLst>
          </p:cNvPr>
          <p:cNvSpPr>
            <a:spLocks xmlns:a="http://schemas.openxmlformats.org/drawingml/2006/main" noGrp="1"/>
          </p:cNvSpPr>
          <p:nvPr/>
        </p:nvSpPr>
        <p:spPr>
          <a:xfrm xmlns:a="http://schemas.openxmlformats.org/drawingml/2006/main">
            <a:off x="609600" y="3657600"/>
            <a:ext cx="10972800" cy="533400"/>
          </a:xfrm>
          <a:prstGeom xmlns:a="http://schemas.openxmlformats.org/drawingml/2006/main" prst="roundRect">
            <a:avLst>
              <a:gd name="adj" fmla="val 14286"/>
            </a:avLst>
          </a:prstGeom>
          <a:solidFill xmlns:a="http://schemas.openxmlformats.org/drawingml/2006/main">
            <a:srgbClr val="DDEFE7"/>
          </a:solidFill>
          <a:ln xmlns:a="http://schemas.openxmlformats.org/drawingml/2006/main" w="9525">
            <a:solidFill>
              <a:srgbClr val="18A875"/>
            </a:solidFill>
          </a:ln>
        </p:spPr>
      </p:sp>
      <p:sp>
        <p:nvSpPr>
          <p:cNvPr id="17" name="">
            <a:extLst xmlns:a="http://schemas.openxmlformats.org/drawingml/2006/main">
              <a:ext uri="{FF2B5EF4-FFF2-40B4-BE49-F238E27FC236}">
                <a16:creationId xmlns:a16="http://schemas.microsoft.com/office/drawing/2014/main" id="{84DF160A-A9ED-401D-9E0D-9F5275C65188}"/>
              </a:ext>
            </a:extLst>
          </p:cNvPr>
          <p:cNvSpPr>
            <a:spLocks xmlns:a="http://schemas.openxmlformats.org/drawingml/2006/main" noGrp="1"/>
          </p:cNvSpPr>
          <p:nvPr/>
        </p:nvSpPr>
        <p:spPr>
          <a:xfrm xmlns:a="http://schemas.openxmlformats.org/drawingml/2006/main">
            <a:off x="781050" y="3781425"/>
            <a:ext cx="2857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E9002D5-B110-4F6F-94B8-7060D83E7EBE}"/>
              </a:ext>
            </a:extLst>
          </p:cNvPr>
          <p:cNvSpPr>
            <a:spLocks xmlns:a="http://schemas.openxmlformats.org/drawingml/2006/main" noGrp="1"/>
          </p:cNvSpPr>
          <p:nvPr/>
        </p:nvSpPr>
        <p:spPr>
          <a:xfrm xmlns:a="http://schemas.openxmlformats.org/drawingml/2006/main">
            <a:off x="876300" y="38004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19" name="">
            <a:extLst xmlns:a="http://schemas.openxmlformats.org/drawingml/2006/main">
              <a:ext uri="{FF2B5EF4-FFF2-40B4-BE49-F238E27FC236}">
                <a16:creationId xmlns:a16="http://schemas.microsoft.com/office/drawing/2014/main" id="{C2370C35-5808-445F-9581-598C99A93E99}"/>
              </a:ext>
            </a:extLst>
          </p:cNvPr>
          <p:cNvSpPr>
            <a:spLocks xmlns:a="http://schemas.openxmlformats.org/drawingml/2006/main" noGrp="1"/>
          </p:cNvSpPr>
          <p:nvPr/>
        </p:nvSpPr>
        <p:spPr>
          <a:xfrm xmlns:a="http://schemas.openxmlformats.org/drawingml/2006/main">
            <a:off x="1257300" y="37528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Reliable Holo restoration</a:t>
            </a:r>
          </a:p>
        </p:txBody>
      </p:sp>
      <p:sp>
        <p:nvSpPr>
          <p:cNvPr id="20" name="">
            <a:extLst xmlns:a="http://schemas.openxmlformats.org/drawingml/2006/main">
              <a:ext uri="{FF2B5EF4-FFF2-40B4-BE49-F238E27FC236}">
                <a16:creationId xmlns:a16="http://schemas.microsoft.com/office/drawing/2014/main" id="{DC7469AF-450A-492D-8920-3B4A3E310BEA}"/>
              </a:ext>
            </a:extLst>
          </p:cNvPr>
          <p:cNvSpPr>
            <a:spLocks xmlns:a="http://schemas.openxmlformats.org/drawingml/2006/main" noGrp="1"/>
          </p:cNvSpPr>
          <p:nvPr/>
        </p:nvSpPr>
        <p:spPr>
          <a:xfrm xmlns:a="http://schemas.openxmlformats.org/drawingml/2006/main">
            <a:off x="3752850" y="37338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Holo's clean Layer 15 state improves the corrupted margin in 7 of 8 prompts; the paired Holo-minus-Qwen median is +0.72 nats.</a:t>
            </a:r>
          </a:p>
        </p:txBody>
      </p:sp>
      <p:sp>
        <p:nvSpPr>
          <p:cNvPr id="21" name="">
            <a:extLst xmlns:a="http://schemas.openxmlformats.org/drawingml/2006/main">
              <a:ext uri="{FF2B5EF4-FFF2-40B4-BE49-F238E27FC236}">
                <a16:creationId xmlns:a16="http://schemas.microsoft.com/office/drawing/2014/main" id="{2A12A4D4-3DF7-4B9E-8CED-738704BB6C8D}"/>
              </a:ext>
            </a:extLst>
          </p:cNvPr>
          <p:cNvSpPr>
            <a:spLocks xmlns:a="http://schemas.openxmlformats.org/drawingml/2006/main" noGrp="1"/>
          </p:cNvSpPr>
          <p:nvPr/>
        </p:nvSpPr>
        <p:spPr>
          <a:xfrm xmlns:a="http://schemas.openxmlformats.org/drawingml/2006/main">
            <a:off x="609600" y="4343400"/>
            <a:ext cx="10972800" cy="533400"/>
          </a:xfrm>
          <a:prstGeom xmlns:a="http://schemas.openxmlformats.org/drawingml/2006/main" prst="roundRect">
            <a:avLst>
              <a:gd name="adj" fmla="val 14286"/>
            </a:avLst>
          </a:prstGeom>
          <a:solidFill xmlns:a="http://schemas.openxmlformats.org/drawingml/2006/main">
            <a:srgbClr val="E9EDF1"/>
          </a:solidFill>
          <a:ln xmlns:a="http://schemas.openxmlformats.org/drawingml/2006/main" w="9525">
            <a:solidFill>
              <a:srgbClr val="1C2733"/>
            </a:solidFill>
          </a:ln>
        </p:spPr>
      </p:sp>
      <p:sp>
        <p:nvSpPr>
          <p:cNvPr id="22" name="">
            <a:extLst xmlns:a="http://schemas.openxmlformats.org/drawingml/2006/main">
              <a:ext uri="{FF2B5EF4-FFF2-40B4-BE49-F238E27FC236}">
                <a16:creationId xmlns:a16="http://schemas.microsoft.com/office/drawing/2014/main" id="{1B7CD09C-4E7C-4290-B589-0F424CC41291}"/>
              </a:ext>
            </a:extLst>
          </p:cNvPr>
          <p:cNvSpPr>
            <a:spLocks xmlns:a="http://schemas.openxmlformats.org/drawingml/2006/main" noGrp="1"/>
          </p:cNvSpPr>
          <p:nvPr/>
        </p:nvSpPr>
        <p:spPr>
          <a:xfrm xmlns:a="http://schemas.openxmlformats.org/drawingml/2006/main">
            <a:off x="781050" y="4467225"/>
            <a:ext cx="2857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74A0994-3F86-4351-A503-0FC2F6B73E30}"/>
              </a:ext>
            </a:extLst>
          </p:cNvPr>
          <p:cNvSpPr>
            <a:spLocks xmlns:a="http://schemas.openxmlformats.org/drawingml/2006/main" noGrp="1"/>
          </p:cNvSpPr>
          <p:nvPr/>
        </p:nvSpPr>
        <p:spPr>
          <a:xfrm xmlns:a="http://schemas.openxmlformats.org/drawingml/2006/main">
            <a:off x="876300" y="44862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16AD7D9A-D8F8-47AA-A873-1A072C18BE66}"/>
              </a:ext>
            </a:extLst>
          </p:cNvPr>
          <p:cNvSpPr>
            <a:spLocks xmlns:a="http://schemas.openxmlformats.org/drawingml/2006/main" noGrp="1"/>
          </p:cNvSpPr>
          <p:nvPr/>
        </p:nvSpPr>
        <p:spPr>
          <a:xfrm xmlns:a="http://schemas.openxmlformats.org/drawingml/2006/main">
            <a:off x="1257300" y="44386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C2733"/>
                </a:solidFill>
                <a:latin typeface="Helvetica Neue"/>
                <a:ea typeface="Helvetica Neue"/>
                <a:cs typeface="Helvetica Neue"/>
              </a:defRPr>
            </a:pPr>
            <a:r>
              <a:rPr sz="1125" b="1">
                <a:solidFill>
                  <a:srgbClr val="1C2733"/>
                </a:solidFill>
                <a:latin typeface="Helvetica Neue"/>
                <a:ea typeface="Helvetica Neue"/>
                <a:cs typeface="Helvetica Neue"/>
              </a:rPr>
              <a:t>Shared necessity</a:t>
            </a:r>
          </a:p>
        </p:txBody>
      </p:sp>
      <p:sp>
        <p:nvSpPr>
          <p:cNvPr id="25" name="">
            <a:extLst xmlns:a="http://schemas.openxmlformats.org/drawingml/2006/main">
              <a:ext uri="{FF2B5EF4-FFF2-40B4-BE49-F238E27FC236}">
                <a16:creationId xmlns:a16="http://schemas.microsoft.com/office/drawing/2014/main" id="{34F1CF75-266A-4DA5-9FF2-AC6D0FCABCCC}"/>
              </a:ext>
            </a:extLst>
          </p:cNvPr>
          <p:cNvSpPr>
            <a:spLocks xmlns:a="http://schemas.openxmlformats.org/drawingml/2006/main" noGrp="1"/>
          </p:cNvSpPr>
          <p:nvPr/>
        </p:nvSpPr>
        <p:spPr>
          <a:xfrm xmlns:a="http://schemas.openxmlformats.org/drawingml/2006/main">
            <a:off x="3752850" y="44196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Zeroing the state harms both checkpoints. Holo gains recoverability after fine-tuning, but the underlying coordinate state is not unique to Holo.</a:t>
            </a:r>
          </a:p>
        </p:txBody>
      </p:sp>
      <p:sp>
        <p:nvSpPr>
          <p:cNvPr id="26" name="">
            <a:extLst xmlns:a="http://schemas.openxmlformats.org/drawingml/2006/main">
              <a:ext uri="{FF2B5EF4-FFF2-40B4-BE49-F238E27FC236}">
                <a16:creationId xmlns:a16="http://schemas.microsoft.com/office/drawing/2014/main" id="{9285A66B-2F85-4826-9877-6CAB950BAA5E}"/>
              </a:ext>
            </a:extLst>
          </p:cNvPr>
          <p:cNvSpPr>
            <a:spLocks xmlns:a="http://schemas.openxmlformats.org/drawingml/2006/main" noGrp="1"/>
          </p:cNvSpPr>
          <p:nvPr/>
        </p:nvSpPr>
        <p:spPr>
          <a:xfrm xmlns:a="http://schemas.openxmlformats.org/drawingml/2006/main">
            <a:off x="609600" y="5029200"/>
            <a:ext cx="10972800" cy="533400"/>
          </a:xfrm>
          <a:prstGeom xmlns:a="http://schemas.openxmlformats.org/drawingml/2006/main" prst="roundRect">
            <a:avLst>
              <a:gd name="adj" fmla="val 14286"/>
            </a:avLst>
          </a:prstGeom>
          <a:solidFill xmlns:a="http://schemas.openxmlformats.org/drawingml/2006/main">
            <a:srgbClr val="FCE2D9"/>
          </a:solidFill>
          <a:ln xmlns:a="http://schemas.openxmlformats.org/drawingml/2006/main" w="9525">
            <a:solidFill>
              <a:srgbClr val="F05A3C"/>
            </a:solidFill>
          </a:ln>
        </p:spPr>
      </p:sp>
      <p:sp>
        <p:nvSpPr>
          <p:cNvPr id="27" name="">
            <a:extLst xmlns:a="http://schemas.openxmlformats.org/drawingml/2006/main">
              <a:ext uri="{FF2B5EF4-FFF2-40B4-BE49-F238E27FC236}">
                <a16:creationId xmlns:a16="http://schemas.microsoft.com/office/drawing/2014/main" id="{40F8F0AF-6F58-4287-8978-5D1FADB1B16A}"/>
              </a:ext>
            </a:extLst>
          </p:cNvPr>
          <p:cNvSpPr>
            <a:spLocks xmlns:a="http://schemas.openxmlformats.org/drawingml/2006/main" noGrp="1"/>
          </p:cNvSpPr>
          <p:nvPr/>
        </p:nvSpPr>
        <p:spPr>
          <a:xfrm xmlns:a="http://schemas.openxmlformats.org/drawingml/2006/main">
            <a:off x="781050" y="5153025"/>
            <a:ext cx="2857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2E8E2B6-08DA-47A9-BF2D-DCF7F1F3CA29}"/>
              </a:ext>
            </a:extLst>
          </p:cNvPr>
          <p:cNvSpPr>
            <a:spLocks xmlns:a="http://schemas.openxmlformats.org/drawingml/2006/main" noGrp="1"/>
          </p:cNvSpPr>
          <p:nvPr/>
        </p:nvSpPr>
        <p:spPr>
          <a:xfrm xmlns:a="http://schemas.openxmlformats.org/drawingml/2006/main">
            <a:off x="876300" y="51720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9" name="">
            <a:extLst xmlns:a="http://schemas.openxmlformats.org/drawingml/2006/main">
              <a:ext uri="{FF2B5EF4-FFF2-40B4-BE49-F238E27FC236}">
                <a16:creationId xmlns:a16="http://schemas.microsoft.com/office/drawing/2014/main" id="{0DD80E53-861E-43FD-B79D-297371EBD581}"/>
              </a:ext>
            </a:extLst>
          </p:cNvPr>
          <p:cNvSpPr>
            <a:spLocks xmlns:a="http://schemas.openxmlformats.org/drawingml/2006/main" noGrp="1"/>
          </p:cNvSpPr>
          <p:nvPr/>
        </p:nvSpPr>
        <p:spPr>
          <a:xfrm xmlns:a="http://schemas.openxmlformats.org/drawingml/2006/main">
            <a:off x="1257300" y="51244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05A3C"/>
                </a:solidFill>
                <a:latin typeface="Helvetica Neue"/>
                <a:ea typeface="Helvetica Neue"/>
                <a:cs typeface="Helvetica Neue"/>
              </a:defRPr>
            </a:pPr>
            <a:r>
              <a:rPr sz="1125" b="1">
                <a:solidFill>
                  <a:srgbClr val="F05A3C"/>
                </a:solidFill>
                <a:latin typeface="Helvetica Neue"/>
                <a:ea typeface="Helvetica Neue"/>
                <a:cs typeface="Helvetica Neue"/>
              </a:rPr>
              <a:t>Distributed across heads</a:t>
            </a:r>
          </a:p>
        </p:txBody>
      </p:sp>
      <p:sp>
        <p:nvSpPr>
          <p:cNvPr id="30" name="">
            <a:extLst xmlns:a="http://schemas.openxmlformats.org/drawingml/2006/main">
              <a:ext uri="{FF2B5EF4-FFF2-40B4-BE49-F238E27FC236}">
                <a16:creationId xmlns:a16="http://schemas.microsoft.com/office/drawing/2014/main" id="{A23AACD4-4C6B-4C53-97C7-12FE925879E5}"/>
              </a:ext>
            </a:extLst>
          </p:cNvPr>
          <p:cNvSpPr>
            <a:spLocks xmlns:a="http://schemas.openxmlformats.org/drawingml/2006/main" noGrp="1"/>
          </p:cNvSpPr>
          <p:nvPr/>
        </p:nvSpPr>
        <p:spPr>
          <a:xfrm xmlns:a="http://schemas.openxmlformats.org/drawingml/2006/main">
            <a:off x="3752850" y="51054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All 16 heads were tested. Holo head 1 restores +0.54 nats, while Qwen also uses it at +0.36; no single head explains the effect.</a:t>
            </a:r>
          </a:p>
        </p:txBody>
      </p:sp>
      <p:sp>
        <p:nvSpPr>
          <p:cNvPr id="31" name="">
            <a:extLst xmlns:a="http://schemas.openxmlformats.org/drawingml/2006/main">
              <a:ext uri="{FF2B5EF4-FFF2-40B4-BE49-F238E27FC236}">
                <a16:creationId xmlns:a16="http://schemas.microsoft.com/office/drawing/2014/main" id="{0708BD73-1A2B-4A1D-B78E-61220B7F6FFC}"/>
              </a:ext>
            </a:extLst>
          </p:cNvPr>
          <p:cNvSpPr>
            <a:spLocks xmlns:a="http://schemas.openxmlformats.org/drawingml/2006/main" noGrp="1"/>
          </p:cNvSpPr>
          <p:nvPr/>
        </p:nvSpPr>
        <p:spPr>
          <a:xfrm xmlns:a="http://schemas.openxmlformats.org/drawingml/2006/main">
            <a:off x="609600" y="5829300"/>
            <a:ext cx="10972800" cy="400050"/>
          </a:xfrm>
          <a:prstGeom xmlns:a="http://schemas.openxmlformats.org/drawingml/2006/main" prst="roundRect">
            <a:avLst>
              <a:gd name="adj" fmla="val 19048"/>
            </a:avLst>
          </a:prstGeom>
          <a:solidFill xmlns:a="http://schemas.openxmlformats.org/drawingml/2006/main">
            <a:srgbClr val="1C2733"/>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88E0D075-7FAC-43BB-9FEB-3984EFD14151}"/>
              </a:ext>
            </a:extLst>
          </p:cNvPr>
          <p:cNvSpPr>
            <a:spLocks xmlns:a="http://schemas.openxmlformats.org/drawingml/2006/main" noGrp="1"/>
          </p:cNvSpPr>
          <p:nvPr/>
        </p:nvSpPr>
        <p:spPr>
          <a:xfrm xmlns:a="http://schemas.openxmlformats.org/drawingml/2006/main">
            <a:off x="800100" y="5924550"/>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The causal gain sits in a distributed coordinate state, not in one specialized attention head.</a:t>
            </a:r>
          </a:p>
        </p:txBody>
      </p:sp>
      <p:sp>
        <p:nvSpPr>
          <p:cNvPr id="33" name="">
            <a:extLst xmlns:a="http://schemas.openxmlformats.org/drawingml/2006/main">
              <a:ext uri="{FF2B5EF4-FFF2-40B4-BE49-F238E27FC236}">
                <a16:creationId xmlns:a16="http://schemas.microsoft.com/office/drawing/2014/main" id="{557BBC22-59EB-47CE-BDC6-B1CA00EB5583}"/>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0E6D88BC-3FA8-4D67-BFDE-2079A77F4160}"/>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Within-image causal panel · not an independent-image benchmark or a single-head circuit claim</a:t>
            </a:r>
          </a:p>
        </p:txBody>
      </p:sp>
    </p:spTree>
    <p:extLst>
      <p:ext uri="{BB962C8B-B14F-4D97-AF65-F5344CB8AC3E}">
        <p14:creationId xmlns:p14="http://schemas.microsoft.com/office/powerpoint/2010/main" val="2123523989"/>
      </p:ext>
    </p:extLst>
  </p:cSld>
</p:sld>
</file>

<file path=ppt/slides/slide1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46E9929B-912C-4F17-A96F-CD00AFDB9034}"/>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NEXT TESTS</a:t>
            </a:r>
          </a:p>
        </p:txBody>
      </p:sp>
      <p:sp>
        <p:nvSpPr>
          <p:cNvPr id="2" name="">
            <a:extLst xmlns:a="http://schemas.openxmlformats.org/drawingml/2006/main">
              <a:ext uri="{FF2B5EF4-FFF2-40B4-BE49-F238E27FC236}">
                <a16:creationId xmlns:a16="http://schemas.microsoft.com/office/drawing/2014/main" id="{B5FBF2EE-CA88-4ED1-BB35-243C40BE8161}"/>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Future research directions</a:t>
            </a:r>
          </a:p>
        </p:txBody>
      </p:sp>
      <p:sp>
        <p:nvSpPr>
          <p:cNvPr id="3" name="">
            <a:extLst xmlns:a="http://schemas.openxmlformats.org/drawingml/2006/main">
              <a:ext uri="{FF2B5EF4-FFF2-40B4-BE49-F238E27FC236}">
                <a16:creationId xmlns:a16="http://schemas.microsoft.com/office/drawing/2014/main" id="{DB4DD8B6-12C8-4011-BF54-872EA9F6C2D3}"/>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253F3179-0084-4EE9-9979-8E87F2106CB9}"/>
              </a:ext>
            </a:extLst>
          </p:cNvPr>
          <p:cNvSpPr>
            <a:spLocks xmlns:a="http://schemas.openxmlformats.org/drawingml/2006/main" noGrp="1"/>
          </p:cNvSpPr>
          <p:nvPr/>
        </p:nvSpPr>
        <p:spPr>
          <a:xfrm xmlns:a="http://schemas.openxmlformats.org/drawingml/2006/main">
            <a:off x="60960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4832A820-67B1-41DD-8040-DC58212FB1B1}"/>
              </a:ext>
            </a:extLst>
          </p:cNvPr>
          <p:cNvSpPr>
            <a:spLocks xmlns:a="http://schemas.openxmlformats.org/drawingml/2006/main" noGrp="1"/>
          </p:cNvSpPr>
          <p:nvPr/>
        </p:nvSpPr>
        <p:spPr>
          <a:xfrm xmlns:a="http://schemas.openxmlformats.org/drawingml/2006/main">
            <a:off x="819150" y="1619250"/>
            <a:ext cx="4572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836AA7E-8874-48AA-8C71-A278472A62E3}"/>
              </a:ext>
            </a:extLst>
          </p:cNvPr>
          <p:cNvSpPr>
            <a:spLocks xmlns:a="http://schemas.openxmlformats.org/drawingml/2006/main" noGrp="1"/>
          </p:cNvSpPr>
          <p:nvPr/>
        </p:nvSpPr>
        <p:spPr>
          <a:xfrm xmlns:a="http://schemas.openxmlformats.org/drawingml/2006/main">
            <a:off x="91440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FE48A612-8D41-40FA-9D1E-A9B2264F5167}"/>
              </a:ext>
            </a:extLst>
          </p:cNvPr>
          <p:cNvSpPr>
            <a:spLocks xmlns:a="http://schemas.openxmlformats.org/drawingml/2006/main" noGrp="1"/>
          </p:cNvSpPr>
          <p:nvPr/>
        </p:nvSpPr>
        <p:spPr>
          <a:xfrm xmlns:a="http://schemas.openxmlformats.org/drawingml/2006/main">
            <a:off x="1447800" y="1619250"/>
            <a:ext cx="4248150" cy="295275"/>
          </a:xfrm>
          <a:prstGeom xmlns:a="http://schemas.openxmlformats.org/drawingml/2006/main" prst="roundRect">
            <a:avLst>
              <a:gd name="adj" fmla="val 25806"/>
            </a:avLst>
          </a:prstGeom>
          <a:solidFill xmlns:a="http://schemas.openxmlformats.org/drawingml/2006/main">
            <a:srgbClr val="FCE2D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04EC286-5730-4CBE-BCBC-D04EA8B17789}"/>
              </a:ext>
            </a:extLst>
          </p:cNvPr>
          <p:cNvSpPr>
            <a:spLocks xmlns:a="http://schemas.openxmlformats.org/drawingml/2006/main" noGrp="1"/>
          </p:cNvSpPr>
          <p:nvPr/>
        </p:nvSpPr>
        <p:spPr>
          <a:xfrm xmlns:a="http://schemas.openxmlformats.org/drawingml/2006/main">
            <a:off x="158115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DOWNSAMPLED ATTRIBUTION COHORT</a:t>
            </a:r>
          </a:p>
        </p:txBody>
      </p:sp>
      <p:sp>
        <p:nvSpPr>
          <p:cNvPr id="9" name="">
            <a:extLst xmlns:a="http://schemas.openxmlformats.org/drawingml/2006/main">
              <a:ext uri="{FF2B5EF4-FFF2-40B4-BE49-F238E27FC236}">
                <a16:creationId xmlns:a16="http://schemas.microsoft.com/office/drawing/2014/main" id="{9C3BF872-469C-4508-A0F8-BDEA7E510D26}"/>
              </a:ext>
            </a:extLst>
          </p:cNvPr>
          <p:cNvSpPr>
            <a:spLocks xmlns:a="http://schemas.openxmlformats.org/drawingml/2006/main" noGrp="1"/>
          </p:cNvSpPr>
          <p:nvPr/>
        </p:nvSpPr>
        <p:spPr>
          <a:xfrm xmlns:a="http://schemas.openxmlformats.org/drawingml/2006/main">
            <a:off x="85725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Trace the frozen resolution cohort at every scale and compare target-specific attention for retained and lost clicks.</a:t>
            </a:r>
          </a:p>
        </p:txBody>
      </p:sp>
      <p:sp>
        <p:nvSpPr>
          <p:cNvPr id="10" name="">
            <a:extLst xmlns:a="http://schemas.openxmlformats.org/drawingml/2006/main">
              <a:ext uri="{FF2B5EF4-FFF2-40B4-BE49-F238E27FC236}">
                <a16:creationId xmlns:a16="http://schemas.microsoft.com/office/drawing/2014/main" id="{3BE9548B-6501-461C-A9F9-436F9597CA5D}"/>
              </a:ext>
            </a:extLst>
          </p:cNvPr>
          <p:cNvSpPr>
            <a:spLocks xmlns:a="http://schemas.openxmlformats.org/drawingml/2006/main" noGrp="1"/>
          </p:cNvSpPr>
          <p:nvPr/>
        </p:nvSpPr>
        <p:spPr>
          <a:xfrm xmlns:a="http://schemas.openxmlformats.org/drawingml/2006/main">
            <a:off x="619125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6D025D65-6B05-4099-AC57-398866A76693}"/>
              </a:ext>
            </a:extLst>
          </p:cNvPr>
          <p:cNvSpPr>
            <a:spLocks xmlns:a="http://schemas.openxmlformats.org/drawingml/2006/main" noGrp="1"/>
          </p:cNvSpPr>
          <p:nvPr/>
        </p:nvSpPr>
        <p:spPr>
          <a:xfrm xmlns:a="http://schemas.openxmlformats.org/drawingml/2006/main">
            <a:off x="6400800" y="1619250"/>
            <a:ext cx="4572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D18AB99-8E07-4C88-BC3B-9579F80CFF5F}"/>
              </a:ext>
            </a:extLst>
          </p:cNvPr>
          <p:cNvSpPr>
            <a:spLocks xmlns:a="http://schemas.openxmlformats.org/drawingml/2006/main" noGrp="1"/>
          </p:cNvSpPr>
          <p:nvPr/>
        </p:nvSpPr>
        <p:spPr>
          <a:xfrm xmlns:a="http://schemas.openxmlformats.org/drawingml/2006/main">
            <a:off x="649605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C1CAA853-3762-48F9-B05F-36C2792DF759}"/>
              </a:ext>
            </a:extLst>
          </p:cNvPr>
          <p:cNvSpPr>
            <a:spLocks xmlns:a="http://schemas.openxmlformats.org/drawingml/2006/main" noGrp="1"/>
          </p:cNvSpPr>
          <p:nvPr/>
        </p:nvSpPr>
        <p:spPr>
          <a:xfrm xmlns:a="http://schemas.openxmlformats.org/drawingml/2006/main">
            <a:off x="7029450" y="1619250"/>
            <a:ext cx="4248150" cy="295275"/>
          </a:xfrm>
          <a:prstGeom xmlns:a="http://schemas.openxmlformats.org/drawingml/2006/main" prst="roundRect">
            <a:avLst>
              <a:gd name="adj" fmla="val 25806"/>
            </a:avLst>
          </a:prstGeom>
          <a:solidFill xmlns:a="http://schemas.openxmlformats.org/drawingml/2006/main">
            <a:srgbClr val="DDECF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9A0DA28-F020-4D26-8E7E-97F60908A6D3}"/>
              </a:ext>
            </a:extLst>
          </p:cNvPr>
          <p:cNvSpPr>
            <a:spLocks xmlns:a="http://schemas.openxmlformats.org/drawingml/2006/main" noGrp="1"/>
          </p:cNvSpPr>
          <p:nvPr/>
        </p:nvSpPr>
        <p:spPr>
          <a:xfrm xmlns:a="http://schemas.openxmlformats.org/drawingml/2006/main">
            <a:off x="716280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INDEPENDENT-IMAGE CAUSAL PANEL</a:t>
            </a:r>
          </a:p>
        </p:txBody>
      </p:sp>
      <p:sp>
        <p:nvSpPr>
          <p:cNvPr id="15" name="">
            <a:extLst xmlns:a="http://schemas.openxmlformats.org/drawingml/2006/main">
              <a:ext uri="{FF2B5EF4-FFF2-40B4-BE49-F238E27FC236}">
                <a16:creationId xmlns:a16="http://schemas.microsoft.com/office/drawing/2014/main" id="{DF1B1065-6D3E-4B4D-87A5-C838DBD16CB8}"/>
              </a:ext>
            </a:extLst>
          </p:cNvPr>
          <p:cNvSpPr>
            <a:spLocks xmlns:a="http://schemas.openxmlformats.org/drawingml/2006/main" noGrp="1"/>
          </p:cNvSpPr>
          <p:nvPr/>
        </p:nvSpPr>
        <p:spPr>
          <a:xfrm xmlns:a="http://schemas.openxmlformats.org/drawingml/2006/main">
            <a:off x="643890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Repeat matched visual corruptions across applications and layouts, then report paired restoration distributions by item.</a:t>
            </a:r>
          </a:p>
        </p:txBody>
      </p:sp>
      <p:sp>
        <p:nvSpPr>
          <p:cNvPr id="16" name="">
            <a:extLst xmlns:a="http://schemas.openxmlformats.org/drawingml/2006/main">
              <a:ext uri="{FF2B5EF4-FFF2-40B4-BE49-F238E27FC236}">
                <a16:creationId xmlns:a16="http://schemas.microsoft.com/office/drawing/2014/main" id="{4AA1CDF2-9838-486D-B11A-068C9A313D4D}"/>
              </a:ext>
            </a:extLst>
          </p:cNvPr>
          <p:cNvSpPr>
            <a:spLocks xmlns:a="http://schemas.openxmlformats.org/drawingml/2006/main" noGrp="1"/>
          </p:cNvSpPr>
          <p:nvPr/>
        </p:nvSpPr>
        <p:spPr>
          <a:xfrm xmlns:a="http://schemas.openxmlformats.org/drawingml/2006/main">
            <a:off x="60960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AE05B9EC-62E7-41D1-8838-5FC0C04E3106}"/>
              </a:ext>
            </a:extLst>
          </p:cNvPr>
          <p:cNvSpPr>
            <a:spLocks xmlns:a="http://schemas.openxmlformats.org/drawingml/2006/main" noGrp="1"/>
          </p:cNvSpPr>
          <p:nvPr/>
        </p:nvSpPr>
        <p:spPr>
          <a:xfrm xmlns:a="http://schemas.openxmlformats.org/drawingml/2006/main">
            <a:off x="819150" y="3543300"/>
            <a:ext cx="4572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A556D15-6834-4FD8-A90B-78D8C9C3DE35}"/>
              </a:ext>
            </a:extLst>
          </p:cNvPr>
          <p:cNvSpPr>
            <a:spLocks xmlns:a="http://schemas.openxmlformats.org/drawingml/2006/main" noGrp="1"/>
          </p:cNvSpPr>
          <p:nvPr/>
        </p:nvSpPr>
        <p:spPr>
          <a:xfrm xmlns:a="http://schemas.openxmlformats.org/drawingml/2006/main">
            <a:off x="91440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9" name="">
            <a:extLst xmlns:a="http://schemas.openxmlformats.org/drawingml/2006/main">
              <a:ext uri="{FF2B5EF4-FFF2-40B4-BE49-F238E27FC236}">
                <a16:creationId xmlns:a16="http://schemas.microsoft.com/office/drawing/2014/main" id="{99D6E895-8004-4A9E-9FCD-28CC6AACBC70}"/>
              </a:ext>
            </a:extLst>
          </p:cNvPr>
          <p:cNvSpPr>
            <a:spLocks xmlns:a="http://schemas.openxmlformats.org/drawingml/2006/main" noGrp="1"/>
          </p:cNvSpPr>
          <p:nvPr/>
        </p:nvSpPr>
        <p:spPr>
          <a:xfrm xmlns:a="http://schemas.openxmlformats.org/drawingml/2006/main">
            <a:off x="1447800" y="3543300"/>
            <a:ext cx="4248150" cy="295275"/>
          </a:xfrm>
          <a:prstGeom xmlns:a="http://schemas.openxmlformats.org/drawingml/2006/main" prst="roundRect">
            <a:avLst>
              <a:gd name="adj" fmla="val 25806"/>
            </a:avLst>
          </a:prstGeom>
          <a:solidFill xmlns:a="http://schemas.openxmlformats.org/drawingml/2006/main">
            <a:srgbClr val="DDEFE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086928D-3BD3-42F1-8662-ADAC0FD41C16}"/>
              </a:ext>
            </a:extLst>
          </p:cNvPr>
          <p:cNvSpPr>
            <a:spLocks xmlns:a="http://schemas.openxmlformats.org/drawingml/2006/main" noGrp="1"/>
          </p:cNvSpPr>
          <p:nvPr/>
        </p:nvSpPr>
        <p:spPr>
          <a:xfrm xmlns:a="http://schemas.openxmlformats.org/drawingml/2006/main">
            <a:off x="158115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LONG-HORIZON VISUAL MEMORY</a:t>
            </a:r>
          </a:p>
        </p:txBody>
      </p:sp>
      <p:sp>
        <p:nvSpPr>
          <p:cNvPr id="21" name="">
            <a:extLst xmlns:a="http://schemas.openxmlformats.org/drawingml/2006/main">
              <a:ext uri="{FF2B5EF4-FFF2-40B4-BE49-F238E27FC236}">
                <a16:creationId xmlns:a16="http://schemas.microsoft.com/office/drawing/2014/main" id="{9A5C76EA-20DF-4CF6-A6A1-7E3E8D14A748}"/>
              </a:ext>
            </a:extLst>
          </p:cNvPr>
          <p:cNvSpPr>
            <a:spLocks xmlns:a="http://schemas.openxmlformats.org/drawingml/2006/main" noGrp="1"/>
          </p:cNvSpPr>
          <p:nvPr/>
        </p:nvSpPr>
        <p:spPr>
          <a:xfrm xmlns:a="http://schemas.openxmlformats.org/drawingml/2006/main">
            <a:off x="85725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Remove, shuffle, and patch historical frames to separate context retrieval from final coordinate binding.</a:t>
            </a:r>
          </a:p>
        </p:txBody>
      </p:sp>
      <p:sp>
        <p:nvSpPr>
          <p:cNvPr id="22" name="">
            <a:extLst xmlns:a="http://schemas.openxmlformats.org/drawingml/2006/main">
              <a:ext uri="{FF2B5EF4-FFF2-40B4-BE49-F238E27FC236}">
                <a16:creationId xmlns:a16="http://schemas.microsoft.com/office/drawing/2014/main" id="{380E5083-BEF4-45E0-8361-F8EB2DC4D1AB}"/>
              </a:ext>
            </a:extLst>
          </p:cNvPr>
          <p:cNvSpPr>
            <a:spLocks xmlns:a="http://schemas.openxmlformats.org/drawingml/2006/main" noGrp="1"/>
          </p:cNvSpPr>
          <p:nvPr/>
        </p:nvSpPr>
        <p:spPr>
          <a:xfrm xmlns:a="http://schemas.openxmlformats.org/drawingml/2006/main">
            <a:off x="619125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23" name="">
            <a:extLst xmlns:a="http://schemas.openxmlformats.org/drawingml/2006/main">
              <a:ext uri="{FF2B5EF4-FFF2-40B4-BE49-F238E27FC236}">
                <a16:creationId xmlns:a16="http://schemas.microsoft.com/office/drawing/2014/main" id="{05E7151B-40C3-46A9-B7BE-1A18D1DB6A9E}"/>
              </a:ext>
            </a:extLst>
          </p:cNvPr>
          <p:cNvSpPr>
            <a:spLocks xmlns:a="http://schemas.openxmlformats.org/drawingml/2006/main" noGrp="1"/>
          </p:cNvSpPr>
          <p:nvPr/>
        </p:nvSpPr>
        <p:spPr>
          <a:xfrm xmlns:a="http://schemas.openxmlformats.org/drawingml/2006/main">
            <a:off x="6400800" y="3543300"/>
            <a:ext cx="45720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E0DB731-4E2F-41EF-8949-F551AF6967A5}"/>
              </a:ext>
            </a:extLst>
          </p:cNvPr>
          <p:cNvSpPr>
            <a:spLocks xmlns:a="http://schemas.openxmlformats.org/drawingml/2006/main" noGrp="1"/>
          </p:cNvSpPr>
          <p:nvPr/>
        </p:nvSpPr>
        <p:spPr>
          <a:xfrm xmlns:a="http://schemas.openxmlformats.org/drawingml/2006/main">
            <a:off x="649605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25" name="">
            <a:extLst xmlns:a="http://schemas.openxmlformats.org/drawingml/2006/main">
              <a:ext uri="{FF2B5EF4-FFF2-40B4-BE49-F238E27FC236}">
                <a16:creationId xmlns:a16="http://schemas.microsoft.com/office/drawing/2014/main" id="{363D779D-4036-47D9-9ED1-612ED27B52B1}"/>
              </a:ext>
            </a:extLst>
          </p:cNvPr>
          <p:cNvSpPr>
            <a:spLocks xmlns:a="http://schemas.openxmlformats.org/drawingml/2006/main" noGrp="1"/>
          </p:cNvSpPr>
          <p:nvPr/>
        </p:nvSpPr>
        <p:spPr>
          <a:xfrm xmlns:a="http://schemas.openxmlformats.org/drawingml/2006/main">
            <a:off x="7029450" y="3543300"/>
            <a:ext cx="4248150" cy="295275"/>
          </a:xfrm>
          <a:prstGeom xmlns:a="http://schemas.openxmlformats.org/drawingml/2006/main" prst="roundRect">
            <a:avLst>
              <a:gd name="adj" fmla="val 25806"/>
            </a:avLst>
          </a:prstGeom>
          <a:solidFill xmlns:a="http://schemas.openxmlformats.org/drawingml/2006/main">
            <a:srgbClr val="F3EBD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623B532-1070-42CE-B06C-8C7A07D59EF8}"/>
              </a:ext>
            </a:extLst>
          </p:cNvPr>
          <p:cNvSpPr>
            <a:spLocks xmlns:a="http://schemas.openxmlformats.org/drawingml/2006/main" noGrp="1"/>
          </p:cNvSpPr>
          <p:nvPr/>
        </p:nvSpPr>
        <p:spPr>
          <a:xfrm xmlns:a="http://schemas.openxmlformats.org/drawingml/2006/main">
            <a:off x="716280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ACTION-READOUT TRAINING</a:t>
            </a:r>
          </a:p>
        </p:txBody>
      </p:sp>
      <p:sp>
        <p:nvSpPr>
          <p:cNvPr id="27" name="">
            <a:extLst xmlns:a="http://schemas.openxmlformats.org/drawingml/2006/main">
              <a:ext uri="{FF2B5EF4-FFF2-40B4-BE49-F238E27FC236}">
                <a16:creationId xmlns:a16="http://schemas.microsoft.com/office/drawing/2014/main" id="{15C51122-A177-494E-BFD7-C4E7D7F7AF96}"/>
              </a:ext>
            </a:extLst>
          </p:cNvPr>
          <p:cNvSpPr>
            <a:spLocks xmlns:a="http://schemas.openxmlformats.org/drawingml/2006/main" noGrp="1"/>
          </p:cNvSpPr>
          <p:nvPr/>
        </p:nvSpPr>
        <p:spPr>
          <a:xfrm xmlns:a="http://schemas.openxmlformats.org/drawingml/2006/main">
            <a:off x="643890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Target coordinate precision with oracle trajectories and verifiable environment reward while holding out a frozen diagnostic split.</a:t>
            </a:r>
          </a:p>
        </p:txBody>
      </p:sp>
      <p:sp>
        <p:nvSpPr>
          <p:cNvPr id="28" name="">
            <a:extLst xmlns:a="http://schemas.openxmlformats.org/drawingml/2006/main">
              <a:ext uri="{FF2B5EF4-FFF2-40B4-BE49-F238E27FC236}">
                <a16:creationId xmlns:a16="http://schemas.microsoft.com/office/drawing/2014/main" id="{410440CD-1EE8-42BC-BB3D-33EBC9696425}"/>
              </a:ext>
            </a:extLst>
          </p:cNvPr>
          <p:cNvSpPr>
            <a:spLocks xmlns:a="http://schemas.openxmlformats.org/drawingml/2006/main" noGrp="1"/>
          </p:cNvSpPr>
          <p:nvPr/>
        </p:nvSpPr>
        <p:spPr>
          <a:xfrm xmlns:a="http://schemas.openxmlformats.org/drawingml/2006/main">
            <a:off x="609600" y="5238750"/>
            <a:ext cx="10972800" cy="838200"/>
          </a:xfrm>
          <a:prstGeom xmlns:a="http://schemas.openxmlformats.org/drawingml/2006/main" prst="roundRect">
            <a:avLst>
              <a:gd name="adj" fmla="val 9091"/>
            </a:avLst>
          </a:prstGeom>
          <a:solidFill xmlns:a="http://schemas.openxmlformats.org/drawingml/2006/main">
            <a:srgbClr val="1C273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81073F4D-D373-44A7-B45F-2BFA7A8FC642}"/>
              </a:ext>
            </a:extLst>
          </p:cNvPr>
          <p:cNvSpPr>
            <a:spLocks xmlns:a="http://schemas.openxmlformats.org/drawingml/2006/main" noGrp="1"/>
          </p:cNvSpPr>
          <p:nvPr/>
        </p:nvSpPr>
        <p:spPr>
          <a:xfrm xmlns:a="http://schemas.openxmlformats.org/drawingml/2006/main">
            <a:off x="857250" y="54292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RESEARCH PRINCIPLE</a:t>
            </a:r>
          </a:p>
        </p:txBody>
      </p:sp>
      <p:sp>
        <p:nvSpPr>
          <p:cNvPr id="30" name="">
            <a:extLst xmlns:a="http://schemas.openxmlformats.org/drawingml/2006/main">
              <a:ext uri="{FF2B5EF4-FFF2-40B4-BE49-F238E27FC236}">
                <a16:creationId xmlns:a16="http://schemas.microsoft.com/office/drawing/2014/main" id="{1AC26E83-8546-4CEA-862A-5E14A0AC6CEE}"/>
              </a:ext>
            </a:extLst>
          </p:cNvPr>
          <p:cNvSpPr>
            <a:spLocks xmlns:a="http://schemas.openxmlformats.org/drawingml/2006/main" noGrp="1"/>
          </p:cNvSpPr>
          <p:nvPr/>
        </p:nvSpPr>
        <p:spPr>
          <a:xfrm xmlns:a="http://schemas.openxmlformats.org/drawingml/2006/main">
            <a:off x="2705100" y="5391150"/>
            <a:ext cx="828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Use attribution to choose causal tests, then evaluate interventions on held-out behavior</a:t>
            </a:r>
          </a:p>
        </p:txBody>
      </p:sp>
      <p:sp>
        <p:nvSpPr>
          <p:cNvPr id="31" name="">
            <a:extLst xmlns:a="http://schemas.openxmlformats.org/drawingml/2006/main">
              <a:ext uri="{FF2B5EF4-FFF2-40B4-BE49-F238E27FC236}">
                <a16:creationId xmlns:a16="http://schemas.microsoft.com/office/drawing/2014/main" id="{E30220BD-E70B-4715-BB4A-4AF87D88F49B}"/>
              </a:ext>
            </a:extLst>
          </p:cNvPr>
          <p:cNvSpPr>
            <a:spLocks xmlns:a="http://schemas.openxmlformats.org/drawingml/2006/main" noGrp="1"/>
          </p:cNvSpPr>
          <p:nvPr/>
        </p:nvSpPr>
        <p:spPr>
          <a:xfrm xmlns:a="http://schemas.openxmlformats.org/drawingml/2006/main">
            <a:off x="2705100" y="5734050"/>
            <a:ext cx="828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Heatmaps guide hypotheses; task outcomes determine whether the model improved.</a:t>
            </a:r>
          </a:p>
        </p:txBody>
      </p:sp>
      <p:sp>
        <p:nvSpPr>
          <p:cNvPr id="32" name="">
            <a:extLst xmlns:a="http://schemas.openxmlformats.org/drawingml/2006/main">
              <a:ext uri="{FF2B5EF4-FFF2-40B4-BE49-F238E27FC236}">
                <a16:creationId xmlns:a16="http://schemas.microsoft.com/office/drawing/2014/main" id="{2476397B-214A-4907-AD69-C0B4D8BCB738}"/>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B398C4DD-4A69-4859-AE48-24DCF3474E2D}"/>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Scale across items before making a population-level mechanism claim</a:t>
            </a:r>
          </a:p>
        </p:txBody>
      </p:sp>
    </p:spTree>
    <p:extLst>
      <p:ext uri="{BB962C8B-B14F-4D97-AF65-F5344CB8AC3E}">
        <p14:creationId xmlns:p14="http://schemas.microsoft.com/office/powerpoint/2010/main" val="196141468"/>
      </p:ext>
    </p:extLst>
  </p:cSld>
</p:sld>
</file>

<file path=ppt/slides/slide13.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D4D2EC25-224D-4EF3-9E14-8D034D2F6A52}"/>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TAKEAWAYS</a:t>
            </a:r>
          </a:p>
        </p:txBody>
      </p:sp>
      <p:sp>
        <p:nvSpPr>
          <p:cNvPr id="2" name="">
            <a:extLst xmlns:a="http://schemas.openxmlformats.org/drawingml/2006/main">
              <a:ext uri="{FF2B5EF4-FFF2-40B4-BE49-F238E27FC236}">
                <a16:creationId xmlns:a16="http://schemas.microsoft.com/office/drawing/2014/main" id="{AF2FCF49-AB59-42FB-8038-229D77ADF236}"/>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99"/>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The evidence points to visual resolution and coordinate readout</a:t>
            </a:r>
          </a:p>
        </p:txBody>
      </p:sp>
      <p:sp>
        <p:nvSpPr>
          <p:cNvPr id="3" name="">
            <a:extLst xmlns:a="http://schemas.openxmlformats.org/drawingml/2006/main">
              <a:ext uri="{FF2B5EF4-FFF2-40B4-BE49-F238E27FC236}">
                <a16:creationId xmlns:a16="http://schemas.microsoft.com/office/drawing/2014/main" id="{0A25A93E-DE14-471E-BCA3-9A3512E3346D}"/>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6A2AE"/>
                </a:solidFill>
                <a:latin typeface="Helvetica Neue"/>
                <a:ea typeface="Helvetica Neue"/>
                <a:cs typeface="Helvetica Neue"/>
              </a:defRPr>
            </a:pPr>
            <a:r>
              <a:rPr sz="975" b="1">
                <a:solidFill>
                  <a:srgbClr val="96A2AE"/>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8EB4CFB4-61C2-4938-8070-77071A9D5A09}"/>
              </a:ext>
            </a:extLst>
          </p:cNvPr>
          <p:cNvSpPr>
            <a:spLocks xmlns:a="http://schemas.openxmlformats.org/drawingml/2006/main" noGrp="1"/>
          </p:cNvSpPr>
          <p:nvPr/>
        </p:nvSpPr>
        <p:spPr>
          <a:xfrm xmlns:a="http://schemas.openxmlformats.org/drawingml/2006/main">
            <a:off x="609600" y="1428750"/>
            <a:ext cx="4953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6A20990-16F9-4448-B72B-AD67D7B54AFB}"/>
              </a:ext>
            </a:extLst>
          </p:cNvPr>
          <p:cNvSpPr>
            <a:spLocks xmlns:a="http://schemas.openxmlformats.org/drawingml/2006/main" noGrp="1"/>
          </p:cNvSpPr>
          <p:nvPr/>
        </p:nvSpPr>
        <p:spPr>
          <a:xfrm xmlns:a="http://schemas.openxmlformats.org/drawingml/2006/main">
            <a:off x="704850" y="1447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9D0D01DF-620F-454D-B495-959BA2D5164C}"/>
              </a:ext>
            </a:extLst>
          </p:cNvPr>
          <p:cNvSpPr>
            <a:spLocks xmlns:a="http://schemas.openxmlformats.org/drawingml/2006/main" noGrp="1"/>
          </p:cNvSpPr>
          <p:nvPr/>
        </p:nvSpPr>
        <p:spPr>
          <a:xfrm xmlns:a="http://schemas.openxmlformats.org/drawingml/2006/main">
            <a:off x="1314450" y="14382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Resolution changes grounding</a:t>
            </a:r>
          </a:p>
        </p:txBody>
      </p:sp>
      <p:sp>
        <p:nvSpPr>
          <p:cNvPr id="7" name="">
            <a:extLst xmlns:a="http://schemas.openxmlformats.org/drawingml/2006/main">
              <a:ext uri="{FF2B5EF4-FFF2-40B4-BE49-F238E27FC236}">
                <a16:creationId xmlns:a16="http://schemas.microsoft.com/office/drawing/2014/main" id="{FD0F5C3C-CD8C-4DF5-BF06-4F7B717DFB6C}"/>
              </a:ext>
            </a:extLst>
          </p:cNvPr>
          <p:cNvSpPr>
            <a:spLocks xmlns:a="http://schemas.openxmlformats.org/drawingml/2006/main" noGrp="1"/>
          </p:cNvSpPr>
          <p:nvPr/>
        </p:nvSpPr>
        <p:spPr>
          <a:xfrm xmlns:a="http://schemas.openxmlformats.org/drawingml/2006/main">
            <a:off x="1314450" y="17621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Only 4 of 36 native-success clicks survive at quarter resolution.</a:t>
            </a:r>
          </a:p>
        </p:txBody>
      </p:sp>
      <p:sp>
        <p:nvSpPr>
          <p:cNvPr id="8" name="">
            <a:extLst xmlns:a="http://schemas.openxmlformats.org/drawingml/2006/main">
              <a:ext uri="{FF2B5EF4-FFF2-40B4-BE49-F238E27FC236}">
                <a16:creationId xmlns:a16="http://schemas.microsoft.com/office/drawing/2014/main" id="{E909E9F3-8A90-4837-92FC-4A3806507927}"/>
              </a:ext>
            </a:extLst>
          </p:cNvPr>
          <p:cNvSpPr>
            <a:spLocks xmlns:a="http://schemas.openxmlformats.org/drawingml/2006/main" noGrp="1"/>
          </p:cNvSpPr>
          <p:nvPr/>
        </p:nvSpPr>
        <p:spPr>
          <a:xfrm xmlns:a="http://schemas.openxmlformats.org/drawingml/2006/main">
            <a:off x="609600" y="259080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0291E1F-8CE2-44B1-8D83-7E70EBEBCA31}"/>
              </a:ext>
            </a:extLst>
          </p:cNvPr>
          <p:cNvSpPr>
            <a:spLocks xmlns:a="http://schemas.openxmlformats.org/drawingml/2006/main" noGrp="1"/>
          </p:cNvSpPr>
          <p:nvPr/>
        </p:nvSpPr>
        <p:spPr>
          <a:xfrm xmlns:a="http://schemas.openxmlformats.org/drawingml/2006/main">
            <a:off x="704850" y="260985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5859E75A-444F-4062-A886-3DF381201933}"/>
              </a:ext>
            </a:extLst>
          </p:cNvPr>
          <p:cNvSpPr>
            <a:spLocks xmlns:a="http://schemas.openxmlformats.org/drawingml/2006/main" noGrp="1"/>
          </p:cNvSpPr>
          <p:nvPr/>
        </p:nvSpPr>
        <p:spPr>
          <a:xfrm xmlns:a="http://schemas.openxmlformats.org/drawingml/2006/main">
            <a:off x="1314450" y="260032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Attention can outlive the click</a:t>
            </a:r>
          </a:p>
        </p:txBody>
      </p:sp>
      <p:sp>
        <p:nvSpPr>
          <p:cNvPr id="11" name="">
            <a:extLst xmlns:a="http://schemas.openxmlformats.org/drawingml/2006/main">
              <a:ext uri="{FF2B5EF4-FFF2-40B4-BE49-F238E27FC236}">
                <a16:creationId xmlns:a16="http://schemas.microsoft.com/office/drawing/2014/main" id="{2FD0CD09-7945-4F4D-8F34-BAEF130FF127}"/>
              </a:ext>
            </a:extLst>
          </p:cNvPr>
          <p:cNvSpPr>
            <a:spLocks xmlns:a="http://schemas.openxmlformats.org/drawingml/2006/main" noGrp="1"/>
          </p:cNvSpPr>
          <p:nvPr/>
        </p:nvSpPr>
        <p:spPr>
          <a:xfrm xmlns:a="http://schemas.openxmlformats.org/drawingml/2006/main">
            <a:off x="1314450" y="292417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A strict miss still places its task-specific peak inside the annotated target.</a:t>
            </a:r>
          </a:p>
        </p:txBody>
      </p:sp>
      <p:sp>
        <p:nvSpPr>
          <p:cNvPr id="12" name="">
            <a:extLst xmlns:a="http://schemas.openxmlformats.org/drawingml/2006/main">
              <a:ext uri="{FF2B5EF4-FFF2-40B4-BE49-F238E27FC236}">
                <a16:creationId xmlns:a16="http://schemas.microsoft.com/office/drawing/2014/main" id="{04F8E053-89DE-420E-80C9-20E41C495A5B}"/>
              </a:ext>
            </a:extLst>
          </p:cNvPr>
          <p:cNvSpPr>
            <a:spLocks xmlns:a="http://schemas.openxmlformats.org/drawingml/2006/main" noGrp="1"/>
          </p:cNvSpPr>
          <p:nvPr/>
        </p:nvSpPr>
        <p:spPr>
          <a:xfrm xmlns:a="http://schemas.openxmlformats.org/drawingml/2006/main">
            <a:off x="609600" y="375285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4B74F78-C328-4A3D-B155-2E279BAA413F}"/>
              </a:ext>
            </a:extLst>
          </p:cNvPr>
          <p:cNvSpPr>
            <a:spLocks xmlns:a="http://schemas.openxmlformats.org/drawingml/2006/main" noGrp="1"/>
          </p:cNvSpPr>
          <p:nvPr/>
        </p:nvSpPr>
        <p:spPr>
          <a:xfrm xmlns:a="http://schemas.openxmlformats.org/drawingml/2006/main">
            <a:off x="704850" y="37719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30CD818A-159A-445E-B2F2-C7B85238B4FC}"/>
              </a:ext>
            </a:extLst>
          </p:cNvPr>
          <p:cNvSpPr>
            <a:spLocks xmlns:a="http://schemas.openxmlformats.org/drawingml/2006/main" noGrp="1"/>
          </p:cNvSpPr>
          <p:nvPr/>
        </p:nvSpPr>
        <p:spPr>
          <a:xfrm xmlns:a="http://schemas.openxmlformats.org/drawingml/2006/main">
            <a:off x="1314450" y="37623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Context reaches later actions</a:t>
            </a:r>
          </a:p>
        </p:txBody>
      </p:sp>
      <p:sp>
        <p:nvSpPr>
          <p:cNvPr id="15" name="">
            <a:extLst xmlns:a="http://schemas.openxmlformats.org/drawingml/2006/main">
              <a:ext uri="{FF2B5EF4-FFF2-40B4-BE49-F238E27FC236}">
                <a16:creationId xmlns:a16="http://schemas.microsoft.com/office/drawing/2014/main" id="{CF2265E8-9E9E-41BE-B9F2-6A5CD05AE574}"/>
              </a:ext>
            </a:extLst>
          </p:cNvPr>
          <p:cNvSpPr>
            <a:spLocks xmlns:a="http://schemas.openxmlformats.org/drawingml/2006/main" noGrp="1"/>
          </p:cNvSpPr>
          <p:nvPr/>
        </p:nvSpPr>
        <p:spPr>
          <a:xfrm xmlns:a="http://schemas.openxmlformats.org/drawingml/2006/main">
            <a:off x="1314450" y="40862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The successful hotel click draws value-weighted attention from all three retained frames.</a:t>
            </a:r>
          </a:p>
        </p:txBody>
      </p:sp>
      <p:sp>
        <p:nvSpPr>
          <p:cNvPr id="16" name="">
            <a:extLst xmlns:a="http://schemas.openxmlformats.org/drawingml/2006/main">
              <a:ext uri="{FF2B5EF4-FFF2-40B4-BE49-F238E27FC236}">
                <a16:creationId xmlns:a16="http://schemas.microsoft.com/office/drawing/2014/main" id="{ABFCEA8E-7C64-40A0-963B-0461E161F61B}"/>
              </a:ext>
            </a:extLst>
          </p:cNvPr>
          <p:cNvSpPr>
            <a:spLocks xmlns:a="http://schemas.openxmlformats.org/drawingml/2006/main" noGrp="1"/>
          </p:cNvSpPr>
          <p:nvPr/>
        </p:nvSpPr>
        <p:spPr>
          <a:xfrm xmlns:a="http://schemas.openxmlformats.org/drawingml/2006/main">
            <a:off x="6153150" y="1390650"/>
            <a:ext cx="5429250" cy="3943350"/>
          </a:xfrm>
          <a:prstGeom xmlns:a="http://schemas.openxmlformats.org/drawingml/2006/main" prst="roundRect">
            <a:avLst>
              <a:gd name="adj" fmla="val 1932"/>
            </a:avLst>
          </a:prstGeom>
          <a:solidFill xmlns:a="http://schemas.openxmlformats.org/drawingml/2006/main">
            <a:srgbClr val="FFFF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279208C-D132-4E43-8A78-2E74959C5E8B}"/>
              </a:ext>
            </a:extLst>
          </p:cNvPr>
          <p:cNvSpPr>
            <a:spLocks xmlns:a="http://schemas.openxmlformats.org/drawingml/2006/main" noGrp="1"/>
          </p:cNvSpPr>
          <p:nvPr/>
        </p:nvSpPr>
        <p:spPr>
          <a:xfrm xmlns:a="http://schemas.openxmlformats.org/drawingml/2006/main">
            <a:off x="6438900" y="1657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WHAT THE CAUSAL PANEL ADDS</a:t>
            </a:r>
          </a:p>
        </p:txBody>
      </p:sp>
      <p:sp>
        <p:nvSpPr>
          <p:cNvPr id="18" name="">
            <a:extLst xmlns:a="http://schemas.openxmlformats.org/drawingml/2006/main">
              <a:ext uri="{FF2B5EF4-FFF2-40B4-BE49-F238E27FC236}">
                <a16:creationId xmlns:a16="http://schemas.microsoft.com/office/drawing/2014/main" id="{F723283E-BE43-4915-9648-8CA5C4A48FB0}"/>
              </a:ext>
            </a:extLst>
          </p:cNvPr>
          <p:cNvSpPr>
            <a:spLocks xmlns:a="http://schemas.openxmlformats.org/drawingml/2006/main" noGrp="1"/>
          </p:cNvSpPr>
          <p:nvPr/>
        </p:nvSpPr>
        <p:spPr>
          <a:xfrm xmlns:a="http://schemas.openxmlformats.org/drawingml/2006/main">
            <a:off x="6438900" y="2152650"/>
            <a:ext cx="361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E05F292-6823-40C3-A28A-17C1492E22BE}"/>
              </a:ext>
            </a:extLst>
          </p:cNvPr>
          <p:cNvSpPr>
            <a:spLocks xmlns:a="http://schemas.openxmlformats.org/drawingml/2006/main" noGrp="1"/>
          </p:cNvSpPr>
          <p:nvPr/>
        </p:nvSpPr>
        <p:spPr>
          <a:xfrm xmlns:a="http://schemas.openxmlformats.org/drawingml/2006/main">
            <a:off x="6534150" y="21717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20" name="">
            <a:extLst xmlns:a="http://schemas.openxmlformats.org/drawingml/2006/main">
              <a:ext uri="{FF2B5EF4-FFF2-40B4-BE49-F238E27FC236}">
                <a16:creationId xmlns:a16="http://schemas.microsoft.com/office/drawing/2014/main" id="{2BAD9114-2F97-401F-9D01-004C12E8F53C}"/>
              </a:ext>
            </a:extLst>
          </p:cNvPr>
          <p:cNvSpPr>
            <a:spLocks xmlns:a="http://schemas.openxmlformats.org/drawingml/2006/main" noGrp="1"/>
          </p:cNvSpPr>
          <p:nvPr/>
        </p:nvSpPr>
        <p:spPr>
          <a:xfrm xmlns:a="http://schemas.openxmlformats.org/drawingml/2006/main">
            <a:off x="6953250" y="21621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Recoverable Layer 15 state</a:t>
            </a:r>
          </a:p>
        </p:txBody>
      </p:sp>
      <p:sp>
        <p:nvSpPr>
          <p:cNvPr id="21" name="">
            <a:extLst xmlns:a="http://schemas.openxmlformats.org/drawingml/2006/main">
              <a:ext uri="{FF2B5EF4-FFF2-40B4-BE49-F238E27FC236}">
                <a16:creationId xmlns:a16="http://schemas.microsoft.com/office/drawing/2014/main" id="{39476061-327C-4317-B648-172294E1437D}"/>
              </a:ext>
            </a:extLst>
          </p:cNvPr>
          <p:cNvSpPr>
            <a:spLocks xmlns:a="http://schemas.openxmlformats.org/drawingml/2006/main" noGrp="1"/>
          </p:cNvSpPr>
          <p:nvPr/>
        </p:nvSpPr>
        <p:spPr>
          <a:xfrm xmlns:a="http://schemas.openxmlformats.org/drawingml/2006/main">
            <a:off x="6953250" y="24479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Clean Holo state restores +1.01 nats; Qwen restores +0.10.</a:t>
            </a:r>
          </a:p>
        </p:txBody>
      </p:sp>
      <p:sp>
        <p:nvSpPr>
          <p:cNvPr id="22" name="">
            <a:extLst xmlns:a="http://schemas.openxmlformats.org/drawingml/2006/main">
              <a:ext uri="{FF2B5EF4-FFF2-40B4-BE49-F238E27FC236}">
                <a16:creationId xmlns:a16="http://schemas.microsoft.com/office/drawing/2014/main" id="{3E6CD1E9-5262-4A61-861E-FC1BA1295E42}"/>
              </a:ext>
            </a:extLst>
          </p:cNvPr>
          <p:cNvSpPr>
            <a:spLocks xmlns:a="http://schemas.openxmlformats.org/drawingml/2006/main" noGrp="1"/>
          </p:cNvSpPr>
          <p:nvPr/>
        </p:nvSpPr>
        <p:spPr>
          <a:xfrm xmlns:a="http://schemas.openxmlformats.org/drawingml/2006/main">
            <a:off x="6438900" y="308610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87D5C52-EDC2-4517-A933-EA7F411D73FD}"/>
              </a:ext>
            </a:extLst>
          </p:cNvPr>
          <p:cNvSpPr>
            <a:spLocks xmlns:a="http://schemas.openxmlformats.org/drawingml/2006/main" noGrp="1"/>
          </p:cNvSpPr>
          <p:nvPr/>
        </p:nvSpPr>
        <p:spPr>
          <a:xfrm xmlns:a="http://schemas.openxmlformats.org/drawingml/2006/main">
            <a:off x="6534150" y="31051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CF7D30C0-D12F-483E-84BE-8C01E43B1A21}"/>
              </a:ext>
            </a:extLst>
          </p:cNvPr>
          <p:cNvSpPr>
            <a:spLocks xmlns:a="http://schemas.openxmlformats.org/drawingml/2006/main" noGrp="1"/>
          </p:cNvSpPr>
          <p:nvPr/>
        </p:nvSpPr>
        <p:spPr>
          <a:xfrm xmlns:a="http://schemas.openxmlformats.org/drawingml/2006/main">
            <a:off x="6953250" y="30956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Shared coordinate machinery</a:t>
            </a:r>
          </a:p>
        </p:txBody>
      </p:sp>
      <p:sp>
        <p:nvSpPr>
          <p:cNvPr id="25" name="">
            <a:extLst xmlns:a="http://schemas.openxmlformats.org/drawingml/2006/main">
              <a:ext uri="{FF2B5EF4-FFF2-40B4-BE49-F238E27FC236}">
                <a16:creationId xmlns:a16="http://schemas.microsoft.com/office/drawing/2014/main" id="{D12AD6F7-F93D-4F01-9437-927F8C9CF796}"/>
              </a:ext>
            </a:extLst>
          </p:cNvPr>
          <p:cNvSpPr>
            <a:spLocks xmlns:a="http://schemas.openxmlformats.org/drawingml/2006/main" noGrp="1"/>
          </p:cNvSpPr>
          <p:nvPr/>
        </p:nvSpPr>
        <p:spPr>
          <a:xfrm xmlns:a="http://schemas.openxmlformats.org/drawingml/2006/main">
            <a:off x="6953250" y="338137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Zeroing the same state harms both checkpoints.</a:t>
            </a:r>
          </a:p>
        </p:txBody>
      </p:sp>
      <p:sp>
        <p:nvSpPr>
          <p:cNvPr id="26" name="">
            <a:extLst xmlns:a="http://schemas.openxmlformats.org/drawingml/2006/main">
              <a:ext uri="{FF2B5EF4-FFF2-40B4-BE49-F238E27FC236}">
                <a16:creationId xmlns:a16="http://schemas.microsoft.com/office/drawing/2014/main" id="{9E8AED0B-28EC-4D61-B04A-8655AADDB385}"/>
              </a:ext>
            </a:extLst>
          </p:cNvPr>
          <p:cNvSpPr>
            <a:spLocks xmlns:a="http://schemas.openxmlformats.org/drawingml/2006/main" noGrp="1"/>
          </p:cNvSpPr>
          <p:nvPr/>
        </p:nvSpPr>
        <p:spPr>
          <a:xfrm xmlns:a="http://schemas.openxmlformats.org/drawingml/2006/main">
            <a:off x="6438900" y="40195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E5104F4-6707-4553-B01B-036FDF5EEB0E}"/>
              </a:ext>
            </a:extLst>
          </p:cNvPr>
          <p:cNvSpPr>
            <a:spLocks xmlns:a="http://schemas.openxmlformats.org/drawingml/2006/main" noGrp="1"/>
          </p:cNvSpPr>
          <p:nvPr/>
        </p:nvSpPr>
        <p:spPr>
          <a:xfrm xmlns:a="http://schemas.openxmlformats.org/drawingml/2006/main">
            <a:off x="6534150" y="40386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8" name="">
            <a:extLst xmlns:a="http://schemas.openxmlformats.org/drawingml/2006/main">
              <a:ext uri="{FF2B5EF4-FFF2-40B4-BE49-F238E27FC236}">
                <a16:creationId xmlns:a16="http://schemas.microsoft.com/office/drawing/2014/main" id="{0A540C2A-9184-4BFB-98CC-56BC1E55C58E}"/>
              </a:ext>
            </a:extLst>
          </p:cNvPr>
          <p:cNvSpPr>
            <a:spLocks xmlns:a="http://schemas.openxmlformats.org/drawingml/2006/main" noGrp="1"/>
          </p:cNvSpPr>
          <p:nvPr/>
        </p:nvSpPr>
        <p:spPr>
          <a:xfrm xmlns:a="http://schemas.openxmlformats.org/drawingml/2006/main">
            <a:off x="6953250" y="40290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Distributed mechanism</a:t>
            </a:r>
          </a:p>
        </p:txBody>
      </p:sp>
      <p:sp>
        <p:nvSpPr>
          <p:cNvPr id="29" name="">
            <a:extLst xmlns:a="http://schemas.openxmlformats.org/drawingml/2006/main">
              <a:ext uri="{FF2B5EF4-FFF2-40B4-BE49-F238E27FC236}">
                <a16:creationId xmlns:a16="http://schemas.microsoft.com/office/drawing/2014/main" id="{37A3DE18-D682-472E-AED8-E37B15EB8A97}"/>
              </a:ext>
            </a:extLst>
          </p:cNvPr>
          <p:cNvSpPr>
            <a:spLocks xmlns:a="http://schemas.openxmlformats.org/drawingml/2006/main" noGrp="1"/>
          </p:cNvSpPr>
          <p:nvPr/>
        </p:nvSpPr>
        <p:spPr>
          <a:xfrm xmlns:a="http://schemas.openxmlformats.org/drawingml/2006/main">
            <a:off x="6953250" y="43148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No single attention head explains the restoration effect.</a:t>
            </a:r>
          </a:p>
        </p:txBody>
      </p:sp>
      <p:sp>
        <p:nvSpPr>
          <p:cNvPr id="30" name="">
            <a:extLst xmlns:a="http://schemas.openxmlformats.org/drawingml/2006/main">
              <a:ext uri="{FF2B5EF4-FFF2-40B4-BE49-F238E27FC236}">
                <a16:creationId xmlns:a16="http://schemas.microsoft.com/office/drawing/2014/main" id="{6B78A022-1FD6-4F75-AB76-AD390DBD1853}"/>
              </a:ext>
            </a:extLst>
          </p:cNvPr>
          <p:cNvSpPr>
            <a:spLocks xmlns:a="http://schemas.openxmlformats.org/drawingml/2006/main" noGrp="1"/>
          </p:cNvSpPr>
          <p:nvPr/>
        </p:nvSpPr>
        <p:spPr>
          <a:xfrm xmlns:a="http://schemas.openxmlformats.org/drawingml/2006/main">
            <a:off x="609600" y="5600700"/>
            <a:ext cx="10972800" cy="476250"/>
          </a:xfrm>
          <a:prstGeom xmlns:a="http://schemas.openxmlformats.org/drawingml/2006/main" prst="roundRect">
            <a:avLst>
              <a:gd name="adj" fmla="val 16000"/>
            </a:avLst>
          </a:prstGeom>
          <a:solidFill xmlns:a="http://schemas.openxmlformats.org/drawingml/2006/main">
            <a:srgbClr val="202C3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E1B808EF-EE6F-4FDD-8BDA-0310746DAEBF}"/>
              </a:ext>
            </a:extLst>
          </p:cNvPr>
          <p:cNvSpPr>
            <a:spLocks xmlns:a="http://schemas.openxmlformats.org/drawingml/2006/main" noGrp="1"/>
          </p:cNvSpPr>
          <p:nvPr/>
        </p:nvSpPr>
        <p:spPr>
          <a:xfrm xmlns:a="http://schemas.openxmlformats.org/drawingml/2006/main">
            <a:off x="857250" y="5695950"/>
            <a:ext cx="1045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Current hypothesis: fine-tuning improves action-state formation more clearly than target-directed visual attention</a:t>
            </a:r>
          </a:p>
        </p:txBody>
      </p:sp>
      <p:sp>
        <p:nvSpPr>
          <p:cNvPr id="32" name="">
            <a:extLst xmlns:a="http://schemas.openxmlformats.org/drawingml/2006/main">
              <a:ext uri="{FF2B5EF4-FFF2-40B4-BE49-F238E27FC236}">
                <a16:creationId xmlns:a16="http://schemas.microsoft.com/office/drawing/2014/main" id="{91367F18-A48A-462F-8A11-CE3C6AFC2168}"/>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3A4652"/>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51CEEC49-3C6B-4340-B45A-99216AB7E119}"/>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8794A2"/>
                </a:solidFill>
                <a:latin typeface="Helvetica Neue"/>
                <a:ea typeface="Helvetica Neue"/>
                <a:cs typeface="Helvetica Neue"/>
              </a:defRPr>
            </a:pPr>
            <a:r>
              <a:rPr sz="750" b="0">
                <a:solidFill>
                  <a:srgbClr val="8794A2"/>
                </a:solidFill>
                <a:latin typeface="Helvetica Neue"/>
                <a:ea typeface="Helvetica Neue"/>
                <a:cs typeface="Helvetica Neue"/>
              </a:rPr>
              <a:t>Attention is descriptive; the eight-prompt intervention is causal within one image</a:t>
            </a:r>
          </a:p>
        </p:txBody>
      </p:sp>
    </p:spTree>
    <p:extLst>
      <p:ext uri="{BB962C8B-B14F-4D97-AF65-F5344CB8AC3E}">
        <p14:creationId xmlns:p14="http://schemas.microsoft.com/office/powerpoint/2010/main" val="227570929"/>
      </p:ext>
    </p:extLst>
  </p:cSld>
</p:sld>
</file>

<file path=ppt/slides/slide1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69D2DB55-EA05-41FB-A6C1-1D7552032890}"/>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METHODS APPENDIX</a:t>
            </a:r>
          </a:p>
        </p:txBody>
      </p:sp>
      <p:sp>
        <p:nvSpPr>
          <p:cNvPr id="2" name="">
            <a:extLst xmlns:a="http://schemas.openxmlformats.org/drawingml/2006/main">
              <a:ext uri="{FF2B5EF4-FFF2-40B4-BE49-F238E27FC236}">
                <a16:creationId xmlns:a16="http://schemas.microsoft.com/office/drawing/2014/main" id="{460AF398-2C3E-42A8-A366-ABA18AFA0A52}"/>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704"/>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generated coordinate tokens back to image patches</a:t>
            </a:r>
          </a:p>
        </p:txBody>
      </p:sp>
      <p:sp>
        <p:nvSpPr>
          <p:cNvPr id="3" name="">
            <a:extLst xmlns:a="http://schemas.openxmlformats.org/drawingml/2006/main">
              <a:ext uri="{FF2B5EF4-FFF2-40B4-BE49-F238E27FC236}">
                <a16:creationId xmlns:a16="http://schemas.microsoft.com/office/drawing/2014/main" id="{2B0C68D6-C95B-4582-8241-7F9F0634F403}"/>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6402BAA6-5233-479D-A9FE-439F2ACCDEE4}"/>
              </a:ext>
            </a:extLst>
          </p:cNvPr>
          <p:cNvSpPr>
            <a:spLocks xmlns:a="http://schemas.openxmlformats.org/drawingml/2006/main" noGrp="1"/>
          </p:cNvSpPr>
          <p:nvPr/>
        </p:nvSpPr>
        <p:spPr>
          <a:xfrm xmlns:a="http://schemas.openxmlformats.org/drawingml/2006/main">
            <a:off x="609600" y="11239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A attention weights · V value vectors · R rolled-out token influence · M image-patch map for generated x/y value tokens</a:t>
            </a:r>
          </a:p>
        </p:txBody>
      </p:sp>
      <p:sp>
        <p:nvSpPr>
          <p:cNvPr id="5" name="">
            <a:extLst xmlns:a="http://schemas.openxmlformats.org/drawingml/2006/main">
              <a:ext uri="{FF2B5EF4-FFF2-40B4-BE49-F238E27FC236}">
                <a16:creationId xmlns:a16="http://schemas.microsoft.com/office/drawing/2014/main" id="{A39A5D88-006E-4A90-9EE4-8FC17E100F1C}"/>
              </a:ext>
            </a:extLst>
          </p:cNvPr>
          <p:cNvSpPr>
            <a:spLocks xmlns:a="http://schemas.openxmlformats.org/drawingml/2006/main" noGrp="1"/>
          </p:cNvSpPr>
          <p:nvPr/>
        </p:nvSpPr>
        <p:spPr>
          <a:xfrm xmlns:a="http://schemas.openxmlformats.org/drawingml/2006/main">
            <a:off x="60960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6" name="">
            <a:extLst xmlns:a="http://schemas.openxmlformats.org/drawingml/2006/main">
              <a:ext uri="{FF2B5EF4-FFF2-40B4-BE49-F238E27FC236}">
                <a16:creationId xmlns:a16="http://schemas.microsoft.com/office/drawing/2014/main" id="{15468E6C-C521-4BA5-87C9-3856E62FA575}"/>
              </a:ext>
            </a:extLst>
          </p:cNvPr>
          <p:cNvSpPr>
            <a:spLocks xmlns:a="http://schemas.openxmlformats.org/drawingml/2006/main" noGrp="1"/>
          </p:cNvSpPr>
          <p:nvPr/>
        </p:nvSpPr>
        <p:spPr>
          <a:xfrm xmlns:a="http://schemas.openxmlformats.org/drawingml/2006/main">
            <a:off x="819150" y="1666875"/>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0197419-2324-4428-8A3E-FFCC30EA7FD1}"/>
              </a:ext>
            </a:extLst>
          </p:cNvPr>
          <p:cNvSpPr>
            <a:spLocks xmlns:a="http://schemas.openxmlformats.org/drawingml/2006/main" noGrp="1"/>
          </p:cNvSpPr>
          <p:nvPr/>
        </p:nvSpPr>
        <p:spPr>
          <a:xfrm xmlns:a="http://schemas.openxmlformats.org/drawingml/2006/main">
            <a:off x="91440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97E00B50-0D8B-4B35-9D27-7B960F08C392}"/>
              </a:ext>
            </a:extLst>
          </p:cNvPr>
          <p:cNvSpPr>
            <a:spLocks xmlns:a="http://schemas.openxmlformats.org/drawingml/2006/main" noGrp="1"/>
          </p:cNvSpPr>
          <p:nvPr/>
        </p:nvSpPr>
        <p:spPr>
          <a:xfrm xmlns:a="http://schemas.openxmlformats.org/drawingml/2006/main">
            <a:off x="140970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VALUE-NORM</a:t>
            </a:r>
          </a:p>
        </p:txBody>
      </p:sp>
      <p:sp>
        <p:nvSpPr>
          <p:cNvPr id="9" name="">
            <a:extLst xmlns:a="http://schemas.openxmlformats.org/drawingml/2006/main">
              <a:ext uri="{FF2B5EF4-FFF2-40B4-BE49-F238E27FC236}">
                <a16:creationId xmlns:a16="http://schemas.microsoft.com/office/drawing/2014/main" id="{EA32EC01-B2D5-4C36-B7F2-E1A789A588F9}"/>
              </a:ext>
            </a:extLst>
          </p:cNvPr>
          <p:cNvSpPr>
            <a:spLocks xmlns:a="http://schemas.openxmlformats.org/drawingml/2006/main" noGrp="1"/>
          </p:cNvSpPr>
          <p:nvPr/>
        </p:nvSpPr>
        <p:spPr>
          <a:xfrm xmlns:a="http://schemas.openxmlformats.org/drawingml/2006/main">
            <a:off x="819150" y="2095500"/>
            <a:ext cx="2971800" cy="685800"/>
          </a:xfrm>
          <a:prstGeom xmlns:a="http://schemas.openxmlformats.org/drawingml/2006/main" prst="roundRect">
            <a:avLst>
              <a:gd name="adj" fmla="val 11111"/>
            </a:avLst>
          </a:prstGeom>
          <a:solidFill xmlns:a="http://schemas.openxmlformats.org/drawingml/2006/main">
            <a:srgbClr val="FCE2D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E7F0C8E-F24E-44C5-B2A5-D0C8F62A3EFD}"/>
              </a:ext>
            </a:extLst>
          </p:cNvPr>
          <p:cNvSpPr>
            <a:spLocks xmlns:a="http://schemas.openxmlformats.org/drawingml/2006/main" noGrp="1"/>
          </p:cNvSpPr>
          <p:nvPr/>
        </p:nvSpPr>
        <p:spPr>
          <a:xfrm xmlns:a="http://schemas.openxmlformats.org/drawingml/2006/main">
            <a:off x="95250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A′ = normalize(A ⊙ ‖V‖₂)</a:t>
            </a:r>
          </a:p>
        </p:txBody>
      </p:sp>
      <p:sp>
        <p:nvSpPr>
          <p:cNvPr id="11" name="">
            <a:extLst xmlns:a="http://schemas.openxmlformats.org/drawingml/2006/main">
              <a:ext uri="{FF2B5EF4-FFF2-40B4-BE49-F238E27FC236}">
                <a16:creationId xmlns:a16="http://schemas.microsoft.com/office/drawing/2014/main" id="{040DEDE5-9C32-4E42-9BE5-1586E9013BE3}"/>
              </a:ext>
            </a:extLst>
          </p:cNvPr>
          <p:cNvSpPr>
            <a:spLocks xmlns:a="http://schemas.openxmlformats.org/drawingml/2006/main" noGrp="1"/>
          </p:cNvSpPr>
          <p:nvPr/>
        </p:nvSpPr>
        <p:spPr>
          <a:xfrm xmlns:a="http://schemas.openxmlformats.org/drawingml/2006/main">
            <a:off x="84772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Down-weight attention paths whose value vectors carry little magnitude</a:t>
            </a:r>
          </a:p>
        </p:txBody>
      </p:sp>
      <p:sp>
        <p:nvSpPr>
          <p:cNvPr id="12" name="">
            <a:extLst xmlns:a="http://schemas.openxmlformats.org/drawingml/2006/main">
              <a:ext uri="{FF2B5EF4-FFF2-40B4-BE49-F238E27FC236}">
                <a16:creationId xmlns:a16="http://schemas.microsoft.com/office/drawing/2014/main" id="{2360C0E4-19EC-42B0-891C-4BDA884E31E1}"/>
              </a:ext>
            </a:extLst>
          </p:cNvPr>
          <p:cNvSpPr>
            <a:spLocks xmlns:a="http://schemas.openxmlformats.org/drawingml/2006/main" noGrp="1"/>
          </p:cNvSpPr>
          <p:nvPr/>
        </p:nvSpPr>
        <p:spPr>
          <a:xfrm xmlns:a="http://schemas.openxmlformats.org/drawingml/2006/main">
            <a:off x="4371975"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493DDB98-1C5A-4C34-8210-01F182E2781A}"/>
              </a:ext>
            </a:extLst>
          </p:cNvPr>
          <p:cNvSpPr>
            <a:spLocks xmlns:a="http://schemas.openxmlformats.org/drawingml/2006/main" noGrp="1"/>
          </p:cNvSpPr>
          <p:nvPr/>
        </p:nvSpPr>
        <p:spPr>
          <a:xfrm xmlns:a="http://schemas.openxmlformats.org/drawingml/2006/main">
            <a:off x="4581525" y="1666875"/>
            <a:ext cx="438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5E9ECF2-265B-440B-86C7-EE32A525BF76}"/>
              </a:ext>
            </a:extLst>
          </p:cNvPr>
          <p:cNvSpPr>
            <a:spLocks xmlns:a="http://schemas.openxmlformats.org/drawingml/2006/main" noGrp="1"/>
          </p:cNvSpPr>
          <p:nvPr/>
        </p:nvSpPr>
        <p:spPr>
          <a:xfrm xmlns:a="http://schemas.openxmlformats.org/drawingml/2006/main">
            <a:off x="4676775"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A99294CE-1489-4B17-928F-96B83533872F}"/>
              </a:ext>
            </a:extLst>
          </p:cNvPr>
          <p:cNvSpPr>
            <a:spLocks xmlns:a="http://schemas.openxmlformats.org/drawingml/2006/main" noGrp="1"/>
          </p:cNvSpPr>
          <p:nvPr/>
        </p:nvSpPr>
        <p:spPr>
          <a:xfrm xmlns:a="http://schemas.openxmlformats.org/drawingml/2006/main">
            <a:off x="5172075"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CROSS-LAYER ROLLOUT</a:t>
            </a:r>
          </a:p>
        </p:txBody>
      </p:sp>
      <p:sp>
        <p:nvSpPr>
          <p:cNvPr id="16" name="">
            <a:extLst xmlns:a="http://schemas.openxmlformats.org/drawingml/2006/main">
              <a:ext uri="{FF2B5EF4-FFF2-40B4-BE49-F238E27FC236}">
                <a16:creationId xmlns:a16="http://schemas.microsoft.com/office/drawing/2014/main" id="{9DEA192D-CA38-4AC9-BDEC-A1E108BFC28E}"/>
              </a:ext>
            </a:extLst>
          </p:cNvPr>
          <p:cNvSpPr>
            <a:spLocks xmlns:a="http://schemas.openxmlformats.org/drawingml/2006/main" noGrp="1"/>
          </p:cNvSpPr>
          <p:nvPr/>
        </p:nvSpPr>
        <p:spPr>
          <a:xfrm xmlns:a="http://schemas.openxmlformats.org/drawingml/2006/main">
            <a:off x="4581525" y="2095500"/>
            <a:ext cx="2971800" cy="685800"/>
          </a:xfrm>
          <a:prstGeom xmlns:a="http://schemas.openxmlformats.org/drawingml/2006/main" prst="roundRect">
            <a:avLst>
              <a:gd name="adj" fmla="val 11111"/>
            </a:avLst>
          </a:prstGeom>
          <a:solidFill xmlns:a="http://schemas.openxmlformats.org/drawingml/2006/main">
            <a:srgbClr val="DDECF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1EA569A-980E-4582-A1EF-05FC43ED2F61}"/>
              </a:ext>
            </a:extLst>
          </p:cNvPr>
          <p:cNvSpPr>
            <a:spLocks xmlns:a="http://schemas.openxmlformats.org/drawingml/2006/main" noGrp="1"/>
          </p:cNvSpPr>
          <p:nvPr/>
        </p:nvSpPr>
        <p:spPr>
          <a:xfrm xmlns:a="http://schemas.openxmlformats.org/drawingml/2006/main">
            <a:off x="4714875"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Rₗ = ½I + ½A′ₗ</a:t>
            </a:r>
          </a:p>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 = Rₗ ··· R₁</a:t>
            </a:r>
          </a:p>
        </p:txBody>
      </p:sp>
      <p:sp>
        <p:nvSpPr>
          <p:cNvPr id="18" name="">
            <a:extLst xmlns:a="http://schemas.openxmlformats.org/drawingml/2006/main">
              <a:ext uri="{FF2B5EF4-FFF2-40B4-BE49-F238E27FC236}">
                <a16:creationId xmlns:a16="http://schemas.microsoft.com/office/drawing/2014/main" id="{07D48221-6871-4AB7-A731-A3E9DDA4FFCD}"/>
              </a:ext>
            </a:extLst>
          </p:cNvPr>
          <p:cNvSpPr>
            <a:spLocks xmlns:a="http://schemas.openxmlformats.org/drawingml/2006/main" noGrp="1"/>
          </p:cNvSpPr>
          <p:nvPr/>
        </p:nvSpPr>
        <p:spPr>
          <a:xfrm xmlns:a="http://schemas.openxmlformats.org/drawingml/2006/main">
            <a:off x="4610100"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Compose all eight captured full-attention blocks with residual flow</a:t>
            </a:r>
          </a:p>
        </p:txBody>
      </p:sp>
      <p:sp>
        <p:nvSpPr>
          <p:cNvPr id="19" name="">
            <a:extLst xmlns:a="http://schemas.openxmlformats.org/drawingml/2006/main">
              <a:ext uri="{FF2B5EF4-FFF2-40B4-BE49-F238E27FC236}">
                <a16:creationId xmlns:a16="http://schemas.microsoft.com/office/drawing/2014/main" id="{7FF58E89-DBB3-4231-98D1-3E922E63E0E1}"/>
              </a:ext>
            </a:extLst>
          </p:cNvPr>
          <p:cNvSpPr>
            <a:spLocks xmlns:a="http://schemas.openxmlformats.org/drawingml/2006/main" noGrp="1"/>
          </p:cNvSpPr>
          <p:nvPr/>
        </p:nvSpPr>
        <p:spPr>
          <a:xfrm xmlns:a="http://schemas.openxmlformats.org/drawingml/2006/main">
            <a:off x="813435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20" name="">
            <a:extLst xmlns:a="http://schemas.openxmlformats.org/drawingml/2006/main">
              <a:ext uri="{FF2B5EF4-FFF2-40B4-BE49-F238E27FC236}">
                <a16:creationId xmlns:a16="http://schemas.microsoft.com/office/drawing/2014/main" id="{A9A12984-0349-4B60-8973-B95449434226}"/>
              </a:ext>
            </a:extLst>
          </p:cNvPr>
          <p:cNvSpPr>
            <a:spLocks xmlns:a="http://schemas.openxmlformats.org/drawingml/2006/main" noGrp="1"/>
          </p:cNvSpPr>
          <p:nvPr/>
        </p:nvSpPr>
        <p:spPr>
          <a:xfrm xmlns:a="http://schemas.openxmlformats.org/drawingml/2006/main">
            <a:off x="8343900" y="1666875"/>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F9ED1E4-8565-4A80-9FF3-4BCC1CD1CB72}"/>
              </a:ext>
            </a:extLst>
          </p:cNvPr>
          <p:cNvSpPr>
            <a:spLocks xmlns:a="http://schemas.openxmlformats.org/drawingml/2006/main" noGrp="1"/>
          </p:cNvSpPr>
          <p:nvPr/>
        </p:nvSpPr>
        <p:spPr>
          <a:xfrm xmlns:a="http://schemas.openxmlformats.org/drawingml/2006/main">
            <a:off x="843915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2" name="">
            <a:extLst xmlns:a="http://schemas.openxmlformats.org/drawingml/2006/main">
              <a:ext uri="{FF2B5EF4-FFF2-40B4-BE49-F238E27FC236}">
                <a16:creationId xmlns:a16="http://schemas.microsoft.com/office/drawing/2014/main" id="{E24CEA72-9D27-40D3-86A5-41F0F1B872AA}"/>
              </a:ext>
            </a:extLst>
          </p:cNvPr>
          <p:cNvSpPr>
            <a:spLocks xmlns:a="http://schemas.openxmlformats.org/drawingml/2006/main" noGrp="1"/>
          </p:cNvSpPr>
          <p:nvPr/>
        </p:nvSpPr>
        <p:spPr>
          <a:xfrm xmlns:a="http://schemas.openxmlformats.org/drawingml/2006/main">
            <a:off x="893445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TOKEN TO PARAMETER</a:t>
            </a:r>
          </a:p>
        </p:txBody>
      </p:sp>
      <p:sp>
        <p:nvSpPr>
          <p:cNvPr id="23" name="">
            <a:extLst xmlns:a="http://schemas.openxmlformats.org/drawingml/2006/main">
              <a:ext uri="{FF2B5EF4-FFF2-40B4-BE49-F238E27FC236}">
                <a16:creationId xmlns:a16="http://schemas.microsoft.com/office/drawing/2014/main" id="{624F3750-45D5-47F4-BDE4-3FF82847BC8A}"/>
              </a:ext>
            </a:extLst>
          </p:cNvPr>
          <p:cNvSpPr>
            <a:spLocks xmlns:a="http://schemas.openxmlformats.org/drawingml/2006/main" noGrp="1"/>
          </p:cNvSpPr>
          <p:nvPr/>
        </p:nvSpPr>
        <p:spPr>
          <a:xfrm xmlns:a="http://schemas.openxmlformats.org/drawingml/2006/main">
            <a:off x="8343900" y="2095500"/>
            <a:ext cx="2971800" cy="685800"/>
          </a:xfrm>
          <a:prstGeom xmlns:a="http://schemas.openxmlformats.org/drawingml/2006/main" prst="roundRect">
            <a:avLst>
              <a:gd name="adj" fmla="val 11111"/>
            </a:avLst>
          </a:prstGeom>
          <a:solidFill xmlns:a="http://schemas.openxmlformats.org/drawingml/2006/main">
            <a:srgbClr val="DDEFE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3FB6BA6-FE6E-4758-936B-EEAF80697E9C}"/>
              </a:ext>
            </a:extLst>
          </p:cNvPr>
          <p:cNvSpPr>
            <a:spLocks xmlns:a="http://schemas.openxmlformats.org/drawingml/2006/main" noGrp="1"/>
          </p:cNvSpPr>
          <p:nvPr/>
        </p:nvSpPr>
        <p:spPr>
          <a:xfrm xmlns:a="http://schemas.openxmlformats.org/drawingml/2006/main">
            <a:off x="847725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M(x,y) = meanₛ Rₛ</a:t>
            </a:r>
          </a:p>
        </p:txBody>
      </p:sp>
      <p:sp>
        <p:nvSpPr>
          <p:cNvPr id="25" name="">
            <a:extLst xmlns:a="http://schemas.openxmlformats.org/drawingml/2006/main">
              <a:ext uri="{FF2B5EF4-FFF2-40B4-BE49-F238E27FC236}">
                <a16:creationId xmlns:a16="http://schemas.microsoft.com/office/drawing/2014/main" id="{AAE6B7DA-31CF-4EAD-A860-A726FDA7E84D}"/>
              </a:ext>
            </a:extLst>
          </p:cNvPr>
          <p:cNvSpPr>
            <a:spLocks xmlns:a="http://schemas.openxmlformats.org/drawingml/2006/main" noGrp="1"/>
          </p:cNvSpPr>
          <p:nvPr/>
        </p:nvSpPr>
        <p:spPr>
          <a:xfrm xmlns:a="http://schemas.openxmlformats.org/drawingml/2006/main">
            <a:off x="837247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Average the x/y value-token maps so token length cannot inflate a parameter</a:t>
            </a:r>
          </a:p>
        </p:txBody>
      </p:sp>
      <p:sp>
        <p:nvSpPr>
          <p:cNvPr id="26" name="">
            <a:extLst xmlns:a="http://schemas.openxmlformats.org/drawingml/2006/main">
              <a:ext uri="{FF2B5EF4-FFF2-40B4-BE49-F238E27FC236}">
                <a16:creationId xmlns:a16="http://schemas.microsoft.com/office/drawing/2014/main" id="{8CC2463C-2838-495E-908A-09C3FF8C965A}"/>
              </a:ext>
            </a:extLst>
          </p:cNvPr>
          <p:cNvSpPr>
            <a:spLocks xmlns:a="http://schemas.openxmlformats.org/drawingml/2006/main" noGrp="1"/>
          </p:cNvSpPr>
          <p:nvPr/>
        </p:nvSpPr>
        <p:spPr>
          <a:xfrm xmlns:a="http://schemas.openxmlformats.org/drawingml/2006/main">
            <a:off x="609600" y="40195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151C"/>
                </a:solidFill>
                <a:latin typeface="Helvetica Neue"/>
                <a:ea typeface="Helvetica Neue"/>
                <a:cs typeface="Helvetica Neue"/>
              </a:defRPr>
            </a:pPr>
            <a:r>
              <a:rPr sz="1650" b="1">
                <a:solidFill>
                  <a:srgbClr val="10151C"/>
                </a:solidFill>
                <a:latin typeface="Helvetica Neue"/>
                <a:ea typeface="Helvetica Neue"/>
                <a:cs typeface="Helvetica Neue"/>
              </a:rPr>
              <a:t>The baseline determines the question</a:t>
            </a:r>
          </a:p>
        </p:txBody>
      </p:sp>
      <p:sp>
        <p:nvSpPr>
          <p:cNvPr id="27" name="">
            <a:extLst xmlns:a="http://schemas.openxmlformats.org/drawingml/2006/main">
              <a:ext uri="{FF2B5EF4-FFF2-40B4-BE49-F238E27FC236}">
                <a16:creationId xmlns:a16="http://schemas.microsoft.com/office/drawing/2014/main" id="{BADD4A1C-5900-4AE6-ADD1-946AF07C5ECF}"/>
              </a:ext>
            </a:extLst>
          </p:cNvPr>
          <p:cNvSpPr>
            <a:spLocks xmlns:a="http://schemas.openxmlformats.org/drawingml/2006/main" noGrp="1"/>
          </p:cNvSpPr>
          <p:nvPr/>
        </p:nvSpPr>
        <p:spPr>
          <a:xfrm xmlns:a="http://schemas.openxmlformats.org/drawingml/2006/main">
            <a:off x="609600" y="4457700"/>
            <a:ext cx="5219700" cy="1485900"/>
          </a:xfrm>
          <a:prstGeom xmlns:a="http://schemas.openxmlformats.org/drawingml/2006/main" prst="roundRect">
            <a:avLst>
              <a:gd name="adj" fmla="val 5128"/>
            </a:avLst>
          </a:prstGeom>
          <a:solidFill xmlns:a="http://schemas.openxmlformats.org/drawingml/2006/main">
            <a:srgbClr val="1C27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CE28CA18-15B1-42CE-A45F-37630665FDB2}"/>
              </a:ext>
            </a:extLst>
          </p:cNvPr>
          <p:cNvSpPr>
            <a:spLocks xmlns:a="http://schemas.openxmlformats.org/drawingml/2006/main" noGrp="1"/>
          </p:cNvSpPr>
          <p:nvPr/>
        </p:nvSpPr>
        <p:spPr>
          <a:xfrm xmlns:a="http://schemas.openxmlformats.org/drawingml/2006/main">
            <a:off x="838200" y="46672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9FC8F0"/>
                </a:solidFill>
                <a:latin typeface="Helvetica Neue"/>
                <a:ea typeface="Helvetica Neue"/>
                <a:cs typeface="Helvetica Neue"/>
              </a:defRPr>
            </a:pPr>
            <a:r>
              <a:rPr sz="975" b="1">
                <a:solidFill>
                  <a:srgbClr val="9FC8F0"/>
                </a:solidFill>
                <a:latin typeface="Helvetica Neue"/>
                <a:ea typeface="Helvetica Neue"/>
                <a:cs typeface="Helvetica Neue"/>
              </a:rPr>
              <a:t>RAW VALUE-NORM MAP</a:t>
            </a:r>
          </a:p>
        </p:txBody>
      </p:sp>
      <p:sp>
        <p:nvSpPr>
          <p:cNvPr id="29" name="">
            <a:extLst xmlns:a="http://schemas.openxmlformats.org/drawingml/2006/main">
              <a:ext uri="{FF2B5EF4-FFF2-40B4-BE49-F238E27FC236}">
                <a16:creationId xmlns:a16="http://schemas.microsoft.com/office/drawing/2014/main" id="{E2B9F949-8573-4B4A-AD65-37CD0B919775}"/>
              </a:ext>
            </a:extLst>
          </p:cNvPr>
          <p:cNvSpPr>
            <a:spLocks xmlns:a="http://schemas.openxmlformats.org/drawingml/2006/main" noGrp="1"/>
          </p:cNvSpPr>
          <p:nvPr/>
        </p:nvSpPr>
        <p:spPr>
          <a:xfrm xmlns:a="http://schemas.openxmlformats.org/drawingml/2006/main">
            <a:off x="838200" y="5010150"/>
            <a:ext cx="449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Mtarget</a:t>
            </a:r>
          </a:p>
        </p:txBody>
      </p:sp>
      <p:sp>
        <p:nvSpPr>
          <p:cNvPr id="30" name="">
            <a:extLst xmlns:a="http://schemas.openxmlformats.org/drawingml/2006/main">
              <a:ext uri="{FF2B5EF4-FFF2-40B4-BE49-F238E27FC236}">
                <a16:creationId xmlns:a16="http://schemas.microsoft.com/office/drawing/2014/main" id="{0B910612-BDAD-474E-AF5D-F3895831001F}"/>
              </a:ext>
            </a:extLst>
          </p:cNvPr>
          <p:cNvSpPr>
            <a:spLocks xmlns:a="http://schemas.openxmlformats.org/drawingml/2006/main" noGrp="1"/>
          </p:cNvSpPr>
          <p:nvPr/>
        </p:nvSpPr>
        <p:spPr>
          <a:xfrm xmlns:a="http://schemas.openxmlformats.org/drawingml/2006/main">
            <a:off x="8382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Where does the generated coordinate draw value-weighted attention on this image?</a:t>
            </a:r>
          </a:p>
        </p:txBody>
      </p:sp>
      <p:sp>
        <p:nvSpPr>
          <p:cNvPr id="31" name="">
            <a:extLst xmlns:a="http://schemas.openxmlformats.org/drawingml/2006/main">
              <a:ext uri="{FF2B5EF4-FFF2-40B4-BE49-F238E27FC236}">
                <a16:creationId xmlns:a16="http://schemas.microsoft.com/office/drawing/2014/main" id="{5EBB595E-7646-44C9-9C52-22224C07DC8C}"/>
              </a:ext>
            </a:extLst>
          </p:cNvPr>
          <p:cNvSpPr>
            <a:spLocks xmlns:a="http://schemas.openxmlformats.org/drawingml/2006/main" noGrp="1"/>
          </p:cNvSpPr>
          <p:nvPr/>
        </p:nvSpPr>
        <p:spPr>
          <a:xfrm xmlns:a="http://schemas.openxmlformats.org/drawingml/2006/main">
            <a:off x="6191250" y="4457700"/>
            <a:ext cx="53911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D9D4C8"/>
            </a:solidFill>
          </a:ln>
        </p:spPr>
      </p:sp>
      <p:sp>
        <p:nvSpPr>
          <p:cNvPr id="32" name="">
            <a:extLst xmlns:a="http://schemas.openxmlformats.org/drawingml/2006/main">
              <a:ext uri="{FF2B5EF4-FFF2-40B4-BE49-F238E27FC236}">
                <a16:creationId xmlns:a16="http://schemas.microsoft.com/office/drawing/2014/main" id="{F9DF4625-7310-4496-8D47-773900F05D25}"/>
              </a:ext>
            </a:extLst>
          </p:cNvPr>
          <p:cNvSpPr>
            <a:spLocks xmlns:a="http://schemas.openxmlformats.org/drawingml/2006/main" noGrp="1"/>
          </p:cNvSpPr>
          <p:nvPr/>
        </p:nvSpPr>
        <p:spPr>
          <a:xfrm xmlns:a="http://schemas.openxmlformats.org/drawingml/2006/main">
            <a:off x="6438900" y="466725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DIVERSE-INSTRUCTION BASELINE</a:t>
            </a:r>
          </a:p>
        </p:txBody>
      </p:sp>
      <p:sp>
        <p:nvSpPr>
          <p:cNvPr id="33" name="">
            <a:extLst xmlns:a="http://schemas.openxmlformats.org/drawingml/2006/main">
              <a:ext uri="{FF2B5EF4-FFF2-40B4-BE49-F238E27FC236}">
                <a16:creationId xmlns:a16="http://schemas.microsoft.com/office/drawing/2014/main" id="{6F07047A-2524-44EA-A4AD-A99948090A84}"/>
              </a:ext>
            </a:extLst>
          </p:cNvPr>
          <p:cNvSpPr>
            <a:spLocks xmlns:a="http://schemas.openxmlformats.org/drawingml/2006/main" noGrp="1"/>
          </p:cNvSpPr>
          <p:nvPr/>
        </p:nvSpPr>
        <p:spPr>
          <a:xfrm xmlns:a="http://schemas.openxmlformats.org/drawingml/2006/main">
            <a:off x="6438900" y="50101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0151C"/>
                </a:solidFill>
                <a:latin typeface="Helvetica Neue"/>
                <a:ea typeface="Helvetica Neue"/>
                <a:cs typeface="Helvetica Neue"/>
              </a:defRPr>
            </a:pPr>
            <a:r>
              <a:rPr sz="1425" b="1">
                <a:solidFill>
                  <a:srgbClr val="10151C"/>
                </a:solidFill>
                <a:latin typeface="Helvetica Neue"/>
                <a:ea typeface="Helvetica Neue"/>
                <a:cs typeface="Helvetica Neue"/>
              </a:rPr>
              <a:t>Mtarget − mean(Mcontrol,k)</a:t>
            </a:r>
          </a:p>
        </p:txBody>
      </p:sp>
      <p:sp>
        <p:nvSpPr>
          <p:cNvPr id="34" name="">
            <a:extLst xmlns:a="http://schemas.openxmlformats.org/drawingml/2006/main">
              <a:ext uri="{FF2B5EF4-FFF2-40B4-BE49-F238E27FC236}">
                <a16:creationId xmlns:a16="http://schemas.microsoft.com/office/drawing/2014/main" id="{CA53287A-B34B-4236-9194-27A580BBC22E}"/>
              </a:ext>
            </a:extLst>
          </p:cNvPr>
          <p:cNvSpPr>
            <a:spLocks xmlns:a="http://schemas.openxmlformats.org/drawingml/2006/main" noGrp="1"/>
          </p:cNvSpPr>
          <p:nvPr/>
        </p:nvSpPr>
        <p:spPr>
          <a:xfrm xmlns:a="http://schemas.openxmlformats.org/drawingml/2006/main">
            <a:off x="64389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What remains specific to this instruction after shared image saliency is removed?</a:t>
            </a:r>
          </a:p>
        </p:txBody>
      </p:sp>
      <p:sp>
        <p:nvSpPr>
          <p:cNvPr id="35" name="">
            <a:extLst xmlns:a="http://schemas.openxmlformats.org/drawingml/2006/main">
              <a:ext uri="{FF2B5EF4-FFF2-40B4-BE49-F238E27FC236}">
                <a16:creationId xmlns:a16="http://schemas.microsoft.com/office/drawing/2014/main" id="{E8842147-7E2D-4423-B6AD-25331B61E33C}"/>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22360032-832F-44ED-A28E-F86F4CC8C1B9}"/>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Target lift = positive target-minus-control mass inside the target box ÷ target-box area fraction. 1× means a uniform residual map.</a:t>
            </a:r>
          </a:p>
        </p:txBody>
      </p:sp>
    </p:spTree>
    <p:extLst>
      <p:ext uri="{BB962C8B-B14F-4D97-AF65-F5344CB8AC3E}">
        <p14:creationId xmlns:p14="http://schemas.microsoft.com/office/powerpoint/2010/main" val="25401871"/>
      </p:ext>
    </p:extLst>
  </p:cSld>
</p:sld>
</file>

<file path=ppt/slides/slide1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588DB33-AACA-4032-9768-204275B42066}"/>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APPENDIX</a:t>
            </a:r>
          </a:p>
        </p:txBody>
      </p:sp>
      <p:sp>
        <p:nvSpPr>
          <p:cNvPr id="2" name="">
            <a:extLst xmlns:a="http://schemas.openxmlformats.org/drawingml/2006/main">
              <a:ext uri="{FF2B5EF4-FFF2-40B4-BE49-F238E27FC236}">
                <a16:creationId xmlns:a16="http://schemas.microsoft.com/office/drawing/2014/main" id="{22FB9E47-8596-48E5-9CE9-B78920206182}"/>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Examples for the 12 labeled UI × action cells</a:t>
            </a:r>
          </a:p>
        </p:txBody>
      </p:sp>
      <p:sp>
        <p:nvSpPr>
          <p:cNvPr id="3" name="">
            <a:extLst xmlns:a="http://schemas.openxmlformats.org/drawingml/2006/main">
              <a:ext uri="{FF2B5EF4-FFF2-40B4-BE49-F238E27FC236}">
                <a16:creationId xmlns:a16="http://schemas.microsoft.com/office/drawing/2014/main" id="{4D3FECD1-D7BE-4B12-B988-D39F4A131521}"/>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2BFBAD49-9508-4DAC-948F-6CBEC82443DC}"/>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Rows use the benchmark's target-element label; columns use our instruction-verb taxonomy</a:t>
            </a:r>
          </a:p>
        </p:txBody>
      </p:sp>
      <p:graphicFrame>
        <p:nvGraphicFramePr>
          <p:cNvPr id="12" name=""/>
          <p:cNvGraphicFramePr/>
          <p:nvPr/>
        </p:nvGraphicFramePr>
        <p:xfrm>
          <a:off xmlns:a="http://schemas.openxmlformats.org/drawingml/2006/main" x="609600" y="1581150"/>
          <a:ext xmlns:a="http://schemas.openxmlformats.org/drawingml/2006/main" cx="10972800" cy="4286250"/>
        </p:xfrm>
        <a:graphic xmlns:a="http://schemas.openxmlformats.org/drawingml/2006/main">
          <a:graphicData uri="http://schemas.openxmlformats.org/drawingml/2006/table">
            <a:tbl>
              <a:tblPr/>
              <a:tblGrid>
                <a:gridCol w="895350"/>
                <a:gridCol w="1679575"/>
                <a:gridCol w="1679575"/>
                <a:gridCol w="1679575"/>
                <a:gridCol w="1679575"/>
                <a:gridCol w="1679575"/>
                <a:gridCol w="1679575"/>
              </a:tblGrid>
              <a:tr h="1428750">
                <a:tc>
                  <a:txBody>
                    <a:bodyPr>
                      <a:normAutofit/>
                    </a:bodyPr>
                    <a:lstStyle/>
                    <a:p>
                      <a:pPr algn="ctr"/>
                      <a:r>
                        <a:rPr sz="750" b="1">
                          <a:solidFill>
                            <a:srgbClr val="FFFFFF"/>
                          </a:solidFill>
                          <a:latin typeface="Helvetica Neue"/>
                          <a:ea typeface="Helvetica Neue"/>
                          <a:cs typeface="Helvetica Neue"/>
                        </a:rPr>
                        <a:t>OFFICIAL</a:t>
                      </a:r>
                    </a:p>
                    <a:p>
                      <a:pPr algn="ctr"/>
                      <a:r>
                        <a:rPr sz="750" b="1">
                          <a:solidFill>
                            <a:srgbClr val="FFFFFF"/>
                          </a:solidFill>
                          <a:latin typeface="Helvetica Neue"/>
                          <a:ea typeface="Helvetica Neue"/>
                          <a:cs typeface="Helvetica Neue"/>
                        </a:rPr>
                        <a:t>TARGET UI</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NAVIGATE</a:t>
                      </a:r>
                    </a:p>
                    <a:p>
                      <a:pPr algn="ctr"/>
                      <a:r>
                        <a:rPr sz="750" b="1">
                          <a:solidFill>
                            <a:srgbClr val="FFFFFF"/>
                          </a:solidFill>
                          <a:latin typeface="Helvetica Neue"/>
                          <a:ea typeface="Helvetica Neue"/>
                          <a:cs typeface="Helvetica Neue"/>
                        </a:rPr>
                        <a:t>REVEAL</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SELECT</a:t>
                      </a:r>
                    </a:p>
                    <a:p>
                      <a:pPr algn="ctr"/>
                      <a:r>
                        <a:rPr sz="750" b="1">
                          <a:solidFill>
                            <a:srgbClr val="FFFFFF"/>
                          </a:solidFill>
                          <a:latin typeface="Helvetica Neue"/>
                          <a:ea typeface="Helvetica Neue"/>
                          <a:cs typeface="Helvetica Neue"/>
                        </a:rPr>
                        <a:t>ACTIVATE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CREATE</a:t>
                      </a:r>
                    </a:p>
                    <a:p>
                      <a:pPr algn="ctr"/>
                      <a:r>
                        <a:rPr sz="750" b="1">
                          <a:solidFill>
                            <a:srgbClr val="FFFFFF"/>
                          </a:solidFill>
                          <a:latin typeface="Helvetica Neue"/>
                          <a:ea typeface="Helvetica Neue"/>
                          <a:cs typeface="Helvetica Neue"/>
                        </a:rPr>
                        <a:t>INSERT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EDIT</a:t>
                      </a:r>
                    </a:p>
                    <a:p>
                      <a:pPr algn="ctr"/>
                      <a:r>
                        <a:rPr sz="750" b="1">
                          <a:solidFill>
                            <a:srgbClr val="FFFFFF"/>
                          </a:solidFill>
                          <a:latin typeface="Helvetica Neue"/>
                          <a:ea typeface="Helvetica Neue"/>
                          <a:cs typeface="Helvetica Neue"/>
                        </a:rPr>
                        <a:t>FORMAT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REMOVE</a:t>
                      </a:r>
                    </a:p>
                    <a:p>
                      <a:pPr algn="ctr"/>
                      <a:r>
                        <a:rPr sz="750" b="1">
                          <a:solidFill>
                            <a:srgbClr val="FFFFFF"/>
                          </a:solidFill>
                          <a:latin typeface="Helvetica Neue"/>
                          <a:ea typeface="Helvetica Neue"/>
                          <a:cs typeface="Helvetica Neue"/>
                        </a:rPr>
                        <a:t>CLOSE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FILE</a:t>
                      </a:r>
                    </a:p>
                    <a:p>
                      <a:pPr algn="ctr"/>
                      <a:r>
                        <a:rPr sz="750" b="1">
                          <a:solidFill>
                            <a:srgbClr val="FFFFFF"/>
                          </a:solidFill>
                          <a:latin typeface="Helvetica Neue"/>
                          <a:ea typeface="Helvetica Neue"/>
                          <a:cs typeface="Helvetica Neue"/>
                        </a:rPr>
                        <a:t>TRANSFER</a:t>
                      </a:r>
                    </a:p>
                  </a:txBody>
                  <a:tcPr marL="85725" marR="85725" marT="76200" marB="76200" anchor="ctr">
                    <a:solidFill>
                      <a:srgbClr val="1C2733"/>
                    </a:solidFill>
                  </a:tcPr>
                </a:tc>
              </a:tr>
              <a:tr h="1428750">
                <a:tc>
                  <a:txBody>
                    <a:bodyPr>
                      <a:normAutofit/>
                    </a:bodyPr>
                    <a:lstStyle/>
                    <a:p>
                      <a:pPr algn="ctr"/>
                      <a:r>
                        <a:rPr sz="975" b="1">
                          <a:solidFill>
                            <a:srgbClr val="FFFFFF"/>
                          </a:solidFill>
                          <a:latin typeface="Helvetica Neue"/>
                          <a:ea typeface="Helvetica Neue"/>
                          <a:cs typeface="Helvetica Neue"/>
                        </a:rPr>
                        <a:t>ICON</a:t>
                      </a:r>
                    </a:p>
                  </a:txBody>
                  <a:tcPr marL="85725" marR="85725" marT="76200" marB="76200" anchor="ctr">
                    <a:solidFill>
                      <a:srgbClr val="1C2733"/>
                    </a:solidFill>
                  </a:tcPr>
                </a:tc>
                <a:tc>
                  <a:txBody>
                    <a:bodyPr>
                      <a:normAutofit/>
                    </a:bodyPr>
                    <a:lstStyle/>
                    <a:p>
                      <a:pPr algn="l"/>
                      <a:r>
                        <a:rPr sz="900" b="0">
                          <a:solidFill>
                            <a:srgbClr val="A33D29"/>
                          </a:solidFill>
                          <a:latin typeface="Helvetica Neue"/>
                          <a:ea typeface="Helvetica Neue"/>
                          <a:cs typeface="Helvetica Neue"/>
                        </a:rPr>
                        <a:t>40.3%   n=149</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“Refresh the file explorer.”</a:t>
                      </a:r>
                    </a:p>
                    <a:p>
                      <a:pPr algn="l"/>
                      <a:r>
                        <a:rPr sz="900" b="0">
                          <a:solidFill>
                            <a:srgbClr val="A33D29"/>
                          </a:solidFill>
                          <a:latin typeface="Helvetica Neue"/>
                          <a:ea typeface="Helvetica Neue"/>
                          <a:cs typeface="Helvetica Neue"/>
                        </a:rPr>
                        <a:t>VS Code</a:t>
                      </a:r>
                    </a:p>
                  </a:txBody>
                  <a:tcPr marL="85725" marR="85725" marT="76200" marB="76200" anchor="ctr">
                    <a:solidFill>
                      <a:srgbClr val="F7E4DB"/>
                    </a:solidFill>
                  </a:tcPr>
                </a:tc>
                <a:tc>
                  <a:txBody>
                    <a:bodyPr>
                      <a:normAutofit/>
                    </a:bodyPr>
                    <a:lstStyle/>
                    <a:p>
                      <a:pPr algn="l"/>
                      <a:r>
                        <a:rPr sz="900" b="0">
                          <a:solidFill>
                            <a:srgbClr val="10151C"/>
                          </a:solidFill>
                          <a:latin typeface="Helvetica Neue"/>
                          <a:ea typeface="Helvetica Neue"/>
                          <a:cs typeface="Helvetica Neue"/>
                        </a:rPr>
                        <a:t>52.6%   n=76</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the eraser tool”</a:t>
                      </a:r>
                    </a:p>
                    <a:p>
                      <a:pPr algn="l"/>
                      <a:r>
                        <a:rPr sz="900" b="0">
                          <a:solidFill>
                            <a:srgbClr val="10151C"/>
                          </a:solidFill>
                          <a:latin typeface="Helvetica Neue"/>
                          <a:ea typeface="Helvetica Neue"/>
                          <a:cs typeface="Helvetica Neue"/>
                        </a:rPr>
                        <a:t>Illustrator</a:t>
                      </a:r>
                    </a:p>
                  </a:txBody>
                  <a:tcPr marL="85725" marR="85725" marT="76200" marB="76200" anchor="ctr">
                    <a:solidFill>
                      <a:srgbClr val="F0E7DE"/>
                    </a:solidFill>
                  </a:tcPr>
                </a:tc>
                <a:tc>
                  <a:txBody>
                    <a:bodyPr>
                      <a:normAutofit/>
                    </a:bodyPr>
                    <a:lstStyle/>
                    <a:p>
                      <a:pPr algn="l"/>
                      <a:r>
                        <a:rPr sz="900" b="0">
                          <a:solidFill>
                            <a:srgbClr val="A33D29"/>
                          </a:solidFill>
                          <a:latin typeface="Helvetica Neue"/>
                          <a:ea typeface="Helvetica Neue"/>
                          <a:cs typeface="Helvetica Neue"/>
                        </a:rPr>
                        <a:t>43.2%   n=81</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“add new service in android studio using the icon”</a:t>
                      </a:r>
                    </a:p>
                    <a:p>
                      <a:pPr algn="l"/>
                      <a:r>
                        <a:rPr sz="900" b="0">
                          <a:solidFill>
                            <a:srgbClr val="A33D29"/>
                          </a:solidFill>
                          <a:latin typeface="Helvetica Neue"/>
                          <a:ea typeface="Helvetica Neue"/>
                          <a:cs typeface="Helvetica Neue"/>
                        </a:rPr>
                        <a:t>Android Studio</a:t>
                      </a:r>
                    </a:p>
                  </a:txBody>
                  <a:tcPr marL="85725" marR="85725" marT="76200" marB="76200" anchor="ctr">
                    <a:solidFill>
                      <a:srgbClr val="F5E5DC"/>
                    </a:solidFill>
                  </a:tcPr>
                </a:tc>
                <a:tc>
                  <a:txBody>
                    <a:bodyPr>
                      <a:normAutofit/>
                    </a:bodyPr>
                    <a:lstStyle/>
                    <a:p>
                      <a:pPr algn="l"/>
                      <a:r>
                        <a:rPr sz="900" b="0">
                          <a:solidFill>
                            <a:srgbClr val="10151C"/>
                          </a:solidFill>
                          <a:latin typeface="Helvetica Neue"/>
                          <a:ea typeface="Helvetica Neue"/>
                          <a:cs typeface="Helvetica Neue"/>
                        </a:rPr>
                        <a:t>45.0%   n=80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font color to red”</a:t>
                      </a:r>
                    </a:p>
                    <a:p>
                      <a:pPr algn="l"/>
                      <a:r>
                        <a:rPr sz="900" b="0">
                          <a:solidFill>
                            <a:srgbClr val="10151C"/>
                          </a:solidFill>
                          <a:latin typeface="Helvetica Neue"/>
                          <a:ea typeface="Helvetica Neue"/>
                          <a:cs typeface="Helvetica Neue"/>
                        </a:rPr>
                        <a:t>PowerPoint</a:t>
                      </a:r>
                    </a:p>
                  </a:txBody>
                  <a:tcPr marL="85725" marR="85725" marT="76200" marB="76200" anchor="ctr">
                    <a:solidFill>
                      <a:srgbClr val="F4E5DD"/>
                    </a:solidFill>
                  </a:tcPr>
                </a:tc>
                <a:tc>
                  <a:txBody>
                    <a:bodyPr>
                      <a:normAutofit/>
                    </a:bodyPr>
                    <a:lstStyle/>
                    <a:p>
                      <a:pPr algn="l"/>
                      <a:r>
                        <a:rPr sz="900" b="0">
                          <a:solidFill>
                            <a:srgbClr val="10151C"/>
                          </a:solidFill>
                          <a:latin typeface="Helvetica Neue"/>
                          <a:ea typeface="Helvetica Neue"/>
                          <a:cs typeface="Helvetica Neue"/>
                        </a:rPr>
                        <a:t>59.6%   n=52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“Close the piano window”</a:t>
                      </a:r>
                    </a:p>
                    <a:p>
                      <a:pPr algn="l"/>
                      <a:r>
                        <a:rPr sz="900" b="0">
                          <a:solidFill>
                            <a:srgbClr val="10151C"/>
                          </a:solidFill>
                          <a:latin typeface="Helvetica Neue"/>
                          <a:ea typeface="Helvetica Neue"/>
                          <a:cs typeface="Helvetica Neue"/>
                        </a:rPr>
                        <a:t>FL Studio</a:t>
                      </a:r>
                    </a:p>
                  </a:txBody>
                  <a:tcPr marL="85725" marR="85725" marT="76200" marB="76200" anchor="ctr">
                    <a:solidFill>
                      <a:srgbClr val="ECE8E0"/>
                    </a:solidFill>
                  </a:tcPr>
                </a:tc>
                <a:tc>
                  <a:txBody>
                    <a:bodyPr>
                      <a:normAutofit/>
                    </a:bodyPr>
                    <a:lstStyle/>
                    <a:p>
                      <a:pPr algn="l"/>
                      <a:r>
                        <a:rPr sz="900" b="0">
                          <a:solidFill>
                            <a:srgbClr val="A33D29"/>
                          </a:solidFill>
                          <a:latin typeface="Helvetica Neue"/>
                          <a:ea typeface="Helvetica Neue"/>
                          <a:cs typeface="Helvetica Neue"/>
                        </a:rPr>
                        <a:t>36.1%   n=36</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“Save a file”</a:t>
                      </a:r>
                    </a:p>
                    <a:p>
                      <a:pPr algn="l"/>
                      <a:r>
                        <a:rPr sz="900" b="0">
                          <a:solidFill>
                            <a:srgbClr val="A33D29"/>
                          </a:solidFill>
                          <a:latin typeface="Helvetica Neue"/>
                          <a:ea typeface="Helvetica Neue"/>
                          <a:cs typeface="Helvetica Neue"/>
                        </a:rPr>
                        <a:t>MATLAB</a:t>
                      </a:r>
                    </a:p>
                  </a:txBody>
                  <a:tcPr marL="85725" marR="85725" marT="76200" marB="76200" anchor="ctr">
                    <a:solidFill>
                      <a:srgbClr val="F9E3DA"/>
                    </a:solidFill>
                  </a:tcPr>
                </a:tc>
              </a:tr>
              <a:tr h="1428750">
                <a:tc>
                  <a:txBody>
                    <a:bodyPr>
                      <a:normAutofit/>
                    </a:bodyPr>
                    <a:lstStyle/>
                    <a:p>
                      <a:pPr algn="ctr"/>
                      <a:r>
                        <a:rPr sz="975" b="1">
                          <a:solidFill>
                            <a:srgbClr val="FFFFFF"/>
                          </a:solidFill>
                          <a:latin typeface="Helvetica Neue"/>
                          <a:ea typeface="Helvetica Neue"/>
                          <a:cs typeface="Helvetica Neue"/>
                        </a:rPr>
                        <a:t>TEXT</a:t>
                      </a:r>
                    </a:p>
                  </a:txBody>
                  <a:tcPr marL="85725" marR="85725" marT="76200" marB="76200" anchor="ctr">
                    <a:solidFill>
                      <a:srgbClr val="1C2733"/>
                    </a:solidFill>
                  </a:tcPr>
                </a:tc>
                <a:tc>
                  <a:txBody>
                    <a:bodyPr>
                      <a:normAutofit/>
                    </a:bodyPr>
                    <a:lstStyle/>
                    <a:p>
                      <a:pPr algn="l"/>
                      <a:r>
                        <a:rPr sz="900" b="0">
                          <a:solidFill>
                            <a:srgbClr val="10151C"/>
                          </a:solidFill>
                          <a:latin typeface="Helvetica Neue"/>
                          <a:ea typeface="Helvetica Neue"/>
                          <a:cs typeface="Helvetica Neue"/>
                        </a:rPr>
                        <a:t>77.0%   n=161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“Display the selection pane”</a:t>
                      </a:r>
                    </a:p>
                    <a:p>
                      <a:pPr algn="l"/>
                      <a:r>
                        <a:rPr sz="900" b="0">
                          <a:solidFill>
                            <a:srgbClr val="10151C"/>
                          </a:solidFill>
                          <a:latin typeface="Helvetica Neue"/>
                          <a:ea typeface="Helvetica Neue"/>
                          <a:cs typeface="Helvetica Neue"/>
                        </a:rPr>
                        <a:t>PowerPoint</a:t>
                      </a:r>
                    </a:p>
                  </a:txBody>
                  <a:tcPr marL="85725" marR="85725" marT="76200" marB="76200" anchor="ctr">
                    <a:solidFill>
                      <a:srgbClr val="E3ECE4"/>
                    </a:solidFill>
                  </a:tcPr>
                </a:tc>
                <a:tc>
                  <a:txBody>
                    <a:bodyPr>
                      <a:normAutofit/>
                    </a:bodyPr>
                    <a:lstStyle/>
                    <a:p>
                      <a:pPr algn="l"/>
                      <a:r>
                        <a:rPr sz="900" b="0">
                          <a:solidFill>
                            <a:srgbClr val="10151C"/>
                          </a:solidFill>
                          <a:latin typeface="Helvetica Neue"/>
                          <a:ea typeface="Helvetica Neue"/>
                          <a:cs typeface="Helvetica Neue"/>
                        </a:rPr>
                        <a:t>80.8%   n=151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Sheet1 in Book2”</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80.3%   n=152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“Create a new worksheet”</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79.4%   n=180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ending frame.”</a:t>
                      </a:r>
                    </a:p>
                    <a:p>
                      <a:pPr algn="l"/>
                      <a:r>
                        <a:rPr sz="900" b="0">
                          <a:solidFill>
                            <a:srgbClr val="10151C"/>
                          </a:solidFill>
                          <a:latin typeface="Helvetica Neue"/>
                          <a:ea typeface="Helvetica Neue"/>
                          <a:cs typeface="Helvetica Neue"/>
                        </a:rPr>
                        <a:t>Blender</a:t>
                      </a:r>
                    </a:p>
                  </a:txBody>
                  <a:tcPr marL="85725" marR="85725" marT="76200" marB="76200" anchor="ctr">
                    <a:solidFill>
                      <a:srgbClr val="E2EDE5"/>
                    </a:solidFill>
                  </a:tcPr>
                </a:tc>
                <a:tc>
                  <a:txBody>
                    <a:bodyPr>
                      <a:normAutofit/>
                    </a:bodyPr>
                    <a:lstStyle/>
                    <a:p>
                      <a:pPr algn="l"/>
                      <a:r>
                        <a:rPr sz="900" b="0">
                          <a:solidFill>
                            <a:srgbClr val="10151C"/>
                          </a:solidFill>
                          <a:latin typeface="Helvetica Neue"/>
                          <a:ea typeface="Helvetica Neue"/>
                          <a:cs typeface="Helvetica Neue"/>
                        </a:rPr>
                        <a:t>85.1%   n=47</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“Delete”</a:t>
                      </a:r>
                    </a:p>
                    <a:p>
                      <a:pPr algn="l"/>
                      <a:r>
                        <a:rPr sz="900" b="0">
                          <a:solidFill>
                            <a:srgbClr val="10151C"/>
                          </a:solidFill>
                          <a:latin typeface="Helvetica Neue"/>
                          <a:ea typeface="Helvetica Neue"/>
                          <a:cs typeface="Helvetica Neue"/>
                        </a:rPr>
                        <a:t>SolidWorks</a:t>
                      </a:r>
                    </a:p>
                  </a:txBody>
                  <a:tcPr marL="85725" marR="85725" marT="76200" marB="76200" anchor="ctr">
                    <a:solidFill>
                      <a:srgbClr val="DFEEE6"/>
                    </a:solidFill>
                  </a:tcPr>
                </a:tc>
                <a:tc>
                  <a:txBody>
                    <a:bodyPr>
                      <a:normAutofit/>
                    </a:bodyPr>
                    <a:lstStyle/>
                    <a:p>
                      <a:pPr algn="l"/>
                      <a:r>
                        <a:rPr sz="900" b="0">
                          <a:solidFill>
                            <a:srgbClr val="10151C"/>
                          </a:solidFill>
                          <a:latin typeface="Helvetica Neue"/>
                          <a:ea typeface="Helvetica Neue"/>
                          <a:cs typeface="Helvetica Neue"/>
                        </a:rPr>
                        <a:t>86.0%   n=43</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“Export the object”</a:t>
                      </a:r>
                    </a:p>
                    <a:p>
                      <a:pPr algn="l"/>
                      <a:r>
                        <a:rPr sz="900" b="0">
                          <a:solidFill>
                            <a:srgbClr val="10151C"/>
                          </a:solidFill>
                          <a:latin typeface="Helvetica Neue"/>
                          <a:ea typeface="Helvetica Neue"/>
                          <a:cs typeface="Helvetica Neue"/>
                        </a:rPr>
                        <a:t>Inventor</a:t>
                      </a:r>
                    </a:p>
                  </a:txBody>
                  <a:tcPr marL="85725" marR="85725" marT="76200" marB="76200" anchor="ctr">
                    <a:solidFill>
                      <a:srgbClr val="DEEEE6"/>
                    </a:solidFill>
                  </a:tcPr>
                </a:tc>
              </a:tr>
            </a:tbl>
          </a:graphicData>
        </a:graphic>
      </p:graphicFrame>
      <p:sp>
        <p:nvSpPr>
          <p:cNvPr id="6" name="">
            <a:extLst xmlns:a="http://schemas.openxmlformats.org/drawingml/2006/main">
              <a:ext uri="{FF2B5EF4-FFF2-40B4-BE49-F238E27FC236}">
                <a16:creationId xmlns:a16="http://schemas.microsoft.com/office/drawing/2014/main" id="{3A1F6C14-3ABE-4053-B8B5-78F85B449343}"/>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C32F6E9-2B1C-418E-ACA2-D0B3C2F9D6BC}"/>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UI rule: icon only when no text hint appears; text otherwise. Examples show categories, not outcomes. Other omitted: 373 items, 64.1%.</a:t>
            </a:r>
          </a:p>
        </p:txBody>
      </p:sp>
    </p:spTree>
    <p:extLst>
      <p:ext uri="{BB962C8B-B14F-4D97-AF65-F5344CB8AC3E}">
        <p14:creationId xmlns:p14="http://schemas.microsoft.com/office/powerpoint/2010/main" val="7572444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2026-09-22T09:05:36.1590000Z</dcterms:created>
  <dcterms:modified xsi:type="dcterms:W3CDTF">2026-09-22T09:05:36.1590000Z</dcterms:modified>
</coreProperties>
</file>