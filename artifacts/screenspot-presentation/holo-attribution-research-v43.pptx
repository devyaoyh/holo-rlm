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f611dc990b54699" /><Relationship Type="http://schemas.openxmlformats.org/officeDocument/2006/relationships/extended-properties" Target="/docProps/app.xml" Id="R02775d151b8645e8" /><Relationship Type="http://schemas.openxmlformats.org/officeDocument/2006/relationships/officeDocument" Target="/ppt/presentation.xml" Id="R92abb693a0bc4423" /></Relationships>
</file>

<file path=ppt/presentation.xml><?xml version="1.0" encoding="utf-8"?>
<p:presentation xmlns:p="http://schemas.openxmlformats.org/presentationml/2006/main">
  <p:sldMasterIdLst>
    <p:sldMasterId xmlns:r="http://schemas.openxmlformats.org/officeDocument/2006/relationships" id="2147483648" r:id="R2cdf3b90f9374ce6"/>
  </p:sldMasterIdLst>
  <p:notesMasterIdLst>
    <p:notesMasterId xmlns:r="http://schemas.openxmlformats.org/officeDocument/2006/relationships" r:id="R0d8b3da82c78489b"/>
  </p:notesMasterIdLst>
  <p:sldIdLst>
    <p:sldId xmlns:r="http://schemas.openxmlformats.org/officeDocument/2006/relationships" id="256" r:id="Rc3bd3b8fd0e14faa"/>
    <p:sldId xmlns:r="http://schemas.openxmlformats.org/officeDocument/2006/relationships" id="257" r:id="R403274ed7bb54eee"/>
    <p:sldId xmlns:r="http://schemas.openxmlformats.org/officeDocument/2006/relationships" id="258" r:id="R5aac1680e8274367"/>
    <p:sldId xmlns:r="http://schemas.openxmlformats.org/officeDocument/2006/relationships" id="259" r:id="R6cc393d002e14df4"/>
    <p:sldId xmlns:r="http://schemas.openxmlformats.org/officeDocument/2006/relationships" id="260" r:id="R1dc74c8f19914681"/>
    <p:sldId xmlns:r="http://schemas.openxmlformats.org/officeDocument/2006/relationships" id="261" r:id="Red7f7b74deb548a3"/>
    <p:sldId xmlns:r="http://schemas.openxmlformats.org/officeDocument/2006/relationships" id="262" r:id="R221030d27d694eed"/>
    <p:sldId xmlns:r="http://schemas.openxmlformats.org/officeDocument/2006/relationships" id="263" r:id="R79aa9eaee0ea4bbc"/>
    <p:sldId xmlns:r="http://schemas.openxmlformats.org/officeDocument/2006/relationships" id="264" r:id="Rd6e262f5f274435e"/>
    <p:sldId xmlns:r="http://schemas.openxmlformats.org/officeDocument/2006/relationships" id="265" r:id="R0737ab3ab00141f9"/>
    <p:sldId xmlns:r="http://schemas.openxmlformats.org/officeDocument/2006/relationships" id="266" r:id="R50ec9fbc88d84fcd"/>
    <p:sldId xmlns:r="http://schemas.openxmlformats.org/officeDocument/2006/relationships" id="267" r:id="R9bd3d24d8536494b"/>
    <p:sldId xmlns:r="http://schemas.openxmlformats.org/officeDocument/2006/relationships" id="268" r:id="R72066e4ea54d445d"/>
    <p:sldId xmlns:r="http://schemas.openxmlformats.org/officeDocument/2006/relationships" id="269" r:id="R63bc77b88e774719"/>
    <p:sldId xmlns:r="http://schemas.openxmlformats.org/officeDocument/2006/relationships" id="270" r:id="R568765ebffc74c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6ab30a2e674f51" /><Relationship Type="http://schemas.openxmlformats.org/officeDocument/2006/relationships/slideMaster" Target="/ppt/slideMasters/slideMaster1.xml" Id="R2cdf3b90f9374ce6" /><Relationship Type="http://schemas.openxmlformats.org/officeDocument/2006/relationships/notesMaster" Target="/ppt/notesMasters/notesMaster1.xml" Id="R0d8b3da82c78489b" /><Relationship Type="http://schemas.openxmlformats.org/officeDocument/2006/relationships/presProps" Target="/ppt/presProps.xml" Id="R8ba102f0ff3f446f" /><Relationship Type="http://schemas.openxmlformats.org/officeDocument/2006/relationships/tableStyles" Target="/ppt/tableStyles.xml" Id="R083042aeb8954ef0" /><Relationship Type="http://schemas.openxmlformats.org/officeDocument/2006/relationships/slide" Target="/ppt/slides/slide1.xml" Id="Rc3bd3b8fd0e14faa" /><Relationship Type="http://schemas.openxmlformats.org/officeDocument/2006/relationships/slide" Target="/ppt/slides/slide2.xml" Id="R403274ed7bb54eee" /><Relationship Type="http://schemas.openxmlformats.org/officeDocument/2006/relationships/slide" Target="/ppt/slides/slide3.xml" Id="R5aac1680e8274367" /><Relationship Type="http://schemas.openxmlformats.org/officeDocument/2006/relationships/slide" Target="/ppt/slides/slide4.xml" Id="R6cc393d002e14df4" /><Relationship Type="http://schemas.openxmlformats.org/officeDocument/2006/relationships/slide" Target="/ppt/slides/slide5.xml" Id="R1dc74c8f19914681" /><Relationship Type="http://schemas.openxmlformats.org/officeDocument/2006/relationships/slide" Target="/ppt/slides/slide6.xml" Id="Red7f7b74deb548a3" /><Relationship Type="http://schemas.openxmlformats.org/officeDocument/2006/relationships/slide" Target="/ppt/slides/slide7.xml" Id="R221030d27d694eed" /><Relationship Type="http://schemas.openxmlformats.org/officeDocument/2006/relationships/slide" Target="/ppt/slides/slide8.xml" Id="R79aa9eaee0ea4bbc" /><Relationship Type="http://schemas.openxmlformats.org/officeDocument/2006/relationships/slide" Target="/ppt/slides/slide9.xml" Id="Rd6e262f5f274435e" /><Relationship Type="http://schemas.openxmlformats.org/officeDocument/2006/relationships/slide" Target="/ppt/slides/slide10.xml" Id="R0737ab3ab00141f9" /><Relationship Type="http://schemas.openxmlformats.org/officeDocument/2006/relationships/slide" Target="/ppt/slides/slide11.xml" Id="R50ec9fbc88d84fcd" /><Relationship Type="http://schemas.openxmlformats.org/officeDocument/2006/relationships/slide" Target="/ppt/slides/slide12.xml" Id="R9bd3d24d8536494b" /><Relationship Type="http://schemas.openxmlformats.org/officeDocument/2006/relationships/slide" Target="/ppt/slides/slide13.xml" Id="R72066e4ea54d445d" /><Relationship Type="http://schemas.openxmlformats.org/officeDocument/2006/relationships/slide" Target="/ppt/slides/slide14.xml" Id="R63bc77b88e774719" /><Relationship Type="http://schemas.openxmlformats.org/officeDocument/2006/relationships/slide" Target="/ppt/slides/slide15.xml" Id="R568765ebffc74c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866d48f42f44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632cbea56f456e" /><Relationship Type="http://schemas.openxmlformats.org/officeDocument/2006/relationships/notesMaster" Target="/ppt/notesMasters/notesMaster1.xml" Id="R197da376d1ce45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9d17bf300747a6" /><Relationship Type="http://schemas.openxmlformats.org/officeDocument/2006/relationships/notesMaster" Target="/ppt/notesMasters/notesMaster1.xml" Id="Rd570abe7de034f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299679273b40ee" /><Relationship Type="http://schemas.openxmlformats.org/officeDocument/2006/relationships/notesMaster" Target="/ppt/notesMasters/notesMaster1.xml" Id="R5aa89406af6c4b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192318dccf4cd4" /><Relationship Type="http://schemas.openxmlformats.org/officeDocument/2006/relationships/notesMaster" Target="/ppt/notesMasters/notesMaster1.xml" Id="R8e7ad246bd5048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569802b89e485a" /><Relationship Type="http://schemas.openxmlformats.org/officeDocument/2006/relationships/notesMaster" Target="/ppt/notesMasters/notesMaster1.xml" Id="R2afbe2fbf98640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a7bebcf2a24e57" /><Relationship Type="http://schemas.openxmlformats.org/officeDocument/2006/relationships/notesMaster" Target="/ppt/notesMasters/notesMaster1.xml" Id="Re1e3d14a332f49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0952cf044146a5" /><Relationship Type="http://schemas.openxmlformats.org/officeDocument/2006/relationships/notesMaster" Target="/ppt/notesMasters/notesMaster1.xml" Id="Ra322656a654c4f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65682e0e6c45de" /><Relationship Type="http://schemas.openxmlformats.org/officeDocument/2006/relationships/notesMaster" Target="/ppt/notesMasters/notesMaster1.xml" Id="R0c8dbda57fbd4c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1197f5dfb240db" /><Relationship Type="http://schemas.openxmlformats.org/officeDocument/2006/relationships/notesMaster" Target="/ppt/notesMasters/notesMaster1.xml" Id="R6adb1bf4420f47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2fb1c8d344407c" /><Relationship Type="http://schemas.openxmlformats.org/officeDocument/2006/relationships/notesMaster" Target="/ppt/notesMasters/notesMaster1.xml" Id="Rf9b1293129554f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881c41d0eb4015" /><Relationship Type="http://schemas.openxmlformats.org/officeDocument/2006/relationships/notesMaster" Target="/ppt/notesMasters/notesMaster1.xml" Id="R68dea58561eb4c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1b8230f89f4d28" /><Relationship Type="http://schemas.openxmlformats.org/officeDocument/2006/relationships/notesMaster" Target="/ppt/notesMasters/notesMaster1.xml" Id="R0b7cf4a7fd2f4b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01929b289f4bf0" /><Relationship Type="http://schemas.openxmlformats.org/officeDocument/2006/relationships/notesMaster" Target="/ppt/notesMasters/notesMaster1.xml" Id="R4f39598d16ae40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33b1b0a4f6452c" /><Relationship Type="http://schemas.openxmlformats.org/officeDocument/2006/relationships/notesMaster" Target="/ppt/notesMasters/notesMaster1.xml" Id="R640f9da3c3f04d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97c7c8626b4995" /><Relationship Type="http://schemas.openxmlformats.org/officeDocument/2006/relationships/notesMaster" Target="/ppt/notesMasters/notesMaster1.xml" Id="Red6692b9c49540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rather than two failures. ScreenSpot-Pro isolates static UI localization from one screenshot and instruction. The hotel environment tests context retrieval across a sequence of screenshots and actions. The current official-tool free rollout succeeds: Holo scrolls three times, retains the three latest screenshots, selects Lumen Harbor Rooms at £122, and clicks its button. Sources: docs/screenspot-case-study.md and artifacts/screenspot-presentation/hotel-freegen-official-tools-v1/hotel-freegen-summary.json.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runs the experiment proposed in the previous draft. We selected six native-resolution successes spanning Photoshop, PowerPoint, and VS Code, with icon and text targets represented. Each case runs at 100, 75, 50, and 25 percent linear resolution. At every scale, Holo receives the official localization prompt and VisualLocalizerOutput contract, then the eager-attention harness traces the generated coordinate tokens. The primary attribution is value-norm rollout after subtracting the mean of four visible same-image alternate instructions. Across the six cases, median target-specific mass falls from 5.22 percent at native resolution to 0.04 percent at quarter resolution, about a 129-fold reduction. Median target lift falls from 241.5 to 10.4, and median best-target-patch rank falls from first to twentieth. Strict hits fall from six of six to one of six. The Photoshop sequence illustrates the common pattern: target mass declines from 9.56 to 6.11 to 3.74 to 1.25 percent, and the click fails only at 25 percent. The aggregate split supports visual localization degradation as the dominant failure mode. The evidence is not purely perceptual: one VS Code click fails at 50 percent even though the highest prompt-differential patch remains inside the target. Treat coordinate readout as a secondary failure mode and keep the six-case sample-size caveat explicit. Source: artifacts/screenspot-presentation/resolution-saliency-pilot-v1/summary.json.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The left panel is the value-norm rollout for Holo's freely generated x/y coordinate tokens. It places 4.43% of its positive mass in the tiny oracle, a 110.7x lift. The right panel subtracts the mean of four separately measured same-image instructions: Cut, Copy, Send backward, and Add comment. That baseline raises the target-specific concentration to 18.58% and 464.4x lift, with minimum leave-one-control-out cosine 0.991. Both panels use the same native 2880x1800 screenshot, official localization prompt, Holo output (209,243), and x/y token aggregation. The comparison shows how a resting-state-like control removes generic image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is a genuine free Holo rollout. The run uses our revised hotel prompt and the exact HoloDesktop runtime 0.1.10 tool schema. Holo receives native 1024x720 screenshots under the official three-screenshot retention window, freely emits three scrolls, then clicks normalized (650,450). The projected pixel click (665,324) lands inside the fixture-defined button for Lumen Harbor Rooms at £122. Value-norm rollout for the generated y-coordinate tokens allocates 38.6%, 29.2%, and 32.2% of image mass across scroll offsets 500, 1000, and 1124. All three frames contribute and no single frame dominates. Do not call this a recency preference: the separate teacher-forced Qwen-to-Holo comparison uses a different run and attribution contrast. This slide supports cross-frame context retrieval, not a causal memory mechanism. Source: artifacts/screenspot-presentation/hotel-freegen-official-tools-v1/hotel-freegen-summary.json and data/remote-results/hotel-official-tools-native-20260922-rerun.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versus 0.10 for Qwen. Holo restoration is positive in seven of eight prompts, and the paired Holo-minus-Qwen median is +0.72 nats. Zero-ablation means setting that same coordinate residual to zero in the clean run; the median clean-margin drop is 4.51 nats for Holo and 6.27 for Qwen. Both models therefore rely on this state. Fine-tuning increases its recoverability rather than creating a Holo-exclusive necessity. The all-head sweep also rejects a single-head explanation: Holo head 1 restores 0.54 nats, but Qwen uses the same head at 0.36. Sources: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Four directions follow directly from the evidence. First, scale the completed six-case resolution-attribution pilot to all 36 frozen cases and estimate uncertainty for retained-versus-lost attribution gaps. Second, repeat the causal panel across independent images and applications. Third, intervene on historical frames to test context retrieval causally. Fourth, train coordinate precision with oracle trajectories and verifiable environment reward while keeping a frozen diagnostic split. Attribution should select hypotheses and intervention sites; behavior remains the evaluation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on the combined evidence. ScreenSpot replication shows that geometry and resolution strongly condition localization. Only four of 36 native-success clicks survive at quarter resolution, and the six-case attribution pilot finds a roughly 130-fold drop in median target-specific mass. The strict-miss examples show that target-specific attention can remain aligned when the final coordinate falls outside, so readout remains a secondary failure mode. The successful hotel rollout shows that evidence from multiple retained frames reaches the final action. The causal panel adds a model-comparison result: Holo develops a more recoverable Layer 15 coordinate state than Qwen, but both models rely on the state and no single head explains it. The strongest current hypothesis is that fine-tuning improves action-state formation and coordinate extraction more clearly than it improves target-directed visual 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1406aba32546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065b5018c74518" /><Relationship Type="http://schemas.openxmlformats.org/officeDocument/2006/relationships/slideLayout" Target="/ppt/slideLayouts/slideLayout1.xml" Id="R21cc91c75ff64e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cc91c75ff64e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c4eba4ad8244ca" /><Relationship Type="http://schemas.openxmlformats.org/officeDocument/2006/relationships/image" Target="/ppt/media/image.png" Id="Rdb3b91241c0b4b51" /><Relationship Type="http://schemas.openxmlformats.org/officeDocument/2006/relationships/notesSlide" Target="/ppt/notesSlides/notesSlide1.xml" Id="Re6d455287ca44d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218f06dc194d77" /><Relationship Type="http://schemas.openxmlformats.org/officeDocument/2006/relationships/notesSlide" Target="/ppt/notesSlides/notesSlide2.xml" Id="R55b7ef06d04f42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b504abc5e54ed1" /><Relationship Type="http://schemas.openxmlformats.org/officeDocument/2006/relationships/chart" Target="/ppt/slides/charts/chart1.xml" Id="R5ff5bf1676234a3e" /><Relationship Type="http://schemas.openxmlformats.org/officeDocument/2006/relationships/notesSlide" Target="/ppt/notesSlides/notesSlide3.xml" Id="Rbd3731658ca94d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e12a9810434eac" /><Relationship Type="http://schemas.openxmlformats.org/officeDocument/2006/relationships/chart" Target="/ppt/slides/charts/chart2.xml" Id="R288b2df304304b9f" /><Relationship Type="http://schemas.openxmlformats.org/officeDocument/2006/relationships/notesSlide" Target="/ppt/notesSlides/notesSlide4.xml" Id="R6a3bc3a76c5e42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6a1038f53f468b" /><Relationship Type="http://schemas.openxmlformats.org/officeDocument/2006/relationships/chart" Target="/ppt/slides/charts/chart3.xml" Id="Rd4511c3ae0bf4c34" /><Relationship Type="http://schemas.openxmlformats.org/officeDocument/2006/relationships/notesSlide" Target="/ppt/notesSlides/notesSlide5.xml" Id="R969e49c9745041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3ca90999e64629" /><Relationship Type="http://schemas.openxmlformats.org/officeDocument/2006/relationships/image" Target="/ppt/media/image2.png" Id="R61f57adfad4645ae" /><Relationship Type="http://schemas.openxmlformats.org/officeDocument/2006/relationships/image" Target="/ppt/media/image3.png" Id="Rf8ac1a4925c24d51" /><Relationship Type="http://schemas.openxmlformats.org/officeDocument/2006/relationships/image" Target="/ppt/media/image4.png" Id="R27bd0072dac3481f" /><Relationship Type="http://schemas.openxmlformats.org/officeDocument/2006/relationships/image" Target="/ppt/media/image5.png" Id="R80c0e4bfb2b04307" /><Relationship Type="http://schemas.openxmlformats.org/officeDocument/2006/relationships/notesSlide" Target="/ppt/notesSlides/notesSlide6.xml" Id="R678006bfcee94e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57d096120c4a61" /><Relationship Type="http://schemas.openxmlformats.org/officeDocument/2006/relationships/image" Target="/ppt/media/image6.png" Id="R31a293e24de84f6a" /><Relationship Type="http://schemas.openxmlformats.org/officeDocument/2006/relationships/image" Target="/ppt/media/image7.png" Id="Rb3269cd315a74c77" /><Relationship Type="http://schemas.openxmlformats.org/officeDocument/2006/relationships/notesSlide" Target="/ppt/notesSlides/notesSlide7.xml" Id="R07986f9ece5249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641180d60742b8" /><Relationship Type="http://schemas.openxmlformats.org/officeDocument/2006/relationships/image" Target="/ppt/media/image8.png" Id="R7e43963a89414842" /><Relationship Type="http://schemas.openxmlformats.org/officeDocument/2006/relationships/notesSlide" Target="/ppt/notesSlides/notesSlide8.xml" Id="R0fe5f2873e4742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65e9161c9143a3" /><Relationship Type="http://schemas.openxmlformats.org/officeDocument/2006/relationships/image" Target="/ppt/media/image9.png" Id="R7da4d007a3fb47c9" /><Relationship Type="http://schemas.openxmlformats.org/officeDocument/2006/relationships/image" Target="/ppt/media/image10.png" Id="R3ccabd4f282044e4" /><Relationship Type="http://schemas.openxmlformats.org/officeDocument/2006/relationships/image" Target="/ppt/media/image11.png" Id="R5388d8173f574e7b" /><Relationship Type="http://schemas.openxmlformats.org/officeDocument/2006/relationships/notesSlide" Target="/ppt/notesSlides/notesSlide9.xml" Id="Rf5d2f6db6fd04a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793e69a7134df1" /><Relationship Type="http://schemas.openxmlformats.org/officeDocument/2006/relationships/image" Target="/ppt/media/image12.png" Id="Rb373257e0bd84adb" /><Relationship Type="http://schemas.openxmlformats.org/officeDocument/2006/relationships/image" Target="/ppt/media/image13.png" Id="R14d094cb7f344141" /><Relationship Type="http://schemas.openxmlformats.org/officeDocument/2006/relationships/notesSlide" Target="/ppt/notesSlides/notesSlide10.xml" Id="R41afa3dcd28d44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2f570d0f2964dd6" /><Relationship Type="http://schemas.openxmlformats.org/officeDocument/2006/relationships/notesSlide" Target="/ppt/notesSlides/notesSlide11.xml" Id="Rbe40e45dd0784a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3d5b07532d47c8" /><Relationship Type="http://schemas.openxmlformats.org/officeDocument/2006/relationships/notesSlide" Target="/ppt/notesSlides/notesSlide12.xml" Id="R3ae84a9ce43647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965fa44faf44ba" /><Relationship Type="http://schemas.openxmlformats.org/officeDocument/2006/relationships/notesSlide" Target="/ppt/notesSlides/notesSlide13.xml" Id="R9560af2d50084a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e82a86ed8214946" /><Relationship Type="http://schemas.openxmlformats.org/officeDocument/2006/relationships/notesSlide" Target="/ppt/notesSlides/notesSlide14.xml" Id="Rb6838af16b4d48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fb33206a79c4218" /><Relationship Type="http://schemas.openxmlformats.org/officeDocument/2006/relationships/notesSlide" Target="/ppt/notesSlides/notesSlide15.xml" Id="R3f35d03130bd46e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b3b91241c0b4b51"/>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1E3CDF-493C-40AC-9DAE-2954D965F907}"/>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6D310A-B7FB-4CB2-ACED-571DC18F0F41}"/>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1077E6-DCD4-4944-B291-A638A0950F98}"/>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109CBB-E29B-4E5E-925D-8E139649F977}"/>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13CF1F97-65EF-428D-BB5A-D60A0FE7E84D}"/>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3EEFEC1E-6E4A-4D07-B77F-9E5A20E5AF8B}"/>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2ABA296D-5A37-42D9-94D4-DD0C2204519D}"/>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615780963"/>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AF8D1EA-0242-494F-91A8-C5AE5487403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FF0FA57C-17A2-4050-B956-48609FDE958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83E36D65-29B4-4316-A3F3-A72CE1F7E57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EB09FDD1-807B-41E4-A408-F447C55D6868}"/>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6F737E6D-742A-4955-9FC8-48807B35662D}"/>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FDB1749-FEC8-40A4-A760-8C64BB06DBFE}"/>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B66F9946-1C46-42E4-A3E6-7E0ED43169E2}"/>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BB8D9574-ADF8-413A-92E0-178A195A36EF}"/>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ABADE4CB-6024-4F09-A1A6-A58264CAC574}"/>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DBF3ED4E-327F-4E44-A194-E1D7101752B0}"/>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8FFC90BB-9D1E-4284-9C46-B9B8237459C4}"/>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FCCD65-421F-418A-8ECE-445F3B4FAB8E}"/>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3EA2F8C0-AABD-4044-877F-9A2C0ED20E45}"/>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21E54BD-A46A-46B1-A347-3F23DD8E05A7}"/>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9F60705-AC67-40B2-8A0F-D8132740718E}"/>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04FC6027-785C-46E3-8570-54FDE27B305F}"/>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2D754ED9-2826-4C78-9AD5-22A909546668}"/>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the three latest screenshots</a:t>
            </a:r>
          </a:p>
        </p:txBody>
      </p:sp>
      <p:sp>
        <p:nvSpPr>
          <p:cNvPr id="18" name="">
            <a:extLst xmlns:a="http://schemas.openxmlformats.org/drawingml/2006/main">
              <a:ext uri="{FF2B5EF4-FFF2-40B4-BE49-F238E27FC236}">
                <a16:creationId xmlns:a16="http://schemas.microsoft.com/office/drawing/2014/main" id="{2A25E7BA-3000-4C35-BC93-F57435D2E786}"/>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94AA1D1-17AC-4C95-8BCF-00F67FAF37D4}"/>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B8EA97FE-97F6-44BC-9213-DC24EA8237AB}"/>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1" name="">
            <a:extLst xmlns:a="http://schemas.openxmlformats.org/drawingml/2006/main">
              <a:ext uri="{FF2B5EF4-FFF2-40B4-BE49-F238E27FC236}">
                <a16:creationId xmlns:a16="http://schemas.microsoft.com/office/drawing/2014/main" id="{D1F133DF-B254-4A3B-B48F-9975C1794529}"/>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2" name="">
            <a:extLst xmlns:a="http://schemas.openxmlformats.org/drawingml/2006/main">
              <a:ext uri="{FF2B5EF4-FFF2-40B4-BE49-F238E27FC236}">
                <a16:creationId xmlns:a16="http://schemas.microsoft.com/office/drawing/2014/main" id="{9EC0BBC1-8174-4C41-94DC-1A9055854DBD}"/>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B7CE12E-6A6C-47B7-AA1C-67CB9436B228}"/>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9D6EFFF9-C4A7-44BC-A539-0DA54FA0A6E3}"/>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5" name="">
            <a:extLst xmlns:a="http://schemas.openxmlformats.org/drawingml/2006/main">
              <a:ext uri="{FF2B5EF4-FFF2-40B4-BE49-F238E27FC236}">
                <a16:creationId xmlns:a16="http://schemas.microsoft.com/office/drawing/2014/main" id="{8377F450-DF68-422B-9639-D1307FDBD789}"/>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6" name="">
            <a:extLst xmlns:a="http://schemas.openxmlformats.org/drawingml/2006/main">
              <a:ext uri="{FF2B5EF4-FFF2-40B4-BE49-F238E27FC236}">
                <a16:creationId xmlns:a16="http://schemas.microsoft.com/office/drawing/2014/main" id="{2788D9FA-1F34-490C-9618-C6663AC9965A}"/>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A25D049-F037-4EDB-B137-7CC65054A33B}"/>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D10B440C-A4BF-4A19-BBA9-60D2242288B7}"/>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9" name="">
            <a:extLst xmlns:a="http://schemas.openxmlformats.org/drawingml/2006/main">
              <a:ext uri="{FF2B5EF4-FFF2-40B4-BE49-F238E27FC236}">
                <a16:creationId xmlns:a16="http://schemas.microsoft.com/office/drawing/2014/main" id="{9FDE5995-44D0-41DD-B7D5-D1774918E6D7}"/>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0" name="">
            <a:extLst xmlns:a="http://schemas.openxmlformats.org/drawingml/2006/main">
              <a:ext uri="{FF2B5EF4-FFF2-40B4-BE49-F238E27FC236}">
                <a16:creationId xmlns:a16="http://schemas.microsoft.com/office/drawing/2014/main" id="{01DA5AE2-0E94-45F4-8D0E-8D8DD1E63247}"/>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9C9F2EF-F172-4E4E-A961-C8FB9AABEAFD}"/>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787F0831-7230-46E8-96A8-D0E6756CA43A}"/>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3" name="">
            <a:extLst xmlns:a="http://schemas.openxmlformats.org/drawingml/2006/main">
              <a:ext uri="{FF2B5EF4-FFF2-40B4-BE49-F238E27FC236}">
                <a16:creationId xmlns:a16="http://schemas.microsoft.com/office/drawing/2014/main" id="{5F80F8B6-346C-47E4-9255-364622F42E73}"/>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hit</a:t>
            </a:r>
          </a:p>
        </p:txBody>
      </p:sp>
      <p:sp>
        <p:nvSpPr>
          <p:cNvPr id="34" name="">
            <a:extLst xmlns:a="http://schemas.openxmlformats.org/drawingml/2006/main">
              <a:ext uri="{FF2B5EF4-FFF2-40B4-BE49-F238E27FC236}">
                <a16:creationId xmlns:a16="http://schemas.microsoft.com/office/drawing/2014/main" id="{F1E9D4BA-A0C9-4CA6-A8EF-2A52570D7078}"/>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FE5AB962-9DF1-4E8A-B7DD-0EB637D648A4}"/>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04AED9FC-A8BC-4D6B-AB1D-E9B3E6E448A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6D031DB-695D-4A64-AF50-1EAD9C42082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337975420"/>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2FE21EB-D299-468D-B8B1-B9AD20B780A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58667B46-0129-4883-9AFB-04A7052D910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7B7D37BB-D201-44E9-8AC4-A9CD7CD2691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32D07FBD-6752-436B-B62A-5BFFEBF7377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F1587A3A-7239-4021-8273-3F53D828A09E}"/>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FA205CA0-4EB5-43F6-A137-7BBCF95D8699}"/>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117F76E4-9166-4846-9664-CE1CF8015EBC}"/>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A08D9F22-CCCD-46D0-B914-78BD4AF1D68E}"/>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AB99766D-D421-4FA0-9467-FEBFBA2624A4}"/>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127CAC1F-78B5-4671-B3E8-50566008DF20}"/>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C5B5289-FB1B-47B5-9B1A-565B73B93DB6}"/>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5ff5bf1676234a3e"/>
          </a:graphicData>
        </a:graphic>
      </p:graphicFrame>
      <p:sp>
        <p:nvSpPr>
          <p:cNvPr id="13" name="">
            <a:extLst xmlns:a="http://schemas.openxmlformats.org/drawingml/2006/main">
              <a:ext uri="{FF2B5EF4-FFF2-40B4-BE49-F238E27FC236}">
                <a16:creationId xmlns:a16="http://schemas.microsoft.com/office/drawing/2014/main" id="{52ADACA2-B760-42EE-88BC-276827635864}"/>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42FA448F-89A1-4E01-9649-68414593026C}"/>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FBF8AB97-4B08-4B25-96F8-3F594210E6DA}"/>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49A2357-1C5D-4C5A-BCF1-A1DF6A0206D5}"/>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54FFF400-834D-48C6-8434-268D1F4AA068}"/>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0156E6F0-889E-4556-8FB5-DF88587A6F56}"/>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ED6D5833-F216-48D5-A8D2-B1FB1071A91C}"/>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366A358F-A079-49E5-A162-4284205F3A0A}"/>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3931F39D-FBD1-46B6-AB6F-0F7911B4BFE7}"/>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A1E8ABBE-7BAC-422E-8368-B582E6E60EC0}"/>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7D92BDF4-8E93-48DA-9448-A40AE75609B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640E992-A459-4F63-A6BF-9483EDC33AE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977366805"/>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D01CD5B-D89B-4D06-8809-0219D992E02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B818F61F-3CED-4417-A7BF-58F6983CA9F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43B38BDD-461A-4483-A8F2-D1EBD5E58E9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DC28AA8F-5A19-49C1-BAA9-931C306CB9FA}"/>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71BC9617-D171-4559-955F-ED363EB8DE9B}"/>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288b2df304304b9f"/>
          </a:graphicData>
        </a:graphic>
      </p:graphicFrame>
      <p:sp>
        <p:nvSpPr>
          <p:cNvPr id="7" name="">
            <a:extLst xmlns:a="http://schemas.openxmlformats.org/drawingml/2006/main">
              <a:ext uri="{FF2B5EF4-FFF2-40B4-BE49-F238E27FC236}">
                <a16:creationId xmlns:a16="http://schemas.microsoft.com/office/drawing/2014/main" id="{E478C219-54A3-4BD0-9C91-8731EC9E5683}"/>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3063F1-9763-4B2E-8F87-CF374CC43459}"/>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2C3161AC-9432-446B-BDE3-4AEB8CC2C6C0}"/>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1F5691DB-EC06-46CD-BAE0-9629DF95FC26}"/>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963CD891-85B5-4FDD-A1E6-8EC43E119D11}"/>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040EFC-E48E-4842-A693-FB9C944AD2C8}"/>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634AEBEB-9B26-44EE-951A-8BB174EF19A6}"/>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67B997FD-7057-47EB-9907-1FB95E92EC88}"/>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24CA4CD6-C41C-470D-AF35-C3DBFB682F9A}"/>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6C0AFC15-86BC-49CF-9A47-CB5584770C9E}"/>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0DCBB50-D614-4256-8A0B-89466E6A71AE}"/>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7AE72A26-271B-41A0-9561-D5BAA501F38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E288384-BCDA-403B-8581-C83D20BE26A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424946798"/>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56F5206-2E24-48B2-9324-5CD91BCE18A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BF23A3B8-AC67-452F-9712-F8807C09832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0F860D1B-3EF8-4C39-84CE-A8F0C034675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B1449951-7E46-46B9-8891-F04FC98548EE}"/>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CAB982C3-B449-4723-B87B-23AC0B369D78}"/>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d4511c3ae0bf4c34"/>
          </a:graphicData>
        </a:graphic>
      </p:graphicFrame>
      <p:sp>
        <p:nvSpPr>
          <p:cNvPr id="7" name="">
            <a:extLst xmlns:a="http://schemas.openxmlformats.org/drawingml/2006/main">
              <a:ext uri="{FF2B5EF4-FFF2-40B4-BE49-F238E27FC236}">
                <a16:creationId xmlns:a16="http://schemas.microsoft.com/office/drawing/2014/main" id="{4314DA7A-1B6B-4FBC-A269-9C5521EED5AD}"/>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C3950B-3350-4357-86B5-6A1944B7B355}"/>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186AD392-7C65-4D40-AD0D-F6469E2AB4E9}"/>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B8A9A781-90F3-451A-BF74-5B1B44E83BC7}"/>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DC6079DB-5910-4D48-BF76-842C5AEDE4C2}"/>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C9CCB883-21BE-4C27-93A2-E88F60AD6382}"/>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F1E3717-4915-4287-937A-BDED3A5CF3FC}"/>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DAE77CE9-F33C-49E5-A49D-D05258F66D49}"/>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F91877C7-15CD-456D-AE5C-13CE9F1031A3}"/>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C6817C75-FF0E-476C-8324-5C23599D08A0}"/>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F1ACCAA1-9A5B-4174-991D-F614C649B38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B4A47C2-C15E-4AB7-80C7-C556B64E6493}"/>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81069088-7D15-42C5-A629-461800B1BF7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3406BBB-EF80-4567-9200-D46C9613091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1202150344"/>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A54EFBE-7994-404A-99A6-4BC2CC5A7AA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297E5B21-CD3D-46DF-8BE9-1CC4A24A5A2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falls 130× at quarter resolution</a:t>
            </a:r>
          </a:p>
        </p:txBody>
      </p:sp>
      <p:sp>
        <p:nvSpPr>
          <p:cNvPr id="3" name="">
            <a:extLst xmlns:a="http://schemas.openxmlformats.org/drawingml/2006/main">
              <a:ext uri="{FF2B5EF4-FFF2-40B4-BE49-F238E27FC236}">
                <a16:creationId xmlns:a16="http://schemas.microsoft.com/office/drawing/2014/main" id="{0846FAE5-E496-48B3-98DA-605A8AE4411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54DBF66B-5F29-40A9-81E1-6C54F8C60E1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Six native-success ScreenSpot-Pro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F2DE5AC8-392C-4F26-917E-C5C047CEAF30}"/>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A203B447-4E8E-43F0-A8B7-A8F655E67DB0}"/>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61f57adfad4645ae"/>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E04F4F32-A427-4334-B93D-A28F23703902}"/>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968C78F6-1B0C-41BD-83F3-482CBC622D0F}"/>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EEC9204D-574E-4123-9B15-18A88E657FB5}"/>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251B9E8C-5F6F-46AC-A176-C2989D70927C}"/>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f8ac1a4925c24d51"/>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CBED6F44-D5DC-4EA8-92A9-B860226CEA86}"/>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E5970B20-B2A3-4CEB-92FF-3C85639C19BB}"/>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4AF000FE-2300-4E36-82C9-BA5113EC8ED6}"/>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CE642159-381A-4FC2-9E36-BE423A221D98}"/>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27bd0072dac3481f"/>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B9C6ABC4-CECE-4A64-B4D9-48E344398C3C}"/>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9A487FD3-C564-4F6C-BEAF-286E30D5F9A0}"/>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5066173F-FF6A-4E9D-ACD5-4D2FC1B1BFC3}"/>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63508172-FBD2-4FD1-80A9-BEEEAA8B98D1}"/>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80c0e4bfb2b04307"/>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5D1303E2-22AB-4954-8DAE-BB885843F823}"/>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C4E42199-198F-4210-91E8-DF339E032033}"/>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F60347C3-073D-4537-9424-5384AA071D4B}"/>
              </a:ext>
            </a:extLst>
          </p:cNvPr>
          <p:cNvSpPr>
            <a:spLocks xmlns:a="http://schemas.openxmlformats.org/drawingml/2006/main" noGrp="1"/>
          </p:cNvSpPr>
          <p:nvPr/>
        </p:nvSpPr>
        <p:spPr>
          <a:xfrm xmlns:a="http://schemas.openxmlformats.org/drawingml/2006/main">
            <a:off x="609600" y="38862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SIX-CASE PILOT</a:t>
            </a:r>
          </a:p>
        </p:txBody>
      </p:sp>
      <p:graphicFrame>
        <p:nvGraphicFramePr>
          <p:cNvPr id="59"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6/6</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3/6</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3/6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1/6</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2.13%</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0.67%</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0.04%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242×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114×</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46×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10.4×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1.5</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1.5</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20</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4DF41098-0A3D-4C44-81E9-668E189BDE5F}"/>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81D091B-6FBB-4D2F-9782-596F78721915}"/>
              </a:ext>
            </a:extLst>
          </p:cNvPr>
          <p:cNvSpPr>
            <a:spLocks xmlns:a="http://schemas.openxmlformats.org/drawingml/2006/main" noGrp="1"/>
          </p:cNvSpPr>
          <p:nvPr/>
        </p:nvSpPr>
        <p:spPr>
          <a:xfrm xmlns:a="http://schemas.openxmlformats.org/drawingml/2006/main">
            <a:off x="7791450" y="4114800"/>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CHANGED</a:t>
            </a:r>
          </a:p>
        </p:txBody>
      </p:sp>
      <p:sp>
        <p:nvSpPr>
          <p:cNvPr id="29" name="">
            <a:extLst xmlns:a="http://schemas.openxmlformats.org/drawingml/2006/main">
              <a:ext uri="{FF2B5EF4-FFF2-40B4-BE49-F238E27FC236}">
                <a16:creationId xmlns:a16="http://schemas.microsoft.com/office/drawing/2014/main" id="{556AB3D0-7B84-4AB4-9F59-8B2B7E674C6E}"/>
              </a:ext>
            </a:extLst>
          </p:cNvPr>
          <p:cNvSpPr>
            <a:spLocks xmlns:a="http://schemas.openxmlformats.org/drawingml/2006/main" noGrp="1"/>
          </p:cNvSpPr>
          <p:nvPr/>
        </p:nvSpPr>
        <p:spPr>
          <a:xfrm xmlns:a="http://schemas.openxmlformats.org/drawingml/2006/main">
            <a:off x="7791450" y="443865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278"/>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Lost clicks usually lose localization</a:t>
            </a:r>
          </a:p>
        </p:txBody>
      </p:sp>
      <p:sp>
        <p:nvSpPr>
          <p:cNvPr id="30" name="">
            <a:extLst xmlns:a="http://schemas.openxmlformats.org/drawingml/2006/main">
              <a:ext uri="{FF2B5EF4-FFF2-40B4-BE49-F238E27FC236}">
                <a16:creationId xmlns:a16="http://schemas.microsoft.com/office/drawing/2014/main" id="{59160CA7-C1A6-4C23-BDF4-BF7046484B88}"/>
              </a:ext>
            </a:extLst>
          </p:cNvPr>
          <p:cNvSpPr>
            <a:spLocks xmlns:a="http://schemas.openxmlformats.org/drawingml/2006/main" noGrp="1"/>
          </p:cNvSpPr>
          <p:nvPr/>
        </p:nvSpPr>
        <p:spPr>
          <a:xfrm xmlns:a="http://schemas.openxmlformats.org/drawingml/2006/main">
            <a:off x="7791450" y="50101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C4CED7"/>
                </a:solidFill>
                <a:latin typeface="Helvetica Neue"/>
                <a:ea typeface="Helvetica Neue"/>
                <a:cs typeface="Helvetica Neue"/>
              </a:defRPr>
            </a:pPr>
            <a:r>
              <a:rPr sz="1125" b="0">
                <a:solidFill>
                  <a:srgbClr val="C4CED7"/>
                </a:solidFill>
                <a:latin typeface="Helvetica Neue"/>
                <a:ea typeface="Helvetica Neue"/>
                <a:cs typeface="Helvetica Neue"/>
              </a:rPr>
              <a:t>At 25%, lost cases have 1.1× median target lift versus 38.8× for the one retained click.</a:t>
            </a:r>
          </a:p>
        </p:txBody>
      </p:sp>
      <p:sp>
        <p:nvSpPr>
          <p:cNvPr id="31" name="">
            <a:extLst xmlns:a="http://schemas.openxmlformats.org/drawingml/2006/main">
              <a:ext uri="{FF2B5EF4-FFF2-40B4-BE49-F238E27FC236}">
                <a16:creationId xmlns:a16="http://schemas.microsoft.com/office/drawing/2014/main" id="{29F6793F-D847-4CEF-8D23-144CFBE1D750}"/>
              </a:ext>
            </a:extLst>
          </p:cNvPr>
          <p:cNvSpPr>
            <a:spLocks xmlns:a="http://schemas.openxmlformats.org/drawingml/2006/main" noGrp="1"/>
          </p:cNvSpPr>
          <p:nvPr/>
        </p:nvSpPr>
        <p:spPr>
          <a:xfrm xmlns:a="http://schemas.openxmlformats.org/drawingml/2006/main">
            <a:off x="7791450" y="55245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18"/>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One 50% failure still peaks inside the target, so coordinate readout remains a secondary failure mode.</a:t>
            </a:r>
          </a:p>
        </p:txBody>
      </p:sp>
      <p:sp>
        <p:nvSpPr>
          <p:cNvPr id="32" name="">
            <a:extLst xmlns:a="http://schemas.openxmlformats.org/drawingml/2006/main">
              <a:ext uri="{FF2B5EF4-FFF2-40B4-BE49-F238E27FC236}">
                <a16:creationId xmlns:a16="http://schemas.microsoft.com/office/drawing/2014/main" id="{B5E3ACD0-F569-4761-8E03-6DCF71E91CA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7BE0A29-27F8-48EE-A694-2DD3BC44E7C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120 deterministic requests · official localization prompt and 0–1000 contract · eager attention · n=6 mechanistic pilot</a:t>
            </a:r>
          </a:p>
        </p:txBody>
      </p:sp>
    </p:spTree>
    <p:extLst>
      <p:ext uri="{BB962C8B-B14F-4D97-AF65-F5344CB8AC3E}">
        <p14:creationId xmlns:p14="http://schemas.microsoft.com/office/powerpoint/2010/main" val="1866458466"/>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708A5A6-6DEE-4DFC-BE6E-A153BFD2B20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677C737A-CA31-46CE-9B4A-D022619B2DD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 action, different task-specific maps</a:t>
            </a:r>
          </a:p>
        </p:txBody>
      </p:sp>
      <p:sp>
        <p:nvSpPr>
          <p:cNvPr id="3" name="">
            <a:extLst xmlns:a="http://schemas.openxmlformats.org/drawingml/2006/main">
              <a:ext uri="{FF2B5EF4-FFF2-40B4-BE49-F238E27FC236}">
                <a16:creationId xmlns:a16="http://schemas.microsoft.com/office/drawing/2014/main" id="{A76D04C7-6A87-412E-8676-4945E026E2B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60B6F553-F648-4DB5-B21D-B5C6B93F5A15}"/>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3E957AC8-0059-474D-BF48-90F1909697F0}"/>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CEFE10-2AB4-4907-A989-AFA5D2DF32A4}"/>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180D5761-E2BD-4FDA-A0A8-130CC2F2E593}"/>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ROLLOUT</a:t>
            </a:r>
          </a:p>
        </p:txBody>
      </p:sp>
      <p:sp>
        <p:nvSpPr>
          <p:cNvPr id="8" name="">
            <a:extLst xmlns:a="http://schemas.openxmlformats.org/drawingml/2006/main">
              <a:ext uri="{FF2B5EF4-FFF2-40B4-BE49-F238E27FC236}">
                <a16:creationId xmlns:a16="http://schemas.microsoft.com/office/drawing/2014/main" id="{45FAFCE5-A840-4F45-8291-51B2C78AF81E}"/>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DIVERSE-INSTRUCTION SUBTRACTION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1a293e24de84f6a"/>
          <a:srcRect xmlns:a="http://schemas.openxmlformats.org/drawingml/2006/main" l="0" t="1625" r="0" b="1625"/>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F0D6DA07-F29F-4418-AC9E-CF03484E200E}"/>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3269cd315a74c77"/>
          <a:srcRect xmlns:a="http://schemas.openxmlformats.org/drawingml/2006/main" l="0" t="1625" r="0" b="1625"/>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3AD91D0E-9388-4D71-9482-EC1529767537}"/>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023BBC22-244A-4FAD-9BE2-8190382828BA}"/>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581EBA-4CF0-46A1-B9AF-E9F74F5B892F}"/>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6F81F21B-B165-462E-88EF-5BC8022E90F4}"/>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4.4% of positive mass</a:t>
            </a:r>
          </a:p>
        </p:txBody>
      </p:sp>
      <p:sp>
        <p:nvSpPr>
          <p:cNvPr id="16" name="">
            <a:extLst xmlns:a="http://schemas.openxmlformats.org/drawingml/2006/main">
              <a:ext uri="{FF2B5EF4-FFF2-40B4-BE49-F238E27FC236}">
                <a16:creationId xmlns:a16="http://schemas.microsoft.com/office/drawing/2014/main" id="{A754D7F8-C1DA-4419-9EE5-4C74DC1354C4}"/>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6AB3D38-D9D5-4F14-AD47-29308ED7B5E2}"/>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49B70A22-2EDE-48A4-9CFD-40A8C1FF92DF}"/>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18.6% · LOO ≥0.991</a:t>
            </a:r>
          </a:p>
        </p:txBody>
      </p:sp>
      <p:sp>
        <p:nvSpPr>
          <p:cNvPr id="19" name="">
            <a:extLst xmlns:a="http://schemas.openxmlformats.org/drawingml/2006/main">
              <a:ext uri="{FF2B5EF4-FFF2-40B4-BE49-F238E27FC236}">
                <a16:creationId xmlns:a16="http://schemas.microsoft.com/office/drawing/2014/main" id="{C28C221C-B07E-4449-B7F5-3485AF6CEDE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EB3EA4B-F821-4C89-86B2-612614B09C6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Same native screenshot, official prompt, generated click, coordinate tokens, and value-norm rollout · only the baseline changes</a:t>
            </a:r>
          </a:p>
        </p:txBody>
      </p:sp>
    </p:spTree>
    <p:extLst>
      <p:ext uri="{BB962C8B-B14F-4D97-AF65-F5344CB8AC3E}">
        <p14:creationId xmlns:p14="http://schemas.microsoft.com/office/powerpoint/2010/main" val="1705983385"/>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4328592-E6DF-4FC1-8CF0-EB01DA30471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1E4C0AA7-907E-4DF0-8E0F-D43D8E99EF2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C8FD8EAA-7671-4251-9D50-1C3BDBE1AE9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F074202-B422-4B5D-83DC-46BDCA5254C2}"/>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BE44355F-F962-4AC7-93B1-4581981F42B5}"/>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53873E-5BA5-46BC-AD62-D46AB36F5C7C}"/>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120C87E2-4C3C-42D7-A97D-1EE27F4D3F0F}"/>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e43963a89414842"/>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280824DD-9DFE-4782-99F6-4AFBED8EE774}"/>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4363870E-D0A8-45AF-840A-59BF0D0CEB0A}"/>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0249286-BC48-41F0-9CEB-D6A6A2CA73F0}"/>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BF212F-ACEE-4EB5-AD04-E9C84E0D8D8A}"/>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DBDD2A72-A441-48FA-BD01-41E1BEF57EFE}"/>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99C2BA3D-8AA1-4DAC-AB54-C2033B7026AA}"/>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6C35E405-F05E-4DD2-95A0-7CD94E1F03CD}"/>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DAE1E43-202D-4D11-92C1-11DD8E7ACA95}"/>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2A645F4B-B6A9-4874-A8A4-C9678621E1E1}"/>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B5CC1D0F-544B-4251-8F8E-61AD0A976141}"/>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4ED95050-EB8A-4BE2-AF76-0FC8ED7001FA}"/>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65B953F3-7907-40FB-9B72-8F6B44960D29}"/>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5A17778D-ED08-4998-94F8-9D2196C260D3}"/>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D9DA163C-94E7-4072-83B0-DCCC5B1A56D5}"/>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F69F8F3C-BD6B-45A7-944E-5DE6B51DF452}"/>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55404D71-97FD-40B0-AFCE-9F5EB72E6554}"/>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EF37B980-EAFB-4EFD-85B9-7A8CC0E7EDC0}"/>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55D02B91-3ED0-4B2F-8E23-A6AE9F049F1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41C441D-19B5-4191-BDFA-0D92AD2237C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2093882091"/>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61E00625-7279-4FAE-AD03-742E8EF9572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HOTEL ROLLOUT</a:t>
            </a:r>
          </a:p>
        </p:txBody>
      </p:sp>
      <p:sp>
        <p:nvSpPr>
          <p:cNvPr id="2" name="">
            <a:extLst xmlns:a="http://schemas.openxmlformats.org/drawingml/2006/main">
              <a:ext uri="{FF2B5EF4-FFF2-40B4-BE49-F238E27FC236}">
                <a16:creationId xmlns:a16="http://schemas.microsoft.com/office/drawing/2014/main" id="{BA0ABF6C-324D-46E7-819D-03BD4A9FFF1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8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All three retained frames contribute to the correct final click</a:t>
            </a:r>
          </a:p>
        </p:txBody>
      </p:sp>
      <p:sp>
        <p:nvSpPr>
          <p:cNvPr id="3" name="">
            <a:extLst xmlns:a="http://schemas.openxmlformats.org/drawingml/2006/main">
              <a:ext uri="{FF2B5EF4-FFF2-40B4-BE49-F238E27FC236}">
                <a16:creationId xmlns:a16="http://schemas.microsoft.com/office/drawing/2014/main" id="{4DB12588-AAE7-4912-B081-C271E232062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8BB4B077-CC4B-459D-9B7D-BBF123C75684}"/>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no teacher forcing, final y-coordinate value-norm rollout</a:t>
            </a:r>
          </a:p>
        </p:txBody>
      </p:sp>
      <p:sp>
        <p:nvSpPr>
          <p:cNvPr id="5" name="">
            <a:extLst xmlns:a="http://schemas.openxmlformats.org/drawingml/2006/main">
              <a:ext uri="{FF2B5EF4-FFF2-40B4-BE49-F238E27FC236}">
                <a16:creationId xmlns:a16="http://schemas.microsoft.com/office/drawing/2014/main" id="{49EBAFE1-C8FC-4024-826A-F92AFB20F55C}"/>
              </a:ext>
            </a:extLst>
          </p:cNvPr>
          <p:cNvSpPr>
            <a:spLocks xmlns:a="http://schemas.openxmlformats.org/drawingml/2006/main" noGrp="1"/>
          </p:cNvSpPr>
          <p:nvPr/>
        </p:nvSpPr>
        <p:spPr>
          <a:xfrm xmlns:a="http://schemas.openxmlformats.org/drawingml/2006/main">
            <a:off x="8858250" y="1095375"/>
            <a:ext cx="27241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B85113-ABBF-46FC-8179-5823392AF230}"/>
              </a:ext>
            </a:extLst>
          </p:cNvPr>
          <p:cNvSpPr>
            <a:spLocks xmlns:a="http://schemas.openxmlformats.org/drawingml/2006/main" noGrp="1"/>
          </p:cNvSpPr>
          <p:nvPr/>
        </p:nvSpPr>
        <p:spPr>
          <a:xfrm xmlns:a="http://schemas.openxmlformats.org/drawingml/2006/main">
            <a:off x="8953500" y="1114425"/>
            <a:ext cx="253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96"/>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MODEL CLICK, GREEN = ORACLE</a:t>
            </a:r>
          </a:p>
        </p:txBody>
      </p:sp>
      <p:sp>
        <p:nvSpPr>
          <p:cNvPr id="7" name="">
            <a:extLst xmlns:a="http://schemas.openxmlformats.org/drawingml/2006/main">
              <a:ext uri="{FF2B5EF4-FFF2-40B4-BE49-F238E27FC236}">
                <a16:creationId xmlns:a16="http://schemas.microsoft.com/office/drawing/2014/main" id="{1E2FA62C-0576-4016-B03A-33A0258AB74C}"/>
              </a:ext>
            </a:extLst>
          </p:cNvPr>
          <p:cNvSpPr>
            <a:spLocks xmlns:a="http://schemas.openxmlformats.org/drawingml/2006/main" noGrp="1"/>
          </p:cNvSpPr>
          <p:nvPr/>
        </p:nvSpPr>
        <p:spPr>
          <a:xfrm xmlns:a="http://schemas.openxmlformats.org/drawingml/2006/main">
            <a:off x="6096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1, OFFSET 500</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7da4d007a3fb47c9"/>
          <a:stretch xmlns:a="http://schemas.openxmlformats.org/drawingml/2006/main"/>
        </p:blipFill>
        <p:spPr>
          <a:xfrm xmlns:a="http://schemas.openxmlformats.org/drawingml/2006/main">
            <a:off x="644932" y="1714500"/>
            <a:ext cx="2215335" cy="4343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D85D0D7-D5A9-46C5-961A-4D2EC5150610}"/>
              </a:ext>
            </a:extLst>
          </p:cNvPr>
          <p:cNvSpPr>
            <a:spLocks xmlns:a="http://schemas.openxmlformats.org/drawingml/2006/main" noGrp="1"/>
          </p:cNvSpPr>
          <p:nvPr/>
        </p:nvSpPr>
        <p:spPr>
          <a:xfrm xmlns:a="http://schemas.openxmlformats.org/drawingml/2006/main">
            <a:off x="6096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B303ABD0-2900-4252-9A0A-A5F675BAD5F9}"/>
              </a:ext>
            </a:extLst>
          </p:cNvPr>
          <p:cNvSpPr>
            <a:spLocks xmlns:a="http://schemas.openxmlformats.org/drawingml/2006/main" noGrp="1"/>
          </p:cNvSpPr>
          <p:nvPr/>
        </p:nvSpPr>
        <p:spPr>
          <a:xfrm xmlns:a="http://schemas.openxmlformats.org/drawingml/2006/main">
            <a:off x="31242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HISTORY 2, OFFSET 1000</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3ccabd4f282044e4"/>
          <a:stretch xmlns:a="http://schemas.openxmlformats.org/drawingml/2006/main"/>
        </p:blipFill>
        <p:spPr>
          <a:xfrm xmlns:a="http://schemas.openxmlformats.org/drawingml/2006/main">
            <a:off x="3159532" y="1714500"/>
            <a:ext cx="2215335" cy="4343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B2D18FB-9F66-49E1-8CBE-459F8295E86A}"/>
              </a:ext>
            </a:extLst>
          </p:cNvPr>
          <p:cNvSpPr>
            <a:spLocks xmlns:a="http://schemas.openxmlformats.org/drawingml/2006/main" noGrp="1"/>
          </p:cNvSpPr>
          <p:nvPr/>
        </p:nvSpPr>
        <p:spPr>
          <a:xfrm xmlns:a="http://schemas.openxmlformats.org/drawingml/2006/main">
            <a:off x="31242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42253CCB-29E5-4F07-B5E3-B0104127D14B}"/>
              </a:ext>
            </a:extLst>
          </p:cNvPr>
          <p:cNvSpPr>
            <a:spLocks xmlns:a="http://schemas.openxmlformats.org/drawingml/2006/main" noGrp="1"/>
          </p:cNvSpPr>
          <p:nvPr/>
        </p:nvSpPr>
        <p:spPr>
          <a:xfrm xmlns:a="http://schemas.openxmlformats.org/drawingml/2006/main">
            <a:off x="5638800" y="14001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CURRENT, OFFSET 1124</a:t>
            </a:r>
          </a:p>
        </p:txBody>
      </p:sp>
      <p:sp>
        <p:nvSpPr>
          <p:cNvPr id="14" name="">
            <a:extLst xmlns:a="http://schemas.openxmlformats.org/drawingml/2006/main">
              <a:ext uri="{FF2B5EF4-FFF2-40B4-BE49-F238E27FC236}">
                <a16:creationId xmlns:a16="http://schemas.microsoft.com/office/drawing/2014/main" id="{BF8FAE51-7AC2-4AF4-BDFB-9AA7400763B8}"/>
              </a:ext>
            </a:extLst>
          </p:cNvPr>
          <p:cNvSpPr>
            <a:spLocks xmlns:a="http://schemas.openxmlformats.org/drawingml/2006/main" noGrp="1"/>
          </p:cNvSpPr>
          <p:nvPr/>
        </p:nvSpPr>
        <p:spPr>
          <a:xfrm xmlns:a="http://schemas.openxmlformats.org/drawingml/2006/main">
            <a:off x="5638800" y="1543050"/>
            <a:ext cx="2286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normalized (650,450), pixel (665,324)</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5388d8173f574e7b"/>
          <a:stretch xmlns:a="http://schemas.openxmlformats.org/drawingml/2006/main"/>
        </p:blipFill>
        <p:spPr>
          <a:xfrm xmlns:a="http://schemas.openxmlformats.org/drawingml/2006/main">
            <a:off x="5674132" y="1714500"/>
            <a:ext cx="2215335" cy="4343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886E14E-417C-4820-8870-006AE7C9FF85}"/>
              </a:ext>
            </a:extLst>
          </p:cNvPr>
          <p:cNvSpPr>
            <a:spLocks xmlns:a="http://schemas.openxmlformats.org/drawingml/2006/main" noGrp="1"/>
          </p:cNvSpPr>
          <p:nvPr/>
        </p:nvSpPr>
        <p:spPr>
          <a:xfrm xmlns:a="http://schemas.openxmlformats.org/drawingml/2006/main">
            <a:off x="5638800" y="1714500"/>
            <a:ext cx="2286000" cy="43434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E97E63D2-3668-4373-9E65-91F1256CFB1B}"/>
              </a:ext>
            </a:extLst>
          </p:cNvPr>
          <p:cNvSpPr>
            <a:spLocks xmlns:a="http://schemas.openxmlformats.org/drawingml/2006/main" noGrp="1"/>
          </p:cNvSpPr>
          <p:nvPr/>
        </p:nvSpPr>
        <p:spPr>
          <a:xfrm xmlns:a="http://schemas.openxmlformats.org/drawingml/2006/main">
            <a:off x="6654250" y="3171251"/>
            <a:ext cx="751871" cy="389362"/>
          </a:xfrm>
          <a:prstGeom xmlns:a="http://schemas.openxmlformats.org/drawingml/2006/main" prst="roundRect">
            <a:avLst>
              <a:gd name="adj" fmla="val 19570"/>
            </a:avLst>
          </a:prstGeom>
          <a:noFill xmlns:a="http://schemas.openxmlformats.org/drawingml/2006/main"/>
          <a:ln xmlns:a="http://schemas.openxmlformats.org/drawingml/2006/main" w="9525">
            <a:solidFill>
              <a:srgbClr val="18A875"/>
            </a:solidFill>
          </a:ln>
        </p:spPr>
      </p:sp>
      <p:sp>
        <p:nvSpPr>
          <p:cNvPr id="18" name="">
            <a:extLst xmlns:a="http://schemas.openxmlformats.org/drawingml/2006/main">
              <a:ext uri="{FF2B5EF4-FFF2-40B4-BE49-F238E27FC236}">
                <a16:creationId xmlns:a16="http://schemas.microsoft.com/office/drawing/2014/main" id="{73D81505-2560-4A7E-A761-2C796AE8C9A9}"/>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19" name="">
            <a:extLst xmlns:a="http://schemas.openxmlformats.org/drawingml/2006/main">
              <a:ext uri="{FF2B5EF4-FFF2-40B4-BE49-F238E27FC236}">
                <a16:creationId xmlns:a16="http://schemas.microsoft.com/office/drawing/2014/main" id="{2271F56C-1266-4FA5-9A50-8BE1F6BEB91F}"/>
              </a:ext>
            </a:extLst>
          </p:cNvPr>
          <p:cNvSpPr>
            <a:spLocks xmlns:a="http://schemas.openxmlformats.org/drawingml/2006/main" noGrp="1"/>
          </p:cNvSpPr>
          <p:nvPr/>
        </p:nvSpPr>
        <p:spPr>
          <a:xfrm xmlns:a="http://schemas.openxmlformats.org/drawingml/2006/main">
            <a:off x="7017216" y="3332823"/>
            <a:ext cx="133350" cy="13335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0" name="">
            <a:extLst xmlns:a="http://schemas.openxmlformats.org/drawingml/2006/main">
              <a:ext uri="{FF2B5EF4-FFF2-40B4-BE49-F238E27FC236}">
                <a16:creationId xmlns:a16="http://schemas.microsoft.com/office/drawing/2014/main" id="{75340EA6-1FF8-4A06-BEDA-B0A48F4899F1}"/>
              </a:ext>
            </a:extLst>
          </p:cNvPr>
          <p:cNvSpPr>
            <a:spLocks xmlns:a="http://schemas.openxmlformats.org/drawingml/2006/main" noGrp="1"/>
          </p:cNvSpPr>
          <p:nvPr/>
        </p:nvSpPr>
        <p:spPr>
          <a:xfrm xmlns:a="http://schemas.openxmlformats.org/drawingml/2006/main">
            <a:off x="6960066" y="3366160"/>
            <a:ext cx="24765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A598B28-8F79-4DE0-9CFE-C1EA192FD6F0}"/>
              </a:ext>
            </a:extLst>
          </p:cNvPr>
          <p:cNvSpPr>
            <a:spLocks xmlns:a="http://schemas.openxmlformats.org/drawingml/2006/main" noGrp="1"/>
          </p:cNvSpPr>
          <p:nvPr/>
        </p:nvSpPr>
        <p:spPr>
          <a:xfrm xmlns:a="http://schemas.openxmlformats.org/drawingml/2006/main">
            <a:off x="7050554" y="3275673"/>
            <a:ext cx="66675" cy="24765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2F76360-5FF1-4AC2-82E3-E2C922D829AB}"/>
              </a:ext>
            </a:extLst>
          </p:cNvPr>
          <p:cNvSpPr>
            <a:spLocks xmlns:a="http://schemas.openxmlformats.org/drawingml/2006/main" noGrp="1"/>
          </p:cNvSpPr>
          <p:nvPr/>
        </p:nvSpPr>
        <p:spPr>
          <a:xfrm xmlns:a="http://schemas.openxmlformats.org/drawingml/2006/main">
            <a:off x="6960066" y="3385210"/>
            <a:ext cx="24765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B2CD1C1-F07D-43AE-98C0-855C86046F56}"/>
              </a:ext>
            </a:extLst>
          </p:cNvPr>
          <p:cNvSpPr>
            <a:spLocks xmlns:a="http://schemas.openxmlformats.org/drawingml/2006/main" noGrp="1"/>
          </p:cNvSpPr>
          <p:nvPr/>
        </p:nvSpPr>
        <p:spPr>
          <a:xfrm xmlns:a="http://schemas.openxmlformats.org/drawingml/2006/main">
            <a:off x="7069604" y="3275673"/>
            <a:ext cx="28575" cy="247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F6B97CF-B045-4FAF-8163-677A568ADDFD}"/>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9047B83-A78C-4C91-84AD-4A4804000774}"/>
              </a:ext>
            </a:extLst>
          </p:cNvPr>
          <p:cNvSpPr>
            <a:spLocks xmlns:a="http://schemas.openxmlformats.org/drawingml/2006/main" noGrp="1"/>
          </p:cNvSpPr>
          <p:nvPr/>
        </p:nvSpPr>
        <p:spPr>
          <a:xfrm xmlns:a="http://schemas.openxmlformats.org/drawingml/2006/main">
            <a:off x="8477250" y="1657350"/>
            <a:ext cx="17907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5BFC992-E8B5-47FD-A09E-B221FB2F7E04}"/>
              </a:ext>
            </a:extLst>
          </p:cNvPr>
          <p:cNvSpPr>
            <a:spLocks xmlns:a="http://schemas.openxmlformats.org/drawingml/2006/main" noGrp="1"/>
          </p:cNvSpPr>
          <p:nvPr/>
        </p:nvSpPr>
        <p:spPr>
          <a:xfrm xmlns:a="http://schemas.openxmlformats.org/drawingml/2006/main">
            <a:off x="8572500" y="16764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SUCCESS</a:t>
            </a:r>
          </a:p>
        </p:txBody>
      </p:sp>
      <p:sp>
        <p:nvSpPr>
          <p:cNvPr id="27" name="">
            <a:extLst xmlns:a="http://schemas.openxmlformats.org/drawingml/2006/main">
              <a:ext uri="{FF2B5EF4-FFF2-40B4-BE49-F238E27FC236}">
                <a16:creationId xmlns:a16="http://schemas.microsoft.com/office/drawing/2014/main" id="{95049B6F-805A-42F1-A4A3-67451B44221F}"/>
              </a:ext>
            </a:extLst>
          </p:cNvPr>
          <p:cNvSpPr>
            <a:spLocks xmlns:a="http://schemas.openxmlformats.org/drawingml/2006/main" noGrp="1"/>
          </p:cNvSpPr>
          <p:nvPr/>
        </p:nvSpPr>
        <p:spPr>
          <a:xfrm xmlns:a="http://schemas.openxmlformats.org/drawingml/2006/main">
            <a:off x="8477250" y="2095500"/>
            <a:ext cx="190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SELECTED HOTEL = ORACLE</a:t>
            </a:r>
          </a:p>
        </p:txBody>
      </p:sp>
      <p:sp>
        <p:nvSpPr>
          <p:cNvPr id="28" name="">
            <a:extLst xmlns:a="http://schemas.openxmlformats.org/drawingml/2006/main">
              <a:ext uri="{FF2B5EF4-FFF2-40B4-BE49-F238E27FC236}">
                <a16:creationId xmlns:a16="http://schemas.microsoft.com/office/drawing/2014/main" id="{FC46C084-3E0C-47A0-BF90-B11A0C25A827}"/>
              </a:ext>
            </a:extLst>
          </p:cNvPr>
          <p:cNvSpPr>
            <a:spLocks xmlns:a="http://schemas.openxmlformats.org/drawingml/2006/main" noGrp="1"/>
          </p:cNvSpPr>
          <p:nvPr/>
        </p:nvSpPr>
        <p:spPr>
          <a:xfrm xmlns:a="http://schemas.openxmlformats.org/drawingml/2006/main">
            <a:off x="8477250" y="2295525"/>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Lumen Harbor Rooms</a:t>
            </a:r>
          </a:p>
        </p:txBody>
      </p:sp>
      <p:sp>
        <p:nvSpPr>
          <p:cNvPr id="29" name="">
            <a:extLst xmlns:a="http://schemas.openxmlformats.org/drawingml/2006/main">
              <a:ext uri="{FF2B5EF4-FFF2-40B4-BE49-F238E27FC236}">
                <a16:creationId xmlns:a16="http://schemas.microsoft.com/office/drawing/2014/main" id="{F9B69506-6AA2-47E2-AF48-D16A412E23D7}"/>
              </a:ext>
            </a:extLst>
          </p:cNvPr>
          <p:cNvSpPr>
            <a:spLocks xmlns:a="http://schemas.openxmlformats.org/drawingml/2006/main" noGrp="1"/>
          </p:cNvSpPr>
          <p:nvPr/>
        </p:nvSpPr>
        <p:spPr>
          <a:xfrm xmlns:a="http://schemas.openxmlformats.org/drawingml/2006/main">
            <a:off x="8477250" y="2552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£122 per night, fixture minimum</a:t>
            </a:r>
          </a:p>
        </p:txBody>
      </p:sp>
      <p:sp>
        <p:nvSpPr>
          <p:cNvPr id="30" name="">
            <a:extLst xmlns:a="http://schemas.openxmlformats.org/drawingml/2006/main">
              <a:ext uri="{FF2B5EF4-FFF2-40B4-BE49-F238E27FC236}">
                <a16:creationId xmlns:a16="http://schemas.microsoft.com/office/drawing/2014/main" id="{9384A0CF-9C21-4093-A10B-2EE4B5A59821}"/>
              </a:ext>
            </a:extLst>
          </p:cNvPr>
          <p:cNvSpPr>
            <a:spLocks xmlns:a="http://schemas.openxmlformats.org/drawingml/2006/main" noGrp="1"/>
          </p:cNvSpPr>
          <p:nvPr/>
        </p:nvSpPr>
        <p:spPr>
          <a:xfrm xmlns:a="http://schemas.openxmlformats.org/drawingml/2006/main">
            <a:off x="8477250" y="2905125"/>
            <a:ext cx="1333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F05A3C"/>
                </a:solidFill>
                <a:latin typeface="Helvetica Neue"/>
                <a:ea typeface="Helvetica Neue"/>
                <a:cs typeface="Helvetica Neue"/>
              </a:defRPr>
            </a:pPr>
            <a:r>
              <a:rPr sz="750" b="1">
                <a:solidFill>
                  <a:srgbClr val="F05A3C"/>
                </a:solidFill>
                <a:latin typeface="Helvetica Neue"/>
                <a:ea typeface="Helvetica Neue"/>
                <a:cs typeface="Helvetica Neue"/>
              </a:rPr>
              <a:t>FINAL ACTION</a:t>
            </a:r>
          </a:p>
        </p:txBody>
      </p:sp>
      <p:sp>
        <p:nvSpPr>
          <p:cNvPr id="31" name="">
            <a:extLst xmlns:a="http://schemas.openxmlformats.org/drawingml/2006/main">
              <a:ext uri="{FF2B5EF4-FFF2-40B4-BE49-F238E27FC236}">
                <a16:creationId xmlns:a16="http://schemas.microsoft.com/office/drawing/2014/main" id="{34335CAA-6067-4FB0-90A2-76CDD555797F}"/>
              </a:ext>
            </a:extLst>
          </p:cNvPr>
          <p:cNvSpPr>
            <a:spLocks xmlns:a="http://schemas.openxmlformats.org/drawingml/2006/main" noGrp="1"/>
          </p:cNvSpPr>
          <p:nvPr/>
        </p:nvSpPr>
        <p:spPr>
          <a:xfrm xmlns:a="http://schemas.openxmlformats.org/drawingml/2006/main">
            <a:off x="8477250" y="310515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click_desktop (650,450)</a:t>
            </a:r>
          </a:p>
        </p:txBody>
      </p:sp>
      <p:sp>
        <p:nvSpPr>
          <p:cNvPr id="32" name="">
            <a:extLst xmlns:a="http://schemas.openxmlformats.org/drawingml/2006/main">
              <a:ext uri="{FF2B5EF4-FFF2-40B4-BE49-F238E27FC236}">
                <a16:creationId xmlns:a16="http://schemas.microsoft.com/office/drawing/2014/main" id="{B1C76BB9-D90F-4394-936C-0C22BF7CE178}"/>
              </a:ext>
            </a:extLst>
          </p:cNvPr>
          <p:cNvSpPr>
            <a:spLocks xmlns:a="http://schemas.openxmlformats.org/drawingml/2006/main" noGrp="1"/>
          </p:cNvSpPr>
          <p:nvPr/>
        </p:nvSpPr>
        <p:spPr>
          <a:xfrm xmlns:a="http://schemas.openxmlformats.org/drawingml/2006/main">
            <a:off x="8477250" y="33623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pixel (665,324), inside target</a:t>
            </a:r>
          </a:p>
        </p:txBody>
      </p:sp>
      <p:sp>
        <p:nvSpPr>
          <p:cNvPr id="33" name="">
            <a:extLst xmlns:a="http://schemas.openxmlformats.org/drawingml/2006/main">
              <a:ext uri="{FF2B5EF4-FFF2-40B4-BE49-F238E27FC236}">
                <a16:creationId xmlns:a16="http://schemas.microsoft.com/office/drawing/2014/main" id="{C8F9C3DB-0371-4ACF-894F-FD552E6B2656}"/>
              </a:ext>
            </a:extLst>
          </p:cNvPr>
          <p:cNvSpPr>
            <a:spLocks xmlns:a="http://schemas.openxmlformats.org/drawingml/2006/main" noGrp="1"/>
          </p:cNvSpPr>
          <p:nvPr/>
        </p:nvSpPr>
        <p:spPr>
          <a:xfrm xmlns:a="http://schemas.openxmlformats.org/drawingml/2006/main">
            <a:off x="8477250" y="3743325"/>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FC49038-F4AE-4554-8CEB-143C8193ADA1}"/>
              </a:ext>
            </a:extLst>
          </p:cNvPr>
          <p:cNvSpPr>
            <a:spLocks xmlns:a="http://schemas.openxmlformats.org/drawingml/2006/main" noGrp="1"/>
          </p:cNvSpPr>
          <p:nvPr/>
        </p:nvSpPr>
        <p:spPr>
          <a:xfrm xmlns:a="http://schemas.openxmlformats.org/drawingml/2006/main">
            <a:off x="8477250" y="39052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35" name="">
            <a:extLst xmlns:a="http://schemas.openxmlformats.org/drawingml/2006/main">
              <a:ext uri="{FF2B5EF4-FFF2-40B4-BE49-F238E27FC236}">
                <a16:creationId xmlns:a16="http://schemas.microsoft.com/office/drawing/2014/main" id="{C8FA1941-29C2-4229-BDAC-A5C7F8DF6D35}"/>
              </a:ext>
            </a:extLst>
          </p:cNvPr>
          <p:cNvSpPr>
            <a:spLocks xmlns:a="http://schemas.openxmlformats.org/drawingml/2006/main" noGrp="1"/>
          </p:cNvSpPr>
          <p:nvPr/>
        </p:nvSpPr>
        <p:spPr>
          <a:xfrm xmlns:a="http://schemas.openxmlformats.org/drawingml/2006/main">
            <a:off x="8477250" y="42005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H1</a:t>
            </a:r>
          </a:p>
        </p:txBody>
      </p:sp>
      <p:sp>
        <p:nvSpPr>
          <p:cNvPr id="36" name="">
            <a:extLst xmlns:a="http://schemas.openxmlformats.org/drawingml/2006/main">
              <a:ext uri="{FF2B5EF4-FFF2-40B4-BE49-F238E27FC236}">
                <a16:creationId xmlns:a16="http://schemas.microsoft.com/office/drawing/2014/main" id="{50AB6C2E-45C5-4EC4-A402-37C6C7C38C5B}"/>
              </a:ext>
            </a:extLst>
          </p:cNvPr>
          <p:cNvSpPr>
            <a:spLocks xmlns:a="http://schemas.openxmlformats.org/drawingml/2006/main" noGrp="1"/>
          </p:cNvSpPr>
          <p:nvPr/>
        </p:nvSpPr>
        <p:spPr>
          <a:xfrm xmlns:a="http://schemas.openxmlformats.org/drawingml/2006/main">
            <a:off x="8782050" y="421957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FD9FACC-8D78-4CD2-850C-716DA5F09CD1}"/>
              </a:ext>
            </a:extLst>
          </p:cNvPr>
          <p:cNvSpPr>
            <a:spLocks xmlns:a="http://schemas.openxmlformats.org/drawingml/2006/main" noGrp="1"/>
          </p:cNvSpPr>
          <p:nvPr/>
        </p:nvSpPr>
        <p:spPr>
          <a:xfrm xmlns:a="http://schemas.openxmlformats.org/drawingml/2006/main">
            <a:off x="8782050" y="4219575"/>
            <a:ext cx="1715954"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3D1CEE6-234A-4689-AD1E-9BADBE22646F}"/>
              </a:ext>
            </a:extLst>
          </p:cNvPr>
          <p:cNvSpPr>
            <a:spLocks xmlns:a="http://schemas.openxmlformats.org/drawingml/2006/main" noGrp="1"/>
          </p:cNvSpPr>
          <p:nvPr/>
        </p:nvSpPr>
        <p:spPr>
          <a:xfrm xmlns:a="http://schemas.openxmlformats.org/drawingml/2006/main">
            <a:off x="10858500" y="41910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38.6%</a:t>
            </a:r>
          </a:p>
        </p:txBody>
      </p:sp>
      <p:sp>
        <p:nvSpPr>
          <p:cNvPr id="39" name="">
            <a:extLst xmlns:a="http://schemas.openxmlformats.org/drawingml/2006/main">
              <a:ext uri="{FF2B5EF4-FFF2-40B4-BE49-F238E27FC236}">
                <a16:creationId xmlns:a16="http://schemas.microsoft.com/office/drawing/2014/main" id="{FB5C38D0-2C57-43EB-8114-1320235196DC}"/>
              </a:ext>
            </a:extLst>
          </p:cNvPr>
          <p:cNvSpPr>
            <a:spLocks xmlns:a="http://schemas.openxmlformats.org/drawingml/2006/main" noGrp="1"/>
          </p:cNvSpPr>
          <p:nvPr/>
        </p:nvSpPr>
        <p:spPr>
          <a:xfrm xmlns:a="http://schemas.openxmlformats.org/drawingml/2006/main">
            <a:off x="8477250" y="45339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H2</a:t>
            </a:r>
          </a:p>
        </p:txBody>
      </p:sp>
      <p:sp>
        <p:nvSpPr>
          <p:cNvPr id="40" name="">
            <a:extLst xmlns:a="http://schemas.openxmlformats.org/drawingml/2006/main">
              <a:ext uri="{FF2B5EF4-FFF2-40B4-BE49-F238E27FC236}">
                <a16:creationId xmlns:a16="http://schemas.microsoft.com/office/drawing/2014/main" id="{8E0C59C5-6DCF-4D63-AAED-69F46C9841B6}"/>
              </a:ext>
            </a:extLst>
          </p:cNvPr>
          <p:cNvSpPr>
            <a:spLocks xmlns:a="http://schemas.openxmlformats.org/drawingml/2006/main" noGrp="1"/>
          </p:cNvSpPr>
          <p:nvPr/>
        </p:nvSpPr>
        <p:spPr>
          <a:xfrm xmlns:a="http://schemas.openxmlformats.org/drawingml/2006/main">
            <a:off x="8782050" y="45529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B3D560A-1CD5-4C69-BA93-38AB2C39103F}"/>
              </a:ext>
            </a:extLst>
          </p:cNvPr>
          <p:cNvSpPr>
            <a:spLocks xmlns:a="http://schemas.openxmlformats.org/drawingml/2006/main" noGrp="1"/>
          </p:cNvSpPr>
          <p:nvPr/>
        </p:nvSpPr>
        <p:spPr>
          <a:xfrm xmlns:a="http://schemas.openxmlformats.org/drawingml/2006/main">
            <a:off x="8782050" y="4552950"/>
            <a:ext cx="1298257"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1C80B99-FE5A-4737-AE70-2E30E4AE0BCA}"/>
              </a:ext>
            </a:extLst>
          </p:cNvPr>
          <p:cNvSpPr>
            <a:spLocks xmlns:a="http://schemas.openxmlformats.org/drawingml/2006/main" noGrp="1"/>
          </p:cNvSpPr>
          <p:nvPr/>
        </p:nvSpPr>
        <p:spPr>
          <a:xfrm xmlns:a="http://schemas.openxmlformats.org/drawingml/2006/main">
            <a:off x="10858500" y="45243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29.2%</a:t>
            </a:r>
          </a:p>
        </p:txBody>
      </p:sp>
      <p:sp>
        <p:nvSpPr>
          <p:cNvPr id="43" name="">
            <a:extLst xmlns:a="http://schemas.openxmlformats.org/drawingml/2006/main">
              <a:ext uri="{FF2B5EF4-FFF2-40B4-BE49-F238E27FC236}">
                <a16:creationId xmlns:a16="http://schemas.microsoft.com/office/drawing/2014/main" id="{33F1A6BC-E455-4E66-8212-AAF2E0BD12FB}"/>
              </a:ext>
            </a:extLst>
          </p:cNvPr>
          <p:cNvSpPr>
            <a:spLocks xmlns:a="http://schemas.openxmlformats.org/drawingml/2006/main" noGrp="1"/>
          </p:cNvSpPr>
          <p:nvPr/>
        </p:nvSpPr>
        <p:spPr>
          <a:xfrm xmlns:a="http://schemas.openxmlformats.org/drawingml/2006/main">
            <a:off x="8477250" y="48672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NOW</a:t>
            </a:r>
          </a:p>
        </p:txBody>
      </p:sp>
      <p:sp>
        <p:nvSpPr>
          <p:cNvPr id="44" name="">
            <a:extLst xmlns:a="http://schemas.openxmlformats.org/drawingml/2006/main">
              <a:ext uri="{FF2B5EF4-FFF2-40B4-BE49-F238E27FC236}">
                <a16:creationId xmlns:a16="http://schemas.microsoft.com/office/drawing/2014/main" id="{9D9CB866-5604-4CE1-BBFE-4AE3EB590C71}"/>
              </a:ext>
            </a:extLst>
          </p:cNvPr>
          <p:cNvSpPr>
            <a:spLocks xmlns:a="http://schemas.openxmlformats.org/drawingml/2006/main" noGrp="1"/>
          </p:cNvSpPr>
          <p:nvPr/>
        </p:nvSpPr>
        <p:spPr>
          <a:xfrm xmlns:a="http://schemas.openxmlformats.org/drawingml/2006/main">
            <a:off x="8782050" y="4886325"/>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52EB3CD-0BCD-4C8B-805D-796D1AF6A9D8}"/>
              </a:ext>
            </a:extLst>
          </p:cNvPr>
          <p:cNvSpPr>
            <a:spLocks xmlns:a="http://schemas.openxmlformats.org/drawingml/2006/main" noGrp="1"/>
          </p:cNvSpPr>
          <p:nvPr/>
        </p:nvSpPr>
        <p:spPr>
          <a:xfrm xmlns:a="http://schemas.openxmlformats.org/drawingml/2006/main">
            <a:off x="8782050" y="4886325"/>
            <a:ext cx="1430789"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9F0433F-CA0A-4254-913B-8437A181FD69}"/>
              </a:ext>
            </a:extLst>
          </p:cNvPr>
          <p:cNvSpPr>
            <a:spLocks xmlns:a="http://schemas.openxmlformats.org/drawingml/2006/main" noGrp="1"/>
          </p:cNvSpPr>
          <p:nvPr/>
        </p:nvSpPr>
        <p:spPr>
          <a:xfrm xmlns:a="http://schemas.openxmlformats.org/drawingml/2006/main">
            <a:off x="10858500" y="48577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32.2%</a:t>
            </a:r>
          </a:p>
        </p:txBody>
      </p:sp>
      <p:sp>
        <p:nvSpPr>
          <p:cNvPr id="47" name="">
            <a:extLst xmlns:a="http://schemas.openxmlformats.org/drawingml/2006/main">
              <a:ext uri="{FF2B5EF4-FFF2-40B4-BE49-F238E27FC236}">
                <a16:creationId xmlns:a16="http://schemas.microsoft.com/office/drawing/2014/main" id="{B535F952-BC11-4BD4-9B14-1368A01911C7}"/>
              </a:ext>
            </a:extLst>
          </p:cNvPr>
          <p:cNvSpPr>
            <a:spLocks xmlns:a="http://schemas.openxmlformats.org/drawingml/2006/main" noGrp="1"/>
          </p:cNvSpPr>
          <p:nvPr/>
        </p:nvSpPr>
        <p:spPr>
          <a:xfrm xmlns:a="http://schemas.openxmlformats.org/drawingml/2006/main">
            <a:off x="8477250" y="5210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No single frame dominates the final y-coordinate route.</a:t>
            </a:r>
          </a:p>
        </p:txBody>
      </p:sp>
      <p:sp>
        <p:nvSpPr>
          <p:cNvPr id="48" name="">
            <a:extLst xmlns:a="http://schemas.openxmlformats.org/drawingml/2006/main">
              <a:ext uri="{FF2B5EF4-FFF2-40B4-BE49-F238E27FC236}">
                <a16:creationId xmlns:a16="http://schemas.microsoft.com/office/drawing/2014/main" id="{176F2785-4B6B-4DC7-BA86-247F081DB598}"/>
              </a:ext>
            </a:extLst>
          </p:cNvPr>
          <p:cNvSpPr>
            <a:spLocks xmlns:a="http://schemas.openxmlformats.org/drawingml/2006/main" noGrp="1"/>
          </p:cNvSpPr>
          <p:nvPr/>
        </p:nvSpPr>
        <p:spPr>
          <a:xfrm xmlns:a="http://schemas.openxmlformats.org/drawingml/2006/main">
            <a:off x="8477250" y="5676900"/>
            <a:ext cx="2857500" cy="266700"/>
          </a:xfrm>
          <a:prstGeom xmlns:a="http://schemas.openxmlformats.org/drawingml/2006/main" prst="roundRect">
            <a:avLst>
              <a:gd name="adj" fmla="val 28571"/>
            </a:avLst>
          </a:prstGeom>
          <a:solidFill xmlns:a="http://schemas.openxmlformats.org/drawingml/2006/main">
            <a:srgbClr val="2A3845"/>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B21F36A-F479-4210-8113-790262EB5A42}"/>
              </a:ext>
            </a:extLst>
          </p:cNvPr>
          <p:cNvSpPr>
            <a:spLocks xmlns:a="http://schemas.openxmlformats.org/drawingml/2006/main" noGrp="1"/>
          </p:cNvSpPr>
          <p:nvPr/>
        </p:nvSpPr>
        <p:spPr>
          <a:xfrm xmlns:a="http://schemas.openxmlformats.org/drawingml/2006/main">
            <a:off x="8572500" y="5715000"/>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750" b="0">
                <a:solidFill>
                  <a:srgbClr val="D5DEE6"/>
                </a:solidFill>
                <a:latin typeface="Helvetica Neue"/>
                <a:ea typeface="Helvetica Neue"/>
                <a:cs typeface="Helvetica Neue"/>
              </a:defRPr>
            </a:pPr>
            <a:r>
              <a:rPr sz="750" b="0">
                <a:solidFill>
                  <a:srgbClr val="D5DEE6"/>
                </a:solidFill>
                <a:latin typeface="Helvetica Neue"/>
                <a:ea typeface="Helvetica Neue"/>
                <a:cs typeface="Helvetica Neue"/>
              </a:rPr>
              <a:t>4 actions, 3 retained screenshots, 1 correct click</a:t>
            </a:r>
          </a:p>
        </p:txBody>
      </p:sp>
      <p:sp>
        <p:nvSpPr>
          <p:cNvPr id="50" name="">
            <a:extLst xmlns:a="http://schemas.openxmlformats.org/drawingml/2006/main">
              <a:ext uri="{FF2B5EF4-FFF2-40B4-BE49-F238E27FC236}">
                <a16:creationId xmlns:a16="http://schemas.microsoft.com/office/drawing/2014/main" id="{F3582B0B-91D6-4F52-A1CB-BDCEC5B0BF4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CC475684-9324-42D1-B14F-5F3118D674D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Our hotel prompt, official HoloDesktop 0.1.10 tools, normalized 0–1000 coordinates, native resolution</a:t>
            </a:r>
          </a:p>
        </p:txBody>
      </p:sp>
    </p:spTree>
    <p:extLst>
      <p:ext uri="{BB962C8B-B14F-4D97-AF65-F5344CB8AC3E}">
        <p14:creationId xmlns:p14="http://schemas.microsoft.com/office/powerpoint/2010/main" val="1680527097"/>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D15B2C4-21EB-46BC-843F-4A37ACFC868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B82FB1FF-32AD-4232-962A-07D5F2D3F9B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1157FDA1-8C4E-4C82-B2F6-078B317B9F4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5C38CA0A-41FB-40C7-96CE-75F0525939A8}"/>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645154ED-F2F4-4929-8BCB-2C919948224F}"/>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3FD4F0-E66B-4BD7-82C6-40368E58163E}"/>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b373257e0bd84adb"/>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727D668C-3037-42A6-A26B-87271BAD8192}"/>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8AA41B9A-F5EE-47CF-B4F4-0B72602CFF04}"/>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8C4558EE-92F1-4BEF-AE2F-13EE5859BC66}"/>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005BF2E-70ED-4EC5-848E-8C5365DF81D4}"/>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14d094cb7f344141"/>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5FEE305A-171F-43EB-A18A-17E92AE17607}"/>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27A99F88-0B52-446F-8459-2107AE2FECCC}"/>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DA1CB12D-FF61-44B4-A66C-6CED3D799DEA}"/>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648D65FB-626B-439E-9156-56975560E002}"/>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6D78F485-85D8-4A0A-9751-970C490120B1}"/>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1EFA4369-B588-4244-B760-DC40BDEBEE40}"/>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B0898E03-D018-4A6C-A395-A51BA3A4ECED}"/>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25266046-5B5C-43F7-A859-44DD279AD4F0}"/>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78A41FC2-E810-49C9-A316-8F3D64B21356}"/>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1A2F8331-9A57-43A2-A2A6-30E08F4F4161}"/>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049742DE-968C-4819-852A-C918FDC6FA1B}"/>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79DE4248-8328-4DC1-AC5A-602A9FA58711}"/>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2B823CB1-876B-4F1B-8C3F-9327E541F8F4}"/>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3431141F-93DD-49F2-AD8F-D4DD9310E7DD}"/>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B1B31B4A-F9DB-4F15-AFA2-A508F19A71AF}"/>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93DA2A39-66BB-4DF5-B7AB-6F6D45A4CC8A}"/>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0F5494D2-31FA-42D3-955A-9E2E12D68B1F}"/>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F55BBA3F-1D40-46BE-BEBC-D215A5E4FAD6}"/>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3A049963-E369-47F5-8345-74AFFE0C574A}"/>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C16FEED6-6BC7-4269-833B-4A56D565D7CC}"/>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D7FB1FD4-95B5-4BFA-BD24-754AD9EBD0AA}"/>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E25F0279-172F-4D41-86E8-F902922888E1}"/>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B13385C3-0BFE-4817-ABE9-D07AAB544283}"/>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6938CE4-4DA1-4204-AEBE-22EDA3FD3DAF}"/>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274696E9-C0B7-4830-B62C-C689EA3EF408}"/>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794EA2E3-457E-45F5-B439-611720F479DF}"/>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F87BF54B-4DEA-48B5-BC2B-A98E5864BAB0}"/>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60C113F-A2D8-4EED-9D08-D4D18CC67AC7}"/>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91A17C47-C240-4532-8E38-34720780DF73}"/>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2398F545-5E63-4C48-B821-2E5B1F062194}"/>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8D02BCDF-560F-4673-A510-8EAE1988310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DD36F0B-6446-444C-BCD4-203BEB17626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403264149"/>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F13014F-28DA-4D4B-8E44-105F10FE70A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5D8A93A0-4F92-4D35-A59F-2BF6F2FCF65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makes the coordinate state more recoverable</a:t>
            </a:r>
          </a:p>
        </p:txBody>
      </p:sp>
      <p:sp>
        <p:nvSpPr>
          <p:cNvPr id="3" name="">
            <a:extLst xmlns:a="http://schemas.openxmlformats.org/drawingml/2006/main">
              <a:ext uri="{FF2B5EF4-FFF2-40B4-BE49-F238E27FC236}">
                <a16:creationId xmlns:a16="http://schemas.microsoft.com/office/drawing/2014/main" id="{C0EC2A27-59E9-4921-86FF-487730740E8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5FBCE2FA-2F3A-46B6-92CE-D5EE0608BCF2}"/>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EF2C52DA-FE96-46B7-910C-BA4E8A6D96FA}"/>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C45DDBF2-A4AB-4DBF-953D-2E46B98B2EBE}"/>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6B9AAC80-2BB7-426F-B041-B152D0A20C51}"/>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9B8C68DE-EA56-4519-9721-4D14853A9A8E}"/>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66EEF633-C022-4791-A046-6B887F5FDE9D}"/>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Median gain in target-over-distractor coordinate margin</a:t>
            </a:r>
          </a:p>
        </p:txBody>
      </p:sp>
      <p:sp>
        <p:nvSpPr>
          <p:cNvPr id="10" name="">
            <a:extLst xmlns:a="http://schemas.openxmlformats.org/drawingml/2006/main">
              <a:ext uri="{FF2B5EF4-FFF2-40B4-BE49-F238E27FC236}">
                <a16:creationId xmlns:a16="http://schemas.microsoft.com/office/drawing/2014/main" id="{E6C29FB7-D5F5-4AF3-93FB-EBAC68AABDDE}"/>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0F1EA6C2-A2CA-4CB0-BA78-1152A0BCDBB8}"/>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ZERO THE SAME STATE IN THE CLEAN RUN</a:t>
            </a:r>
          </a:p>
        </p:txBody>
      </p:sp>
      <p:sp>
        <p:nvSpPr>
          <p:cNvPr id="12" name="">
            <a:extLst xmlns:a="http://schemas.openxmlformats.org/drawingml/2006/main">
              <a:ext uri="{FF2B5EF4-FFF2-40B4-BE49-F238E27FC236}">
                <a16:creationId xmlns:a16="http://schemas.microsoft.com/office/drawing/2014/main" id="{0A3C5EC2-6D72-4156-AEA6-61DB1A26CCF8}"/>
              </a:ext>
            </a:extLst>
          </p:cNvPr>
          <p:cNvSpPr>
            <a:spLocks xmlns:a="http://schemas.openxmlformats.org/drawingml/2006/main" noGrp="1"/>
          </p:cNvSpPr>
          <p:nvPr/>
        </p:nvSpPr>
        <p:spPr>
          <a:xfrm xmlns:a="http://schemas.openxmlformats.org/drawingml/2006/main">
            <a:off x="628650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Holo  4.51 nats lost</a:t>
            </a:r>
          </a:p>
        </p:txBody>
      </p:sp>
      <p:sp>
        <p:nvSpPr>
          <p:cNvPr id="13" name="">
            <a:extLst xmlns:a="http://schemas.openxmlformats.org/drawingml/2006/main">
              <a:ext uri="{FF2B5EF4-FFF2-40B4-BE49-F238E27FC236}">
                <a16:creationId xmlns:a16="http://schemas.microsoft.com/office/drawing/2014/main" id="{CCB20F7F-B0B7-4AEE-BB98-B93DC987BEF9}"/>
              </a:ext>
            </a:extLst>
          </p:cNvPr>
          <p:cNvSpPr>
            <a:spLocks xmlns:a="http://schemas.openxmlformats.org/drawingml/2006/main" noGrp="1"/>
          </p:cNvSpPr>
          <p:nvPr/>
        </p:nvSpPr>
        <p:spPr>
          <a:xfrm xmlns:a="http://schemas.openxmlformats.org/drawingml/2006/main">
            <a:off x="88582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C2733"/>
                </a:solidFill>
                <a:latin typeface="Helvetica Neue"/>
                <a:ea typeface="Helvetica Neue"/>
                <a:cs typeface="Helvetica Neue"/>
              </a:defRPr>
            </a:pPr>
            <a:r>
              <a:rPr sz="1575" b="1">
                <a:solidFill>
                  <a:srgbClr val="1C2733"/>
                </a:solidFill>
                <a:latin typeface="Helvetica Neue"/>
                <a:ea typeface="Helvetica Neue"/>
                <a:cs typeface="Helvetica Neue"/>
              </a:rPr>
              <a:t>Qwen  6.27 nats lost</a:t>
            </a:r>
          </a:p>
        </p:txBody>
      </p:sp>
      <p:sp>
        <p:nvSpPr>
          <p:cNvPr id="14" name="">
            <a:extLst xmlns:a="http://schemas.openxmlformats.org/drawingml/2006/main">
              <a:ext uri="{FF2B5EF4-FFF2-40B4-BE49-F238E27FC236}">
                <a16:creationId xmlns:a16="http://schemas.microsoft.com/office/drawing/2014/main" id="{F4DF2256-970D-4255-85A5-CCA6FEB1642C}"/>
              </a:ext>
            </a:extLst>
          </p:cNvPr>
          <p:cNvSpPr>
            <a:spLocks xmlns:a="http://schemas.openxmlformats.org/drawingml/2006/main" noGrp="1"/>
          </p:cNvSpPr>
          <p:nvPr/>
        </p:nvSpPr>
        <p:spPr>
          <a:xfrm xmlns:a="http://schemas.openxmlformats.org/drawingml/2006/main">
            <a:off x="6286500" y="25717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Zero-ablation sets the Layer 15 coordinate residual to zero and measures the clean-margin drop</a:t>
            </a:r>
          </a:p>
        </p:txBody>
      </p:sp>
      <p:sp>
        <p:nvSpPr>
          <p:cNvPr id="15" name="">
            <a:extLst xmlns:a="http://schemas.openxmlformats.org/drawingml/2006/main">
              <a:ext uri="{FF2B5EF4-FFF2-40B4-BE49-F238E27FC236}">
                <a16:creationId xmlns:a16="http://schemas.microsoft.com/office/drawing/2014/main" id="{D1348604-7975-4A92-9104-DDC00F67B142}"/>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CB8FA8EC-6F84-4B13-96B4-2827680545B9}"/>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34786F24-BD82-42B3-952F-38F0B806CBB1}"/>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445E1F2-85C0-48AC-8D43-D7E73CDD1085}"/>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FAD21CA4-2242-450E-94F3-B794FFEF74A4}"/>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Reliable Holo restoration</a:t>
            </a:r>
          </a:p>
        </p:txBody>
      </p:sp>
      <p:sp>
        <p:nvSpPr>
          <p:cNvPr id="20" name="">
            <a:extLst xmlns:a="http://schemas.openxmlformats.org/drawingml/2006/main">
              <a:ext uri="{FF2B5EF4-FFF2-40B4-BE49-F238E27FC236}">
                <a16:creationId xmlns:a16="http://schemas.microsoft.com/office/drawing/2014/main" id="{1BE44E7F-4985-4D59-BABD-142D8D367561}"/>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Holo's clean Layer 15 state improves the corrupted margin in 7 of 8 prompts; the paired Holo-minus-Qwen median is +0.72 nats.</a:t>
            </a:r>
          </a:p>
        </p:txBody>
      </p:sp>
      <p:sp>
        <p:nvSpPr>
          <p:cNvPr id="21" name="">
            <a:extLst xmlns:a="http://schemas.openxmlformats.org/drawingml/2006/main">
              <a:ext uri="{FF2B5EF4-FFF2-40B4-BE49-F238E27FC236}">
                <a16:creationId xmlns:a16="http://schemas.microsoft.com/office/drawing/2014/main" id="{A4E2B7AF-3F1C-472C-8619-E25AB06B355B}"/>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856413ED-D8FF-4243-9A7B-CE7DB97BCC3F}"/>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4B0B039-5012-4E8A-9E65-D968F5545203}"/>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42F243F2-0806-4A99-921E-DF4BA6B4DC0E}"/>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AAAE2EB8-6873-494F-8238-7781F798265B}"/>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Zeroing the state harms both checkpoints. Holo gains recoverability after fine-tuning, but the underlying coordinate state is not unique to Holo.</a:t>
            </a:r>
          </a:p>
        </p:txBody>
      </p:sp>
      <p:sp>
        <p:nvSpPr>
          <p:cNvPr id="26" name="">
            <a:extLst xmlns:a="http://schemas.openxmlformats.org/drawingml/2006/main">
              <a:ext uri="{FF2B5EF4-FFF2-40B4-BE49-F238E27FC236}">
                <a16:creationId xmlns:a16="http://schemas.microsoft.com/office/drawing/2014/main" id="{F388E820-8A08-4839-9E0A-72F848BD500D}"/>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CC4D80E4-6094-4E15-AD05-F1C5C68F67D0}"/>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F8FD934-909A-41BA-9067-D17250C664AA}"/>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AFA869E9-C701-4B45-BCB6-ADCDC8543023}"/>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across heads</a:t>
            </a:r>
          </a:p>
        </p:txBody>
      </p:sp>
      <p:sp>
        <p:nvSpPr>
          <p:cNvPr id="30" name="">
            <a:extLst xmlns:a="http://schemas.openxmlformats.org/drawingml/2006/main">
              <a:ext uri="{FF2B5EF4-FFF2-40B4-BE49-F238E27FC236}">
                <a16:creationId xmlns:a16="http://schemas.microsoft.com/office/drawing/2014/main" id="{966AA082-65A5-4B77-B217-F33A253136ED}"/>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Holo head 1 restores +0.54 nats, while Qwen also uses it at +0.36; no single head explains the effect.</a:t>
            </a:r>
          </a:p>
        </p:txBody>
      </p:sp>
      <p:sp>
        <p:nvSpPr>
          <p:cNvPr id="31" name="">
            <a:extLst xmlns:a="http://schemas.openxmlformats.org/drawingml/2006/main">
              <a:ext uri="{FF2B5EF4-FFF2-40B4-BE49-F238E27FC236}">
                <a16:creationId xmlns:a16="http://schemas.microsoft.com/office/drawing/2014/main" id="{8AA82CCE-F487-45A7-84DF-22DBA624E231}"/>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E78AF97-B134-49CB-B299-434E3BAE1757}"/>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The causal gain sits in a distributed coordinate state, not in one specialized attention head.</a:t>
            </a:r>
          </a:p>
        </p:txBody>
      </p:sp>
      <p:sp>
        <p:nvSpPr>
          <p:cNvPr id="33" name="">
            <a:extLst xmlns:a="http://schemas.openxmlformats.org/drawingml/2006/main">
              <a:ext uri="{FF2B5EF4-FFF2-40B4-BE49-F238E27FC236}">
                <a16:creationId xmlns:a16="http://schemas.microsoft.com/office/drawing/2014/main" id="{7B024E88-9E5E-4667-93EB-81B9E868239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E1F9E44-5C56-43E6-A216-70F7BD8E835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Within-image causal panel · not an independent-image benchmark or a single-head circuit claim</a:t>
            </a:r>
          </a:p>
        </p:txBody>
      </p:sp>
    </p:spTree>
    <p:extLst>
      <p:ext uri="{BB962C8B-B14F-4D97-AF65-F5344CB8AC3E}">
        <p14:creationId xmlns:p14="http://schemas.microsoft.com/office/powerpoint/2010/main" val="911164419"/>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2BB9A65-619B-4E03-8960-65FE4A64E55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174A6565-493D-4072-9328-5A18A6B8146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Future research directions</a:t>
            </a:r>
          </a:p>
        </p:txBody>
      </p:sp>
      <p:sp>
        <p:nvSpPr>
          <p:cNvPr id="3" name="">
            <a:extLst xmlns:a="http://schemas.openxmlformats.org/drawingml/2006/main">
              <a:ext uri="{FF2B5EF4-FFF2-40B4-BE49-F238E27FC236}">
                <a16:creationId xmlns:a16="http://schemas.microsoft.com/office/drawing/2014/main" id="{A677254F-EEEE-4710-90A8-C7F7750F3B8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C110C122-3284-49B9-9492-E24550E5D382}"/>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1A6F754F-8B18-42DC-9385-96CCE4C80FC9}"/>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5FCCA2-1072-473B-8EBE-8F1309A92898}"/>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4367EC88-16B8-46A2-991B-467BD31BB14C}"/>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E8D3B04-42F9-4E15-9EAF-C86AE1941856}"/>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FULL RESOLUTION-ATTRIBUTION COHORT</a:t>
            </a:r>
          </a:p>
        </p:txBody>
      </p:sp>
      <p:sp>
        <p:nvSpPr>
          <p:cNvPr id="9" name="">
            <a:extLst xmlns:a="http://schemas.openxmlformats.org/drawingml/2006/main">
              <a:ext uri="{FF2B5EF4-FFF2-40B4-BE49-F238E27FC236}">
                <a16:creationId xmlns:a16="http://schemas.microsoft.com/office/drawing/2014/main" id="{C380BDE9-1E9B-468D-AF48-FFB1E70B5D2C}"/>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Scale the six-case pilot to all 36 frozen cases and estimate uncertainty for retained-versus-lost attribution gaps.</a:t>
            </a:r>
          </a:p>
        </p:txBody>
      </p:sp>
      <p:sp>
        <p:nvSpPr>
          <p:cNvPr id="10" name="">
            <a:extLst xmlns:a="http://schemas.openxmlformats.org/drawingml/2006/main">
              <a:ext uri="{FF2B5EF4-FFF2-40B4-BE49-F238E27FC236}">
                <a16:creationId xmlns:a16="http://schemas.microsoft.com/office/drawing/2014/main" id="{C200D09A-ED2E-410D-9CD8-CE317E921387}"/>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E647C433-F089-46EC-845D-E2CA03E3C641}"/>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9885887-5E77-48B3-9049-F3405827C345}"/>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BE9D28B4-F1B9-4154-9080-A06C15BF08A5}"/>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F1034F0-65E3-4ACC-B242-764E80C179F2}"/>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INDEPENDENT-IMAGE CAUSAL PANEL</a:t>
            </a:r>
          </a:p>
        </p:txBody>
      </p:sp>
      <p:sp>
        <p:nvSpPr>
          <p:cNvPr id="15" name="">
            <a:extLst xmlns:a="http://schemas.openxmlformats.org/drawingml/2006/main">
              <a:ext uri="{FF2B5EF4-FFF2-40B4-BE49-F238E27FC236}">
                <a16:creationId xmlns:a16="http://schemas.microsoft.com/office/drawing/2014/main" id="{B61501E7-6E86-47CF-9F97-53B037B3625C}"/>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matched visual corruptions across applications and layouts, then report paired restoration distributions by item.</a:t>
            </a:r>
          </a:p>
        </p:txBody>
      </p:sp>
      <p:sp>
        <p:nvSpPr>
          <p:cNvPr id="16" name="">
            <a:extLst xmlns:a="http://schemas.openxmlformats.org/drawingml/2006/main">
              <a:ext uri="{FF2B5EF4-FFF2-40B4-BE49-F238E27FC236}">
                <a16:creationId xmlns:a16="http://schemas.microsoft.com/office/drawing/2014/main" id="{A3CC9AC3-50D8-44B0-9048-38E3E5B4A735}"/>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6FE3A6FF-A58B-4367-8DD2-60E6916C4AAB}"/>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972AAE6-3532-431A-BE0C-A18E18E8C16F}"/>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BC6F2A26-7280-44C1-B35A-5F23F416CC08}"/>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3960804-4BC0-44A4-A281-1EB34ECE8873}"/>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4F69DD47-1686-48F0-A4BC-C0EAA3C1FD11}"/>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Remove, shuffle, and patch historical frames to separate context retrieval from final coordinate binding.</a:t>
            </a:r>
          </a:p>
        </p:txBody>
      </p:sp>
      <p:sp>
        <p:nvSpPr>
          <p:cNvPr id="22" name="">
            <a:extLst xmlns:a="http://schemas.openxmlformats.org/drawingml/2006/main">
              <a:ext uri="{FF2B5EF4-FFF2-40B4-BE49-F238E27FC236}">
                <a16:creationId xmlns:a16="http://schemas.microsoft.com/office/drawing/2014/main" id="{EE54DA23-CADB-4B08-A21C-2FEFA28230B9}"/>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1EB41F1B-E23D-4E45-A69B-9B50A2CEFDB2}"/>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B5EE286-203D-4CD1-AA83-6744C1CDD8E2}"/>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4949FC1C-24B9-4FDD-B7AE-B8DC71727923}"/>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6C1E963-9947-4272-B1AC-1BF6E5D89FBB}"/>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ACTION-READOUT TRAINING</a:t>
            </a:r>
          </a:p>
        </p:txBody>
      </p:sp>
      <p:sp>
        <p:nvSpPr>
          <p:cNvPr id="27" name="">
            <a:extLst xmlns:a="http://schemas.openxmlformats.org/drawingml/2006/main">
              <a:ext uri="{FF2B5EF4-FFF2-40B4-BE49-F238E27FC236}">
                <a16:creationId xmlns:a16="http://schemas.microsoft.com/office/drawing/2014/main" id="{6F517929-EE9E-455C-9353-EABC01AB589D}"/>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Target coordinate precision with oracle trajectories and verifiable environment reward while holding out a frozen diagnostic split.</a:t>
            </a:r>
          </a:p>
        </p:txBody>
      </p:sp>
      <p:sp>
        <p:nvSpPr>
          <p:cNvPr id="28" name="">
            <a:extLst xmlns:a="http://schemas.openxmlformats.org/drawingml/2006/main">
              <a:ext uri="{FF2B5EF4-FFF2-40B4-BE49-F238E27FC236}">
                <a16:creationId xmlns:a16="http://schemas.microsoft.com/office/drawing/2014/main" id="{2ED1D22E-BBB5-44D9-B8CD-C559A6B359A6}"/>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81EC48E-C7C0-4545-ACFE-2090B72D78BA}"/>
              </a:ext>
            </a:extLst>
          </p:cNvPr>
          <p:cNvSpPr>
            <a:spLocks xmlns:a="http://schemas.openxmlformats.org/drawingml/2006/main" noGrp="1"/>
          </p:cNvSpPr>
          <p:nvPr/>
        </p:nvSpPr>
        <p:spPr>
          <a:xfrm xmlns:a="http://schemas.openxmlformats.org/drawingml/2006/main">
            <a:off x="857250" y="54292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RESEARCH PRINCIPLE</a:t>
            </a:r>
          </a:p>
        </p:txBody>
      </p:sp>
      <p:sp>
        <p:nvSpPr>
          <p:cNvPr id="30" name="">
            <a:extLst xmlns:a="http://schemas.openxmlformats.org/drawingml/2006/main">
              <a:ext uri="{FF2B5EF4-FFF2-40B4-BE49-F238E27FC236}">
                <a16:creationId xmlns:a16="http://schemas.microsoft.com/office/drawing/2014/main" id="{9F23662B-317E-4BB9-AF2A-C20F3C48A283}"/>
              </a:ext>
            </a:extLst>
          </p:cNvPr>
          <p:cNvSpPr>
            <a:spLocks xmlns:a="http://schemas.openxmlformats.org/drawingml/2006/main" noGrp="1"/>
          </p:cNvSpPr>
          <p:nvPr/>
        </p:nvSpPr>
        <p:spPr>
          <a:xfrm xmlns:a="http://schemas.openxmlformats.org/drawingml/2006/main">
            <a:off x="2705100" y="5391150"/>
            <a:ext cx="828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Use attribution to choose causal tests, then evaluate interventions on held-out behavior</a:t>
            </a:r>
          </a:p>
        </p:txBody>
      </p:sp>
      <p:sp>
        <p:nvSpPr>
          <p:cNvPr id="31" name="">
            <a:extLst xmlns:a="http://schemas.openxmlformats.org/drawingml/2006/main">
              <a:ext uri="{FF2B5EF4-FFF2-40B4-BE49-F238E27FC236}">
                <a16:creationId xmlns:a16="http://schemas.microsoft.com/office/drawing/2014/main" id="{52B41A3C-7D80-4FD9-AA3B-1F63FD5A8321}"/>
              </a:ext>
            </a:extLst>
          </p:cNvPr>
          <p:cNvSpPr>
            <a:spLocks xmlns:a="http://schemas.openxmlformats.org/drawingml/2006/main" noGrp="1"/>
          </p:cNvSpPr>
          <p:nvPr/>
        </p:nvSpPr>
        <p:spPr>
          <a:xfrm xmlns:a="http://schemas.openxmlformats.org/drawingml/2006/main">
            <a:off x="2705100" y="5734050"/>
            <a:ext cx="828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Heatmaps guide hypotheses; task outcomes determine whether the model improved.</a:t>
            </a:r>
          </a:p>
        </p:txBody>
      </p:sp>
      <p:sp>
        <p:nvSpPr>
          <p:cNvPr id="32" name="">
            <a:extLst xmlns:a="http://schemas.openxmlformats.org/drawingml/2006/main">
              <a:ext uri="{FF2B5EF4-FFF2-40B4-BE49-F238E27FC236}">
                <a16:creationId xmlns:a16="http://schemas.microsoft.com/office/drawing/2014/main" id="{D30A3D48-7326-42EE-B573-23AE65E49B8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08C0A53-670C-4094-ADA9-254693FDA60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across items before making a population-level mechanism claim</a:t>
            </a:r>
          </a:p>
        </p:txBody>
      </p:sp>
    </p:spTree>
    <p:extLst>
      <p:ext uri="{BB962C8B-B14F-4D97-AF65-F5344CB8AC3E}">
        <p14:creationId xmlns:p14="http://schemas.microsoft.com/office/powerpoint/2010/main" val="472199411"/>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893DB80-2BB5-4259-8A71-873D5D98869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2F797FEC-CDAA-4474-8444-C244C7E4D7C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99"/>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The evidence points to visual resolution and coordinate readout</a:t>
            </a:r>
          </a:p>
        </p:txBody>
      </p:sp>
      <p:sp>
        <p:nvSpPr>
          <p:cNvPr id="3" name="">
            <a:extLst xmlns:a="http://schemas.openxmlformats.org/drawingml/2006/main">
              <a:ext uri="{FF2B5EF4-FFF2-40B4-BE49-F238E27FC236}">
                <a16:creationId xmlns:a16="http://schemas.microsoft.com/office/drawing/2014/main" id="{3EFF07AC-6D68-4BCA-9385-8E0F1774111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F71680BE-F31E-41C1-AD46-9CAAB9B7A32A}"/>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AF2251-23E8-4986-9EB1-21A5BCC6161D}"/>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02AC057-C647-4AFC-9C76-FA51B3931437}"/>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BB2A4046-D84C-46C4-9DF5-FC8428EEB132}"/>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pilot target mass falls 130× at quarter resolution.</a:t>
            </a:r>
          </a:p>
        </p:txBody>
      </p:sp>
      <p:sp>
        <p:nvSpPr>
          <p:cNvPr id="8" name="">
            <a:extLst xmlns:a="http://schemas.openxmlformats.org/drawingml/2006/main">
              <a:ext uri="{FF2B5EF4-FFF2-40B4-BE49-F238E27FC236}">
                <a16:creationId xmlns:a16="http://schemas.microsoft.com/office/drawing/2014/main" id="{3AEBC0FD-1BCB-45F4-9559-8279991F8C6C}"/>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2E5A1C4-120B-4490-A95F-975387B7DAD7}"/>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58EC38BC-8D9F-4C4E-9CAF-4A3872211788}"/>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3030E587-39D0-4152-9198-F1199357C333}"/>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 strict miss still places its task-specific peak inside the annotated target.</a:t>
            </a:r>
          </a:p>
        </p:txBody>
      </p:sp>
      <p:sp>
        <p:nvSpPr>
          <p:cNvPr id="12" name="">
            <a:extLst xmlns:a="http://schemas.openxmlformats.org/drawingml/2006/main">
              <a:ext uri="{FF2B5EF4-FFF2-40B4-BE49-F238E27FC236}">
                <a16:creationId xmlns:a16="http://schemas.microsoft.com/office/drawing/2014/main" id="{1234532B-2AF2-49CD-A720-C6456468288A}"/>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1A1D6E5-D9A8-4540-A095-EEB3D07F6A01}"/>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EECC4AB3-ECE5-4213-8E82-BE56333452CB}"/>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Context reaches later actions</a:t>
            </a:r>
          </a:p>
        </p:txBody>
      </p:sp>
      <p:sp>
        <p:nvSpPr>
          <p:cNvPr id="15" name="">
            <a:extLst xmlns:a="http://schemas.openxmlformats.org/drawingml/2006/main">
              <a:ext uri="{FF2B5EF4-FFF2-40B4-BE49-F238E27FC236}">
                <a16:creationId xmlns:a16="http://schemas.microsoft.com/office/drawing/2014/main" id="{1074E78E-F565-49D8-8F9D-7B2C3F91362F}"/>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successful hotel click draws value-weighted attention from all three retained frames.</a:t>
            </a:r>
          </a:p>
        </p:txBody>
      </p:sp>
      <p:sp>
        <p:nvSpPr>
          <p:cNvPr id="16" name="">
            <a:extLst xmlns:a="http://schemas.openxmlformats.org/drawingml/2006/main">
              <a:ext uri="{FF2B5EF4-FFF2-40B4-BE49-F238E27FC236}">
                <a16:creationId xmlns:a16="http://schemas.microsoft.com/office/drawing/2014/main" id="{158B9741-EB9C-4EB8-80E1-3E1A4668BA3A}"/>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064A762-E8D8-4842-B287-1FF2EDEC9D3C}"/>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358ECE92-B028-4DAC-84FB-1FD649349A65}"/>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A4C91B4-1448-44A2-9B08-8C717DB1B9A0}"/>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A84F6EEC-0EB1-4459-B091-514A151A267B}"/>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25C961A2-5B37-49B6-9D03-22CF04B0EAD2}"/>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F11F7150-7770-4F4E-BF03-42B29E970566}"/>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FB485D9-15BE-4CB6-B0DE-982C887BCC57}"/>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048F6C46-C9FB-4ED2-984F-E39A82D514E2}"/>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1DFAB7CE-5BC7-4DFB-A56B-CB7370841189}"/>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23D8A088-F774-424D-AD0A-5BC25CA32C4E}"/>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76E342D-F597-4C3B-99B8-A579CD1F5C28}"/>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96D6B729-91D7-4946-8DCB-B645CC242209}"/>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1C3DAFBF-8909-4E29-BB96-E065203785C8}"/>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25ACF66A-916B-4046-B428-D79AA487FD0E}"/>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F24FA37-74D9-43FA-9CF2-3DE31EF7870A}"/>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Current hypothesis: fine-tuning improves action-state formation more clearly than target-directed visual attention</a:t>
            </a:r>
          </a:p>
        </p:txBody>
      </p:sp>
      <p:sp>
        <p:nvSpPr>
          <p:cNvPr id="32" name="">
            <a:extLst xmlns:a="http://schemas.openxmlformats.org/drawingml/2006/main">
              <a:ext uri="{FF2B5EF4-FFF2-40B4-BE49-F238E27FC236}">
                <a16:creationId xmlns:a16="http://schemas.microsoft.com/office/drawing/2014/main" id="{78980F18-05DE-4DBD-8882-1133EF43BA7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36F7B49-49DE-47F4-8755-076A82A1945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Attention is descriptive; the eight-prompt intervention is causal within one image</a:t>
            </a:r>
          </a:p>
        </p:txBody>
      </p:sp>
    </p:spTree>
    <p:extLst>
      <p:ext uri="{BB962C8B-B14F-4D97-AF65-F5344CB8AC3E}">
        <p14:creationId xmlns:p14="http://schemas.microsoft.com/office/powerpoint/2010/main" val="298901623"/>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476F415-CA4D-4E86-9277-B9C9BD8D828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METHODS APPENDIX</a:t>
            </a:r>
          </a:p>
        </p:txBody>
      </p:sp>
      <p:sp>
        <p:nvSpPr>
          <p:cNvPr id="2" name="">
            <a:extLst xmlns:a="http://schemas.openxmlformats.org/drawingml/2006/main">
              <a:ext uri="{FF2B5EF4-FFF2-40B4-BE49-F238E27FC236}">
                <a16:creationId xmlns:a16="http://schemas.microsoft.com/office/drawing/2014/main" id="{D5CE21FE-0858-4677-8537-9E93B8D52E6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696544DA-5C83-4225-AEC3-F81E84656A1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271166E5-E96F-4A2D-A2C9-1D6EC355A658}"/>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6E6ABF6D-426D-43C9-BA4C-9066E6723A73}"/>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C6EF0D12-4C63-4240-8B3C-76B700126402}"/>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23F703-02B3-4402-BA89-5F699CBF0FB1}"/>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F18526CE-663B-4E56-BC62-3CE3EF53AA31}"/>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56C1F900-D1F6-4D52-8694-8395EBF78477}"/>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11A98EA-FAB7-4854-BDFB-9A12BF6D48BB}"/>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A58E0F24-6656-4ED1-A76E-48E68926C271}"/>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5A88BB65-66B5-45CC-957E-0F924BEA35FF}"/>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36C6B79A-5B98-4AC7-AE53-636D18324E23}"/>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75AE8DF-B4E5-4BAA-80AE-C079AD8E4910}"/>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93112975-11E0-4BC1-89B2-51B89C066EC9}"/>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AE1DD15E-BF70-44E3-B337-E6BEFD56A0A7}"/>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AD4BD04-6C3F-4DCB-938A-15B0A97AE48A}"/>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5D9E0F29-7195-4E9B-B45F-A50A77F9A0FD}"/>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F5401114-D80C-45D6-A214-4C1A95B9A2A7}"/>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91D7B60E-2474-4339-804C-A0B3BB866B49}"/>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5421712-4BB2-4FF3-BD9B-18BF1B9593D1}"/>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4807E77F-0176-4647-895C-51FD03C20E7F}"/>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0ABB0F8B-CFFB-480D-A30D-84A2D2F54730}"/>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A1BC693-D1D7-40AC-A303-11806D39B8B4}"/>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3320A382-B342-4B57-9470-F117CF1D8FB7}"/>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E84EBA60-9BE2-44AB-8F59-80C1EDAC082C}"/>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CA1B99D5-AF80-4417-BA63-96378749291D}"/>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78FA367-19A0-4979-AFEF-DA447F6B979B}"/>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771C55DD-C661-40FD-8B50-0796987DB16D}"/>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E5B0650C-AAF2-43A5-A35A-8A59E3940308}"/>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596F46AD-B214-44C0-B505-C7C5886D5202}"/>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4D11C66A-3E6B-4A6D-B8BF-8EA443B10D89}"/>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08FA2A8F-3668-40BE-9370-F393E3D0D23D}"/>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B884D25F-8090-4298-B58A-391346785F28}"/>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F0FC56F6-0B15-4DBE-B9EE-68C1AC8CA61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9573DA1-A6B5-45E3-9E84-861BEE24F41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1822052290"/>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D244BB-03B6-4AEA-8486-EE9BC99E644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2172CC21-03D4-4790-970C-E73360F7FD0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81EB2F0A-D8F3-4637-8389-ED45133E24A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2ADDD9DE-A4D9-4401-9771-A5D79FE763F2}"/>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1618A0F1-2E6E-4F32-99D3-0B3002C03C5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7202A2F-D3D1-43B7-BB30-AD4F1100754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20633932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2026-09-22T11:29:09.1420000Z</dcterms:created>
  <dcterms:modified xsi:type="dcterms:W3CDTF">2026-09-22T11:29:09.1420000Z</dcterms:modified>
</coreProperties>
</file>