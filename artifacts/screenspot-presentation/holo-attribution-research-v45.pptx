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67b0a3f65854d9d" /><Relationship Type="http://schemas.openxmlformats.org/officeDocument/2006/relationships/extended-properties" Target="/docProps/app.xml" Id="R244dd8ec17d1482b" /><Relationship Type="http://schemas.openxmlformats.org/officeDocument/2006/relationships/officeDocument" Target="/ppt/presentation.xml" Id="R2831654e8f9f4ffe" /></Relationships>
</file>

<file path=ppt/presentation.xml><?xml version="1.0" encoding="utf-8"?>
<p:presentation xmlns:p="http://schemas.openxmlformats.org/presentationml/2006/main">
  <p:sldMasterIdLst>
    <p:sldMasterId xmlns:r="http://schemas.openxmlformats.org/officeDocument/2006/relationships" id="2147483648" r:id="Reb3bfc4a25314a73"/>
  </p:sldMasterIdLst>
  <p:notesMasterIdLst>
    <p:notesMasterId xmlns:r="http://schemas.openxmlformats.org/officeDocument/2006/relationships" r:id="R4d04aa0bd8394df3"/>
  </p:notesMasterIdLst>
  <p:sldIdLst>
    <p:sldId xmlns:r="http://schemas.openxmlformats.org/officeDocument/2006/relationships" id="256" r:id="R515978ca9be44df5"/>
    <p:sldId xmlns:r="http://schemas.openxmlformats.org/officeDocument/2006/relationships" id="257" r:id="Ra4f36b341e234a7c"/>
    <p:sldId xmlns:r="http://schemas.openxmlformats.org/officeDocument/2006/relationships" id="258" r:id="R50b32005a4c04d97"/>
    <p:sldId xmlns:r="http://schemas.openxmlformats.org/officeDocument/2006/relationships" id="259" r:id="R21e1a17dfb124b2d"/>
    <p:sldId xmlns:r="http://schemas.openxmlformats.org/officeDocument/2006/relationships" id="260" r:id="R1c8411b5d3fd40a9"/>
    <p:sldId xmlns:r="http://schemas.openxmlformats.org/officeDocument/2006/relationships" id="261" r:id="R9fe41749413142b2"/>
    <p:sldId xmlns:r="http://schemas.openxmlformats.org/officeDocument/2006/relationships" id="262" r:id="Rf395ff3816b4441b"/>
    <p:sldId xmlns:r="http://schemas.openxmlformats.org/officeDocument/2006/relationships" id="263" r:id="R1e89be11c8e14836"/>
    <p:sldId xmlns:r="http://schemas.openxmlformats.org/officeDocument/2006/relationships" id="264" r:id="R910cf81691694e3b"/>
    <p:sldId xmlns:r="http://schemas.openxmlformats.org/officeDocument/2006/relationships" id="265" r:id="Red336fbda8aa4096"/>
    <p:sldId xmlns:r="http://schemas.openxmlformats.org/officeDocument/2006/relationships" id="266" r:id="Ra0a1939572454770"/>
    <p:sldId xmlns:r="http://schemas.openxmlformats.org/officeDocument/2006/relationships" id="267" r:id="R82f8e3a1d5c6489b"/>
    <p:sldId xmlns:r="http://schemas.openxmlformats.org/officeDocument/2006/relationships" id="268" r:id="R44b3a5255742468b"/>
    <p:sldId xmlns:r="http://schemas.openxmlformats.org/officeDocument/2006/relationships" id="269" r:id="R8f9a0214dff54ed8"/>
    <p:sldId xmlns:r="http://schemas.openxmlformats.org/officeDocument/2006/relationships" id="270" r:id="R7d5a3ea41ba541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8650c4d94741ab" /><Relationship Type="http://schemas.openxmlformats.org/officeDocument/2006/relationships/slideMaster" Target="/ppt/slideMasters/slideMaster1.xml" Id="Reb3bfc4a25314a73" /><Relationship Type="http://schemas.openxmlformats.org/officeDocument/2006/relationships/notesMaster" Target="/ppt/notesMasters/notesMaster1.xml" Id="R4d04aa0bd8394df3" /><Relationship Type="http://schemas.openxmlformats.org/officeDocument/2006/relationships/presProps" Target="/ppt/presProps.xml" Id="R2799099fdf96456c" /><Relationship Type="http://schemas.openxmlformats.org/officeDocument/2006/relationships/tableStyles" Target="/ppt/tableStyles.xml" Id="R817952b4383947ae" /><Relationship Type="http://schemas.openxmlformats.org/officeDocument/2006/relationships/slide" Target="/ppt/slides/slide1.xml" Id="R515978ca9be44df5" /><Relationship Type="http://schemas.openxmlformats.org/officeDocument/2006/relationships/slide" Target="/ppt/slides/slide2.xml" Id="Ra4f36b341e234a7c" /><Relationship Type="http://schemas.openxmlformats.org/officeDocument/2006/relationships/slide" Target="/ppt/slides/slide3.xml" Id="R50b32005a4c04d97" /><Relationship Type="http://schemas.openxmlformats.org/officeDocument/2006/relationships/slide" Target="/ppt/slides/slide4.xml" Id="R21e1a17dfb124b2d" /><Relationship Type="http://schemas.openxmlformats.org/officeDocument/2006/relationships/slide" Target="/ppt/slides/slide5.xml" Id="R1c8411b5d3fd40a9" /><Relationship Type="http://schemas.openxmlformats.org/officeDocument/2006/relationships/slide" Target="/ppt/slides/slide6.xml" Id="R9fe41749413142b2" /><Relationship Type="http://schemas.openxmlformats.org/officeDocument/2006/relationships/slide" Target="/ppt/slides/slide7.xml" Id="Rf395ff3816b4441b" /><Relationship Type="http://schemas.openxmlformats.org/officeDocument/2006/relationships/slide" Target="/ppt/slides/slide8.xml" Id="R1e89be11c8e14836" /><Relationship Type="http://schemas.openxmlformats.org/officeDocument/2006/relationships/slide" Target="/ppt/slides/slide9.xml" Id="R910cf81691694e3b" /><Relationship Type="http://schemas.openxmlformats.org/officeDocument/2006/relationships/slide" Target="/ppt/slides/slide10.xml" Id="Red336fbda8aa4096" /><Relationship Type="http://schemas.openxmlformats.org/officeDocument/2006/relationships/slide" Target="/ppt/slides/slide11.xml" Id="Ra0a1939572454770" /><Relationship Type="http://schemas.openxmlformats.org/officeDocument/2006/relationships/slide" Target="/ppt/slides/slide12.xml" Id="R82f8e3a1d5c6489b" /><Relationship Type="http://schemas.openxmlformats.org/officeDocument/2006/relationships/slide" Target="/ppt/slides/slide13.xml" Id="R44b3a5255742468b" /><Relationship Type="http://schemas.openxmlformats.org/officeDocument/2006/relationships/slide" Target="/ppt/slides/slide14.xml" Id="R8f9a0214dff54ed8" /><Relationship Type="http://schemas.openxmlformats.org/officeDocument/2006/relationships/slide" Target="/ppt/slides/slide15.xml" Id="R7d5a3ea41ba541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1e49ea9c8244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8213ce9fdf4175" /><Relationship Type="http://schemas.openxmlformats.org/officeDocument/2006/relationships/notesMaster" Target="/ppt/notesMasters/notesMaster1.xml" Id="R9a578ff91cbb42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c12640f3dd4e09" /><Relationship Type="http://schemas.openxmlformats.org/officeDocument/2006/relationships/notesMaster" Target="/ppt/notesMasters/notesMaster1.xml" Id="R990f96eea70847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19ebf8640b465f" /><Relationship Type="http://schemas.openxmlformats.org/officeDocument/2006/relationships/notesMaster" Target="/ppt/notesMasters/notesMaster1.xml" Id="Rec84e8ead2544f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550f190645400e" /><Relationship Type="http://schemas.openxmlformats.org/officeDocument/2006/relationships/notesMaster" Target="/ppt/notesMasters/notesMaster1.xml" Id="R309ac106e0ed44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c68ff21720414b" /><Relationship Type="http://schemas.openxmlformats.org/officeDocument/2006/relationships/notesMaster" Target="/ppt/notesMasters/notesMaster1.xml" Id="R487ac303c7274d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1eaf2d7d5d4bc0" /><Relationship Type="http://schemas.openxmlformats.org/officeDocument/2006/relationships/notesMaster" Target="/ppt/notesMasters/notesMaster1.xml" Id="R69ed3307909345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a2216014a34b81" /><Relationship Type="http://schemas.openxmlformats.org/officeDocument/2006/relationships/notesMaster" Target="/ppt/notesMasters/notesMaster1.xml" Id="R92ab7bd6a6384b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2af841d9194b9b" /><Relationship Type="http://schemas.openxmlformats.org/officeDocument/2006/relationships/notesMaster" Target="/ppt/notesMasters/notesMaster1.xml" Id="Re20478a388374e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311655a9e3464b" /><Relationship Type="http://schemas.openxmlformats.org/officeDocument/2006/relationships/notesMaster" Target="/ppt/notesMasters/notesMaster1.xml" Id="Rd272e560a47e401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f55c13b0384158" /><Relationship Type="http://schemas.openxmlformats.org/officeDocument/2006/relationships/notesMaster" Target="/ppt/notesMasters/notesMaster1.xml" Id="Rd8aa5b2cdbe64c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f725b60d8d4d88" /><Relationship Type="http://schemas.openxmlformats.org/officeDocument/2006/relationships/notesMaster" Target="/ppt/notesMasters/notesMaster1.xml" Id="R4cfd705be7ac42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eca0f5e0cb84ef7" /><Relationship Type="http://schemas.openxmlformats.org/officeDocument/2006/relationships/notesMaster" Target="/ppt/notesMasters/notesMaster1.xml" Id="R0b7de1c9af2f40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c2d26b40d7d4f29" /><Relationship Type="http://schemas.openxmlformats.org/officeDocument/2006/relationships/notesMaster" Target="/ppt/notesMasters/notesMaster1.xml" Id="Rd97d00382dfc4e8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d59ee22a76148d8" /><Relationship Type="http://schemas.openxmlformats.org/officeDocument/2006/relationships/notesMaster" Target="/ppt/notesMasters/notesMaster1.xml" Id="Refa4576d83ab433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131e467d2254a93" /><Relationship Type="http://schemas.openxmlformats.org/officeDocument/2006/relationships/notesMaster" Target="/ppt/notesMasters/notesMaster1.xml" Id="R7e8b20f5b11c4d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subject: how visual evidence reaches GUI actions, where resolution disrupts that route, and how fine-tuning changes the internal coordinate state.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Introduce two complementary capabilities rather than two failures. ScreenSpot-Pro isolates static UI localization from one screenshot and instruction. The hotel environment tests context retrieval across a sequence of screenshots and actions. The current official-tool free rollout succeeds: Holo scrolls three times, retains the three latest screenshots, selects Lumen Harbor Rooms at £122, and clicks its button. Sources: docs/screenspot-case-study.md and artifacts/screenspot-presentation/hotel-freegen-official-tools-v1/hotel-freegen-summary.json.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2:55–3:50 — This is a paired success-retention experiment, not a new unconditional ScreenSpot-Pro accuracy estimate. We froze 36 items that were strict hits in the full native-resolution run: six size-spread targets in each application-by-UI-type stratum across Photoshop, PowerPoint, and VS Code. Every item was rerun in one Holo model process at 100%, 75%, 50%, and 25% of its original width and height using Lanczos downsampling. The official localization prompt, VisualLocalizerOutput schema, temperature zero, thinking-disabled decoding, and normalized 0–1000 coordinates remain fixed. The server stays at image_max_pixels 16777216, so it cannot add a second hidden resize. The same-run native rerun is 36 of 36. Retention is 25 of 36 at 75%, 22 of 36 at 50%, and 4 of 36 at 25% linear resolution. Wilson 95% intervals are 53.1 to 82.0%, 44.9 to 75.2%, and 4.4 to 25.3%. At half resolution, text targets retain 15 of 18 clicks while icon targets retain 7 of 18. Retained targets have about 4.1 times the median normalized area of failures. All 144 completions are valid JSON. The cohort is selected on native success, so use this as evidence of resolution sensitivity, not as the benchmark's full accuracy curve. Sources: artifacts/screenspot-presentation/screenspot-resolution-ablation-v1.json, docs/screenspot-resolution-ablation.md, and benchmarks/resolution_ablation/screenspot_success_retention_v1.json.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3:50–4:30 — This expands the six-case pilot to 18 native-resolution successes, balanced at three cases in each application-by-UI-type stratum across Photoshop, PowerPoint, and VS Code. Each case runs at 100, 75, 50, and 25 percent linear resolution. At every scale, Holo receives the official localization prompt and VisualLocalizerOutput contract, then the eager-attention harness traces the freely generated coordinate tokens. The primary attribution is value-norm rollout after subtracting the mean of four visible same-image alternate instructions. Median target-specific mass falls from 5.22 percent at native resolution to 2.18, 1.16, and 0.21 percent as resolution decreases, a 24-fold cohort-level reduction at quarter resolution. The paired within-case median retains 6.23 percent of native target mass at quarter resolution, with a bootstrap 95 percent interval of 0.18 to 14.47 percent. Median target lift falls from 168.7 to 5.4, and median best-target-patch rank falls from first to 6.5. Strict hits fall from 18 of 18 to 12, 10, and 3 of 18. The Photoshop sequence above remains a single readable example from the original pilot. Localization loss explains most failures, but not all: 7 of 29 non-native misses still place the highest prompt-differential patch inside the oracle, including 3 of 8 misses at half resolution and 3 of 15 at quarter resolution. This repeatable dissociation motivates a separate coordinate-readout hypothesis. The cohort is conditioned on native success and remains a paired sensitivity diagnostic rather than an unconditional benchmark estimate. Sources: artifacts/screenspot-presentation/resolution-saliency-cohort18-v1/summary.json and docs/screenspot-resolution-saliency-cohort18.md.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4:30–5:30 — The left panel is the value-norm rollout for Holo's freely generated x/y coordinate tokens. It places 4.43% of its positive mass in the tiny oracle, a 110.7x lift. The right panel subtracts the mean of four separately measured same-image instructions: Cut, Copy, Send backward, and Add comment. That baseline raises the target-specific concentration to 18.58% and 464.4x lift, with minimum leave-one-control-out cosine 0.991. Both panels use the same native 2880x1800 screenshot, official localization prompt, Holo output (209,243), and x/y token aggregation. The comparison shows how a resting-state-like control removes generic image saliency. Neither map by itself proves a causal mechanism.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5:30–6:20 — This failure uses the same full-resolution official protocol and a four-instruction same-image baseline. Holo freely emits (124,73), projecting to (357.1,131.4) pixels. The x coordinate falls inside the annotated proofing-language control, while y lands 7.4 pixels below its bottom edge. After value-norm rollout and subtraction of Check accessibility, Translate, Add comment, and Show comments, the peak patch remains inside the oracle. The tiny box receives 17.15% of positive residual mass, a 278.6x lift, with a 0.951 leave-one-control-out floor. This pattern is consistent with localized visual evidence followed by imprecise coordinate extraction. Attention remains descriptive rather than causal.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6:20–7:20 — This is a genuine free Holo rollout. The run uses our revised hotel prompt and the exact HoloDesktop runtime 0.1.10 tool schema. Holo receives native 1024x720 screenshots under the official three-screenshot retention window, freely emits three scrolls, then clicks normalized (650,450). The projected pixel click (665,324) lands inside the fixture-defined button for Lumen Harbor Rooms at £122. Value-norm rollout for the generated y-coordinate tokens allocates 38.6%, 29.2%, and 32.2% of image mass across scroll offsets 500, 1000, and 1124. All three frames contribute and no single frame dominates. Do not call this a recency preference: the separate teacher-forced Qwen-to-Holo comparison uses a different run and attribution contrast. This slide supports cross-frame context retrieval, not a causal memory mechanism. Source: artifacts/screenspot-presentation/hotel-freegen-official-tools-v1/hotel-freegen-summary.json and data/remote-results/hotel-official-tools-native-20260922-rerun.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7:20–8:20 — Define the causal panel without phase labels. Four equal-size tile pairs produce eight mirrored instructions. The corruption swaps the target and distractor tiles without resizing or changing the prompt. Both checkpoints receive the Holo processor and official VisualLocalizerOutput request. The model is teacher-forced through equal-length coordinate candidates. The metric is the x-digit log-probability margin because the paired y coordinate stays fixed in this horizontal panel. First screen visual-region residuals and coordinate states across layers. Then test the selected Layer 15 coordinate state and all sixteen attention heads. Sources: benchmarks/activation_patching/qwen_holo_action_panel_v1 and benchmarks/activation_patching/qwen_holo_action_panel_v1_phase_b_layer15.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8:20–9:20 — Lead with the directly interpretable intervention. Replacing the corrupted-run Layer 15 x-coordinate residual with the clean-run state raises Holo's target-over-distractor margin by a median 1.01 nats, versus 0.10 for Qwen. Holo restoration is positive in seven of eight prompts, and the paired Holo-minus-Qwen median is +0.72 nats. Zero-ablation means setting that same coordinate residual to zero in the clean run; the median clean-margin drop is 4.51 nats for Holo and 6.27 for Qwen. Both models therefore rely on this state. Fine-tuning increases its recoverability rather than creating a Holo-exclusive necessity. The all-head sweep also rejects a single-head explanation: Holo head 1 restores 0.54 nats, but Qwen uses the same head at 0.36. Sources: data/remote-results/qwen-holo-action-panel-v1-20260922 and data/remote-results/qwen-holo-action-panel-v1-20260922-phase-b-layer15.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9:20–10:10 — Four directions follow directly from the evidence. First, complete the remaining 18 cases in the frozen resolution cohort and estimate the frequency of localization-versus-readout failures with tighter uncertainty. Second, repeat the causal panel across independent images and applications. Third, intervene on historical frames to test context retrieval causally. Fourth, train coordinate precision with oracle trajectories and verifiable environment reward while keeping a frozen diagnostic split. Attribution should select hypotheses and intervention sites; behavior remains the evaluation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10:10–11:10 — Close on the combined evidence. ScreenSpot replication shows that geometry and resolution strongly condition localization. Only four of 36 native-success clicks survive at quarter resolution, and the balanced 18-case attribution cohort finds a 24-fold drop in median target-specific mass. Most reduced-resolution misses also lose target localization, but 7 of 29 still place the highest task-specific patch inside the annotated target. Coordinate readout is therefore a repeatable minority failure mode, not a single anecdote. The successful hotel rollout shows that evidence from multiple retained frames reaches the final action. The causal panel adds a model-comparison result: Holo develops a more recoverable Layer 15 coordinate state than Qwen, but both models rely on the state and no single attention head explains it. The strongest current hypothesis is that fine-tuning improves action-state formation and coordinate extraction more clearly than it improves target-directed visual attention.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methods slide — Value-norm multiplies attention weights by the corresponding value-vector magnitude before normalization. Residual-aware rollout mixes each captured full-attention matrix with identity and composes the eight matrices in model order. We average only the generated x/y value-token maps. The raw map asks where the coordinate route goes. The diverse-instruction baseline subtracts four same-image alternate tasks and asks what remains specific to the target instruction. Target lift compares positive target mass with the target's share of image area. Hybrid Gated DeltaNet layers do not expose an equivalent square attention matrix and therefore sit outside this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8eff4a5f7d4c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2cf5521d2b4b8a" /><Relationship Type="http://schemas.openxmlformats.org/officeDocument/2006/relationships/slideLayout" Target="/ppt/slideLayouts/slideLayout1.xml" Id="R1c4265d12a7f44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4265d12a7f44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35ef5a9e1c4c30" /><Relationship Type="http://schemas.openxmlformats.org/officeDocument/2006/relationships/image" Target="/ppt/media/image.png" Id="R1261397a3cc84295" /><Relationship Type="http://schemas.openxmlformats.org/officeDocument/2006/relationships/notesSlide" Target="/ppt/notesSlides/notesSlide1.xml" Id="Rb6db69b463dc43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12158818784980" /><Relationship Type="http://schemas.openxmlformats.org/officeDocument/2006/relationships/notesSlide" Target="/ppt/notesSlides/notesSlide2.xml" Id="R78762fb741df46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1ec92f8b4bc4e82" /><Relationship Type="http://schemas.openxmlformats.org/officeDocument/2006/relationships/chart" Target="/ppt/slides/charts/chart1.xml" Id="R81fff33ddb3d404e" /><Relationship Type="http://schemas.openxmlformats.org/officeDocument/2006/relationships/notesSlide" Target="/ppt/notesSlides/notesSlide3.xml" Id="R3945b5c3383a4f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c2649e26f8c42f7" /><Relationship Type="http://schemas.openxmlformats.org/officeDocument/2006/relationships/chart" Target="/ppt/slides/charts/chart2.xml" Id="Rf9ff12fb7d1148a6" /><Relationship Type="http://schemas.openxmlformats.org/officeDocument/2006/relationships/notesSlide" Target="/ppt/notesSlides/notesSlide4.xml" Id="R7c05e71bf66c4a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a0a9163dbb846dd" /><Relationship Type="http://schemas.openxmlformats.org/officeDocument/2006/relationships/chart" Target="/ppt/slides/charts/chart3.xml" Id="R63abdf4672e543d1" /><Relationship Type="http://schemas.openxmlformats.org/officeDocument/2006/relationships/notesSlide" Target="/ppt/notesSlides/notesSlide5.xml" Id="R4886d52334e84d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cb36ccc9954a9b" /><Relationship Type="http://schemas.openxmlformats.org/officeDocument/2006/relationships/image" Target="/ppt/media/image2.png" Id="Rf2c81976872f4ab0" /><Relationship Type="http://schemas.openxmlformats.org/officeDocument/2006/relationships/image" Target="/ppt/media/image3.png" Id="R03ca6b308782493b" /><Relationship Type="http://schemas.openxmlformats.org/officeDocument/2006/relationships/image" Target="/ppt/media/image4.png" Id="Rbb9ba4a648bf46d7" /><Relationship Type="http://schemas.openxmlformats.org/officeDocument/2006/relationships/image" Target="/ppt/media/image5.png" Id="R5dfe6150c76241b3" /><Relationship Type="http://schemas.openxmlformats.org/officeDocument/2006/relationships/notesSlide" Target="/ppt/notesSlides/notesSlide6.xml" Id="Rd696edba11d94c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c1eb3f7aa5e426b" /><Relationship Type="http://schemas.openxmlformats.org/officeDocument/2006/relationships/image" Target="/ppt/media/image6.png" Id="Re77c783c71454ad5" /><Relationship Type="http://schemas.openxmlformats.org/officeDocument/2006/relationships/image" Target="/ppt/media/image7.png" Id="Rea0bcc55037645b1" /><Relationship Type="http://schemas.openxmlformats.org/officeDocument/2006/relationships/notesSlide" Target="/ppt/notesSlides/notesSlide7.xml" Id="R834aad3622fb48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373944206ae4aeb" /><Relationship Type="http://schemas.openxmlformats.org/officeDocument/2006/relationships/image" Target="/ppt/media/image8.png" Id="R32aab368c1c64eb4" /><Relationship Type="http://schemas.openxmlformats.org/officeDocument/2006/relationships/notesSlide" Target="/ppt/notesSlides/notesSlide8.xml" Id="R9a9db5f7a1324f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07bf90826b74836" /><Relationship Type="http://schemas.openxmlformats.org/officeDocument/2006/relationships/image" Target="/ppt/media/image9.png" Id="R402f27459fdd490a" /><Relationship Type="http://schemas.openxmlformats.org/officeDocument/2006/relationships/image" Target="/ppt/media/image10.png" Id="R1dcb2af4ec4c400a" /><Relationship Type="http://schemas.openxmlformats.org/officeDocument/2006/relationships/image" Target="/ppt/media/image11.png" Id="R65c4dbbffac94a11" /><Relationship Type="http://schemas.openxmlformats.org/officeDocument/2006/relationships/notesSlide" Target="/ppt/notesSlides/notesSlide9.xml" Id="R8a22209bf9b84b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e4ad266dcfa4dab" /><Relationship Type="http://schemas.openxmlformats.org/officeDocument/2006/relationships/image" Target="/ppt/media/image12.png" Id="Rfa5b323cc46d4c1f" /><Relationship Type="http://schemas.openxmlformats.org/officeDocument/2006/relationships/image" Target="/ppt/media/image13.png" Id="R3f0afdfe3aff442c" /><Relationship Type="http://schemas.openxmlformats.org/officeDocument/2006/relationships/notesSlide" Target="/ppt/notesSlides/notesSlide10.xml" Id="R6cba0524db244e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62fbf83cc8742f2" /><Relationship Type="http://schemas.openxmlformats.org/officeDocument/2006/relationships/notesSlide" Target="/ppt/notesSlides/notesSlide11.xml" Id="R33898355f7674b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0f589d832684a6e" /><Relationship Type="http://schemas.openxmlformats.org/officeDocument/2006/relationships/notesSlide" Target="/ppt/notesSlides/notesSlide12.xml" Id="R176e94d0c90e4d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7769cfb5a8b4a0e" /><Relationship Type="http://schemas.openxmlformats.org/officeDocument/2006/relationships/notesSlide" Target="/ppt/notesSlides/notesSlide13.xml" Id="R3e8838555c0f48d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19e333e3afa45cf" /><Relationship Type="http://schemas.openxmlformats.org/officeDocument/2006/relationships/notesSlide" Target="/ppt/notesSlides/notesSlide14.xml" Id="Redd7c0b63c6343c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c3624ba80b14a4c" /><Relationship Type="http://schemas.openxmlformats.org/officeDocument/2006/relationships/notesSlide" Target="/ppt/notesSlides/notesSlide15.xml" Id="R02b079236afd476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retention</c:v>
          </c:tx>
          <c:spPr>
            <a:solidFill xmlns:a="http://schemas.openxmlformats.org/drawingml/2006/main">
              <a:srgbClr val="2D84D3"/>
            </a:solidFill>
          </c:spPr>
          <c:cat>
            <c:strRef>
              <c:f>'Chart Data'!$A$2:$A$5</c:f>
              <c:strCache>
                <c:ptCount val="4"/>
                <c:pt idx="0">
                  <c:v>100%
100% area</c:v>
                </c:pt>
                <c:pt idx="1">
                  <c:v>75%
56% area</c:v>
                </c:pt>
                <c:pt idx="2">
                  <c:v>50%
25% area</c:v>
                </c:pt>
                <c:pt idx="3">
                  <c:v>25%
6.25% area</c:v>
                </c:pt>
              </c:strCache>
            </c:strRef>
          </c:cat>
          <c:val>
            <c:numRef>
              <c:f>'Chart Data'!$B$2:$B$5</c:f>
              <c:numCache>
                <c:formatCode>General</c:formatCode>
                <c:ptCount val="4"/>
                <c:pt idx="0">
                  <c:v>100</c:v>
                </c:pt>
                <c:pt idx="1">
                  <c:v>69.4</c:v>
                </c:pt>
                <c:pt idx="2">
                  <c:v>61.1</c:v>
                </c:pt>
                <c:pt idx="3">
                  <c:v>11.1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Linear resolution and retained source area</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Previously correct clicks retained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261397a3cc84295"/>
          <a:srcRect xmlns:a="http://schemas.openxmlformats.org/drawingml/2006/main" l="28000" t="8000" r="28000" b="8000"/>
          <a:stretch xmlns:a="http://schemas.openxmlformats.org/drawingml/2006/main"/>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A38C6F6-ECD6-4B37-AC8B-7FB77E238DB7}"/>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18E4EB-0735-433C-951D-D34F64C3BE61}"/>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449EFA-F48F-47D7-AD2C-BFA23170845B}"/>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D525C17-E497-4E1D-8C9C-71A12F9263BA}"/>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0B3C95E6-1107-4CF5-AA20-8C058EEE94D1}"/>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Visual evidence and</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GUI action formation</a:t>
            </a:r>
          </a:p>
        </p:txBody>
      </p:sp>
      <p:sp>
        <p:nvSpPr>
          <p:cNvPr id="7" name="">
            <a:extLst xmlns:a="http://schemas.openxmlformats.org/drawingml/2006/main">
              <a:ext uri="{FF2B5EF4-FFF2-40B4-BE49-F238E27FC236}">
                <a16:creationId xmlns:a16="http://schemas.microsoft.com/office/drawing/2014/main" id="{17BA9997-65A6-4F75-8A74-7746215A861F}"/>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3AA1B42E-8659-40E8-90DF-99C9CFFB892E}"/>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and NVIDIA traces · 22 Sep 2026</a:t>
            </a:r>
          </a:p>
        </p:txBody>
      </p:sp>
    </p:spTree>
    <p:extLst>
      <p:ext uri="{BB962C8B-B14F-4D97-AF65-F5344CB8AC3E}">
        <p14:creationId xmlns:p14="http://schemas.microsoft.com/office/powerpoint/2010/main" val="1292855980"/>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9B93F46-3A99-4B07-B8C2-1B9EFE6D809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2CBF14D2-A978-4FDA-8BC9-07667EF1D60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settings test complementary GUI capabilities</a:t>
            </a:r>
          </a:p>
        </p:txBody>
      </p:sp>
      <p:sp>
        <p:nvSpPr>
          <p:cNvPr id="3" name="">
            <a:extLst xmlns:a="http://schemas.openxmlformats.org/drawingml/2006/main">
              <a:ext uri="{FF2B5EF4-FFF2-40B4-BE49-F238E27FC236}">
                <a16:creationId xmlns:a16="http://schemas.microsoft.com/office/drawing/2014/main" id="{16D7AB38-9875-49B2-9AEE-8E227B17A75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5545EB46-61C6-4578-9364-07AD50DB8436}"/>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CD33A622-EF24-49E0-9311-5CEAACFC3D71}"/>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3396DDA-D7FF-4CF6-8364-FA150EE50B45}"/>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44CDBC64-A42D-47F2-9D86-C999E881C8A6}"/>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F40FC669-D3E8-495E-8EA6-0E755D427B7C}"/>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2E353464-99EF-44AA-B80B-69FD79DF503C}"/>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CAPABILITY</a:t>
            </a:r>
          </a:p>
        </p:txBody>
      </p:sp>
      <p:sp>
        <p:nvSpPr>
          <p:cNvPr id="10" name="">
            <a:extLst xmlns:a="http://schemas.openxmlformats.org/drawingml/2006/main">
              <a:ext uri="{FF2B5EF4-FFF2-40B4-BE49-F238E27FC236}">
                <a16:creationId xmlns:a16="http://schemas.microsoft.com/office/drawing/2014/main" id="{1C4E7FD1-D59A-4A92-93FE-FE67747564CF}"/>
              </a:ext>
            </a:extLst>
          </p:cNvPr>
          <p:cNvSpPr>
            <a:spLocks xmlns:a="http://schemas.openxmlformats.org/drawingml/2006/main" noGrp="1"/>
          </p:cNvSpPr>
          <p:nvPr/>
        </p:nvSpPr>
        <p:spPr>
          <a:xfrm xmlns:a="http://schemas.openxmlformats.org/drawingml/2006/main">
            <a:off x="857250" y="3409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151C"/>
                </a:solidFill>
                <a:latin typeface="Helvetica Neue"/>
                <a:ea typeface="Helvetica Neue"/>
                <a:cs typeface="Helvetica Neue"/>
              </a:defRPr>
            </a:pPr>
            <a:r>
              <a:rPr sz="1725" b="1">
                <a:solidFill>
                  <a:srgbClr val="10151C"/>
                </a:solidFill>
                <a:latin typeface="Helvetica Neue"/>
                <a:ea typeface="Helvetica Neue"/>
                <a:cs typeface="Helvetica Neue"/>
              </a:rPr>
              <a:t>UI localization</a:t>
            </a:r>
          </a:p>
        </p:txBody>
      </p:sp>
      <p:sp>
        <p:nvSpPr>
          <p:cNvPr id="11" name="">
            <a:extLst xmlns:a="http://schemas.openxmlformats.org/drawingml/2006/main">
              <a:ext uri="{FF2B5EF4-FFF2-40B4-BE49-F238E27FC236}">
                <a16:creationId xmlns:a16="http://schemas.microsoft.com/office/drawing/2014/main" id="{EC17FB66-D531-41CA-99E7-EDCCEF1A9057}"/>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79857D0-FD84-429F-B108-EB8CA067B122}"/>
              </a:ext>
            </a:extLst>
          </p:cNvPr>
          <p:cNvSpPr>
            <a:spLocks xmlns:a="http://schemas.openxmlformats.org/drawingml/2006/main" noGrp="1"/>
          </p:cNvSpPr>
          <p:nvPr/>
        </p:nvSpPr>
        <p:spPr>
          <a:xfrm xmlns:a="http://schemas.openxmlformats.org/drawingml/2006/main">
            <a:off x="857250" y="4267200"/>
            <a:ext cx="4400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17D"/>
                </a:solidFill>
                <a:latin typeface="Helvetica Neue"/>
                <a:ea typeface="Helvetica Neue"/>
                <a:cs typeface="Helvetica Neue"/>
              </a:defRPr>
            </a:pPr>
            <a:r>
              <a:rPr sz="1275" b="0">
                <a:solidFill>
                  <a:srgbClr val="66717D"/>
                </a:solidFill>
                <a:latin typeface="Helvetica Neue"/>
                <a:ea typeface="Helvetica Neue"/>
                <a:cs typeface="Helvetica Neue"/>
              </a:rPr>
              <a:t>Can the model map one instruction to the correct clickable region in a dense, high-resolution interface?</a:t>
            </a:r>
          </a:p>
        </p:txBody>
      </p:sp>
      <p:sp>
        <p:nvSpPr>
          <p:cNvPr id="13" name="">
            <a:extLst xmlns:a="http://schemas.openxmlformats.org/drawingml/2006/main">
              <a:ext uri="{FF2B5EF4-FFF2-40B4-BE49-F238E27FC236}">
                <a16:creationId xmlns:a16="http://schemas.microsoft.com/office/drawing/2014/main" id="{1023338A-1171-40C9-B06A-7DC14E8D7A32}"/>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F048514-7A13-455D-BFD3-D70F7A9CD13D}"/>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BF64A25-4164-411A-A0C2-67BE34E48067}"/>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6" name="">
            <a:extLst xmlns:a="http://schemas.openxmlformats.org/drawingml/2006/main">
              <a:ext uri="{FF2B5EF4-FFF2-40B4-BE49-F238E27FC236}">
                <a16:creationId xmlns:a16="http://schemas.microsoft.com/office/drawing/2014/main" id="{1F4F3375-E778-4101-8F9C-41F062DC8D8D}"/>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7" name="">
            <a:extLst xmlns:a="http://schemas.openxmlformats.org/drawingml/2006/main">
              <a:ext uri="{FF2B5EF4-FFF2-40B4-BE49-F238E27FC236}">
                <a16:creationId xmlns:a16="http://schemas.microsoft.com/office/drawing/2014/main" id="{5E5C860D-05E3-41FA-8B43-B63ECC3281CB}"/>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the three latest screenshots</a:t>
            </a:r>
          </a:p>
        </p:txBody>
      </p:sp>
      <p:sp>
        <p:nvSpPr>
          <p:cNvPr id="18" name="">
            <a:extLst xmlns:a="http://schemas.openxmlformats.org/drawingml/2006/main">
              <a:ext uri="{FF2B5EF4-FFF2-40B4-BE49-F238E27FC236}">
                <a16:creationId xmlns:a16="http://schemas.microsoft.com/office/drawing/2014/main" id="{4958425D-942D-4C3B-96D5-312AF2454CB9}"/>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95B185D-FE9F-4D46-AE96-1D9C9CF80585}"/>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D6A38B1B-2CA3-4EC0-81D8-CFFDC1C872F9}"/>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1" name="">
            <a:extLst xmlns:a="http://schemas.openxmlformats.org/drawingml/2006/main">
              <a:ext uri="{FF2B5EF4-FFF2-40B4-BE49-F238E27FC236}">
                <a16:creationId xmlns:a16="http://schemas.microsoft.com/office/drawing/2014/main" id="{63E201C5-0750-4F7C-8B33-DC28D0D7439C}"/>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2" name="">
            <a:extLst xmlns:a="http://schemas.openxmlformats.org/drawingml/2006/main">
              <a:ext uri="{FF2B5EF4-FFF2-40B4-BE49-F238E27FC236}">
                <a16:creationId xmlns:a16="http://schemas.microsoft.com/office/drawing/2014/main" id="{7BBE2F87-A5FB-465B-8F8E-8C392AA19774}"/>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E2982B6-881A-4CB6-87FC-B3839C12622E}"/>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4" name="">
            <a:extLst xmlns:a="http://schemas.openxmlformats.org/drawingml/2006/main">
              <a:ext uri="{FF2B5EF4-FFF2-40B4-BE49-F238E27FC236}">
                <a16:creationId xmlns:a16="http://schemas.microsoft.com/office/drawing/2014/main" id="{E787C4FB-F449-40D8-98E6-7BD3979EBC4B}"/>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5" name="">
            <a:extLst xmlns:a="http://schemas.openxmlformats.org/drawingml/2006/main">
              <a:ext uri="{FF2B5EF4-FFF2-40B4-BE49-F238E27FC236}">
                <a16:creationId xmlns:a16="http://schemas.microsoft.com/office/drawing/2014/main" id="{2E3DD0D9-BB85-439E-9756-20445515FBC7}"/>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6" name="">
            <a:extLst xmlns:a="http://schemas.openxmlformats.org/drawingml/2006/main">
              <a:ext uri="{FF2B5EF4-FFF2-40B4-BE49-F238E27FC236}">
                <a16:creationId xmlns:a16="http://schemas.microsoft.com/office/drawing/2014/main" id="{D92904CC-5CA0-4C8F-8A40-11AD9C30F7C4}"/>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297C28A-6F28-4D5A-88D8-E6F719D48121}"/>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28" name="">
            <a:extLst xmlns:a="http://schemas.openxmlformats.org/drawingml/2006/main">
              <a:ext uri="{FF2B5EF4-FFF2-40B4-BE49-F238E27FC236}">
                <a16:creationId xmlns:a16="http://schemas.microsoft.com/office/drawing/2014/main" id="{565AD1EC-6460-4A65-888E-51F7E57DAE43}"/>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9" name="">
            <a:extLst xmlns:a="http://schemas.openxmlformats.org/drawingml/2006/main">
              <a:ext uri="{FF2B5EF4-FFF2-40B4-BE49-F238E27FC236}">
                <a16:creationId xmlns:a16="http://schemas.microsoft.com/office/drawing/2014/main" id="{3F251563-D3E5-4227-917E-3D85BC86E716}"/>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0" name="">
            <a:extLst xmlns:a="http://schemas.openxmlformats.org/drawingml/2006/main">
              <a:ext uri="{FF2B5EF4-FFF2-40B4-BE49-F238E27FC236}">
                <a16:creationId xmlns:a16="http://schemas.microsoft.com/office/drawing/2014/main" id="{979368F2-2E47-40AA-B3EF-6B7C3FF0BE7D}"/>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16E9F38-0B0B-4219-8280-FC7256597476}"/>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2" name="">
            <a:extLst xmlns:a="http://schemas.openxmlformats.org/drawingml/2006/main">
              <a:ext uri="{FF2B5EF4-FFF2-40B4-BE49-F238E27FC236}">
                <a16:creationId xmlns:a16="http://schemas.microsoft.com/office/drawing/2014/main" id="{BEDA63E2-EB25-4451-8AB7-CBC6D7D4E40A}"/>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3" name="">
            <a:extLst xmlns:a="http://schemas.openxmlformats.org/drawingml/2006/main">
              <a:ext uri="{FF2B5EF4-FFF2-40B4-BE49-F238E27FC236}">
                <a16:creationId xmlns:a16="http://schemas.microsoft.com/office/drawing/2014/main" id="{D5F93B62-8629-49CB-B3B8-28DEB6283E8D}"/>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hit</a:t>
            </a:r>
          </a:p>
        </p:txBody>
      </p:sp>
      <p:sp>
        <p:nvSpPr>
          <p:cNvPr id="34" name="">
            <a:extLst xmlns:a="http://schemas.openxmlformats.org/drawingml/2006/main">
              <a:ext uri="{FF2B5EF4-FFF2-40B4-BE49-F238E27FC236}">
                <a16:creationId xmlns:a16="http://schemas.microsoft.com/office/drawing/2014/main" id="{073F99DA-0DBE-4D09-98F5-8A80F97A498B}"/>
              </a:ext>
            </a:extLst>
          </p:cNvPr>
          <p:cNvSpPr>
            <a:spLocks xmlns:a="http://schemas.openxmlformats.org/drawingml/2006/main" noGrp="1"/>
          </p:cNvSpPr>
          <p:nvPr/>
        </p:nvSpPr>
        <p:spPr>
          <a:xfrm xmlns:a="http://schemas.openxmlformats.org/drawingml/2006/main">
            <a:off x="6477000" y="52863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CAPABILITY</a:t>
            </a:r>
          </a:p>
        </p:txBody>
      </p:sp>
      <p:sp>
        <p:nvSpPr>
          <p:cNvPr id="35" name="">
            <a:extLst xmlns:a="http://schemas.openxmlformats.org/drawingml/2006/main">
              <a:ext uri="{FF2B5EF4-FFF2-40B4-BE49-F238E27FC236}">
                <a16:creationId xmlns:a16="http://schemas.microsoft.com/office/drawing/2014/main" id="{AD8D3BF3-0E73-476D-A2B4-BF002A46C393}"/>
              </a:ext>
            </a:extLst>
          </p:cNvPr>
          <p:cNvSpPr>
            <a:spLocks xmlns:a="http://schemas.openxmlformats.org/drawingml/2006/main" noGrp="1"/>
          </p:cNvSpPr>
          <p:nvPr/>
        </p:nvSpPr>
        <p:spPr>
          <a:xfrm xmlns:a="http://schemas.openxmlformats.org/drawingml/2006/main">
            <a:off x="7696200" y="524827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8FE0BF"/>
                </a:solidFill>
                <a:latin typeface="Helvetica Neue"/>
                <a:ea typeface="Helvetica Neue"/>
                <a:cs typeface="Helvetica Neue"/>
              </a:defRPr>
            </a:pPr>
            <a:r>
              <a:rPr sz="1350" b="1">
                <a:solidFill>
                  <a:srgbClr val="8FE0BF"/>
                </a:solidFill>
                <a:latin typeface="Helvetica Neue"/>
                <a:ea typeface="Helvetica Neue"/>
                <a:cs typeface="Helvetica Neue"/>
              </a:rPr>
              <a:t>Context retrieval across frames</a:t>
            </a:r>
          </a:p>
        </p:txBody>
      </p:sp>
      <p:sp>
        <p:nvSpPr>
          <p:cNvPr id="36" name="">
            <a:extLst xmlns:a="http://schemas.openxmlformats.org/drawingml/2006/main">
              <a:ext uri="{FF2B5EF4-FFF2-40B4-BE49-F238E27FC236}">
                <a16:creationId xmlns:a16="http://schemas.microsoft.com/office/drawing/2014/main" id="{25D9A08F-FC8D-4734-9CF6-2D6CBD672ED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13319F6-9EF7-4B21-8610-99CD5C448E1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Static evaluation isolates localization · the hotel environment tests whether earlier visual evidence reaches a later action</a:t>
            </a:r>
          </a:p>
        </p:txBody>
      </p:sp>
    </p:spTree>
    <p:extLst>
      <p:ext uri="{BB962C8B-B14F-4D97-AF65-F5344CB8AC3E}">
        <p14:creationId xmlns:p14="http://schemas.microsoft.com/office/powerpoint/2010/main" val="2092163773"/>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121B543-BE8B-4025-BE80-22A4ED3D8DD8}"/>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1C1ADF05-9A7A-442D-A4FE-9DD85F9F910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B6444B9B-0CAD-4CF8-B544-087496ADF7C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1F9D6208-2F07-4B8C-B80F-26396C55B7E6}"/>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A0DD20CE-EFC5-4EA6-A420-03DE70FCE6C5}"/>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0EE01707-FCDF-46F9-AFE1-79EE2D69CD46}"/>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94ADECBC-03AD-4971-A1D6-F917DC54A5A0}"/>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DF061472-F7A5-43B4-AF6E-819FAD61B5A7}"/>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EE5A32A0-19A4-4DA3-9B89-2C9449473651}"/>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110A3248-5445-4BB0-ADD7-489BE840E5FD}"/>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028161C-DCEC-4158-9C72-B2573746AE31}"/>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81fff33ddb3d404e"/>
          </a:graphicData>
        </a:graphic>
      </p:graphicFrame>
      <p:sp>
        <p:nvSpPr>
          <p:cNvPr id="13" name="">
            <a:extLst xmlns:a="http://schemas.openxmlformats.org/drawingml/2006/main">
              <a:ext uri="{FF2B5EF4-FFF2-40B4-BE49-F238E27FC236}">
                <a16:creationId xmlns:a16="http://schemas.microsoft.com/office/drawing/2014/main" id="{428FB8E1-2775-4667-8967-4C2D87B3F29E}"/>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698C3083-3ED4-4FC0-AFA3-53706F5176D8}"/>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3B56D5D3-B3BF-4802-A9E6-2A638B656E2E}"/>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B78F7FD-0B93-42F8-B38F-B4088B6F74B8}"/>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1D8E4FEE-8E78-4391-AF97-D7BEED7E9316}"/>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CADA3396-86ED-4C65-A4BD-F083547A1BCB}"/>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451E0752-C9AA-45EA-BE9E-3D7E6EE80D3B}"/>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14B46921-0B21-4044-86BA-8279D58B6DFB}"/>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7E3A1484-F16D-4C49-9216-F57947F19C3C}"/>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325F2405-8838-4D98-8411-CBD31F7631CD}"/>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AD0BBBF0-345A-4BBE-85B9-B5F3E98EE9D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BEB8BD8-988E-4BBF-A7E1-94DCBA0DA2B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389283148"/>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EAA69D9-7236-438C-BD27-AB7D9F28BBE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066E38D9-D4AE-477A-836D-B701C119E77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F731E18A-EA5E-42FB-ACC9-BAFF79BBFC7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E308DD50-9F7C-446B-821D-62D1E0C2F312}"/>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763228DA-474B-4DCA-ACAE-03E9FE914167}"/>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f9ff12fb7d1148a6"/>
          </a:graphicData>
        </a:graphic>
      </p:graphicFrame>
      <p:sp>
        <p:nvSpPr>
          <p:cNvPr id="7" name="">
            <a:extLst xmlns:a="http://schemas.openxmlformats.org/drawingml/2006/main">
              <a:ext uri="{FF2B5EF4-FFF2-40B4-BE49-F238E27FC236}">
                <a16:creationId xmlns:a16="http://schemas.microsoft.com/office/drawing/2014/main" id="{BE7E2A2D-042F-43BA-9A33-6B4857147826}"/>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EF0FA3A-0DF6-4273-959E-F4E66A61DD34}"/>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013E6D0D-E498-4B53-A1D7-34DB38C0B3A5}"/>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26024CCB-5489-4A60-AB3C-AEEB8190E849}"/>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6970AADF-09F5-47AD-8ED5-97E7A2578DC5}"/>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ABD5644-EE28-47EE-B30D-E1E80FEF9E23}"/>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09C74693-CD81-4C34-AFCB-42EA949C7CBD}"/>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A05E2186-6484-4F05-83AF-C88BC259527B}"/>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DECD6725-370D-4D94-BFCA-C68C73274058}"/>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1F2653EE-F0E2-4D5A-B6B2-17CC5613A255}"/>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95B2A23-3046-46F6-B7F9-08BD0AAF85B1}"/>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82378D0E-3AB8-4F96-B4DB-297F76D340A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A11A58A-78B1-43F8-B61B-55A87CAE20B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1397702768"/>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4C6A231-B244-4F8C-97A0-8A27C6901B38}"/>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ABLATION</a:t>
            </a:r>
          </a:p>
        </p:txBody>
      </p:sp>
      <p:sp>
        <p:nvSpPr>
          <p:cNvPr id="2" name="">
            <a:extLst xmlns:a="http://schemas.openxmlformats.org/drawingml/2006/main">
              <a:ext uri="{FF2B5EF4-FFF2-40B4-BE49-F238E27FC236}">
                <a16:creationId xmlns:a16="http://schemas.microsoft.com/office/drawing/2014/main" id="{DDD834C2-9E54-46B3-B17B-7149F7B89F3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Only 11% of native-success clicks survive at quarter resolution</a:t>
            </a:r>
          </a:p>
        </p:txBody>
      </p:sp>
      <p:sp>
        <p:nvSpPr>
          <p:cNvPr id="3" name="">
            <a:extLst xmlns:a="http://schemas.openxmlformats.org/drawingml/2006/main">
              <a:ext uri="{FF2B5EF4-FFF2-40B4-BE49-F238E27FC236}">
                <a16:creationId xmlns:a16="http://schemas.microsoft.com/office/drawing/2014/main" id="{B94E1791-D5B9-4F9E-9361-CD65809B0D4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E8C49C98-5AA7-40CE-B784-1B6B1BDE5304}"/>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Paired retention across 36 ScreenSpot-Pro items that Holo localizes correctly at native resolution</a:t>
            </a:r>
          </a:p>
        </p:txBody>
      </p:sp>
      <p:sp>
        <p:nvSpPr>
          <p:cNvPr id="5" name="">
            <a:extLst xmlns:a="http://schemas.openxmlformats.org/drawingml/2006/main">
              <a:ext uri="{FF2B5EF4-FFF2-40B4-BE49-F238E27FC236}">
                <a16:creationId xmlns:a16="http://schemas.microsoft.com/office/drawing/2014/main" id="{C89AD157-D2AB-4FC6-BFC2-9DF9C021C792}"/>
              </a:ext>
            </a:extLst>
          </p:cNvPr>
          <p:cNvSpPr>
            <a:spLocks xmlns:a="http://schemas.openxmlformats.org/drawingml/2006/main" noGrp="1"/>
          </p:cNvSpPr>
          <p:nvPr/>
        </p:nvSpPr>
        <p:spPr>
          <a:xfrm xmlns:a="http://schemas.openxmlformats.org/drawingml/2006/main">
            <a:off x="609600" y="15621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SUCCESS RETENTION UNDER CONTROLLED DOWNSAMPLING</a:t>
            </a:r>
          </a:p>
        </p:txBody>
      </p:sp>
      <p:graphicFrame>
        <p:nvGraphicFramePr>
          <p:cNvPr id="26"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63abdf4672e543d1"/>
          </a:graphicData>
        </a:graphic>
      </p:graphicFrame>
      <p:sp>
        <p:nvSpPr>
          <p:cNvPr id="7" name="">
            <a:extLst xmlns:a="http://schemas.openxmlformats.org/drawingml/2006/main">
              <a:ext uri="{FF2B5EF4-FFF2-40B4-BE49-F238E27FC236}">
                <a16:creationId xmlns:a16="http://schemas.microsoft.com/office/drawing/2014/main" id="{053783C4-DA13-44D4-8BCC-1C558B1E7008}"/>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8FF15A1-63BA-4933-A763-38DD6F80009E}"/>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QUARTER RESOLUTION</a:t>
            </a:r>
          </a:p>
        </p:txBody>
      </p:sp>
      <p:sp>
        <p:nvSpPr>
          <p:cNvPr id="9" name="">
            <a:extLst xmlns:a="http://schemas.openxmlformats.org/drawingml/2006/main">
              <a:ext uri="{FF2B5EF4-FFF2-40B4-BE49-F238E27FC236}">
                <a16:creationId xmlns:a16="http://schemas.microsoft.com/office/drawing/2014/main" id="{6108D04F-9DF6-42BC-9D07-A396E8D6CC97}"/>
              </a:ext>
            </a:extLst>
          </p:cNvPr>
          <p:cNvSpPr>
            <a:spLocks xmlns:a="http://schemas.openxmlformats.org/drawingml/2006/main" noGrp="1"/>
          </p:cNvSpPr>
          <p:nvPr/>
        </p:nvSpPr>
        <p:spPr>
          <a:xfrm xmlns:a="http://schemas.openxmlformats.org/drawingml/2006/main">
            <a:off x="9067800" y="21526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11.1%</a:t>
            </a:r>
          </a:p>
        </p:txBody>
      </p:sp>
      <p:sp>
        <p:nvSpPr>
          <p:cNvPr id="10" name="">
            <a:extLst xmlns:a="http://schemas.openxmlformats.org/drawingml/2006/main">
              <a:ext uri="{FF2B5EF4-FFF2-40B4-BE49-F238E27FC236}">
                <a16:creationId xmlns:a16="http://schemas.microsoft.com/office/drawing/2014/main" id="{4F011B47-DC43-4550-A37C-243D4295D442}"/>
              </a:ext>
            </a:extLst>
          </p:cNvPr>
          <p:cNvSpPr>
            <a:spLocks xmlns:a="http://schemas.openxmlformats.org/drawingml/2006/main" noGrp="1"/>
          </p:cNvSpPr>
          <p:nvPr/>
        </p:nvSpPr>
        <p:spPr>
          <a:xfrm xmlns:a="http://schemas.openxmlformats.org/drawingml/2006/main">
            <a:off x="9067800" y="278130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4/36 clicks survive</a:t>
            </a:r>
          </a:p>
        </p:txBody>
      </p:sp>
      <p:sp>
        <p:nvSpPr>
          <p:cNvPr id="11" name="">
            <a:extLst xmlns:a="http://schemas.openxmlformats.org/drawingml/2006/main">
              <a:ext uri="{FF2B5EF4-FFF2-40B4-BE49-F238E27FC236}">
                <a16:creationId xmlns:a16="http://schemas.microsoft.com/office/drawing/2014/main" id="{80D05D1E-0B6B-425A-8BF7-13DE5AD00965}"/>
              </a:ext>
            </a:extLst>
          </p:cNvPr>
          <p:cNvSpPr>
            <a:spLocks xmlns:a="http://schemas.openxmlformats.org/drawingml/2006/main" noGrp="1"/>
          </p:cNvSpPr>
          <p:nvPr/>
        </p:nvSpPr>
        <p:spPr>
          <a:xfrm xmlns:a="http://schemas.openxmlformats.org/drawingml/2006/main">
            <a:off x="9067800" y="30670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95% CI 4.4–25.3%</a:t>
            </a:r>
          </a:p>
        </p:txBody>
      </p:sp>
      <p:sp>
        <p:nvSpPr>
          <p:cNvPr id="12" name="">
            <a:extLst xmlns:a="http://schemas.openxmlformats.org/drawingml/2006/main">
              <a:ext uri="{FF2B5EF4-FFF2-40B4-BE49-F238E27FC236}">
                <a16:creationId xmlns:a16="http://schemas.microsoft.com/office/drawing/2014/main" id="{A31D9F27-BAC0-46DB-96D7-F445F6A40219}"/>
              </a:ext>
            </a:extLst>
          </p:cNvPr>
          <p:cNvSpPr>
            <a:spLocks xmlns:a="http://schemas.openxmlformats.org/drawingml/2006/main" noGrp="1"/>
          </p:cNvSpPr>
          <p:nvPr/>
        </p:nvSpPr>
        <p:spPr>
          <a:xfrm xmlns:a="http://schemas.openxmlformats.org/drawingml/2006/main">
            <a:off x="9067800" y="33718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FDCF8F2-9B4A-44E5-8B24-0712A34BC5D2}"/>
              </a:ext>
            </a:extLst>
          </p:cNvPr>
          <p:cNvSpPr>
            <a:spLocks xmlns:a="http://schemas.openxmlformats.org/drawingml/2006/main" noGrp="1"/>
          </p:cNvSpPr>
          <p:nvPr/>
        </p:nvSpPr>
        <p:spPr>
          <a:xfrm xmlns:a="http://schemas.openxmlformats.org/drawingml/2006/main">
            <a:off x="9067800" y="36004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AT HALF RESOLUTION</a:t>
            </a:r>
          </a:p>
        </p:txBody>
      </p:sp>
      <p:sp>
        <p:nvSpPr>
          <p:cNvPr id="14" name="">
            <a:extLst xmlns:a="http://schemas.openxmlformats.org/drawingml/2006/main">
              <a:ext uri="{FF2B5EF4-FFF2-40B4-BE49-F238E27FC236}">
                <a16:creationId xmlns:a16="http://schemas.microsoft.com/office/drawing/2014/main" id="{ABB55AE3-8473-4FD7-9EEF-9F76321D954F}"/>
              </a:ext>
            </a:extLst>
          </p:cNvPr>
          <p:cNvSpPr>
            <a:spLocks xmlns:a="http://schemas.openxmlformats.org/drawingml/2006/main" noGrp="1"/>
          </p:cNvSpPr>
          <p:nvPr/>
        </p:nvSpPr>
        <p:spPr>
          <a:xfrm xmlns:a="http://schemas.openxmlformats.org/drawingml/2006/main">
            <a:off x="9067800" y="39052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83.3%</a:t>
            </a:r>
          </a:p>
        </p:txBody>
      </p:sp>
      <p:sp>
        <p:nvSpPr>
          <p:cNvPr id="15" name="">
            <a:extLst xmlns:a="http://schemas.openxmlformats.org/drawingml/2006/main">
              <a:ext uri="{FF2B5EF4-FFF2-40B4-BE49-F238E27FC236}">
                <a16:creationId xmlns:a16="http://schemas.microsoft.com/office/drawing/2014/main" id="{4BD4C619-90D0-41F9-97A1-0905D61DFCB1}"/>
              </a:ext>
            </a:extLst>
          </p:cNvPr>
          <p:cNvSpPr>
            <a:spLocks xmlns:a="http://schemas.openxmlformats.org/drawingml/2006/main" noGrp="1"/>
          </p:cNvSpPr>
          <p:nvPr/>
        </p:nvSpPr>
        <p:spPr>
          <a:xfrm xmlns:a="http://schemas.openxmlformats.org/drawingml/2006/main">
            <a:off x="9067800" y="42672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Icon    38.9%</a:t>
            </a:r>
          </a:p>
        </p:txBody>
      </p:sp>
      <p:sp>
        <p:nvSpPr>
          <p:cNvPr id="16" name="">
            <a:extLst xmlns:a="http://schemas.openxmlformats.org/drawingml/2006/main">
              <a:ext uri="{FF2B5EF4-FFF2-40B4-BE49-F238E27FC236}">
                <a16:creationId xmlns:a16="http://schemas.microsoft.com/office/drawing/2014/main" id="{D054EC4C-0433-43EB-AED9-0F3C1D378A36}"/>
              </a:ext>
            </a:extLst>
          </p:cNvPr>
          <p:cNvSpPr>
            <a:spLocks xmlns:a="http://schemas.openxmlformats.org/drawingml/2006/main" noGrp="1"/>
          </p:cNvSpPr>
          <p:nvPr/>
        </p:nvSpPr>
        <p:spPr>
          <a:xfrm xmlns:a="http://schemas.openxmlformats.org/drawingml/2006/main">
            <a:off x="9067800" y="47434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Smaller icon targets lose more of their successful clicks.</a:t>
            </a:r>
          </a:p>
        </p:txBody>
      </p:sp>
      <p:sp>
        <p:nvSpPr>
          <p:cNvPr id="17" name="">
            <a:extLst xmlns:a="http://schemas.openxmlformats.org/drawingml/2006/main">
              <a:ext uri="{FF2B5EF4-FFF2-40B4-BE49-F238E27FC236}">
                <a16:creationId xmlns:a16="http://schemas.microsoft.com/office/drawing/2014/main" id="{5285E571-C96E-4D43-8A2F-F36EC0F371CA}"/>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95BB746-B6F4-4EF3-A002-5CC7E9598379}"/>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Reducing each dimension to 25% cuts retained area to 6.25% and success by 88.9 percentage points.</a:t>
            </a:r>
          </a:p>
        </p:txBody>
      </p:sp>
      <p:sp>
        <p:nvSpPr>
          <p:cNvPr id="19" name="">
            <a:extLst xmlns:a="http://schemas.openxmlformats.org/drawingml/2006/main">
              <a:ext uri="{FF2B5EF4-FFF2-40B4-BE49-F238E27FC236}">
                <a16:creationId xmlns:a16="http://schemas.microsoft.com/office/drawing/2014/main" id="{321FD0CC-13B1-4583-8C5C-F21081A8929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AB626AA-3210-437D-A085-5144E4CF183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 selected native successes · 144 deterministic requests · official prompt and normalized 0–1000 coordinates · all outputs valid JSON</a:t>
            </a:r>
          </a:p>
        </p:txBody>
      </p:sp>
    </p:spTree>
    <p:extLst>
      <p:ext uri="{BB962C8B-B14F-4D97-AF65-F5344CB8AC3E}">
        <p14:creationId xmlns:p14="http://schemas.microsoft.com/office/powerpoint/2010/main" val="1743304006"/>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3BF0687-C77E-48F4-BB85-2E799A235EF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AND SALIENCY</a:t>
            </a:r>
          </a:p>
        </p:txBody>
      </p:sp>
      <p:sp>
        <p:nvSpPr>
          <p:cNvPr id="2" name="">
            <a:extLst xmlns:a="http://schemas.openxmlformats.org/drawingml/2006/main">
              <a:ext uri="{FF2B5EF4-FFF2-40B4-BE49-F238E27FC236}">
                <a16:creationId xmlns:a16="http://schemas.microsoft.com/office/drawing/2014/main" id="{72FC9448-3798-4E36-A81D-086D907C460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09"/>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attribution weakens 24× at quarter resolution</a:t>
            </a:r>
          </a:p>
        </p:txBody>
      </p:sp>
      <p:sp>
        <p:nvSpPr>
          <p:cNvPr id="3" name="">
            <a:extLst xmlns:a="http://schemas.openxmlformats.org/drawingml/2006/main">
              <a:ext uri="{FF2B5EF4-FFF2-40B4-BE49-F238E27FC236}">
                <a16:creationId xmlns:a16="http://schemas.microsoft.com/office/drawing/2014/main" id="{2DE83BD6-DEA5-4D34-9117-737E91B5DCF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8D4D4DDB-6EC8-40ED-9B28-EC2550E85D1C}"/>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18 balanced native-success cases · value-norm rollout minus four same-image instruction controls</a:t>
            </a:r>
          </a:p>
        </p:txBody>
      </p:sp>
      <p:sp>
        <p:nvSpPr>
          <p:cNvPr id="5" name="">
            <a:extLst xmlns:a="http://schemas.openxmlformats.org/drawingml/2006/main">
              <a:ext uri="{FF2B5EF4-FFF2-40B4-BE49-F238E27FC236}">
                <a16:creationId xmlns:a16="http://schemas.microsoft.com/office/drawing/2014/main" id="{4AD83DCA-BF8D-4E13-8D82-4992D2FCEED0}"/>
              </a:ext>
            </a:extLst>
          </p:cNvPr>
          <p:cNvSpPr>
            <a:spLocks xmlns:a="http://schemas.openxmlformats.org/drawingml/2006/main" noGrp="1"/>
          </p:cNvSpPr>
          <p:nvPr/>
        </p:nvSpPr>
        <p:spPr>
          <a:xfrm xmlns:a="http://schemas.openxmlformats.org/drawingml/2006/main">
            <a:off x="6096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100%</a:t>
            </a:r>
          </a:p>
        </p:txBody>
      </p:sp>
      <p:sp>
        <p:nvSpPr>
          <p:cNvPr id="6" name="">
            <a:extLst xmlns:a="http://schemas.openxmlformats.org/drawingml/2006/main">
              <a:ext uri="{FF2B5EF4-FFF2-40B4-BE49-F238E27FC236}">
                <a16:creationId xmlns:a16="http://schemas.microsoft.com/office/drawing/2014/main" id="{F29808CA-258A-4124-A7AD-F88DD1EE628F}"/>
              </a:ext>
            </a:extLst>
          </p:cNvPr>
          <p:cNvSpPr>
            <a:spLocks xmlns:a="http://schemas.openxmlformats.org/drawingml/2006/main" noGrp="1"/>
          </p:cNvSpPr>
          <p:nvPr/>
        </p:nvSpPr>
        <p:spPr>
          <a:xfrm xmlns:a="http://schemas.openxmlformats.org/drawingml/2006/main">
            <a:off x="24193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f2c81976872f4ab0"/>
          <a:srcRect xmlns:a="http://schemas.openxmlformats.org/drawingml/2006/main" l="5331" t="0" r="5331" b="0"/>
          <a:stretch xmlns:a="http://schemas.openxmlformats.org/drawingml/2006/main">
            <a:fillRect l="0" t="0" r="0" b="0"/>
          </a:stretch>
        </p:blipFill>
        <p:spPr>
          <a:xfrm xmlns:a="http://schemas.openxmlformats.org/drawingml/2006/main">
            <a:off x="609600" y="1790700"/>
            <a:ext cx="2571750" cy="1619250"/>
          </a:xfrm>
          <a:prstGeom xmlns:a="http://schemas.openxmlformats.org/drawingml/2006/main" prst="roundRect">
            <a:avLst>
              <a:gd name="adj" fmla="val 7059"/>
            </a:avLst>
          </a:prstGeom>
        </p:spPr>
      </p:pic>
      <p:sp>
        <p:nvSpPr>
          <p:cNvPr id="8" name="">
            <a:extLst xmlns:a="http://schemas.openxmlformats.org/drawingml/2006/main">
              <a:ext uri="{FF2B5EF4-FFF2-40B4-BE49-F238E27FC236}">
                <a16:creationId xmlns:a16="http://schemas.microsoft.com/office/drawing/2014/main" id="{FE58C6E5-9B1E-48F0-855B-C00A745625A8}"/>
              </a:ext>
            </a:extLst>
          </p:cNvPr>
          <p:cNvSpPr>
            <a:spLocks xmlns:a="http://schemas.openxmlformats.org/drawingml/2006/main" noGrp="1"/>
          </p:cNvSpPr>
          <p:nvPr/>
        </p:nvSpPr>
        <p:spPr>
          <a:xfrm xmlns:a="http://schemas.openxmlformats.org/drawingml/2006/main">
            <a:off x="6096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922CD625-189E-40B6-94E9-9B92A3865E98}"/>
              </a:ext>
            </a:extLst>
          </p:cNvPr>
          <p:cNvSpPr>
            <a:spLocks xmlns:a="http://schemas.openxmlformats.org/drawingml/2006/main" noGrp="1"/>
          </p:cNvSpPr>
          <p:nvPr/>
        </p:nvSpPr>
        <p:spPr>
          <a:xfrm xmlns:a="http://schemas.openxmlformats.org/drawingml/2006/main">
            <a:off x="6096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9.6% target mass</a:t>
            </a:r>
          </a:p>
        </p:txBody>
      </p:sp>
      <p:sp>
        <p:nvSpPr>
          <p:cNvPr id="10" name="">
            <a:extLst xmlns:a="http://schemas.openxmlformats.org/drawingml/2006/main">
              <a:ext uri="{FF2B5EF4-FFF2-40B4-BE49-F238E27FC236}">
                <a16:creationId xmlns:a16="http://schemas.microsoft.com/office/drawing/2014/main" id="{4B1F126B-796A-4EE9-9C1A-C83399CA7F3E}"/>
              </a:ext>
            </a:extLst>
          </p:cNvPr>
          <p:cNvSpPr>
            <a:spLocks xmlns:a="http://schemas.openxmlformats.org/drawingml/2006/main" noGrp="1"/>
          </p:cNvSpPr>
          <p:nvPr/>
        </p:nvSpPr>
        <p:spPr>
          <a:xfrm xmlns:a="http://schemas.openxmlformats.org/drawingml/2006/main">
            <a:off x="33528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75%</a:t>
            </a:r>
          </a:p>
        </p:txBody>
      </p:sp>
      <p:sp>
        <p:nvSpPr>
          <p:cNvPr id="11" name="">
            <a:extLst xmlns:a="http://schemas.openxmlformats.org/drawingml/2006/main">
              <a:ext uri="{FF2B5EF4-FFF2-40B4-BE49-F238E27FC236}">
                <a16:creationId xmlns:a16="http://schemas.microsoft.com/office/drawing/2014/main" id="{4B8F7F65-A297-4FCD-9677-9DB4C890B0B5}"/>
              </a:ext>
            </a:extLst>
          </p:cNvPr>
          <p:cNvSpPr>
            <a:spLocks xmlns:a="http://schemas.openxmlformats.org/drawingml/2006/main" noGrp="1"/>
          </p:cNvSpPr>
          <p:nvPr/>
        </p:nvSpPr>
        <p:spPr>
          <a:xfrm xmlns:a="http://schemas.openxmlformats.org/drawingml/2006/main">
            <a:off x="51625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03ca6b308782493b"/>
          <a:srcRect xmlns:a="http://schemas.openxmlformats.org/drawingml/2006/main" l="5331" t="0" r="5331" b="0"/>
          <a:stretch xmlns:a="http://schemas.openxmlformats.org/drawingml/2006/main">
            <a:fillRect l="0" t="0" r="0" b="0"/>
          </a:stretch>
        </p:blipFill>
        <p:spPr>
          <a:xfrm xmlns:a="http://schemas.openxmlformats.org/drawingml/2006/main">
            <a:off x="3352800" y="1790700"/>
            <a:ext cx="2571750" cy="1619250"/>
          </a:xfrm>
          <a:prstGeom xmlns:a="http://schemas.openxmlformats.org/drawingml/2006/main" prst="roundRect">
            <a:avLst>
              <a:gd name="adj" fmla="val 7059"/>
            </a:avLst>
          </a:prstGeom>
        </p:spPr>
      </p:pic>
      <p:sp>
        <p:nvSpPr>
          <p:cNvPr id="13" name="">
            <a:extLst xmlns:a="http://schemas.openxmlformats.org/drawingml/2006/main">
              <a:ext uri="{FF2B5EF4-FFF2-40B4-BE49-F238E27FC236}">
                <a16:creationId xmlns:a16="http://schemas.microsoft.com/office/drawing/2014/main" id="{2BFEB169-9E60-4919-9F08-C9080C5AC84C}"/>
              </a:ext>
            </a:extLst>
          </p:cNvPr>
          <p:cNvSpPr>
            <a:spLocks xmlns:a="http://schemas.openxmlformats.org/drawingml/2006/main" noGrp="1"/>
          </p:cNvSpPr>
          <p:nvPr/>
        </p:nvSpPr>
        <p:spPr>
          <a:xfrm xmlns:a="http://schemas.openxmlformats.org/drawingml/2006/main">
            <a:off x="33528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2CE8ECCC-1F46-4DC2-BBAE-2E2AAE2906CE}"/>
              </a:ext>
            </a:extLst>
          </p:cNvPr>
          <p:cNvSpPr>
            <a:spLocks xmlns:a="http://schemas.openxmlformats.org/drawingml/2006/main" noGrp="1"/>
          </p:cNvSpPr>
          <p:nvPr/>
        </p:nvSpPr>
        <p:spPr>
          <a:xfrm xmlns:a="http://schemas.openxmlformats.org/drawingml/2006/main">
            <a:off x="33528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6.1% target mass</a:t>
            </a:r>
          </a:p>
        </p:txBody>
      </p:sp>
      <p:sp>
        <p:nvSpPr>
          <p:cNvPr id="15" name="">
            <a:extLst xmlns:a="http://schemas.openxmlformats.org/drawingml/2006/main">
              <a:ext uri="{FF2B5EF4-FFF2-40B4-BE49-F238E27FC236}">
                <a16:creationId xmlns:a16="http://schemas.microsoft.com/office/drawing/2014/main" id="{F7452869-BBEE-4179-8A04-407BBF9DC367}"/>
              </a:ext>
            </a:extLst>
          </p:cNvPr>
          <p:cNvSpPr>
            <a:spLocks xmlns:a="http://schemas.openxmlformats.org/drawingml/2006/main" noGrp="1"/>
          </p:cNvSpPr>
          <p:nvPr/>
        </p:nvSpPr>
        <p:spPr>
          <a:xfrm xmlns:a="http://schemas.openxmlformats.org/drawingml/2006/main">
            <a:off x="60960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50%</a:t>
            </a:r>
          </a:p>
        </p:txBody>
      </p:sp>
      <p:sp>
        <p:nvSpPr>
          <p:cNvPr id="16" name="">
            <a:extLst xmlns:a="http://schemas.openxmlformats.org/drawingml/2006/main">
              <a:ext uri="{FF2B5EF4-FFF2-40B4-BE49-F238E27FC236}">
                <a16:creationId xmlns:a16="http://schemas.microsoft.com/office/drawing/2014/main" id="{6E13713B-B334-4DE2-ABCB-6DB9995B9892}"/>
              </a:ext>
            </a:extLst>
          </p:cNvPr>
          <p:cNvSpPr>
            <a:spLocks xmlns:a="http://schemas.openxmlformats.org/drawingml/2006/main" noGrp="1"/>
          </p:cNvSpPr>
          <p:nvPr/>
        </p:nvSpPr>
        <p:spPr>
          <a:xfrm xmlns:a="http://schemas.openxmlformats.org/drawingml/2006/main">
            <a:off x="79057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bb9ba4a648bf46d7"/>
          <a:srcRect xmlns:a="http://schemas.openxmlformats.org/drawingml/2006/main" l="5331" t="0" r="5331" b="0"/>
          <a:stretch xmlns:a="http://schemas.openxmlformats.org/drawingml/2006/main">
            <a:fillRect l="0" t="0" r="0" b="0"/>
          </a:stretch>
        </p:blipFill>
        <p:spPr>
          <a:xfrm xmlns:a="http://schemas.openxmlformats.org/drawingml/2006/main">
            <a:off x="6096000" y="1790700"/>
            <a:ext cx="2571750" cy="1619250"/>
          </a:xfrm>
          <a:prstGeom xmlns:a="http://schemas.openxmlformats.org/drawingml/2006/main" prst="roundRect">
            <a:avLst>
              <a:gd name="adj" fmla="val 7059"/>
            </a:avLst>
          </a:prstGeom>
        </p:spPr>
      </p:pic>
      <p:sp>
        <p:nvSpPr>
          <p:cNvPr id="18" name="">
            <a:extLst xmlns:a="http://schemas.openxmlformats.org/drawingml/2006/main">
              <a:ext uri="{FF2B5EF4-FFF2-40B4-BE49-F238E27FC236}">
                <a16:creationId xmlns:a16="http://schemas.microsoft.com/office/drawing/2014/main" id="{900BBB56-34CD-49FF-BE22-FA7E71D99DDB}"/>
              </a:ext>
            </a:extLst>
          </p:cNvPr>
          <p:cNvSpPr>
            <a:spLocks xmlns:a="http://schemas.openxmlformats.org/drawingml/2006/main" noGrp="1"/>
          </p:cNvSpPr>
          <p:nvPr/>
        </p:nvSpPr>
        <p:spPr>
          <a:xfrm xmlns:a="http://schemas.openxmlformats.org/drawingml/2006/main">
            <a:off x="60960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2A8E10DE-3848-4577-8710-0765371604F2}"/>
              </a:ext>
            </a:extLst>
          </p:cNvPr>
          <p:cNvSpPr>
            <a:spLocks xmlns:a="http://schemas.openxmlformats.org/drawingml/2006/main" noGrp="1"/>
          </p:cNvSpPr>
          <p:nvPr/>
        </p:nvSpPr>
        <p:spPr>
          <a:xfrm xmlns:a="http://schemas.openxmlformats.org/drawingml/2006/main">
            <a:off x="60960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3.7% target mass</a:t>
            </a:r>
          </a:p>
        </p:txBody>
      </p:sp>
      <p:sp>
        <p:nvSpPr>
          <p:cNvPr id="20" name="">
            <a:extLst xmlns:a="http://schemas.openxmlformats.org/drawingml/2006/main">
              <a:ext uri="{FF2B5EF4-FFF2-40B4-BE49-F238E27FC236}">
                <a16:creationId xmlns:a16="http://schemas.microsoft.com/office/drawing/2014/main" id="{FCC5378E-8D87-4647-85E0-7B9AEB757702}"/>
              </a:ext>
            </a:extLst>
          </p:cNvPr>
          <p:cNvSpPr>
            <a:spLocks xmlns:a="http://schemas.openxmlformats.org/drawingml/2006/main" noGrp="1"/>
          </p:cNvSpPr>
          <p:nvPr/>
        </p:nvSpPr>
        <p:spPr>
          <a:xfrm xmlns:a="http://schemas.openxmlformats.org/drawingml/2006/main">
            <a:off x="88392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25%</a:t>
            </a:r>
          </a:p>
        </p:txBody>
      </p:sp>
      <p:sp>
        <p:nvSpPr>
          <p:cNvPr id="21" name="">
            <a:extLst xmlns:a="http://schemas.openxmlformats.org/drawingml/2006/main">
              <a:ext uri="{FF2B5EF4-FFF2-40B4-BE49-F238E27FC236}">
                <a16:creationId xmlns:a16="http://schemas.microsoft.com/office/drawing/2014/main" id="{DD6CB9E4-37F1-4671-A27E-ADAED07F59AF}"/>
              </a:ext>
            </a:extLst>
          </p:cNvPr>
          <p:cNvSpPr>
            <a:spLocks xmlns:a="http://schemas.openxmlformats.org/drawingml/2006/main" noGrp="1"/>
          </p:cNvSpPr>
          <p:nvPr/>
        </p:nvSpPr>
        <p:spPr>
          <a:xfrm xmlns:a="http://schemas.openxmlformats.org/drawingml/2006/main">
            <a:off x="106489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MISS</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5dfe6150c76241b3"/>
          <a:srcRect xmlns:a="http://schemas.openxmlformats.org/drawingml/2006/main" l="5331" t="0" r="5331" b="0"/>
          <a:stretch xmlns:a="http://schemas.openxmlformats.org/drawingml/2006/main">
            <a:fillRect l="0" t="0" r="0" b="0"/>
          </a:stretch>
        </p:blipFill>
        <p:spPr>
          <a:xfrm xmlns:a="http://schemas.openxmlformats.org/drawingml/2006/main">
            <a:off x="8839200" y="1790700"/>
            <a:ext cx="2571750" cy="1619250"/>
          </a:xfrm>
          <a:prstGeom xmlns:a="http://schemas.openxmlformats.org/drawingml/2006/main" prst="roundRect">
            <a:avLst>
              <a:gd name="adj" fmla="val 7059"/>
            </a:avLst>
          </a:prstGeom>
        </p:spPr>
      </p:pic>
      <p:sp>
        <p:nvSpPr>
          <p:cNvPr id="23" name="">
            <a:extLst xmlns:a="http://schemas.openxmlformats.org/drawingml/2006/main">
              <a:ext uri="{FF2B5EF4-FFF2-40B4-BE49-F238E27FC236}">
                <a16:creationId xmlns:a16="http://schemas.microsoft.com/office/drawing/2014/main" id="{ED3DFB8A-59C6-4913-91A8-66A90F530494}"/>
              </a:ext>
            </a:extLst>
          </p:cNvPr>
          <p:cNvSpPr>
            <a:spLocks xmlns:a="http://schemas.openxmlformats.org/drawingml/2006/main" noGrp="1"/>
          </p:cNvSpPr>
          <p:nvPr/>
        </p:nvSpPr>
        <p:spPr>
          <a:xfrm xmlns:a="http://schemas.openxmlformats.org/drawingml/2006/main">
            <a:off x="88392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F74FEB2C-3B10-494B-83C5-6F6C3C66D7E9}"/>
              </a:ext>
            </a:extLst>
          </p:cNvPr>
          <p:cNvSpPr>
            <a:spLocks xmlns:a="http://schemas.openxmlformats.org/drawingml/2006/main" noGrp="1"/>
          </p:cNvSpPr>
          <p:nvPr/>
        </p:nvSpPr>
        <p:spPr>
          <a:xfrm xmlns:a="http://schemas.openxmlformats.org/drawingml/2006/main">
            <a:off x="88392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1.3% target mass</a:t>
            </a:r>
          </a:p>
        </p:txBody>
      </p:sp>
      <p:sp>
        <p:nvSpPr>
          <p:cNvPr id="25" name="">
            <a:extLst xmlns:a="http://schemas.openxmlformats.org/drawingml/2006/main">
              <a:ext uri="{FF2B5EF4-FFF2-40B4-BE49-F238E27FC236}">
                <a16:creationId xmlns:a16="http://schemas.microsoft.com/office/drawing/2014/main" id="{239A7A25-D9DF-48FB-B96A-F5E5F8CF5CFB}"/>
              </a:ext>
            </a:extLst>
          </p:cNvPr>
          <p:cNvSpPr>
            <a:spLocks xmlns:a="http://schemas.openxmlformats.org/drawingml/2006/main" noGrp="1"/>
          </p:cNvSpPr>
          <p:nvPr/>
        </p:nvSpPr>
        <p:spPr>
          <a:xfrm xmlns:a="http://schemas.openxmlformats.org/drawingml/2006/main">
            <a:off x="609600" y="38862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BALANCED 18-CASE COHORT</a:t>
            </a:r>
          </a:p>
        </p:txBody>
      </p:sp>
      <p:graphicFrame>
        <p:nvGraphicFramePr>
          <p:cNvPr id="59" name=""/>
          <p:cNvGraphicFramePr/>
          <p:nvPr/>
        </p:nvGraphicFramePr>
        <p:xfrm>
          <a:off xmlns:a="http://schemas.openxmlformats.org/drawingml/2006/main" x="609600" y="4152900"/>
          <a:ext xmlns:a="http://schemas.openxmlformats.org/drawingml/2006/main" cx="6610350" cy="1866900"/>
        </p:xfrm>
        <a:graphic xmlns:a="http://schemas.openxmlformats.org/drawingml/2006/main">
          <a:graphicData uri="http://schemas.openxmlformats.org/drawingml/2006/table">
            <a:tbl>
              <a:tblPr/>
              <a:tblGrid>
                <a:gridCol w="1809750"/>
                <a:gridCol w="1200150"/>
                <a:gridCol w="1200150"/>
                <a:gridCol w="1200150"/>
                <a:gridCol w="1200150"/>
              </a:tblGrid>
              <a:tr h="373380">
                <a:tc>
                  <a:txBody>
                    <a:bodyPr>
                      <a:normAutofit/>
                    </a:bodyPr>
                    <a:lstStyle/>
                    <a:p>
                      <a:r>
                        <a:rPr sz="825" b="1">
                          <a:solidFill>
                            <a:srgbClr val="FFFFFF"/>
                          </a:solidFill>
                          <a:latin typeface="Helvetica Neue"/>
                          <a:ea typeface="Helvetica Neue"/>
                          <a:cs typeface="Helvetica Neue"/>
                        </a:rPr>
                        <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100%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75%</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50%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25%</a:t>
                      </a:r>
                    </a:p>
                  </a:txBody>
                  <a:tcPr marL="95250" marR="95250" marT="57150" marB="57150" anchor="ctr">
                    <a:solidFill>
                      <a:srgbClr val="1C2733"/>
                    </a:solidFill>
                  </a:tcPr>
                </a:tc>
              </a:tr>
              <a:tr h="373380">
                <a:tc>
                  <a:txBody>
                    <a:bodyPr>
                      <a:normAutofit/>
                    </a:bodyPr>
                    <a:lstStyle/>
                    <a:p>
                      <a:pPr algn="l"/>
                      <a:r>
                        <a:rPr sz="975" b="1">
                          <a:solidFill>
                            <a:srgbClr val="FFFFFF"/>
                          </a:solidFill>
                          <a:latin typeface="Helvetica Neue"/>
                          <a:ea typeface="Helvetica Neue"/>
                          <a:cs typeface="Helvetica Neue"/>
                        </a:rPr>
                        <a:t>Strict hits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18/18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10/18</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3/18</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mass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5.22%</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1.16%</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0.21%</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lift</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169×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79×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29×</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5.4×</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best-patch rank</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6.5</a:t>
                      </a:r>
                    </a:p>
                  </a:txBody>
                  <a:tcPr marL="95250" marR="95250" marT="57150" marB="57150" anchor="ctr">
                    <a:solidFill>
                      <a:srgbClr val="FCE2D9"/>
                    </a:solidFill>
                  </a:tcPr>
                </a:tc>
              </a:tr>
            </a:tbl>
          </a:graphicData>
        </a:graphic>
      </p:graphicFrame>
      <p:sp>
        <p:nvSpPr>
          <p:cNvPr id="27" name="">
            <a:extLst xmlns:a="http://schemas.openxmlformats.org/drawingml/2006/main">
              <a:ext uri="{FF2B5EF4-FFF2-40B4-BE49-F238E27FC236}">
                <a16:creationId xmlns:a16="http://schemas.microsoft.com/office/drawing/2014/main" id="{A462B882-B737-48B6-85B3-92C9AC95AE59}"/>
              </a:ext>
            </a:extLst>
          </p:cNvPr>
          <p:cNvSpPr>
            <a:spLocks xmlns:a="http://schemas.openxmlformats.org/drawingml/2006/main" noGrp="1"/>
          </p:cNvSpPr>
          <p:nvPr/>
        </p:nvSpPr>
        <p:spPr>
          <a:xfrm xmlns:a="http://schemas.openxmlformats.org/drawingml/2006/main">
            <a:off x="7524750" y="3886200"/>
            <a:ext cx="4057650" cy="2133600"/>
          </a:xfrm>
          <a:prstGeom xmlns:a="http://schemas.openxmlformats.org/drawingml/2006/main" prst="roundRect">
            <a:avLst>
              <a:gd name="adj" fmla="val 3571"/>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A585F79-6F98-47B3-BB68-339A8A675E16}"/>
              </a:ext>
            </a:extLst>
          </p:cNvPr>
          <p:cNvSpPr>
            <a:spLocks xmlns:a="http://schemas.openxmlformats.org/drawingml/2006/main" noGrp="1"/>
          </p:cNvSpPr>
          <p:nvPr/>
        </p:nvSpPr>
        <p:spPr>
          <a:xfrm xmlns:a="http://schemas.openxmlformats.org/drawingml/2006/main">
            <a:off x="7791450" y="4114800"/>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WHAT CHANGED</a:t>
            </a:r>
          </a:p>
        </p:txBody>
      </p:sp>
      <p:sp>
        <p:nvSpPr>
          <p:cNvPr id="29" name="">
            <a:extLst xmlns:a="http://schemas.openxmlformats.org/drawingml/2006/main">
              <a:ext uri="{FF2B5EF4-FFF2-40B4-BE49-F238E27FC236}">
                <a16:creationId xmlns:a16="http://schemas.microsoft.com/office/drawing/2014/main" id="{E2DD4659-986F-433F-9BE9-DDE222A3BD0A}"/>
              </a:ext>
            </a:extLst>
          </p:cNvPr>
          <p:cNvSpPr>
            <a:spLocks xmlns:a="http://schemas.openxmlformats.org/drawingml/2006/main" noGrp="1"/>
          </p:cNvSpPr>
          <p:nvPr/>
        </p:nvSpPr>
        <p:spPr>
          <a:xfrm xmlns:a="http://schemas.openxmlformats.org/drawingml/2006/main">
            <a:off x="7791450" y="4438650"/>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777"/>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Most lost clicks lose localization</a:t>
            </a:r>
          </a:p>
        </p:txBody>
      </p:sp>
      <p:sp>
        <p:nvSpPr>
          <p:cNvPr id="30" name="">
            <a:extLst xmlns:a="http://schemas.openxmlformats.org/drawingml/2006/main">
              <a:ext uri="{FF2B5EF4-FFF2-40B4-BE49-F238E27FC236}">
                <a16:creationId xmlns:a16="http://schemas.microsoft.com/office/drawing/2014/main" id="{46E4CD39-61DD-4F98-B699-B92784ACFA8B}"/>
              </a:ext>
            </a:extLst>
          </p:cNvPr>
          <p:cNvSpPr>
            <a:spLocks xmlns:a="http://schemas.openxmlformats.org/drawingml/2006/main" noGrp="1"/>
          </p:cNvSpPr>
          <p:nvPr/>
        </p:nvSpPr>
        <p:spPr>
          <a:xfrm xmlns:a="http://schemas.openxmlformats.org/drawingml/2006/main">
            <a:off x="7791450" y="501015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C4CED7"/>
                </a:solidFill>
                <a:latin typeface="Helvetica Neue"/>
                <a:ea typeface="Helvetica Neue"/>
                <a:cs typeface="Helvetica Neue"/>
              </a:defRPr>
            </a:pPr>
            <a:r>
              <a:rPr sz="1125" b="0">
                <a:solidFill>
                  <a:srgbClr val="C4CED7"/>
                </a:solidFill>
                <a:latin typeface="Helvetica Neue"/>
                <a:ea typeface="Helvetica Neue"/>
                <a:cs typeface="Helvetica Neue"/>
              </a:rPr>
              <a:t>At 25%, lost cases have 1.1× median target lift versus 12.0× for retained clicks.</a:t>
            </a:r>
          </a:p>
        </p:txBody>
      </p:sp>
      <p:sp>
        <p:nvSpPr>
          <p:cNvPr id="31" name="">
            <a:extLst xmlns:a="http://schemas.openxmlformats.org/drawingml/2006/main">
              <a:ext uri="{FF2B5EF4-FFF2-40B4-BE49-F238E27FC236}">
                <a16:creationId xmlns:a16="http://schemas.microsoft.com/office/drawing/2014/main" id="{79629A2F-C0E7-419B-93B7-42C745751CD2}"/>
              </a:ext>
            </a:extLst>
          </p:cNvPr>
          <p:cNvSpPr>
            <a:spLocks xmlns:a="http://schemas.openxmlformats.org/drawingml/2006/main" noGrp="1"/>
          </p:cNvSpPr>
          <p:nvPr/>
        </p:nvSpPr>
        <p:spPr>
          <a:xfrm xmlns:a="http://schemas.openxmlformats.org/drawingml/2006/main">
            <a:off x="7791450" y="55245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118"/>
          </a:bodyPr>
          <a:lstStyle xmlns:a="http://schemas.openxmlformats.org/drawingml/2006/main"/>
          <a:p xmlns:a="http://schemas.openxmlformats.org/drawingml/2006/main">
            <a:pPr algn="l">
              <a:defRPr sz="1050" b="1">
                <a:solidFill>
                  <a:srgbClr val="8FE0BF"/>
                </a:solidFill>
                <a:latin typeface="Helvetica Neue"/>
                <a:ea typeface="Helvetica Neue"/>
                <a:cs typeface="Helvetica Neue"/>
              </a:defRPr>
            </a:pPr>
            <a:r>
              <a:rPr sz="1050" b="1">
                <a:solidFill>
                  <a:srgbClr val="8FE0BF"/>
                </a:solidFill>
                <a:latin typeface="Helvetica Neue"/>
                <a:ea typeface="Helvetica Neue"/>
                <a:cs typeface="Helvetica Neue"/>
              </a:rPr>
              <a:t>Yet 7 of 29 non-native misses still rank the oracle patch first, exposing a repeatable coordinate-readout failure mode.</a:t>
            </a:r>
          </a:p>
        </p:txBody>
      </p:sp>
      <p:sp>
        <p:nvSpPr>
          <p:cNvPr id="32" name="">
            <a:extLst xmlns:a="http://schemas.openxmlformats.org/drawingml/2006/main">
              <a:ext uri="{FF2B5EF4-FFF2-40B4-BE49-F238E27FC236}">
                <a16:creationId xmlns:a16="http://schemas.microsoft.com/office/drawing/2014/main" id="{C28B951C-1676-49CA-A792-00204FEF1A24}"/>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EB1D224-73E2-4B27-BED6-027FDAD5CC4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360 deterministic requests · official localization prompt and 0–1000 contract · eager attention · n=18</a:t>
            </a:r>
          </a:p>
        </p:txBody>
      </p:sp>
    </p:spTree>
    <p:extLst>
      <p:ext uri="{BB962C8B-B14F-4D97-AF65-F5344CB8AC3E}">
        <p14:creationId xmlns:p14="http://schemas.microsoft.com/office/powerpoint/2010/main" val="1123059436"/>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18CC6ED-F14C-40E7-9FC4-11D4A219642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977ED2FA-DB83-47F3-B746-9655ED65401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Same action, different task-specific maps</a:t>
            </a:r>
          </a:p>
        </p:txBody>
      </p:sp>
      <p:sp>
        <p:nvSpPr>
          <p:cNvPr id="3" name="">
            <a:extLst xmlns:a="http://schemas.openxmlformats.org/drawingml/2006/main">
              <a:ext uri="{FF2B5EF4-FFF2-40B4-BE49-F238E27FC236}">
                <a16:creationId xmlns:a16="http://schemas.microsoft.com/office/drawing/2014/main" id="{20BD7564-3092-45D6-AE8A-AE7A9F44DDA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8C3262A9-9692-4929-BBA0-AF0B7C65CB31}"/>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904295F4-FEAD-4EB7-B352-BBAF04727C43}"/>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9D06256-1B0F-4BA8-9AAB-9F5808F1C6E2}"/>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7E05A776-49C0-4FBA-A138-3BDC99AC4092}"/>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VALUE-NORM ROLLOUT</a:t>
            </a:r>
          </a:p>
        </p:txBody>
      </p:sp>
      <p:sp>
        <p:nvSpPr>
          <p:cNvPr id="8" name="">
            <a:extLst xmlns:a="http://schemas.openxmlformats.org/drawingml/2006/main">
              <a:ext uri="{FF2B5EF4-FFF2-40B4-BE49-F238E27FC236}">
                <a16:creationId xmlns:a16="http://schemas.microsoft.com/office/drawing/2014/main" id="{E670F13E-A1C1-4E29-855F-4E5D45184A79}"/>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DIVERSE-INSTRUCTION SUBTRACTION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e77c783c71454ad5"/>
          <a:srcRect xmlns:a="http://schemas.openxmlformats.org/drawingml/2006/main" l="0" t="1625" r="0" b="1625"/>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C343898B-6FF7-4997-B45F-91EBD9956A3A}"/>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a0bcc55037645b1"/>
          <a:srcRect xmlns:a="http://schemas.openxmlformats.org/drawingml/2006/main" l="0" t="1625" r="0" b="1625"/>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84288627-E9E9-4A10-A610-C4DA4497E01E}"/>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29B51786-DC7D-4AF4-90AB-759022875681}"/>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1DEE695-C1FD-4B93-9C0F-E3B40A63D677}"/>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111× target lift</a:t>
            </a:r>
          </a:p>
        </p:txBody>
      </p:sp>
      <p:sp>
        <p:nvSpPr>
          <p:cNvPr id="15" name="">
            <a:extLst xmlns:a="http://schemas.openxmlformats.org/drawingml/2006/main">
              <a:ext uri="{FF2B5EF4-FFF2-40B4-BE49-F238E27FC236}">
                <a16:creationId xmlns:a16="http://schemas.microsoft.com/office/drawing/2014/main" id="{6010432B-C439-470A-BBC5-ABDFBFF9A555}"/>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4.4% of positive mass</a:t>
            </a:r>
          </a:p>
        </p:txBody>
      </p:sp>
      <p:sp>
        <p:nvSpPr>
          <p:cNvPr id="16" name="">
            <a:extLst xmlns:a="http://schemas.openxmlformats.org/drawingml/2006/main">
              <a:ext uri="{FF2B5EF4-FFF2-40B4-BE49-F238E27FC236}">
                <a16:creationId xmlns:a16="http://schemas.microsoft.com/office/drawing/2014/main" id="{094181B7-26C8-446F-80E9-D1F06A6C76BA}"/>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25B67AE-4C72-442D-B1DC-90E28879B322}"/>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A43C3E97-15C3-45DE-AC4C-77655579ADAC}"/>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18.6% · LOO ≥0.991</a:t>
            </a:r>
          </a:p>
        </p:txBody>
      </p:sp>
      <p:sp>
        <p:nvSpPr>
          <p:cNvPr id="19" name="">
            <a:extLst xmlns:a="http://schemas.openxmlformats.org/drawingml/2006/main">
              <a:ext uri="{FF2B5EF4-FFF2-40B4-BE49-F238E27FC236}">
                <a16:creationId xmlns:a16="http://schemas.microsoft.com/office/drawing/2014/main" id="{A8458B2F-89BF-43CF-B782-E4A6DEE9943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540C248-26D8-4802-9422-2214E9FC8FB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Same native screenshot, official prompt, generated click, coordinate tokens, and value-norm rollout · only the baseline changes</a:t>
            </a:r>
          </a:p>
        </p:txBody>
      </p:sp>
    </p:spTree>
    <p:extLst>
      <p:ext uri="{BB962C8B-B14F-4D97-AF65-F5344CB8AC3E}">
        <p14:creationId xmlns:p14="http://schemas.microsoft.com/office/powerpoint/2010/main" val="1435541472"/>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D69399F-93C8-4FF5-AB26-3DD7932EF33A}"/>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B9515347-8BC1-4638-A04F-80DE16DDA56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attention survives a 7.4-pixel click miss</a:t>
            </a:r>
          </a:p>
        </p:txBody>
      </p:sp>
      <p:sp>
        <p:nvSpPr>
          <p:cNvPr id="3" name="">
            <a:extLst xmlns:a="http://schemas.openxmlformats.org/drawingml/2006/main">
              <a:ext uri="{FF2B5EF4-FFF2-40B4-BE49-F238E27FC236}">
                <a16:creationId xmlns:a16="http://schemas.microsoft.com/office/drawing/2014/main" id="{EA73674F-AA79-40D8-91CF-59E8AACE364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B2E90D76-5149-408B-8FB0-A31D142FEC76}"/>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46AC3D3F-1179-469F-9A59-501A6266B5DD}"/>
              </a:ext>
            </a:extLst>
          </p:cNvPr>
          <p:cNvSpPr>
            <a:spLocks xmlns:a="http://schemas.openxmlformats.org/drawingml/2006/main" noGrp="1"/>
          </p:cNvSpPr>
          <p:nvPr/>
        </p:nvSpPr>
        <p:spPr>
          <a:xfrm xmlns:a="http://schemas.openxmlformats.org/drawingml/2006/main">
            <a:off x="7943850" y="1104900"/>
            <a:ext cx="36385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14BFB2A-469B-4022-94B7-68747BC9BCE2}"/>
              </a:ext>
            </a:extLst>
          </p:cNvPr>
          <p:cNvSpPr>
            <a:spLocks xmlns:a="http://schemas.openxmlformats.org/drawingml/2006/main" noGrp="1"/>
          </p:cNvSpPr>
          <p:nvPr/>
        </p:nvSpPr>
        <p:spPr>
          <a:xfrm xmlns:a="http://schemas.openxmlformats.org/drawingml/2006/main">
            <a:off x="8039100" y="1123950"/>
            <a:ext cx="3448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INSTRUCTIONS</a:t>
            </a:r>
          </a:p>
        </p:txBody>
      </p:sp>
      <p:sp>
        <p:nvSpPr>
          <p:cNvPr id="7" name="">
            <a:extLst xmlns:a="http://schemas.openxmlformats.org/drawingml/2006/main">
              <a:ext uri="{FF2B5EF4-FFF2-40B4-BE49-F238E27FC236}">
                <a16:creationId xmlns:a16="http://schemas.microsoft.com/office/drawing/2014/main" id="{3A2A6443-C311-47FA-9826-7C4E9613300D}"/>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32aab368c1c64eb4"/>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5CD910C1-1CD4-45B9-A48A-4F3B18E62C5C}"/>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5734CEE9-3955-4A75-BA6F-D6121D8D29AD}"/>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B641886-276C-4989-B004-D232065B4592}"/>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7253B48-C542-4D1F-9159-219AFDD7E05C}"/>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3FF81847-6359-48CA-B566-F18C8BD2F266}"/>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1A874A8E-DC33-4441-A4DD-19661C483250}"/>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583D8D4A-096F-4307-8AF4-06D5CAA2BEF5}"/>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2EEC57D-54ED-4AAE-8B63-D25BE1EC2D8D}"/>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20BB5E62-4131-46C1-8515-7CCD63D0AD55}"/>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246E92A5-F974-46E2-9387-26FB33066821}"/>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A5E79920-3530-4322-B17B-A16F9D5F5E40}"/>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6549063A-2B21-45C4-8A01-283BD602DA99}"/>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EB0037AB-6E24-43A8-A9A8-3442E409D470}"/>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0C4FFCB7-4B83-49FE-8FBB-A083481698A7}"/>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F3F4A275-CF9A-48D0-BCA1-0847FC07C9D1}"/>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7FDC87E7-174B-4F92-A7BC-0F0D48A6BB80}"/>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5" name="">
            <a:extLst xmlns:a="http://schemas.openxmlformats.org/drawingml/2006/main">
              <a:ext uri="{FF2B5EF4-FFF2-40B4-BE49-F238E27FC236}">
                <a16:creationId xmlns:a16="http://schemas.microsoft.com/office/drawing/2014/main" id="{D6FD30BE-45BF-4D52-96B9-D0C1F065D2F6}"/>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6" name="">
            <a:extLst xmlns:a="http://schemas.openxmlformats.org/drawingml/2006/main">
              <a:ext uri="{FF2B5EF4-FFF2-40B4-BE49-F238E27FC236}">
                <a16:creationId xmlns:a16="http://schemas.microsoft.com/office/drawing/2014/main" id="{902798F3-57A4-4F10-B1AB-8F2172D7BBA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CF6E6C3-6667-4558-B3F0-18C790D7330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72653862"/>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A6276761-EAA8-43FF-93E6-EC618DB9448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MULTI-TURN HOTEL ROLLOUT</a:t>
            </a:r>
          </a:p>
        </p:txBody>
      </p:sp>
      <p:sp>
        <p:nvSpPr>
          <p:cNvPr id="2" name="">
            <a:extLst xmlns:a="http://schemas.openxmlformats.org/drawingml/2006/main">
              <a:ext uri="{FF2B5EF4-FFF2-40B4-BE49-F238E27FC236}">
                <a16:creationId xmlns:a16="http://schemas.microsoft.com/office/drawing/2014/main" id="{59D27A42-FED7-41DD-B39F-A8E2BA2BDED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98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All three retained frames contribute to the correct final click</a:t>
            </a:r>
          </a:p>
        </p:txBody>
      </p:sp>
      <p:sp>
        <p:nvSpPr>
          <p:cNvPr id="3" name="">
            <a:extLst xmlns:a="http://schemas.openxmlformats.org/drawingml/2006/main">
              <a:ext uri="{FF2B5EF4-FFF2-40B4-BE49-F238E27FC236}">
                <a16:creationId xmlns:a16="http://schemas.microsoft.com/office/drawing/2014/main" id="{915CA6BF-6500-401B-A18D-94AD515FE1E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C0E963EC-1ED8-492B-9F80-CC358DB2B805}"/>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Native 1024×720, no teacher forcing, final y-coordinate value-norm rollout</a:t>
            </a:r>
          </a:p>
        </p:txBody>
      </p:sp>
      <p:sp>
        <p:nvSpPr>
          <p:cNvPr id="5" name="">
            <a:extLst xmlns:a="http://schemas.openxmlformats.org/drawingml/2006/main">
              <a:ext uri="{FF2B5EF4-FFF2-40B4-BE49-F238E27FC236}">
                <a16:creationId xmlns:a16="http://schemas.microsoft.com/office/drawing/2014/main" id="{C0F54E21-5578-4088-99F2-852A96A8F429}"/>
              </a:ext>
            </a:extLst>
          </p:cNvPr>
          <p:cNvSpPr>
            <a:spLocks xmlns:a="http://schemas.openxmlformats.org/drawingml/2006/main" noGrp="1"/>
          </p:cNvSpPr>
          <p:nvPr/>
        </p:nvSpPr>
        <p:spPr>
          <a:xfrm xmlns:a="http://schemas.openxmlformats.org/drawingml/2006/main">
            <a:off x="8858250" y="1095375"/>
            <a:ext cx="27241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DA197A5-C531-41A7-91C5-7B1BB56C13B1}"/>
              </a:ext>
            </a:extLst>
          </p:cNvPr>
          <p:cNvSpPr>
            <a:spLocks xmlns:a="http://schemas.openxmlformats.org/drawingml/2006/main" noGrp="1"/>
          </p:cNvSpPr>
          <p:nvPr/>
        </p:nvSpPr>
        <p:spPr>
          <a:xfrm xmlns:a="http://schemas.openxmlformats.org/drawingml/2006/main">
            <a:off x="8953500" y="1114425"/>
            <a:ext cx="2533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196"/>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ORANGE = MODEL CLICK, GREEN = ORACLE</a:t>
            </a:r>
          </a:p>
        </p:txBody>
      </p:sp>
      <p:sp>
        <p:nvSpPr>
          <p:cNvPr id="7" name="">
            <a:extLst xmlns:a="http://schemas.openxmlformats.org/drawingml/2006/main">
              <a:ext uri="{FF2B5EF4-FFF2-40B4-BE49-F238E27FC236}">
                <a16:creationId xmlns:a16="http://schemas.microsoft.com/office/drawing/2014/main" id="{4DA74249-EBF1-4C26-97E3-DAF51C9B67B9}"/>
              </a:ext>
            </a:extLst>
          </p:cNvPr>
          <p:cNvSpPr>
            <a:spLocks xmlns:a="http://schemas.openxmlformats.org/drawingml/2006/main" noGrp="1"/>
          </p:cNvSpPr>
          <p:nvPr/>
        </p:nvSpPr>
        <p:spPr>
          <a:xfrm xmlns:a="http://schemas.openxmlformats.org/drawingml/2006/main">
            <a:off x="6096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HISTORY 1, OFFSET 500</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402f27459fdd490a"/>
          <a:stretch xmlns:a="http://schemas.openxmlformats.org/drawingml/2006/main"/>
        </p:blipFill>
        <p:spPr>
          <a:xfrm xmlns:a="http://schemas.openxmlformats.org/drawingml/2006/main">
            <a:off x="644932" y="1714500"/>
            <a:ext cx="2215335" cy="43434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7AD8AD2-FEFE-4950-A51F-572A7BE7A9D1}"/>
              </a:ext>
            </a:extLst>
          </p:cNvPr>
          <p:cNvSpPr>
            <a:spLocks xmlns:a="http://schemas.openxmlformats.org/drawingml/2006/main" noGrp="1"/>
          </p:cNvSpPr>
          <p:nvPr/>
        </p:nvSpPr>
        <p:spPr>
          <a:xfrm xmlns:a="http://schemas.openxmlformats.org/drawingml/2006/main">
            <a:off x="6096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F66788D2-EF61-4613-9A16-4F8E9C359017}"/>
              </a:ext>
            </a:extLst>
          </p:cNvPr>
          <p:cNvSpPr>
            <a:spLocks xmlns:a="http://schemas.openxmlformats.org/drawingml/2006/main" noGrp="1"/>
          </p:cNvSpPr>
          <p:nvPr/>
        </p:nvSpPr>
        <p:spPr>
          <a:xfrm xmlns:a="http://schemas.openxmlformats.org/drawingml/2006/main">
            <a:off x="31242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HISTORY 2, OFFSET 1000</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1dcb2af4ec4c400a"/>
          <a:stretch xmlns:a="http://schemas.openxmlformats.org/drawingml/2006/main"/>
        </p:blipFill>
        <p:spPr>
          <a:xfrm xmlns:a="http://schemas.openxmlformats.org/drawingml/2006/main">
            <a:off x="3159532" y="1714500"/>
            <a:ext cx="2215335" cy="4343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631016A-E1B5-48F8-A421-6E55B3D2422F}"/>
              </a:ext>
            </a:extLst>
          </p:cNvPr>
          <p:cNvSpPr>
            <a:spLocks xmlns:a="http://schemas.openxmlformats.org/drawingml/2006/main" noGrp="1"/>
          </p:cNvSpPr>
          <p:nvPr/>
        </p:nvSpPr>
        <p:spPr>
          <a:xfrm xmlns:a="http://schemas.openxmlformats.org/drawingml/2006/main">
            <a:off x="31242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CADC67DD-A49D-46BA-8AD2-4475EFC024F3}"/>
              </a:ext>
            </a:extLst>
          </p:cNvPr>
          <p:cNvSpPr>
            <a:spLocks xmlns:a="http://schemas.openxmlformats.org/drawingml/2006/main" noGrp="1"/>
          </p:cNvSpPr>
          <p:nvPr/>
        </p:nvSpPr>
        <p:spPr>
          <a:xfrm xmlns:a="http://schemas.openxmlformats.org/drawingml/2006/main">
            <a:off x="56388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CURRENT, OFFSET 1124</a:t>
            </a:r>
          </a:p>
        </p:txBody>
      </p:sp>
      <p:sp>
        <p:nvSpPr>
          <p:cNvPr id="14" name="">
            <a:extLst xmlns:a="http://schemas.openxmlformats.org/drawingml/2006/main">
              <a:ext uri="{FF2B5EF4-FFF2-40B4-BE49-F238E27FC236}">
                <a16:creationId xmlns:a16="http://schemas.microsoft.com/office/drawing/2014/main" id="{761F62CD-99E4-4746-8CDF-09B8122E6FD1}"/>
              </a:ext>
            </a:extLst>
          </p:cNvPr>
          <p:cNvSpPr>
            <a:spLocks xmlns:a="http://schemas.openxmlformats.org/drawingml/2006/main" noGrp="1"/>
          </p:cNvSpPr>
          <p:nvPr/>
        </p:nvSpPr>
        <p:spPr>
          <a:xfrm xmlns:a="http://schemas.openxmlformats.org/drawingml/2006/main">
            <a:off x="5638800" y="1543050"/>
            <a:ext cx="2286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normalized (650,450), pixel (665,324)</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65c4dbbffac94a11"/>
          <a:stretch xmlns:a="http://schemas.openxmlformats.org/drawingml/2006/main"/>
        </p:blipFill>
        <p:spPr>
          <a:xfrm xmlns:a="http://schemas.openxmlformats.org/drawingml/2006/main">
            <a:off x="5674132" y="1714500"/>
            <a:ext cx="2215335" cy="4343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2418CF2C-DB79-42BA-A791-1A09589371D1}"/>
              </a:ext>
            </a:extLst>
          </p:cNvPr>
          <p:cNvSpPr>
            <a:spLocks xmlns:a="http://schemas.openxmlformats.org/drawingml/2006/main" noGrp="1"/>
          </p:cNvSpPr>
          <p:nvPr/>
        </p:nvSpPr>
        <p:spPr>
          <a:xfrm xmlns:a="http://schemas.openxmlformats.org/drawingml/2006/main">
            <a:off x="56388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22D8F955-53BB-4AB0-8725-C72696E8F603}"/>
              </a:ext>
            </a:extLst>
          </p:cNvPr>
          <p:cNvSpPr>
            <a:spLocks xmlns:a="http://schemas.openxmlformats.org/drawingml/2006/main" noGrp="1"/>
          </p:cNvSpPr>
          <p:nvPr/>
        </p:nvSpPr>
        <p:spPr>
          <a:xfrm xmlns:a="http://schemas.openxmlformats.org/drawingml/2006/main">
            <a:off x="6654250" y="3171251"/>
            <a:ext cx="751871" cy="389362"/>
          </a:xfrm>
          <a:prstGeom xmlns:a="http://schemas.openxmlformats.org/drawingml/2006/main" prst="roundRect">
            <a:avLst>
              <a:gd name="adj" fmla="val 19570"/>
            </a:avLst>
          </a:prstGeom>
          <a:noFill xmlns:a="http://schemas.openxmlformats.org/drawingml/2006/main"/>
          <a:ln xmlns:a="http://schemas.openxmlformats.org/drawingml/2006/main" w="9525">
            <a:solidFill>
              <a:srgbClr val="18A875"/>
            </a:solidFill>
          </a:ln>
        </p:spPr>
      </p:sp>
      <p:sp>
        <p:nvSpPr>
          <p:cNvPr id="18" name="">
            <a:extLst xmlns:a="http://schemas.openxmlformats.org/drawingml/2006/main">
              <a:ext uri="{FF2B5EF4-FFF2-40B4-BE49-F238E27FC236}">
                <a16:creationId xmlns:a16="http://schemas.microsoft.com/office/drawing/2014/main" id="{70F36603-3BE0-45E9-AB82-E250F37B21BA}"/>
              </a:ext>
            </a:extLst>
          </p:cNvPr>
          <p:cNvSpPr>
            <a:spLocks xmlns:a="http://schemas.openxmlformats.org/drawingml/2006/main" noGrp="1"/>
          </p:cNvSpPr>
          <p:nvPr/>
        </p:nvSpPr>
        <p:spPr>
          <a:xfrm xmlns:a="http://schemas.openxmlformats.org/drawingml/2006/main">
            <a:off x="7017216" y="3332823"/>
            <a:ext cx="133350" cy="133350"/>
          </a:xfrm>
          <a:prstGeom xmlns:a="http://schemas.openxmlformats.org/drawingml/2006/main" prst="ellipse">
            <a:avLst/>
          </a:prstGeom>
          <a:noFill xmlns:a="http://schemas.openxmlformats.org/drawingml/2006/main"/>
          <a:ln xmlns:a="http://schemas.openxmlformats.org/drawingml/2006/main" w="66675">
            <a:solidFill>
              <a:srgbClr val="F05A3C"/>
            </a:solidFill>
          </a:ln>
        </p:spPr>
      </p:sp>
      <p:sp>
        <p:nvSpPr>
          <p:cNvPr id="19" name="">
            <a:extLst xmlns:a="http://schemas.openxmlformats.org/drawingml/2006/main">
              <a:ext uri="{FF2B5EF4-FFF2-40B4-BE49-F238E27FC236}">
                <a16:creationId xmlns:a16="http://schemas.microsoft.com/office/drawing/2014/main" id="{DB068757-5B3E-47FB-B145-E4BE85C74B7F}"/>
              </a:ext>
            </a:extLst>
          </p:cNvPr>
          <p:cNvSpPr>
            <a:spLocks xmlns:a="http://schemas.openxmlformats.org/drawingml/2006/main" noGrp="1"/>
          </p:cNvSpPr>
          <p:nvPr/>
        </p:nvSpPr>
        <p:spPr>
          <a:xfrm xmlns:a="http://schemas.openxmlformats.org/drawingml/2006/main">
            <a:off x="7017216" y="3332823"/>
            <a:ext cx="133350" cy="13335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0" name="">
            <a:extLst xmlns:a="http://schemas.openxmlformats.org/drawingml/2006/main">
              <a:ext uri="{FF2B5EF4-FFF2-40B4-BE49-F238E27FC236}">
                <a16:creationId xmlns:a16="http://schemas.microsoft.com/office/drawing/2014/main" id="{772B55F9-B747-4C2B-8F43-60F130486CC7}"/>
              </a:ext>
            </a:extLst>
          </p:cNvPr>
          <p:cNvSpPr>
            <a:spLocks xmlns:a="http://schemas.openxmlformats.org/drawingml/2006/main" noGrp="1"/>
          </p:cNvSpPr>
          <p:nvPr/>
        </p:nvSpPr>
        <p:spPr>
          <a:xfrm xmlns:a="http://schemas.openxmlformats.org/drawingml/2006/main">
            <a:off x="6960066" y="3366160"/>
            <a:ext cx="247650" cy="66675"/>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D82C666-844D-4AB0-812D-A7B2B3CC6714}"/>
              </a:ext>
            </a:extLst>
          </p:cNvPr>
          <p:cNvSpPr>
            <a:spLocks xmlns:a="http://schemas.openxmlformats.org/drawingml/2006/main" noGrp="1"/>
          </p:cNvSpPr>
          <p:nvPr/>
        </p:nvSpPr>
        <p:spPr>
          <a:xfrm xmlns:a="http://schemas.openxmlformats.org/drawingml/2006/main">
            <a:off x="7050554" y="3275673"/>
            <a:ext cx="66675" cy="24765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64AFF9F-D9F8-402B-A308-B52CBFEC49C0}"/>
              </a:ext>
            </a:extLst>
          </p:cNvPr>
          <p:cNvSpPr>
            <a:spLocks xmlns:a="http://schemas.openxmlformats.org/drawingml/2006/main" noGrp="1"/>
          </p:cNvSpPr>
          <p:nvPr/>
        </p:nvSpPr>
        <p:spPr>
          <a:xfrm xmlns:a="http://schemas.openxmlformats.org/drawingml/2006/main">
            <a:off x="6960066" y="3385210"/>
            <a:ext cx="24765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07ABAD5-A1B0-492B-BA66-8F78F61EE45B}"/>
              </a:ext>
            </a:extLst>
          </p:cNvPr>
          <p:cNvSpPr>
            <a:spLocks xmlns:a="http://schemas.openxmlformats.org/drawingml/2006/main" noGrp="1"/>
          </p:cNvSpPr>
          <p:nvPr/>
        </p:nvSpPr>
        <p:spPr>
          <a:xfrm xmlns:a="http://schemas.openxmlformats.org/drawingml/2006/main">
            <a:off x="7069604" y="3275673"/>
            <a:ext cx="28575" cy="247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A3E34B7-90BD-44EF-A075-7ECB487F9518}"/>
              </a:ext>
            </a:extLst>
          </p:cNvPr>
          <p:cNvSpPr>
            <a:spLocks xmlns:a="http://schemas.openxmlformats.org/drawingml/2006/main" noGrp="1"/>
          </p:cNvSpPr>
          <p:nvPr/>
        </p:nvSpPr>
        <p:spPr>
          <a:xfrm xmlns:a="http://schemas.openxmlformats.org/drawingml/2006/main">
            <a:off x="8229600" y="1438275"/>
            <a:ext cx="3352800" cy="4619625"/>
          </a:xfrm>
          <a:prstGeom xmlns:a="http://schemas.openxmlformats.org/drawingml/2006/main" prst="roundRect">
            <a:avLst>
              <a:gd name="adj" fmla="val 2273"/>
            </a:avLst>
          </a:prstGeom>
          <a:solidFill xmlns:a="http://schemas.openxmlformats.org/drawingml/2006/main">
            <a:srgbClr val="1C273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F9B95DA-9F9C-40C3-AD95-F3676DBE7BBE}"/>
              </a:ext>
            </a:extLst>
          </p:cNvPr>
          <p:cNvSpPr>
            <a:spLocks xmlns:a="http://schemas.openxmlformats.org/drawingml/2006/main" noGrp="1"/>
          </p:cNvSpPr>
          <p:nvPr/>
        </p:nvSpPr>
        <p:spPr>
          <a:xfrm xmlns:a="http://schemas.openxmlformats.org/drawingml/2006/main">
            <a:off x="8477250" y="1657350"/>
            <a:ext cx="17907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E1FBAA5-AA39-4AB6-9934-97593AF88061}"/>
              </a:ext>
            </a:extLst>
          </p:cNvPr>
          <p:cNvSpPr>
            <a:spLocks xmlns:a="http://schemas.openxmlformats.org/drawingml/2006/main" noGrp="1"/>
          </p:cNvSpPr>
          <p:nvPr/>
        </p:nvSpPr>
        <p:spPr>
          <a:xfrm xmlns:a="http://schemas.openxmlformats.org/drawingml/2006/main">
            <a:off x="8572500" y="16764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FREE ROLLOUT SUCCESS</a:t>
            </a:r>
          </a:p>
        </p:txBody>
      </p:sp>
      <p:sp>
        <p:nvSpPr>
          <p:cNvPr id="27" name="">
            <a:extLst xmlns:a="http://schemas.openxmlformats.org/drawingml/2006/main">
              <a:ext uri="{FF2B5EF4-FFF2-40B4-BE49-F238E27FC236}">
                <a16:creationId xmlns:a16="http://schemas.microsoft.com/office/drawing/2014/main" id="{023E5653-68DE-4308-86DC-7C6B7A00B0AF}"/>
              </a:ext>
            </a:extLst>
          </p:cNvPr>
          <p:cNvSpPr>
            <a:spLocks xmlns:a="http://schemas.openxmlformats.org/drawingml/2006/main" noGrp="1"/>
          </p:cNvSpPr>
          <p:nvPr/>
        </p:nvSpPr>
        <p:spPr>
          <a:xfrm xmlns:a="http://schemas.openxmlformats.org/drawingml/2006/main">
            <a:off x="8477250" y="209550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SELECTED HOTEL = ORACLE</a:t>
            </a:r>
          </a:p>
        </p:txBody>
      </p:sp>
      <p:sp>
        <p:nvSpPr>
          <p:cNvPr id="28" name="">
            <a:extLst xmlns:a="http://schemas.openxmlformats.org/drawingml/2006/main">
              <a:ext uri="{FF2B5EF4-FFF2-40B4-BE49-F238E27FC236}">
                <a16:creationId xmlns:a16="http://schemas.microsoft.com/office/drawing/2014/main" id="{5FC20C23-9D85-4DE1-AF6E-6ED66CF7A3CC}"/>
              </a:ext>
            </a:extLst>
          </p:cNvPr>
          <p:cNvSpPr>
            <a:spLocks xmlns:a="http://schemas.openxmlformats.org/drawingml/2006/main" noGrp="1"/>
          </p:cNvSpPr>
          <p:nvPr/>
        </p:nvSpPr>
        <p:spPr>
          <a:xfrm xmlns:a="http://schemas.openxmlformats.org/drawingml/2006/main">
            <a:off x="8477250" y="2295525"/>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Lumen Harbor Rooms</a:t>
            </a:r>
          </a:p>
        </p:txBody>
      </p:sp>
      <p:sp>
        <p:nvSpPr>
          <p:cNvPr id="29" name="">
            <a:extLst xmlns:a="http://schemas.openxmlformats.org/drawingml/2006/main">
              <a:ext uri="{FF2B5EF4-FFF2-40B4-BE49-F238E27FC236}">
                <a16:creationId xmlns:a16="http://schemas.microsoft.com/office/drawing/2014/main" id="{B4F50BC2-9DA6-4FAE-9201-47CC4310A8F8}"/>
              </a:ext>
            </a:extLst>
          </p:cNvPr>
          <p:cNvSpPr>
            <a:spLocks xmlns:a="http://schemas.openxmlformats.org/drawingml/2006/main" noGrp="1"/>
          </p:cNvSpPr>
          <p:nvPr/>
        </p:nvSpPr>
        <p:spPr>
          <a:xfrm xmlns:a="http://schemas.openxmlformats.org/drawingml/2006/main">
            <a:off x="8477250" y="2552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8A875"/>
                </a:solidFill>
                <a:latin typeface="Helvetica Neue"/>
                <a:ea typeface="Helvetica Neue"/>
                <a:cs typeface="Helvetica Neue"/>
              </a:defRPr>
            </a:pPr>
            <a:r>
              <a:rPr sz="1200" b="1">
                <a:solidFill>
                  <a:srgbClr val="18A875"/>
                </a:solidFill>
                <a:latin typeface="Helvetica Neue"/>
                <a:ea typeface="Helvetica Neue"/>
                <a:cs typeface="Helvetica Neue"/>
              </a:rPr>
              <a:t>£122 per night, fixture minimum</a:t>
            </a:r>
          </a:p>
        </p:txBody>
      </p:sp>
      <p:sp>
        <p:nvSpPr>
          <p:cNvPr id="30" name="">
            <a:extLst xmlns:a="http://schemas.openxmlformats.org/drawingml/2006/main">
              <a:ext uri="{FF2B5EF4-FFF2-40B4-BE49-F238E27FC236}">
                <a16:creationId xmlns:a16="http://schemas.microsoft.com/office/drawing/2014/main" id="{FECD668C-897A-4978-B7F3-9EF1EC1CE771}"/>
              </a:ext>
            </a:extLst>
          </p:cNvPr>
          <p:cNvSpPr>
            <a:spLocks xmlns:a="http://schemas.openxmlformats.org/drawingml/2006/main" noGrp="1"/>
          </p:cNvSpPr>
          <p:nvPr/>
        </p:nvSpPr>
        <p:spPr>
          <a:xfrm xmlns:a="http://schemas.openxmlformats.org/drawingml/2006/main">
            <a:off x="8477250" y="2905125"/>
            <a:ext cx="1333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F05A3C"/>
                </a:solidFill>
                <a:latin typeface="Helvetica Neue"/>
                <a:ea typeface="Helvetica Neue"/>
                <a:cs typeface="Helvetica Neue"/>
              </a:defRPr>
            </a:pPr>
            <a:r>
              <a:rPr sz="750" b="1">
                <a:solidFill>
                  <a:srgbClr val="F05A3C"/>
                </a:solidFill>
                <a:latin typeface="Helvetica Neue"/>
                <a:ea typeface="Helvetica Neue"/>
                <a:cs typeface="Helvetica Neue"/>
              </a:rPr>
              <a:t>FINAL ACTION</a:t>
            </a:r>
          </a:p>
        </p:txBody>
      </p:sp>
      <p:sp>
        <p:nvSpPr>
          <p:cNvPr id="31" name="">
            <a:extLst xmlns:a="http://schemas.openxmlformats.org/drawingml/2006/main">
              <a:ext uri="{FF2B5EF4-FFF2-40B4-BE49-F238E27FC236}">
                <a16:creationId xmlns:a16="http://schemas.microsoft.com/office/drawing/2014/main" id="{38126CF9-4950-4E4C-BEF4-CDC2AE4FB69F}"/>
              </a:ext>
            </a:extLst>
          </p:cNvPr>
          <p:cNvSpPr>
            <a:spLocks xmlns:a="http://schemas.openxmlformats.org/drawingml/2006/main" noGrp="1"/>
          </p:cNvSpPr>
          <p:nvPr/>
        </p:nvSpPr>
        <p:spPr>
          <a:xfrm xmlns:a="http://schemas.openxmlformats.org/drawingml/2006/main">
            <a:off x="8477250" y="310515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click_desktop (650,450)</a:t>
            </a:r>
          </a:p>
        </p:txBody>
      </p:sp>
      <p:sp>
        <p:nvSpPr>
          <p:cNvPr id="32" name="">
            <a:extLst xmlns:a="http://schemas.openxmlformats.org/drawingml/2006/main">
              <a:ext uri="{FF2B5EF4-FFF2-40B4-BE49-F238E27FC236}">
                <a16:creationId xmlns:a16="http://schemas.microsoft.com/office/drawing/2014/main" id="{55E8854C-C576-4AFE-B529-864F492E1976}"/>
              </a:ext>
            </a:extLst>
          </p:cNvPr>
          <p:cNvSpPr>
            <a:spLocks xmlns:a="http://schemas.openxmlformats.org/drawingml/2006/main" noGrp="1"/>
          </p:cNvSpPr>
          <p:nvPr/>
        </p:nvSpPr>
        <p:spPr>
          <a:xfrm xmlns:a="http://schemas.openxmlformats.org/drawingml/2006/main">
            <a:off x="8477250" y="336232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pixel (665,324), inside target</a:t>
            </a:r>
          </a:p>
        </p:txBody>
      </p:sp>
      <p:sp>
        <p:nvSpPr>
          <p:cNvPr id="33" name="">
            <a:extLst xmlns:a="http://schemas.openxmlformats.org/drawingml/2006/main">
              <a:ext uri="{FF2B5EF4-FFF2-40B4-BE49-F238E27FC236}">
                <a16:creationId xmlns:a16="http://schemas.microsoft.com/office/drawing/2014/main" id="{2CCE7A4C-6CE2-40FD-BAA1-6331531994F0}"/>
              </a:ext>
            </a:extLst>
          </p:cNvPr>
          <p:cNvSpPr>
            <a:spLocks xmlns:a="http://schemas.openxmlformats.org/drawingml/2006/main" noGrp="1"/>
          </p:cNvSpPr>
          <p:nvPr/>
        </p:nvSpPr>
        <p:spPr>
          <a:xfrm xmlns:a="http://schemas.openxmlformats.org/drawingml/2006/main">
            <a:off x="8477250" y="3743325"/>
            <a:ext cx="28575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DF452065-0674-4663-9AA2-90ACCE1DF4AB}"/>
              </a:ext>
            </a:extLst>
          </p:cNvPr>
          <p:cNvSpPr>
            <a:spLocks xmlns:a="http://schemas.openxmlformats.org/drawingml/2006/main" noGrp="1"/>
          </p:cNvSpPr>
          <p:nvPr/>
        </p:nvSpPr>
        <p:spPr>
          <a:xfrm xmlns:a="http://schemas.openxmlformats.org/drawingml/2006/main">
            <a:off x="8477250" y="39052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FINAL y-TOKEN ROUTING</a:t>
            </a:r>
          </a:p>
        </p:txBody>
      </p:sp>
      <p:sp>
        <p:nvSpPr>
          <p:cNvPr id="35" name="">
            <a:extLst xmlns:a="http://schemas.openxmlformats.org/drawingml/2006/main">
              <a:ext uri="{FF2B5EF4-FFF2-40B4-BE49-F238E27FC236}">
                <a16:creationId xmlns:a16="http://schemas.microsoft.com/office/drawing/2014/main" id="{BFD45A6A-74CD-48EC-BB01-DB5EF0B1FA29}"/>
              </a:ext>
            </a:extLst>
          </p:cNvPr>
          <p:cNvSpPr>
            <a:spLocks xmlns:a="http://schemas.openxmlformats.org/drawingml/2006/main" noGrp="1"/>
          </p:cNvSpPr>
          <p:nvPr/>
        </p:nvSpPr>
        <p:spPr>
          <a:xfrm xmlns:a="http://schemas.openxmlformats.org/drawingml/2006/main">
            <a:off x="8477250" y="42005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H1</a:t>
            </a:r>
          </a:p>
        </p:txBody>
      </p:sp>
      <p:sp>
        <p:nvSpPr>
          <p:cNvPr id="36" name="">
            <a:extLst xmlns:a="http://schemas.openxmlformats.org/drawingml/2006/main">
              <a:ext uri="{FF2B5EF4-FFF2-40B4-BE49-F238E27FC236}">
                <a16:creationId xmlns:a16="http://schemas.microsoft.com/office/drawing/2014/main" id="{6AD1820C-6526-488D-843E-B3F67736A512}"/>
              </a:ext>
            </a:extLst>
          </p:cNvPr>
          <p:cNvSpPr>
            <a:spLocks xmlns:a="http://schemas.openxmlformats.org/drawingml/2006/main" noGrp="1"/>
          </p:cNvSpPr>
          <p:nvPr/>
        </p:nvSpPr>
        <p:spPr>
          <a:xfrm xmlns:a="http://schemas.openxmlformats.org/drawingml/2006/main">
            <a:off x="8782050" y="4219575"/>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F674736-AD0E-4364-BE09-84B110496293}"/>
              </a:ext>
            </a:extLst>
          </p:cNvPr>
          <p:cNvSpPr>
            <a:spLocks xmlns:a="http://schemas.openxmlformats.org/drawingml/2006/main" noGrp="1"/>
          </p:cNvSpPr>
          <p:nvPr/>
        </p:nvSpPr>
        <p:spPr>
          <a:xfrm xmlns:a="http://schemas.openxmlformats.org/drawingml/2006/main">
            <a:off x="8782050" y="4219575"/>
            <a:ext cx="1715954"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BDBD113-9618-4C23-A0DC-D75F380E9E53}"/>
              </a:ext>
            </a:extLst>
          </p:cNvPr>
          <p:cNvSpPr>
            <a:spLocks xmlns:a="http://schemas.openxmlformats.org/drawingml/2006/main" noGrp="1"/>
          </p:cNvSpPr>
          <p:nvPr/>
        </p:nvSpPr>
        <p:spPr>
          <a:xfrm xmlns:a="http://schemas.openxmlformats.org/drawingml/2006/main">
            <a:off x="10858500" y="41910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38.6%</a:t>
            </a:r>
          </a:p>
        </p:txBody>
      </p:sp>
      <p:sp>
        <p:nvSpPr>
          <p:cNvPr id="39" name="">
            <a:extLst xmlns:a="http://schemas.openxmlformats.org/drawingml/2006/main">
              <a:ext uri="{FF2B5EF4-FFF2-40B4-BE49-F238E27FC236}">
                <a16:creationId xmlns:a16="http://schemas.microsoft.com/office/drawing/2014/main" id="{4D401207-9357-4352-ADF5-88136D68BD55}"/>
              </a:ext>
            </a:extLst>
          </p:cNvPr>
          <p:cNvSpPr>
            <a:spLocks xmlns:a="http://schemas.openxmlformats.org/drawingml/2006/main" noGrp="1"/>
          </p:cNvSpPr>
          <p:nvPr/>
        </p:nvSpPr>
        <p:spPr>
          <a:xfrm xmlns:a="http://schemas.openxmlformats.org/drawingml/2006/main">
            <a:off x="8477250" y="45339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H2</a:t>
            </a:r>
          </a:p>
        </p:txBody>
      </p:sp>
      <p:sp>
        <p:nvSpPr>
          <p:cNvPr id="40" name="">
            <a:extLst xmlns:a="http://schemas.openxmlformats.org/drawingml/2006/main">
              <a:ext uri="{FF2B5EF4-FFF2-40B4-BE49-F238E27FC236}">
                <a16:creationId xmlns:a16="http://schemas.microsoft.com/office/drawing/2014/main" id="{EACA6311-681D-492D-A878-2980A6F35E7C}"/>
              </a:ext>
            </a:extLst>
          </p:cNvPr>
          <p:cNvSpPr>
            <a:spLocks xmlns:a="http://schemas.openxmlformats.org/drawingml/2006/main" noGrp="1"/>
          </p:cNvSpPr>
          <p:nvPr/>
        </p:nvSpPr>
        <p:spPr>
          <a:xfrm xmlns:a="http://schemas.openxmlformats.org/drawingml/2006/main">
            <a:off x="8782050" y="4552950"/>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D89F6FD-B30A-404C-BEE6-F2CE4DBD4523}"/>
              </a:ext>
            </a:extLst>
          </p:cNvPr>
          <p:cNvSpPr>
            <a:spLocks xmlns:a="http://schemas.openxmlformats.org/drawingml/2006/main" noGrp="1"/>
          </p:cNvSpPr>
          <p:nvPr/>
        </p:nvSpPr>
        <p:spPr>
          <a:xfrm xmlns:a="http://schemas.openxmlformats.org/drawingml/2006/main">
            <a:off x="8782050" y="4552950"/>
            <a:ext cx="1298257"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612F4F9-EC70-4BEA-BDDF-265622B1A70D}"/>
              </a:ext>
            </a:extLst>
          </p:cNvPr>
          <p:cNvSpPr>
            <a:spLocks xmlns:a="http://schemas.openxmlformats.org/drawingml/2006/main" noGrp="1"/>
          </p:cNvSpPr>
          <p:nvPr/>
        </p:nvSpPr>
        <p:spPr>
          <a:xfrm xmlns:a="http://schemas.openxmlformats.org/drawingml/2006/main">
            <a:off x="10858500" y="452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29.2%</a:t>
            </a:r>
          </a:p>
        </p:txBody>
      </p:sp>
      <p:sp>
        <p:nvSpPr>
          <p:cNvPr id="43" name="">
            <a:extLst xmlns:a="http://schemas.openxmlformats.org/drawingml/2006/main">
              <a:ext uri="{FF2B5EF4-FFF2-40B4-BE49-F238E27FC236}">
                <a16:creationId xmlns:a16="http://schemas.microsoft.com/office/drawing/2014/main" id="{543718B5-048C-48C5-AA96-385049D3D1C3}"/>
              </a:ext>
            </a:extLst>
          </p:cNvPr>
          <p:cNvSpPr>
            <a:spLocks xmlns:a="http://schemas.openxmlformats.org/drawingml/2006/main" noGrp="1"/>
          </p:cNvSpPr>
          <p:nvPr/>
        </p:nvSpPr>
        <p:spPr>
          <a:xfrm xmlns:a="http://schemas.openxmlformats.org/drawingml/2006/main">
            <a:off x="8477250" y="486727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NOW</a:t>
            </a:r>
          </a:p>
        </p:txBody>
      </p:sp>
      <p:sp>
        <p:nvSpPr>
          <p:cNvPr id="44" name="">
            <a:extLst xmlns:a="http://schemas.openxmlformats.org/drawingml/2006/main">
              <a:ext uri="{FF2B5EF4-FFF2-40B4-BE49-F238E27FC236}">
                <a16:creationId xmlns:a16="http://schemas.microsoft.com/office/drawing/2014/main" id="{AFC93C48-5627-4892-BC81-DA3AA0B8E89C}"/>
              </a:ext>
            </a:extLst>
          </p:cNvPr>
          <p:cNvSpPr>
            <a:spLocks xmlns:a="http://schemas.openxmlformats.org/drawingml/2006/main" noGrp="1"/>
          </p:cNvSpPr>
          <p:nvPr/>
        </p:nvSpPr>
        <p:spPr>
          <a:xfrm xmlns:a="http://schemas.openxmlformats.org/drawingml/2006/main">
            <a:off x="8782050" y="4886325"/>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A14D8AA0-72BE-44B5-8D20-A4EBC1EA9222}"/>
              </a:ext>
            </a:extLst>
          </p:cNvPr>
          <p:cNvSpPr>
            <a:spLocks xmlns:a="http://schemas.openxmlformats.org/drawingml/2006/main" noGrp="1"/>
          </p:cNvSpPr>
          <p:nvPr/>
        </p:nvSpPr>
        <p:spPr>
          <a:xfrm xmlns:a="http://schemas.openxmlformats.org/drawingml/2006/main">
            <a:off x="8782050" y="4886325"/>
            <a:ext cx="1430789" cy="1524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B3B80FEA-6EF0-4997-9882-1212A242546F}"/>
              </a:ext>
            </a:extLst>
          </p:cNvPr>
          <p:cNvSpPr>
            <a:spLocks xmlns:a="http://schemas.openxmlformats.org/drawingml/2006/main" noGrp="1"/>
          </p:cNvSpPr>
          <p:nvPr/>
        </p:nvSpPr>
        <p:spPr>
          <a:xfrm xmlns:a="http://schemas.openxmlformats.org/drawingml/2006/main">
            <a:off x="10858500" y="4857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32.2%</a:t>
            </a:r>
          </a:p>
        </p:txBody>
      </p:sp>
      <p:sp>
        <p:nvSpPr>
          <p:cNvPr id="47" name="">
            <a:extLst xmlns:a="http://schemas.openxmlformats.org/drawingml/2006/main">
              <a:ext uri="{FF2B5EF4-FFF2-40B4-BE49-F238E27FC236}">
                <a16:creationId xmlns:a16="http://schemas.microsoft.com/office/drawing/2014/main" id="{8BCE46CA-67D0-48F6-8B8B-43101DDDFEC1}"/>
              </a:ext>
            </a:extLst>
          </p:cNvPr>
          <p:cNvSpPr>
            <a:spLocks xmlns:a="http://schemas.openxmlformats.org/drawingml/2006/main" noGrp="1"/>
          </p:cNvSpPr>
          <p:nvPr/>
        </p:nvSpPr>
        <p:spPr>
          <a:xfrm xmlns:a="http://schemas.openxmlformats.org/drawingml/2006/main">
            <a:off x="8477250" y="52101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No single frame dominates the final y-coordinate route.</a:t>
            </a:r>
          </a:p>
        </p:txBody>
      </p:sp>
      <p:sp>
        <p:nvSpPr>
          <p:cNvPr id="48" name="">
            <a:extLst xmlns:a="http://schemas.openxmlformats.org/drawingml/2006/main">
              <a:ext uri="{FF2B5EF4-FFF2-40B4-BE49-F238E27FC236}">
                <a16:creationId xmlns:a16="http://schemas.microsoft.com/office/drawing/2014/main" id="{FFE2BAF8-6ECB-440A-9622-E69FB24F45E5}"/>
              </a:ext>
            </a:extLst>
          </p:cNvPr>
          <p:cNvSpPr>
            <a:spLocks xmlns:a="http://schemas.openxmlformats.org/drawingml/2006/main" noGrp="1"/>
          </p:cNvSpPr>
          <p:nvPr/>
        </p:nvSpPr>
        <p:spPr>
          <a:xfrm xmlns:a="http://schemas.openxmlformats.org/drawingml/2006/main">
            <a:off x="8477250" y="5676900"/>
            <a:ext cx="2857500" cy="266700"/>
          </a:xfrm>
          <a:prstGeom xmlns:a="http://schemas.openxmlformats.org/drawingml/2006/main" prst="roundRect">
            <a:avLst>
              <a:gd name="adj" fmla="val 28571"/>
            </a:avLst>
          </a:prstGeom>
          <a:solidFill xmlns:a="http://schemas.openxmlformats.org/drawingml/2006/main">
            <a:srgbClr val="2A3845"/>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3176533C-97E5-476B-B268-89D6E634977C}"/>
              </a:ext>
            </a:extLst>
          </p:cNvPr>
          <p:cNvSpPr>
            <a:spLocks xmlns:a="http://schemas.openxmlformats.org/drawingml/2006/main" noGrp="1"/>
          </p:cNvSpPr>
          <p:nvPr/>
        </p:nvSpPr>
        <p:spPr>
          <a:xfrm xmlns:a="http://schemas.openxmlformats.org/drawingml/2006/main">
            <a:off x="8572500" y="5715000"/>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750" b="0">
                <a:solidFill>
                  <a:srgbClr val="D5DEE6"/>
                </a:solidFill>
                <a:latin typeface="Helvetica Neue"/>
                <a:ea typeface="Helvetica Neue"/>
                <a:cs typeface="Helvetica Neue"/>
              </a:defRPr>
            </a:pPr>
            <a:r>
              <a:rPr sz="750" b="0">
                <a:solidFill>
                  <a:srgbClr val="D5DEE6"/>
                </a:solidFill>
                <a:latin typeface="Helvetica Neue"/>
                <a:ea typeface="Helvetica Neue"/>
                <a:cs typeface="Helvetica Neue"/>
              </a:rPr>
              <a:t>4 actions, 3 retained screenshots, 1 correct click</a:t>
            </a:r>
          </a:p>
        </p:txBody>
      </p:sp>
      <p:sp>
        <p:nvSpPr>
          <p:cNvPr id="50" name="">
            <a:extLst xmlns:a="http://schemas.openxmlformats.org/drawingml/2006/main">
              <a:ext uri="{FF2B5EF4-FFF2-40B4-BE49-F238E27FC236}">
                <a16:creationId xmlns:a16="http://schemas.microsoft.com/office/drawing/2014/main" id="{40E49267-C7A1-4B67-B3D8-11B33A30FFF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6048271D-2155-422D-B6B8-3173FEB676E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Our hotel prompt, official HoloDesktop 0.1.10 tools, normalized 0–1000 coordinates, native resolution</a:t>
            </a:r>
          </a:p>
        </p:txBody>
      </p:sp>
    </p:spTree>
    <p:extLst>
      <p:ext uri="{BB962C8B-B14F-4D97-AF65-F5344CB8AC3E}">
        <p14:creationId xmlns:p14="http://schemas.microsoft.com/office/powerpoint/2010/main" val="583279077"/>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20E6C3A0-B736-4F69-A05E-189D9139F73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EXPERIMENT</a:t>
            </a:r>
          </a:p>
        </p:txBody>
      </p:sp>
      <p:sp>
        <p:nvSpPr>
          <p:cNvPr id="2" name="">
            <a:extLst xmlns:a="http://schemas.openxmlformats.org/drawingml/2006/main">
              <a:ext uri="{FF2B5EF4-FFF2-40B4-BE49-F238E27FC236}">
                <a16:creationId xmlns:a16="http://schemas.microsoft.com/office/drawing/2014/main" id="{F933C3EF-C4C6-4CE3-94CB-8619CECC387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Where visual evidence becomes a coordinate action</a:t>
            </a:r>
          </a:p>
        </p:txBody>
      </p:sp>
      <p:sp>
        <p:nvSpPr>
          <p:cNvPr id="3" name="">
            <a:extLst xmlns:a="http://schemas.openxmlformats.org/drawingml/2006/main">
              <a:ext uri="{FF2B5EF4-FFF2-40B4-BE49-F238E27FC236}">
                <a16:creationId xmlns:a16="http://schemas.microsoft.com/office/drawing/2014/main" id="{4905FC9A-A147-4B20-973D-8B57138A9F2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4EE5ACE2-8097-450A-A2DD-548C1F0BC39A}"/>
              </a:ext>
            </a:extLst>
          </p:cNvPr>
          <p:cNvSpPr>
            <a:spLocks xmlns:a="http://schemas.openxmlformats.org/drawingml/2006/main" noGrp="1"/>
          </p:cNvSpPr>
          <p:nvPr/>
        </p:nvSpPr>
        <p:spPr>
          <a:xfrm xmlns:a="http://schemas.openxmlformats.org/drawingml/2006/main">
            <a:off x="609600" y="11239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hold the official request, native image, and teacher-forced coordinate strings fixed</a:t>
            </a:r>
          </a:p>
        </p:txBody>
      </p:sp>
      <p:sp>
        <p:nvSpPr>
          <p:cNvPr id="5" name="">
            <a:extLst xmlns:a="http://schemas.openxmlformats.org/drawingml/2006/main">
              <a:ext uri="{FF2B5EF4-FFF2-40B4-BE49-F238E27FC236}">
                <a16:creationId xmlns:a16="http://schemas.microsoft.com/office/drawing/2014/main" id="{C11C01BC-3A95-4E17-BA68-8FE79D324F45}"/>
              </a:ext>
            </a:extLst>
          </p:cNvPr>
          <p:cNvSpPr>
            <a:spLocks xmlns:a="http://schemas.openxmlformats.org/drawingml/2006/main" noGrp="1"/>
          </p:cNvSpPr>
          <p:nvPr/>
        </p:nvSpPr>
        <p:spPr>
          <a:xfrm xmlns:a="http://schemas.openxmlformats.org/drawingml/2006/main">
            <a:off x="609600" y="1524000"/>
            <a:ext cx="8001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61E38A9-524A-483B-B986-EE0DC2AA0E31}"/>
              </a:ext>
            </a:extLst>
          </p:cNvPr>
          <p:cNvSpPr>
            <a:spLocks xmlns:a="http://schemas.openxmlformats.org/drawingml/2006/main" noGrp="1"/>
          </p:cNvSpPr>
          <p:nvPr/>
        </p:nvSpPr>
        <p:spPr>
          <a:xfrm xmlns:a="http://schemas.openxmlformats.org/drawingml/2006/main">
            <a:off x="704850" y="15430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fa5b323cc46d4c1f"/>
          <a:srcRect xmlns:a="http://schemas.openxmlformats.org/drawingml/2006/main" l="16533" t="0" r="16533" b="0"/>
          <a:stretch xmlns:a="http://schemas.openxmlformats.org/drawingml/2006/main">
            <a:fillRect l="0" t="0" r="0" b="0"/>
          </a:stretch>
        </p:blipFill>
        <p:spPr>
          <a:xfrm xmlns:a="http://schemas.openxmlformats.org/drawingml/2006/main">
            <a:off x="609600" y="1885950"/>
            <a:ext cx="2381250" cy="1581150"/>
          </a:xfrm>
          <a:prstGeom xmlns:a="http://schemas.openxmlformats.org/drawingml/2006/main" prst="roundRect">
            <a:avLst>
              <a:gd name="adj" fmla="val 7229"/>
            </a:avLst>
          </a:prstGeom>
        </p:spPr>
      </p:pic>
      <p:sp>
        <p:nvSpPr>
          <p:cNvPr id="8" name="">
            <a:extLst xmlns:a="http://schemas.openxmlformats.org/drawingml/2006/main">
              <a:ext uri="{FF2B5EF4-FFF2-40B4-BE49-F238E27FC236}">
                <a16:creationId xmlns:a16="http://schemas.microsoft.com/office/drawing/2014/main" id="{774BC05E-8BDD-4563-9274-140BCDA622D7}"/>
              </a:ext>
            </a:extLst>
          </p:cNvPr>
          <p:cNvSpPr>
            <a:spLocks xmlns:a="http://schemas.openxmlformats.org/drawingml/2006/main" noGrp="1"/>
          </p:cNvSpPr>
          <p:nvPr/>
        </p:nvSpPr>
        <p:spPr>
          <a:xfrm xmlns:a="http://schemas.openxmlformats.org/drawingml/2006/main">
            <a:off x="609600" y="188595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512CD93B-E23A-46F6-AFAA-282C73532DAE}"/>
              </a:ext>
            </a:extLst>
          </p:cNvPr>
          <p:cNvSpPr>
            <a:spLocks xmlns:a="http://schemas.openxmlformats.org/drawingml/2006/main" noGrp="1"/>
          </p:cNvSpPr>
          <p:nvPr/>
        </p:nvSpPr>
        <p:spPr>
          <a:xfrm xmlns:a="http://schemas.openxmlformats.org/drawingml/2006/main">
            <a:off x="609600" y="35623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Original tile positions</a:t>
            </a:r>
          </a:p>
        </p:txBody>
      </p:sp>
      <p:sp>
        <p:nvSpPr>
          <p:cNvPr id="10" name="">
            <a:extLst xmlns:a="http://schemas.openxmlformats.org/drawingml/2006/main">
              <a:ext uri="{FF2B5EF4-FFF2-40B4-BE49-F238E27FC236}">
                <a16:creationId xmlns:a16="http://schemas.microsoft.com/office/drawing/2014/main" id="{69CA29B3-97F1-44C1-AFE3-B35BDDB7BEA3}"/>
              </a:ext>
            </a:extLst>
          </p:cNvPr>
          <p:cNvSpPr>
            <a:spLocks xmlns:a="http://schemas.openxmlformats.org/drawingml/2006/main" noGrp="1"/>
          </p:cNvSpPr>
          <p:nvPr/>
        </p:nvSpPr>
        <p:spPr>
          <a:xfrm xmlns:a="http://schemas.openxmlformats.org/drawingml/2006/main">
            <a:off x="609600" y="4095750"/>
            <a:ext cx="11049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D423DC7-CBD3-44E3-90D3-8D52AF911EF7}"/>
              </a:ext>
            </a:extLst>
          </p:cNvPr>
          <p:cNvSpPr>
            <a:spLocks xmlns:a="http://schemas.openxmlformats.org/drawingml/2006/main" noGrp="1"/>
          </p:cNvSpPr>
          <p:nvPr/>
        </p:nvSpPr>
        <p:spPr>
          <a:xfrm xmlns:a="http://schemas.openxmlformats.org/drawingml/2006/main">
            <a:off x="704850" y="41148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CORRUPTED</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3f0afdfe3aff442c"/>
          <a:srcRect xmlns:a="http://schemas.openxmlformats.org/drawingml/2006/main" l="16533" t="0" r="16533" b="0"/>
          <a:stretch xmlns:a="http://schemas.openxmlformats.org/drawingml/2006/main">
            <a:fillRect l="0" t="0" r="0" b="0"/>
          </a:stretch>
        </p:blipFill>
        <p:spPr>
          <a:xfrm xmlns:a="http://schemas.openxmlformats.org/drawingml/2006/main">
            <a:off x="609600" y="4457700"/>
            <a:ext cx="2381250" cy="1581150"/>
          </a:xfrm>
          <a:prstGeom xmlns:a="http://schemas.openxmlformats.org/drawingml/2006/main" prst="roundRect">
            <a:avLst>
              <a:gd name="adj" fmla="val 7229"/>
            </a:avLst>
          </a:prstGeom>
        </p:spPr>
      </p:pic>
      <p:sp>
        <p:nvSpPr>
          <p:cNvPr id="13" name="">
            <a:extLst xmlns:a="http://schemas.openxmlformats.org/drawingml/2006/main">
              <a:ext uri="{FF2B5EF4-FFF2-40B4-BE49-F238E27FC236}">
                <a16:creationId xmlns:a16="http://schemas.microsoft.com/office/drawing/2014/main" id="{C51B5B02-26FE-48E8-B62B-F10C6EA77CF5}"/>
              </a:ext>
            </a:extLst>
          </p:cNvPr>
          <p:cNvSpPr>
            <a:spLocks xmlns:a="http://schemas.openxmlformats.org/drawingml/2006/main" noGrp="1"/>
          </p:cNvSpPr>
          <p:nvPr/>
        </p:nvSpPr>
        <p:spPr>
          <a:xfrm xmlns:a="http://schemas.openxmlformats.org/drawingml/2006/main">
            <a:off x="609600" y="445770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3BC44CB1-D0C6-479C-A660-1DF7F5A99AEB}"/>
              </a:ext>
            </a:extLst>
          </p:cNvPr>
          <p:cNvSpPr>
            <a:spLocks xmlns:a="http://schemas.openxmlformats.org/drawingml/2006/main" noGrp="1"/>
          </p:cNvSpPr>
          <p:nvPr/>
        </p:nvSpPr>
        <p:spPr>
          <a:xfrm xmlns:a="http://schemas.openxmlformats.org/drawingml/2006/main">
            <a:off x="609600" y="61341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Two equal-size tiles swap</a:t>
            </a:r>
          </a:p>
        </p:txBody>
      </p:sp>
      <p:sp>
        <p:nvSpPr>
          <p:cNvPr id="15" name="">
            <a:extLst xmlns:a="http://schemas.openxmlformats.org/drawingml/2006/main">
              <a:ext uri="{FF2B5EF4-FFF2-40B4-BE49-F238E27FC236}">
                <a16:creationId xmlns:a16="http://schemas.microsoft.com/office/drawing/2014/main" id="{36E6DB21-F2EA-4094-B1F7-E500D20CD3CE}"/>
              </a:ext>
            </a:extLst>
          </p:cNvPr>
          <p:cNvSpPr>
            <a:spLocks xmlns:a="http://schemas.openxmlformats.org/drawingml/2006/main" noGrp="1"/>
          </p:cNvSpPr>
          <p:nvPr/>
        </p:nvSpPr>
        <p:spPr>
          <a:xfrm xmlns:a="http://schemas.openxmlformats.org/drawingml/2006/main">
            <a:off x="3276600" y="1524000"/>
            <a:ext cx="8305800" cy="4514850"/>
          </a:xfrm>
          <a:prstGeom xmlns:a="http://schemas.openxmlformats.org/drawingml/2006/main" prst="roundRect">
            <a:avLst>
              <a:gd name="adj" fmla="val 1688"/>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CE23899D-01B2-44B4-B2EE-EAD499138C16}"/>
              </a:ext>
            </a:extLst>
          </p:cNvPr>
          <p:cNvSpPr>
            <a:spLocks xmlns:a="http://schemas.openxmlformats.org/drawingml/2006/main" noGrp="1"/>
          </p:cNvSpPr>
          <p:nvPr/>
        </p:nvSpPr>
        <p:spPr>
          <a:xfrm xmlns:a="http://schemas.openxmlformats.org/drawingml/2006/main">
            <a:off x="3543300" y="17716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TEACHER-FORCED ACTION SEQUENCE</a:t>
            </a:r>
          </a:p>
        </p:txBody>
      </p:sp>
      <p:sp>
        <p:nvSpPr>
          <p:cNvPr id="17" name="">
            <a:extLst xmlns:a="http://schemas.openxmlformats.org/drawingml/2006/main">
              <a:ext uri="{FF2B5EF4-FFF2-40B4-BE49-F238E27FC236}">
                <a16:creationId xmlns:a16="http://schemas.microsoft.com/office/drawing/2014/main" id="{73795CA6-07D3-46A0-BA86-984131D3F7C3}"/>
              </a:ext>
            </a:extLst>
          </p:cNvPr>
          <p:cNvSpPr>
            <a:spLocks xmlns:a="http://schemas.openxmlformats.org/drawingml/2006/main" noGrp="1"/>
          </p:cNvSpPr>
          <p:nvPr/>
        </p:nvSpPr>
        <p:spPr>
          <a:xfrm xmlns:a="http://schemas.openxmlformats.org/drawingml/2006/main">
            <a:off x="3543300" y="2000250"/>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Image evidence and instruction tokens precede the scored x-coordinate digits</a:t>
            </a:r>
          </a:p>
        </p:txBody>
      </p:sp>
      <p:sp>
        <p:nvSpPr>
          <p:cNvPr id="18" name="">
            <a:extLst xmlns:a="http://schemas.openxmlformats.org/drawingml/2006/main">
              <a:ext uri="{FF2B5EF4-FFF2-40B4-BE49-F238E27FC236}">
                <a16:creationId xmlns:a16="http://schemas.microsoft.com/office/drawing/2014/main" id="{61CAFC70-46E1-4BD9-B6EC-781478D6D3E6}"/>
              </a:ext>
            </a:extLst>
          </p:cNvPr>
          <p:cNvSpPr>
            <a:spLocks xmlns:a="http://schemas.openxmlformats.org/drawingml/2006/main" noGrp="1"/>
          </p:cNvSpPr>
          <p:nvPr/>
        </p:nvSpPr>
        <p:spPr>
          <a:xfrm xmlns:a="http://schemas.openxmlformats.org/drawingml/2006/main">
            <a:off x="3543300" y="2457450"/>
            <a:ext cx="1428750" cy="781050"/>
          </a:xfrm>
          <a:prstGeom xmlns:a="http://schemas.openxmlformats.org/drawingml/2006/main" prst="roundRect">
            <a:avLst>
              <a:gd name="adj" fmla="val 9756"/>
            </a:avLst>
          </a:prstGeom>
          <a:solidFill xmlns:a="http://schemas.openxmlformats.org/drawingml/2006/main">
            <a:srgbClr val="DDECF9"/>
          </a:solidFill>
          <a:ln xmlns:a="http://schemas.openxmlformats.org/drawingml/2006/main" w="9525">
            <a:solidFill>
              <a:srgbClr val="2D84D3"/>
            </a:solidFill>
          </a:ln>
        </p:spPr>
      </p:sp>
      <p:sp>
        <p:nvSpPr>
          <p:cNvPr id="19" name="">
            <a:extLst xmlns:a="http://schemas.openxmlformats.org/drawingml/2006/main">
              <a:ext uri="{FF2B5EF4-FFF2-40B4-BE49-F238E27FC236}">
                <a16:creationId xmlns:a16="http://schemas.microsoft.com/office/drawing/2014/main" id="{9A75A99F-D76E-4770-A1AD-13488FE924DD}"/>
              </a:ext>
            </a:extLst>
          </p:cNvPr>
          <p:cNvSpPr>
            <a:spLocks xmlns:a="http://schemas.openxmlformats.org/drawingml/2006/main" noGrp="1"/>
          </p:cNvSpPr>
          <p:nvPr/>
        </p:nvSpPr>
        <p:spPr>
          <a:xfrm xmlns:a="http://schemas.openxmlformats.org/drawingml/2006/main">
            <a:off x="36385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IMAGE</a:t>
            </a:r>
          </a:p>
        </p:txBody>
      </p:sp>
      <p:sp>
        <p:nvSpPr>
          <p:cNvPr id="20" name="">
            <a:extLst xmlns:a="http://schemas.openxmlformats.org/drawingml/2006/main">
              <a:ext uri="{FF2B5EF4-FFF2-40B4-BE49-F238E27FC236}">
                <a16:creationId xmlns:a16="http://schemas.microsoft.com/office/drawing/2014/main" id="{71069277-D082-4970-8945-578D6D9DAF64}"/>
              </a:ext>
            </a:extLst>
          </p:cNvPr>
          <p:cNvSpPr>
            <a:spLocks xmlns:a="http://schemas.openxmlformats.org/drawingml/2006/main" noGrp="1"/>
          </p:cNvSpPr>
          <p:nvPr/>
        </p:nvSpPr>
        <p:spPr>
          <a:xfrm xmlns:a="http://schemas.openxmlformats.org/drawingml/2006/main">
            <a:off x="36385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patch residuals</a:t>
            </a:r>
          </a:p>
        </p:txBody>
      </p:sp>
      <p:sp>
        <p:nvSpPr>
          <p:cNvPr id="21" name="">
            <a:extLst xmlns:a="http://schemas.openxmlformats.org/drawingml/2006/main">
              <a:ext uri="{FF2B5EF4-FFF2-40B4-BE49-F238E27FC236}">
                <a16:creationId xmlns:a16="http://schemas.microsoft.com/office/drawing/2014/main" id="{8080AF72-C825-49F8-976C-D49ADCAF8C03}"/>
              </a:ext>
            </a:extLst>
          </p:cNvPr>
          <p:cNvSpPr>
            <a:spLocks xmlns:a="http://schemas.openxmlformats.org/drawingml/2006/main" noGrp="1"/>
          </p:cNvSpPr>
          <p:nvPr/>
        </p:nvSpPr>
        <p:spPr>
          <a:xfrm xmlns:a="http://schemas.openxmlformats.org/drawingml/2006/main">
            <a:off x="5105400" y="2457450"/>
            <a:ext cx="1619250" cy="781050"/>
          </a:xfrm>
          <a:prstGeom xmlns:a="http://schemas.openxmlformats.org/drawingml/2006/main" prst="roundRect">
            <a:avLst>
              <a:gd name="adj" fmla="val 975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D684A1A4-1DE4-4456-A103-ED06FFDDC8AE}"/>
              </a:ext>
            </a:extLst>
          </p:cNvPr>
          <p:cNvSpPr>
            <a:spLocks xmlns:a="http://schemas.openxmlformats.org/drawingml/2006/main" noGrp="1"/>
          </p:cNvSpPr>
          <p:nvPr/>
        </p:nvSpPr>
        <p:spPr>
          <a:xfrm xmlns:a="http://schemas.openxmlformats.org/drawingml/2006/main">
            <a:off x="5200650" y="258127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INSTRUCTION</a:t>
            </a:r>
          </a:p>
        </p:txBody>
      </p:sp>
      <p:sp>
        <p:nvSpPr>
          <p:cNvPr id="23" name="">
            <a:extLst xmlns:a="http://schemas.openxmlformats.org/drawingml/2006/main">
              <a:ext uri="{FF2B5EF4-FFF2-40B4-BE49-F238E27FC236}">
                <a16:creationId xmlns:a16="http://schemas.microsoft.com/office/drawing/2014/main" id="{26236034-DC1D-445A-B98E-B34ECC6B4A4B}"/>
              </a:ext>
            </a:extLst>
          </p:cNvPr>
          <p:cNvSpPr>
            <a:spLocks xmlns:a="http://schemas.openxmlformats.org/drawingml/2006/main" noGrp="1"/>
          </p:cNvSpPr>
          <p:nvPr/>
        </p:nvSpPr>
        <p:spPr>
          <a:xfrm xmlns:a="http://schemas.openxmlformats.org/drawingml/2006/main">
            <a:off x="5200650" y="28384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target name</a:t>
            </a:r>
          </a:p>
        </p:txBody>
      </p:sp>
      <p:sp>
        <p:nvSpPr>
          <p:cNvPr id="24" name="">
            <a:extLst xmlns:a="http://schemas.openxmlformats.org/drawingml/2006/main">
              <a:ext uri="{FF2B5EF4-FFF2-40B4-BE49-F238E27FC236}">
                <a16:creationId xmlns:a16="http://schemas.microsoft.com/office/drawing/2014/main" id="{EE964D79-4A53-4061-A270-A7F97A993A91}"/>
              </a:ext>
            </a:extLst>
          </p:cNvPr>
          <p:cNvSpPr>
            <a:spLocks xmlns:a="http://schemas.openxmlformats.org/drawingml/2006/main" noGrp="1"/>
          </p:cNvSpPr>
          <p:nvPr/>
        </p:nvSpPr>
        <p:spPr>
          <a:xfrm xmlns:a="http://schemas.openxmlformats.org/drawingml/2006/main">
            <a:off x="6858000" y="2457450"/>
            <a:ext cx="8572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5" name="">
            <a:extLst xmlns:a="http://schemas.openxmlformats.org/drawingml/2006/main">
              <a:ext uri="{FF2B5EF4-FFF2-40B4-BE49-F238E27FC236}">
                <a16:creationId xmlns:a16="http://schemas.microsoft.com/office/drawing/2014/main" id="{60A5F9A1-471D-4B92-BB39-55BAFA9371FA}"/>
              </a:ext>
            </a:extLst>
          </p:cNvPr>
          <p:cNvSpPr>
            <a:spLocks xmlns:a="http://schemas.openxmlformats.org/drawingml/2006/main" noGrp="1"/>
          </p:cNvSpPr>
          <p:nvPr/>
        </p:nvSpPr>
        <p:spPr>
          <a:xfrm xmlns:a="http://schemas.openxmlformats.org/drawingml/2006/main">
            <a:off x="6953250" y="2581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JSON</a:t>
            </a:r>
          </a:p>
        </p:txBody>
      </p:sp>
      <p:sp>
        <p:nvSpPr>
          <p:cNvPr id="26" name="">
            <a:extLst xmlns:a="http://schemas.openxmlformats.org/drawingml/2006/main">
              <a:ext uri="{FF2B5EF4-FFF2-40B4-BE49-F238E27FC236}">
                <a16:creationId xmlns:a16="http://schemas.microsoft.com/office/drawing/2014/main" id="{D34AA9C4-106F-48DC-9F1C-CA422A1091D6}"/>
              </a:ext>
            </a:extLst>
          </p:cNvPr>
          <p:cNvSpPr>
            <a:spLocks xmlns:a="http://schemas.openxmlformats.org/drawingml/2006/main" noGrp="1"/>
          </p:cNvSpPr>
          <p:nvPr/>
        </p:nvSpPr>
        <p:spPr>
          <a:xfrm xmlns:a="http://schemas.openxmlformats.org/drawingml/2006/main">
            <a:off x="6953250" y="2838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 x:</a:t>
            </a:r>
          </a:p>
        </p:txBody>
      </p:sp>
      <p:sp>
        <p:nvSpPr>
          <p:cNvPr id="27" name="">
            <a:extLst xmlns:a="http://schemas.openxmlformats.org/drawingml/2006/main">
              <a:ext uri="{FF2B5EF4-FFF2-40B4-BE49-F238E27FC236}">
                <a16:creationId xmlns:a16="http://schemas.microsoft.com/office/drawing/2014/main" id="{BA6FA02D-2AFD-41ED-ADD6-0B2EC0C8EFDC}"/>
              </a:ext>
            </a:extLst>
          </p:cNvPr>
          <p:cNvSpPr>
            <a:spLocks xmlns:a="http://schemas.openxmlformats.org/drawingml/2006/main" noGrp="1"/>
          </p:cNvSpPr>
          <p:nvPr/>
        </p:nvSpPr>
        <p:spPr>
          <a:xfrm xmlns:a="http://schemas.openxmlformats.org/drawingml/2006/main">
            <a:off x="7848600" y="2457450"/>
            <a:ext cx="14287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8" name="">
            <a:extLst xmlns:a="http://schemas.openxmlformats.org/drawingml/2006/main">
              <a:ext uri="{FF2B5EF4-FFF2-40B4-BE49-F238E27FC236}">
                <a16:creationId xmlns:a16="http://schemas.microsoft.com/office/drawing/2014/main" id="{260AEA86-2BFE-4820-A943-46E5063FBE28}"/>
              </a:ext>
            </a:extLst>
          </p:cNvPr>
          <p:cNvSpPr>
            <a:spLocks xmlns:a="http://schemas.openxmlformats.org/drawingml/2006/main" noGrp="1"/>
          </p:cNvSpPr>
          <p:nvPr/>
        </p:nvSpPr>
        <p:spPr>
          <a:xfrm xmlns:a="http://schemas.openxmlformats.org/drawingml/2006/main">
            <a:off x="79438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X DIGITS</a:t>
            </a:r>
          </a:p>
        </p:txBody>
      </p:sp>
      <p:sp>
        <p:nvSpPr>
          <p:cNvPr id="29" name="">
            <a:extLst xmlns:a="http://schemas.openxmlformats.org/drawingml/2006/main">
              <a:ext uri="{FF2B5EF4-FFF2-40B4-BE49-F238E27FC236}">
                <a16:creationId xmlns:a16="http://schemas.microsoft.com/office/drawing/2014/main" id="{8B6D531A-9DF1-4FAA-A76B-CB18C6DD7C3F}"/>
              </a:ext>
            </a:extLst>
          </p:cNvPr>
          <p:cNvSpPr>
            <a:spLocks xmlns:a="http://schemas.openxmlformats.org/drawingml/2006/main" noGrp="1"/>
          </p:cNvSpPr>
          <p:nvPr/>
        </p:nvSpPr>
        <p:spPr>
          <a:xfrm xmlns:a="http://schemas.openxmlformats.org/drawingml/2006/main">
            <a:off x="79438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scored action</a:t>
            </a:r>
          </a:p>
        </p:txBody>
      </p:sp>
      <p:sp>
        <p:nvSpPr>
          <p:cNvPr id="30" name="">
            <a:extLst xmlns:a="http://schemas.openxmlformats.org/drawingml/2006/main">
              <a:ext uri="{FF2B5EF4-FFF2-40B4-BE49-F238E27FC236}">
                <a16:creationId xmlns:a16="http://schemas.microsoft.com/office/drawing/2014/main" id="{F08E5CB9-7527-4636-B52B-B658EC41C707}"/>
              </a:ext>
            </a:extLst>
          </p:cNvPr>
          <p:cNvSpPr>
            <a:spLocks xmlns:a="http://schemas.openxmlformats.org/drawingml/2006/main" noGrp="1"/>
          </p:cNvSpPr>
          <p:nvPr/>
        </p:nvSpPr>
        <p:spPr>
          <a:xfrm xmlns:a="http://schemas.openxmlformats.org/drawingml/2006/main">
            <a:off x="9410700" y="2457450"/>
            <a:ext cx="1333500" cy="781050"/>
          </a:xfrm>
          <a:prstGeom xmlns:a="http://schemas.openxmlformats.org/drawingml/2006/main" prst="roundRect">
            <a:avLst>
              <a:gd name="adj" fmla="val 9756"/>
            </a:avLst>
          </a:prstGeom>
          <a:solidFill xmlns:a="http://schemas.openxmlformats.org/drawingml/2006/main">
            <a:srgbClr val="DDEFE7"/>
          </a:solidFill>
          <a:ln xmlns:a="http://schemas.openxmlformats.org/drawingml/2006/main" w="9525">
            <a:solidFill>
              <a:srgbClr val="18A875"/>
            </a:solidFill>
          </a:ln>
        </p:spPr>
      </p:sp>
      <p:sp>
        <p:nvSpPr>
          <p:cNvPr id="31" name="">
            <a:extLst xmlns:a="http://schemas.openxmlformats.org/drawingml/2006/main">
              <a:ext uri="{FF2B5EF4-FFF2-40B4-BE49-F238E27FC236}">
                <a16:creationId xmlns:a16="http://schemas.microsoft.com/office/drawing/2014/main" id="{FCE62177-C33D-4A94-BDA1-233B2D5F71E3}"/>
              </a:ext>
            </a:extLst>
          </p:cNvPr>
          <p:cNvSpPr>
            <a:spLocks xmlns:a="http://schemas.openxmlformats.org/drawingml/2006/main" noGrp="1"/>
          </p:cNvSpPr>
          <p:nvPr/>
        </p:nvSpPr>
        <p:spPr>
          <a:xfrm xmlns:a="http://schemas.openxmlformats.org/drawingml/2006/main">
            <a:off x="9505950" y="25812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Y DIGITS</a:t>
            </a:r>
          </a:p>
        </p:txBody>
      </p:sp>
      <p:sp>
        <p:nvSpPr>
          <p:cNvPr id="32" name="">
            <a:extLst xmlns:a="http://schemas.openxmlformats.org/drawingml/2006/main">
              <a:ext uri="{FF2B5EF4-FFF2-40B4-BE49-F238E27FC236}">
                <a16:creationId xmlns:a16="http://schemas.microsoft.com/office/drawing/2014/main" id="{AEFE2499-FBFE-4F12-A2CD-8C0C31471469}"/>
              </a:ext>
            </a:extLst>
          </p:cNvPr>
          <p:cNvSpPr>
            <a:spLocks xmlns:a="http://schemas.openxmlformats.org/drawingml/2006/main" noGrp="1"/>
          </p:cNvSpPr>
          <p:nvPr/>
        </p:nvSpPr>
        <p:spPr>
          <a:xfrm xmlns:a="http://schemas.openxmlformats.org/drawingml/2006/main">
            <a:off x="9505950" y="2838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held matched</a:t>
            </a:r>
          </a:p>
        </p:txBody>
      </p:sp>
      <p:sp>
        <p:nvSpPr>
          <p:cNvPr id="33" name="">
            <a:extLst xmlns:a="http://schemas.openxmlformats.org/drawingml/2006/main">
              <a:ext uri="{FF2B5EF4-FFF2-40B4-BE49-F238E27FC236}">
                <a16:creationId xmlns:a16="http://schemas.microsoft.com/office/drawing/2014/main" id="{A025AAB2-3E18-443D-995D-C6947496FEAA}"/>
              </a:ext>
            </a:extLst>
          </p:cNvPr>
          <p:cNvSpPr>
            <a:spLocks xmlns:a="http://schemas.openxmlformats.org/drawingml/2006/main" noGrp="1"/>
          </p:cNvSpPr>
          <p:nvPr/>
        </p:nvSpPr>
        <p:spPr>
          <a:xfrm xmlns:a="http://schemas.openxmlformats.org/drawingml/2006/main">
            <a:off x="3543300" y="361950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Replace one internal state in the corrupted run with its clean-run counterpart</a:t>
            </a:r>
          </a:p>
        </p:txBody>
      </p:sp>
      <p:sp>
        <p:nvSpPr>
          <p:cNvPr id="34" name="">
            <a:extLst xmlns:a="http://schemas.openxmlformats.org/drawingml/2006/main">
              <a:ext uri="{FF2B5EF4-FFF2-40B4-BE49-F238E27FC236}">
                <a16:creationId xmlns:a16="http://schemas.microsoft.com/office/drawing/2014/main" id="{81294ABA-732D-48C4-B9AD-BAEC78D87887}"/>
              </a:ext>
            </a:extLst>
          </p:cNvPr>
          <p:cNvSpPr>
            <a:spLocks xmlns:a="http://schemas.openxmlformats.org/drawingml/2006/main" noGrp="1"/>
          </p:cNvSpPr>
          <p:nvPr/>
        </p:nvSpPr>
        <p:spPr>
          <a:xfrm xmlns:a="http://schemas.openxmlformats.org/drawingml/2006/main">
            <a:off x="3543300" y="4019550"/>
            <a:ext cx="3295650" cy="1466850"/>
          </a:xfrm>
          <a:prstGeom xmlns:a="http://schemas.openxmlformats.org/drawingml/2006/main" prst="roundRect">
            <a:avLst>
              <a:gd name="adj" fmla="val 5195"/>
            </a:avLst>
          </a:prstGeom>
          <a:solidFill xmlns:a="http://schemas.openxmlformats.org/drawingml/2006/main">
            <a:srgbClr val="DDECF9"/>
          </a:solidFill>
          <a:ln xmlns:a="http://schemas.openxmlformats.org/drawingml/2006/main" w="9525">
            <a:solidFill>
              <a:srgbClr val="2D84D3"/>
            </a:solidFill>
          </a:ln>
        </p:spPr>
      </p:sp>
      <p:sp>
        <p:nvSpPr>
          <p:cNvPr id="35" name="">
            <a:extLst xmlns:a="http://schemas.openxmlformats.org/drawingml/2006/main">
              <a:ext uri="{FF2B5EF4-FFF2-40B4-BE49-F238E27FC236}">
                <a16:creationId xmlns:a16="http://schemas.microsoft.com/office/drawing/2014/main" id="{07997A14-9F5C-4CDD-83AD-A4B9452E0483}"/>
              </a:ext>
            </a:extLst>
          </p:cNvPr>
          <p:cNvSpPr>
            <a:spLocks xmlns:a="http://schemas.openxmlformats.org/drawingml/2006/main" noGrp="1"/>
          </p:cNvSpPr>
          <p:nvPr/>
        </p:nvSpPr>
        <p:spPr>
          <a:xfrm xmlns:a="http://schemas.openxmlformats.org/drawingml/2006/main">
            <a:off x="3733800" y="4210050"/>
            <a:ext cx="1600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DE1040B-1962-48A0-B9A4-028172753B27}"/>
              </a:ext>
            </a:extLst>
          </p:cNvPr>
          <p:cNvSpPr>
            <a:spLocks xmlns:a="http://schemas.openxmlformats.org/drawingml/2006/main" noGrp="1"/>
          </p:cNvSpPr>
          <p:nvPr/>
        </p:nvSpPr>
        <p:spPr>
          <a:xfrm xmlns:a="http://schemas.openxmlformats.org/drawingml/2006/main">
            <a:off x="3829050" y="4229100"/>
            <a:ext cx="1409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 · VISUAL REGION</a:t>
            </a:r>
          </a:p>
        </p:txBody>
      </p:sp>
      <p:sp>
        <p:nvSpPr>
          <p:cNvPr id="37" name="">
            <a:extLst xmlns:a="http://schemas.openxmlformats.org/drawingml/2006/main">
              <a:ext uri="{FF2B5EF4-FFF2-40B4-BE49-F238E27FC236}">
                <a16:creationId xmlns:a16="http://schemas.microsoft.com/office/drawing/2014/main" id="{8352C723-0B7E-487F-A526-EA483D28CD0D}"/>
              </a:ext>
            </a:extLst>
          </p:cNvPr>
          <p:cNvSpPr>
            <a:spLocks xmlns:a="http://schemas.openxmlformats.org/drawingml/2006/main" noGrp="1"/>
          </p:cNvSpPr>
          <p:nvPr/>
        </p:nvSpPr>
        <p:spPr>
          <a:xfrm xmlns:a="http://schemas.openxmlformats.org/drawingml/2006/main">
            <a:off x="3733800" y="4629150"/>
            <a:ext cx="2895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target or distractor image-region residuals to test whether localized visual evidence restores the coordinate preference.</a:t>
            </a:r>
          </a:p>
        </p:txBody>
      </p:sp>
      <p:sp>
        <p:nvSpPr>
          <p:cNvPr id="38" name="">
            <a:extLst xmlns:a="http://schemas.openxmlformats.org/drawingml/2006/main">
              <a:ext uri="{FF2B5EF4-FFF2-40B4-BE49-F238E27FC236}">
                <a16:creationId xmlns:a16="http://schemas.microsoft.com/office/drawing/2014/main" id="{798E181B-D977-4986-A943-D13DB6AFFBCF}"/>
              </a:ext>
            </a:extLst>
          </p:cNvPr>
          <p:cNvSpPr>
            <a:spLocks xmlns:a="http://schemas.openxmlformats.org/drawingml/2006/main" noGrp="1"/>
          </p:cNvSpPr>
          <p:nvPr/>
        </p:nvSpPr>
        <p:spPr>
          <a:xfrm xmlns:a="http://schemas.openxmlformats.org/drawingml/2006/main">
            <a:off x="7105650" y="4019550"/>
            <a:ext cx="3943350" cy="1466850"/>
          </a:xfrm>
          <a:prstGeom xmlns:a="http://schemas.openxmlformats.org/drawingml/2006/main" prst="roundRect">
            <a:avLst>
              <a:gd name="adj" fmla="val 5195"/>
            </a:avLst>
          </a:prstGeom>
          <a:solidFill xmlns:a="http://schemas.openxmlformats.org/drawingml/2006/main">
            <a:srgbClr val="FCE2D9"/>
          </a:solidFill>
          <a:ln xmlns:a="http://schemas.openxmlformats.org/drawingml/2006/main" w="9525">
            <a:solidFill>
              <a:srgbClr val="F05A3C"/>
            </a:solidFill>
          </a:ln>
        </p:spPr>
      </p:sp>
      <p:sp>
        <p:nvSpPr>
          <p:cNvPr id="39" name="">
            <a:extLst xmlns:a="http://schemas.openxmlformats.org/drawingml/2006/main">
              <a:ext uri="{FF2B5EF4-FFF2-40B4-BE49-F238E27FC236}">
                <a16:creationId xmlns:a16="http://schemas.microsoft.com/office/drawing/2014/main" id="{BBB0A696-739B-45A8-A805-C68FAD13150B}"/>
              </a:ext>
            </a:extLst>
          </p:cNvPr>
          <p:cNvSpPr>
            <a:spLocks xmlns:a="http://schemas.openxmlformats.org/drawingml/2006/main" noGrp="1"/>
          </p:cNvSpPr>
          <p:nvPr/>
        </p:nvSpPr>
        <p:spPr>
          <a:xfrm xmlns:a="http://schemas.openxmlformats.org/drawingml/2006/main">
            <a:off x="7296150" y="4210050"/>
            <a:ext cx="1847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78399C47-8101-47A9-A8C2-028AF448171A}"/>
              </a:ext>
            </a:extLst>
          </p:cNvPr>
          <p:cNvSpPr>
            <a:spLocks xmlns:a="http://schemas.openxmlformats.org/drawingml/2006/main" noGrp="1"/>
          </p:cNvSpPr>
          <p:nvPr/>
        </p:nvSpPr>
        <p:spPr>
          <a:xfrm xmlns:a="http://schemas.openxmlformats.org/drawingml/2006/main">
            <a:off x="7391400" y="4229100"/>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 · COORDINATE STATE</a:t>
            </a:r>
          </a:p>
        </p:txBody>
      </p:sp>
      <p:sp>
        <p:nvSpPr>
          <p:cNvPr id="41" name="">
            <a:extLst xmlns:a="http://schemas.openxmlformats.org/drawingml/2006/main">
              <a:ext uri="{FF2B5EF4-FFF2-40B4-BE49-F238E27FC236}">
                <a16:creationId xmlns:a16="http://schemas.microsoft.com/office/drawing/2014/main" id="{D496DC29-F7A2-4601-B701-43C30B4E456F}"/>
              </a:ext>
            </a:extLst>
          </p:cNvPr>
          <p:cNvSpPr>
            <a:spLocks xmlns:a="http://schemas.openxmlformats.org/drawingml/2006/main" noGrp="1"/>
          </p:cNvSpPr>
          <p:nvPr/>
        </p:nvSpPr>
        <p:spPr>
          <a:xfrm xmlns:a="http://schemas.openxmlformats.org/drawingml/2006/main">
            <a:off x="7296150" y="4629150"/>
            <a:ext cx="352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coordinate-token residuals across layers. Then test the selected Layer 15 state and each attention head at x-token positions.</a:t>
            </a:r>
          </a:p>
        </p:txBody>
      </p:sp>
      <p:sp>
        <p:nvSpPr>
          <p:cNvPr id="42" name="">
            <a:extLst xmlns:a="http://schemas.openxmlformats.org/drawingml/2006/main">
              <a:ext uri="{FF2B5EF4-FFF2-40B4-BE49-F238E27FC236}">
                <a16:creationId xmlns:a16="http://schemas.microsoft.com/office/drawing/2014/main" id="{4BCB048E-A927-419B-B24C-532C308E2995}"/>
              </a:ext>
            </a:extLst>
          </p:cNvPr>
          <p:cNvSpPr>
            <a:spLocks xmlns:a="http://schemas.openxmlformats.org/drawingml/2006/main" noGrp="1"/>
          </p:cNvSpPr>
          <p:nvPr/>
        </p:nvSpPr>
        <p:spPr>
          <a:xfrm xmlns:a="http://schemas.openxmlformats.org/drawingml/2006/main">
            <a:off x="3543300" y="5657850"/>
            <a:ext cx="7505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C2733"/>
                </a:solidFill>
                <a:latin typeface="Helvetica Neue"/>
                <a:ea typeface="Helvetica Neue"/>
                <a:cs typeface="Helvetica Neue"/>
              </a:defRPr>
            </a:pPr>
            <a:r>
              <a:rPr sz="1200" b="1">
                <a:solidFill>
                  <a:srgbClr val="1C2733"/>
                </a:solidFill>
                <a:latin typeface="Helvetica Neue"/>
                <a:ea typeface="Helvetica Neue"/>
                <a:cs typeface="Helvetica Neue"/>
              </a:rPr>
              <a:t>Metric: log p(target x digits) − log p(distractor x digits)</a:t>
            </a:r>
          </a:p>
        </p:txBody>
      </p:sp>
      <p:sp>
        <p:nvSpPr>
          <p:cNvPr id="43" name="">
            <a:extLst xmlns:a="http://schemas.openxmlformats.org/drawingml/2006/main">
              <a:ext uri="{FF2B5EF4-FFF2-40B4-BE49-F238E27FC236}">
                <a16:creationId xmlns:a16="http://schemas.microsoft.com/office/drawing/2014/main" id="{E1458DE5-5AE7-49FA-A2D4-8A74B7D1F33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01826882-964A-4234-ACB4-1F3C68DA539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Four equal-tile pairs × two mirrored instructions · native 2880×1800 · official VisualLocalizerOutput contract</a:t>
            </a:r>
          </a:p>
        </p:txBody>
      </p:sp>
    </p:spTree>
    <p:extLst>
      <p:ext uri="{BB962C8B-B14F-4D97-AF65-F5344CB8AC3E}">
        <p14:creationId xmlns:p14="http://schemas.microsoft.com/office/powerpoint/2010/main" val="1329499858"/>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0E13794-7C47-4D04-ADF6-B4925D03FBA0}"/>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RESULT · LAYER 15</a:t>
            </a:r>
          </a:p>
        </p:txBody>
      </p:sp>
      <p:sp>
        <p:nvSpPr>
          <p:cNvPr id="2" name="">
            <a:extLst xmlns:a="http://schemas.openxmlformats.org/drawingml/2006/main">
              <a:ext uri="{FF2B5EF4-FFF2-40B4-BE49-F238E27FC236}">
                <a16:creationId xmlns:a16="http://schemas.microsoft.com/office/drawing/2014/main" id="{B056C2C0-3941-4EAE-B7A2-A5D8935C92E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Fine-tuning makes the coordinate state more recoverable</a:t>
            </a:r>
          </a:p>
        </p:txBody>
      </p:sp>
      <p:sp>
        <p:nvSpPr>
          <p:cNvPr id="3" name="">
            <a:extLst xmlns:a="http://schemas.openxmlformats.org/drawingml/2006/main">
              <a:ext uri="{FF2B5EF4-FFF2-40B4-BE49-F238E27FC236}">
                <a16:creationId xmlns:a16="http://schemas.microsoft.com/office/drawing/2014/main" id="{ACBF88B4-DA8D-4276-905E-D58F08BB576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EB902252-E178-4A12-AF63-94CA0E4ECEBC}"/>
              </a:ext>
            </a:extLst>
          </p:cNvPr>
          <p:cNvSpPr>
            <a:spLocks xmlns:a="http://schemas.openxmlformats.org/drawingml/2006/main" noGrp="1"/>
          </p:cNvSpPr>
          <p:nvPr/>
        </p:nvSpPr>
        <p:spPr>
          <a:xfrm xmlns:a="http://schemas.openxmlformats.org/drawingml/2006/main">
            <a:off x="609600" y="1123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 x-coordinate teacher forcing · same processor, prompt, image bytes, and candidate syntax</a:t>
            </a:r>
          </a:p>
        </p:txBody>
      </p:sp>
      <p:sp>
        <p:nvSpPr>
          <p:cNvPr id="5" name="">
            <a:extLst xmlns:a="http://schemas.openxmlformats.org/drawingml/2006/main">
              <a:ext uri="{FF2B5EF4-FFF2-40B4-BE49-F238E27FC236}">
                <a16:creationId xmlns:a16="http://schemas.microsoft.com/office/drawing/2014/main" id="{4FD5C6A8-045A-4790-B490-E91C504D081E}"/>
              </a:ext>
            </a:extLst>
          </p:cNvPr>
          <p:cNvSpPr>
            <a:spLocks xmlns:a="http://schemas.openxmlformats.org/drawingml/2006/main" noGrp="1"/>
          </p:cNvSpPr>
          <p:nvPr/>
        </p:nvSpPr>
        <p:spPr>
          <a:xfrm xmlns:a="http://schemas.openxmlformats.org/drawingml/2006/main">
            <a:off x="609600" y="1524000"/>
            <a:ext cx="5238750" cy="1581150"/>
          </a:xfrm>
          <a:prstGeom xmlns:a="http://schemas.openxmlformats.org/drawingml/2006/main" prst="roundRect">
            <a:avLst>
              <a:gd name="adj" fmla="val 4819"/>
            </a:avLst>
          </a:prstGeom>
          <a:solidFill xmlns:a="http://schemas.openxmlformats.org/drawingml/2006/main">
            <a:srgbClr val="DDEFE7"/>
          </a:solidFill>
          <a:ln xmlns:a="http://schemas.openxmlformats.org/drawingml/2006/main" w="9525">
            <a:solidFill>
              <a:srgbClr val="18A875"/>
            </a:solidFill>
          </a:ln>
        </p:spPr>
      </p:sp>
      <p:sp>
        <p:nvSpPr>
          <p:cNvPr id="6" name="">
            <a:extLst xmlns:a="http://schemas.openxmlformats.org/drawingml/2006/main">
              <a:ext uri="{FF2B5EF4-FFF2-40B4-BE49-F238E27FC236}">
                <a16:creationId xmlns:a16="http://schemas.microsoft.com/office/drawing/2014/main" id="{782F920B-2944-4C1A-932A-079B46F0BE98}"/>
              </a:ext>
            </a:extLst>
          </p:cNvPr>
          <p:cNvSpPr>
            <a:spLocks xmlns:a="http://schemas.openxmlformats.org/drawingml/2006/main" noGrp="1"/>
          </p:cNvSpPr>
          <p:nvPr/>
        </p:nvSpPr>
        <p:spPr>
          <a:xfrm xmlns:a="http://schemas.openxmlformats.org/drawingml/2006/main">
            <a:off x="819150" y="17526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PATCH CLEAN STATE INTO THE CORRUPTED RUN</a:t>
            </a:r>
          </a:p>
        </p:txBody>
      </p:sp>
      <p:sp>
        <p:nvSpPr>
          <p:cNvPr id="7" name="">
            <a:extLst xmlns:a="http://schemas.openxmlformats.org/drawingml/2006/main">
              <a:ext uri="{FF2B5EF4-FFF2-40B4-BE49-F238E27FC236}">
                <a16:creationId xmlns:a16="http://schemas.microsoft.com/office/drawing/2014/main" id="{48035515-68F7-4285-BDD6-E306557210AE}"/>
              </a:ext>
            </a:extLst>
          </p:cNvPr>
          <p:cNvSpPr>
            <a:spLocks xmlns:a="http://schemas.openxmlformats.org/drawingml/2006/main" noGrp="1"/>
          </p:cNvSpPr>
          <p:nvPr/>
        </p:nvSpPr>
        <p:spPr>
          <a:xfrm xmlns:a="http://schemas.openxmlformats.org/drawingml/2006/main">
            <a:off x="8191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A875"/>
                </a:solidFill>
                <a:latin typeface="Helvetica Neue"/>
                <a:ea typeface="Helvetica Neue"/>
                <a:cs typeface="Helvetica Neue"/>
              </a:defRPr>
            </a:pPr>
            <a:r>
              <a:rPr sz="1875" b="1">
                <a:solidFill>
                  <a:srgbClr val="18A875"/>
                </a:solidFill>
                <a:latin typeface="Helvetica Neue"/>
                <a:ea typeface="Helvetica Neue"/>
                <a:cs typeface="Helvetica Neue"/>
              </a:rPr>
              <a:t>Holo  +1.01 nats</a:t>
            </a:r>
          </a:p>
        </p:txBody>
      </p:sp>
      <p:sp>
        <p:nvSpPr>
          <p:cNvPr id="8" name="">
            <a:extLst xmlns:a="http://schemas.openxmlformats.org/drawingml/2006/main">
              <a:ext uri="{FF2B5EF4-FFF2-40B4-BE49-F238E27FC236}">
                <a16:creationId xmlns:a16="http://schemas.microsoft.com/office/drawing/2014/main" id="{388CEA5F-418A-4CB2-87BF-1D5FC447083C}"/>
              </a:ext>
            </a:extLst>
          </p:cNvPr>
          <p:cNvSpPr>
            <a:spLocks xmlns:a="http://schemas.openxmlformats.org/drawingml/2006/main" noGrp="1"/>
          </p:cNvSpPr>
          <p:nvPr/>
        </p:nvSpPr>
        <p:spPr>
          <a:xfrm xmlns:a="http://schemas.openxmlformats.org/drawingml/2006/main">
            <a:off x="3162300" y="21145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C2733"/>
                </a:solidFill>
                <a:latin typeface="Helvetica Neue"/>
                <a:ea typeface="Helvetica Neue"/>
                <a:cs typeface="Helvetica Neue"/>
              </a:defRPr>
            </a:pPr>
            <a:r>
              <a:rPr sz="1875" b="1">
                <a:solidFill>
                  <a:srgbClr val="1C2733"/>
                </a:solidFill>
                <a:latin typeface="Helvetica Neue"/>
                <a:ea typeface="Helvetica Neue"/>
                <a:cs typeface="Helvetica Neue"/>
              </a:rPr>
              <a:t>Qwen  +0.10 nats</a:t>
            </a:r>
          </a:p>
        </p:txBody>
      </p:sp>
      <p:sp>
        <p:nvSpPr>
          <p:cNvPr id="9" name="">
            <a:extLst xmlns:a="http://schemas.openxmlformats.org/drawingml/2006/main">
              <a:ext uri="{FF2B5EF4-FFF2-40B4-BE49-F238E27FC236}">
                <a16:creationId xmlns:a16="http://schemas.microsoft.com/office/drawing/2014/main" id="{6644336C-B50B-4A84-87CE-E900781883FC}"/>
              </a:ext>
            </a:extLst>
          </p:cNvPr>
          <p:cNvSpPr>
            <a:spLocks xmlns:a="http://schemas.openxmlformats.org/drawingml/2006/main" noGrp="1"/>
          </p:cNvSpPr>
          <p:nvPr/>
        </p:nvSpPr>
        <p:spPr>
          <a:xfrm xmlns:a="http://schemas.openxmlformats.org/drawingml/2006/main">
            <a:off x="819150" y="25908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Median gain in target-over-distractor coordinate margin</a:t>
            </a:r>
          </a:p>
        </p:txBody>
      </p:sp>
      <p:sp>
        <p:nvSpPr>
          <p:cNvPr id="10" name="">
            <a:extLst xmlns:a="http://schemas.openxmlformats.org/drawingml/2006/main">
              <a:ext uri="{FF2B5EF4-FFF2-40B4-BE49-F238E27FC236}">
                <a16:creationId xmlns:a16="http://schemas.microsoft.com/office/drawing/2014/main" id="{803E3AE0-3AB9-400C-B388-14385A794555}"/>
              </a:ext>
            </a:extLst>
          </p:cNvPr>
          <p:cNvSpPr>
            <a:spLocks xmlns:a="http://schemas.openxmlformats.org/drawingml/2006/main" noGrp="1"/>
          </p:cNvSpPr>
          <p:nvPr/>
        </p:nvSpPr>
        <p:spPr>
          <a:xfrm xmlns:a="http://schemas.openxmlformats.org/drawingml/2006/main">
            <a:off x="6076950" y="1524000"/>
            <a:ext cx="55054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DD3B5154-3972-4EAD-8365-2CCB550CC545}"/>
              </a:ext>
            </a:extLst>
          </p:cNvPr>
          <p:cNvSpPr>
            <a:spLocks xmlns:a="http://schemas.openxmlformats.org/drawingml/2006/main" noGrp="1"/>
          </p:cNvSpPr>
          <p:nvPr/>
        </p:nvSpPr>
        <p:spPr>
          <a:xfrm xmlns:a="http://schemas.openxmlformats.org/drawingml/2006/main">
            <a:off x="6286500" y="175260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ZERO THE SAME STATE IN THE CLEAN RUN</a:t>
            </a:r>
          </a:p>
        </p:txBody>
      </p:sp>
      <p:sp>
        <p:nvSpPr>
          <p:cNvPr id="12" name="">
            <a:extLst xmlns:a="http://schemas.openxmlformats.org/drawingml/2006/main">
              <a:ext uri="{FF2B5EF4-FFF2-40B4-BE49-F238E27FC236}">
                <a16:creationId xmlns:a16="http://schemas.microsoft.com/office/drawing/2014/main" id="{A637FB4A-F9D0-410C-A7A2-283D6C0BB8DA}"/>
              </a:ext>
            </a:extLst>
          </p:cNvPr>
          <p:cNvSpPr>
            <a:spLocks xmlns:a="http://schemas.openxmlformats.org/drawingml/2006/main" noGrp="1"/>
          </p:cNvSpPr>
          <p:nvPr/>
        </p:nvSpPr>
        <p:spPr>
          <a:xfrm xmlns:a="http://schemas.openxmlformats.org/drawingml/2006/main">
            <a:off x="628650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Holo  4.51 nats lost</a:t>
            </a:r>
          </a:p>
        </p:txBody>
      </p:sp>
      <p:sp>
        <p:nvSpPr>
          <p:cNvPr id="13" name="">
            <a:extLst xmlns:a="http://schemas.openxmlformats.org/drawingml/2006/main">
              <a:ext uri="{FF2B5EF4-FFF2-40B4-BE49-F238E27FC236}">
                <a16:creationId xmlns:a16="http://schemas.microsoft.com/office/drawing/2014/main" id="{92211FC2-295F-41AE-BAC8-3738EAC1A1CD}"/>
              </a:ext>
            </a:extLst>
          </p:cNvPr>
          <p:cNvSpPr>
            <a:spLocks xmlns:a="http://schemas.openxmlformats.org/drawingml/2006/main" noGrp="1"/>
          </p:cNvSpPr>
          <p:nvPr/>
        </p:nvSpPr>
        <p:spPr>
          <a:xfrm xmlns:a="http://schemas.openxmlformats.org/drawingml/2006/main">
            <a:off x="88582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C2733"/>
                </a:solidFill>
                <a:latin typeface="Helvetica Neue"/>
                <a:ea typeface="Helvetica Neue"/>
                <a:cs typeface="Helvetica Neue"/>
              </a:defRPr>
            </a:pPr>
            <a:r>
              <a:rPr sz="1575" b="1">
                <a:solidFill>
                  <a:srgbClr val="1C2733"/>
                </a:solidFill>
                <a:latin typeface="Helvetica Neue"/>
                <a:ea typeface="Helvetica Neue"/>
                <a:cs typeface="Helvetica Neue"/>
              </a:rPr>
              <a:t>Qwen  6.27 nats lost</a:t>
            </a:r>
          </a:p>
        </p:txBody>
      </p:sp>
      <p:sp>
        <p:nvSpPr>
          <p:cNvPr id="14" name="">
            <a:extLst xmlns:a="http://schemas.openxmlformats.org/drawingml/2006/main">
              <a:ext uri="{FF2B5EF4-FFF2-40B4-BE49-F238E27FC236}">
                <a16:creationId xmlns:a16="http://schemas.microsoft.com/office/drawing/2014/main" id="{C977916E-9129-4149-9510-D6CB53CC6FC3}"/>
              </a:ext>
            </a:extLst>
          </p:cNvPr>
          <p:cNvSpPr>
            <a:spLocks xmlns:a="http://schemas.openxmlformats.org/drawingml/2006/main" noGrp="1"/>
          </p:cNvSpPr>
          <p:nvPr/>
        </p:nvSpPr>
        <p:spPr>
          <a:xfrm xmlns:a="http://schemas.openxmlformats.org/drawingml/2006/main">
            <a:off x="6286500" y="25717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Zero-ablation sets the Layer 15 coordinate residual to zero and measures the clean-margin drop</a:t>
            </a:r>
          </a:p>
        </p:txBody>
      </p:sp>
      <p:sp>
        <p:nvSpPr>
          <p:cNvPr id="15" name="">
            <a:extLst xmlns:a="http://schemas.openxmlformats.org/drawingml/2006/main">
              <a:ext uri="{FF2B5EF4-FFF2-40B4-BE49-F238E27FC236}">
                <a16:creationId xmlns:a16="http://schemas.microsoft.com/office/drawing/2014/main" id="{042393BD-28C1-4425-A88D-3344BD7981E4}"/>
              </a:ext>
            </a:extLst>
          </p:cNvPr>
          <p:cNvSpPr>
            <a:spLocks xmlns:a="http://schemas.openxmlformats.org/drawingml/2006/main" noGrp="1"/>
          </p:cNvSpPr>
          <p:nvPr/>
        </p:nvSpPr>
        <p:spPr>
          <a:xfrm xmlns:a="http://schemas.openxmlformats.org/drawingml/2006/main">
            <a:off x="609600" y="33909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WHAT THE INTERVENTIONS SHOW</a:t>
            </a:r>
          </a:p>
        </p:txBody>
      </p:sp>
      <p:sp>
        <p:nvSpPr>
          <p:cNvPr id="16" name="">
            <a:extLst xmlns:a="http://schemas.openxmlformats.org/drawingml/2006/main">
              <a:ext uri="{FF2B5EF4-FFF2-40B4-BE49-F238E27FC236}">
                <a16:creationId xmlns:a16="http://schemas.microsoft.com/office/drawing/2014/main" id="{EFAD88F3-A03E-47B3-8B33-62CF61F7E543}"/>
              </a:ext>
            </a:extLst>
          </p:cNvPr>
          <p:cNvSpPr>
            <a:spLocks xmlns:a="http://schemas.openxmlformats.org/drawingml/2006/main" noGrp="1"/>
          </p:cNvSpPr>
          <p:nvPr/>
        </p:nvSpPr>
        <p:spPr>
          <a:xfrm xmlns:a="http://schemas.openxmlformats.org/drawingml/2006/main">
            <a:off x="609600" y="3657600"/>
            <a:ext cx="10972800" cy="533400"/>
          </a:xfrm>
          <a:prstGeom xmlns:a="http://schemas.openxmlformats.org/drawingml/2006/main" prst="roundRect">
            <a:avLst>
              <a:gd name="adj" fmla="val 14286"/>
            </a:avLst>
          </a:prstGeom>
          <a:solidFill xmlns:a="http://schemas.openxmlformats.org/drawingml/2006/main">
            <a:srgbClr val="DDEFE7"/>
          </a:solidFill>
          <a:ln xmlns:a="http://schemas.openxmlformats.org/drawingml/2006/main" w="9525">
            <a:solidFill>
              <a:srgbClr val="18A875"/>
            </a:solidFill>
          </a:ln>
        </p:spPr>
      </p:sp>
      <p:sp>
        <p:nvSpPr>
          <p:cNvPr id="17" name="">
            <a:extLst xmlns:a="http://schemas.openxmlformats.org/drawingml/2006/main">
              <a:ext uri="{FF2B5EF4-FFF2-40B4-BE49-F238E27FC236}">
                <a16:creationId xmlns:a16="http://schemas.microsoft.com/office/drawing/2014/main" id="{26244A8B-6B9E-4D43-AD76-451894BDC280}"/>
              </a:ext>
            </a:extLst>
          </p:cNvPr>
          <p:cNvSpPr>
            <a:spLocks xmlns:a="http://schemas.openxmlformats.org/drawingml/2006/main" noGrp="1"/>
          </p:cNvSpPr>
          <p:nvPr/>
        </p:nvSpPr>
        <p:spPr>
          <a:xfrm xmlns:a="http://schemas.openxmlformats.org/drawingml/2006/main">
            <a:off x="781050" y="3781425"/>
            <a:ext cx="2857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56AF244-C405-40E2-9C6B-4CC7EE707E04}"/>
              </a:ext>
            </a:extLst>
          </p:cNvPr>
          <p:cNvSpPr>
            <a:spLocks xmlns:a="http://schemas.openxmlformats.org/drawingml/2006/main" noGrp="1"/>
          </p:cNvSpPr>
          <p:nvPr/>
        </p:nvSpPr>
        <p:spPr>
          <a:xfrm xmlns:a="http://schemas.openxmlformats.org/drawingml/2006/main">
            <a:off x="876300" y="38004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19" name="">
            <a:extLst xmlns:a="http://schemas.openxmlformats.org/drawingml/2006/main">
              <a:ext uri="{FF2B5EF4-FFF2-40B4-BE49-F238E27FC236}">
                <a16:creationId xmlns:a16="http://schemas.microsoft.com/office/drawing/2014/main" id="{10DEC363-C198-4339-A245-DEA12D81AF92}"/>
              </a:ext>
            </a:extLst>
          </p:cNvPr>
          <p:cNvSpPr>
            <a:spLocks xmlns:a="http://schemas.openxmlformats.org/drawingml/2006/main" noGrp="1"/>
          </p:cNvSpPr>
          <p:nvPr/>
        </p:nvSpPr>
        <p:spPr>
          <a:xfrm xmlns:a="http://schemas.openxmlformats.org/drawingml/2006/main">
            <a:off x="1257300" y="37528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Reliable Holo restoration</a:t>
            </a:r>
          </a:p>
        </p:txBody>
      </p:sp>
      <p:sp>
        <p:nvSpPr>
          <p:cNvPr id="20" name="">
            <a:extLst xmlns:a="http://schemas.openxmlformats.org/drawingml/2006/main">
              <a:ext uri="{FF2B5EF4-FFF2-40B4-BE49-F238E27FC236}">
                <a16:creationId xmlns:a16="http://schemas.microsoft.com/office/drawing/2014/main" id="{F99026FF-5E13-45CC-B2DA-6884459AB7FC}"/>
              </a:ext>
            </a:extLst>
          </p:cNvPr>
          <p:cNvSpPr>
            <a:spLocks xmlns:a="http://schemas.openxmlformats.org/drawingml/2006/main" noGrp="1"/>
          </p:cNvSpPr>
          <p:nvPr/>
        </p:nvSpPr>
        <p:spPr>
          <a:xfrm xmlns:a="http://schemas.openxmlformats.org/drawingml/2006/main">
            <a:off x="3752850" y="37338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Holo's clean Layer 15 state improves the corrupted margin in 7 of 8 prompts; the paired Holo-minus-Qwen median is +0.72 nats.</a:t>
            </a:r>
          </a:p>
        </p:txBody>
      </p:sp>
      <p:sp>
        <p:nvSpPr>
          <p:cNvPr id="21" name="">
            <a:extLst xmlns:a="http://schemas.openxmlformats.org/drawingml/2006/main">
              <a:ext uri="{FF2B5EF4-FFF2-40B4-BE49-F238E27FC236}">
                <a16:creationId xmlns:a16="http://schemas.microsoft.com/office/drawing/2014/main" id="{0DA5C2C7-064B-4F44-B24D-E6090C28E9D4}"/>
              </a:ext>
            </a:extLst>
          </p:cNvPr>
          <p:cNvSpPr>
            <a:spLocks xmlns:a="http://schemas.openxmlformats.org/drawingml/2006/main" noGrp="1"/>
          </p:cNvSpPr>
          <p:nvPr/>
        </p:nvSpPr>
        <p:spPr>
          <a:xfrm xmlns:a="http://schemas.openxmlformats.org/drawingml/2006/main">
            <a:off x="609600" y="4343400"/>
            <a:ext cx="10972800" cy="533400"/>
          </a:xfrm>
          <a:prstGeom xmlns:a="http://schemas.openxmlformats.org/drawingml/2006/main" prst="roundRect">
            <a:avLst>
              <a:gd name="adj" fmla="val 1428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4927016E-1595-49C3-A8B6-F4474E64F2F4}"/>
              </a:ext>
            </a:extLst>
          </p:cNvPr>
          <p:cNvSpPr>
            <a:spLocks xmlns:a="http://schemas.openxmlformats.org/drawingml/2006/main" noGrp="1"/>
          </p:cNvSpPr>
          <p:nvPr/>
        </p:nvSpPr>
        <p:spPr>
          <a:xfrm xmlns:a="http://schemas.openxmlformats.org/drawingml/2006/main">
            <a:off x="781050" y="4467225"/>
            <a:ext cx="2857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69ADBBC-5F41-404E-B9C0-ACBC6D3A19B6}"/>
              </a:ext>
            </a:extLst>
          </p:cNvPr>
          <p:cNvSpPr>
            <a:spLocks xmlns:a="http://schemas.openxmlformats.org/drawingml/2006/main" noGrp="1"/>
          </p:cNvSpPr>
          <p:nvPr/>
        </p:nvSpPr>
        <p:spPr>
          <a:xfrm xmlns:a="http://schemas.openxmlformats.org/drawingml/2006/main">
            <a:off x="876300" y="44862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C67262C0-A6E3-474D-89F9-1240C86912BC}"/>
              </a:ext>
            </a:extLst>
          </p:cNvPr>
          <p:cNvSpPr>
            <a:spLocks xmlns:a="http://schemas.openxmlformats.org/drawingml/2006/main" noGrp="1"/>
          </p:cNvSpPr>
          <p:nvPr/>
        </p:nvSpPr>
        <p:spPr>
          <a:xfrm xmlns:a="http://schemas.openxmlformats.org/drawingml/2006/main">
            <a:off x="1257300" y="44386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C2733"/>
                </a:solidFill>
                <a:latin typeface="Helvetica Neue"/>
                <a:ea typeface="Helvetica Neue"/>
                <a:cs typeface="Helvetica Neue"/>
              </a:defRPr>
            </a:pPr>
            <a:r>
              <a:rPr sz="1125" b="1">
                <a:solidFill>
                  <a:srgbClr val="1C2733"/>
                </a:solidFill>
                <a:latin typeface="Helvetica Neue"/>
                <a:ea typeface="Helvetica Neue"/>
                <a:cs typeface="Helvetica Neue"/>
              </a:rPr>
              <a:t>Shared necessity</a:t>
            </a:r>
          </a:p>
        </p:txBody>
      </p:sp>
      <p:sp>
        <p:nvSpPr>
          <p:cNvPr id="25" name="">
            <a:extLst xmlns:a="http://schemas.openxmlformats.org/drawingml/2006/main">
              <a:ext uri="{FF2B5EF4-FFF2-40B4-BE49-F238E27FC236}">
                <a16:creationId xmlns:a16="http://schemas.microsoft.com/office/drawing/2014/main" id="{57BBBDFB-1600-4D2B-B16D-60B7DCFB78CD}"/>
              </a:ext>
            </a:extLst>
          </p:cNvPr>
          <p:cNvSpPr>
            <a:spLocks xmlns:a="http://schemas.openxmlformats.org/drawingml/2006/main" noGrp="1"/>
          </p:cNvSpPr>
          <p:nvPr/>
        </p:nvSpPr>
        <p:spPr>
          <a:xfrm xmlns:a="http://schemas.openxmlformats.org/drawingml/2006/main">
            <a:off x="3752850" y="44196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Zeroing the state harms both checkpoints. Holo gains recoverability after fine-tuning, but the underlying coordinate state is not unique to Holo.</a:t>
            </a:r>
          </a:p>
        </p:txBody>
      </p:sp>
      <p:sp>
        <p:nvSpPr>
          <p:cNvPr id="26" name="">
            <a:extLst xmlns:a="http://schemas.openxmlformats.org/drawingml/2006/main">
              <a:ext uri="{FF2B5EF4-FFF2-40B4-BE49-F238E27FC236}">
                <a16:creationId xmlns:a16="http://schemas.microsoft.com/office/drawing/2014/main" id="{0C57E0F1-05FB-4E83-BAEF-BB47C7C43606}"/>
              </a:ext>
            </a:extLst>
          </p:cNvPr>
          <p:cNvSpPr>
            <a:spLocks xmlns:a="http://schemas.openxmlformats.org/drawingml/2006/main" noGrp="1"/>
          </p:cNvSpPr>
          <p:nvPr/>
        </p:nvSpPr>
        <p:spPr>
          <a:xfrm xmlns:a="http://schemas.openxmlformats.org/drawingml/2006/main">
            <a:off x="609600" y="5029200"/>
            <a:ext cx="10972800" cy="533400"/>
          </a:xfrm>
          <a:prstGeom xmlns:a="http://schemas.openxmlformats.org/drawingml/2006/main" prst="roundRect">
            <a:avLst>
              <a:gd name="adj" fmla="val 14286"/>
            </a:avLst>
          </a:prstGeom>
          <a:solidFill xmlns:a="http://schemas.openxmlformats.org/drawingml/2006/main">
            <a:srgbClr val="FCE2D9"/>
          </a:solidFill>
          <a:ln xmlns:a="http://schemas.openxmlformats.org/drawingml/2006/main" w="9525">
            <a:solidFill>
              <a:srgbClr val="F05A3C"/>
            </a:solidFill>
          </a:ln>
        </p:spPr>
      </p:sp>
      <p:sp>
        <p:nvSpPr>
          <p:cNvPr id="27" name="">
            <a:extLst xmlns:a="http://schemas.openxmlformats.org/drawingml/2006/main">
              <a:ext uri="{FF2B5EF4-FFF2-40B4-BE49-F238E27FC236}">
                <a16:creationId xmlns:a16="http://schemas.microsoft.com/office/drawing/2014/main" id="{D3A85456-4641-4B17-99BA-C8538FB1BD7C}"/>
              </a:ext>
            </a:extLst>
          </p:cNvPr>
          <p:cNvSpPr>
            <a:spLocks xmlns:a="http://schemas.openxmlformats.org/drawingml/2006/main" noGrp="1"/>
          </p:cNvSpPr>
          <p:nvPr/>
        </p:nvSpPr>
        <p:spPr>
          <a:xfrm xmlns:a="http://schemas.openxmlformats.org/drawingml/2006/main">
            <a:off x="781050" y="5153025"/>
            <a:ext cx="285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EDC84D2-836C-420E-991C-63B33B763BB7}"/>
              </a:ext>
            </a:extLst>
          </p:cNvPr>
          <p:cNvSpPr>
            <a:spLocks xmlns:a="http://schemas.openxmlformats.org/drawingml/2006/main" noGrp="1"/>
          </p:cNvSpPr>
          <p:nvPr/>
        </p:nvSpPr>
        <p:spPr>
          <a:xfrm xmlns:a="http://schemas.openxmlformats.org/drawingml/2006/main">
            <a:off x="876300" y="51720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795F8F85-5844-4248-9AEA-1DC7235424FC}"/>
              </a:ext>
            </a:extLst>
          </p:cNvPr>
          <p:cNvSpPr>
            <a:spLocks xmlns:a="http://schemas.openxmlformats.org/drawingml/2006/main" noGrp="1"/>
          </p:cNvSpPr>
          <p:nvPr/>
        </p:nvSpPr>
        <p:spPr>
          <a:xfrm xmlns:a="http://schemas.openxmlformats.org/drawingml/2006/main">
            <a:off x="1257300" y="51244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Distributed across heads</a:t>
            </a:r>
          </a:p>
        </p:txBody>
      </p:sp>
      <p:sp>
        <p:nvSpPr>
          <p:cNvPr id="30" name="">
            <a:extLst xmlns:a="http://schemas.openxmlformats.org/drawingml/2006/main">
              <a:ext uri="{FF2B5EF4-FFF2-40B4-BE49-F238E27FC236}">
                <a16:creationId xmlns:a16="http://schemas.microsoft.com/office/drawing/2014/main" id="{4541671D-B370-4ECE-895A-64FD29B72384}"/>
              </a:ext>
            </a:extLst>
          </p:cNvPr>
          <p:cNvSpPr>
            <a:spLocks xmlns:a="http://schemas.openxmlformats.org/drawingml/2006/main" noGrp="1"/>
          </p:cNvSpPr>
          <p:nvPr/>
        </p:nvSpPr>
        <p:spPr>
          <a:xfrm xmlns:a="http://schemas.openxmlformats.org/drawingml/2006/main">
            <a:off x="3752850" y="51054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All 16 heads were tested. Holo head 1 restores +0.54 nats, while Qwen also uses it at +0.36; no single head explains the effect.</a:t>
            </a:r>
          </a:p>
        </p:txBody>
      </p:sp>
      <p:sp>
        <p:nvSpPr>
          <p:cNvPr id="31" name="">
            <a:extLst xmlns:a="http://schemas.openxmlformats.org/drawingml/2006/main">
              <a:ext uri="{FF2B5EF4-FFF2-40B4-BE49-F238E27FC236}">
                <a16:creationId xmlns:a16="http://schemas.microsoft.com/office/drawing/2014/main" id="{BF428D93-9387-47AB-9AC6-404AB05FEF08}"/>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19048"/>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71D0128-C4A3-4CAD-80E6-36726F568DEA}"/>
              </a:ext>
            </a:extLst>
          </p:cNvPr>
          <p:cNvSpPr>
            <a:spLocks xmlns:a="http://schemas.openxmlformats.org/drawingml/2006/main" noGrp="1"/>
          </p:cNvSpPr>
          <p:nvPr/>
        </p:nvSpPr>
        <p:spPr>
          <a:xfrm xmlns:a="http://schemas.openxmlformats.org/drawingml/2006/main">
            <a:off x="800100" y="5924550"/>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The causal gain sits in a distributed coordinate state, not in one specialized attention head.</a:t>
            </a:r>
          </a:p>
        </p:txBody>
      </p:sp>
      <p:sp>
        <p:nvSpPr>
          <p:cNvPr id="33" name="">
            <a:extLst xmlns:a="http://schemas.openxmlformats.org/drawingml/2006/main">
              <a:ext uri="{FF2B5EF4-FFF2-40B4-BE49-F238E27FC236}">
                <a16:creationId xmlns:a16="http://schemas.microsoft.com/office/drawing/2014/main" id="{005C4A13-1986-488D-A1FD-968432082A7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BE7781C7-CBB8-4A24-9379-641720F5154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Within-image causal panel · not an independent-image benchmark or a single-head circuit claim</a:t>
            </a:r>
          </a:p>
        </p:txBody>
      </p:sp>
    </p:spTree>
    <p:extLst>
      <p:ext uri="{BB962C8B-B14F-4D97-AF65-F5344CB8AC3E}">
        <p14:creationId xmlns:p14="http://schemas.microsoft.com/office/powerpoint/2010/main" val="1578521703"/>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18B55C1-FD01-4BF2-BA22-14EE5213851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NEXT TESTS</a:t>
            </a:r>
          </a:p>
        </p:txBody>
      </p:sp>
      <p:sp>
        <p:nvSpPr>
          <p:cNvPr id="2" name="">
            <a:extLst xmlns:a="http://schemas.openxmlformats.org/drawingml/2006/main">
              <a:ext uri="{FF2B5EF4-FFF2-40B4-BE49-F238E27FC236}">
                <a16:creationId xmlns:a16="http://schemas.microsoft.com/office/drawing/2014/main" id="{1A95B62D-CEF7-415B-BF4B-BFFC7F12818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Future research directions</a:t>
            </a:r>
          </a:p>
        </p:txBody>
      </p:sp>
      <p:sp>
        <p:nvSpPr>
          <p:cNvPr id="3" name="">
            <a:extLst xmlns:a="http://schemas.openxmlformats.org/drawingml/2006/main">
              <a:ext uri="{FF2B5EF4-FFF2-40B4-BE49-F238E27FC236}">
                <a16:creationId xmlns:a16="http://schemas.microsoft.com/office/drawing/2014/main" id="{675BE4E1-CC70-4745-9BF4-59B459EB98F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05422564-9D9F-4839-9797-94B969B23493}"/>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4134A8B1-C9EE-4FA3-9222-8B07AC712788}"/>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1265612-3FC7-40E1-88BD-460AB0AAF7DE}"/>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F4FF7A75-789D-4B89-A545-C1A8C9808B4A}"/>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2175C04-6FEF-474E-A1D6-0CE65AEB752A}"/>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FULL RESOLUTION-ATTRIBUTION COHORT</a:t>
            </a:r>
          </a:p>
        </p:txBody>
      </p:sp>
      <p:sp>
        <p:nvSpPr>
          <p:cNvPr id="9" name="">
            <a:extLst xmlns:a="http://schemas.openxmlformats.org/drawingml/2006/main">
              <a:ext uri="{FF2B5EF4-FFF2-40B4-BE49-F238E27FC236}">
                <a16:creationId xmlns:a16="http://schemas.microsoft.com/office/drawing/2014/main" id="{9DA61BDB-E06D-4B72-8BC0-D19C6EE1CC82}"/>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Complete the remaining 18 frozen cases and estimate how often localization survives a missed click.</a:t>
            </a:r>
          </a:p>
        </p:txBody>
      </p:sp>
      <p:sp>
        <p:nvSpPr>
          <p:cNvPr id="10" name="">
            <a:extLst xmlns:a="http://schemas.openxmlformats.org/drawingml/2006/main">
              <a:ext uri="{FF2B5EF4-FFF2-40B4-BE49-F238E27FC236}">
                <a16:creationId xmlns:a16="http://schemas.microsoft.com/office/drawing/2014/main" id="{785AB054-F71F-4084-B7C6-257CD5808F58}"/>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E6383221-7A7F-4B1E-A97E-67792F772215}"/>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BDEA1A4-7E91-4369-9A28-5C5D21F823DB}"/>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8D5F25B6-58BC-48C5-907D-72E2C8565DF9}"/>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5BAD8DE-8375-41F3-A71E-3BB58128EE38}"/>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INDEPENDENT-IMAGE CAUSAL PANEL</a:t>
            </a:r>
          </a:p>
        </p:txBody>
      </p:sp>
      <p:sp>
        <p:nvSpPr>
          <p:cNvPr id="15" name="">
            <a:extLst xmlns:a="http://schemas.openxmlformats.org/drawingml/2006/main">
              <a:ext uri="{FF2B5EF4-FFF2-40B4-BE49-F238E27FC236}">
                <a16:creationId xmlns:a16="http://schemas.microsoft.com/office/drawing/2014/main" id="{4835DAD9-A7D3-4EDF-B104-754748C3CFCA}"/>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Repeat matched visual corruptions across applications and layouts, then report paired restoration distributions by item.</a:t>
            </a:r>
          </a:p>
        </p:txBody>
      </p:sp>
      <p:sp>
        <p:nvSpPr>
          <p:cNvPr id="16" name="">
            <a:extLst xmlns:a="http://schemas.openxmlformats.org/drawingml/2006/main">
              <a:ext uri="{FF2B5EF4-FFF2-40B4-BE49-F238E27FC236}">
                <a16:creationId xmlns:a16="http://schemas.microsoft.com/office/drawing/2014/main" id="{CFA5BDE4-9A43-482D-8496-C6004AC0F3C0}"/>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FF619BBF-32A4-479A-BC4A-5432E4514C23}"/>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0F06490-F02E-433B-AACF-922CA9E13291}"/>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E1895EB2-4275-4549-81AB-E478CFA0F350}"/>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DDEFE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364B100-5009-4D06-94A8-9BF94DBD0E9C}"/>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A29C655F-88FF-4637-AE64-78763BDC320E}"/>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Remove, shuffle, and patch historical frames to separate context retrieval from final coordinate binding.</a:t>
            </a:r>
          </a:p>
        </p:txBody>
      </p:sp>
      <p:sp>
        <p:nvSpPr>
          <p:cNvPr id="22" name="">
            <a:extLst xmlns:a="http://schemas.openxmlformats.org/drawingml/2006/main">
              <a:ext uri="{FF2B5EF4-FFF2-40B4-BE49-F238E27FC236}">
                <a16:creationId xmlns:a16="http://schemas.microsoft.com/office/drawing/2014/main" id="{FC020B87-A7AF-4B0E-8BD4-7BEFA3108638}"/>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1EAA5B50-82B0-4CC0-9E94-F15DF78FC9D2}"/>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B38E21B-58A7-4622-8D3F-66D9080CA8D5}"/>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64D1C3ED-146A-4A64-A7F1-6FC98724D41F}"/>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1F48CB4-4ECE-49D6-98A2-54C99DAB56F6}"/>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ACTION-READOUT TRAINING</a:t>
            </a:r>
          </a:p>
        </p:txBody>
      </p:sp>
      <p:sp>
        <p:nvSpPr>
          <p:cNvPr id="27" name="">
            <a:extLst xmlns:a="http://schemas.openxmlformats.org/drawingml/2006/main">
              <a:ext uri="{FF2B5EF4-FFF2-40B4-BE49-F238E27FC236}">
                <a16:creationId xmlns:a16="http://schemas.microsoft.com/office/drawing/2014/main" id="{E491F272-AEEE-4388-8456-B14436808867}"/>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Target coordinate precision with oracle trajectories and verifiable environment reward while holding out a frozen diagnostic split.</a:t>
            </a:r>
          </a:p>
        </p:txBody>
      </p:sp>
      <p:sp>
        <p:nvSpPr>
          <p:cNvPr id="28" name="">
            <a:extLst xmlns:a="http://schemas.openxmlformats.org/drawingml/2006/main">
              <a:ext uri="{FF2B5EF4-FFF2-40B4-BE49-F238E27FC236}">
                <a16:creationId xmlns:a16="http://schemas.microsoft.com/office/drawing/2014/main" id="{C2660F48-B3C5-43AE-807D-9469E44E4A5E}"/>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4222CFB-4D29-426C-B9E0-153E9CEE4B18}"/>
              </a:ext>
            </a:extLst>
          </p:cNvPr>
          <p:cNvSpPr>
            <a:spLocks xmlns:a="http://schemas.openxmlformats.org/drawingml/2006/main" noGrp="1"/>
          </p:cNvSpPr>
          <p:nvPr/>
        </p:nvSpPr>
        <p:spPr>
          <a:xfrm xmlns:a="http://schemas.openxmlformats.org/drawingml/2006/main">
            <a:off x="857250" y="54292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RESEARCH PRINCIPLE</a:t>
            </a:r>
          </a:p>
        </p:txBody>
      </p:sp>
      <p:sp>
        <p:nvSpPr>
          <p:cNvPr id="30" name="">
            <a:extLst xmlns:a="http://schemas.openxmlformats.org/drawingml/2006/main">
              <a:ext uri="{FF2B5EF4-FFF2-40B4-BE49-F238E27FC236}">
                <a16:creationId xmlns:a16="http://schemas.microsoft.com/office/drawing/2014/main" id="{DA5C3C03-C7BB-488B-8893-622CFEC89544}"/>
              </a:ext>
            </a:extLst>
          </p:cNvPr>
          <p:cNvSpPr>
            <a:spLocks xmlns:a="http://schemas.openxmlformats.org/drawingml/2006/main" noGrp="1"/>
          </p:cNvSpPr>
          <p:nvPr/>
        </p:nvSpPr>
        <p:spPr>
          <a:xfrm xmlns:a="http://schemas.openxmlformats.org/drawingml/2006/main">
            <a:off x="2705100" y="5391150"/>
            <a:ext cx="828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Use attribution to choose causal tests, then evaluate interventions on held-out behavior</a:t>
            </a:r>
          </a:p>
        </p:txBody>
      </p:sp>
      <p:sp>
        <p:nvSpPr>
          <p:cNvPr id="31" name="">
            <a:extLst xmlns:a="http://schemas.openxmlformats.org/drawingml/2006/main">
              <a:ext uri="{FF2B5EF4-FFF2-40B4-BE49-F238E27FC236}">
                <a16:creationId xmlns:a16="http://schemas.microsoft.com/office/drawing/2014/main" id="{DC0765B6-2CCF-4509-9673-5BBB41CF43E3}"/>
              </a:ext>
            </a:extLst>
          </p:cNvPr>
          <p:cNvSpPr>
            <a:spLocks xmlns:a="http://schemas.openxmlformats.org/drawingml/2006/main" noGrp="1"/>
          </p:cNvSpPr>
          <p:nvPr/>
        </p:nvSpPr>
        <p:spPr>
          <a:xfrm xmlns:a="http://schemas.openxmlformats.org/drawingml/2006/main">
            <a:off x="2705100" y="5734050"/>
            <a:ext cx="828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Heatmaps guide hypotheses; task outcomes determine whether the model improved.</a:t>
            </a:r>
          </a:p>
        </p:txBody>
      </p:sp>
      <p:sp>
        <p:nvSpPr>
          <p:cNvPr id="32" name="">
            <a:extLst xmlns:a="http://schemas.openxmlformats.org/drawingml/2006/main">
              <a:ext uri="{FF2B5EF4-FFF2-40B4-BE49-F238E27FC236}">
                <a16:creationId xmlns:a16="http://schemas.microsoft.com/office/drawing/2014/main" id="{035E72B8-DA3B-4B38-B6FD-A99CFBEA8FC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3D5E60F-C53C-49FF-90A7-2E376DB8EEE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Scale across items before making a population-level mechanism claim</a:t>
            </a:r>
          </a:p>
        </p:txBody>
      </p:sp>
    </p:spTree>
    <p:extLst>
      <p:ext uri="{BB962C8B-B14F-4D97-AF65-F5344CB8AC3E}">
        <p14:creationId xmlns:p14="http://schemas.microsoft.com/office/powerpoint/2010/main" val="1445042317"/>
      </p:ext>
    </p:extLst>
  </p:cSld>
</p:sld>
</file>

<file path=ppt/slides/slide13.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E685C63-1206-4B2D-87B2-1D41F82D99D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870EE9D9-CDCE-41A6-89AA-6FF99605847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99"/>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The evidence points to visual resolution and coordinate readout</a:t>
            </a:r>
          </a:p>
        </p:txBody>
      </p:sp>
      <p:sp>
        <p:nvSpPr>
          <p:cNvPr id="3" name="">
            <a:extLst xmlns:a="http://schemas.openxmlformats.org/drawingml/2006/main">
              <a:ext uri="{FF2B5EF4-FFF2-40B4-BE49-F238E27FC236}">
                <a16:creationId xmlns:a16="http://schemas.microsoft.com/office/drawing/2014/main" id="{DBDC54B8-CAE0-4AA6-B0DB-FFEC8F0C901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1DA418C3-D117-4C2B-A7C6-8C54F8C2D930}"/>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1707F6A-26DF-4E41-ACE8-723A4FC987D2}"/>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E7D35C61-3F95-45B1-84B7-E5E032A9A7E8}"/>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Resolution changes grounding</a:t>
            </a:r>
          </a:p>
        </p:txBody>
      </p:sp>
      <p:sp>
        <p:nvSpPr>
          <p:cNvPr id="7" name="">
            <a:extLst xmlns:a="http://schemas.openxmlformats.org/drawingml/2006/main">
              <a:ext uri="{FF2B5EF4-FFF2-40B4-BE49-F238E27FC236}">
                <a16:creationId xmlns:a16="http://schemas.microsoft.com/office/drawing/2014/main" id="{A9BBA572-6FFF-43F3-BD38-3EE3E54866F2}"/>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Only 4 of 36 clicks survive; cohort target mass falls 24× at quarter resolution.</a:t>
            </a:r>
          </a:p>
        </p:txBody>
      </p:sp>
      <p:sp>
        <p:nvSpPr>
          <p:cNvPr id="8" name="">
            <a:extLst xmlns:a="http://schemas.openxmlformats.org/drawingml/2006/main">
              <a:ext uri="{FF2B5EF4-FFF2-40B4-BE49-F238E27FC236}">
                <a16:creationId xmlns:a16="http://schemas.microsoft.com/office/drawing/2014/main" id="{F4454891-698E-4AD3-BC74-ACB2FF409D44}"/>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1F93B42-AFDD-426D-88DE-EB45EE00E528}"/>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0831EA4B-5A40-4436-B032-CF24F7F68C07}"/>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Attention can outlive the click</a:t>
            </a:r>
          </a:p>
        </p:txBody>
      </p:sp>
      <p:sp>
        <p:nvSpPr>
          <p:cNvPr id="11" name="">
            <a:extLst xmlns:a="http://schemas.openxmlformats.org/drawingml/2006/main">
              <a:ext uri="{FF2B5EF4-FFF2-40B4-BE49-F238E27FC236}">
                <a16:creationId xmlns:a16="http://schemas.microsoft.com/office/drawing/2014/main" id="{CE8C7A67-699C-4F7E-8CC5-7E849A8AB628}"/>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Across reduced-resolution runs, 7 of 29 misses still rank the oracle patch first.</a:t>
            </a:r>
          </a:p>
        </p:txBody>
      </p:sp>
      <p:sp>
        <p:nvSpPr>
          <p:cNvPr id="12" name="">
            <a:extLst xmlns:a="http://schemas.openxmlformats.org/drawingml/2006/main">
              <a:ext uri="{FF2B5EF4-FFF2-40B4-BE49-F238E27FC236}">
                <a16:creationId xmlns:a16="http://schemas.microsoft.com/office/drawing/2014/main" id="{D9EF0904-D788-4DAD-B87A-F9A62F040587}"/>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F4A2D4A-C140-4B38-8136-31A6F335053D}"/>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25132079-D3F9-490E-908E-5B274928DAB3}"/>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Context reaches later actions</a:t>
            </a:r>
          </a:p>
        </p:txBody>
      </p:sp>
      <p:sp>
        <p:nvSpPr>
          <p:cNvPr id="15" name="">
            <a:extLst xmlns:a="http://schemas.openxmlformats.org/drawingml/2006/main">
              <a:ext uri="{FF2B5EF4-FFF2-40B4-BE49-F238E27FC236}">
                <a16:creationId xmlns:a16="http://schemas.microsoft.com/office/drawing/2014/main" id="{6A37708D-C487-4A74-BB5A-462D092AC7E8}"/>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The successful hotel click draws value-weighted attention from all three retained frames.</a:t>
            </a:r>
          </a:p>
        </p:txBody>
      </p:sp>
      <p:sp>
        <p:nvSpPr>
          <p:cNvPr id="16" name="">
            <a:extLst xmlns:a="http://schemas.openxmlformats.org/drawingml/2006/main">
              <a:ext uri="{FF2B5EF4-FFF2-40B4-BE49-F238E27FC236}">
                <a16:creationId xmlns:a16="http://schemas.microsoft.com/office/drawing/2014/main" id="{2379498F-23D4-415D-8C2C-EAB0077D9314}"/>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1065448-67CC-4639-80B5-72B4E830DCEC}"/>
              </a:ext>
            </a:extLst>
          </p:cNvPr>
          <p:cNvSpPr>
            <a:spLocks xmlns:a="http://schemas.openxmlformats.org/drawingml/2006/main" noGrp="1"/>
          </p:cNvSpPr>
          <p:nvPr/>
        </p:nvSpPr>
        <p:spPr>
          <a:xfrm xmlns:a="http://schemas.openxmlformats.org/drawingml/2006/main">
            <a:off x="6438900" y="1657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WHAT THE CAUSAL PANEL ADDS</a:t>
            </a:r>
          </a:p>
        </p:txBody>
      </p:sp>
      <p:sp>
        <p:nvSpPr>
          <p:cNvPr id="18" name="">
            <a:extLst xmlns:a="http://schemas.openxmlformats.org/drawingml/2006/main">
              <a:ext uri="{FF2B5EF4-FFF2-40B4-BE49-F238E27FC236}">
                <a16:creationId xmlns:a16="http://schemas.microsoft.com/office/drawing/2014/main" id="{14437630-C734-4EB8-B755-2B70C6A9E39E}"/>
              </a:ext>
            </a:extLst>
          </p:cNvPr>
          <p:cNvSpPr>
            <a:spLocks xmlns:a="http://schemas.openxmlformats.org/drawingml/2006/main" noGrp="1"/>
          </p:cNvSpPr>
          <p:nvPr/>
        </p:nvSpPr>
        <p:spPr>
          <a:xfrm xmlns:a="http://schemas.openxmlformats.org/drawingml/2006/main">
            <a:off x="6438900" y="215265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C2D0B49-0350-4CF8-9970-A1EB4D0F6BDC}"/>
              </a:ext>
            </a:extLst>
          </p:cNvPr>
          <p:cNvSpPr>
            <a:spLocks xmlns:a="http://schemas.openxmlformats.org/drawingml/2006/main" noGrp="1"/>
          </p:cNvSpPr>
          <p:nvPr/>
        </p:nvSpPr>
        <p:spPr>
          <a:xfrm xmlns:a="http://schemas.openxmlformats.org/drawingml/2006/main">
            <a:off x="6534150" y="21717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2673D888-F1FE-4385-ADFF-B36A80B12058}"/>
              </a:ext>
            </a:extLst>
          </p:cNvPr>
          <p:cNvSpPr>
            <a:spLocks xmlns:a="http://schemas.openxmlformats.org/drawingml/2006/main" noGrp="1"/>
          </p:cNvSpPr>
          <p:nvPr/>
        </p:nvSpPr>
        <p:spPr>
          <a:xfrm xmlns:a="http://schemas.openxmlformats.org/drawingml/2006/main">
            <a:off x="6953250" y="21621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Recoverable Layer 15 state</a:t>
            </a:r>
          </a:p>
        </p:txBody>
      </p:sp>
      <p:sp>
        <p:nvSpPr>
          <p:cNvPr id="21" name="">
            <a:extLst xmlns:a="http://schemas.openxmlformats.org/drawingml/2006/main">
              <a:ext uri="{FF2B5EF4-FFF2-40B4-BE49-F238E27FC236}">
                <a16:creationId xmlns:a16="http://schemas.microsoft.com/office/drawing/2014/main" id="{D6C5B949-DDF5-4D96-9B5A-34617694DD65}"/>
              </a:ext>
            </a:extLst>
          </p:cNvPr>
          <p:cNvSpPr>
            <a:spLocks xmlns:a="http://schemas.openxmlformats.org/drawingml/2006/main" noGrp="1"/>
          </p:cNvSpPr>
          <p:nvPr/>
        </p:nvSpPr>
        <p:spPr>
          <a:xfrm xmlns:a="http://schemas.openxmlformats.org/drawingml/2006/main">
            <a:off x="6953250" y="24479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Clean Holo state restores +1.01 nats; Qwen restores +0.10.</a:t>
            </a:r>
          </a:p>
        </p:txBody>
      </p:sp>
      <p:sp>
        <p:nvSpPr>
          <p:cNvPr id="22" name="">
            <a:extLst xmlns:a="http://schemas.openxmlformats.org/drawingml/2006/main">
              <a:ext uri="{FF2B5EF4-FFF2-40B4-BE49-F238E27FC236}">
                <a16:creationId xmlns:a16="http://schemas.microsoft.com/office/drawing/2014/main" id="{D3ACB161-8FA8-4041-AACF-50D847969B18}"/>
              </a:ext>
            </a:extLst>
          </p:cNvPr>
          <p:cNvSpPr>
            <a:spLocks xmlns:a="http://schemas.openxmlformats.org/drawingml/2006/main" noGrp="1"/>
          </p:cNvSpPr>
          <p:nvPr/>
        </p:nvSpPr>
        <p:spPr>
          <a:xfrm xmlns:a="http://schemas.openxmlformats.org/drawingml/2006/main">
            <a:off x="6438900" y="30861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3D9A931-8E4B-4D16-B227-2C546A2E01DA}"/>
              </a:ext>
            </a:extLst>
          </p:cNvPr>
          <p:cNvSpPr>
            <a:spLocks xmlns:a="http://schemas.openxmlformats.org/drawingml/2006/main" noGrp="1"/>
          </p:cNvSpPr>
          <p:nvPr/>
        </p:nvSpPr>
        <p:spPr>
          <a:xfrm xmlns:a="http://schemas.openxmlformats.org/drawingml/2006/main">
            <a:off x="6534150" y="31051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B05E18B7-2056-417D-9892-A44C8A21CFF9}"/>
              </a:ext>
            </a:extLst>
          </p:cNvPr>
          <p:cNvSpPr>
            <a:spLocks xmlns:a="http://schemas.openxmlformats.org/drawingml/2006/main" noGrp="1"/>
          </p:cNvSpPr>
          <p:nvPr/>
        </p:nvSpPr>
        <p:spPr>
          <a:xfrm xmlns:a="http://schemas.openxmlformats.org/drawingml/2006/main">
            <a:off x="6953250" y="3095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Shared coordinate machinery</a:t>
            </a:r>
          </a:p>
        </p:txBody>
      </p:sp>
      <p:sp>
        <p:nvSpPr>
          <p:cNvPr id="25" name="">
            <a:extLst xmlns:a="http://schemas.openxmlformats.org/drawingml/2006/main">
              <a:ext uri="{FF2B5EF4-FFF2-40B4-BE49-F238E27FC236}">
                <a16:creationId xmlns:a16="http://schemas.microsoft.com/office/drawing/2014/main" id="{134E28D1-E903-4FC1-BF47-3B55BE795730}"/>
              </a:ext>
            </a:extLst>
          </p:cNvPr>
          <p:cNvSpPr>
            <a:spLocks xmlns:a="http://schemas.openxmlformats.org/drawingml/2006/main" noGrp="1"/>
          </p:cNvSpPr>
          <p:nvPr/>
        </p:nvSpPr>
        <p:spPr>
          <a:xfrm xmlns:a="http://schemas.openxmlformats.org/drawingml/2006/main">
            <a:off x="6953250" y="33813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Zeroing the same state harms both checkpoints.</a:t>
            </a:r>
          </a:p>
        </p:txBody>
      </p:sp>
      <p:sp>
        <p:nvSpPr>
          <p:cNvPr id="26" name="">
            <a:extLst xmlns:a="http://schemas.openxmlformats.org/drawingml/2006/main">
              <a:ext uri="{FF2B5EF4-FFF2-40B4-BE49-F238E27FC236}">
                <a16:creationId xmlns:a16="http://schemas.microsoft.com/office/drawing/2014/main" id="{DB5E97D3-8E93-404C-8CD0-CC9D0C71CD1F}"/>
              </a:ext>
            </a:extLst>
          </p:cNvPr>
          <p:cNvSpPr>
            <a:spLocks xmlns:a="http://schemas.openxmlformats.org/drawingml/2006/main" noGrp="1"/>
          </p:cNvSpPr>
          <p:nvPr/>
        </p:nvSpPr>
        <p:spPr>
          <a:xfrm xmlns:a="http://schemas.openxmlformats.org/drawingml/2006/main">
            <a:off x="6438900" y="40195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8984651-F73A-43E0-83AE-7338E9B9C335}"/>
              </a:ext>
            </a:extLst>
          </p:cNvPr>
          <p:cNvSpPr>
            <a:spLocks xmlns:a="http://schemas.openxmlformats.org/drawingml/2006/main" noGrp="1"/>
          </p:cNvSpPr>
          <p:nvPr/>
        </p:nvSpPr>
        <p:spPr>
          <a:xfrm xmlns:a="http://schemas.openxmlformats.org/drawingml/2006/main">
            <a:off x="6534150" y="40386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E04C2879-3BC7-430D-9CEA-100AC9CA664E}"/>
              </a:ext>
            </a:extLst>
          </p:cNvPr>
          <p:cNvSpPr>
            <a:spLocks xmlns:a="http://schemas.openxmlformats.org/drawingml/2006/main" noGrp="1"/>
          </p:cNvSpPr>
          <p:nvPr/>
        </p:nvSpPr>
        <p:spPr>
          <a:xfrm xmlns:a="http://schemas.openxmlformats.org/drawingml/2006/main">
            <a:off x="6953250" y="40290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Distributed mechanism</a:t>
            </a:r>
          </a:p>
        </p:txBody>
      </p:sp>
      <p:sp>
        <p:nvSpPr>
          <p:cNvPr id="29" name="">
            <a:extLst xmlns:a="http://schemas.openxmlformats.org/drawingml/2006/main">
              <a:ext uri="{FF2B5EF4-FFF2-40B4-BE49-F238E27FC236}">
                <a16:creationId xmlns:a16="http://schemas.microsoft.com/office/drawing/2014/main" id="{EFE5EB2A-0C03-477B-8B2A-4F9E13006316}"/>
              </a:ext>
            </a:extLst>
          </p:cNvPr>
          <p:cNvSpPr>
            <a:spLocks xmlns:a="http://schemas.openxmlformats.org/drawingml/2006/main" noGrp="1"/>
          </p:cNvSpPr>
          <p:nvPr/>
        </p:nvSpPr>
        <p:spPr>
          <a:xfrm xmlns:a="http://schemas.openxmlformats.org/drawingml/2006/main">
            <a:off x="6953250" y="43148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 single attention head explains the restoration effect.</a:t>
            </a:r>
          </a:p>
        </p:txBody>
      </p:sp>
      <p:sp>
        <p:nvSpPr>
          <p:cNvPr id="30" name="">
            <a:extLst xmlns:a="http://schemas.openxmlformats.org/drawingml/2006/main">
              <a:ext uri="{FF2B5EF4-FFF2-40B4-BE49-F238E27FC236}">
                <a16:creationId xmlns:a16="http://schemas.microsoft.com/office/drawing/2014/main" id="{B84777E4-0541-4D62-B352-82C983F48076}"/>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8BCA8AE-6C11-46B9-B679-B68E0CB4A0A6}"/>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Current hypothesis: fine-tuning improves action-state formation more clearly than target-directed visual attention</a:t>
            </a:r>
          </a:p>
        </p:txBody>
      </p:sp>
      <p:sp>
        <p:nvSpPr>
          <p:cNvPr id="32" name="">
            <a:extLst xmlns:a="http://schemas.openxmlformats.org/drawingml/2006/main">
              <a:ext uri="{FF2B5EF4-FFF2-40B4-BE49-F238E27FC236}">
                <a16:creationId xmlns:a16="http://schemas.microsoft.com/office/drawing/2014/main" id="{E75C14B5-D3B1-4F6E-AFB2-79273959FC6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D1E8954-1106-44F7-A68D-207A41703AC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Attention is descriptive; the eight-prompt intervention is causal within one image</a:t>
            </a:r>
          </a:p>
        </p:txBody>
      </p:sp>
    </p:spTree>
    <p:extLst>
      <p:ext uri="{BB962C8B-B14F-4D97-AF65-F5344CB8AC3E}">
        <p14:creationId xmlns:p14="http://schemas.microsoft.com/office/powerpoint/2010/main" val="89695514"/>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FD08E3A-6D17-4EFD-9FBA-8E433EDBA30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METHODS APPENDIX</a:t>
            </a:r>
          </a:p>
        </p:txBody>
      </p:sp>
      <p:sp>
        <p:nvSpPr>
          <p:cNvPr id="2" name="">
            <a:extLst xmlns:a="http://schemas.openxmlformats.org/drawingml/2006/main">
              <a:ext uri="{FF2B5EF4-FFF2-40B4-BE49-F238E27FC236}">
                <a16:creationId xmlns:a16="http://schemas.microsoft.com/office/drawing/2014/main" id="{E99249FA-2397-43F0-A768-4553F736C45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B48321FD-0B93-47D8-A51C-27C6E13A9A6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E6A4774E-09E5-460E-83A5-D593D65C6A2F}"/>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275CA758-28E9-4F6F-BE7E-5FC2F959917B}"/>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62ACF645-38F3-4656-8A33-776BCF0AFF23}"/>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558DFEF-10B3-484C-B1C8-81CACF957B3F}"/>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121FFF80-CD52-4906-B69B-0665FC56CC5A}"/>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5100F502-75C3-44B6-9874-74352BE85025}"/>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804A5BC-217B-4330-BFF5-3AB83CBF98D1}"/>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E9D32DD3-2D5A-47CE-A411-B22331E229D6}"/>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Down-weight attention paths whose value vectors carry little magnitude</a:t>
            </a:r>
          </a:p>
        </p:txBody>
      </p:sp>
      <p:sp>
        <p:nvSpPr>
          <p:cNvPr id="12" name="">
            <a:extLst xmlns:a="http://schemas.openxmlformats.org/drawingml/2006/main">
              <a:ext uri="{FF2B5EF4-FFF2-40B4-BE49-F238E27FC236}">
                <a16:creationId xmlns:a16="http://schemas.microsoft.com/office/drawing/2014/main" id="{46AC86CE-D0C4-4AA4-A569-4EF3A2C42CDC}"/>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4F187A66-847B-4009-BCEB-D175EEEA4B8E}"/>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898AA13-7E0C-4189-8471-66C9F4E7EDBA}"/>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A8CABCDE-DA74-4C99-B0A0-AD62A19D6CDD}"/>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1F57271A-A1F7-4154-8213-B525CA4D9608}"/>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C317F9D-F295-464B-BBB9-D98BAA109BA6}"/>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6EFE99BB-FF48-47D2-8C7D-C9D9BCB5E195}"/>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eight captured full-attention blocks with residual flow</a:t>
            </a:r>
          </a:p>
        </p:txBody>
      </p:sp>
      <p:sp>
        <p:nvSpPr>
          <p:cNvPr id="19" name="">
            <a:extLst xmlns:a="http://schemas.openxmlformats.org/drawingml/2006/main">
              <a:ext uri="{FF2B5EF4-FFF2-40B4-BE49-F238E27FC236}">
                <a16:creationId xmlns:a16="http://schemas.microsoft.com/office/drawing/2014/main" id="{E37D4365-3B40-4A48-B0F9-A5F3FDEA801E}"/>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4289CEE3-2E6B-4D1D-AAED-27DEA7FF89BB}"/>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40A0705-89BA-430B-B05E-07A05FB5415E}"/>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328F7B5E-D541-4A6F-BFF9-C363CE9EF3FB}"/>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TO PARAMETER</a:t>
            </a:r>
          </a:p>
        </p:txBody>
      </p:sp>
      <p:sp>
        <p:nvSpPr>
          <p:cNvPr id="23" name="">
            <a:extLst xmlns:a="http://schemas.openxmlformats.org/drawingml/2006/main">
              <a:ext uri="{FF2B5EF4-FFF2-40B4-BE49-F238E27FC236}">
                <a16:creationId xmlns:a16="http://schemas.microsoft.com/office/drawing/2014/main" id="{234226CB-E817-4E27-B295-D258C8153B58}"/>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DDEFE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6BB2914-11A2-4F2D-87A2-EF90AC422212}"/>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A73F3A91-6EA6-4FA5-BA69-CB6BD2A3EC8C}"/>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the x/y value-token maps so token length cannot inflate a parameter</a:t>
            </a:r>
          </a:p>
        </p:txBody>
      </p:sp>
      <p:sp>
        <p:nvSpPr>
          <p:cNvPr id="26" name="">
            <a:extLst xmlns:a="http://schemas.openxmlformats.org/drawingml/2006/main">
              <a:ext uri="{FF2B5EF4-FFF2-40B4-BE49-F238E27FC236}">
                <a16:creationId xmlns:a16="http://schemas.microsoft.com/office/drawing/2014/main" id="{6510E668-4792-48D3-93B4-AB4BFC822EF8}"/>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The baseline determines the question</a:t>
            </a:r>
          </a:p>
        </p:txBody>
      </p:sp>
      <p:sp>
        <p:nvSpPr>
          <p:cNvPr id="27" name="">
            <a:extLst xmlns:a="http://schemas.openxmlformats.org/drawingml/2006/main">
              <a:ext uri="{FF2B5EF4-FFF2-40B4-BE49-F238E27FC236}">
                <a16:creationId xmlns:a16="http://schemas.microsoft.com/office/drawing/2014/main" id="{504419C8-E3AE-4714-A884-FD038E552E51}"/>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52E427B-EBFC-4C40-8325-3C0D912ECC7C}"/>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RAW VALUE-NORM MAP</a:t>
            </a:r>
          </a:p>
        </p:txBody>
      </p:sp>
      <p:sp>
        <p:nvSpPr>
          <p:cNvPr id="29" name="">
            <a:extLst xmlns:a="http://schemas.openxmlformats.org/drawingml/2006/main">
              <a:ext uri="{FF2B5EF4-FFF2-40B4-BE49-F238E27FC236}">
                <a16:creationId xmlns:a16="http://schemas.microsoft.com/office/drawing/2014/main" id="{854FD768-7F26-438A-93E3-34C31E106D90}"/>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Mtarget</a:t>
            </a:r>
          </a:p>
        </p:txBody>
      </p:sp>
      <p:sp>
        <p:nvSpPr>
          <p:cNvPr id="30" name="">
            <a:extLst xmlns:a="http://schemas.openxmlformats.org/drawingml/2006/main">
              <a:ext uri="{FF2B5EF4-FFF2-40B4-BE49-F238E27FC236}">
                <a16:creationId xmlns:a16="http://schemas.microsoft.com/office/drawing/2014/main" id="{DC46EC92-2C98-45BA-B8A1-981A3894FBA5}"/>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Where does the generated coordinate draw value-weighted attention on this image?</a:t>
            </a:r>
          </a:p>
        </p:txBody>
      </p:sp>
      <p:sp>
        <p:nvSpPr>
          <p:cNvPr id="31" name="">
            <a:extLst xmlns:a="http://schemas.openxmlformats.org/drawingml/2006/main">
              <a:ext uri="{FF2B5EF4-FFF2-40B4-BE49-F238E27FC236}">
                <a16:creationId xmlns:a16="http://schemas.microsoft.com/office/drawing/2014/main" id="{A7056B1A-DF8C-4EDF-A3C1-854BE5CD9542}"/>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48CD2694-8DB6-487C-BE50-993DDE4F413B}"/>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DIVERSE-INSTRUCTION BASELINE</a:t>
            </a:r>
          </a:p>
        </p:txBody>
      </p:sp>
      <p:sp>
        <p:nvSpPr>
          <p:cNvPr id="33" name="">
            <a:extLst xmlns:a="http://schemas.openxmlformats.org/drawingml/2006/main">
              <a:ext uri="{FF2B5EF4-FFF2-40B4-BE49-F238E27FC236}">
                <a16:creationId xmlns:a16="http://schemas.microsoft.com/office/drawing/2014/main" id="{646D485A-53D0-458C-A472-0F4355C49D2D}"/>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Mtarget − mean(Mcontrol,k)</a:t>
            </a:r>
          </a:p>
        </p:txBody>
      </p:sp>
      <p:sp>
        <p:nvSpPr>
          <p:cNvPr id="34" name="">
            <a:extLst xmlns:a="http://schemas.openxmlformats.org/drawingml/2006/main">
              <a:ext uri="{FF2B5EF4-FFF2-40B4-BE49-F238E27FC236}">
                <a16:creationId xmlns:a16="http://schemas.microsoft.com/office/drawing/2014/main" id="{B9C130F4-30B2-47BC-808E-821617D6B52A}"/>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remains specific to this instruction after shared image saliency is removed?</a:t>
            </a:r>
          </a:p>
        </p:txBody>
      </p:sp>
      <p:sp>
        <p:nvSpPr>
          <p:cNvPr id="35" name="">
            <a:extLst xmlns:a="http://schemas.openxmlformats.org/drawingml/2006/main">
              <a:ext uri="{FF2B5EF4-FFF2-40B4-BE49-F238E27FC236}">
                <a16:creationId xmlns:a16="http://schemas.microsoft.com/office/drawing/2014/main" id="{A7D9DFE3-7FA6-4110-B56F-511FFD51416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1294EF5-F158-49CC-B9A9-3590BB264A0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a uniform residual map.</a:t>
            </a:r>
          </a:p>
        </p:txBody>
      </p:sp>
    </p:spTree>
    <p:extLst>
      <p:ext uri="{BB962C8B-B14F-4D97-AF65-F5344CB8AC3E}">
        <p14:creationId xmlns:p14="http://schemas.microsoft.com/office/powerpoint/2010/main" val="374582666"/>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87BF16-9B36-438E-B23B-4ECE09C5B490}"/>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9CE7EF7B-6C98-42A4-86B7-241F159189D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4326E3E9-4DAC-44C2-A26C-85FF4C5BA9D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E3013A86-1AA5-4170-89DF-1BC598E1A147}"/>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00713220-D551-48F7-BAEC-AA292744709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43105D7-3093-437C-94ED-79F00FF973D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21311418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2026-09-22T12:39:29.8850000Z</dcterms:created>
  <dcterms:modified xsi:type="dcterms:W3CDTF">2026-09-22T12:39:29.8850000Z</dcterms:modified>
</coreProperties>
</file>