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1.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b9066c3c4c8042d3" /><Relationship Type="http://schemas.openxmlformats.org/officeDocument/2006/relationships/extended-properties" Target="/docProps/app.xml" Id="R23abd08f93d54abd" /><Relationship Type="http://schemas.openxmlformats.org/officeDocument/2006/relationships/officeDocument" Target="/ppt/presentation.xml" Id="R6ae49811d8b94588" /></Relationships>
</file>

<file path=ppt/presentation.xml><?xml version="1.0" encoding="utf-8"?>
<p:presentation xmlns:p="http://schemas.openxmlformats.org/presentationml/2006/main">
  <p:sldMasterIdLst>
    <p:sldMasterId xmlns:r="http://schemas.openxmlformats.org/officeDocument/2006/relationships" id="2147483648" r:id="Rf53b92c4a0514be5"/>
  </p:sldMasterIdLst>
  <p:notesMasterIdLst>
    <p:notesMasterId xmlns:r="http://schemas.openxmlformats.org/officeDocument/2006/relationships" r:id="R86fc4551ef6f4c55"/>
  </p:notesMasterIdLst>
  <p:sldIdLst>
    <p:sldId xmlns:r="http://schemas.openxmlformats.org/officeDocument/2006/relationships" id="256" r:id="R034b65cf59a64038"/>
    <p:sldId xmlns:r="http://schemas.openxmlformats.org/officeDocument/2006/relationships" id="257" r:id="R173b441ff9774ed2"/>
    <p:sldId xmlns:r="http://schemas.openxmlformats.org/officeDocument/2006/relationships" id="258" r:id="R85bcffc0a7414dc9"/>
    <p:sldId xmlns:r="http://schemas.openxmlformats.org/officeDocument/2006/relationships" id="259" r:id="R89eebf7393d54cc9"/>
    <p:sldId xmlns:r="http://schemas.openxmlformats.org/officeDocument/2006/relationships" id="260" r:id="R0104c614bcf54002"/>
    <p:sldId xmlns:r="http://schemas.openxmlformats.org/officeDocument/2006/relationships" id="261" r:id="R5864899c61004a15"/>
    <p:sldId xmlns:r="http://schemas.openxmlformats.org/officeDocument/2006/relationships" id="262" r:id="Rd579196bf7a04d68"/>
    <p:sldId xmlns:r="http://schemas.openxmlformats.org/officeDocument/2006/relationships" id="263" r:id="Raad0fefbbcbd4940"/>
    <p:sldId xmlns:r="http://schemas.openxmlformats.org/officeDocument/2006/relationships" id="264" r:id="Rfbac83f82d79476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16200c1b2604679" /><Relationship Type="http://schemas.openxmlformats.org/officeDocument/2006/relationships/slideMaster" Target="/ppt/slideMasters/slideMaster1.xml" Id="Rf53b92c4a0514be5" /><Relationship Type="http://schemas.openxmlformats.org/officeDocument/2006/relationships/notesMaster" Target="/ppt/notesMasters/notesMaster1.xml" Id="R86fc4551ef6f4c55" /><Relationship Type="http://schemas.openxmlformats.org/officeDocument/2006/relationships/presProps" Target="/ppt/presProps.xml" Id="R142da8f3a3cb4ce5" /><Relationship Type="http://schemas.openxmlformats.org/officeDocument/2006/relationships/tableStyles" Target="/ppt/tableStyles.xml" Id="R7f3721567ce2405b" /><Relationship Type="http://schemas.openxmlformats.org/officeDocument/2006/relationships/slide" Target="/ppt/slides/slide1.xml" Id="R034b65cf59a64038" /><Relationship Type="http://schemas.openxmlformats.org/officeDocument/2006/relationships/slide" Target="/ppt/slides/slide2.xml" Id="R173b441ff9774ed2" /><Relationship Type="http://schemas.openxmlformats.org/officeDocument/2006/relationships/slide" Target="/ppt/slides/slide3.xml" Id="R85bcffc0a7414dc9" /><Relationship Type="http://schemas.openxmlformats.org/officeDocument/2006/relationships/slide" Target="/ppt/slides/slide4.xml" Id="R89eebf7393d54cc9" /><Relationship Type="http://schemas.openxmlformats.org/officeDocument/2006/relationships/slide" Target="/ppt/slides/slide5.xml" Id="R0104c614bcf54002" /><Relationship Type="http://schemas.openxmlformats.org/officeDocument/2006/relationships/slide" Target="/ppt/slides/slide6.xml" Id="R5864899c61004a15" /><Relationship Type="http://schemas.openxmlformats.org/officeDocument/2006/relationships/slide" Target="/ppt/slides/slide7.xml" Id="Rd579196bf7a04d68" /><Relationship Type="http://schemas.openxmlformats.org/officeDocument/2006/relationships/slide" Target="/ppt/slides/slide8.xml" Id="Raad0fefbbcbd4940" /><Relationship Type="http://schemas.openxmlformats.org/officeDocument/2006/relationships/slide" Target="/ppt/slides/slide9.xml" Id="Rfbac83f82d79476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9f7933935ce407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f9f7948238e4ac9" /><Relationship Type="http://schemas.openxmlformats.org/officeDocument/2006/relationships/notesMaster" Target="/ppt/notesMasters/notesMaster1.xml" Id="R5cd14c030bc44e50" /></Relationships>
</file>

<file path=ppt/notesSlides/_rels/notesSlide2.xml.rels>&#65279;<?xml version="1.0" encoding="utf-8"?><Relationships xmlns="http://schemas.openxmlformats.org/package/2006/relationships"><Relationship Type="http://schemas.openxmlformats.org/officeDocument/2006/relationships/slide" Target="/ppt/slides/slide2.xml" Id="R4d3fa2ebe6f248de" /><Relationship Type="http://schemas.openxmlformats.org/officeDocument/2006/relationships/notesMaster" Target="/ppt/notesMasters/notesMaster1.xml" Id="R48d7fec4b13b44e9" /></Relationships>
</file>

<file path=ppt/notesSlides/_rels/notesSlide3.xml.rels>&#65279;<?xml version="1.0" encoding="utf-8"?><Relationships xmlns="http://schemas.openxmlformats.org/package/2006/relationships"><Relationship Type="http://schemas.openxmlformats.org/officeDocument/2006/relationships/slide" Target="/ppt/slides/slide3.xml" Id="Rc1bc39b163a94e1c" /><Relationship Type="http://schemas.openxmlformats.org/officeDocument/2006/relationships/notesMaster" Target="/ppt/notesMasters/notesMaster1.xml" Id="R44bc2699d9344281" /></Relationships>
</file>

<file path=ppt/notesSlides/_rels/notesSlide4.xml.rels>&#65279;<?xml version="1.0" encoding="utf-8"?><Relationships xmlns="http://schemas.openxmlformats.org/package/2006/relationships"><Relationship Type="http://schemas.openxmlformats.org/officeDocument/2006/relationships/slide" Target="/ppt/slides/slide4.xml" Id="R4fb34aa77bf34f28" /><Relationship Type="http://schemas.openxmlformats.org/officeDocument/2006/relationships/notesMaster" Target="/ppt/notesMasters/notesMaster1.xml" Id="R92f866cd01ab4800" /></Relationships>
</file>

<file path=ppt/notesSlides/_rels/notesSlide5.xml.rels>&#65279;<?xml version="1.0" encoding="utf-8"?><Relationships xmlns="http://schemas.openxmlformats.org/package/2006/relationships"><Relationship Type="http://schemas.openxmlformats.org/officeDocument/2006/relationships/slide" Target="/ppt/slides/slide5.xml" Id="Rb61cd2d06d0442f8" /><Relationship Type="http://schemas.openxmlformats.org/officeDocument/2006/relationships/notesMaster" Target="/ppt/notesMasters/notesMaster1.xml" Id="R6e39069c5e394f95" /></Relationships>
</file>

<file path=ppt/notesSlides/_rels/notesSlide6.xml.rels>&#65279;<?xml version="1.0" encoding="utf-8"?><Relationships xmlns="http://schemas.openxmlformats.org/package/2006/relationships"><Relationship Type="http://schemas.openxmlformats.org/officeDocument/2006/relationships/slide" Target="/ppt/slides/slide6.xml" Id="R3db84d5e78154cef" /><Relationship Type="http://schemas.openxmlformats.org/officeDocument/2006/relationships/notesMaster" Target="/ppt/notesMasters/notesMaster1.xml" Id="Rcbb7c3bc83bb4604" /></Relationships>
</file>

<file path=ppt/notesSlides/_rels/notesSlide7.xml.rels>&#65279;<?xml version="1.0" encoding="utf-8"?><Relationships xmlns="http://schemas.openxmlformats.org/package/2006/relationships"><Relationship Type="http://schemas.openxmlformats.org/officeDocument/2006/relationships/slide" Target="/ppt/slides/slide7.xml" Id="R0f3dfb796e014a65" /><Relationship Type="http://schemas.openxmlformats.org/officeDocument/2006/relationships/notesMaster" Target="/ppt/notesMasters/notesMaster1.xml" Id="Rc0c1f4bbf94a450d" /></Relationships>
</file>

<file path=ppt/notesSlides/_rels/notesSlide8.xml.rels>&#65279;<?xml version="1.0" encoding="utf-8"?><Relationships xmlns="http://schemas.openxmlformats.org/package/2006/relationships"><Relationship Type="http://schemas.openxmlformats.org/officeDocument/2006/relationships/slide" Target="/ppt/slides/slide8.xml" Id="Raa46fbb6ca744c25" /><Relationship Type="http://schemas.openxmlformats.org/officeDocument/2006/relationships/notesMaster" Target="/ppt/notesMasters/notesMaster1.xml" Id="Rfb51a8992e1a429c" /></Relationships>
</file>

<file path=ppt/notesSlides/_rels/notesSlide9.xml.rels>&#65279;<?xml version="1.0" encoding="utf-8"?><Relationships xmlns="http://schemas.openxmlformats.org/package/2006/relationships"><Relationship Type="http://schemas.openxmlformats.org/officeDocument/2006/relationships/slide" Target="/ppt/slides/slide9.xml" Id="Rece549e0a7c34aa6" /><Relationship Type="http://schemas.openxmlformats.org/officeDocument/2006/relationships/notesMaster" Target="/ppt/notesMasters/notesMaster1.xml" Id="R413ca75df7a7429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0:00–0:35 — Frame the question: what is specific to the current instruction after removing generic image saliency, and can the same machinery follow evidence across a multi-turn trajectory? The visual is the final prompt-differential map for the ScreenSpot visual hit. Source: data/attributions/screenspot-powerpoint_windows_59/analysis.json.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0:35–1:25 — Separate the two settings. ScreenSpot gives real high-resolution grounding examples. The synthetic hotel task gives exact replay and multi-frame memory. The two PowerPoint examples are not a same-image success/failure pair, so use them to motivate hypotheses rather than causal claims. The hotel trace is a Holo failure after three scrolls and one click. Sources: docs/screenspot-case-study.md and data/attributions/traj-20260919T164806Z-ba81a14a16/trajectory.json.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1:45–3:10 — Walk left to right. Value-norm changes the routing matrix before rollout. Rollout mixes attention and identity 50/50 and multiplies the eight conventional full-attention layers in model order. Then average only the generated x/y value tokens. Emphasize strict causality for the token baseline and exact same image/settings for prompt controls. Hybrid linear-attention blocks are omitted because they expose no square softmax matrix.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2:35–3:45 — This slide establishes the measurement we use from here onward. The raw map is dominated by stable top-left saliency. With four diverse same-image prompts averaged after per-request L1 normalization, the peak moves inside the annotated template and lift rises from 3.85× to 16.08×. Leave-one-control-out cosine is 0.925 mean and 0.828 minimum. The repaired click is visually correct at (1394, 632), but the original tool syntax is malformed, so official correctness remains false. Source: data/attributions/screenspot-powerpoint_windows_59/analysis.json.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3:45–4:45 — From this point, headline the same-image instruction differential rather than raw attention. The differential favors the top-left slide and ribbon region, yet its peak is on the slide thumbnail and the click lands there. The target itself is only 0.074% of the frame. This is compatible with fine-grained binding or localization failure after coarse semantic routing. Source: data/attributions/screenspot-powerpoint_windows_48/analysis.json.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4:45–6:05 — Every probe receives the identical four screenshots and identical three-scroll action history. Only the requested click target changes. We normalize each request across every patch in all four frames, average three usable control maps, then subtract. The cheapest hotel button has 2.78× lift when it first appears at the bottom of frame 2 and 8.59× in the current frame. Yet the peak stays outside the button and Holo clicks (960,120), on the Signal Quay card rather than View details. One fourth control was excluded because generation omitted a y parameter span. The cautious claim is semantic retrieval with failed affordance localization, not causal proof. Source: data/attributions/hotel-cheapest-multiframe-contrast/analysis.json.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6:05–7:20 — The visual hit separates sharply at layers 15 to 27, while the two misses remain lower, although the hotel miss has a moderate layer-19 signal. This is hypothesis-generating only. I audited the larger hotel corpus: 39 outcome-labeled trajectories include 20 successes, but only 11 trajectories carry activation trace IDs and all 11 are failures. Therefore there are no additional positive activation cases to add honestly to this curve, and the three plotted prompt-baselined examples cannot establish a correctness feature. The next experiment is balanced capture, then a frozen tiny readout evaluated with Brier score, expected calibration error, and selective risk. Head-level rows remain direct value-norm attention because cross-layer rollout destroys unique head identity. Sources: layer_head_statistics in the three local analysis files and data/trajectories/v0/*/annotations.json.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7:20–8:35 — Four directions follow directly from the evidence. First, calibrated heads can support success prediction, ambiguity clarification, and safety refusal, but must be judged by proper scoring rules and held-out selective risk. Second, causal interventions test faithfulness. Third, the full-resolution four-frame probe exposed a quadratic memory bottleneck, motivating learned visual memory retrieval or compression. Fourth, a teacher-forced base-Qwen versus Holo comparison can localize what tool fine-tuning changed. The training program remains oracle SFT, measured lift, then GRPO plus LoRA with verifiable reward. Do not optimize the heatmap itself.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8:35–10:00 — Close on three defensible conclusions. The prompt ensemble changes the measurement materially. Correct and incorrect cases can share coarse routing while differing in precise binding. Layer patterns are candidate readout features, not confidence by themselves. In the live demo, show raw versus prompt differential on the hit, the static miss, then step through all four hotel frames and point out the earlier-frame and final-frame target lift. Finish with the intervention experiment. Q&amp;A: attention is a routing diagnostic, the controls are matched but small, and these three cases are hypothesis-generating rather than population estimates.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25f5413f8b4482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68d40a399c34dd6" /><Relationship Type="http://schemas.openxmlformats.org/officeDocument/2006/relationships/slideLayout" Target="/ppt/slideLayouts/slideLayout1.xml" Id="Rbe5cca086965437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e5cca086965437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222b41416a9413b" /><Relationship Type="http://schemas.openxmlformats.org/officeDocument/2006/relationships/image" Target="/ppt/media/image.png" Id="Rf99b108854884770" /><Relationship Type="http://schemas.openxmlformats.org/officeDocument/2006/relationships/notesSlide" Target="/ppt/notesSlides/notesSlide1.xml" Id="Rd2e8577cd600403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7b2dfa4fe8c418a" /><Relationship Type="http://schemas.openxmlformats.org/officeDocument/2006/relationships/notesSlide" Target="/ppt/notesSlides/notesSlide2.xml" Id="R2d4a10ab66dc4b6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e6a3c5baa964262" /><Relationship Type="http://schemas.openxmlformats.org/officeDocument/2006/relationships/notesSlide" Target="/ppt/notesSlides/notesSlide3.xml" Id="Re8e93176d43145d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86a0b0d2c2c49bf" /><Relationship Type="http://schemas.openxmlformats.org/officeDocument/2006/relationships/image" Target="/ppt/media/image2.png" Id="R9804fd2b727f4c97" /><Relationship Type="http://schemas.openxmlformats.org/officeDocument/2006/relationships/image" Target="/ppt/media/image3.png" Id="R3deb46c1827b4f0f" /><Relationship Type="http://schemas.openxmlformats.org/officeDocument/2006/relationships/notesSlide" Target="/ppt/notesSlides/notesSlide4.xml" Id="Rd243f9a34dbf4c8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f0e68dc9611445f" /><Relationship Type="http://schemas.openxmlformats.org/officeDocument/2006/relationships/image" Target="/ppt/media/image4.png" Id="Ra1856b8eafcb49db" /><Relationship Type="http://schemas.openxmlformats.org/officeDocument/2006/relationships/notesSlide" Target="/ppt/notesSlides/notesSlide5.xml" Id="R183b99862132491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7bbf037c0aa419a" /><Relationship Type="http://schemas.openxmlformats.org/officeDocument/2006/relationships/image" Target="/ppt/media/image5.png" Id="Re252896e4137407f" /><Relationship Type="http://schemas.openxmlformats.org/officeDocument/2006/relationships/image" Target="/ppt/media/image6.png" Id="Rfe199b6b6c244caa" /><Relationship Type="http://schemas.openxmlformats.org/officeDocument/2006/relationships/image" Target="/ppt/media/image7.png" Id="R766ffc1a97a34765" /><Relationship Type="http://schemas.openxmlformats.org/officeDocument/2006/relationships/image" Target="/ppt/media/image8.png" Id="R99bed1b8f8f94c80" /><Relationship Type="http://schemas.openxmlformats.org/officeDocument/2006/relationships/notesSlide" Target="/ppt/notesSlides/notesSlide6.xml" Id="R0159ed6d8dad4c2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045a43baa504bd9" /><Relationship Type="http://schemas.openxmlformats.org/officeDocument/2006/relationships/chart" Target="/ppt/slides/charts/chart1.xml" Id="R256a6eac1da84411" /><Relationship Type="http://schemas.openxmlformats.org/officeDocument/2006/relationships/notesSlide" Target="/ppt/notesSlides/notesSlide7.xml" Id="R3be0b0716bae4af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8dd387b4bef45c8" /><Relationship Type="http://schemas.openxmlformats.org/officeDocument/2006/relationships/notesSlide" Target="/ppt/notesSlides/notesSlide8.xml" Id="R7b32aeb52edb4022"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8c7855f3a294282" /><Relationship Type="http://schemas.openxmlformats.org/officeDocument/2006/relationships/notesSlide" Target="/ppt/notesSlides/notesSlide9.xml" Id="R2f50f9627b524915"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lineChart>
        <c:grouping val="standard"/>
        <c:varyColors val="0"/>
        <c:ser>
          <c:idx val="0"/>
          <c:order val="0"/>
          <c:tx>
            <c:v>Static visual hit</c:v>
          </c:tx>
          <c:spPr>
            <a:ln xmlns:a="http://schemas.openxmlformats.org/drawingml/2006/main" w="38100">
              <a:solidFill>
                <a:srgbClr val="F05A3C"/>
              </a:solidFill>
            </a:ln>
          </c:spPr>
          <c:marker>
            <c:symbol val="circle"/>
            <c:size val="8"/>
            <c:spPr>
              <a:solidFill xmlns:a="http://schemas.openxmlformats.org/drawingml/2006/main">
                <a:srgbClr val="F05A3C"/>
              </a:solidFill>
            </c:spPr>
          </c:marker>
          <c:cat>
            <c:strRef>
              <c:f>'Chart Data'!$A$2:$A$9</c:f>
              <c:strCache>
                <c:ptCount val="8"/>
                <c:pt idx="0">
                  <c:v>L3</c:v>
                </c:pt>
                <c:pt idx="1">
                  <c:v>L7</c:v>
                </c:pt>
                <c:pt idx="2">
                  <c:v>L11</c:v>
                </c:pt>
                <c:pt idx="3">
                  <c:v>L15</c:v>
                </c:pt>
                <c:pt idx="4">
                  <c:v>L19</c:v>
                </c:pt>
                <c:pt idx="5">
                  <c:v>L23</c:v>
                </c:pt>
                <c:pt idx="6">
                  <c:v>L27</c:v>
                </c:pt>
                <c:pt idx="7">
                  <c:v>L31</c:v>
                </c:pt>
              </c:strCache>
            </c:strRef>
          </c:cat>
          <c:val>
            <c:numRef>
              <c:f>'Chart Data'!$B$2:$B$9</c:f>
              <c:numCache>
                <c:formatCode>General</c:formatCode>
                <c:ptCount val="8"/>
                <c:pt idx="0">
                  <c:v>0.28</c:v>
                </c:pt>
                <c:pt idx="1">
                  <c:v>0.69</c:v>
                </c:pt>
                <c:pt idx="2">
                  <c:v>1.9</c:v>
                </c:pt>
                <c:pt idx="3">
                  <c:v>14.26</c:v>
                </c:pt>
                <c:pt idx="4">
                  <c:v>38.99</c:v>
                </c:pt>
                <c:pt idx="5">
                  <c:v>25.62</c:v>
                </c:pt>
                <c:pt idx="6">
                  <c:v>22.37</c:v>
                </c:pt>
                <c:pt idx="7">
                  <c:v>12.16</c:v>
                </c:pt>
              </c:numCache>
            </c:numRef>
          </c:val>
          <c:smooth val="0"/>
        </c:ser>
        <c:ser>
          <c:idx val="1"/>
          <c:order val="1"/>
          <c:tx>
            <c:v>Static miss</c:v>
          </c:tx>
          <c:spPr>
            <a:ln xmlns:a="http://schemas.openxmlformats.org/drawingml/2006/main" w="38100">
              <a:solidFill>
                <a:srgbClr val="2D84D3"/>
              </a:solidFill>
            </a:ln>
          </c:spPr>
          <c:marker>
            <c:symbol val="circle"/>
            <c:size val="8"/>
            <c:spPr>
              <a:solidFill xmlns:a="http://schemas.openxmlformats.org/drawingml/2006/main">
                <a:srgbClr val="2D84D3"/>
              </a:solidFill>
            </c:spPr>
          </c:marker>
          <c:cat>
            <c:strRef>
              <c:f>'Chart Data'!$C$2:$C$9</c:f>
              <c:strCache>
                <c:ptCount val="8"/>
                <c:pt idx="0">
                  <c:v>L3</c:v>
                </c:pt>
                <c:pt idx="1">
                  <c:v>L7</c:v>
                </c:pt>
                <c:pt idx="2">
                  <c:v>L11</c:v>
                </c:pt>
                <c:pt idx="3">
                  <c:v>L15</c:v>
                </c:pt>
                <c:pt idx="4">
                  <c:v>L19</c:v>
                </c:pt>
                <c:pt idx="5">
                  <c:v>L23</c:v>
                </c:pt>
                <c:pt idx="6">
                  <c:v>L27</c:v>
                </c:pt>
                <c:pt idx="7">
                  <c:v>L31</c:v>
                </c:pt>
              </c:strCache>
            </c:strRef>
          </c:cat>
          <c:val>
            <c:numRef>
              <c:f>'Chart Data'!$D$2:$D$9</c:f>
              <c:numCache>
                <c:formatCode>General</c:formatCode>
                <c:ptCount val="8"/>
                <c:pt idx="0">
                  <c:v>1.71</c:v>
                </c:pt>
                <c:pt idx="1">
                  <c:v>7.6</c:v>
                </c:pt>
                <c:pt idx="2">
                  <c:v>4.02</c:v>
                </c:pt>
                <c:pt idx="3">
                  <c:v>3.27</c:v>
                </c:pt>
                <c:pt idx="4">
                  <c:v>2.88</c:v>
                </c:pt>
                <c:pt idx="5">
                  <c:v>2.73</c:v>
                </c:pt>
                <c:pt idx="6">
                  <c:v>2.37</c:v>
                </c:pt>
                <c:pt idx="7">
                  <c:v>4.26</c:v>
                </c:pt>
              </c:numCache>
            </c:numRef>
          </c:val>
          <c:smooth val="0"/>
        </c:ser>
        <c:ser>
          <c:idx val="2"/>
          <c:order val="2"/>
          <c:tx>
            <c:v>Hotel miss</c:v>
          </c:tx>
          <c:spPr>
            <a:ln xmlns:a="http://schemas.openxmlformats.org/drawingml/2006/main" w="38100">
              <a:solidFill>
                <a:srgbClr val="18A875"/>
              </a:solidFill>
            </a:ln>
          </c:spPr>
          <c:marker>
            <c:symbol val="circle"/>
            <c:size val="8"/>
            <c:spPr>
              <a:solidFill xmlns:a="http://schemas.openxmlformats.org/drawingml/2006/main">
                <a:srgbClr val="18A875"/>
              </a:solidFill>
            </c:spPr>
          </c:marker>
          <c:cat>
            <c:strRef>
              <c:f>'Chart Data'!$E$2:$E$9</c:f>
              <c:strCache>
                <c:ptCount val="8"/>
                <c:pt idx="0">
                  <c:v>L3</c:v>
                </c:pt>
                <c:pt idx="1">
                  <c:v>L7</c:v>
                </c:pt>
                <c:pt idx="2">
                  <c:v>L11</c:v>
                </c:pt>
                <c:pt idx="3">
                  <c:v>L15</c:v>
                </c:pt>
                <c:pt idx="4">
                  <c:v>L19</c:v>
                </c:pt>
                <c:pt idx="5">
                  <c:v>L23</c:v>
                </c:pt>
                <c:pt idx="6">
                  <c:v>L27</c:v>
                </c:pt>
                <c:pt idx="7">
                  <c:v>L31</c:v>
                </c:pt>
              </c:strCache>
            </c:strRef>
          </c:cat>
          <c:val>
            <c:numRef>
              <c:f>'Chart Data'!$F$2:$F$9</c:f>
              <c:numCache>
                <c:formatCode>General</c:formatCode>
                <c:ptCount val="8"/>
                <c:pt idx="0">
                  <c:v>0.53</c:v>
                </c:pt>
                <c:pt idx="1">
                  <c:v>0.29</c:v>
                </c:pt>
                <c:pt idx="2">
                  <c:v>2.74</c:v>
                </c:pt>
                <c:pt idx="3">
                  <c:v>7.65</c:v>
                </c:pt>
                <c:pt idx="4">
                  <c:v>10.47</c:v>
                </c:pt>
                <c:pt idx="5">
                  <c:v>4.36</c:v>
                </c:pt>
                <c:pt idx="6">
                  <c:v>6.79</c:v>
                </c:pt>
                <c:pt idx="7">
                  <c:v>5.71</c:v>
                </c:pt>
              </c:numCache>
            </c:numRef>
          </c:val>
          <c:smooth val="0"/>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Captured full-attention transformer layer</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72768"/>
      </c:catAx>
      <c:valAx>
        <c:axId val="48672768"/>
        <c:scaling>
          <c:orientation val="minMax"/>
        </c:scaling>
        <c:delete val="0"/>
        <c:axPos val="l"/>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Mean head target lift</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50112"/>
        <c:crossBetween val="between"/>
        <c:majorUnit val="10"/>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legend>
    <c:plotVisOnly val="1"/>
  </c:chart>
  <c:spPr>
    <a:solidFill xmlns:a="http://schemas.openxmlformats.org/drawingml/2006/main">
      <a:srgbClr val="FFFFFF"/>
    </a:solidFill>
    <a:ln xmlns:a="http://schemas.openxmlformats.org/drawingml/2006/main" w="9525">
      <a:solidFill>
        <a:srgbClr val="D9D4C8"/>
      </a:solid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0151C"/>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f99b108854884770"/>
          <a:srcRect xmlns:a="http://schemas.openxmlformats.org/drawingml/2006/main" l="25000" t="0" r="25000" b="0"/>
          <a:stretch xmlns:a="http://schemas.openxmlformats.org/drawingml/2006/main">
            <a:fillRect l="0" t="0" r="0" b="0"/>
          </a:stretch>
        </p:blipFill>
        <p:spPr>
          <a:xfrm xmlns:a="http://schemas.openxmlformats.org/drawingml/2006/main">
            <a:off x="6705600" y="0"/>
            <a:ext cx="54864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27F30FF-451C-468B-A3E5-02E2E41E1D13}"/>
              </a:ext>
            </a:extLst>
          </p:cNvPr>
          <p:cNvSpPr>
            <a:spLocks xmlns:a="http://schemas.openxmlformats.org/drawingml/2006/main" noGrp="1"/>
          </p:cNvSpPr>
          <p:nvPr/>
        </p:nvSpPr>
        <p:spPr>
          <a:xfrm xmlns:a="http://schemas.openxmlformats.org/drawingml/2006/main">
            <a:off x="6705600" y="0"/>
            <a:ext cx="5486400" cy="6858000"/>
          </a:xfrm>
          <a:prstGeom xmlns:a="http://schemas.openxmlformats.org/drawingml/2006/main" prst="roundRect">
            <a:avLst>
              <a:gd name="adj" fmla="val 1389"/>
            </a:avLst>
          </a:prstGeom>
          <a:noFill xmlns:a="http://schemas.openxmlformats.org/drawingml/2006/main"/>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FE70FBA-5E82-41D0-A75F-9960D48BAD4E}"/>
              </a:ext>
            </a:extLst>
          </p:cNvPr>
          <p:cNvSpPr>
            <a:spLocks xmlns:a="http://schemas.openxmlformats.org/drawingml/2006/main" noGrp="1"/>
          </p:cNvSpPr>
          <p:nvPr/>
        </p:nvSpPr>
        <p:spPr>
          <a:xfrm xmlns:a="http://schemas.openxmlformats.org/drawingml/2006/main">
            <a:off x="6096000" y="0"/>
            <a:ext cx="1200150" cy="6858000"/>
          </a:xfrm>
          <a:prstGeom xmlns:a="http://schemas.openxmlformats.org/drawingml/2006/main" prst="rect">
            <a:avLst/>
          </a:prstGeom>
          <a:gradFill xmlns:a="http://schemas.openxmlformats.org/drawingml/2006/main">
            <a:gsLst>
              <a:gs pos="0">
                <a:srgbClr val="10151C"/>
              </a:gs>
              <a:gs pos="100000">
                <a:srgbClr val="10151C">
                  <a:alpha val="0"/>
                </a:srgbClr>
              </a:gs>
            </a:gsLst>
            <a:lin ang="0"/>
          </a:gra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8C7FB7B-AD4D-42D1-9758-641827CF2A51}"/>
              </a:ext>
            </a:extLst>
          </p:cNvPr>
          <p:cNvSpPr>
            <a:spLocks xmlns:a="http://schemas.openxmlformats.org/drawingml/2006/main" noGrp="1"/>
          </p:cNvSpPr>
          <p:nvPr/>
        </p:nvSpPr>
        <p:spPr>
          <a:xfrm xmlns:a="http://schemas.openxmlformats.org/drawingml/2006/main">
            <a:off x="609600" y="590550"/>
            <a:ext cx="213360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1803D412-6DE5-4667-9D06-A1860D123CAF}"/>
              </a:ext>
            </a:extLst>
          </p:cNvPr>
          <p:cNvSpPr>
            <a:spLocks xmlns:a="http://schemas.openxmlformats.org/drawingml/2006/main" noGrp="1"/>
          </p:cNvSpPr>
          <p:nvPr/>
        </p:nvSpPr>
        <p:spPr>
          <a:xfrm xmlns:a="http://schemas.openxmlformats.org/drawingml/2006/main">
            <a:off x="704850" y="609600"/>
            <a:ext cx="19431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MECHANISTIC GUI ANALYSIS</a:t>
            </a:r>
          </a:p>
        </p:txBody>
      </p:sp>
      <p:sp>
        <p:nvSpPr>
          <p:cNvPr id="6" name="">
            <a:extLst xmlns:a="http://schemas.openxmlformats.org/drawingml/2006/main">
              <a:ext uri="{FF2B5EF4-FFF2-40B4-BE49-F238E27FC236}">
                <a16:creationId xmlns:a16="http://schemas.microsoft.com/office/drawing/2014/main" id="{C5693246-0681-4F8C-8065-FC46754E62B1}"/>
              </a:ext>
            </a:extLst>
          </p:cNvPr>
          <p:cNvSpPr>
            <a:spLocks xmlns:a="http://schemas.openxmlformats.org/drawingml/2006/main" noGrp="1"/>
          </p:cNvSpPr>
          <p:nvPr/>
        </p:nvSpPr>
        <p:spPr>
          <a:xfrm xmlns:a="http://schemas.openxmlformats.org/drawingml/2006/main">
            <a:off x="609600" y="1352550"/>
            <a:ext cx="56197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4125" b="1">
                <a:solidFill>
                  <a:srgbClr val="FFFFFF"/>
                </a:solidFill>
                <a:latin typeface="Helvetica Neue"/>
                <a:ea typeface="Helvetica Neue"/>
                <a:cs typeface="Helvetica Neue"/>
              </a:defRPr>
            </a:pPr>
            <a:r>
              <a:rPr sz="4125" b="1">
                <a:solidFill>
                  <a:srgbClr val="FFFFFF"/>
                </a:solidFill>
                <a:latin typeface="Helvetica Neue"/>
                <a:ea typeface="Helvetica Neue"/>
                <a:cs typeface="Helvetica Neue"/>
              </a:rPr>
              <a:t>When attention</a:t>
            </a:r>
          </a:p>
          <a:p xmlns:a="http://schemas.openxmlformats.org/drawingml/2006/main">
            <a:pPr algn="l">
              <a:defRPr sz="4125" b="1">
                <a:solidFill>
                  <a:srgbClr val="FFFFFF"/>
                </a:solidFill>
                <a:latin typeface="Helvetica Neue"/>
                <a:ea typeface="Helvetica Neue"/>
                <a:cs typeface="Helvetica Neue"/>
              </a:defRPr>
            </a:pPr>
            <a:r>
              <a:rPr sz="4125" b="1">
                <a:solidFill>
                  <a:srgbClr val="FFFFFF"/>
                </a:solidFill>
                <a:latin typeface="Helvetica Neue"/>
                <a:ea typeface="Helvetica Neue"/>
                <a:cs typeface="Helvetica Neue"/>
              </a:rPr>
              <a:t>stops being generic</a:t>
            </a:r>
          </a:p>
        </p:txBody>
      </p:sp>
      <p:sp>
        <p:nvSpPr>
          <p:cNvPr id="7" name="">
            <a:extLst xmlns:a="http://schemas.openxmlformats.org/drawingml/2006/main">
              <a:ext uri="{FF2B5EF4-FFF2-40B4-BE49-F238E27FC236}">
                <a16:creationId xmlns:a16="http://schemas.microsoft.com/office/drawing/2014/main" id="{44AF09C8-ECF8-4810-9E8C-E40BFDC5CAC9}"/>
              </a:ext>
            </a:extLst>
          </p:cNvPr>
          <p:cNvSpPr>
            <a:spLocks xmlns:a="http://schemas.openxmlformats.org/drawingml/2006/main" noGrp="1"/>
          </p:cNvSpPr>
          <p:nvPr/>
        </p:nvSpPr>
        <p:spPr>
          <a:xfrm xmlns:a="http://schemas.openxmlformats.org/drawingml/2006/main">
            <a:off x="647700" y="3238500"/>
            <a:ext cx="50958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0">
                <a:solidFill>
                  <a:srgbClr val="CBD3DB"/>
                </a:solidFill>
                <a:latin typeface="Helvetica Neue"/>
                <a:ea typeface="Helvetica Neue"/>
                <a:cs typeface="Helvetica Neue"/>
              </a:defRPr>
            </a:pPr>
            <a:r>
              <a:rPr sz="1800" b="0">
                <a:solidFill>
                  <a:srgbClr val="CBD3DB"/>
                </a:solidFill>
                <a:latin typeface="Helvetica Neue"/>
                <a:ea typeface="Helvetica Neue"/>
                <a:cs typeface="Helvetica Neue"/>
              </a:rPr>
              <a:t>Action-token attribution for static GUI grounding and multi-turn visual memory</a:t>
            </a:r>
          </a:p>
        </p:txBody>
      </p:sp>
      <p:sp>
        <p:nvSpPr>
          <p:cNvPr id="8" name="">
            <a:extLst xmlns:a="http://schemas.openxmlformats.org/drawingml/2006/main">
              <a:ext uri="{FF2B5EF4-FFF2-40B4-BE49-F238E27FC236}">
                <a16:creationId xmlns:a16="http://schemas.microsoft.com/office/drawing/2014/main" id="{F060C47B-6427-4C78-8FF6-BB1D51472381}"/>
              </a:ext>
            </a:extLst>
          </p:cNvPr>
          <p:cNvSpPr>
            <a:spLocks xmlns:a="http://schemas.openxmlformats.org/drawingml/2006/main" noGrp="1"/>
          </p:cNvSpPr>
          <p:nvPr/>
        </p:nvSpPr>
        <p:spPr>
          <a:xfrm xmlns:a="http://schemas.openxmlformats.org/drawingml/2006/main">
            <a:off x="647700" y="5762625"/>
            <a:ext cx="5095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97A4B2"/>
                </a:solidFill>
                <a:latin typeface="Helvetica Neue"/>
                <a:ea typeface="Helvetica Neue"/>
                <a:cs typeface="Helvetica Neue"/>
              </a:defRPr>
            </a:pPr>
            <a:r>
              <a:rPr sz="1050" b="1">
                <a:solidFill>
                  <a:srgbClr val="97A4B2"/>
                </a:solidFill>
                <a:latin typeface="Helvetica Neue"/>
                <a:ea typeface="Helvetica Neue"/>
                <a:cs typeface="Helvetica Neue"/>
              </a:rPr>
              <a:t>Holo 3.1 4B · local Metal traces · 21 Sep 2026</a:t>
            </a:r>
          </a:p>
        </p:txBody>
      </p:sp>
    </p:spTree>
    <p:extLst>
      <p:ext uri="{BB962C8B-B14F-4D97-AF65-F5344CB8AC3E}">
        <p14:creationId xmlns:p14="http://schemas.microsoft.com/office/powerpoint/2010/main" val="2106758912"/>
      </p:ext>
    </p:extLst>
  </p:cSld>
</p:sld>
</file>

<file path=ppt/slides/slide2.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907879DE-F6C2-4EFF-9C21-6BBCD4C3890E}"/>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EVALUATION</a:t>
            </a:r>
          </a:p>
        </p:txBody>
      </p:sp>
      <p:sp>
        <p:nvSpPr>
          <p:cNvPr id="2" name="">
            <a:extLst xmlns:a="http://schemas.openxmlformats.org/drawingml/2006/main">
              <a:ext uri="{FF2B5EF4-FFF2-40B4-BE49-F238E27FC236}">
                <a16:creationId xmlns:a16="http://schemas.microsoft.com/office/drawing/2014/main" id="{DF590EB7-AA01-4420-AE3A-C0FDA14EACFE}"/>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9807"/>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Static grounding and trajectory memory expose different failures</a:t>
            </a:r>
          </a:p>
        </p:txBody>
      </p:sp>
      <p:sp>
        <p:nvSpPr>
          <p:cNvPr id="3" name="">
            <a:extLst xmlns:a="http://schemas.openxmlformats.org/drawingml/2006/main">
              <a:ext uri="{FF2B5EF4-FFF2-40B4-BE49-F238E27FC236}">
                <a16:creationId xmlns:a16="http://schemas.microsoft.com/office/drawing/2014/main" id="{302236D6-2F20-4F70-A84D-CB855891255A}"/>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02</a:t>
            </a:r>
          </a:p>
        </p:txBody>
      </p:sp>
      <p:sp>
        <p:nvSpPr>
          <p:cNvPr id="4" name="">
            <a:extLst xmlns:a="http://schemas.openxmlformats.org/drawingml/2006/main">
              <a:ext uri="{FF2B5EF4-FFF2-40B4-BE49-F238E27FC236}">
                <a16:creationId xmlns:a16="http://schemas.microsoft.com/office/drawing/2014/main" id="{FBE4F85E-9CB2-42F7-828B-0785AEC0B46C}"/>
              </a:ext>
            </a:extLst>
          </p:cNvPr>
          <p:cNvSpPr>
            <a:spLocks xmlns:a="http://schemas.openxmlformats.org/drawingml/2006/main" noGrp="1"/>
          </p:cNvSpPr>
          <p:nvPr/>
        </p:nvSpPr>
        <p:spPr>
          <a:xfrm xmlns:a="http://schemas.openxmlformats.org/drawingml/2006/main">
            <a:off x="609600" y="1371600"/>
            <a:ext cx="5219700" cy="4381500"/>
          </a:xfrm>
          <a:prstGeom xmlns:a="http://schemas.openxmlformats.org/drawingml/2006/main" prst="roundRect">
            <a:avLst>
              <a:gd name="adj" fmla="val 1739"/>
            </a:avLst>
          </a:prstGeom>
          <a:solidFill xmlns:a="http://schemas.openxmlformats.org/drawingml/2006/main">
            <a:srgbClr val="FFFFFF"/>
          </a:solidFill>
          <a:ln xmlns:a="http://schemas.openxmlformats.org/drawingml/2006/main" w="9525">
            <a:solidFill>
              <a:srgbClr val="D9D4C8"/>
            </a:solidFill>
          </a:ln>
        </p:spPr>
      </p:sp>
      <p:sp>
        <p:nvSpPr>
          <p:cNvPr id="5" name="">
            <a:extLst xmlns:a="http://schemas.openxmlformats.org/drawingml/2006/main">
              <a:ext uri="{FF2B5EF4-FFF2-40B4-BE49-F238E27FC236}">
                <a16:creationId xmlns:a16="http://schemas.microsoft.com/office/drawing/2014/main" id="{CD70B750-DEC4-4D4F-85FB-DBE80D03F8B8}"/>
              </a:ext>
            </a:extLst>
          </p:cNvPr>
          <p:cNvSpPr>
            <a:spLocks xmlns:a="http://schemas.openxmlformats.org/drawingml/2006/main" noGrp="1"/>
          </p:cNvSpPr>
          <p:nvPr/>
        </p:nvSpPr>
        <p:spPr>
          <a:xfrm xmlns:a="http://schemas.openxmlformats.org/drawingml/2006/main">
            <a:off x="857250" y="1619250"/>
            <a:ext cx="819150" cy="285750"/>
          </a:xfrm>
          <a:prstGeom xmlns:a="http://schemas.openxmlformats.org/drawingml/2006/main" prst="roundRect">
            <a:avLst>
              <a:gd name="adj" fmla="val 26667"/>
            </a:avLst>
          </a:prstGeom>
          <a:solidFill xmlns:a="http://schemas.openxmlformats.org/drawingml/2006/main">
            <a:srgbClr val="2D84D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8936C3A0-469E-40E9-94DA-CBAA11EC2E53}"/>
              </a:ext>
            </a:extLst>
          </p:cNvPr>
          <p:cNvSpPr>
            <a:spLocks xmlns:a="http://schemas.openxmlformats.org/drawingml/2006/main" noGrp="1"/>
          </p:cNvSpPr>
          <p:nvPr/>
        </p:nvSpPr>
        <p:spPr>
          <a:xfrm xmlns:a="http://schemas.openxmlformats.org/drawingml/2006/main">
            <a:off x="952500" y="1638300"/>
            <a:ext cx="628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STATIC</a:t>
            </a:r>
          </a:p>
        </p:txBody>
      </p:sp>
      <p:sp>
        <p:nvSpPr>
          <p:cNvPr id="7" name="">
            <a:extLst xmlns:a="http://schemas.openxmlformats.org/drawingml/2006/main">
              <a:ext uri="{FF2B5EF4-FFF2-40B4-BE49-F238E27FC236}">
                <a16:creationId xmlns:a16="http://schemas.microsoft.com/office/drawing/2014/main" id="{8D0D30B2-EEFF-42D2-82A7-C55398CBCEF8}"/>
              </a:ext>
            </a:extLst>
          </p:cNvPr>
          <p:cNvSpPr>
            <a:spLocks xmlns:a="http://schemas.openxmlformats.org/drawingml/2006/main" noGrp="1"/>
          </p:cNvSpPr>
          <p:nvPr/>
        </p:nvSpPr>
        <p:spPr>
          <a:xfrm xmlns:a="http://schemas.openxmlformats.org/drawingml/2006/main">
            <a:off x="857250" y="205740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a:solidFill>
                  <a:srgbClr val="10151C"/>
                </a:solidFill>
                <a:latin typeface="Helvetica Neue"/>
                <a:ea typeface="Helvetica Neue"/>
                <a:cs typeface="Helvetica Neue"/>
              </a:defRPr>
            </a:pPr>
            <a:r>
              <a:rPr sz="2025" b="1">
                <a:solidFill>
                  <a:srgbClr val="10151C"/>
                </a:solidFill>
                <a:latin typeface="Helvetica Neue"/>
                <a:ea typeface="Helvetica Neue"/>
                <a:cs typeface="Helvetica Neue"/>
              </a:rPr>
              <a:t>ScreenSpot-Pro</a:t>
            </a:r>
          </a:p>
        </p:txBody>
      </p:sp>
      <p:sp>
        <p:nvSpPr>
          <p:cNvPr id="8" name="">
            <a:extLst xmlns:a="http://schemas.openxmlformats.org/drawingml/2006/main">
              <a:ext uri="{FF2B5EF4-FFF2-40B4-BE49-F238E27FC236}">
                <a16:creationId xmlns:a16="http://schemas.microsoft.com/office/drawing/2014/main" id="{41E5A05F-625A-482D-9E09-2E17B919B7F4}"/>
              </a:ext>
            </a:extLst>
          </p:cNvPr>
          <p:cNvSpPr>
            <a:spLocks xmlns:a="http://schemas.openxmlformats.org/drawingml/2006/main" noGrp="1"/>
          </p:cNvSpPr>
          <p:nvPr/>
        </p:nvSpPr>
        <p:spPr>
          <a:xfrm xmlns:a="http://schemas.openxmlformats.org/drawingml/2006/main">
            <a:off x="857250" y="245745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66717D"/>
                </a:solidFill>
                <a:latin typeface="Helvetica Neue"/>
                <a:ea typeface="Helvetica Neue"/>
                <a:cs typeface="Helvetica Neue"/>
              </a:defRPr>
            </a:pPr>
            <a:r>
              <a:rPr sz="1350" b="0">
                <a:solidFill>
                  <a:srgbClr val="66717D"/>
                </a:solidFill>
                <a:latin typeface="Helvetica Neue"/>
                <a:ea typeface="Helvetica Neue"/>
                <a:cs typeface="Helvetica Neue"/>
              </a:rPr>
              <a:t>One screenshot, one instruction, one click</a:t>
            </a:r>
          </a:p>
        </p:txBody>
      </p:sp>
      <p:sp>
        <p:nvSpPr>
          <p:cNvPr id="9" name="">
            <a:extLst xmlns:a="http://schemas.openxmlformats.org/drawingml/2006/main">
              <a:ext uri="{FF2B5EF4-FFF2-40B4-BE49-F238E27FC236}">
                <a16:creationId xmlns:a16="http://schemas.microsoft.com/office/drawing/2014/main" id="{D2285DB5-83CE-44AF-BDCE-E239DC7136FE}"/>
              </a:ext>
            </a:extLst>
          </p:cNvPr>
          <p:cNvSpPr>
            <a:spLocks xmlns:a="http://schemas.openxmlformats.org/drawingml/2006/main" noGrp="1"/>
          </p:cNvSpPr>
          <p:nvPr/>
        </p:nvSpPr>
        <p:spPr>
          <a:xfrm xmlns:a="http://schemas.openxmlformats.org/drawingml/2006/main">
            <a:off x="857250" y="31432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18A875"/>
                </a:solidFill>
                <a:latin typeface="Helvetica Neue"/>
                <a:ea typeface="Helvetica Neue"/>
                <a:cs typeface="Helvetica Neue"/>
              </a:defRPr>
            </a:pPr>
            <a:r>
              <a:rPr sz="1050" b="1">
                <a:solidFill>
                  <a:srgbClr val="18A875"/>
                </a:solidFill>
                <a:latin typeface="Helvetica Neue"/>
                <a:ea typeface="Helvetica Neue"/>
                <a:cs typeface="Helvetica Neue"/>
              </a:rPr>
              <a:t>Visual hit</a:t>
            </a:r>
          </a:p>
        </p:txBody>
      </p:sp>
      <p:sp>
        <p:nvSpPr>
          <p:cNvPr id="10" name="">
            <a:extLst xmlns:a="http://schemas.openxmlformats.org/drawingml/2006/main">
              <a:ext uri="{FF2B5EF4-FFF2-40B4-BE49-F238E27FC236}">
                <a16:creationId xmlns:a16="http://schemas.microsoft.com/office/drawing/2014/main" id="{31945F37-593E-43D8-BB8C-613FFA95B25D}"/>
              </a:ext>
            </a:extLst>
          </p:cNvPr>
          <p:cNvSpPr>
            <a:spLocks xmlns:a="http://schemas.openxmlformats.org/drawingml/2006/main" noGrp="1"/>
          </p:cNvSpPr>
          <p:nvPr/>
        </p:nvSpPr>
        <p:spPr>
          <a:xfrm xmlns:a="http://schemas.openxmlformats.org/drawingml/2006/main">
            <a:off x="857250" y="3409950"/>
            <a:ext cx="2000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10151C"/>
                </a:solidFill>
                <a:latin typeface="Helvetica Neue"/>
                <a:ea typeface="Helvetica Neue"/>
                <a:cs typeface="Helvetica Neue"/>
              </a:defRPr>
            </a:pPr>
            <a:r>
              <a:rPr sz="1500" b="1">
                <a:solidFill>
                  <a:srgbClr val="10151C"/>
                </a:solidFill>
                <a:latin typeface="Helvetica Neue"/>
                <a:ea typeface="Helvetica Neue"/>
                <a:cs typeface="Helvetica Neue"/>
              </a:rPr>
              <a:t>Psychedelic vibrant</a:t>
            </a:r>
          </a:p>
        </p:txBody>
      </p:sp>
      <p:sp>
        <p:nvSpPr>
          <p:cNvPr id="11" name="">
            <a:extLst xmlns:a="http://schemas.openxmlformats.org/drawingml/2006/main">
              <a:ext uri="{FF2B5EF4-FFF2-40B4-BE49-F238E27FC236}">
                <a16:creationId xmlns:a16="http://schemas.microsoft.com/office/drawing/2014/main" id="{DFE1B787-8717-4F7A-87B2-8AAF3EFA7239}"/>
              </a:ext>
            </a:extLst>
          </p:cNvPr>
          <p:cNvSpPr>
            <a:spLocks xmlns:a="http://schemas.openxmlformats.org/drawingml/2006/main" noGrp="1"/>
          </p:cNvSpPr>
          <p:nvPr/>
        </p:nvSpPr>
        <p:spPr>
          <a:xfrm xmlns:a="http://schemas.openxmlformats.org/drawingml/2006/main">
            <a:off x="3105150" y="3143250"/>
            <a:ext cx="152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F05A3C"/>
                </a:solidFill>
                <a:latin typeface="Helvetica Neue"/>
                <a:ea typeface="Helvetica Neue"/>
                <a:cs typeface="Helvetica Neue"/>
              </a:defRPr>
            </a:pPr>
            <a:r>
              <a:rPr sz="1050" b="1">
                <a:solidFill>
                  <a:srgbClr val="F05A3C"/>
                </a:solidFill>
                <a:latin typeface="Helvetica Neue"/>
                <a:ea typeface="Helvetica Neue"/>
                <a:cs typeface="Helvetica Neue"/>
              </a:rPr>
              <a:t>Grounding miss</a:t>
            </a:r>
          </a:p>
        </p:txBody>
      </p:sp>
      <p:sp>
        <p:nvSpPr>
          <p:cNvPr id="12" name="">
            <a:extLst xmlns:a="http://schemas.openxmlformats.org/drawingml/2006/main">
              <a:ext uri="{FF2B5EF4-FFF2-40B4-BE49-F238E27FC236}">
                <a16:creationId xmlns:a16="http://schemas.microsoft.com/office/drawing/2014/main" id="{77185441-1B66-4C3D-93EA-2EC624DB3E4C}"/>
              </a:ext>
            </a:extLst>
          </p:cNvPr>
          <p:cNvSpPr>
            <a:spLocks xmlns:a="http://schemas.openxmlformats.org/drawingml/2006/main" noGrp="1"/>
          </p:cNvSpPr>
          <p:nvPr/>
        </p:nvSpPr>
        <p:spPr>
          <a:xfrm xmlns:a="http://schemas.openxmlformats.org/drawingml/2006/main">
            <a:off x="3105150" y="3409950"/>
            <a:ext cx="180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10151C"/>
                </a:solidFill>
                <a:latin typeface="Helvetica Neue"/>
                <a:ea typeface="Helvetica Neue"/>
                <a:cs typeface="Helvetica Neue"/>
              </a:defRPr>
            </a:pPr>
            <a:r>
              <a:rPr sz="1500" b="1">
                <a:solidFill>
                  <a:srgbClr val="10151C"/>
                </a:solidFill>
                <a:latin typeface="Helvetica Neue"/>
                <a:ea typeface="Helvetica Neue"/>
                <a:cs typeface="Helvetica Neue"/>
              </a:rPr>
              <a:t>Create new slide</a:t>
            </a:r>
          </a:p>
        </p:txBody>
      </p:sp>
      <p:sp>
        <p:nvSpPr>
          <p:cNvPr id="13" name="">
            <a:extLst xmlns:a="http://schemas.openxmlformats.org/drawingml/2006/main">
              <a:ext uri="{FF2B5EF4-FFF2-40B4-BE49-F238E27FC236}">
                <a16:creationId xmlns:a16="http://schemas.microsoft.com/office/drawing/2014/main" id="{0E81AEB9-B4A2-4889-9F81-242DD8A708F7}"/>
              </a:ext>
            </a:extLst>
          </p:cNvPr>
          <p:cNvSpPr>
            <a:spLocks xmlns:a="http://schemas.openxmlformats.org/drawingml/2006/main" noGrp="1"/>
          </p:cNvSpPr>
          <p:nvPr/>
        </p:nvSpPr>
        <p:spPr>
          <a:xfrm xmlns:a="http://schemas.openxmlformats.org/drawingml/2006/main">
            <a:off x="857250" y="4000500"/>
            <a:ext cx="440055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D9189E24-3498-4504-A806-916FE67388BF}"/>
              </a:ext>
            </a:extLst>
          </p:cNvPr>
          <p:cNvSpPr>
            <a:spLocks xmlns:a="http://schemas.openxmlformats.org/drawingml/2006/main" noGrp="1"/>
          </p:cNvSpPr>
          <p:nvPr/>
        </p:nvSpPr>
        <p:spPr>
          <a:xfrm xmlns:a="http://schemas.openxmlformats.org/drawingml/2006/main">
            <a:off x="857250" y="4267200"/>
            <a:ext cx="44005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66717D"/>
                </a:solidFill>
                <a:latin typeface="Helvetica Neue"/>
                <a:ea typeface="Helvetica Neue"/>
                <a:cs typeface="Helvetica Neue"/>
              </a:defRPr>
            </a:pPr>
            <a:r>
              <a:rPr sz="1200" b="0">
                <a:solidFill>
                  <a:srgbClr val="66717D"/>
                </a:solidFill>
                <a:latin typeface="Helvetica Neue"/>
                <a:ea typeface="Helvetica Neue"/>
                <a:cs typeface="Helvetica Neue"/>
              </a:rPr>
              <a:t>These examples share PowerPoint on Windows, but use different images and prompts. They illustrate failure modes rather than form a matched causal pair.</a:t>
            </a:r>
          </a:p>
        </p:txBody>
      </p:sp>
      <p:sp>
        <p:nvSpPr>
          <p:cNvPr id="15" name="">
            <a:extLst xmlns:a="http://schemas.openxmlformats.org/drawingml/2006/main">
              <a:ext uri="{FF2B5EF4-FFF2-40B4-BE49-F238E27FC236}">
                <a16:creationId xmlns:a16="http://schemas.microsoft.com/office/drawing/2014/main" id="{FC07E9D2-97AE-410F-9F70-56047B112C1C}"/>
              </a:ext>
            </a:extLst>
          </p:cNvPr>
          <p:cNvSpPr>
            <a:spLocks xmlns:a="http://schemas.openxmlformats.org/drawingml/2006/main" noGrp="1"/>
          </p:cNvSpPr>
          <p:nvPr/>
        </p:nvSpPr>
        <p:spPr>
          <a:xfrm xmlns:a="http://schemas.openxmlformats.org/drawingml/2006/main">
            <a:off x="6191250" y="1371600"/>
            <a:ext cx="5391150" cy="4381500"/>
          </a:xfrm>
          <a:prstGeom xmlns:a="http://schemas.openxmlformats.org/drawingml/2006/main" prst="roundRect">
            <a:avLst>
              <a:gd name="adj" fmla="val 1739"/>
            </a:avLst>
          </a:prstGeom>
          <a:solidFill xmlns:a="http://schemas.openxmlformats.org/drawingml/2006/main">
            <a:srgbClr val="1C2733"/>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D65AFEEA-6881-44FA-9A37-6F83BB469B0F}"/>
              </a:ext>
            </a:extLst>
          </p:cNvPr>
          <p:cNvSpPr>
            <a:spLocks xmlns:a="http://schemas.openxmlformats.org/drawingml/2006/main" noGrp="1"/>
          </p:cNvSpPr>
          <p:nvPr/>
        </p:nvSpPr>
        <p:spPr>
          <a:xfrm xmlns:a="http://schemas.openxmlformats.org/drawingml/2006/main">
            <a:off x="6477000" y="1619250"/>
            <a:ext cx="114300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F47A677A-0441-4968-B8FF-EFC2BADDF21E}"/>
              </a:ext>
            </a:extLst>
          </p:cNvPr>
          <p:cNvSpPr>
            <a:spLocks xmlns:a="http://schemas.openxmlformats.org/drawingml/2006/main" noGrp="1"/>
          </p:cNvSpPr>
          <p:nvPr/>
        </p:nvSpPr>
        <p:spPr>
          <a:xfrm xmlns:a="http://schemas.openxmlformats.org/drawingml/2006/main">
            <a:off x="6572250" y="1638300"/>
            <a:ext cx="95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MULTI-TURN</a:t>
            </a:r>
          </a:p>
        </p:txBody>
      </p:sp>
      <p:sp>
        <p:nvSpPr>
          <p:cNvPr id="18" name="">
            <a:extLst xmlns:a="http://schemas.openxmlformats.org/drawingml/2006/main">
              <a:ext uri="{FF2B5EF4-FFF2-40B4-BE49-F238E27FC236}">
                <a16:creationId xmlns:a16="http://schemas.microsoft.com/office/drawing/2014/main" id="{06122FAC-679E-47C2-9BCF-C1D8E24BAC69}"/>
              </a:ext>
            </a:extLst>
          </p:cNvPr>
          <p:cNvSpPr>
            <a:spLocks xmlns:a="http://schemas.openxmlformats.org/drawingml/2006/main" noGrp="1"/>
          </p:cNvSpPr>
          <p:nvPr/>
        </p:nvSpPr>
        <p:spPr>
          <a:xfrm xmlns:a="http://schemas.openxmlformats.org/drawingml/2006/main">
            <a:off x="6477000" y="2057400"/>
            <a:ext cx="4000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a:solidFill>
                  <a:srgbClr val="FFFFFF"/>
                </a:solidFill>
                <a:latin typeface="Helvetica Neue"/>
                <a:ea typeface="Helvetica Neue"/>
                <a:cs typeface="Helvetica Neue"/>
              </a:defRPr>
            </a:pPr>
            <a:r>
              <a:rPr sz="2025" b="1">
                <a:solidFill>
                  <a:srgbClr val="FFFFFF"/>
                </a:solidFill>
                <a:latin typeface="Helvetica Neue"/>
                <a:ea typeface="Helvetica Neue"/>
                <a:cs typeface="Helvetica Neue"/>
              </a:rPr>
              <a:t>Synthetic hotel search</a:t>
            </a:r>
          </a:p>
        </p:txBody>
      </p:sp>
      <p:sp>
        <p:nvSpPr>
          <p:cNvPr id="19" name="">
            <a:extLst xmlns:a="http://schemas.openxmlformats.org/drawingml/2006/main">
              <a:ext uri="{FF2B5EF4-FFF2-40B4-BE49-F238E27FC236}">
                <a16:creationId xmlns:a16="http://schemas.microsoft.com/office/drawing/2014/main" id="{349FC93E-95B2-4CB9-80D9-A722136F1423}"/>
              </a:ext>
            </a:extLst>
          </p:cNvPr>
          <p:cNvSpPr>
            <a:spLocks xmlns:a="http://schemas.openxmlformats.org/drawingml/2006/main" noGrp="1"/>
          </p:cNvSpPr>
          <p:nvPr/>
        </p:nvSpPr>
        <p:spPr>
          <a:xfrm xmlns:a="http://schemas.openxmlformats.org/drawingml/2006/main">
            <a:off x="6477000" y="2457450"/>
            <a:ext cx="432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B9C3CD"/>
                </a:solidFill>
                <a:latin typeface="Helvetica Neue"/>
                <a:ea typeface="Helvetica Neue"/>
                <a:cs typeface="Helvetica Neue"/>
              </a:defRPr>
            </a:pPr>
            <a:r>
              <a:rPr sz="1350" b="0">
                <a:solidFill>
                  <a:srgbClr val="B9C3CD"/>
                </a:solidFill>
                <a:latin typeface="Helvetica Neue"/>
                <a:ea typeface="Helvetica Neue"/>
                <a:cs typeface="Helvetica Neue"/>
              </a:rPr>
              <a:t>Four model calls retain every earlier screenshot</a:t>
            </a:r>
          </a:p>
        </p:txBody>
      </p:sp>
      <p:sp>
        <p:nvSpPr>
          <p:cNvPr id="20" name="">
            <a:extLst xmlns:a="http://schemas.openxmlformats.org/drawingml/2006/main">
              <a:ext uri="{FF2B5EF4-FFF2-40B4-BE49-F238E27FC236}">
                <a16:creationId xmlns:a16="http://schemas.microsoft.com/office/drawing/2014/main" id="{587012D2-51A2-4E3A-8D82-F6A09EB878F4}"/>
              </a:ext>
            </a:extLst>
          </p:cNvPr>
          <p:cNvSpPr>
            <a:spLocks xmlns:a="http://schemas.openxmlformats.org/drawingml/2006/main" noGrp="1"/>
          </p:cNvSpPr>
          <p:nvPr/>
        </p:nvSpPr>
        <p:spPr>
          <a:xfrm xmlns:a="http://schemas.openxmlformats.org/drawingml/2006/main">
            <a:off x="6477000" y="3009900"/>
            <a:ext cx="438150" cy="285750"/>
          </a:xfrm>
          <a:prstGeom xmlns:a="http://schemas.openxmlformats.org/drawingml/2006/main" prst="roundRect">
            <a:avLst>
              <a:gd name="adj" fmla="val 26667"/>
            </a:avLst>
          </a:prstGeom>
          <a:solidFill xmlns:a="http://schemas.openxmlformats.org/drawingml/2006/main">
            <a:srgbClr val="344252"/>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97040724-0CC4-4DF9-9522-CDC84BAAEED2}"/>
              </a:ext>
            </a:extLst>
          </p:cNvPr>
          <p:cNvSpPr>
            <a:spLocks xmlns:a="http://schemas.openxmlformats.org/drawingml/2006/main" noGrp="1"/>
          </p:cNvSpPr>
          <p:nvPr/>
        </p:nvSpPr>
        <p:spPr>
          <a:xfrm xmlns:a="http://schemas.openxmlformats.org/drawingml/2006/main">
            <a:off x="6572250" y="3028950"/>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01</a:t>
            </a:r>
          </a:p>
        </p:txBody>
      </p:sp>
      <p:sp>
        <p:nvSpPr>
          <p:cNvPr id="22" name="">
            <a:extLst xmlns:a="http://schemas.openxmlformats.org/drawingml/2006/main">
              <a:ext uri="{FF2B5EF4-FFF2-40B4-BE49-F238E27FC236}">
                <a16:creationId xmlns:a16="http://schemas.microsoft.com/office/drawing/2014/main" id="{3FCCB808-B66E-4441-825F-0C98C52E613B}"/>
              </a:ext>
            </a:extLst>
          </p:cNvPr>
          <p:cNvSpPr>
            <a:spLocks xmlns:a="http://schemas.openxmlformats.org/drawingml/2006/main" noGrp="1"/>
          </p:cNvSpPr>
          <p:nvPr/>
        </p:nvSpPr>
        <p:spPr>
          <a:xfrm xmlns:a="http://schemas.openxmlformats.org/drawingml/2006/main">
            <a:off x="7086600" y="3028950"/>
            <a:ext cx="1219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SCROLL</a:t>
            </a:r>
          </a:p>
        </p:txBody>
      </p:sp>
      <p:sp>
        <p:nvSpPr>
          <p:cNvPr id="23" name="">
            <a:extLst xmlns:a="http://schemas.openxmlformats.org/drawingml/2006/main">
              <a:ext uri="{FF2B5EF4-FFF2-40B4-BE49-F238E27FC236}">
                <a16:creationId xmlns:a16="http://schemas.microsoft.com/office/drawing/2014/main" id="{2627577D-F101-408B-930F-E3B8FFC5B0EA}"/>
              </a:ext>
            </a:extLst>
          </p:cNvPr>
          <p:cNvSpPr>
            <a:spLocks xmlns:a="http://schemas.openxmlformats.org/drawingml/2006/main" noGrp="1"/>
          </p:cNvSpPr>
          <p:nvPr/>
        </p:nvSpPr>
        <p:spPr>
          <a:xfrm xmlns:a="http://schemas.openxmlformats.org/drawingml/2006/main">
            <a:off x="9620250" y="3028950"/>
            <a:ext cx="123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a:solidFill>
                  <a:srgbClr val="B9C3CD"/>
                </a:solidFill>
                <a:latin typeface="Helvetica Neue"/>
                <a:ea typeface="Helvetica Neue"/>
                <a:cs typeface="Helvetica Neue"/>
              </a:defRPr>
            </a:pPr>
            <a:r>
              <a:rPr sz="1125" b="1">
                <a:solidFill>
                  <a:srgbClr val="B9C3CD"/>
                </a:solidFill>
                <a:latin typeface="Helvetica Neue"/>
                <a:ea typeface="Helvetica Neue"/>
                <a:cs typeface="Helvetica Neue"/>
              </a:rPr>
              <a:t>500 px</a:t>
            </a:r>
          </a:p>
        </p:txBody>
      </p:sp>
      <p:sp>
        <p:nvSpPr>
          <p:cNvPr id="24" name="">
            <a:extLst xmlns:a="http://schemas.openxmlformats.org/drawingml/2006/main">
              <a:ext uri="{FF2B5EF4-FFF2-40B4-BE49-F238E27FC236}">
                <a16:creationId xmlns:a16="http://schemas.microsoft.com/office/drawing/2014/main" id="{DD22A200-0FE1-453D-BE30-72E95A6D7C43}"/>
              </a:ext>
            </a:extLst>
          </p:cNvPr>
          <p:cNvSpPr>
            <a:spLocks xmlns:a="http://schemas.openxmlformats.org/drawingml/2006/main" noGrp="1"/>
          </p:cNvSpPr>
          <p:nvPr/>
        </p:nvSpPr>
        <p:spPr>
          <a:xfrm xmlns:a="http://schemas.openxmlformats.org/drawingml/2006/main">
            <a:off x="6477000" y="3543300"/>
            <a:ext cx="438150" cy="285750"/>
          </a:xfrm>
          <a:prstGeom xmlns:a="http://schemas.openxmlformats.org/drawingml/2006/main" prst="roundRect">
            <a:avLst>
              <a:gd name="adj" fmla="val 26667"/>
            </a:avLst>
          </a:prstGeom>
          <a:solidFill xmlns:a="http://schemas.openxmlformats.org/drawingml/2006/main">
            <a:srgbClr val="344252"/>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F55941B3-8EF6-43EB-A07B-15B2A1A53B10}"/>
              </a:ext>
            </a:extLst>
          </p:cNvPr>
          <p:cNvSpPr>
            <a:spLocks xmlns:a="http://schemas.openxmlformats.org/drawingml/2006/main" noGrp="1"/>
          </p:cNvSpPr>
          <p:nvPr/>
        </p:nvSpPr>
        <p:spPr>
          <a:xfrm xmlns:a="http://schemas.openxmlformats.org/drawingml/2006/main">
            <a:off x="6572250" y="3562350"/>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02</a:t>
            </a:r>
          </a:p>
        </p:txBody>
      </p:sp>
      <p:sp>
        <p:nvSpPr>
          <p:cNvPr id="26" name="">
            <a:extLst xmlns:a="http://schemas.openxmlformats.org/drawingml/2006/main">
              <a:ext uri="{FF2B5EF4-FFF2-40B4-BE49-F238E27FC236}">
                <a16:creationId xmlns:a16="http://schemas.microsoft.com/office/drawing/2014/main" id="{80FA9675-37E4-439F-8CCB-401164FDD26B}"/>
              </a:ext>
            </a:extLst>
          </p:cNvPr>
          <p:cNvSpPr>
            <a:spLocks xmlns:a="http://schemas.openxmlformats.org/drawingml/2006/main" noGrp="1"/>
          </p:cNvSpPr>
          <p:nvPr/>
        </p:nvSpPr>
        <p:spPr>
          <a:xfrm xmlns:a="http://schemas.openxmlformats.org/drawingml/2006/main">
            <a:off x="7086600" y="3562350"/>
            <a:ext cx="1219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SCROLL</a:t>
            </a:r>
          </a:p>
        </p:txBody>
      </p:sp>
      <p:sp>
        <p:nvSpPr>
          <p:cNvPr id="27" name="">
            <a:extLst xmlns:a="http://schemas.openxmlformats.org/drawingml/2006/main">
              <a:ext uri="{FF2B5EF4-FFF2-40B4-BE49-F238E27FC236}">
                <a16:creationId xmlns:a16="http://schemas.microsoft.com/office/drawing/2014/main" id="{2F9395C5-D018-4463-9A62-9FE8E905F83E}"/>
              </a:ext>
            </a:extLst>
          </p:cNvPr>
          <p:cNvSpPr>
            <a:spLocks xmlns:a="http://schemas.openxmlformats.org/drawingml/2006/main" noGrp="1"/>
          </p:cNvSpPr>
          <p:nvPr/>
        </p:nvSpPr>
        <p:spPr>
          <a:xfrm xmlns:a="http://schemas.openxmlformats.org/drawingml/2006/main">
            <a:off x="9620250" y="3562350"/>
            <a:ext cx="123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a:solidFill>
                  <a:srgbClr val="B9C3CD"/>
                </a:solidFill>
                <a:latin typeface="Helvetica Neue"/>
                <a:ea typeface="Helvetica Neue"/>
                <a:cs typeface="Helvetica Neue"/>
              </a:defRPr>
            </a:pPr>
            <a:r>
              <a:rPr sz="1125" b="1">
                <a:solidFill>
                  <a:srgbClr val="B9C3CD"/>
                </a:solidFill>
                <a:latin typeface="Helvetica Neue"/>
                <a:ea typeface="Helvetica Neue"/>
                <a:cs typeface="Helvetica Neue"/>
              </a:rPr>
              <a:t>500 px</a:t>
            </a:r>
          </a:p>
        </p:txBody>
      </p:sp>
      <p:sp>
        <p:nvSpPr>
          <p:cNvPr id="28" name="">
            <a:extLst xmlns:a="http://schemas.openxmlformats.org/drawingml/2006/main">
              <a:ext uri="{FF2B5EF4-FFF2-40B4-BE49-F238E27FC236}">
                <a16:creationId xmlns:a16="http://schemas.microsoft.com/office/drawing/2014/main" id="{63774807-2FE2-4FE1-A13E-69323748F73C}"/>
              </a:ext>
            </a:extLst>
          </p:cNvPr>
          <p:cNvSpPr>
            <a:spLocks xmlns:a="http://schemas.openxmlformats.org/drawingml/2006/main" noGrp="1"/>
          </p:cNvSpPr>
          <p:nvPr/>
        </p:nvSpPr>
        <p:spPr>
          <a:xfrm xmlns:a="http://schemas.openxmlformats.org/drawingml/2006/main">
            <a:off x="6477000" y="4076700"/>
            <a:ext cx="438150" cy="285750"/>
          </a:xfrm>
          <a:prstGeom xmlns:a="http://schemas.openxmlformats.org/drawingml/2006/main" prst="roundRect">
            <a:avLst>
              <a:gd name="adj" fmla="val 26667"/>
            </a:avLst>
          </a:prstGeom>
          <a:solidFill xmlns:a="http://schemas.openxmlformats.org/drawingml/2006/main">
            <a:srgbClr val="344252"/>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4FA80DF0-3918-4F28-A08E-2439B06B7031}"/>
              </a:ext>
            </a:extLst>
          </p:cNvPr>
          <p:cNvSpPr>
            <a:spLocks xmlns:a="http://schemas.openxmlformats.org/drawingml/2006/main" noGrp="1"/>
          </p:cNvSpPr>
          <p:nvPr/>
        </p:nvSpPr>
        <p:spPr>
          <a:xfrm xmlns:a="http://schemas.openxmlformats.org/drawingml/2006/main">
            <a:off x="6572250" y="4095750"/>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03</a:t>
            </a:r>
          </a:p>
        </p:txBody>
      </p:sp>
      <p:sp>
        <p:nvSpPr>
          <p:cNvPr id="30" name="">
            <a:extLst xmlns:a="http://schemas.openxmlformats.org/drawingml/2006/main">
              <a:ext uri="{FF2B5EF4-FFF2-40B4-BE49-F238E27FC236}">
                <a16:creationId xmlns:a16="http://schemas.microsoft.com/office/drawing/2014/main" id="{EB096454-6CC3-4EB4-99C5-304B79D49679}"/>
              </a:ext>
            </a:extLst>
          </p:cNvPr>
          <p:cNvSpPr>
            <a:spLocks xmlns:a="http://schemas.openxmlformats.org/drawingml/2006/main" noGrp="1"/>
          </p:cNvSpPr>
          <p:nvPr/>
        </p:nvSpPr>
        <p:spPr>
          <a:xfrm xmlns:a="http://schemas.openxmlformats.org/drawingml/2006/main">
            <a:off x="7086600" y="4095750"/>
            <a:ext cx="1219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SCROLL</a:t>
            </a:r>
          </a:p>
        </p:txBody>
      </p:sp>
      <p:sp>
        <p:nvSpPr>
          <p:cNvPr id="31" name="">
            <a:extLst xmlns:a="http://schemas.openxmlformats.org/drawingml/2006/main">
              <a:ext uri="{FF2B5EF4-FFF2-40B4-BE49-F238E27FC236}">
                <a16:creationId xmlns:a16="http://schemas.microsoft.com/office/drawing/2014/main" id="{70F11F2C-4FA5-4F5E-A070-8256BC37670A}"/>
              </a:ext>
            </a:extLst>
          </p:cNvPr>
          <p:cNvSpPr>
            <a:spLocks xmlns:a="http://schemas.openxmlformats.org/drawingml/2006/main" noGrp="1"/>
          </p:cNvSpPr>
          <p:nvPr/>
        </p:nvSpPr>
        <p:spPr>
          <a:xfrm xmlns:a="http://schemas.openxmlformats.org/drawingml/2006/main">
            <a:off x="9620250" y="4095750"/>
            <a:ext cx="123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a:solidFill>
                  <a:srgbClr val="B9C3CD"/>
                </a:solidFill>
                <a:latin typeface="Helvetica Neue"/>
                <a:ea typeface="Helvetica Neue"/>
                <a:cs typeface="Helvetica Neue"/>
              </a:defRPr>
            </a:pPr>
            <a:r>
              <a:rPr sz="1125" b="1">
                <a:solidFill>
                  <a:srgbClr val="B9C3CD"/>
                </a:solidFill>
                <a:latin typeface="Helvetica Neue"/>
                <a:ea typeface="Helvetica Neue"/>
                <a:cs typeface="Helvetica Neue"/>
              </a:rPr>
              <a:t>500 px</a:t>
            </a:r>
          </a:p>
        </p:txBody>
      </p:sp>
      <p:sp>
        <p:nvSpPr>
          <p:cNvPr id="32" name="">
            <a:extLst xmlns:a="http://schemas.openxmlformats.org/drawingml/2006/main">
              <a:ext uri="{FF2B5EF4-FFF2-40B4-BE49-F238E27FC236}">
                <a16:creationId xmlns:a16="http://schemas.microsoft.com/office/drawing/2014/main" id="{90CF09A5-B751-423B-BC0C-320C40D8C229}"/>
              </a:ext>
            </a:extLst>
          </p:cNvPr>
          <p:cNvSpPr>
            <a:spLocks xmlns:a="http://schemas.openxmlformats.org/drawingml/2006/main" noGrp="1"/>
          </p:cNvSpPr>
          <p:nvPr/>
        </p:nvSpPr>
        <p:spPr>
          <a:xfrm xmlns:a="http://schemas.openxmlformats.org/drawingml/2006/main">
            <a:off x="6477000" y="4610100"/>
            <a:ext cx="43815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BB3E2C0E-C420-4D0D-9A41-B29658396F29}"/>
              </a:ext>
            </a:extLst>
          </p:cNvPr>
          <p:cNvSpPr>
            <a:spLocks xmlns:a="http://schemas.openxmlformats.org/drawingml/2006/main" noGrp="1"/>
          </p:cNvSpPr>
          <p:nvPr/>
        </p:nvSpPr>
        <p:spPr>
          <a:xfrm xmlns:a="http://schemas.openxmlformats.org/drawingml/2006/main">
            <a:off x="6572250" y="4629150"/>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04</a:t>
            </a:r>
          </a:p>
        </p:txBody>
      </p:sp>
      <p:sp>
        <p:nvSpPr>
          <p:cNvPr id="34" name="">
            <a:extLst xmlns:a="http://schemas.openxmlformats.org/drawingml/2006/main">
              <a:ext uri="{FF2B5EF4-FFF2-40B4-BE49-F238E27FC236}">
                <a16:creationId xmlns:a16="http://schemas.microsoft.com/office/drawing/2014/main" id="{05D4FB8F-AE78-4B75-A64B-23986C62EF6F}"/>
              </a:ext>
            </a:extLst>
          </p:cNvPr>
          <p:cNvSpPr>
            <a:spLocks xmlns:a="http://schemas.openxmlformats.org/drawingml/2006/main" noGrp="1"/>
          </p:cNvSpPr>
          <p:nvPr/>
        </p:nvSpPr>
        <p:spPr>
          <a:xfrm xmlns:a="http://schemas.openxmlformats.org/drawingml/2006/main">
            <a:off x="7086600" y="4629150"/>
            <a:ext cx="1219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CLICK</a:t>
            </a:r>
          </a:p>
        </p:txBody>
      </p:sp>
      <p:sp>
        <p:nvSpPr>
          <p:cNvPr id="35" name="">
            <a:extLst xmlns:a="http://schemas.openxmlformats.org/drawingml/2006/main">
              <a:ext uri="{FF2B5EF4-FFF2-40B4-BE49-F238E27FC236}">
                <a16:creationId xmlns:a16="http://schemas.microsoft.com/office/drawing/2014/main" id="{D8FE479B-6B93-4766-8352-94652D2CDB7F}"/>
              </a:ext>
            </a:extLst>
          </p:cNvPr>
          <p:cNvSpPr>
            <a:spLocks xmlns:a="http://schemas.openxmlformats.org/drawingml/2006/main" noGrp="1"/>
          </p:cNvSpPr>
          <p:nvPr/>
        </p:nvSpPr>
        <p:spPr>
          <a:xfrm xmlns:a="http://schemas.openxmlformats.org/drawingml/2006/main">
            <a:off x="9620250" y="4629150"/>
            <a:ext cx="123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a:solidFill>
                  <a:srgbClr val="F2BDAF"/>
                </a:solidFill>
                <a:latin typeface="Helvetica Neue"/>
                <a:ea typeface="Helvetica Neue"/>
                <a:cs typeface="Helvetica Neue"/>
              </a:defRPr>
            </a:pPr>
            <a:r>
              <a:rPr sz="1125" b="1">
                <a:solidFill>
                  <a:srgbClr val="F2BDAF"/>
                </a:solidFill>
                <a:latin typeface="Helvetica Neue"/>
                <a:ea typeface="Helvetica Neue"/>
                <a:cs typeface="Helvetica Neue"/>
              </a:rPr>
              <a:t>miss</a:t>
            </a:r>
          </a:p>
        </p:txBody>
      </p:sp>
      <p:sp>
        <p:nvSpPr>
          <p:cNvPr id="36" name="">
            <a:extLst xmlns:a="http://schemas.openxmlformats.org/drawingml/2006/main">
              <a:ext uri="{FF2B5EF4-FFF2-40B4-BE49-F238E27FC236}">
                <a16:creationId xmlns:a16="http://schemas.microsoft.com/office/drawing/2014/main" id="{77133156-82CD-433F-8D5D-C8B1C6E32850}"/>
              </a:ext>
            </a:extLst>
          </p:cNvPr>
          <p:cNvSpPr>
            <a:spLocks xmlns:a="http://schemas.openxmlformats.org/drawingml/2006/main" noGrp="1"/>
          </p:cNvSpPr>
          <p:nvPr/>
        </p:nvSpPr>
        <p:spPr>
          <a:xfrm xmlns:a="http://schemas.openxmlformats.org/drawingml/2006/main">
            <a:off x="6477000" y="5286375"/>
            <a:ext cx="436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F0C7BC"/>
                </a:solidFill>
                <a:latin typeface="Helvetica Neue"/>
                <a:ea typeface="Helvetica Neue"/>
                <a:cs typeface="Helvetica Neue"/>
              </a:defRPr>
            </a:pPr>
            <a:r>
              <a:rPr sz="1125" b="1">
                <a:solidFill>
                  <a:srgbClr val="F0C7BC"/>
                </a:solidFill>
                <a:latin typeface="Helvetica Neue"/>
                <a:ea typeface="Helvetica Neue"/>
                <a:cs typeface="Helvetica Neue"/>
              </a:rPr>
              <a:t>Target: Signal Quay Rooms at $172</a:t>
            </a:r>
          </a:p>
        </p:txBody>
      </p:sp>
      <p:sp>
        <p:nvSpPr>
          <p:cNvPr id="37" name="">
            <a:extLst xmlns:a="http://schemas.openxmlformats.org/drawingml/2006/main">
              <a:ext uri="{FF2B5EF4-FFF2-40B4-BE49-F238E27FC236}">
                <a16:creationId xmlns:a16="http://schemas.microsoft.com/office/drawing/2014/main" id="{E7E122C4-5190-45F6-AACF-D23921B9AB18}"/>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1BD5947F-A098-4F21-9285-D72B0F867DC8}"/>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ScreenSpot-Pro supplies real GUI cases · the deterministic hotel fixture supplies replayable trajectories</a:t>
            </a:r>
          </a:p>
        </p:txBody>
      </p:sp>
    </p:spTree>
    <p:extLst>
      <p:ext uri="{BB962C8B-B14F-4D97-AF65-F5344CB8AC3E}">
        <p14:creationId xmlns:p14="http://schemas.microsoft.com/office/powerpoint/2010/main" val="57848410"/>
      </p:ext>
    </p:extLst>
  </p:cSld>
</p:sld>
</file>

<file path=ppt/slides/slide3.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3187FAFA-86F4-40AA-A9DB-939A19E9031E}"/>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CALCULATION</a:t>
            </a:r>
          </a:p>
        </p:txBody>
      </p:sp>
      <p:sp>
        <p:nvSpPr>
          <p:cNvPr id="2" name="">
            <a:extLst xmlns:a="http://schemas.openxmlformats.org/drawingml/2006/main">
              <a:ext uri="{FF2B5EF4-FFF2-40B4-BE49-F238E27FC236}">
                <a16:creationId xmlns:a16="http://schemas.microsoft.com/office/drawing/2014/main" id="{63FFCE3D-667A-44C2-9D71-F436EB32B0E3}"/>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9704"/>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From generated coordinate tokens back to image patches</a:t>
            </a:r>
          </a:p>
        </p:txBody>
      </p:sp>
      <p:sp>
        <p:nvSpPr>
          <p:cNvPr id="3" name="">
            <a:extLst xmlns:a="http://schemas.openxmlformats.org/drawingml/2006/main">
              <a:ext uri="{FF2B5EF4-FFF2-40B4-BE49-F238E27FC236}">
                <a16:creationId xmlns:a16="http://schemas.microsoft.com/office/drawing/2014/main" id="{9EBA858C-DA44-4DED-B664-58A53BFF96EA}"/>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03</a:t>
            </a:r>
          </a:p>
        </p:txBody>
      </p:sp>
      <p:sp>
        <p:nvSpPr>
          <p:cNvPr id="4" name="">
            <a:extLst xmlns:a="http://schemas.openxmlformats.org/drawingml/2006/main">
              <a:ext uri="{FF2B5EF4-FFF2-40B4-BE49-F238E27FC236}">
                <a16:creationId xmlns:a16="http://schemas.microsoft.com/office/drawing/2014/main" id="{FBFC915B-ACB1-4022-ACF6-A65F88E70B90}"/>
              </a:ext>
            </a:extLst>
          </p:cNvPr>
          <p:cNvSpPr>
            <a:spLocks xmlns:a="http://schemas.openxmlformats.org/drawingml/2006/main" noGrp="1"/>
          </p:cNvSpPr>
          <p:nvPr/>
        </p:nvSpPr>
        <p:spPr>
          <a:xfrm xmlns:a="http://schemas.openxmlformats.org/drawingml/2006/main">
            <a:off x="609600" y="1466850"/>
            <a:ext cx="3390900" cy="2190750"/>
          </a:xfrm>
          <a:prstGeom xmlns:a="http://schemas.openxmlformats.org/drawingml/2006/main" prst="roundRect">
            <a:avLst>
              <a:gd name="adj" fmla="val 3478"/>
            </a:avLst>
          </a:prstGeom>
          <a:solidFill xmlns:a="http://schemas.openxmlformats.org/drawingml/2006/main">
            <a:srgbClr val="FFFFFF"/>
          </a:solidFill>
          <a:ln xmlns:a="http://schemas.openxmlformats.org/drawingml/2006/main" w="9525">
            <a:solidFill>
              <a:srgbClr val="D9D4C8"/>
            </a:solidFill>
          </a:ln>
        </p:spPr>
      </p:sp>
      <p:sp>
        <p:nvSpPr>
          <p:cNvPr id="5" name="">
            <a:extLst xmlns:a="http://schemas.openxmlformats.org/drawingml/2006/main">
              <a:ext uri="{FF2B5EF4-FFF2-40B4-BE49-F238E27FC236}">
                <a16:creationId xmlns:a16="http://schemas.microsoft.com/office/drawing/2014/main" id="{900830A1-4DF9-430D-A5F4-6754623A9042}"/>
              </a:ext>
            </a:extLst>
          </p:cNvPr>
          <p:cNvSpPr>
            <a:spLocks xmlns:a="http://schemas.openxmlformats.org/drawingml/2006/main" noGrp="1"/>
          </p:cNvSpPr>
          <p:nvPr/>
        </p:nvSpPr>
        <p:spPr>
          <a:xfrm xmlns:a="http://schemas.openxmlformats.org/drawingml/2006/main">
            <a:off x="819150" y="1666875"/>
            <a:ext cx="43815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E797FDDF-EE5A-442C-9764-7EE367A82E7C}"/>
              </a:ext>
            </a:extLst>
          </p:cNvPr>
          <p:cNvSpPr>
            <a:spLocks xmlns:a="http://schemas.openxmlformats.org/drawingml/2006/main" noGrp="1"/>
          </p:cNvSpPr>
          <p:nvPr/>
        </p:nvSpPr>
        <p:spPr>
          <a:xfrm xmlns:a="http://schemas.openxmlformats.org/drawingml/2006/main">
            <a:off x="914400" y="1685925"/>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1</a:t>
            </a:r>
          </a:p>
        </p:txBody>
      </p:sp>
      <p:sp>
        <p:nvSpPr>
          <p:cNvPr id="7" name="">
            <a:extLst xmlns:a="http://schemas.openxmlformats.org/drawingml/2006/main">
              <a:ext uri="{FF2B5EF4-FFF2-40B4-BE49-F238E27FC236}">
                <a16:creationId xmlns:a16="http://schemas.microsoft.com/office/drawing/2014/main" id="{AA92B346-34EA-493F-8218-D50C06015F96}"/>
              </a:ext>
            </a:extLst>
          </p:cNvPr>
          <p:cNvSpPr>
            <a:spLocks xmlns:a="http://schemas.openxmlformats.org/drawingml/2006/main" noGrp="1"/>
          </p:cNvSpPr>
          <p:nvPr/>
        </p:nvSpPr>
        <p:spPr>
          <a:xfrm xmlns:a="http://schemas.openxmlformats.org/drawingml/2006/main">
            <a:off x="1409700" y="1704975"/>
            <a:ext cx="2190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F05A3C"/>
                </a:solidFill>
                <a:latin typeface="Helvetica Neue"/>
                <a:ea typeface="Helvetica Neue"/>
                <a:cs typeface="Helvetica Neue"/>
              </a:defRPr>
            </a:pPr>
            <a:r>
              <a:rPr sz="975" b="1">
                <a:solidFill>
                  <a:srgbClr val="F05A3C"/>
                </a:solidFill>
                <a:latin typeface="Helvetica Neue"/>
                <a:ea typeface="Helvetica Neue"/>
                <a:cs typeface="Helvetica Neue"/>
              </a:rPr>
              <a:t>VALUE-NORM</a:t>
            </a:r>
          </a:p>
        </p:txBody>
      </p:sp>
      <p:sp>
        <p:nvSpPr>
          <p:cNvPr id="8" name="">
            <a:extLst xmlns:a="http://schemas.openxmlformats.org/drawingml/2006/main">
              <a:ext uri="{FF2B5EF4-FFF2-40B4-BE49-F238E27FC236}">
                <a16:creationId xmlns:a16="http://schemas.microsoft.com/office/drawing/2014/main" id="{5D02E9AC-3AB7-4885-B3A3-7D002CA89CDD}"/>
              </a:ext>
            </a:extLst>
          </p:cNvPr>
          <p:cNvSpPr>
            <a:spLocks xmlns:a="http://schemas.openxmlformats.org/drawingml/2006/main" noGrp="1"/>
          </p:cNvSpPr>
          <p:nvPr/>
        </p:nvSpPr>
        <p:spPr>
          <a:xfrm xmlns:a="http://schemas.openxmlformats.org/drawingml/2006/main">
            <a:off x="819150" y="2095500"/>
            <a:ext cx="2971800" cy="685800"/>
          </a:xfrm>
          <a:prstGeom xmlns:a="http://schemas.openxmlformats.org/drawingml/2006/main" prst="roundRect">
            <a:avLst>
              <a:gd name="adj" fmla="val 11111"/>
            </a:avLst>
          </a:prstGeom>
          <a:solidFill xmlns:a="http://schemas.openxmlformats.org/drawingml/2006/main">
            <a:srgbClr val="FCE2D9"/>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490272D6-4F2B-4820-8DB9-2640DAE2C46F}"/>
              </a:ext>
            </a:extLst>
          </p:cNvPr>
          <p:cNvSpPr>
            <a:spLocks xmlns:a="http://schemas.openxmlformats.org/drawingml/2006/main" noGrp="1"/>
          </p:cNvSpPr>
          <p:nvPr/>
        </p:nvSpPr>
        <p:spPr>
          <a:xfrm xmlns:a="http://schemas.openxmlformats.org/drawingml/2006/main">
            <a:off x="952500" y="2209800"/>
            <a:ext cx="2705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00" b="1">
                <a:solidFill>
                  <a:srgbClr val="10151C"/>
                </a:solidFill>
                <a:latin typeface="Helvetica Neue"/>
                <a:ea typeface="Helvetica Neue"/>
                <a:cs typeface="Helvetica Neue"/>
              </a:defRPr>
            </a:pPr>
            <a:r>
              <a:rPr sz="1500" b="1">
                <a:solidFill>
                  <a:srgbClr val="10151C"/>
                </a:solidFill>
                <a:latin typeface="Helvetica Neue"/>
                <a:ea typeface="Helvetica Neue"/>
                <a:cs typeface="Helvetica Neue"/>
              </a:rPr>
              <a:t>A′ = normalize(A ⊙ ‖V‖₂)</a:t>
            </a:r>
          </a:p>
        </p:txBody>
      </p:sp>
      <p:sp>
        <p:nvSpPr>
          <p:cNvPr id="10" name="">
            <a:extLst xmlns:a="http://schemas.openxmlformats.org/drawingml/2006/main">
              <a:ext uri="{FF2B5EF4-FFF2-40B4-BE49-F238E27FC236}">
                <a16:creationId xmlns:a16="http://schemas.microsoft.com/office/drawing/2014/main" id="{5C0553FA-7A9F-422E-B945-D899B54D4EF0}"/>
              </a:ext>
            </a:extLst>
          </p:cNvPr>
          <p:cNvSpPr>
            <a:spLocks xmlns:a="http://schemas.openxmlformats.org/drawingml/2006/main" noGrp="1"/>
          </p:cNvSpPr>
          <p:nvPr/>
        </p:nvSpPr>
        <p:spPr>
          <a:xfrm xmlns:a="http://schemas.openxmlformats.org/drawingml/2006/main">
            <a:off x="847725" y="3009900"/>
            <a:ext cx="2895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0">
                <a:solidFill>
                  <a:srgbClr val="66717D"/>
                </a:solidFill>
                <a:latin typeface="Helvetica Neue"/>
                <a:ea typeface="Helvetica Neue"/>
                <a:cs typeface="Helvetica Neue"/>
              </a:defRPr>
            </a:pPr>
            <a:r>
              <a:rPr sz="1125" b="0">
                <a:solidFill>
                  <a:srgbClr val="66717D"/>
                </a:solidFill>
                <a:latin typeface="Helvetica Neue"/>
                <a:ea typeface="Helvetica Neue"/>
                <a:cs typeface="Helvetica Neue"/>
              </a:rPr>
              <a:t>Suppress high attention paths carrying little value signal</a:t>
            </a:r>
          </a:p>
        </p:txBody>
      </p:sp>
      <p:sp>
        <p:nvSpPr>
          <p:cNvPr id="11" name="">
            <a:extLst xmlns:a="http://schemas.openxmlformats.org/drawingml/2006/main">
              <a:ext uri="{FF2B5EF4-FFF2-40B4-BE49-F238E27FC236}">
                <a16:creationId xmlns:a16="http://schemas.microsoft.com/office/drawing/2014/main" id="{2F6D61F1-021A-4A42-9C4C-1891B8C6E48A}"/>
              </a:ext>
            </a:extLst>
          </p:cNvPr>
          <p:cNvSpPr>
            <a:spLocks xmlns:a="http://schemas.openxmlformats.org/drawingml/2006/main" noGrp="1"/>
          </p:cNvSpPr>
          <p:nvPr/>
        </p:nvSpPr>
        <p:spPr>
          <a:xfrm xmlns:a="http://schemas.openxmlformats.org/drawingml/2006/main">
            <a:off x="4371975" y="1466850"/>
            <a:ext cx="3390900" cy="2190750"/>
          </a:xfrm>
          <a:prstGeom xmlns:a="http://schemas.openxmlformats.org/drawingml/2006/main" prst="roundRect">
            <a:avLst>
              <a:gd name="adj" fmla="val 3478"/>
            </a:avLst>
          </a:prstGeom>
          <a:solidFill xmlns:a="http://schemas.openxmlformats.org/drawingml/2006/main">
            <a:srgbClr val="FFFFFF"/>
          </a:solidFill>
          <a:ln xmlns:a="http://schemas.openxmlformats.org/drawingml/2006/main" w="9525">
            <a:solidFill>
              <a:srgbClr val="D9D4C8"/>
            </a:solidFill>
          </a:ln>
        </p:spPr>
      </p:sp>
      <p:sp>
        <p:nvSpPr>
          <p:cNvPr id="12" name="">
            <a:extLst xmlns:a="http://schemas.openxmlformats.org/drawingml/2006/main">
              <a:ext uri="{FF2B5EF4-FFF2-40B4-BE49-F238E27FC236}">
                <a16:creationId xmlns:a16="http://schemas.microsoft.com/office/drawing/2014/main" id="{C30F3D2F-CF64-41F5-84CC-62E886DD8306}"/>
              </a:ext>
            </a:extLst>
          </p:cNvPr>
          <p:cNvSpPr>
            <a:spLocks xmlns:a="http://schemas.openxmlformats.org/drawingml/2006/main" noGrp="1"/>
          </p:cNvSpPr>
          <p:nvPr/>
        </p:nvSpPr>
        <p:spPr>
          <a:xfrm xmlns:a="http://schemas.openxmlformats.org/drawingml/2006/main">
            <a:off x="4581525" y="1666875"/>
            <a:ext cx="438150" cy="285750"/>
          </a:xfrm>
          <a:prstGeom xmlns:a="http://schemas.openxmlformats.org/drawingml/2006/main" prst="roundRect">
            <a:avLst>
              <a:gd name="adj" fmla="val 26667"/>
            </a:avLst>
          </a:prstGeom>
          <a:solidFill xmlns:a="http://schemas.openxmlformats.org/drawingml/2006/main">
            <a:srgbClr val="2D84D3"/>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093AB106-BC35-40AB-85F5-F838A430EB84}"/>
              </a:ext>
            </a:extLst>
          </p:cNvPr>
          <p:cNvSpPr>
            <a:spLocks xmlns:a="http://schemas.openxmlformats.org/drawingml/2006/main" noGrp="1"/>
          </p:cNvSpPr>
          <p:nvPr/>
        </p:nvSpPr>
        <p:spPr>
          <a:xfrm xmlns:a="http://schemas.openxmlformats.org/drawingml/2006/main">
            <a:off x="4676775" y="1685925"/>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2</a:t>
            </a:r>
          </a:p>
        </p:txBody>
      </p:sp>
      <p:sp>
        <p:nvSpPr>
          <p:cNvPr id="14" name="">
            <a:extLst xmlns:a="http://schemas.openxmlformats.org/drawingml/2006/main">
              <a:ext uri="{FF2B5EF4-FFF2-40B4-BE49-F238E27FC236}">
                <a16:creationId xmlns:a16="http://schemas.microsoft.com/office/drawing/2014/main" id="{C1051463-C48F-4E89-A8C7-3D3DB1BEE8F7}"/>
              </a:ext>
            </a:extLst>
          </p:cNvPr>
          <p:cNvSpPr>
            <a:spLocks xmlns:a="http://schemas.openxmlformats.org/drawingml/2006/main" noGrp="1"/>
          </p:cNvSpPr>
          <p:nvPr/>
        </p:nvSpPr>
        <p:spPr>
          <a:xfrm xmlns:a="http://schemas.openxmlformats.org/drawingml/2006/main">
            <a:off x="5172075" y="1704975"/>
            <a:ext cx="2190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2D84D3"/>
                </a:solidFill>
                <a:latin typeface="Helvetica Neue"/>
                <a:ea typeface="Helvetica Neue"/>
                <a:cs typeface="Helvetica Neue"/>
              </a:defRPr>
            </a:pPr>
            <a:r>
              <a:rPr sz="975" b="1">
                <a:solidFill>
                  <a:srgbClr val="2D84D3"/>
                </a:solidFill>
                <a:latin typeface="Helvetica Neue"/>
                <a:ea typeface="Helvetica Neue"/>
                <a:cs typeface="Helvetica Neue"/>
              </a:rPr>
              <a:t>CROSS-LAYER ROLLOUT</a:t>
            </a:r>
          </a:p>
        </p:txBody>
      </p:sp>
      <p:sp>
        <p:nvSpPr>
          <p:cNvPr id="15" name="">
            <a:extLst xmlns:a="http://schemas.openxmlformats.org/drawingml/2006/main">
              <a:ext uri="{FF2B5EF4-FFF2-40B4-BE49-F238E27FC236}">
                <a16:creationId xmlns:a16="http://schemas.microsoft.com/office/drawing/2014/main" id="{D78597AE-DB10-480E-A25F-DB9850AC98E4}"/>
              </a:ext>
            </a:extLst>
          </p:cNvPr>
          <p:cNvSpPr>
            <a:spLocks xmlns:a="http://schemas.openxmlformats.org/drawingml/2006/main" noGrp="1"/>
          </p:cNvSpPr>
          <p:nvPr/>
        </p:nvSpPr>
        <p:spPr>
          <a:xfrm xmlns:a="http://schemas.openxmlformats.org/drawingml/2006/main">
            <a:off x="4581525" y="2095500"/>
            <a:ext cx="2971800" cy="685800"/>
          </a:xfrm>
          <a:prstGeom xmlns:a="http://schemas.openxmlformats.org/drawingml/2006/main" prst="roundRect">
            <a:avLst>
              <a:gd name="adj" fmla="val 11111"/>
            </a:avLst>
          </a:prstGeom>
          <a:solidFill xmlns:a="http://schemas.openxmlformats.org/drawingml/2006/main">
            <a:srgbClr val="DDECF9"/>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23407125-0A60-4E21-8B62-C50881C25115}"/>
              </a:ext>
            </a:extLst>
          </p:cNvPr>
          <p:cNvSpPr>
            <a:spLocks xmlns:a="http://schemas.openxmlformats.org/drawingml/2006/main" noGrp="1"/>
          </p:cNvSpPr>
          <p:nvPr/>
        </p:nvSpPr>
        <p:spPr>
          <a:xfrm xmlns:a="http://schemas.openxmlformats.org/drawingml/2006/main">
            <a:off x="4714875" y="2209800"/>
            <a:ext cx="2705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00" b="1">
                <a:solidFill>
                  <a:srgbClr val="10151C"/>
                </a:solidFill>
                <a:latin typeface="Helvetica Neue"/>
                <a:ea typeface="Helvetica Neue"/>
                <a:cs typeface="Helvetica Neue"/>
              </a:defRPr>
            </a:pPr>
            <a:r>
              <a:rPr sz="1500" b="1">
                <a:solidFill>
                  <a:srgbClr val="10151C"/>
                </a:solidFill>
                <a:latin typeface="Helvetica Neue"/>
                <a:ea typeface="Helvetica Neue"/>
                <a:cs typeface="Helvetica Neue"/>
              </a:rPr>
              <a:t>Rₗ = ½I + ½A′ₗ</a:t>
            </a:r>
          </a:p>
          <a:p xmlns:a="http://schemas.openxmlformats.org/drawingml/2006/main">
            <a:pPr algn="ctr">
              <a:defRPr sz="1500" b="1">
                <a:solidFill>
                  <a:srgbClr val="10151C"/>
                </a:solidFill>
                <a:latin typeface="Helvetica Neue"/>
                <a:ea typeface="Helvetica Neue"/>
                <a:cs typeface="Helvetica Neue"/>
              </a:defRPr>
            </a:pPr>
            <a:r>
              <a:rPr sz="1500" b="1">
                <a:solidFill>
                  <a:srgbClr val="10151C"/>
                </a:solidFill>
                <a:latin typeface="Helvetica Neue"/>
                <a:ea typeface="Helvetica Neue"/>
                <a:cs typeface="Helvetica Neue"/>
              </a:rPr>
              <a:t>R = Rₗ ··· R₁</a:t>
            </a:r>
          </a:p>
        </p:txBody>
      </p:sp>
      <p:sp>
        <p:nvSpPr>
          <p:cNvPr id="17" name="">
            <a:extLst xmlns:a="http://schemas.openxmlformats.org/drawingml/2006/main">
              <a:ext uri="{FF2B5EF4-FFF2-40B4-BE49-F238E27FC236}">
                <a16:creationId xmlns:a16="http://schemas.microsoft.com/office/drawing/2014/main" id="{FA114DC5-BC6C-4FD7-A2C0-91BC14F921EF}"/>
              </a:ext>
            </a:extLst>
          </p:cNvPr>
          <p:cNvSpPr>
            <a:spLocks xmlns:a="http://schemas.openxmlformats.org/drawingml/2006/main" noGrp="1"/>
          </p:cNvSpPr>
          <p:nvPr/>
        </p:nvSpPr>
        <p:spPr>
          <a:xfrm xmlns:a="http://schemas.openxmlformats.org/drawingml/2006/main">
            <a:off x="4610100" y="3009900"/>
            <a:ext cx="2895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0">
                <a:solidFill>
                  <a:srgbClr val="66717D"/>
                </a:solidFill>
                <a:latin typeface="Helvetica Neue"/>
                <a:ea typeface="Helvetica Neue"/>
                <a:cs typeface="Helvetica Neue"/>
              </a:defRPr>
            </a:pPr>
            <a:r>
              <a:rPr sz="1125" b="0">
                <a:solidFill>
                  <a:srgbClr val="66717D"/>
                </a:solidFill>
                <a:latin typeface="Helvetica Neue"/>
                <a:ea typeface="Helvetica Neue"/>
                <a:cs typeface="Helvetica Neue"/>
              </a:rPr>
              <a:t>Compose all 8 captured full-attention blocks with residual flow</a:t>
            </a:r>
          </a:p>
        </p:txBody>
      </p:sp>
      <p:sp>
        <p:nvSpPr>
          <p:cNvPr id="18" name="">
            <a:extLst xmlns:a="http://schemas.openxmlformats.org/drawingml/2006/main">
              <a:ext uri="{FF2B5EF4-FFF2-40B4-BE49-F238E27FC236}">
                <a16:creationId xmlns:a16="http://schemas.microsoft.com/office/drawing/2014/main" id="{F2EF54A5-A91A-46D8-A453-F019F7BDCB66}"/>
              </a:ext>
            </a:extLst>
          </p:cNvPr>
          <p:cNvSpPr>
            <a:spLocks xmlns:a="http://schemas.openxmlformats.org/drawingml/2006/main" noGrp="1"/>
          </p:cNvSpPr>
          <p:nvPr/>
        </p:nvSpPr>
        <p:spPr>
          <a:xfrm xmlns:a="http://schemas.openxmlformats.org/drawingml/2006/main">
            <a:off x="8134350" y="1466850"/>
            <a:ext cx="3390900" cy="2190750"/>
          </a:xfrm>
          <a:prstGeom xmlns:a="http://schemas.openxmlformats.org/drawingml/2006/main" prst="roundRect">
            <a:avLst>
              <a:gd name="adj" fmla="val 3478"/>
            </a:avLst>
          </a:prstGeom>
          <a:solidFill xmlns:a="http://schemas.openxmlformats.org/drawingml/2006/main">
            <a:srgbClr val="FFFFFF"/>
          </a:solidFill>
          <a:ln xmlns:a="http://schemas.openxmlformats.org/drawingml/2006/main" w="9525">
            <a:solidFill>
              <a:srgbClr val="D9D4C8"/>
            </a:solidFill>
          </a:ln>
        </p:spPr>
      </p:sp>
      <p:sp>
        <p:nvSpPr>
          <p:cNvPr id="19" name="">
            <a:extLst xmlns:a="http://schemas.openxmlformats.org/drawingml/2006/main">
              <a:ext uri="{FF2B5EF4-FFF2-40B4-BE49-F238E27FC236}">
                <a16:creationId xmlns:a16="http://schemas.microsoft.com/office/drawing/2014/main" id="{CC51D175-2781-4857-B66A-5AFA0D3F7D57}"/>
              </a:ext>
            </a:extLst>
          </p:cNvPr>
          <p:cNvSpPr>
            <a:spLocks xmlns:a="http://schemas.openxmlformats.org/drawingml/2006/main" noGrp="1"/>
          </p:cNvSpPr>
          <p:nvPr/>
        </p:nvSpPr>
        <p:spPr>
          <a:xfrm xmlns:a="http://schemas.openxmlformats.org/drawingml/2006/main">
            <a:off x="8343900" y="1666875"/>
            <a:ext cx="438150" cy="285750"/>
          </a:xfrm>
          <a:prstGeom xmlns:a="http://schemas.openxmlformats.org/drawingml/2006/main" prst="roundRect">
            <a:avLst>
              <a:gd name="adj" fmla="val 26667"/>
            </a:avLst>
          </a:prstGeom>
          <a:solidFill xmlns:a="http://schemas.openxmlformats.org/drawingml/2006/main">
            <a:srgbClr val="18A875"/>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1D3CB196-9A95-4E34-A89B-11FD4BB6E8C9}"/>
              </a:ext>
            </a:extLst>
          </p:cNvPr>
          <p:cNvSpPr>
            <a:spLocks xmlns:a="http://schemas.openxmlformats.org/drawingml/2006/main" noGrp="1"/>
          </p:cNvSpPr>
          <p:nvPr/>
        </p:nvSpPr>
        <p:spPr>
          <a:xfrm xmlns:a="http://schemas.openxmlformats.org/drawingml/2006/main">
            <a:off x="8439150" y="1685925"/>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3</a:t>
            </a:r>
          </a:p>
        </p:txBody>
      </p:sp>
      <p:sp>
        <p:nvSpPr>
          <p:cNvPr id="21" name="">
            <a:extLst xmlns:a="http://schemas.openxmlformats.org/drawingml/2006/main">
              <a:ext uri="{FF2B5EF4-FFF2-40B4-BE49-F238E27FC236}">
                <a16:creationId xmlns:a16="http://schemas.microsoft.com/office/drawing/2014/main" id="{7D1F19EC-C5F6-4AAD-AD2A-8E78C4E756EA}"/>
              </a:ext>
            </a:extLst>
          </p:cNvPr>
          <p:cNvSpPr>
            <a:spLocks xmlns:a="http://schemas.openxmlformats.org/drawingml/2006/main" noGrp="1"/>
          </p:cNvSpPr>
          <p:nvPr/>
        </p:nvSpPr>
        <p:spPr>
          <a:xfrm xmlns:a="http://schemas.openxmlformats.org/drawingml/2006/main">
            <a:off x="8934450" y="1704975"/>
            <a:ext cx="2190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18A875"/>
                </a:solidFill>
                <a:latin typeface="Helvetica Neue"/>
                <a:ea typeface="Helvetica Neue"/>
                <a:cs typeface="Helvetica Neue"/>
              </a:defRPr>
            </a:pPr>
            <a:r>
              <a:rPr sz="975" b="1">
                <a:solidFill>
                  <a:srgbClr val="18A875"/>
                </a:solidFill>
                <a:latin typeface="Helvetica Neue"/>
                <a:ea typeface="Helvetica Neue"/>
                <a:cs typeface="Helvetica Neue"/>
              </a:rPr>
              <a:t>TOKEN → PARAMETER</a:t>
            </a:r>
          </a:p>
        </p:txBody>
      </p:sp>
      <p:sp>
        <p:nvSpPr>
          <p:cNvPr id="22" name="">
            <a:extLst xmlns:a="http://schemas.openxmlformats.org/drawingml/2006/main">
              <a:ext uri="{FF2B5EF4-FFF2-40B4-BE49-F238E27FC236}">
                <a16:creationId xmlns:a16="http://schemas.microsoft.com/office/drawing/2014/main" id="{48CDEC06-DD94-428C-9CE3-89CFE8194854}"/>
              </a:ext>
            </a:extLst>
          </p:cNvPr>
          <p:cNvSpPr>
            <a:spLocks xmlns:a="http://schemas.openxmlformats.org/drawingml/2006/main" noGrp="1"/>
          </p:cNvSpPr>
          <p:nvPr/>
        </p:nvSpPr>
        <p:spPr>
          <a:xfrm xmlns:a="http://schemas.openxmlformats.org/drawingml/2006/main">
            <a:off x="8343900" y="2095500"/>
            <a:ext cx="2971800" cy="685800"/>
          </a:xfrm>
          <a:prstGeom xmlns:a="http://schemas.openxmlformats.org/drawingml/2006/main" prst="roundRect">
            <a:avLst>
              <a:gd name="adj" fmla="val 11111"/>
            </a:avLst>
          </a:prstGeom>
          <a:solidFill xmlns:a="http://schemas.openxmlformats.org/drawingml/2006/main">
            <a:srgbClr val="E4F4EE"/>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6B8393B1-8094-4ECC-B7AB-E988AEBCEC38}"/>
              </a:ext>
            </a:extLst>
          </p:cNvPr>
          <p:cNvSpPr>
            <a:spLocks xmlns:a="http://schemas.openxmlformats.org/drawingml/2006/main" noGrp="1"/>
          </p:cNvSpPr>
          <p:nvPr/>
        </p:nvSpPr>
        <p:spPr>
          <a:xfrm xmlns:a="http://schemas.openxmlformats.org/drawingml/2006/main">
            <a:off x="8477250" y="2209800"/>
            <a:ext cx="2705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00" b="1">
                <a:solidFill>
                  <a:srgbClr val="10151C"/>
                </a:solidFill>
                <a:latin typeface="Helvetica Neue"/>
                <a:ea typeface="Helvetica Neue"/>
                <a:cs typeface="Helvetica Neue"/>
              </a:defRPr>
            </a:pPr>
            <a:r>
              <a:rPr sz="1500" b="1">
                <a:solidFill>
                  <a:srgbClr val="10151C"/>
                </a:solidFill>
                <a:latin typeface="Helvetica Neue"/>
                <a:ea typeface="Helvetica Neue"/>
                <a:cs typeface="Helvetica Neue"/>
              </a:rPr>
              <a:t>M(x,y) = meanₛ Rₛ</a:t>
            </a:r>
          </a:p>
        </p:txBody>
      </p:sp>
      <p:sp>
        <p:nvSpPr>
          <p:cNvPr id="24" name="">
            <a:extLst xmlns:a="http://schemas.openxmlformats.org/drawingml/2006/main">
              <a:ext uri="{FF2B5EF4-FFF2-40B4-BE49-F238E27FC236}">
                <a16:creationId xmlns:a16="http://schemas.microsoft.com/office/drawing/2014/main" id="{75579174-A534-4A91-8800-B796BED7F50B}"/>
              </a:ext>
            </a:extLst>
          </p:cNvPr>
          <p:cNvSpPr>
            <a:spLocks xmlns:a="http://schemas.openxmlformats.org/drawingml/2006/main" noGrp="1"/>
          </p:cNvSpPr>
          <p:nvPr/>
        </p:nvSpPr>
        <p:spPr>
          <a:xfrm xmlns:a="http://schemas.openxmlformats.org/drawingml/2006/main">
            <a:off x="8372475" y="3009900"/>
            <a:ext cx="2895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0">
                <a:solidFill>
                  <a:srgbClr val="66717D"/>
                </a:solidFill>
                <a:latin typeface="Helvetica Neue"/>
                <a:ea typeface="Helvetica Neue"/>
                <a:cs typeface="Helvetica Neue"/>
              </a:defRPr>
            </a:pPr>
            <a:r>
              <a:rPr sz="1125" b="0">
                <a:solidFill>
                  <a:srgbClr val="66717D"/>
                </a:solidFill>
                <a:latin typeface="Helvetica Neue"/>
                <a:ea typeface="Helvetica Neue"/>
                <a:cs typeface="Helvetica Neue"/>
              </a:rPr>
              <a:t>Average x/y value-token maps; token length cannot inflate a parameter</a:t>
            </a:r>
          </a:p>
        </p:txBody>
      </p:sp>
      <p:sp>
        <p:nvSpPr>
          <p:cNvPr id="25" name="">
            <a:extLst xmlns:a="http://schemas.openxmlformats.org/drawingml/2006/main">
              <a:ext uri="{FF2B5EF4-FFF2-40B4-BE49-F238E27FC236}">
                <a16:creationId xmlns:a16="http://schemas.microsoft.com/office/drawing/2014/main" id="{147A9C37-FACB-402B-8378-5A31EFFA5693}"/>
              </a:ext>
            </a:extLst>
          </p:cNvPr>
          <p:cNvSpPr>
            <a:spLocks xmlns:a="http://schemas.openxmlformats.org/drawingml/2006/main" noGrp="1"/>
          </p:cNvSpPr>
          <p:nvPr/>
        </p:nvSpPr>
        <p:spPr>
          <a:xfrm xmlns:a="http://schemas.openxmlformats.org/drawingml/2006/main">
            <a:off x="609600" y="4019550"/>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10151C"/>
                </a:solidFill>
                <a:latin typeface="Helvetica Neue"/>
                <a:ea typeface="Helvetica Neue"/>
                <a:cs typeface="Helvetica Neue"/>
              </a:defRPr>
            </a:pPr>
            <a:r>
              <a:rPr sz="1650" b="1">
                <a:solidFill>
                  <a:srgbClr val="10151C"/>
                </a:solidFill>
                <a:latin typeface="Helvetica Neue"/>
                <a:ea typeface="Helvetica Neue"/>
                <a:cs typeface="Helvetica Neue"/>
              </a:rPr>
              <a:t>Two baselines ask different questions</a:t>
            </a:r>
          </a:p>
        </p:txBody>
      </p:sp>
      <p:sp>
        <p:nvSpPr>
          <p:cNvPr id="26" name="">
            <a:extLst xmlns:a="http://schemas.openxmlformats.org/drawingml/2006/main">
              <a:ext uri="{FF2B5EF4-FFF2-40B4-BE49-F238E27FC236}">
                <a16:creationId xmlns:a16="http://schemas.microsoft.com/office/drawing/2014/main" id="{3ABDC157-4681-4283-A567-99000A87B226}"/>
              </a:ext>
            </a:extLst>
          </p:cNvPr>
          <p:cNvSpPr>
            <a:spLocks xmlns:a="http://schemas.openxmlformats.org/drawingml/2006/main" noGrp="1"/>
          </p:cNvSpPr>
          <p:nvPr/>
        </p:nvSpPr>
        <p:spPr>
          <a:xfrm xmlns:a="http://schemas.openxmlformats.org/drawingml/2006/main">
            <a:off x="609600" y="4457700"/>
            <a:ext cx="5219700" cy="1485900"/>
          </a:xfrm>
          <a:prstGeom xmlns:a="http://schemas.openxmlformats.org/drawingml/2006/main" prst="roundRect">
            <a:avLst>
              <a:gd name="adj" fmla="val 5128"/>
            </a:avLst>
          </a:prstGeom>
          <a:solidFill xmlns:a="http://schemas.openxmlformats.org/drawingml/2006/main">
            <a:srgbClr val="1C2733"/>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B416B71D-98FD-4234-86A9-1E7E2C66B1BB}"/>
              </a:ext>
            </a:extLst>
          </p:cNvPr>
          <p:cNvSpPr>
            <a:spLocks xmlns:a="http://schemas.openxmlformats.org/drawingml/2006/main" noGrp="1"/>
          </p:cNvSpPr>
          <p:nvPr/>
        </p:nvSpPr>
        <p:spPr>
          <a:xfrm xmlns:a="http://schemas.openxmlformats.org/drawingml/2006/main">
            <a:off x="838200" y="4667250"/>
            <a:ext cx="2476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9FC8F0"/>
                </a:solidFill>
                <a:latin typeface="Helvetica Neue"/>
                <a:ea typeface="Helvetica Neue"/>
                <a:cs typeface="Helvetica Neue"/>
              </a:defRPr>
            </a:pPr>
            <a:r>
              <a:rPr sz="975" b="1">
                <a:solidFill>
                  <a:srgbClr val="9FC8F0"/>
                </a:solidFill>
                <a:latin typeface="Helvetica Neue"/>
                <a:ea typeface="Helvetica Neue"/>
                <a:cs typeface="Helvetica Neue"/>
              </a:rPr>
              <a:t>CAUSAL PREVIOUS-TOKEN</a:t>
            </a:r>
          </a:p>
        </p:txBody>
      </p:sp>
      <p:sp>
        <p:nvSpPr>
          <p:cNvPr id="28" name="">
            <a:extLst xmlns:a="http://schemas.openxmlformats.org/drawingml/2006/main">
              <a:ext uri="{FF2B5EF4-FFF2-40B4-BE49-F238E27FC236}">
                <a16:creationId xmlns:a16="http://schemas.microsoft.com/office/drawing/2014/main" id="{E015984F-0EB8-4EFB-A4E6-D955DDB836F6}"/>
              </a:ext>
            </a:extLst>
          </p:cNvPr>
          <p:cNvSpPr>
            <a:spLocks xmlns:a="http://schemas.openxmlformats.org/drawingml/2006/main" noGrp="1"/>
          </p:cNvSpPr>
          <p:nvPr/>
        </p:nvSpPr>
        <p:spPr>
          <a:xfrm xmlns:a="http://schemas.openxmlformats.org/drawingml/2006/main">
            <a:off x="838200" y="5010150"/>
            <a:ext cx="449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FFFFFF"/>
                </a:solidFill>
                <a:latin typeface="Helvetica Neue"/>
                <a:ea typeface="Helvetica Neue"/>
                <a:cs typeface="Helvetica Neue"/>
              </a:defRPr>
            </a:pPr>
            <a:r>
              <a:rPr sz="1425" b="1">
                <a:solidFill>
                  <a:srgbClr val="FFFFFF"/>
                </a:solidFill>
                <a:latin typeface="Helvetica Neue"/>
                <a:ea typeface="Helvetica Neue"/>
                <a:cs typeface="Helvetica Neue"/>
              </a:rPr>
              <a:t>Dtoken = M(x,y) − mean(M(s &lt; start(x)))</a:t>
            </a:r>
          </a:p>
        </p:txBody>
      </p:sp>
      <p:sp>
        <p:nvSpPr>
          <p:cNvPr id="29" name="">
            <a:extLst xmlns:a="http://schemas.openxmlformats.org/drawingml/2006/main">
              <a:ext uri="{FF2B5EF4-FFF2-40B4-BE49-F238E27FC236}">
                <a16:creationId xmlns:a16="http://schemas.microsoft.com/office/drawing/2014/main" id="{8813C67A-2BF0-4A37-B6A5-C204B59CE91B}"/>
              </a:ext>
            </a:extLst>
          </p:cNvPr>
          <p:cNvSpPr>
            <a:spLocks xmlns:a="http://schemas.openxmlformats.org/drawingml/2006/main" noGrp="1"/>
          </p:cNvSpPr>
          <p:nvPr/>
        </p:nvSpPr>
        <p:spPr>
          <a:xfrm xmlns:a="http://schemas.openxmlformats.org/drawingml/2006/main">
            <a:off x="838200" y="5400675"/>
            <a:ext cx="447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B9C3CD"/>
                </a:solidFill>
                <a:latin typeface="Helvetica Neue"/>
                <a:ea typeface="Helvetica Neue"/>
                <a:cs typeface="Helvetica Neue"/>
              </a:defRPr>
            </a:pPr>
            <a:r>
              <a:rPr sz="1050" b="0">
                <a:solidFill>
                  <a:srgbClr val="B9C3CD"/>
                </a:solidFill>
                <a:latin typeface="Helvetica Neue"/>
                <a:ea typeface="Helvetica Neue"/>
                <a:cs typeface="Helvetica Neue"/>
              </a:rPr>
              <a:t>What is above the generation state already present before the coordinate sequence?</a:t>
            </a:r>
          </a:p>
        </p:txBody>
      </p:sp>
      <p:sp>
        <p:nvSpPr>
          <p:cNvPr id="30" name="">
            <a:extLst xmlns:a="http://schemas.openxmlformats.org/drawingml/2006/main">
              <a:ext uri="{FF2B5EF4-FFF2-40B4-BE49-F238E27FC236}">
                <a16:creationId xmlns:a16="http://schemas.microsoft.com/office/drawing/2014/main" id="{81978F09-00C1-4135-8976-5A9C9CB2D9C1}"/>
              </a:ext>
            </a:extLst>
          </p:cNvPr>
          <p:cNvSpPr>
            <a:spLocks xmlns:a="http://schemas.openxmlformats.org/drawingml/2006/main" noGrp="1"/>
          </p:cNvSpPr>
          <p:nvPr/>
        </p:nvSpPr>
        <p:spPr>
          <a:xfrm xmlns:a="http://schemas.openxmlformats.org/drawingml/2006/main">
            <a:off x="6191250" y="4457700"/>
            <a:ext cx="5391150" cy="1485900"/>
          </a:xfrm>
          <a:prstGeom xmlns:a="http://schemas.openxmlformats.org/drawingml/2006/main" prst="roundRect">
            <a:avLst>
              <a:gd name="adj" fmla="val 5128"/>
            </a:avLst>
          </a:prstGeom>
          <a:solidFill xmlns:a="http://schemas.openxmlformats.org/drawingml/2006/main">
            <a:srgbClr val="FFFFFF"/>
          </a:solidFill>
          <a:ln xmlns:a="http://schemas.openxmlformats.org/drawingml/2006/main" w="9525">
            <a:solidFill>
              <a:srgbClr val="D9D4C8"/>
            </a:solidFill>
          </a:ln>
        </p:spPr>
      </p:sp>
      <p:sp>
        <p:nvSpPr>
          <p:cNvPr id="31" name="">
            <a:extLst xmlns:a="http://schemas.openxmlformats.org/drawingml/2006/main">
              <a:ext uri="{FF2B5EF4-FFF2-40B4-BE49-F238E27FC236}">
                <a16:creationId xmlns:a16="http://schemas.microsoft.com/office/drawing/2014/main" id="{8A47664A-20DD-436A-B0D5-45A99F58EFFF}"/>
              </a:ext>
            </a:extLst>
          </p:cNvPr>
          <p:cNvSpPr>
            <a:spLocks xmlns:a="http://schemas.openxmlformats.org/drawingml/2006/main" noGrp="1"/>
          </p:cNvSpPr>
          <p:nvPr/>
        </p:nvSpPr>
        <p:spPr>
          <a:xfrm xmlns:a="http://schemas.openxmlformats.org/drawingml/2006/main">
            <a:off x="6438900" y="4667250"/>
            <a:ext cx="3143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F05A3C"/>
                </a:solidFill>
                <a:latin typeface="Helvetica Neue"/>
                <a:ea typeface="Helvetica Neue"/>
                <a:cs typeface="Helvetica Neue"/>
              </a:defRPr>
            </a:pPr>
            <a:r>
              <a:rPr sz="975" b="1">
                <a:solidFill>
                  <a:srgbClr val="F05A3C"/>
                </a:solidFill>
                <a:latin typeface="Helvetica Neue"/>
                <a:ea typeface="Helvetica Neue"/>
                <a:cs typeface="Helvetica Neue"/>
              </a:rPr>
              <a:t>SAME-IMAGE INSTRUCTION ENSEMBLE</a:t>
            </a:r>
          </a:p>
        </p:txBody>
      </p:sp>
      <p:sp>
        <p:nvSpPr>
          <p:cNvPr id="32" name="">
            <a:extLst xmlns:a="http://schemas.openxmlformats.org/drawingml/2006/main">
              <a:ext uri="{FF2B5EF4-FFF2-40B4-BE49-F238E27FC236}">
                <a16:creationId xmlns:a16="http://schemas.microsoft.com/office/drawing/2014/main" id="{FAE3ACA2-A32F-4073-8B50-F448E7FC010D}"/>
              </a:ext>
            </a:extLst>
          </p:cNvPr>
          <p:cNvSpPr>
            <a:spLocks xmlns:a="http://schemas.openxmlformats.org/drawingml/2006/main" noGrp="1"/>
          </p:cNvSpPr>
          <p:nvPr/>
        </p:nvSpPr>
        <p:spPr>
          <a:xfrm xmlns:a="http://schemas.openxmlformats.org/drawingml/2006/main">
            <a:off x="6438900" y="5010150"/>
            <a:ext cx="447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10151C"/>
                </a:solidFill>
                <a:latin typeface="Helvetica Neue"/>
                <a:ea typeface="Helvetica Neue"/>
                <a:cs typeface="Helvetica Neue"/>
              </a:defRPr>
            </a:pPr>
            <a:r>
              <a:rPr sz="1425" b="1">
                <a:solidFill>
                  <a:srgbClr val="10151C"/>
                </a:solidFill>
                <a:latin typeface="Helvetica Neue"/>
                <a:ea typeface="Helvetica Neue"/>
                <a:cs typeface="Helvetica Neue"/>
              </a:rPr>
              <a:t>Dprompt = Mtarget − mean(Mcontrol,k)</a:t>
            </a:r>
          </a:p>
        </p:txBody>
      </p:sp>
      <p:sp>
        <p:nvSpPr>
          <p:cNvPr id="33" name="">
            <a:extLst xmlns:a="http://schemas.openxmlformats.org/drawingml/2006/main">
              <a:ext uri="{FF2B5EF4-FFF2-40B4-BE49-F238E27FC236}">
                <a16:creationId xmlns:a16="http://schemas.microsoft.com/office/drawing/2014/main" id="{AF172094-B3B6-4790-8430-D2783294CA8C}"/>
              </a:ext>
            </a:extLst>
          </p:cNvPr>
          <p:cNvSpPr>
            <a:spLocks xmlns:a="http://schemas.openxmlformats.org/drawingml/2006/main" noGrp="1"/>
          </p:cNvSpPr>
          <p:nvPr/>
        </p:nvSpPr>
        <p:spPr>
          <a:xfrm xmlns:a="http://schemas.openxmlformats.org/drawingml/2006/main">
            <a:off x="6438900" y="5400675"/>
            <a:ext cx="447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What is specific to this instruction after subtracting inherent image saliency?</a:t>
            </a:r>
          </a:p>
        </p:txBody>
      </p:sp>
      <p:sp>
        <p:nvSpPr>
          <p:cNvPr id="34" name="">
            <a:extLst xmlns:a="http://schemas.openxmlformats.org/drawingml/2006/main">
              <a:ext uri="{FF2B5EF4-FFF2-40B4-BE49-F238E27FC236}">
                <a16:creationId xmlns:a16="http://schemas.microsoft.com/office/drawing/2014/main" id="{57902DA1-443D-4A08-A101-118FCFC567A3}"/>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59B03DFC-BD0E-4905-8D71-A4BD398FC50A}"/>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Implementation: docs/attention-attribution.md · tests/test_attribution.py · tests/test_contrast.py</a:t>
            </a:r>
          </a:p>
        </p:txBody>
      </p:sp>
    </p:spTree>
    <p:extLst>
      <p:ext uri="{BB962C8B-B14F-4D97-AF65-F5344CB8AC3E}">
        <p14:creationId xmlns:p14="http://schemas.microsoft.com/office/powerpoint/2010/main" val="1974172437"/>
      </p:ext>
    </p:extLst>
  </p:cSld>
</p:sld>
</file>

<file path=ppt/slides/slide4.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619F30C3-B9F3-4BA8-8738-2B8A16CFC274}"/>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VISUAL GROUNDING HIT</a:t>
            </a:r>
          </a:p>
        </p:txBody>
      </p:sp>
      <p:sp>
        <p:nvSpPr>
          <p:cNvPr id="2" name="">
            <a:extLst xmlns:a="http://schemas.openxmlformats.org/drawingml/2006/main">
              <a:ext uri="{FF2B5EF4-FFF2-40B4-BE49-F238E27FC236}">
                <a16:creationId xmlns:a16="http://schemas.microsoft.com/office/drawing/2014/main" id="{2303021A-591D-4AF9-86F3-84F1E0C5F386}"/>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Subtracting image saliency reveals the selected template</a:t>
            </a:r>
          </a:p>
        </p:txBody>
      </p:sp>
      <p:sp>
        <p:nvSpPr>
          <p:cNvPr id="3" name="">
            <a:extLst xmlns:a="http://schemas.openxmlformats.org/drawingml/2006/main">
              <a:ext uri="{FF2B5EF4-FFF2-40B4-BE49-F238E27FC236}">
                <a16:creationId xmlns:a16="http://schemas.microsoft.com/office/drawing/2014/main" id="{A4824881-0FF4-4D54-9CDE-9AFD078535F8}"/>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04</a:t>
            </a:r>
          </a:p>
        </p:txBody>
      </p:sp>
      <p:sp>
        <p:nvSpPr>
          <p:cNvPr id="4" name="">
            <a:extLst xmlns:a="http://schemas.openxmlformats.org/drawingml/2006/main">
              <a:ext uri="{FF2B5EF4-FFF2-40B4-BE49-F238E27FC236}">
                <a16:creationId xmlns:a16="http://schemas.microsoft.com/office/drawing/2014/main" id="{94D44776-2216-410A-A4E4-3EC3B7D361FF}"/>
              </a:ext>
            </a:extLst>
          </p:cNvPr>
          <p:cNvSpPr>
            <a:spLocks xmlns:a="http://schemas.openxmlformats.org/drawingml/2006/main" noGrp="1"/>
          </p:cNvSpPr>
          <p:nvPr/>
        </p:nvSpPr>
        <p:spPr>
          <a:xfrm xmlns:a="http://schemas.openxmlformats.org/drawingml/2006/main">
            <a:off x="609600" y="1162050"/>
            <a:ext cx="7429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66717D"/>
                </a:solidFill>
                <a:latin typeface="Helvetica Neue"/>
                <a:ea typeface="Helvetica Neue"/>
                <a:cs typeface="Helvetica Neue"/>
              </a:defRPr>
            </a:pPr>
            <a:r>
              <a:rPr sz="1425" b="1">
                <a:solidFill>
                  <a:srgbClr val="66717D"/>
                </a:solidFill>
                <a:latin typeface="Helvetica Neue"/>
                <a:ea typeface="Helvetica Neue"/>
                <a:cs typeface="Helvetica Neue"/>
              </a:rPr>
              <a:t>“Create a Psychedelic vibrant presentation”</a:t>
            </a:r>
          </a:p>
        </p:txBody>
      </p:sp>
      <p:sp>
        <p:nvSpPr>
          <p:cNvPr id="5" name="">
            <a:extLst xmlns:a="http://schemas.openxmlformats.org/drawingml/2006/main">
              <a:ext uri="{FF2B5EF4-FFF2-40B4-BE49-F238E27FC236}">
                <a16:creationId xmlns:a16="http://schemas.microsoft.com/office/drawing/2014/main" id="{6EBF50CF-6E2C-4836-9494-561884C4F529}"/>
              </a:ext>
            </a:extLst>
          </p:cNvPr>
          <p:cNvSpPr>
            <a:spLocks xmlns:a="http://schemas.openxmlformats.org/drawingml/2006/main" noGrp="1"/>
          </p:cNvSpPr>
          <p:nvPr/>
        </p:nvSpPr>
        <p:spPr>
          <a:xfrm xmlns:a="http://schemas.openxmlformats.org/drawingml/2006/main">
            <a:off x="8953500" y="1133475"/>
            <a:ext cx="262890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6DAA7DAE-F0AC-473E-B672-DDD0349BDB65}"/>
              </a:ext>
            </a:extLst>
          </p:cNvPr>
          <p:cNvSpPr>
            <a:spLocks xmlns:a="http://schemas.openxmlformats.org/drawingml/2006/main" noGrp="1"/>
          </p:cNvSpPr>
          <p:nvPr/>
        </p:nvSpPr>
        <p:spPr>
          <a:xfrm xmlns:a="http://schemas.openxmlformats.org/drawingml/2006/main">
            <a:off x="9048750" y="1152525"/>
            <a:ext cx="2438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WHITE RING = ISSUED CLICK</a:t>
            </a:r>
          </a:p>
        </p:txBody>
      </p:sp>
      <p:pic>
        <p:nvPicPr>
          <p:cNvPr id="43" name=""/>
          <p:cNvPicPr>
            <a:picLocks xmlns:a="http://schemas.openxmlformats.org/drawingml/2006/main" noChangeAspect="1"/>
          </p:cNvPicPr>
          <p:nvPr/>
        </p:nvPicPr>
        <p:blipFill>
          <a:blip xmlns:r="http://schemas.openxmlformats.org/officeDocument/2006/relationships" xmlns:a="http://schemas.openxmlformats.org/drawingml/2006/main" r:embed="R9804fd2b727f4c97"/>
          <a:srcRect xmlns:a="http://schemas.openxmlformats.org/drawingml/2006/main" l="0" t="73" r="0" b="73"/>
          <a:stretch xmlns:a="http://schemas.openxmlformats.org/drawingml/2006/main">
            <a:fillRect l="0" t="0" r="0" b="0"/>
          </a:stretch>
        </p:blipFill>
        <p:spPr>
          <a:xfrm xmlns:a="http://schemas.openxmlformats.org/drawingml/2006/main">
            <a:off x="609600" y="1657350"/>
            <a:ext cx="5219700" cy="3257550"/>
          </a:xfrm>
          <a:prstGeom xmlns:a="http://schemas.openxmlformats.org/drawingml/2006/main" prst="roundRect">
            <a:avLst>
              <a:gd name="adj" fmla="val 3509"/>
            </a:avLst>
          </a:prstGeom>
        </p:spPr>
      </p:pic>
      <p:sp>
        <p:nvSpPr>
          <p:cNvPr id="8" name="">
            <a:extLst xmlns:a="http://schemas.openxmlformats.org/drawingml/2006/main">
              <a:ext uri="{FF2B5EF4-FFF2-40B4-BE49-F238E27FC236}">
                <a16:creationId xmlns:a16="http://schemas.microsoft.com/office/drawing/2014/main" id="{96B6A0D7-105F-41D5-9A05-687149F80AE5}"/>
              </a:ext>
            </a:extLst>
          </p:cNvPr>
          <p:cNvSpPr>
            <a:spLocks xmlns:a="http://schemas.openxmlformats.org/drawingml/2006/main" noGrp="1"/>
          </p:cNvSpPr>
          <p:nvPr/>
        </p:nvSpPr>
        <p:spPr>
          <a:xfrm xmlns:a="http://schemas.openxmlformats.org/drawingml/2006/main">
            <a:off x="609600" y="1657350"/>
            <a:ext cx="5219700" cy="3257550"/>
          </a:xfrm>
          <a:prstGeom xmlns:a="http://schemas.openxmlformats.org/drawingml/2006/main" prst="roundRect">
            <a:avLst>
              <a:gd name="adj" fmla="val 2339"/>
            </a:avLst>
          </a:prstGeom>
          <a:noFill xmlns:a="http://schemas.openxmlformats.org/drawingml/2006/main"/>
          <a:ln xmlns:a="http://schemas.openxmlformats.org/drawingml/2006/main" w="9525">
            <a:solidFill>
              <a:srgbClr val="D9D4C8"/>
            </a:solidFill>
          </a:ln>
        </p:spPr>
      </p:sp>
      <p:pic>
        <p:nvPicPr>
          <p:cNvPr id="45" name=""/>
          <p:cNvPicPr>
            <a:picLocks xmlns:a="http://schemas.openxmlformats.org/drawingml/2006/main" noChangeAspect="1"/>
          </p:cNvPicPr>
          <p:nvPr/>
        </p:nvPicPr>
        <p:blipFill>
          <a:blip xmlns:r="http://schemas.openxmlformats.org/officeDocument/2006/relationships" xmlns:a="http://schemas.openxmlformats.org/drawingml/2006/main" r:embed="R3deb46c1827b4f0f"/>
          <a:srcRect xmlns:a="http://schemas.openxmlformats.org/drawingml/2006/main" l="0" t="73" r="0" b="73"/>
          <a:stretch xmlns:a="http://schemas.openxmlformats.org/drawingml/2006/main">
            <a:fillRect l="0" t="0" r="0" b="0"/>
          </a:stretch>
        </p:blipFill>
        <p:spPr>
          <a:xfrm xmlns:a="http://schemas.openxmlformats.org/drawingml/2006/main">
            <a:off x="6362700" y="1657350"/>
            <a:ext cx="5219700" cy="3257550"/>
          </a:xfrm>
          <a:prstGeom xmlns:a="http://schemas.openxmlformats.org/drawingml/2006/main" prst="roundRect">
            <a:avLst>
              <a:gd name="adj" fmla="val 3509"/>
            </a:avLst>
          </a:prstGeom>
        </p:spPr>
      </p:pic>
      <p:sp>
        <p:nvSpPr>
          <p:cNvPr id="10" name="">
            <a:extLst xmlns:a="http://schemas.openxmlformats.org/drawingml/2006/main">
              <a:ext uri="{FF2B5EF4-FFF2-40B4-BE49-F238E27FC236}">
                <a16:creationId xmlns:a16="http://schemas.microsoft.com/office/drawing/2014/main" id="{EC2D2DDC-DB02-411E-B9FB-CAE7F48478EC}"/>
              </a:ext>
            </a:extLst>
          </p:cNvPr>
          <p:cNvSpPr>
            <a:spLocks xmlns:a="http://schemas.openxmlformats.org/drawingml/2006/main" noGrp="1"/>
          </p:cNvSpPr>
          <p:nvPr/>
        </p:nvSpPr>
        <p:spPr>
          <a:xfrm xmlns:a="http://schemas.openxmlformats.org/drawingml/2006/main">
            <a:off x="6362700" y="1657350"/>
            <a:ext cx="5219700" cy="3257550"/>
          </a:xfrm>
          <a:prstGeom xmlns:a="http://schemas.openxmlformats.org/drawingml/2006/main" prst="roundRect">
            <a:avLst>
              <a:gd name="adj" fmla="val 2339"/>
            </a:avLst>
          </a:prstGeom>
          <a:noFill xmlns:a="http://schemas.openxmlformats.org/drawingml/2006/main"/>
          <a:ln xmlns:a="http://schemas.openxmlformats.org/drawingml/2006/main" w="9525">
            <a:solidFill>
              <a:srgbClr val="D9D4C8"/>
            </a:solidFill>
          </a:ln>
        </p:spPr>
      </p:sp>
      <p:sp>
        <p:nvSpPr>
          <p:cNvPr id="11" name="">
            <a:extLst xmlns:a="http://schemas.openxmlformats.org/drawingml/2006/main">
              <a:ext uri="{FF2B5EF4-FFF2-40B4-BE49-F238E27FC236}">
                <a16:creationId xmlns:a16="http://schemas.microsoft.com/office/drawing/2014/main" id="{A3C9E945-6D2D-472F-BB24-253CBA45B9FB}"/>
              </a:ext>
            </a:extLst>
          </p:cNvPr>
          <p:cNvSpPr>
            <a:spLocks xmlns:a="http://schemas.openxmlformats.org/drawingml/2006/main" noGrp="1"/>
          </p:cNvSpPr>
          <p:nvPr/>
        </p:nvSpPr>
        <p:spPr>
          <a:xfrm xmlns:a="http://schemas.openxmlformats.org/drawingml/2006/main">
            <a:off x="800100" y="1828800"/>
            <a:ext cx="116205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CEE9C6DA-A216-457C-BF83-8D833F1D928A}"/>
              </a:ext>
            </a:extLst>
          </p:cNvPr>
          <p:cNvSpPr>
            <a:spLocks xmlns:a="http://schemas.openxmlformats.org/drawingml/2006/main" noGrp="1"/>
          </p:cNvSpPr>
          <p:nvPr/>
        </p:nvSpPr>
        <p:spPr>
          <a:xfrm xmlns:a="http://schemas.openxmlformats.org/drawingml/2006/main">
            <a:off x="895350" y="1847850"/>
            <a:ext cx="971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RAW ROLLOUT</a:t>
            </a:r>
          </a:p>
        </p:txBody>
      </p:sp>
      <p:sp>
        <p:nvSpPr>
          <p:cNvPr id="13" name="">
            <a:extLst xmlns:a="http://schemas.openxmlformats.org/drawingml/2006/main">
              <a:ext uri="{FF2B5EF4-FFF2-40B4-BE49-F238E27FC236}">
                <a16:creationId xmlns:a16="http://schemas.microsoft.com/office/drawing/2014/main" id="{F9A90A7F-2CD9-4E2F-AA94-CF1D24D5C9EA}"/>
              </a:ext>
            </a:extLst>
          </p:cNvPr>
          <p:cNvSpPr>
            <a:spLocks xmlns:a="http://schemas.openxmlformats.org/drawingml/2006/main" noGrp="1"/>
          </p:cNvSpPr>
          <p:nvPr/>
        </p:nvSpPr>
        <p:spPr>
          <a:xfrm xmlns:a="http://schemas.openxmlformats.org/drawingml/2006/main">
            <a:off x="6553200" y="1828800"/>
            <a:ext cx="217170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A361A24D-EEDF-4467-94CA-E30C170E08C1}"/>
              </a:ext>
            </a:extLst>
          </p:cNvPr>
          <p:cNvSpPr>
            <a:spLocks xmlns:a="http://schemas.openxmlformats.org/drawingml/2006/main" noGrp="1"/>
          </p:cNvSpPr>
          <p:nvPr/>
        </p:nvSpPr>
        <p:spPr>
          <a:xfrm xmlns:a="http://schemas.openxmlformats.org/drawingml/2006/main">
            <a:off x="6648450" y="1847850"/>
            <a:ext cx="1981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TARGET − PROMPT BASELINE</a:t>
            </a:r>
          </a:p>
        </p:txBody>
      </p:sp>
      <p:sp>
        <p:nvSpPr>
          <p:cNvPr id="15" name="">
            <a:extLst xmlns:a="http://schemas.openxmlformats.org/drawingml/2006/main">
              <a:ext uri="{FF2B5EF4-FFF2-40B4-BE49-F238E27FC236}">
                <a16:creationId xmlns:a16="http://schemas.microsoft.com/office/drawing/2014/main" id="{5DA0526D-4E75-4B32-B5F2-9F8EE0A669BB}"/>
              </a:ext>
            </a:extLst>
          </p:cNvPr>
          <p:cNvSpPr>
            <a:spLocks xmlns:a="http://schemas.openxmlformats.org/drawingml/2006/main" noGrp="1"/>
          </p:cNvSpPr>
          <p:nvPr/>
        </p:nvSpPr>
        <p:spPr>
          <a:xfrm xmlns:a="http://schemas.openxmlformats.org/drawingml/2006/main">
            <a:off x="609600" y="5143500"/>
            <a:ext cx="2400300" cy="1028700"/>
          </a:xfrm>
          <a:prstGeom xmlns:a="http://schemas.openxmlformats.org/drawingml/2006/main" prst="roundRect">
            <a:avLst>
              <a:gd name="adj" fmla="val 7407"/>
            </a:avLst>
          </a:prstGeom>
          <a:solidFill xmlns:a="http://schemas.openxmlformats.org/drawingml/2006/main">
            <a:srgbClr val="FFFFFF"/>
          </a:solidFill>
          <a:ln xmlns:a="http://schemas.openxmlformats.org/drawingml/2006/main" w="9525">
            <a:solidFill>
              <a:srgbClr val="D9D4C8"/>
            </a:solidFill>
          </a:ln>
        </p:spPr>
      </p:sp>
      <p:sp>
        <p:nvSpPr>
          <p:cNvPr id="16" name="">
            <a:extLst xmlns:a="http://schemas.openxmlformats.org/drawingml/2006/main">
              <a:ext uri="{FF2B5EF4-FFF2-40B4-BE49-F238E27FC236}">
                <a16:creationId xmlns:a16="http://schemas.microsoft.com/office/drawing/2014/main" id="{252CDAA8-EBBC-4FCB-A0A2-24A27B94EDF0}"/>
              </a:ext>
            </a:extLst>
          </p:cNvPr>
          <p:cNvSpPr>
            <a:spLocks xmlns:a="http://schemas.openxmlformats.org/drawingml/2006/main" noGrp="1"/>
          </p:cNvSpPr>
          <p:nvPr/>
        </p:nvSpPr>
        <p:spPr>
          <a:xfrm xmlns:a="http://schemas.openxmlformats.org/drawingml/2006/main">
            <a:off x="609600" y="5143500"/>
            <a:ext cx="66675" cy="1028700"/>
          </a:xfrm>
          <a:prstGeom xmlns:a="http://schemas.openxmlformats.org/drawingml/2006/main" prst="roundRect">
            <a:avLst>
              <a:gd name="adj" fmla="val 50000"/>
            </a:avLst>
          </a:prstGeom>
          <a:solidFill xmlns:a="http://schemas.openxmlformats.org/drawingml/2006/main">
            <a:srgbClr val="66717D"/>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F18B3A1C-538D-4EC1-986A-5448D7B4E756}"/>
              </a:ext>
            </a:extLst>
          </p:cNvPr>
          <p:cNvSpPr>
            <a:spLocks xmlns:a="http://schemas.openxmlformats.org/drawingml/2006/main" noGrp="1"/>
          </p:cNvSpPr>
          <p:nvPr/>
        </p:nvSpPr>
        <p:spPr>
          <a:xfrm xmlns:a="http://schemas.openxmlformats.org/drawingml/2006/main">
            <a:off x="800100" y="5276850"/>
            <a:ext cx="2095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66717D"/>
                </a:solidFill>
                <a:latin typeface="Helvetica Neue"/>
                <a:ea typeface="Helvetica Neue"/>
                <a:cs typeface="Helvetica Neue"/>
              </a:defRPr>
            </a:pPr>
            <a:r>
              <a:rPr sz="825" b="1">
                <a:solidFill>
                  <a:srgbClr val="66717D"/>
                </a:solidFill>
                <a:latin typeface="Helvetica Neue"/>
                <a:ea typeface="Helvetica Neue"/>
                <a:cs typeface="Helvetica Neue"/>
              </a:rPr>
              <a:t>TARGET LIFT</a:t>
            </a:r>
          </a:p>
        </p:txBody>
      </p:sp>
      <p:sp>
        <p:nvSpPr>
          <p:cNvPr id="18" name="">
            <a:extLst xmlns:a="http://schemas.openxmlformats.org/drawingml/2006/main">
              <a:ext uri="{FF2B5EF4-FFF2-40B4-BE49-F238E27FC236}">
                <a16:creationId xmlns:a16="http://schemas.microsoft.com/office/drawing/2014/main" id="{D530BEAA-1ECF-452A-B107-D6A16D32EE11}"/>
              </a:ext>
            </a:extLst>
          </p:cNvPr>
          <p:cNvSpPr>
            <a:spLocks xmlns:a="http://schemas.openxmlformats.org/drawingml/2006/main" noGrp="1"/>
          </p:cNvSpPr>
          <p:nvPr/>
        </p:nvSpPr>
        <p:spPr>
          <a:xfrm xmlns:a="http://schemas.openxmlformats.org/drawingml/2006/main">
            <a:off x="800100" y="5467350"/>
            <a:ext cx="2095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10151C"/>
                </a:solidFill>
                <a:latin typeface="Helvetica Neue"/>
                <a:ea typeface="Helvetica Neue"/>
                <a:cs typeface="Helvetica Neue"/>
              </a:defRPr>
            </a:pPr>
            <a:r>
              <a:rPr sz="2325" b="1">
                <a:solidFill>
                  <a:srgbClr val="10151C"/>
                </a:solidFill>
                <a:latin typeface="Helvetica Neue"/>
                <a:ea typeface="Helvetica Neue"/>
                <a:cs typeface="Helvetica Neue"/>
              </a:rPr>
              <a:t>3.85×</a:t>
            </a:r>
          </a:p>
        </p:txBody>
      </p:sp>
      <p:sp>
        <p:nvSpPr>
          <p:cNvPr id="19" name="">
            <a:extLst xmlns:a="http://schemas.openxmlformats.org/drawingml/2006/main">
              <a:ext uri="{FF2B5EF4-FFF2-40B4-BE49-F238E27FC236}">
                <a16:creationId xmlns:a16="http://schemas.microsoft.com/office/drawing/2014/main" id="{3349AF1A-B7E2-4143-9FA4-70B8B8599B52}"/>
              </a:ext>
            </a:extLst>
          </p:cNvPr>
          <p:cNvSpPr>
            <a:spLocks xmlns:a="http://schemas.openxmlformats.org/drawingml/2006/main" noGrp="1"/>
          </p:cNvSpPr>
          <p:nvPr/>
        </p:nvSpPr>
        <p:spPr>
          <a:xfrm xmlns:a="http://schemas.openxmlformats.org/drawingml/2006/main">
            <a:off x="800100" y="5876925"/>
            <a:ext cx="2095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a:solidFill>
                  <a:srgbClr val="66717D"/>
                </a:solidFill>
                <a:latin typeface="Helvetica Neue"/>
                <a:ea typeface="Helvetica Neue"/>
                <a:cs typeface="Helvetica Neue"/>
              </a:defRPr>
            </a:pPr>
            <a:r>
              <a:rPr sz="825" b="0">
                <a:solidFill>
                  <a:srgbClr val="66717D"/>
                </a:solidFill>
                <a:latin typeface="Helvetica Neue"/>
                <a:ea typeface="Helvetica Neue"/>
                <a:cs typeface="Helvetica Neue"/>
              </a:rPr>
              <a:t>raw rollout</a:t>
            </a:r>
          </a:p>
        </p:txBody>
      </p:sp>
      <p:sp>
        <p:nvSpPr>
          <p:cNvPr id="20" name="">
            <a:extLst xmlns:a="http://schemas.openxmlformats.org/drawingml/2006/main">
              <a:ext uri="{FF2B5EF4-FFF2-40B4-BE49-F238E27FC236}">
                <a16:creationId xmlns:a16="http://schemas.microsoft.com/office/drawing/2014/main" id="{7BFC6903-8DD0-4B4A-836F-CBD530FC6C2D}"/>
              </a:ext>
            </a:extLst>
          </p:cNvPr>
          <p:cNvSpPr>
            <a:spLocks xmlns:a="http://schemas.openxmlformats.org/drawingml/2006/main" noGrp="1"/>
          </p:cNvSpPr>
          <p:nvPr/>
        </p:nvSpPr>
        <p:spPr>
          <a:xfrm xmlns:a="http://schemas.openxmlformats.org/drawingml/2006/main">
            <a:off x="3143250" y="5143500"/>
            <a:ext cx="2686050" cy="1028700"/>
          </a:xfrm>
          <a:prstGeom xmlns:a="http://schemas.openxmlformats.org/drawingml/2006/main" prst="roundRect">
            <a:avLst>
              <a:gd name="adj" fmla="val 7407"/>
            </a:avLst>
          </a:prstGeom>
          <a:solidFill xmlns:a="http://schemas.openxmlformats.org/drawingml/2006/main">
            <a:srgbClr val="FFFFFF"/>
          </a:solidFill>
          <a:ln xmlns:a="http://schemas.openxmlformats.org/drawingml/2006/main" w="9525">
            <a:solidFill>
              <a:srgbClr val="D9D4C8"/>
            </a:solidFill>
          </a:ln>
        </p:spPr>
      </p:sp>
      <p:sp>
        <p:nvSpPr>
          <p:cNvPr id="21" name="">
            <a:extLst xmlns:a="http://schemas.openxmlformats.org/drawingml/2006/main">
              <a:ext uri="{FF2B5EF4-FFF2-40B4-BE49-F238E27FC236}">
                <a16:creationId xmlns:a16="http://schemas.microsoft.com/office/drawing/2014/main" id="{E3DEECDD-87F1-4FE6-96EB-75F012CA0A4F}"/>
              </a:ext>
            </a:extLst>
          </p:cNvPr>
          <p:cNvSpPr>
            <a:spLocks xmlns:a="http://schemas.openxmlformats.org/drawingml/2006/main" noGrp="1"/>
          </p:cNvSpPr>
          <p:nvPr/>
        </p:nvSpPr>
        <p:spPr>
          <a:xfrm xmlns:a="http://schemas.openxmlformats.org/drawingml/2006/main">
            <a:off x="3143250" y="5143500"/>
            <a:ext cx="66675" cy="1028700"/>
          </a:xfrm>
          <a:prstGeom xmlns:a="http://schemas.openxmlformats.org/drawingml/2006/main" prst="roundRect">
            <a:avLst>
              <a:gd name="adj" fmla="val 50000"/>
            </a:avLst>
          </a:prstGeom>
          <a:solidFill xmlns:a="http://schemas.openxmlformats.org/drawingml/2006/main">
            <a:srgbClr val="66717D"/>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D5C84BC0-7211-4DD1-A8B2-64B1F3A91DC1}"/>
              </a:ext>
            </a:extLst>
          </p:cNvPr>
          <p:cNvSpPr>
            <a:spLocks xmlns:a="http://schemas.openxmlformats.org/drawingml/2006/main" noGrp="1"/>
          </p:cNvSpPr>
          <p:nvPr/>
        </p:nvSpPr>
        <p:spPr>
          <a:xfrm xmlns:a="http://schemas.openxmlformats.org/drawingml/2006/main">
            <a:off x="3333750" y="5276850"/>
            <a:ext cx="2381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66717D"/>
                </a:solidFill>
                <a:latin typeface="Helvetica Neue"/>
                <a:ea typeface="Helvetica Neue"/>
                <a:cs typeface="Helvetica Neue"/>
              </a:defRPr>
            </a:pPr>
            <a:r>
              <a:rPr sz="825" b="1">
                <a:solidFill>
                  <a:srgbClr val="66717D"/>
                </a:solidFill>
                <a:latin typeface="Helvetica Neue"/>
                <a:ea typeface="Helvetica Neue"/>
                <a:cs typeface="Helvetica Neue"/>
              </a:rPr>
              <a:t>PEAK</a:t>
            </a:r>
          </a:p>
        </p:txBody>
      </p:sp>
      <p:sp>
        <p:nvSpPr>
          <p:cNvPr id="23" name="">
            <a:extLst xmlns:a="http://schemas.openxmlformats.org/drawingml/2006/main">
              <a:ext uri="{FF2B5EF4-FFF2-40B4-BE49-F238E27FC236}">
                <a16:creationId xmlns:a16="http://schemas.microsoft.com/office/drawing/2014/main" id="{A0326979-3D12-47C7-A05E-97071FE1C59B}"/>
              </a:ext>
            </a:extLst>
          </p:cNvPr>
          <p:cNvSpPr>
            <a:spLocks xmlns:a="http://schemas.openxmlformats.org/drawingml/2006/main" noGrp="1"/>
          </p:cNvSpPr>
          <p:nvPr/>
        </p:nvSpPr>
        <p:spPr>
          <a:xfrm xmlns:a="http://schemas.openxmlformats.org/drawingml/2006/main">
            <a:off x="3333750" y="5467350"/>
            <a:ext cx="238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10151C"/>
                </a:solidFill>
                <a:latin typeface="Helvetica Neue"/>
                <a:ea typeface="Helvetica Neue"/>
                <a:cs typeface="Helvetica Neue"/>
              </a:defRPr>
            </a:pPr>
            <a:r>
              <a:rPr sz="2325" b="1">
                <a:solidFill>
                  <a:srgbClr val="10151C"/>
                </a:solidFill>
                <a:latin typeface="Helvetica Neue"/>
                <a:ea typeface="Helvetica Neue"/>
                <a:cs typeface="Helvetica Neue"/>
              </a:rPr>
              <a:t>outside</a:t>
            </a:r>
          </a:p>
        </p:txBody>
      </p:sp>
      <p:sp>
        <p:nvSpPr>
          <p:cNvPr id="24" name="">
            <a:extLst xmlns:a="http://schemas.openxmlformats.org/drawingml/2006/main">
              <a:ext uri="{FF2B5EF4-FFF2-40B4-BE49-F238E27FC236}">
                <a16:creationId xmlns:a16="http://schemas.microsoft.com/office/drawing/2014/main" id="{FD5B2953-A8DB-405E-B10E-FC9E2EA887F3}"/>
              </a:ext>
            </a:extLst>
          </p:cNvPr>
          <p:cNvSpPr>
            <a:spLocks xmlns:a="http://schemas.openxmlformats.org/drawingml/2006/main" noGrp="1"/>
          </p:cNvSpPr>
          <p:nvPr/>
        </p:nvSpPr>
        <p:spPr>
          <a:xfrm xmlns:a="http://schemas.openxmlformats.org/drawingml/2006/main">
            <a:off x="3333750" y="5876925"/>
            <a:ext cx="238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a:solidFill>
                  <a:srgbClr val="66717D"/>
                </a:solidFill>
                <a:latin typeface="Helvetica Neue"/>
                <a:ea typeface="Helvetica Neue"/>
                <a:cs typeface="Helvetica Neue"/>
              </a:defRPr>
            </a:pPr>
            <a:r>
              <a:rPr sz="825" b="0">
                <a:solidFill>
                  <a:srgbClr val="66717D"/>
                </a:solidFill>
                <a:latin typeface="Helvetica Neue"/>
                <a:ea typeface="Helvetica Neue"/>
                <a:cs typeface="Helvetica Neue"/>
              </a:rPr>
              <a:t>generic top-left saliency</a:t>
            </a:r>
          </a:p>
        </p:txBody>
      </p:sp>
      <p:sp>
        <p:nvSpPr>
          <p:cNvPr id="25" name="">
            <a:extLst xmlns:a="http://schemas.openxmlformats.org/drawingml/2006/main">
              <a:ext uri="{FF2B5EF4-FFF2-40B4-BE49-F238E27FC236}">
                <a16:creationId xmlns:a16="http://schemas.microsoft.com/office/drawing/2014/main" id="{9F0AB9C2-0E7B-4D97-8F8F-393774B93D92}"/>
              </a:ext>
            </a:extLst>
          </p:cNvPr>
          <p:cNvSpPr>
            <a:spLocks xmlns:a="http://schemas.openxmlformats.org/drawingml/2006/main" noGrp="1"/>
          </p:cNvSpPr>
          <p:nvPr/>
        </p:nvSpPr>
        <p:spPr>
          <a:xfrm xmlns:a="http://schemas.openxmlformats.org/drawingml/2006/main">
            <a:off x="6362700" y="5143500"/>
            <a:ext cx="2400300" cy="1028700"/>
          </a:xfrm>
          <a:prstGeom xmlns:a="http://schemas.openxmlformats.org/drawingml/2006/main" prst="roundRect">
            <a:avLst>
              <a:gd name="adj" fmla="val 7407"/>
            </a:avLst>
          </a:prstGeom>
          <a:solidFill xmlns:a="http://schemas.openxmlformats.org/drawingml/2006/main">
            <a:srgbClr val="FFFFFF"/>
          </a:solidFill>
          <a:ln xmlns:a="http://schemas.openxmlformats.org/drawingml/2006/main" w="9525">
            <a:solidFill>
              <a:srgbClr val="D9D4C8"/>
            </a:solidFill>
          </a:ln>
        </p:spPr>
      </p:sp>
      <p:sp>
        <p:nvSpPr>
          <p:cNvPr id="26" name="">
            <a:extLst xmlns:a="http://schemas.openxmlformats.org/drawingml/2006/main">
              <a:ext uri="{FF2B5EF4-FFF2-40B4-BE49-F238E27FC236}">
                <a16:creationId xmlns:a16="http://schemas.microsoft.com/office/drawing/2014/main" id="{7702A66D-0EB6-40CD-9686-B3B8A0ACCB45}"/>
              </a:ext>
            </a:extLst>
          </p:cNvPr>
          <p:cNvSpPr>
            <a:spLocks xmlns:a="http://schemas.openxmlformats.org/drawingml/2006/main" noGrp="1"/>
          </p:cNvSpPr>
          <p:nvPr/>
        </p:nvSpPr>
        <p:spPr>
          <a:xfrm xmlns:a="http://schemas.openxmlformats.org/drawingml/2006/main">
            <a:off x="6362700" y="5143500"/>
            <a:ext cx="66675" cy="1028700"/>
          </a:xfrm>
          <a:prstGeom xmlns:a="http://schemas.openxmlformats.org/drawingml/2006/main" prst="roundRect">
            <a:avLst>
              <a:gd name="adj" fmla="val 50000"/>
            </a:avLst>
          </a:prstGeom>
          <a:solidFill xmlns:a="http://schemas.openxmlformats.org/drawingml/2006/main">
            <a:srgbClr val="F05A3C"/>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9E546B06-88E7-4184-8511-0237DE46CAD6}"/>
              </a:ext>
            </a:extLst>
          </p:cNvPr>
          <p:cNvSpPr>
            <a:spLocks xmlns:a="http://schemas.openxmlformats.org/drawingml/2006/main" noGrp="1"/>
          </p:cNvSpPr>
          <p:nvPr/>
        </p:nvSpPr>
        <p:spPr>
          <a:xfrm xmlns:a="http://schemas.openxmlformats.org/drawingml/2006/main">
            <a:off x="6553200" y="5276850"/>
            <a:ext cx="2095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66717D"/>
                </a:solidFill>
                <a:latin typeface="Helvetica Neue"/>
                <a:ea typeface="Helvetica Neue"/>
                <a:cs typeface="Helvetica Neue"/>
              </a:defRPr>
            </a:pPr>
            <a:r>
              <a:rPr sz="825" b="1">
                <a:solidFill>
                  <a:srgbClr val="66717D"/>
                </a:solidFill>
                <a:latin typeface="Helvetica Neue"/>
                <a:ea typeface="Helvetica Neue"/>
                <a:cs typeface="Helvetica Neue"/>
              </a:rPr>
              <a:t>TARGET LIFT</a:t>
            </a:r>
          </a:p>
        </p:txBody>
      </p:sp>
      <p:sp>
        <p:nvSpPr>
          <p:cNvPr id="28" name="">
            <a:extLst xmlns:a="http://schemas.openxmlformats.org/drawingml/2006/main">
              <a:ext uri="{FF2B5EF4-FFF2-40B4-BE49-F238E27FC236}">
                <a16:creationId xmlns:a16="http://schemas.microsoft.com/office/drawing/2014/main" id="{037A9C3C-D2A2-4669-8C4F-A2A0964490D9}"/>
              </a:ext>
            </a:extLst>
          </p:cNvPr>
          <p:cNvSpPr>
            <a:spLocks xmlns:a="http://schemas.openxmlformats.org/drawingml/2006/main" noGrp="1"/>
          </p:cNvSpPr>
          <p:nvPr/>
        </p:nvSpPr>
        <p:spPr>
          <a:xfrm xmlns:a="http://schemas.openxmlformats.org/drawingml/2006/main">
            <a:off x="6553200" y="5467350"/>
            <a:ext cx="2095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10151C"/>
                </a:solidFill>
                <a:latin typeface="Helvetica Neue"/>
                <a:ea typeface="Helvetica Neue"/>
                <a:cs typeface="Helvetica Neue"/>
              </a:defRPr>
            </a:pPr>
            <a:r>
              <a:rPr sz="2325" b="1">
                <a:solidFill>
                  <a:srgbClr val="10151C"/>
                </a:solidFill>
                <a:latin typeface="Helvetica Neue"/>
                <a:ea typeface="Helvetica Neue"/>
                <a:cs typeface="Helvetica Neue"/>
              </a:rPr>
              <a:t>16.08×</a:t>
            </a:r>
          </a:p>
        </p:txBody>
      </p:sp>
      <p:sp>
        <p:nvSpPr>
          <p:cNvPr id="29" name="">
            <a:extLst xmlns:a="http://schemas.openxmlformats.org/drawingml/2006/main">
              <a:ext uri="{FF2B5EF4-FFF2-40B4-BE49-F238E27FC236}">
                <a16:creationId xmlns:a16="http://schemas.microsoft.com/office/drawing/2014/main" id="{B637682D-5AA2-418E-A28A-414984B24DCC}"/>
              </a:ext>
            </a:extLst>
          </p:cNvPr>
          <p:cNvSpPr>
            <a:spLocks xmlns:a="http://schemas.openxmlformats.org/drawingml/2006/main" noGrp="1"/>
          </p:cNvSpPr>
          <p:nvPr/>
        </p:nvSpPr>
        <p:spPr>
          <a:xfrm xmlns:a="http://schemas.openxmlformats.org/drawingml/2006/main">
            <a:off x="6553200" y="5876925"/>
            <a:ext cx="2095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a:solidFill>
                  <a:srgbClr val="66717D"/>
                </a:solidFill>
                <a:latin typeface="Helvetica Neue"/>
                <a:ea typeface="Helvetica Neue"/>
                <a:cs typeface="Helvetica Neue"/>
              </a:defRPr>
            </a:pPr>
            <a:r>
              <a:rPr sz="825" b="0">
                <a:solidFill>
                  <a:srgbClr val="66717D"/>
                </a:solidFill>
                <a:latin typeface="Helvetica Neue"/>
                <a:ea typeface="Helvetica Neue"/>
                <a:cs typeface="Helvetica Neue"/>
              </a:rPr>
              <a:t>instruction differential</a:t>
            </a:r>
          </a:p>
        </p:txBody>
      </p:sp>
      <p:sp>
        <p:nvSpPr>
          <p:cNvPr id="30" name="">
            <a:extLst xmlns:a="http://schemas.openxmlformats.org/drawingml/2006/main">
              <a:ext uri="{FF2B5EF4-FFF2-40B4-BE49-F238E27FC236}">
                <a16:creationId xmlns:a16="http://schemas.microsoft.com/office/drawing/2014/main" id="{F718D74E-F599-4BDE-9B53-6D0D54388496}"/>
              </a:ext>
            </a:extLst>
          </p:cNvPr>
          <p:cNvSpPr>
            <a:spLocks xmlns:a="http://schemas.openxmlformats.org/drawingml/2006/main" noGrp="1"/>
          </p:cNvSpPr>
          <p:nvPr/>
        </p:nvSpPr>
        <p:spPr>
          <a:xfrm xmlns:a="http://schemas.openxmlformats.org/drawingml/2006/main">
            <a:off x="8896350" y="5143500"/>
            <a:ext cx="2686050" cy="1028700"/>
          </a:xfrm>
          <a:prstGeom xmlns:a="http://schemas.openxmlformats.org/drawingml/2006/main" prst="roundRect">
            <a:avLst>
              <a:gd name="adj" fmla="val 7407"/>
            </a:avLst>
          </a:prstGeom>
          <a:solidFill xmlns:a="http://schemas.openxmlformats.org/drawingml/2006/main">
            <a:srgbClr val="FFFFFF"/>
          </a:solidFill>
          <a:ln xmlns:a="http://schemas.openxmlformats.org/drawingml/2006/main" w="9525">
            <a:solidFill>
              <a:srgbClr val="D9D4C8"/>
            </a:solidFill>
          </a:ln>
        </p:spPr>
      </p:sp>
      <p:sp>
        <p:nvSpPr>
          <p:cNvPr id="31" name="">
            <a:extLst xmlns:a="http://schemas.openxmlformats.org/drawingml/2006/main">
              <a:ext uri="{FF2B5EF4-FFF2-40B4-BE49-F238E27FC236}">
                <a16:creationId xmlns:a16="http://schemas.microsoft.com/office/drawing/2014/main" id="{C403E337-874A-4F55-AC9D-4E353AEE921D}"/>
              </a:ext>
            </a:extLst>
          </p:cNvPr>
          <p:cNvSpPr>
            <a:spLocks xmlns:a="http://schemas.openxmlformats.org/drawingml/2006/main" noGrp="1"/>
          </p:cNvSpPr>
          <p:nvPr/>
        </p:nvSpPr>
        <p:spPr>
          <a:xfrm xmlns:a="http://schemas.openxmlformats.org/drawingml/2006/main">
            <a:off x="8896350" y="5143500"/>
            <a:ext cx="66675" cy="1028700"/>
          </a:xfrm>
          <a:prstGeom xmlns:a="http://schemas.openxmlformats.org/drawingml/2006/main" prst="roundRect">
            <a:avLst>
              <a:gd name="adj" fmla="val 50000"/>
            </a:avLst>
          </a:prstGeom>
          <a:solidFill xmlns:a="http://schemas.openxmlformats.org/drawingml/2006/main">
            <a:srgbClr val="18A875"/>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AA5B816C-1F49-4BE3-A9D6-B2DB583E0BD5}"/>
              </a:ext>
            </a:extLst>
          </p:cNvPr>
          <p:cNvSpPr>
            <a:spLocks xmlns:a="http://schemas.openxmlformats.org/drawingml/2006/main" noGrp="1"/>
          </p:cNvSpPr>
          <p:nvPr/>
        </p:nvSpPr>
        <p:spPr>
          <a:xfrm xmlns:a="http://schemas.openxmlformats.org/drawingml/2006/main">
            <a:off x="9086850" y="5276850"/>
            <a:ext cx="2381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66717D"/>
                </a:solidFill>
                <a:latin typeface="Helvetica Neue"/>
                <a:ea typeface="Helvetica Neue"/>
                <a:cs typeface="Helvetica Neue"/>
              </a:defRPr>
            </a:pPr>
            <a:r>
              <a:rPr sz="825" b="1">
                <a:solidFill>
                  <a:srgbClr val="66717D"/>
                </a:solidFill>
                <a:latin typeface="Helvetica Neue"/>
                <a:ea typeface="Helvetica Neue"/>
                <a:cs typeface="Helvetica Neue"/>
              </a:rPr>
              <a:t>PEAK</a:t>
            </a:r>
          </a:p>
        </p:txBody>
      </p:sp>
      <p:sp>
        <p:nvSpPr>
          <p:cNvPr id="33" name="">
            <a:extLst xmlns:a="http://schemas.openxmlformats.org/drawingml/2006/main">
              <a:ext uri="{FF2B5EF4-FFF2-40B4-BE49-F238E27FC236}">
                <a16:creationId xmlns:a16="http://schemas.microsoft.com/office/drawing/2014/main" id="{3F90150A-0405-487D-8911-63EFCC68C965}"/>
              </a:ext>
            </a:extLst>
          </p:cNvPr>
          <p:cNvSpPr>
            <a:spLocks xmlns:a="http://schemas.openxmlformats.org/drawingml/2006/main" noGrp="1"/>
          </p:cNvSpPr>
          <p:nvPr/>
        </p:nvSpPr>
        <p:spPr>
          <a:xfrm xmlns:a="http://schemas.openxmlformats.org/drawingml/2006/main">
            <a:off x="9086850" y="5467350"/>
            <a:ext cx="238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10151C"/>
                </a:solidFill>
                <a:latin typeface="Helvetica Neue"/>
                <a:ea typeface="Helvetica Neue"/>
                <a:cs typeface="Helvetica Neue"/>
              </a:defRPr>
            </a:pPr>
            <a:r>
              <a:rPr sz="2325" b="1">
                <a:solidFill>
                  <a:srgbClr val="10151C"/>
                </a:solidFill>
                <a:latin typeface="Helvetica Neue"/>
                <a:ea typeface="Helvetica Neue"/>
                <a:cs typeface="Helvetica Neue"/>
              </a:rPr>
              <a:t>inside</a:t>
            </a:r>
          </a:p>
        </p:txBody>
      </p:sp>
      <p:sp>
        <p:nvSpPr>
          <p:cNvPr id="34" name="">
            <a:extLst xmlns:a="http://schemas.openxmlformats.org/drawingml/2006/main">
              <a:ext uri="{FF2B5EF4-FFF2-40B4-BE49-F238E27FC236}">
                <a16:creationId xmlns:a16="http://schemas.microsoft.com/office/drawing/2014/main" id="{EF7E3D95-1501-4C14-A563-27D586407C3B}"/>
              </a:ext>
            </a:extLst>
          </p:cNvPr>
          <p:cNvSpPr>
            <a:spLocks xmlns:a="http://schemas.openxmlformats.org/drawingml/2006/main" noGrp="1"/>
          </p:cNvSpPr>
          <p:nvPr/>
        </p:nvSpPr>
        <p:spPr>
          <a:xfrm xmlns:a="http://schemas.openxmlformats.org/drawingml/2006/main">
            <a:off x="9086850" y="5876925"/>
            <a:ext cx="238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a:solidFill>
                  <a:srgbClr val="66717D"/>
                </a:solidFill>
                <a:latin typeface="Helvetica Neue"/>
                <a:ea typeface="Helvetica Neue"/>
                <a:cs typeface="Helvetica Neue"/>
              </a:defRPr>
            </a:pPr>
            <a:r>
              <a:rPr sz="825" b="0">
                <a:solidFill>
                  <a:srgbClr val="66717D"/>
                </a:solidFill>
                <a:latin typeface="Helvetica Neue"/>
                <a:ea typeface="Helvetica Neue"/>
                <a:cs typeface="Helvetica Neue"/>
              </a:rPr>
              <a:t>3.2% of frame diagonal away</a:t>
            </a:r>
          </a:p>
        </p:txBody>
      </p:sp>
      <p:sp>
        <p:nvSpPr>
          <p:cNvPr id="35" name="">
            <a:extLst xmlns:a="http://schemas.openxmlformats.org/drawingml/2006/main">
              <a:ext uri="{FF2B5EF4-FFF2-40B4-BE49-F238E27FC236}">
                <a16:creationId xmlns:a16="http://schemas.microsoft.com/office/drawing/2014/main" id="{D8472956-1C25-43AE-8AB4-B4A7B69CC402}"/>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0D987351-79F9-42C5-97B6-FC84441D7708}"/>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Local trace: powerpoint_windows_59 · 4 same-image controls · LOO cosine 0.925 mean / 0.828 minimum</a:t>
            </a:r>
          </a:p>
        </p:txBody>
      </p:sp>
    </p:spTree>
    <p:extLst>
      <p:ext uri="{BB962C8B-B14F-4D97-AF65-F5344CB8AC3E}">
        <p14:creationId xmlns:p14="http://schemas.microsoft.com/office/powerpoint/2010/main" val="673895869"/>
      </p:ext>
    </p:extLst>
  </p:cSld>
</p:sld>
</file>

<file path=ppt/slides/slide5.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6D645122-E45B-4336-B09D-69B5BDB577A8}"/>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GROUNDING MISS</a:t>
            </a:r>
          </a:p>
        </p:txBody>
      </p:sp>
      <p:sp>
        <p:nvSpPr>
          <p:cNvPr id="2" name="">
            <a:extLst xmlns:a="http://schemas.openxmlformats.org/drawingml/2006/main">
              <a:ext uri="{FF2B5EF4-FFF2-40B4-BE49-F238E27FC236}">
                <a16:creationId xmlns:a16="http://schemas.microsoft.com/office/drawing/2014/main" id="{E2AAC5C9-BEDC-4202-B352-E882DFFD9310}"/>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8651"/>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The right region wins, but the wrong affordance receives the click</a:t>
            </a:r>
          </a:p>
        </p:txBody>
      </p:sp>
      <p:sp>
        <p:nvSpPr>
          <p:cNvPr id="3" name="">
            <a:extLst xmlns:a="http://schemas.openxmlformats.org/drawingml/2006/main">
              <a:ext uri="{FF2B5EF4-FFF2-40B4-BE49-F238E27FC236}">
                <a16:creationId xmlns:a16="http://schemas.microsoft.com/office/drawing/2014/main" id="{0D75D1A6-9540-4232-90F3-725BF1D72654}"/>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05</a:t>
            </a:r>
          </a:p>
        </p:txBody>
      </p:sp>
      <p:sp>
        <p:nvSpPr>
          <p:cNvPr id="4" name="">
            <a:extLst xmlns:a="http://schemas.openxmlformats.org/drawingml/2006/main">
              <a:ext uri="{FF2B5EF4-FFF2-40B4-BE49-F238E27FC236}">
                <a16:creationId xmlns:a16="http://schemas.microsoft.com/office/drawing/2014/main" id="{27676D37-6819-4D9B-AAB0-6A8C140CAF16}"/>
              </a:ext>
            </a:extLst>
          </p:cNvPr>
          <p:cNvSpPr>
            <a:spLocks xmlns:a="http://schemas.openxmlformats.org/drawingml/2006/main" noGrp="1"/>
          </p:cNvSpPr>
          <p:nvPr/>
        </p:nvSpPr>
        <p:spPr>
          <a:xfrm xmlns:a="http://schemas.openxmlformats.org/drawingml/2006/main">
            <a:off x="762000" y="1200150"/>
            <a:ext cx="476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66717D"/>
                </a:solidFill>
                <a:latin typeface="Helvetica Neue"/>
                <a:ea typeface="Helvetica Neue"/>
                <a:cs typeface="Helvetica Neue"/>
              </a:defRPr>
            </a:pPr>
            <a:r>
              <a:rPr sz="1425" b="1">
                <a:solidFill>
                  <a:srgbClr val="66717D"/>
                </a:solidFill>
                <a:latin typeface="Helvetica Neue"/>
                <a:ea typeface="Helvetica Neue"/>
                <a:cs typeface="Helvetica Neue"/>
              </a:rPr>
              <a:t>Instruction: Create new slide</a:t>
            </a:r>
          </a:p>
        </p:txBody>
      </p:sp>
      <p:sp>
        <p:nvSpPr>
          <p:cNvPr id="5" name="">
            <a:extLst xmlns:a="http://schemas.openxmlformats.org/drawingml/2006/main">
              <a:ext uri="{FF2B5EF4-FFF2-40B4-BE49-F238E27FC236}">
                <a16:creationId xmlns:a16="http://schemas.microsoft.com/office/drawing/2014/main" id="{E2EE52D2-8622-4D35-B71A-D748CF2F059E}"/>
              </a:ext>
            </a:extLst>
          </p:cNvPr>
          <p:cNvSpPr>
            <a:spLocks xmlns:a="http://schemas.openxmlformats.org/drawingml/2006/main" noGrp="1"/>
          </p:cNvSpPr>
          <p:nvPr/>
        </p:nvSpPr>
        <p:spPr>
          <a:xfrm xmlns:a="http://schemas.openxmlformats.org/drawingml/2006/main">
            <a:off x="5314950" y="1152525"/>
            <a:ext cx="262890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E9A1A31A-9385-4A7A-9718-684E4B4F77FB}"/>
              </a:ext>
            </a:extLst>
          </p:cNvPr>
          <p:cNvSpPr>
            <a:spLocks xmlns:a="http://schemas.openxmlformats.org/drawingml/2006/main" noGrp="1"/>
          </p:cNvSpPr>
          <p:nvPr/>
        </p:nvSpPr>
        <p:spPr>
          <a:xfrm xmlns:a="http://schemas.openxmlformats.org/drawingml/2006/main">
            <a:off x="5410200" y="1171575"/>
            <a:ext cx="2438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WHITE RING = ISSUED CLICK</a:t>
            </a:r>
          </a:p>
        </p:txBody>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a1856b8eafcb49db"/>
          <a:srcRect xmlns:a="http://schemas.openxmlformats.org/drawingml/2006/main" l="0" t="4494" r="0" b="4494"/>
          <a:stretch xmlns:a="http://schemas.openxmlformats.org/drawingml/2006/main">
            <a:fillRect l="0" t="0" r="0" b="0"/>
          </a:stretch>
        </p:blipFill>
        <p:spPr>
          <a:xfrm xmlns:a="http://schemas.openxmlformats.org/drawingml/2006/main">
            <a:off x="609600" y="1562100"/>
            <a:ext cx="7334250" cy="4171950"/>
          </a:xfrm>
          <a:prstGeom xmlns:a="http://schemas.openxmlformats.org/drawingml/2006/main" prst="roundRect">
            <a:avLst>
              <a:gd name="adj" fmla="val 2740"/>
            </a:avLst>
          </a:prstGeom>
        </p:spPr>
      </p:pic>
      <p:sp>
        <p:nvSpPr>
          <p:cNvPr id="8" name="">
            <a:extLst xmlns:a="http://schemas.openxmlformats.org/drawingml/2006/main">
              <a:ext uri="{FF2B5EF4-FFF2-40B4-BE49-F238E27FC236}">
                <a16:creationId xmlns:a16="http://schemas.microsoft.com/office/drawing/2014/main" id="{9AD7D4E0-F3E2-4595-82C1-CB4E909EA3EB}"/>
              </a:ext>
            </a:extLst>
          </p:cNvPr>
          <p:cNvSpPr>
            <a:spLocks xmlns:a="http://schemas.openxmlformats.org/drawingml/2006/main" noGrp="1"/>
          </p:cNvSpPr>
          <p:nvPr/>
        </p:nvSpPr>
        <p:spPr>
          <a:xfrm xmlns:a="http://schemas.openxmlformats.org/drawingml/2006/main">
            <a:off x="609600" y="1562100"/>
            <a:ext cx="7334250" cy="4171950"/>
          </a:xfrm>
          <a:prstGeom xmlns:a="http://schemas.openxmlformats.org/drawingml/2006/main" prst="roundRect">
            <a:avLst>
              <a:gd name="adj" fmla="val 1826"/>
            </a:avLst>
          </a:prstGeom>
          <a:noFill xmlns:a="http://schemas.openxmlformats.org/drawingml/2006/main"/>
          <a:ln xmlns:a="http://schemas.openxmlformats.org/drawingml/2006/main" w="9525">
            <a:solidFill>
              <a:srgbClr val="D9D4C8"/>
            </a:solidFill>
          </a:ln>
        </p:spPr>
      </p:sp>
      <p:sp>
        <p:nvSpPr>
          <p:cNvPr id="9" name="">
            <a:extLst xmlns:a="http://schemas.openxmlformats.org/drawingml/2006/main">
              <a:ext uri="{FF2B5EF4-FFF2-40B4-BE49-F238E27FC236}">
                <a16:creationId xmlns:a16="http://schemas.microsoft.com/office/drawing/2014/main" id="{7D22E64A-B787-4876-B545-043E3B2D6D42}"/>
              </a:ext>
            </a:extLst>
          </p:cNvPr>
          <p:cNvSpPr>
            <a:spLocks xmlns:a="http://schemas.openxmlformats.org/drawingml/2006/main" noGrp="1"/>
          </p:cNvSpPr>
          <p:nvPr/>
        </p:nvSpPr>
        <p:spPr>
          <a:xfrm xmlns:a="http://schemas.openxmlformats.org/drawingml/2006/main">
            <a:off x="8305800" y="1562100"/>
            <a:ext cx="3276600" cy="4171950"/>
          </a:xfrm>
          <a:prstGeom xmlns:a="http://schemas.openxmlformats.org/drawingml/2006/main" prst="roundRect">
            <a:avLst>
              <a:gd name="adj" fmla="val 2326"/>
            </a:avLst>
          </a:prstGeom>
          <a:solidFill xmlns:a="http://schemas.openxmlformats.org/drawingml/2006/main">
            <a:srgbClr val="1C2733"/>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64136EA4-CE4F-4052-8465-91E490C73A51}"/>
              </a:ext>
            </a:extLst>
          </p:cNvPr>
          <p:cNvSpPr>
            <a:spLocks xmlns:a="http://schemas.openxmlformats.org/drawingml/2006/main" noGrp="1"/>
          </p:cNvSpPr>
          <p:nvPr/>
        </p:nvSpPr>
        <p:spPr>
          <a:xfrm xmlns:a="http://schemas.openxmlformats.org/drawingml/2006/main">
            <a:off x="8572500" y="1809750"/>
            <a:ext cx="142875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72C9398F-568E-4D3F-ACC8-3893CC104914}"/>
              </a:ext>
            </a:extLst>
          </p:cNvPr>
          <p:cNvSpPr>
            <a:spLocks xmlns:a="http://schemas.openxmlformats.org/drawingml/2006/main" noGrp="1"/>
          </p:cNvSpPr>
          <p:nvPr/>
        </p:nvSpPr>
        <p:spPr>
          <a:xfrm xmlns:a="http://schemas.openxmlformats.org/drawingml/2006/main">
            <a:off x="8667750" y="1828800"/>
            <a:ext cx="123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GROUNDING MISS</a:t>
            </a:r>
          </a:p>
        </p:txBody>
      </p:sp>
      <p:sp>
        <p:nvSpPr>
          <p:cNvPr id="12" name="">
            <a:extLst xmlns:a="http://schemas.openxmlformats.org/drawingml/2006/main">
              <a:ext uri="{FF2B5EF4-FFF2-40B4-BE49-F238E27FC236}">
                <a16:creationId xmlns:a16="http://schemas.microsoft.com/office/drawing/2014/main" id="{ED9633D0-C884-487D-BADA-F2ADB3F6A8FE}"/>
              </a:ext>
            </a:extLst>
          </p:cNvPr>
          <p:cNvSpPr>
            <a:spLocks xmlns:a="http://schemas.openxmlformats.org/drawingml/2006/main" noGrp="1"/>
          </p:cNvSpPr>
          <p:nvPr/>
        </p:nvSpPr>
        <p:spPr>
          <a:xfrm xmlns:a="http://schemas.openxmlformats.org/drawingml/2006/main">
            <a:off x="8572500" y="2343150"/>
            <a:ext cx="2571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0676"/>
          </a:bodyPr>
          <a:lstStyle xmlns:a="http://schemas.openxmlformats.org/drawingml/2006/main"/>
          <a:p xmlns:a="http://schemas.openxmlformats.org/drawingml/2006/main">
            <a:pPr algn="l">
              <a:defRPr sz="1725" b="1">
                <a:solidFill>
                  <a:srgbClr val="FFFFFF"/>
                </a:solidFill>
                <a:latin typeface="Helvetica Neue"/>
                <a:ea typeface="Helvetica Neue"/>
                <a:cs typeface="Helvetica Neue"/>
              </a:defRPr>
            </a:pPr>
            <a:r>
              <a:rPr sz="1725" b="1">
                <a:solidFill>
                  <a:srgbClr val="FFFFFF"/>
                </a:solidFill>
                <a:latin typeface="Helvetica Neue"/>
                <a:ea typeface="Helvetica Neue"/>
                <a:cs typeface="Helvetica Neue"/>
              </a:rPr>
              <a:t>The differential map concentrates in the correct top-left task region…</a:t>
            </a:r>
          </a:p>
        </p:txBody>
      </p:sp>
      <p:sp>
        <p:nvSpPr>
          <p:cNvPr id="13" name="">
            <a:extLst xmlns:a="http://schemas.openxmlformats.org/drawingml/2006/main">
              <a:ext uri="{FF2B5EF4-FFF2-40B4-BE49-F238E27FC236}">
                <a16:creationId xmlns:a16="http://schemas.microsoft.com/office/drawing/2014/main" id="{D97CF00B-F9BE-4A76-B415-2C22B791BA60}"/>
              </a:ext>
            </a:extLst>
          </p:cNvPr>
          <p:cNvSpPr>
            <a:spLocks xmlns:a="http://schemas.openxmlformats.org/drawingml/2006/main" noGrp="1"/>
          </p:cNvSpPr>
          <p:nvPr/>
        </p:nvSpPr>
        <p:spPr>
          <a:xfrm xmlns:a="http://schemas.openxmlformats.org/drawingml/2006/main">
            <a:off x="8572500" y="3295650"/>
            <a:ext cx="2571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C5CFD8"/>
                </a:solidFill>
                <a:latin typeface="Helvetica Neue"/>
                <a:ea typeface="Helvetica Neue"/>
                <a:cs typeface="Helvetica Neue"/>
              </a:defRPr>
            </a:pPr>
            <a:r>
              <a:rPr sz="1350" b="0">
                <a:solidFill>
                  <a:srgbClr val="C5CFD8"/>
                </a:solidFill>
                <a:latin typeface="Helvetica Neue"/>
                <a:ea typeface="Helvetica Neue"/>
                <a:cs typeface="Helvetica Neue"/>
              </a:rPr>
              <a:t>…but its peak lands on the slide thumbnail, not the tiny New Slide button.</a:t>
            </a:r>
          </a:p>
        </p:txBody>
      </p:sp>
      <p:sp>
        <p:nvSpPr>
          <p:cNvPr id="14" name="">
            <a:extLst xmlns:a="http://schemas.openxmlformats.org/drawingml/2006/main">
              <a:ext uri="{FF2B5EF4-FFF2-40B4-BE49-F238E27FC236}">
                <a16:creationId xmlns:a16="http://schemas.microsoft.com/office/drawing/2014/main" id="{E3656C8A-6D94-4AAF-AF05-F4DE75B2B822}"/>
              </a:ext>
            </a:extLst>
          </p:cNvPr>
          <p:cNvSpPr>
            <a:spLocks xmlns:a="http://schemas.openxmlformats.org/drawingml/2006/main" noGrp="1"/>
          </p:cNvSpPr>
          <p:nvPr/>
        </p:nvSpPr>
        <p:spPr>
          <a:xfrm xmlns:a="http://schemas.openxmlformats.org/drawingml/2006/main">
            <a:off x="8572500" y="4305300"/>
            <a:ext cx="2571750" cy="9525"/>
          </a:xfrm>
          <a:prstGeom xmlns:a="http://schemas.openxmlformats.org/drawingml/2006/main" prst="rect">
            <a:avLst/>
          </a:prstGeom>
          <a:solidFill xmlns:a="http://schemas.openxmlformats.org/drawingml/2006/main">
            <a:srgbClr val="465563"/>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850FD4EC-29A2-42A2-9D59-938BDA170C9A}"/>
              </a:ext>
            </a:extLst>
          </p:cNvPr>
          <p:cNvSpPr>
            <a:spLocks xmlns:a="http://schemas.openxmlformats.org/drawingml/2006/main" noGrp="1"/>
          </p:cNvSpPr>
          <p:nvPr/>
        </p:nvSpPr>
        <p:spPr>
          <a:xfrm xmlns:a="http://schemas.openxmlformats.org/drawingml/2006/main">
            <a:off x="8572500" y="4514850"/>
            <a:ext cx="1257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91A0AE"/>
                </a:solidFill>
                <a:latin typeface="Helvetica Neue"/>
                <a:ea typeface="Helvetica Neue"/>
                <a:cs typeface="Helvetica Neue"/>
              </a:defRPr>
            </a:pPr>
            <a:r>
              <a:rPr sz="900" b="1">
                <a:solidFill>
                  <a:srgbClr val="91A0AE"/>
                </a:solidFill>
                <a:latin typeface="Helvetica Neue"/>
                <a:ea typeface="Helvetica Neue"/>
                <a:cs typeface="Helvetica Neue"/>
              </a:rPr>
              <a:t>Predicted click</a:t>
            </a:r>
          </a:p>
        </p:txBody>
      </p:sp>
      <p:sp>
        <p:nvSpPr>
          <p:cNvPr id="16" name="">
            <a:extLst xmlns:a="http://schemas.openxmlformats.org/drawingml/2006/main">
              <a:ext uri="{FF2B5EF4-FFF2-40B4-BE49-F238E27FC236}">
                <a16:creationId xmlns:a16="http://schemas.microsoft.com/office/drawing/2014/main" id="{2C3F4B8A-61AB-44D1-A450-B488598BB514}"/>
              </a:ext>
            </a:extLst>
          </p:cNvPr>
          <p:cNvSpPr>
            <a:spLocks xmlns:a="http://schemas.openxmlformats.org/drawingml/2006/main" noGrp="1"/>
          </p:cNvSpPr>
          <p:nvPr/>
        </p:nvSpPr>
        <p:spPr>
          <a:xfrm xmlns:a="http://schemas.openxmlformats.org/drawingml/2006/main">
            <a:off x="9848850" y="4486275"/>
            <a:ext cx="1295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(331, 270)</a:t>
            </a:r>
          </a:p>
        </p:txBody>
      </p:sp>
      <p:sp>
        <p:nvSpPr>
          <p:cNvPr id="17" name="">
            <a:extLst xmlns:a="http://schemas.openxmlformats.org/drawingml/2006/main">
              <a:ext uri="{FF2B5EF4-FFF2-40B4-BE49-F238E27FC236}">
                <a16:creationId xmlns:a16="http://schemas.microsoft.com/office/drawing/2014/main" id="{48248A23-68C0-433F-A0D3-8BB6F8FCC669}"/>
              </a:ext>
            </a:extLst>
          </p:cNvPr>
          <p:cNvSpPr>
            <a:spLocks xmlns:a="http://schemas.openxmlformats.org/drawingml/2006/main" noGrp="1"/>
          </p:cNvSpPr>
          <p:nvPr/>
        </p:nvSpPr>
        <p:spPr>
          <a:xfrm xmlns:a="http://schemas.openxmlformats.org/drawingml/2006/main">
            <a:off x="8572500" y="4895850"/>
            <a:ext cx="1352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91A0AE"/>
                </a:solidFill>
                <a:latin typeface="Helvetica Neue"/>
                <a:ea typeface="Helvetica Neue"/>
                <a:cs typeface="Helvetica Neue"/>
              </a:defRPr>
            </a:pPr>
            <a:r>
              <a:rPr sz="900" b="1">
                <a:solidFill>
                  <a:srgbClr val="91A0AE"/>
                </a:solidFill>
                <a:latin typeface="Helvetica Neue"/>
                <a:ea typeface="Helvetica Neue"/>
                <a:cs typeface="Helvetica Neue"/>
              </a:rPr>
              <a:t>Prompt-diff peak</a:t>
            </a:r>
          </a:p>
        </p:txBody>
      </p:sp>
      <p:sp>
        <p:nvSpPr>
          <p:cNvPr id="18" name="">
            <a:extLst xmlns:a="http://schemas.openxmlformats.org/drawingml/2006/main">
              <a:ext uri="{FF2B5EF4-FFF2-40B4-BE49-F238E27FC236}">
                <a16:creationId xmlns:a16="http://schemas.microsoft.com/office/drawing/2014/main" id="{AFEE1441-DA94-49C9-A27B-10285A0DE786}"/>
              </a:ext>
            </a:extLst>
          </p:cNvPr>
          <p:cNvSpPr>
            <a:spLocks xmlns:a="http://schemas.openxmlformats.org/drawingml/2006/main" noGrp="1"/>
          </p:cNvSpPr>
          <p:nvPr/>
        </p:nvSpPr>
        <p:spPr>
          <a:xfrm xmlns:a="http://schemas.openxmlformats.org/drawingml/2006/main">
            <a:off x="9829800" y="4867275"/>
            <a:ext cx="1314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350" b="1">
                <a:solidFill>
                  <a:srgbClr val="F05A3C"/>
                </a:solidFill>
                <a:latin typeface="Helvetica Neue"/>
                <a:ea typeface="Helvetica Neue"/>
                <a:cs typeface="Helvetica Neue"/>
              </a:defRPr>
            </a:pPr>
            <a:r>
              <a:rPr sz="1350" b="1">
                <a:solidFill>
                  <a:srgbClr val="F05A3C"/>
                </a:solidFill>
                <a:latin typeface="Helvetica Neue"/>
                <a:ea typeface="Helvetica Neue"/>
                <a:cs typeface="Helvetica Neue"/>
              </a:rPr>
              <a:t>9.9% diag away</a:t>
            </a:r>
          </a:p>
        </p:txBody>
      </p:sp>
      <p:sp>
        <p:nvSpPr>
          <p:cNvPr id="19" name="">
            <a:extLst xmlns:a="http://schemas.openxmlformats.org/drawingml/2006/main">
              <a:ext uri="{FF2B5EF4-FFF2-40B4-BE49-F238E27FC236}">
                <a16:creationId xmlns:a16="http://schemas.microsoft.com/office/drawing/2014/main" id="{F700F56C-D13D-45E5-BF44-A924A1BF07C9}"/>
              </a:ext>
            </a:extLst>
          </p:cNvPr>
          <p:cNvSpPr>
            <a:spLocks xmlns:a="http://schemas.openxmlformats.org/drawingml/2006/main" noGrp="1"/>
          </p:cNvSpPr>
          <p:nvPr/>
        </p:nvSpPr>
        <p:spPr>
          <a:xfrm xmlns:a="http://schemas.openxmlformats.org/drawingml/2006/main">
            <a:off x="8572500" y="5276850"/>
            <a:ext cx="2571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a:solidFill>
                  <a:srgbClr val="F1C7BC"/>
                </a:solidFill>
                <a:latin typeface="Helvetica Neue"/>
                <a:ea typeface="Helvetica Neue"/>
                <a:cs typeface="Helvetica Neue"/>
              </a:defRPr>
            </a:pPr>
            <a:r>
              <a:rPr sz="975" b="0">
                <a:solidFill>
                  <a:srgbClr val="F1C7BC"/>
                </a:solidFill>
                <a:latin typeface="Helvetica Neue"/>
                <a:ea typeface="Helvetica Neue"/>
                <a:cs typeface="Helvetica Neue"/>
              </a:rPr>
              <a:t>The model resolves the intent class, but not the target binding needed for action.</a:t>
            </a:r>
          </a:p>
        </p:txBody>
      </p:sp>
      <p:sp>
        <p:nvSpPr>
          <p:cNvPr id="20" name="">
            <a:extLst xmlns:a="http://schemas.openxmlformats.org/drawingml/2006/main">
              <a:ext uri="{FF2B5EF4-FFF2-40B4-BE49-F238E27FC236}">
                <a16:creationId xmlns:a16="http://schemas.microsoft.com/office/drawing/2014/main" id="{41AFDED9-B5F1-4586-B658-537BBBF80996}"/>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7119E463-39A9-48BE-B95E-E882E767A78C}"/>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Local trace: powerpoint_windows_48 · prompt-baseline stability 0.970 mean / 0.953 minimum</a:t>
            </a:r>
          </a:p>
        </p:txBody>
      </p:sp>
    </p:spTree>
    <p:extLst>
      <p:ext uri="{BB962C8B-B14F-4D97-AF65-F5344CB8AC3E}">
        <p14:creationId xmlns:p14="http://schemas.microsoft.com/office/powerpoint/2010/main" val="1596490756"/>
      </p:ext>
    </p:extLst>
  </p:cSld>
</p:sld>
</file>

<file path=ppt/slides/slide6.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50" name="">
            <a:extLst xmlns:a="http://schemas.openxmlformats.org/drawingml/2006/main">
              <a:ext uri="{FF2B5EF4-FFF2-40B4-BE49-F238E27FC236}">
                <a16:creationId xmlns:a16="http://schemas.microsoft.com/office/drawing/2014/main" id="{CE770036-7CE2-4AE1-A55F-D27627F3305D}"/>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MULTI-TURN PROMPT BASELINE</a:t>
            </a:r>
          </a:p>
        </p:txBody>
      </p:sp>
      <p:sp>
        <p:nvSpPr>
          <p:cNvPr id="2" name="">
            <a:extLst xmlns:a="http://schemas.openxmlformats.org/drawingml/2006/main">
              <a:ext uri="{FF2B5EF4-FFF2-40B4-BE49-F238E27FC236}">
                <a16:creationId xmlns:a16="http://schemas.microsoft.com/office/drawing/2014/main" id="{F1928472-EB8E-4AD1-890D-C9D0A59C85F5}"/>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The right hotel is retrieved, then its button is missed</a:t>
            </a:r>
          </a:p>
        </p:txBody>
      </p:sp>
      <p:sp>
        <p:nvSpPr>
          <p:cNvPr id="3" name="">
            <a:extLst xmlns:a="http://schemas.openxmlformats.org/drawingml/2006/main">
              <a:ext uri="{FF2B5EF4-FFF2-40B4-BE49-F238E27FC236}">
                <a16:creationId xmlns:a16="http://schemas.microsoft.com/office/drawing/2014/main" id="{D6E25695-D360-43FF-8824-41BD3A78AB3A}"/>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06</a:t>
            </a:r>
          </a:p>
        </p:txBody>
      </p:sp>
      <p:sp>
        <p:nvSpPr>
          <p:cNvPr id="4" name="">
            <a:extLst xmlns:a="http://schemas.openxmlformats.org/drawingml/2006/main">
              <a:ext uri="{FF2B5EF4-FFF2-40B4-BE49-F238E27FC236}">
                <a16:creationId xmlns:a16="http://schemas.microsoft.com/office/drawing/2014/main" id="{08463577-D84C-47C7-B5B0-B8A2958699D6}"/>
              </a:ext>
            </a:extLst>
          </p:cNvPr>
          <p:cNvSpPr>
            <a:spLocks xmlns:a="http://schemas.openxmlformats.org/drawingml/2006/main" noGrp="1"/>
          </p:cNvSpPr>
          <p:nvPr/>
        </p:nvSpPr>
        <p:spPr>
          <a:xfrm xmlns:a="http://schemas.openxmlformats.org/drawingml/2006/main">
            <a:off x="609600" y="1162050"/>
            <a:ext cx="8858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66717D"/>
                </a:solidFill>
                <a:latin typeface="Helvetica Neue"/>
                <a:ea typeface="Helvetica Neue"/>
                <a:cs typeface="Helvetica Neue"/>
              </a:defRPr>
            </a:pPr>
            <a:r>
              <a:rPr sz="1125" b="0">
                <a:solidFill>
                  <a:srgbClr val="66717D"/>
                </a:solidFill>
                <a:latin typeface="Helvetica Neue"/>
                <a:ea typeface="Helvetica Neue"/>
                <a:cs typeface="Helvetica Neue"/>
              </a:rPr>
              <a:t>Target minus same-history instruction ensemble for the final x/y coordinate tokens</a:t>
            </a:r>
          </a:p>
        </p:txBody>
      </p:sp>
      <p:sp>
        <p:nvSpPr>
          <p:cNvPr id="5" name="">
            <a:extLst xmlns:a="http://schemas.openxmlformats.org/drawingml/2006/main">
              <a:ext uri="{FF2B5EF4-FFF2-40B4-BE49-F238E27FC236}">
                <a16:creationId xmlns:a16="http://schemas.microsoft.com/office/drawing/2014/main" id="{10493B46-6958-46E2-9B91-D81D45C14F0D}"/>
              </a:ext>
            </a:extLst>
          </p:cNvPr>
          <p:cNvSpPr>
            <a:spLocks xmlns:a="http://schemas.openxmlformats.org/drawingml/2006/main" noGrp="1"/>
          </p:cNvSpPr>
          <p:nvPr/>
        </p:nvSpPr>
        <p:spPr>
          <a:xfrm xmlns:a="http://schemas.openxmlformats.org/drawingml/2006/main">
            <a:off x="9525000" y="1133475"/>
            <a:ext cx="205740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39EA4A41-8ACB-471C-B0B9-50CD52220EB8}"/>
              </a:ext>
            </a:extLst>
          </p:cNvPr>
          <p:cNvSpPr>
            <a:spLocks xmlns:a="http://schemas.openxmlformats.org/drawingml/2006/main" noGrp="1"/>
          </p:cNvSpPr>
          <p:nvPr/>
        </p:nvSpPr>
        <p:spPr>
          <a:xfrm xmlns:a="http://schemas.openxmlformats.org/drawingml/2006/main">
            <a:off x="9620250" y="1152525"/>
            <a:ext cx="18669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WHITE RING = CLICK</a:t>
            </a:r>
          </a:p>
        </p:txBody>
      </p:sp>
      <p:pic>
        <p:nvPicPr>
          <p:cNvPr id="56" name=""/>
          <p:cNvPicPr>
            <a:picLocks xmlns:a="http://schemas.openxmlformats.org/drawingml/2006/main" noChangeAspect="1"/>
          </p:cNvPicPr>
          <p:nvPr/>
        </p:nvPicPr>
        <p:blipFill>
          <a:blip xmlns:r="http://schemas.openxmlformats.org/officeDocument/2006/relationships" xmlns:a="http://schemas.openxmlformats.org/drawingml/2006/main" r:embed="Re252896e4137407f"/>
          <a:srcRect xmlns:a="http://schemas.openxmlformats.org/drawingml/2006/main" l="74" t="0" r="74" b="0"/>
          <a:stretch xmlns:a="http://schemas.openxmlformats.org/drawingml/2006/main">
            <a:fillRect l="0" t="0" r="0" b="0"/>
          </a:stretch>
        </p:blipFill>
        <p:spPr>
          <a:xfrm xmlns:a="http://schemas.openxmlformats.org/drawingml/2006/main">
            <a:off x="609600" y="1581150"/>
            <a:ext cx="2571750" cy="1609725"/>
          </a:xfrm>
          <a:prstGeom xmlns:a="http://schemas.openxmlformats.org/drawingml/2006/main" prst="roundRect">
            <a:avLst>
              <a:gd name="adj" fmla="val 7101"/>
            </a:avLst>
          </a:prstGeom>
        </p:spPr>
      </p:pic>
      <p:sp>
        <p:nvSpPr>
          <p:cNvPr id="8" name="">
            <a:extLst xmlns:a="http://schemas.openxmlformats.org/drawingml/2006/main">
              <a:ext uri="{FF2B5EF4-FFF2-40B4-BE49-F238E27FC236}">
                <a16:creationId xmlns:a16="http://schemas.microsoft.com/office/drawing/2014/main" id="{08673519-20E9-4DF4-967D-F94EC0E3FBC5}"/>
              </a:ext>
            </a:extLst>
          </p:cNvPr>
          <p:cNvSpPr>
            <a:spLocks xmlns:a="http://schemas.openxmlformats.org/drawingml/2006/main" noGrp="1"/>
          </p:cNvSpPr>
          <p:nvPr/>
        </p:nvSpPr>
        <p:spPr>
          <a:xfrm xmlns:a="http://schemas.openxmlformats.org/drawingml/2006/main">
            <a:off x="609600" y="1581150"/>
            <a:ext cx="2571750" cy="1609725"/>
          </a:xfrm>
          <a:prstGeom xmlns:a="http://schemas.openxmlformats.org/drawingml/2006/main" prst="roundRect">
            <a:avLst>
              <a:gd name="adj" fmla="val 4734"/>
            </a:avLst>
          </a:prstGeom>
          <a:noFill xmlns:a="http://schemas.openxmlformats.org/drawingml/2006/main"/>
          <a:ln xmlns:a="http://schemas.openxmlformats.org/drawingml/2006/main" w="9525">
            <a:solidFill>
              <a:srgbClr val="D9D4C8"/>
            </a:solidFill>
          </a:ln>
        </p:spPr>
      </p:sp>
      <p:sp>
        <p:nvSpPr>
          <p:cNvPr id="9" name="">
            <a:extLst xmlns:a="http://schemas.openxmlformats.org/drawingml/2006/main">
              <a:ext uri="{FF2B5EF4-FFF2-40B4-BE49-F238E27FC236}">
                <a16:creationId xmlns:a16="http://schemas.microsoft.com/office/drawing/2014/main" id="{35D3E0C7-7E86-4FF0-A513-05E21470A7D5}"/>
              </a:ext>
            </a:extLst>
          </p:cNvPr>
          <p:cNvSpPr>
            <a:spLocks xmlns:a="http://schemas.openxmlformats.org/drawingml/2006/main" noGrp="1"/>
          </p:cNvSpPr>
          <p:nvPr/>
        </p:nvSpPr>
        <p:spPr>
          <a:xfrm xmlns:a="http://schemas.openxmlformats.org/drawingml/2006/main">
            <a:off x="704850" y="3295650"/>
            <a:ext cx="209550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DA7447EA-F33B-40EC-90FE-73008EF41AAE}"/>
              </a:ext>
            </a:extLst>
          </p:cNvPr>
          <p:cNvSpPr>
            <a:spLocks xmlns:a="http://schemas.openxmlformats.org/drawingml/2006/main" noGrp="1"/>
          </p:cNvSpPr>
          <p:nvPr/>
        </p:nvSpPr>
        <p:spPr>
          <a:xfrm xmlns:a="http://schemas.openxmlformats.org/drawingml/2006/main">
            <a:off x="800100" y="3314700"/>
            <a:ext cx="190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FRAME 0 · START</a:t>
            </a:r>
          </a:p>
        </p:txBody>
      </p:sp>
      <p:pic>
        <p:nvPicPr>
          <p:cNvPr id="60" name=""/>
          <p:cNvPicPr>
            <a:picLocks xmlns:a="http://schemas.openxmlformats.org/drawingml/2006/main" noChangeAspect="1"/>
          </p:cNvPicPr>
          <p:nvPr/>
        </p:nvPicPr>
        <p:blipFill>
          <a:blip xmlns:r="http://schemas.openxmlformats.org/officeDocument/2006/relationships" xmlns:a="http://schemas.openxmlformats.org/drawingml/2006/main" r:embed="Rfe199b6b6c244caa"/>
          <a:srcRect xmlns:a="http://schemas.openxmlformats.org/drawingml/2006/main" l="74" t="0" r="74" b="0"/>
          <a:stretch xmlns:a="http://schemas.openxmlformats.org/drawingml/2006/main">
            <a:fillRect l="0" t="0" r="0" b="0"/>
          </a:stretch>
        </p:blipFill>
        <p:spPr>
          <a:xfrm xmlns:a="http://schemas.openxmlformats.org/drawingml/2006/main">
            <a:off x="3333750" y="1581150"/>
            <a:ext cx="2571750" cy="1609725"/>
          </a:xfrm>
          <a:prstGeom xmlns:a="http://schemas.openxmlformats.org/drawingml/2006/main" prst="roundRect">
            <a:avLst>
              <a:gd name="adj" fmla="val 7101"/>
            </a:avLst>
          </a:prstGeom>
        </p:spPr>
      </p:pic>
      <p:sp>
        <p:nvSpPr>
          <p:cNvPr id="12" name="">
            <a:extLst xmlns:a="http://schemas.openxmlformats.org/drawingml/2006/main">
              <a:ext uri="{FF2B5EF4-FFF2-40B4-BE49-F238E27FC236}">
                <a16:creationId xmlns:a16="http://schemas.microsoft.com/office/drawing/2014/main" id="{F86B6E04-0492-4285-9A1D-6CD645EA545F}"/>
              </a:ext>
            </a:extLst>
          </p:cNvPr>
          <p:cNvSpPr>
            <a:spLocks xmlns:a="http://schemas.openxmlformats.org/drawingml/2006/main" noGrp="1"/>
          </p:cNvSpPr>
          <p:nvPr/>
        </p:nvSpPr>
        <p:spPr>
          <a:xfrm xmlns:a="http://schemas.openxmlformats.org/drawingml/2006/main">
            <a:off x="3333750" y="1581150"/>
            <a:ext cx="2571750" cy="1609725"/>
          </a:xfrm>
          <a:prstGeom xmlns:a="http://schemas.openxmlformats.org/drawingml/2006/main" prst="roundRect">
            <a:avLst>
              <a:gd name="adj" fmla="val 4734"/>
            </a:avLst>
          </a:prstGeom>
          <a:noFill xmlns:a="http://schemas.openxmlformats.org/drawingml/2006/main"/>
          <a:ln xmlns:a="http://schemas.openxmlformats.org/drawingml/2006/main" w="9525">
            <a:solidFill>
              <a:srgbClr val="D9D4C8"/>
            </a:solidFill>
          </a:ln>
        </p:spPr>
      </p:sp>
      <p:sp>
        <p:nvSpPr>
          <p:cNvPr id="13" name="">
            <a:extLst xmlns:a="http://schemas.openxmlformats.org/drawingml/2006/main">
              <a:ext uri="{FF2B5EF4-FFF2-40B4-BE49-F238E27FC236}">
                <a16:creationId xmlns:a16="http://schemas.microsoft.com/office/drawing/2014/main" id="{949FF10C-EB12-4583-8CC5-094CDB9FB49E}"/>
              </a:ext>
            </a:extLst>
          </p:cNvPr>
          <p:cNvSpPr>
            <a:spLocks xmlns:a="http://schemas.openxmlformats.org/drawingml/2006/main" noGrp="1"/>
          </p:cNvSpPr>
          <p:nvPr/>
        </p:nvSpPr>
        <p:spPr>
          <a:xfrm xmlns:a="http://schemas.openxmlformats.org/drawingml/2006/main">
            <a:off x="3429000" y="3295650"/>
            <a:ext cx="209550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1A173E76-E3A9-4FAB-9370-DB80C849AB5C}"/>
              </a:ext>
            </a:extLst>
          </p:cNvPr>
          <p:cNvSpPr>
            <a:spLocks xmlns:a="http://schemas.openxmlformats.org/drawingml/2006/main" noGrp="1"/>
          </p:cNvSpPr>
          <p:nvPr/>
        </p:nvSpPr>
        <p:spPr>
          <a:xfrm xmlns:a="http://schemas.openxmlformats.org/drawingml/2006/main">
            <a:off x="3524250" y="3314700"/>
            <a:ext cx="190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FRAME 1 · SCROLL 500</a:t>
            </a:r>
          </a:p>
        </p:txBody>
      </p:sp>
      <p:pic>
        <p:nvPicPr>
          <p:cNvPr id="64" name=""/>
          <p:cNvPicPr>
            <a:picLocks xmlns:a="http://schemas.openxmlformats.org/drawingml/2006/main" noChangeAspect="1"/>
          </p:cNvPicPr>
          <p:nvPr/>
        </p:nvPicPr>
        <p:blipFill>
          <a:blip xmlns:r="http://schemas.openxmlformats.org/officeDocument/2006/relationships" xmlns:a="http://schemas.openxmlformats.org/drawingml/2006/main" r:embed="R766ffc1a97a34765"/>
          <a:srcRect xmlns:a="http://schemas.openxmlformats.org/drawingml/2006/main" l="74" t="0" r="74" b="0"/>
          <a:stretch xmlns:a="http://schemas.openxmlformats.org/drawingml/2006/main">
            <a:fillRect l="0" t="0" r="0" b="0"/>
          </a:stretch>
        </p:blipFill>
        <p:spPr>
          <a:xfrm xmlns:a="http://schemas.openxmlformats.org/drawingml/2006/main">
            <a:off x="6057900" y="1581150"/>
            <a:ext cx="2571750" cy="1609725"/>
          </a:xfrm>
          <a:prstGeom xmlns:a="http://schemas.openxmlformats.org/drawingml/2006/main" prst="roundRect">
            <a:avLst>
              <a:gd name="adj" fmla="val 7101"/>
            </a:avLst>
          </a:prstGeom>
        </p:spPr>
      </p:pic>
      <p:sp>
        <p:nvSpPr>
          <p:cNvPr id="16" name="">
            <a:extLst xmlns:a="http://schemas.openxmlformats.org/drawingml/2006/main">
              <a:ext uri="{FF2B5EF4-FFF2-40B4-BE49-F238E27FC236}">
                <a16:creationId xmlns:a16="http://schemas.microsoft.com/office/drawing/2014/main" id="{9413ADCB-9EDF-41D0-B4C6-045BC94A70A8}"/>
              </a:ext>
            </a:extLst>
          </p:cNvPr>
          <p:cNvSpPr>
            <a:spLocks xmlns:a="http://schemas.openxmlformats.org/drawingml/2006/main" noGrp="1"/>
          </p:cNvSpPr>
          <p:nvPr/>
        </p:nvSpPr>
        <p:spPr>
          <a:xfrm xmlns:a="http://schemas.openxmlformats.org/drawingml/2006/main">
            <a:off x="6057900" y="1581150"/>
            <a:ext cx="2571750" cy="1609725"/>
          </a:xfrm>
          <a:prstGeom xmlns:a="http://schemas.openxmlformats.org/drawingml/2006/main" prst="roundRect">
            <a:avLst>
              <a:gd name="adj" fmla="val 4734"/>
            </a:avLst>
          </a:prstGeom>
          <a:noFill xmlns:a="http://schemas.openxmlformats.org/drawingml/2006/main"/>
          <a:ln xmlns:a="http://schemas.openxmlformats.org/drawingml/2006/main" w="9525">
            <a:solidFill>
              <a:srgbClr val="D9D4C8"/>
            </a:solidFill>
          </a:ln>
        </p:spPr>
      </p:sp>
      <p:sp>
        <p:nvSpPr>
          <p:cNvPr id="17" name="">
            <a:extLst xmlns:a="http://schemas.openxmlformats.org/drawingml/2006/main">
              <a:ext uri="{FF2B5EF4-FFF2-40B4-BE49-F238E27FC236}">
                <a16:creationId xmlns:a16="http://schemas.microsoft.com/office/drawing/2014/main" id="{4E0A317F-9D1C-4FB0-8157-EFD16F3F8773}"/>
              </a:ext>
            </a:extLst>
          </p:cNvPr>
          <p:cNvSpPr>
            <a:spLocks xmlns:a="http://schemas.openxmlformats.org/drawingml/2006/main" noGrp="1"/>
          </p:cNvSpPr>
          <p:nvPr/>
        </p:nvSpPr>
        <p:spPr>
          <a:xfrm xmlns:a="http://schemas.openxmlformats.org/drawingml/2006/main">
            <a:off x="6153150" y="3295650"/>
            <a:ext cx="209550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1BBAAD7D-B144-4D1B-A9BE-1F6BF6E1C2B4}"/>
              </a:ext>
            </a:extLst>
          </p:cNvPr>
          <p:cNvSpPr>
            <a:spLocks xmlns:a="http://schemas.openxmlformats.org/drawingml/2006/main" noGrp="1"/>
          </p:cNvSpPr>
          <p:nvPr/>
        </p:nvSpPr>
        <p:spPr>
          <a:xfrm xmlns:a="http://schemas.openxmlformats.org/drawingml/2006/main">
            <a:off x="6248400" y="3314700"/>
            <a:ext cx="190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FRAME 2 · TARGET APPEARS</a:t>
            </a:r>
          </a:p>
        </p:txBody>
      </p:sp>
      <p:pic>
        <p:nvPicPr>
          <p:cNvPr id="68" name=""/>
          <p:cNvPicPr>
            <a:picLocks xmlns:a="http://schemas.openxmlformats.org/drawingml/2006/main" noChangeAspect="1"/>
          </p:cNvPicPr>
          <p:nvPr/>
        </p:nvPicPr>
        <p:blipFill>
          <a:blip xmlns:r="http://schemas.openxmlformats.org/officeDocument/2006/relationships" xmlns:a="http://schemas.openxmlformats.org/drawingml/2006/main" r:embed="R99bed1b8f8f94c80"/>
          <a:srcRect xmlns:a="http://schemas.openxmlformats.org/drawingml/2006/main" l="74" t="0" r="74" b="0"/>
          <a:stretch xmlns:a="http://schemas.openxmlformats.org/drawingml/2006/main">
            <a:fillRect l="0" t="0" r="0" b="0"/>
          </a:stretch>
        </p:blipFill>
        <p:spPr>
          <a:xfrm xmlns:a="http://schemas.openxmlformats.org/drawingml/2006/main">
            <a:off x="8782050" y="1581150"/>
            <a:ext cx="2571750" cy="1609725"/>
          </a:xfrm>
          <a:prstGeom xmlns:a="http://schemas.openxmlformats.org/drawingml/2006/main" prst="roundRect">
            <a:avLst>
              <a:gd name="adj" fmla="val 7101"/>
            </a:avLst>
          </a:prstGeom>
        </p:spPr>
      </p:pic>
      <p:sp>
        <p:nvSpPr>
          <p:cNvPr id="20" name="">
            <a:extLst xmlns:a="http://schemas.openxmlformats.org/drawingml/2006/main">
              <a:ext uri="{FF2B5EF4-FFF2-40B4-BE49-F238E27FC236}">
                <a16:creationId xmlns:a16="http://schemas.microsoft.com/office/drawing/2014/main" id="{0AA801AC-4895-4592-A46F-6589949D575D}"/>
              </a:ext>
            </a:extLst>
          </p:cNvPr>
          <p:cNvSpPr>
            <a:spLocks xmlns:a="http://schemas.openxmlformats.org/drawingml/2006/main" noGrp="1"/>
          </p:cNvSpPr>
          <p:nvPr/>
        </p:nvSpPr>
        <p:spPr>
          <a:xfrm xmlns:a="http://schemas.openxmlformats.org/drawingml/2006/main">
            <a:off x="8782050" y="1581150"/>
            <a:ext cx="2571750" cy="1609725"/>
          </a:xfrm>
          <a:prstGeom xmlns:a="http://schemas.openxmlformats.org/drawingml/2006/main" prst="roundRect">
            <a:avLst>
              <a:gd name="adj" fmla="val 4734"/>
            </a:avLst>
          </a:prstGeom>
          <a:noFill xmlns:a="http://schemas.openxmlformats.org/drawingml/2006/main"/>
          <a:ln xmlns:a="http://schemas.openxmlformats.org/drawingml/2006/main" w="9525">
            <a:solidFill>
              <a:srgbClr val="D9D4C8"/>
            </a:solidFill>
          </a:ln>
        </p:spPr>
      </p:sp>
      <p:sp>
        <p:nvSpPr>
          <p:cNvPr id="21" name="">
            <a:extLst xmlns:a="http://schemas.openxmlformats.org/drawingml/2006/main">
              <a:ext uri="{FF2B5EF4-FFF2-40B4-BE49-F238E27FC236}">
                <a16:creationId xmlns:a16="http://schemas.microsoft.com/office/drawing/2014/main" id="{6E0E72CA-EB38-4B53-8A74-ECB513BF9916}"/>
              </a:ext>
            </a:extLst>
          </p:cNvPr>
          <p:cNvSpPr>
            <a:spLocks xmlns:a="http://schemas.openxmlformats.org/drawingml/2006/main" noGrp="1"/>
          </p:cNvSpPr>
          <p:nvPr/>
        </p:nvSpPr>
        <p:spPr>
          <a:xfrm xmlns:a="http://schemas.openxmlformats.org/drawingml/2006/main">
            <a:off x="8877300" y="3295650"/>
            <a:ext cx="209550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8C5D3D59-73D6-4A68-B797-21E696D62790}"/>
              </a:ext>
            </a:extLst>
          </p:cNvPr>
          <p:cNvSpPr>
            <a:spLocks xmlns:a="http://schemas.openxmlformats.org/drawingml/2006/main" noGrp="1"/>
          </p:cNvSpPr>
          <p:nvPr/>
        </p:nvSpPr>
        <p:spPr>
          <a:xfrm xmlns:a="http://schemas.openxmlformats.org/drawingml/2006/main">
            <a:off x="8972550" y="3314700"/>
            <a:ext cx="190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FRAME 3 · CLICK</a:t>
            </a:r>
          </a:p>
        </p:txBody>
      </p:sp>
      <p:sp>
        <p:nvSpPr>
          <p:cNvPr id="23" name="">
            <a:extLst xmlns:a="http://schemas.openxmlformats.org/drawingml/2006/main">
              <a:ext uri="{FF2B5EF4-FFF2-40B4-BE49-F238E27FC236}">
                <a16:creationId xmlns:a16="http://schemas.microsoft.com/office/drawing/2014/main" id="{2476A360-85ED-4143-8738-13E300D9BB8D}"/>
              </a:ext>
            </a:extLst>
          </p:cNvPr>
          <p:cNvSpPr>
            <a:spLocks xmlns:a="http://schemas.openxmlformats.org/drawingml/2006/main" noGrp="1"/>
          </p:cNvSpPr>
          <p:nvPr/>
        </p:nvSpPr>
        <p:spPr>
          <a:xfrm xmlns:a="http://schemas.openxmlformats.org/drawingml/2006/main">
            <a:off x="10558463" y="1670209"/>
            <a:ext cx="304800" cy="304800"/>
          </a:xfrm>
          <a:prstGeom xmlns:a="http://schemas.openxmlformats.org/drawingml/2006/main" prst="ellipse">
            <a:avLst/>
          </a:prstGeom>
          <a:noFill xmlns:a="http://schemas.openxmlformats.org/drawingml/2006/main"/>
          <a:ln xmlns:a="http://schemas.openxmlformats.org/drawingml/2006/main" w="76200">
            <a:solidFill>
              <a:srgbClr val="10151C"/>
            </a:solidFill>
          </a:ln>
        </p:spPr>
      </p:sp>
      <p:sp>
        <p:nvSpPr>
          <p:cNvPr id="24" name="">
            <a:extLst xmlns:a="http://schemas.openxmlformats.org/drawingml/2006/main">
              <a:ext uri="{FF2B5EF4-FFF2-40B4-BE49-F238E27FC236}">
                <a16:creationId xmlns:a16="http://schemas.microsoft.com/office/drawing/2014/main" id="{FAA41587-83D6-4EFA-9DE1-7E8E2CCDF7D2}"/>
              </a:ext>
            </a:extLst>
          </p:cNvPr>
          <p:cNvSpPr>
            <a:spLocks xmlns:a="http://schemas.openxmlformats.org/drawingml/2006/main" noGrp="1"/>
          </p:cNvSpPr>
          <p:nvPr/>
        </p:nvSpPr>
        <p:spPr>
          <a:xfrm xmlns:a="http://schemas.openxmlformats.org/drawingml/2006/main">
            <a:off x="10558463" y="1670209"/>
            <a:ext cx="304800" cy="304800"/>
          </a:xfrm>
          <a:prstGeom xmlns:a="http://schemas.openxmlformats.org/drawingml/2006/main" prst="ellipse">
            <a:avLst/>
          </a:prstGeom>
          <a:noFill xmlns:a="http://schemas.openxmlformats.org/drawingml/2006/main"/>
          <a:ln xmlns:a="http://schemas.openxmlformats.org/drawingml/2006/main" w="28575">
            <a:solidFill>
              <a:srgbClr val="FFFFFF"/>
            </a:solidFill>
          </a:ln>
        </p:spPr>
      </p:sp>
      <p:sp>
        <p:nvSpPr>
          <p:cNvPr id="25" name="">
            <a:extLst xmlns:a="http://schemas.openxmlformats.org/drawingml/2006/main">
              <a:ext uri="{FF2B5EF4-FFF2-40B4-BE49-F238E27FC236}">
                <a16:creationId xmlns:a16="http://schemas.microsoft.com/office/drawing/2014/main" id="{5871D493-C014-4051-976C-E9A46B57DA42}"/>
              </a:ext>
            </a:extLst>
          </p:cNvPr>
          <p:cNvSpPr>
            <a:spLocks xmlns:a="http://schemas.openxmlformats.org/drawingml/2006/main" noGrp="1"/>
          </p:cNvSpPr>
          <p:nvPr/>
        </p:nvSpPr>
        <p:spPr>
          <a:xfrm xmlns:a="http://schemas.openxmlformats.org/drawingml/2006/main">
            <a:off x="10501313" y="1784509"/>
            <a:ext cx="419100" cy="76200"/>
          </a:xfrm>
          <a:prstGeom xmlns:a="http://schemas.openxmlformats.org/drawingml/2006/main" prst="roundRect">
            <a:avLst>
              <a:gd name="adj" fmla="val 50000"/>
            </a:avLst>
          </a:prstGeom>
          <a:solidFill xmlns:a="http://schemas.openxmlformats.org/drawingml/2006/main">
            <a:srgbClr val="10151C"/>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38BBB639-4461-45FB-82B1-1E02932ED4A5}"/>
              </a:ext>
            </a:extLst>
          </p:cNvPr>
          <p:cNvSpPr>
            <a:spLocks xmlns:a="http://schemas.openxmlformats.org/drawingml/2006/main" noGrp="1"/>
          </p:cNvSpPr>
          <p:nvPr/>
        </p:nvSpPr>
        <p:spPr>
          <a:xfrm xmlns:a="http://schemas.openxmlformats.org/drawingml/2006/main">
            <a:off x="10672763" y="1613059"/>
            <a:ext cx="76200" cy="419100"/>
          </a:xfrm>
          <a:prstGeom xmlns:a="http://schemas.openxmlformats.org/drawingml/2006/main" prst="roundRect">
            <a:avLst>
              <a:gd name="adj" fmla="val 50000"/>
            </a:avLst>
          </a:prstGeom>
          <a:solidFill xmlns:a="http://schemas.openxmlformats.org/drawingml/2006/main">
            <a:srgbClr val="10151C"/>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5C0459FF-B167-47C6-98C9-872F830C6D3B}"/>
              </a:ext>
            </a:extLst>
          </p:cNvPr>
          <p:cNvSpPr>
            <a:spLocks xmlns:a="http://schemas.openxmlformats.org/drawingml/2006/main" noGrp="1"/>
          </p:cNvSpPr>
          <p:nvPr/>
        </p:nvSpPr>
        <p:spPr>
          <a:xfrm xmlns:a="http://schemas.openxmlformats.org/drawingml/2006/main">
            <a:off x="10501313" y="1808321"/>
            <a:ext cx="419100" cy="28575"/>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87509202-65AF-44B7-B2E6-CF846B8DB686}"/>
              </a:ext>
            </a:extLst>
          </p:cNvPr>
          <p:cNvSpPr>
            <a:spLocks xmlns:a="http://schemas.openxmlformats.org/drawingml/2006/main" noGrp="1"/>
          </p:cNvSpPr>
          <p:nvPr/>
        </p:nvSpPr>
        <p:spPr>
          <a:xfrm xmlns:a="http://schemas.openxmlformats.org/drawingml/2006/main">
            <a:off x="10696575" y="1613059"/>
            <a:ext cx="28575" cy="41910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C1080422-D380-4616-8318-B0B017F68A22}"/>
              </a:ext>
            </a:extLst>
          </p:cNvPr>
          <p:cNvSpPr>
            <a:spLocks xmlns:a="http://schemas.openxmlformats.org/drawingml/2006/main" noGrp="1"/>
          </p:cNvSpPr>
          <p:nvPr/>
        </p:nvSpPr>
        <p:spPr>
          <a:xfrm xmlns:a="http://schemas.openxmlformats.org/drawingml/2006/main">
            <a:off x="609600" y="3790950"/>
            <a:ext cx="3333750" cy="1028700"/>
          </a:xfrm>
          <a:prstGeom xmlns:a="http://schemas.openxmlformats.org/drawingml/2006/main" prst="roundRect">
            <a:avLst>
              <a:gd name="adj" fmla="val 7407"/>
            </a:avLst>
          </a:prstGeom>
          <a:solidFill xmlns:a="http://schemas.openxmlformats.org/drawingml/2006/main">
            <a:srgbClr val="FFFFFF"/>
          </a:solidFill>
          <a:ln xmlns:a="http://schemas.openxmlformats.org/drawingml/2006/main" w="9525">
            <a:solidFill>
              <a:srgbClr val="D9D4C8"/>
            </a:solidFill>
          </a:ln>
        </p:spPr>
      </p:sp>
      <p:sp>
        <p:nvSpPr>
          <p:cNvPr id="30" name="">
            <a:extLst xmlns:a="http://schemas.openxmlformats.org/drawingml/2006/main">
              <a:ext uri="{FF2B5EF4-FFF2-40B4-BE49-F238E27FC236}">
                <a16:creationId xmlns:a16="http://schemas.microsoft.com/office/drawing/2014/main" id="{A209AB79-A402-40DB-BDFF-142BBD455F40}"/>
              </a:ext>
            </a:extLst>
          </p:cNvPr>
          <p:cNvSpPr>
            <a:spLocks xmlns:a="http://schemas.openxmlformats.org/drawingml/2006/main" noGrp="1"/>
          </p:cNvSpPr>
          <p:nvPr/>
        </p:nvSpPr>
        <p:spPr>
          <a:xfrm xmlns:a="http://schemas.openxmlformats.org/drawingml/2006/main">
            <a:off x="609600" y="3790950"/>
            <a:ext cx="66675" cy="1028700"/>
          </a:xfrm>
          <a:prstGeom xmlns:a="http://schemas.openxmlformats.org/drawingml/2006/main" prst="roundRect">
            <a:avLst>
              <a:gd name="adj" fmla="val 50000"/>
            </a:avLst>
          </a:prstGeom>
          <a:solidFill xmlns:a="http://schemas.openxmlformats.org/drawingml/2006/main">
            <a:srgbClr val="2D84D3"/>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AE2E2DA8-4EA1-4C88-9541-17C80029AA5A}"/>
              </a:ext>
            </a:extLst>
          </p:cNvPr>
          <p:cNvSpPr>
            <a:spLocks xmlns:a="http://schemas.openxmlformats.org/drawingml/2006/main" noGrp="1"/>
          </p:cNvSpPr>
          <p:nvPr/>
        </p:nvSpPr>
        <p:spPr>
          <a:xfrm xmlns:a="http://schemas.openxmlformats.org/drawingml/2006/main">
            <a:off x="800100" y="3924300"/>
            <a:ext cx="30289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66717D"/>
                </a:solidFill>
                <a:latin typeface="Helvetica Neue"/>
                <a:ea typeface="Helvetica Neue"/>
                <a:cs typeface="Helvetica Neue"/>
              </a:defRPr>
            </a:pPr>
            <a:r>
              <a:rPr sz="825" b="1">
                <a:solidFill>
                  <a:srgbClr val="66717D"/>
                </a:solidFill>
                <a:latin typeface="Helvetica Neue"/>
                <a:ea typeface="Helvetica Neue"/>
                <a:cs typeface="Helvetica Neue"/>
              </a:rPr>
              <a:t>EARLIER-FRAME TARGET LIFT</a:t>
            </a:r>
          </a:p>
        </p:txBody>
      </p:sp>
      <p:sp>
        <p:nvSpPr>
          <p:cNvPr id="32" name="">
            <a:extLst xmlns:a="http://schemas.openxmlformats.org/drawingml/2006/main">
              <a:ext uri="{FF2B5EF4-FFF2-40B4-BE49-F238E27FC236}">
                <a16:creationId xmlns:a16="http://schemas.microsoft.com/office/drawing/2014/main" id="{C5F154BB-FB08-4821-8AEF-DD4D7954ACAC}"/>
              </a:ext>
            </a:extLst>
          </p:cNvPr>
          <p:cNvSpPr>
            <a:spLocks xmlns:a="http://schemas.openxmlformats.org/drawingml/2006/main" noGrp="1"/>
          </p:cNvSpPr>
          <p:nvPr/>
        </p:nvSpPr>
        <p:spPr>
          <a:xfrm xmlns:a="http://schemas.openxmlformats.org/drawingml/2006/main">
            <a:off x="800100" y="4114800"/>
            <a:ext cx="3028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10151C"/>
                </a:solidFill>
                <a:latin typeface="Helvetica Neue"/>
                <a:ea typeface="Helvetica Neue"/>
                <a:cs typeface="Helvetica Neue"/>
              </a:defRPr>
            </a:pPr>
            <a:r>
              <a:rPr sz="2325" b="1">
                <a:solidFill>
                  <a:srgbClr val="10151C"/>
                </a:solidFill>
                <a:latin typeface="Helvetica Neue"/>
                <a:ea typeface="Helvetica Neue"/>
                <a:cs typeface="Helvetica Neue"/>
              </a:rPr>
              <a:t>2.78×</a:t>
            </a:r>
          </a:p>
        </p:txBody>
      </p:sp>
      <p:sp>
        <p:nvSpPr>
          <p:cNvPr id="33" name="">
            <a:extLst xmlns:a="http://schemas.openxmlformats.org/drawingml/2006/main">
              <a:ext uri="{FF2B5EF4-FFF2-40B4-BE49-F238E27FC236}">
                <a16:creationId xmlns:a16="http://schemas.microsoft.com/office/drawing/2014/main" id="{44081635-4FCB-4B5A-8D46-9820758D1AC6}"/>
              </a:ext>
            </a:extLst>
          </p:cNvPr>
          <p:cNvSpPr>
            <a:spLocks xmlns:a="http://schemas.openxmlformats.org/drawingml/2006/main" noGrp="1"/>
          </p:cNvSpPr>
          <p:nvPr/>
        </p:nvSpPr>
        <p:spPr>
          <a:xfrm xmlns:a="http://schemas.openxmlformats.org/drawingml/2006/main">
            <a:off x="800100" y="4524375"/>
            <a:ext cx="3028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a:solidFill>
                  <a:srgbClr val="66717D"/>
                </a:solidFill>
                <a:latin typeface="Helvetica Neue"/>
                <a:ea typeface="Helvetica Neue"/>
                <a:cs typeface="Helvetica Neue"/>
              </a:defRPr>
            </a:pPr>
            <a:r>
              <a:rPr sz="825" b="0">
                <a:solidFill>
                  <a:srgbClr val="66717D"/>
                </a:solidFill>
                <a:latin typeface="Helvetica Neue"/>
                <a:ea typeface="Helvetica Neue"/>
                <a:cs typeface="Helvetica Neue"/>
              </a:rPr>
              <a:t>frame 2: target button at viewport edge</a:t>
            </a:r>
          </a:p>
        </p:txBody>
      </p:sp>
      <p:sp>
        <p:nvSpPr>
          <p:cNvPr id="34" name="">
            <a:extLst xmlns:a="http://schemas.openxmlformats.org/drawingml/2006/main">
              <a:ext uri="{FF2B5EF4-FFF2-40B4-BE49-F238E27FC236}">
                <a16:creationId xmlns:a16="http://schemas.microsoft.com/office/drawing/2014/main" id="{45C5ACB2-3A60-480D-893E-AFA3480C414A}"/>
              </a:ext>
            </a:extLst>
          </p:cNvPr>
          <p:cNvSpPr>
            <a:spLocks xmlns:a="http://schemas.openxmlformats.org/drawingml/2006/main" noGrp="1"/>
          </p:cNvSpPr>
          <p:nvPr/>
        </p:nvSpPr>
        <p:spPr>
          <a:xfrm xmlns:a="http://schemas.openxmlformats.org/drawingml/2006/main">
            <a:off x="4114800" y="3790950"/>
            <a:ext cx="3333750" cy="1028700"/>
          </a:xfrm>
          <a:prstGeom xmlns:a="http://schemas.openxmlformats.org/drawingml/2006/main" prst="roundRect">
            <a:avLst>
              <a:gd name="adj" fmla="val 7407"/>
            </a:avLst>
          </a:prstGeom>
          <a:solidFill xmlns:a="http://schemas.openxmlformats.org/drawingml/2006/main">
            <a:srgbClr val="FFFFFF"/>
          </a:solidFill>
          <a:ln xmlns:a="http://schemas.openxmlformats.org/drawingml/2006/main" w="9525">
            <a:solidFill>
              <a:srgbClr val="D9D4C8"/>
            </a:solidFill>
          </a:ln>
        </p:spPr>
      </p:sp>
      <p:sp>
        <p:nvSpPr>
          <p:cNvPr id="35" name="">
            <a:extLst xmlns:a="http://schemas.openxmlformats.org/drawingml/2006/main">
              <a:ext uri="{FF2B5EF4-FFF2-40B4-BE49-F238E27FC236}">
                <a16:creationId xmlns:a16="http://schemas.microsoft.com/office/drawing/2014/main" id="{6F20A409-4539-4F31-8BAC-1347C5013899}"/>
              </a:ext>
            </a:extLst>
          </p:cNvPr>
          <p:cNvSpPr>
            <a:spLocks xmlns:a="http://schemas.openxmlformats.org/drawingml/2006/main" noGrp="1"/>
          </p:cNvSpPr>
          <p:nvPr/>
        </p:nvSpPr>
        <p:spPr>
          <a:xfrm xmlns:a="http://schemas.openxmlformats.org/drawingml/2006/main">
            <a:off x="4114800" y="3790950"/>
            <a:ext cx="66675" cy="1028700"/>
          </a:xfrm>
          <a:prstGeom xmlns:a="http://schemas.openxmlformats.org/drawingml/2006/main" prst="roundRect">
            <a:avLst>
              <a:gd name="adj" fmla="val 50000"/>
            </a:avLst>
          </a:prstGeom>
          <a:solidFill xmlns:a="http://schemas.openxmlformats.org/drawingml/2006/main">
            <a:srgbClr val="F05A3C"/>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2CFD6850-F78B-4005-95D8-56893BACA964}"/>
              </a:ext>
            </a:extLst>
          </p:cNvPr>
          <p:cNvSpPr>
            <a:spLocks xmlns:a="http://schemas.openxmlformats.org/drawingml/2006/main" noGrp="1"/>
          </p:cNvSpPr>
          <p:nvPr/>
        </p:nvSpPr>
        <p:spPr>
          <a:xfrm xmlns:a="http://schemas.openxmlformats.org/drawingml/2006/main">
            <a:off x="4305300" y="3924300"/>
            <a:ext cx="30289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66717D"/>
                </a:solidFill>
                <a:latin typeface="Helvetica Neue"/>
                <a:ea typeface="Helvetica Neue"/>
                <a:cs typeface="Helvetica Neue"/>
              </a:defRPr>
            </a:pPr>
            <a:r>
              <a:rPr sz="825" b="1">
                <a:solidFill>
                  <a:srgbClr val="66717D"/>
                </a:solidFill>
                <a:latin typeface="Helvetica Neue"/>
                <a:ea typeface="Helvetica Neue"/>
                <a:cs typeface="Helvetica Neue"/>
              </a:rPr>
              <a:t>CURRENT-FRAME TARGET LIFT</a:t>
            </a:r>
          </a:p>
        </p:txBody>
      </p:sp>
      <p:sp>
        <p:nvSpPr>
          <p:cNvPr id="37" name="">
            <a:extLst xmlns:a="http://schemas.openxmlformats.org/drawingml/2006/main">
              <a:ext uri="{FF2B5EF4-FFF2-40B4-BE49-F238E27FC236}">
                <a16:creationId xmlns:a16="http://schemas.microsoft.com/office/drawing/2014/main" id="{9BA382E5-59F1-4E0A-B342-5E8EFD3D5526}"/>
              </a:ext>
            </a:extLst>
          </p:cNvPr>
          <p:cNvSpPr>
            <a:spLocks xmlns:a="http://schemas.openxmlformats.org/drawingml/2006/main" noGrp="1"/>
          </p:cNvSpPr>
          <p:nvPr/>
        </p:nvSpPr>
        <p:spPr>
          <a:xfrm xmlns:a="http://schemas.openxmlformats.org/drawingml/2006/main">
            <a:off x="4305300" y="4114800"/>
            <a:ext cx="3028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10151C"/>
                </a:solidFill>
                <a:latin typeface="Helvetica Neue"/>
                <a:ea typeface="Helvetica Neue"/>
                <a:cs typeface="Helvetica Neue"/>
              </a:defRPr>
            </a:pPr>
            <a:r>
              <a:rPr sz="2325" b="1">
                <a:solidFill>
                  <a:srgbClr val="10151C"/>
                </a:solidFill>
                <a:latin typeface="Helvetica Neue"/>
                <a:ea typeface="Helvetica Neue"/>
                <a:cs typeface="Helvetica Neue"/>
              </a:rPr>
              <a:t>8.59×</a:t>
            </a:r>
          </a:p>
        </p:txBody>
      </p:sp>
      <p:sp>
        <p:nvSpPr>
          <p:cNvPr id="38" name="">
            <a:extLst xmlns:a="http://schemas.openxmlformats.org/drawingml/2006/main">
              <a:ext uri="{FF2B5EF4-FFF2-40B4-BE49-F238E27FC236}">
                <a16:creationId xmlns:a16="http://schemas.microsoft.com/office/drawing/2014/main" id="{F3A9B238-F363-46CA-A1D6-E3D0D9BFA288}"/>
              </a:ext>
            </a:extLst>
          </p:cNvPr>
          <p:cNvSpPr>
            <a:spLocks xmlns:a="http://schemas.openxmlformats.org/drawingml/2006/main" noGrp="1"/>
          </p:cNvSpPr>
          <p:nvPr/>
        </p:nvSpPr>
        <p:spPr>
          <a:xfrm xmlns:a="http://schemas.openxmlformats.org/drawingml/2006/main">
            <a:off x="4305300" y="4524375"/>
            <a:ext cx="3028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a:solidFill>
                  <a:srgbClr val="66717D"/>
                </a:solidFill>
                <a:latin typeface="Helvetica Neue"/>
                <a:ea typeface="Helvetica Neue"/>
                <a:cs typeface="Helvetica Neue"/>
              </a:defRPr>
            </a:pPr>
            <a:r>
              <a:rPr sz="825" b="0">
                <a:solidFill>
                  <a:srgbClr val="66717D"/>
                </a:solidFill>
                <a:latin typeface="Helvetica Neue"/>
                <a:ea typeface="Helvetica Neue"/>
                <a:cs typeface="Helvetica Neue"/>
              </a:rPr>
              <a:t>frame 3: prompt differential</a:t>
            </a:r>
          </a:p>
        </p:txBody>
      </p:sp>
      <p:sp>
        <p:nvSpPr>
          <p:cNvPr id="39" name="">
            <a:extLst xmlns:a="http://schemas.openxmlformats.org/drawingml/2006/main">
              <a:ext uri="{FF2B5EF4-FFF2-40B4-BE49-F238E27FC236}">
                <a16:creationId xmlns:a16="http://schemas.microsoft.com/office/drawing/2014/main" id="{11CFA013-95E5-46BA-B4DA-ECED273F6413}"/>
              </a:ext>
            </a:extLst>
          </p:cNvPr>
          <p:cNvSpPr>
            <a:spLocks xmlns:a="http://schemas.openxmlformats.org/drawingml/2006/main" noGrp="1"/>
          </p:cNvSpPr>
          <p:nvPr/>
        </p:nvSpPr>
        <p:spPr>
          <a:xfrm xmlns:a="http://schemas.openxmlformats.org/drawingml/2006/main">
            <a:off x="7620000" y="3790950"/>
            <a:ext cx="3962400" cy="1028700"/>
          </a:xfrm>
          <a:prstGeom xmlns:a="http://schemas.openxmlformats.org/drawingml/2006/main" prst="roundRect">
            <a:avLst>
              <a:gd name="adj" fmla="val 7407"/>
            </a:avLst>
          </a:prstGeom>
          <a:solidFill xmlns:a="http://schemas.openxmlformats.org/drawingml/2006/main">
            <a:srgbClr val="FFFFFF"/>
          </a:solidFill>
          <a:ln xmlns:a="http://schemas.openxmlformats.org/drawingml/2006/main" w="9525">
            <a:solidFill>
              <a:srgbClr val="D9D4C8"/>
            </a:solidFill>
          </a:ln>
        </p:spPr>
      </p:sp>
      <p:sp>
        <p:nvSpPr>
          <p:cNvPr id="40" name="">
            <a:extLst xmlns:a="http://schemas.openxmlformats.org/drawingml/2006/main">
              <a:ext uri="{FF2B5EF4-FFF2-40B4-BE49-F238E27FC236}">
                <a16:creationId xmlns:a16="http://schemas.microsoft.com/office/drawing/2014/main" id="{D1BBB309-DA8C-4AC2-ADBC-9C25E571130E}"/>
              </a:ext>
            </a:extLst>
          </p:cNvPr>
          <p:cNvSpPr>
            <a:spLocks xmlns:a="http://schemas.openxmlformats.org/drawingml/2006/main" noGrp="1"/>
          </p:cNvSpPr>
          <p:nvPr/>
        </p:nvSpPr>
        <p:spPr>
          <a:xfrm xmlns:a="http://schemas.openxmlformats.org/drawingml/2006/main">
            <a:off x="7620000" y="3790950"/>
            <a:ext cx="66675" cy="1028700"/>
          </a:xfrm>
          <a:prstGeom xmlns:a="http://schemas.openxmlformats.org/drawingml/2006/main" prst="roundRect">
            <a:avLst>
              <a:gd name="adj" fmla="val 50000"/>
            </a:avLst>
          </a:prstGeom>
          <a:solidFill xmlns:a="http://schemas.openxmlformats.org/drawingml/2006/main">
            <a:srgbClr val="F05A3C"/>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5CA10F90-5F3D-46CD-B8EB-9ADC5A57A544}"/>
              </a:ext>
            </a:extLst>
          </p:cNvPr>
          <p:cNvSpPr>
            <a:spLocks xmlns:a="http://schemas.openxmlformats.org/drawingml/2006/main" noGrp="1"/>
          </p:cNvSpPr>
          <p:nvPr/>
        </p:nvSpPr>
        <p:spPr>
          <a:xfrm xmlns:a="http://schemas.openxmlformats.org/drawingml/2006/main">
            <a:off x="7810500" y="3924300"/>
            <a:ext cx="36576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66717D"/>
                </a:solidFill>
                <a:latin typeface="Helvetica Neue"/>
                <a:ea typeface="Helvetica Neue"/>
                <a:cs typeface="Helvetica Neue"/>
              </a:defRPr>
            </a:pPr>
            <a:r>
              <a:rPr sz="825" b="1">
                <a:solidFill>
                  <a:srgbClr val="66717D"/>
                </a:solidFill>
                <a:latin typeface="Helvetica Neue"/>
                <a:ea typeface="Helvetica Neue"/>
                <a:cs typeface="Helvetica Neue"/>
              </a:rPr>
              <a:t>ISSUED CLICK</a:t>
            </a:r>
          </a:p>
        </p:txBody>
      </p:sp>
      <p:sp>
        <p:nvSpPr>
          <p:cNvPr id="42" name="">
            <a:extLst xmlns:a="http://schemas.openxmlformats.org/drawingml/2006/main">
              <a:ext uri="{FF2B5EF4-FFF2-40B4-BE49-F238E27FC236}">
                <a16:creationId xmlns:a16="http://schemas.microsoft.com/office/drawing/2014/main" id="{38160742-5878-49F9-B21B-F374790189B3}"/>
              </a:ext>
            </a:extLst>
          </p:cNvPr>
          <p:cNvSpPr>
            <a:spLocks xmlns:a="http://schemas.openxmlformats.org/drawingml/2006/main" noGrp="1"/>
          </p:cNvSpPr>
          <p:nvPr/>
        </p:nvSpPr>
        <p:spPr>
          <a:xfrm xmlns:a="http://schemas.openxmlformats.org/drawingml/2006/main">
            <a:off x="7810500" y="4114800"/>
            <a:ext cx="3657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10151C"/>
                </a:solidFill>
                <a:latin typeface="Helvetica Neue"/>
                <a:ea typeface="Helvetica Neue"/>
                <a:cs typeface="Helvetica Neue"/>
              </a:defRPr>
            </a:pPr>
            <a:r>
              <a:rPr sz="2325" b="1">
                <a:solidFill>
                  <a:srgbClr val="10151C"/>
                </a:solidFill>
                <a:latin typeface="Helvetica Neue"/>
                <a:ea typeface="Helvetica Neue"/>
                <a:cs typeface="Helvetica Neue"/>
              </a:rPr>
              <a:t>MISS</a:t>
            </a:r>
          </a:p>
        </p:txBody>
      </p:sp>
      <p:sp>
        <p:nvSpPr>
          <p:cNvPr id="43" name="">
            <a:extLst xmlns:a="http://schemas.openxmlformats.org/drawingml/2006/main">
              <a:ext uri="{FF2B5EF4-FFF2-40B4-BE49-F238E27FC236}">
                <a16:creationId xmlns:a16="http://schemas.microsoft.com/office/drawing/2014/main" id="{B59558C8-1C32-40FF-8BA9-DE6F3A448F2E}"/>
              </a:ext>
            </a:extLst>
          </p:cNvPr>
          <p:cNvSpPr>
            <a:spLocks xmlns:a="http://schemas.openxmlformats.org/drawingml/2006/main" noGrp="1"/>
          </p:cNvSpPr>
          <p:nvPr/>
        </p:nvSpPr>
        <p:spPr>
          <a:xfrm xmlns:a="http://schemas.openxmlformats.org/drawingml/2006/main">
            <a:off x="7810500" y="4524375"/>
            <a:ext cx="3657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a:solidFill>
                  <a:srgbClr val="66717D"/>
                </a:solidFill>
                <a:latin typeface="Helvetica Neue"/>
                <a:ea typeface="Helvetica Neue"/>
                <a:cs typeface="Helvetica Neue"/>
              </a:defRPr>
            </a:pPr>
            <a:r>
              <a:rPr sz="825" b="0">
                <a:solidFill>
                  <a:srgbClr val="66717D"/>
                </a:solidFill>
                <a:latin typeface="Helvetica Neue"/>
                <a:ea typeface="Helvetica Neue"/>
                <a:cs typeface="Helvetica Neue"/>
              </a:rPr>
              <a:t>(960,120): correct card, wrong affordance</a:t>
            </a:r>
          </a:p>
        </p:txBody>
      </p:sp>
      <p:sp>
        <p:nvSpPr>
          <p:cNvPr id="44" name="">
            <a:extLst xmlns:a="http://schemas.openxmlformats.org/drawingml/2006/main">
              <a:ext uri="{FF2B5EF4-FFF2-40B4-BE49-F238E27FC236}">
                <a16:creationId xmlns:a16="http://schemas.microsoft.com/office/drawing/2014/main" id="{D374C808-5372-4A35-8F94-2576C2616768}"/>
              </a:ext>
            </a:extLst>
          </p:cNvPr>
          <p:cNvSpPr>
            <a:spLocks xmlns:a="http://schemas.openxmlformats.org/drawingml/2006/main" noGrp="1"/>
          </p:cNvSpPr>
          <p:nvPr/>
        </p:nvSpPr>
        <p:spPr>
          <a:xfrm xmlns:a="http://schemas.openxmlformats.org/drawingml/2006/main">
            <a:off x="609600" y="5048250"/>
            <a:ext cx="10972800" cy="1028700"/>
          </a:xfrm>
          <a:prstGeom xmlns:a="http://schemas.openxmlformats.org/drawingml/2006/main" prst="roundRect">
            <a:avLst>
              <a:gd name="adj" fmla="val 7407"/>
            </a:avLst>
          </a:prstGeom>
          <a:solidFill xmlns:a="http://schemas.openxmlformats.org/drawingml/2006/main">
            <a:srgbClr val="1C2733"/>
          </a:solidFill>
          <a:ln xmlns:a="http://schemas.openxmlformats.org/drawingml/2006/main" w="0">
            <a:noFill/>
          </a:ln>
        </p:spPr>
      </p:sp>
      <p:sp>
        <p:nvSpPr>
          <p:cNvPr id="45" name="">
            <a:extLst xmlns:a="http://schemas.openxmlformats.org/drawingml/2006/main">
              <a:ext uri="{FF2B5EF4-FFF2-40B4-BE49-F238E27FC236}">
                <a16:creationId xmlns:a16="http://schemas.microsoft.com/office/drawing/2014/main" id="{B8CF285F-FD70-4B68-8DF9-2AC65E10E509}"/>
              </a:ext>
            </a:extLst>
          </p:cNvPr>
          <p:cNvSpPr>
            <a:spLocks xmlns:a="http://schemas.openxmlformats.org/drawingml/2006/main" noGrp="1"/>
          </p:cNvSpPr>
          <p:nvPr/>
        </p:nvSpPr>
        <p:spPr>
          <a:xfrm xmlns:a="http://schemas.openxmlformats.org/drawingml/2006/main">
            <a:off x="857250" y="5248275"/>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E5B249"/>
                </a:solidFill>
                <a:latin typeface="Helvetica Neue"/>
                <a:ea typeface="Helvetica Neue"/>
                <a:cs typeface="Helvetica Neue"/>
              </a:defRPr>
            </a:pPr>
            <a:r>
              <a:rPr sz="975" b="1">
                <a:solidFill>
                  <a:srgbClr val="E5B249"/>
                </a:solidFill>
                <a:latin typeface="Helvetica Neue"/>
                <a:ea typeface="Helvetica Neue"/>
                <a:cs typeface="Helvetica Neue"/>
              </a:rPr>
              <a:t>Interpretation</a:t>
            </a:r>
          </a:p>
        </p:txBody>
      </p:sp>
      <p:sp>
        <p:nvSpPr>
          <p:cNvPr id="46" name="">
            <a:extLst xmlns:a="http://schemas.openxmlformats.org/drawingml/2006/main">
              <a:ext uri="{FF2B5EF4-FFF2-40B4-BE49-F238E27FC236}">
                <a16:creationId xmlns:a16="http://schemas.microsoft.com/office/drawing/2014/main" id="{D6D9734E-C377-48F7-B6B9-33AA6DFBE386}"/>
              </a:ext>
            </a:extLst>
          </p:cNvPr>
          <p:cNvSpPr>
            <a:spLocks xmlns:a="http://schemas.openxmlformats.org/drawingml/2006/main" noGrp="1"/>
          </p:cNvSpPr>
          <p:nvPr/>
        </p:nvSpPr>
        <p:spPr>
          <a:xfrm xmlns:a="http://schemas.openxmlformats.org/drawingml/2006/main">
            <a:off x="857250" y="5514975"/>
            <a:ext cx="647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79252"/>
          </a:bodyPr>
          <a:lstStyle xmlns:a="http://schemas.openxmlformats.org/drawingml/2006/main"/>
          <a:p xmlns:a="http://schemas.openxmlformats.org/drawingml/2006/main">
            <a:pPr algn="l">
              <a:defRPr sz="1800" b="1">
                <a:solidFill>
                  <a:srgbClr val="FFFFFF"/>
                </a:solidFill>
                <a:latin typeface="Helvetica Neue"/>
                <a:ea typeface="Helvetica Neue"/>
                <a:cs typeface="Helvetica Neue"/>
              </a:defRPr>
            </a:pPr>
            <a:r>
              <a:rPr sz="1800" b="1">
                <a:solidFill>
                  <a:srgbClr val="FFFFFF"/>
                </a:solidFill>
                <a:latin typeface="Helvetica Neue"/>
                <a:ea typeface="Helvetica Neue"/>
                <a:cs typeface="Helvetica Neue"/>
              </a:rPr>
              <a:t>Semantic retrieval survives across frames; precise action binding does not.</a:t>
            </a:r>
          </a:p>
        </p:txBody>
      </p:sp>
      <p:sp>
        <p:nvSpPr>
          <p:cNvPr id="47" name="">
            <a:extLst xmlns:a="http://schemas.openxmlformats.org/drawingml/2006/main">
              <a:ext uri="{FF2B5EF4-FFF2-40B4-BE49-F238E27FC236}">
                <a16:creationId xmlns:a16="http://schemas.microsoft.com/office/drawing/2014/main" id="{78AD8958-2C85-48AE-9F8D-FCA49874DD7B}"/>
              </a:ext>
            </a:extLst>
          </p:cNvPr>
          <p:cNvSpPr>
            <a:spLocks xmlns:a="http://schemas.openxmlformats.org/drawingml/2006/main" noGrp="1"/>
          </p:cNvSpPr>
          <p:nvPr/>
        </p:nvSpPr>
        <p:spPr>
          <a:xfrm xmlns:a="http://schemas.openxmlformats.org/drawingml/2006/main">
            <a:off x="7620000" y="5276850"/>
            <a:ext cx="35623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C4CED7"/>
                </a:solidFill>
                <a:latin typeface="Helvetica Neue"/>
                <a:ea typeface="Helvetica Neue"/>
                <a:cs typeface="Helvetica Neue"/>
              </a:defRPr>
            </a:pPr>
            <a:r>
              <a:rPr sz="1125" b="0">
                <a:solidFill>
                  <a:srgbClr val="C4CED7"/>
                </a:solidFill>
                <a:latin typeface="Helvetica Neue"/>
                <a:ea typeface="Helvetica Neue"/>
                <a:cs typeface="Helvetica Neue"/>
              </a:rPr>
              <a:t>Peak remains outside the button. Attention is diagnostic evidence, not a causal explanation of the miss.</a:t>
            </a:r>
          </a:p>
        </p:txBody>
      </p:sp>
      <p:sp>
        <p:nvSpPr>
          <p:cNvPr id="48" name="">
            <a:extLst xmlns:a="http://schemas.openxmlformats.org/drawingml/2006/main">
              <a:ext uri="{FF2B5EF4-FFF2-40B4-BE49-F238E27FC236}">
                <a16:creationId xmlns:a16="http://schemas.microsoft.com/office/drawing/2014/main" id="{DCD86FD5-FE8C-4478-A27E-7E7CE46F9295}"/>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85D87681-C362-408C-BE32-CD3C87B926E6}"/>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3 included controls · 1 excluded without a y span · LOO cosine 0.898 mean / 0.769 minimum</a:t>
            </a:r>
          </a:p>
        </p:txBody>
      </p:sp>
    </p:spTree>
    <p:extLst>
      <p:ext uri="{BB962C8B-B14F-4D97-AF65-F5344CB8AC3E}">
        <p14:creationId xmlns:p14="http://schemas.microsoft.com/office/powerpoint/2010/main" val="460165848"/>
      </p:ext>
    </p:extLst>
  </p:cSld>
</p:sld>
</file>

<file path=ppt/slides/slide7.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6CDAA153-869C-464A-89B9-4A95C59EE1BE}"/>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LAYER LENS</a:t>
            </a:r>
          </a:p>
        </p:txBody>
      </p:sp>
      <p:sp>
        <p:nvSpPr>
          <p:cNvPr id="2" name="">
            <a:extLst xmlns:a="http://schemas.openxmlformats.org/drawingml/2006/main">
              <a:ext uri="{FF2B5EF4-FFF2-40B4-BE49-F238E27FC236}">
                <a16:creationId xmlns:a16="http://schemas.microsoft.com/office/drawing/2014/main" id="{2B82327B-D2D8-48CB-A9BF-6FE9A345160E}"/>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Mid-late routing is a candidate feature—not a result yet</a:t>
            </a:r>
          </a:p>
        </p:txBody>
      </p:sp>
      <p:sp>
        <p:nvSpPr>
          <p:cNvPr id="3" name="">
            <a:extLst xmlns:a="http://schemas.openxmlformats.org/drawingml/2006/main">
              <a:ext uri="{FF2B5EF4-FFF2-40B4-BE49-F238E27FC236}">
                <a16:creationId xmlns:a16="http://schemas.microsoft.com/office/drawing/2014/main" id="{98E10EC8-6842-4BF3-8D73-DB02DAFAB486}"/>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07</a:t>
            </a:r>
          </a:p>
        </p:txBody>
      </p:sp>
      <p:graphicFrame>
        <p:nvGraphicFramePr>
          <p:cNvPr id="27" name="Chart"/>
          <p:cNvGraphicFramePr/>
          <p:nvPr/>
        </p:nvGraphicFramePr>
        <p:xfrm>
          <a:off xmlns:a="http://schemas.openxmlformats.org/drawingml/2006/main" x="609600" y="1466850"/>
          <a:ext xmlns:a="http://schemas.openxmlformats.org/drawingml/2006/main" cx="6896100" cy="4171950"/>
        </p:xfrm>
        <a:graphic xmlns:a="http://schemas.openxmlformats.org/drawingml/2006/main">
          <a:graphicData uri="http://schemas.openxmlformats.org/drawingml/2006/chart">
            <c:chart xmlns:r="http://schemas.openxmlformats.org/officeDocument/2006/relationships" xmlns:c="http://schemas.openxmlformats.org/drawingml/2006/chart" r:id="R256a6eac1da84411"/>
          </a:graphicData>
        </a:graphic>
      </p:graphicFrame>
      <p:sp>
        <p:nvSpPr>
          <p:cNvPr id="5" name="">
            <a:extLst xmlns:a="http://schemas.openxmlformats.org/drawingml/2006/main">
              <a:ext uri="{FF2B5EF4-FFF2-40B4-BE49-F238E27FC236}">
                <a16:creationId xmlns:a16="http://schemas.microsoft.com/office/drawing/2014/main" id="{C7CD8E05-5BF1-465D-B666-1D0E826CCFDD}"/>
              </a:ext>
            </a:extLst>
          </p:cNvPr>
          <p:cNvSpPr>
            <a:spLocks xmlns:a="http://schemas.openxmlformats.org/drawingml/2006/main" noGrp="1"/>
          </p:cNvSpPr>
          <p:nvPr/>
        </p:nvSpPr>
        <p:spPr>
          <a:xfrm xmlns:a="http://schemas.openxmlformats.org/drawingml/2006/main">
            <a:off x="7810500" y="1466850"/>
            <a:ext cx="3771900" cy="4171950"/>
          </a:xfrm>
          <a:prstGeom xmlns:a="http://schemas.openxmlformats.org/drawingml/2006/main" prst="roundRect">
            <a:avLst>
              <a:gd name="adj" fmla="val 2020"/>
            </a:avLst>
          </a:prstGeom>
          <a:solidFill xmlns:a="http://schemas.openxmlformats.org/drawingml/2006/main">
            <a:srgbClr val="1C273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A3709769-D928-4849-B5D3-67D5613B8F05}"/>
              </a:ext>
            </a:extLst>
          </p:cNvPr>
          <p:cNvSpPr>
            <a:spLocks xmlns:a="http://schemas.openxmlformats.org/drawingml/2006/main" noGrp="1"/>
          </p:cNvSpPr>
          <p:nvPr/>
        </p:nvSpPr>
        <p:spPr>
          <a:xfrm xmlns:a="http://schemas.openxmlformats.org/drawingml/2006/main">
            <a:off x="8096250" y="1733550"/>
            <a:ext cx="102870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62995DEF-A48C-4A87-8326-6EFD47B50B0E}"/>
              </a:ext>
            </a:extLst>
          </p:cNvPr>
          <p:cNvSpPr>
            <a:spLocks xmlns:a="http://schemas.openxmlformats.org/drawingml/2006/main" noGrp="1"/>
          </p:cNvSpPr>
          <p:nvPr/>
        </p:nvSpPr>
        <p:spPr>
          <a:xfrm xmlns:a="http://schemas.openxmlformats.org/drawingml/2006/main">
            <a:off x="8191500" y="1752600"/>
            <a:ext cx="838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LAYER 19</a:t>
            </a:r>
          </a:p>
        </p:txBody>
      </p:sp>
      <p:sp>
        <p:nvSpPr>
          <p:cNvPr id="8" name="">
            <a:extLst xmlns:a="http://schemas.openxmlformats.org/drawingml/2006/main">
              <a:ext uri="{FF2B5EF4-FFF2-40B4-BE49-F238E27FC236}">
                <a16:creationId xmlns:a16="http://schemas.microsoft.com/office/drawing/2014/main" id="{5BDD01BD-726A-40BA-BBAA-29ABEB20C890}"/>
              </a:ext>
            </a:extLst>
          </p:cNvPr>
          <p:cNvSpPr>
            <a:spLocks xmlns:a="http://schemas.openxmlformats.org/drawingml/2006/main" noGrp="1"/>
          </p:cNvSpPr>
          <p:nvPr/>
        </p:nvSpPr>
        <p:spPr>
          <a:xfrm xmlns:a="http://schemas.openxmlformats.org/drawingml/2006/main">
            <a:off x="8096250" y="2209800"/>
            <a:ext cx="1409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9537"/>
          </a:bodyPr>
          <a:lstStyle xmlns:a="http://schemas.openxmlformats.org/drawingml/2006/main"/>
          <a:p xmlns:a="http://schemas.openxmlformats.org/drawingml/2006/main">
            <a:pPr algn="l">
              <a:defRPr sz="2700" b="1">
                <a:solidFill>
                  <a:srgbClr val="FFFFFF"/>
                </a:solidFill>
                <a:latin typeface="Helvetica Neue"/>
                <a:ea typeface="Helvetica Neue"/>
                <a:cs typeface="Helvetica Neue"/>
              </a:defRPr>
            </a:pPr>
            <a:r>
              <a:rPr sz="2700" b="1">
                <a:solidFill>
                  <a:srgbClr val="FFFFFF"/>
                </a:solidFill>
                <a:latin typeface="Helvetica Neue"/>
                <a:ea typeface="Helvetica Neue"/>
                <a:cs typeface="Helvetica Neue"/>
              </a:rPr>
              <a:t>38.99×</a:t>
            </a:r>
          </a:p>
        </p:txBody>
      </p:sp>
      <p:sp>
        <p:nvSpPr>
          <p:cNvPr id="9" name="">
            <a:extLst xmlns:a="http://schemas.openxmlformats.org/drawingml/2006/main">
              <a:ext uri="{FF2B5EF4-FFF2-40B4-BE49-F238E27FC236}">
                <a16:creationId xmlns:a16="http://schemas.microsoft.com/office/drawing/2014/main" id="{20EC74A4-262F-46B5-A091-3D7617BDBF34}"/>
              </a:ext>
            </a:extLst>
          </p:cNvPr>
          <p:cNvSpPr>
            <a:spLocks xmlns:a="http://schemas.openxmlformats.org/drawingml/2006/main" noGrp="1"/>
          </p:cNvSpPr>
          <p:nvPr/>
        </p:nvSpPr>
        <p:spPr>
          <a:xfrm xmlns:a="http://schemas.openxmlformats.org/drawingml/2006/main">
            <a:off x="9525000" y="2333625"/>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F2BDAF"/>
                </a:solidFill>
                <a:latin typeface="Helvetica Neue"/>
                <a:ea typeface="Helvetica Neue"/>
                <a:cs typeface="Helvetica Neue"/>
              </a:defRPr>
            </a:pPr>
            <a:r>
              <a:rPr sz="1125" b="0">
                <a:solidFill>
                  <a:srgbClr val="F2BDAF"/>
                </a:solidFill>
                <a:latin typeface="Helvetica Neue"/>
                <a:ea typeface="Helvetica Neue"/>
                <a:cs typeface="Helvetica Neue"/>
              </a:rPr>
              <a:t>static hit</a:t>
            </a:r>
          </a:p>
        </p:txBody>
      </p:sp>
      <p:sp>
        <p:nvSpPr>
          <p:cNvPr id="10" name="">
            <a:extLst xmlns:a="http://schemas.openxmlformats.org/drawingml/2006/main">
              <a:ext uri="{FF2B5EF4-FFF2-40B4-BE49-F238E27FC236}">
                <a16:creationId xmlns:a16="http://schemas.microsoft.com/office/drawing/2014/main" id="{1E5763F0-87DB-4344-8395-A39565638FFE}"/>
              </a:ext>
            </a:extLst>
          </p:cNvPr>
          <p:cNvSpPr>
            <a:spLocks xmlns:a="http://schemas.openxmlformats.org/drawingml/2006/main" noGrp="1"/>
          </p:cNvSpPr>
          <p:nvPr/>
        </p:nvSpPr>
        <p:spPr>
          <a:xfrm xmlns:a="http://schemas.openxmlformats.org/drawingml/2006/main">
            <a:off x="8096250" y="2781300"/>
            <a:ext cx="1409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a:solidFill>
                  <a:srgbClr val="FFFFFF"/>
                </a:solidFill>
                <a:latin typeface="Helvetica Neue"/>
                <a:ea typeface="Helvetica Neue"/>
                <a:cs typeface="Helvetica Neue"/>
              </a:defRPr>
            </a:pPr>
            <a:r>
              <a:rPr sz="2025" b="1">
                <a:solidFill>
                  <a:srgbClr val="FFFFFF"/>
                </a:solidFill>
                <a:latin typeface="Helvetica Neue"/>
                <a:ea typeface="Helvetica Neue"/>
                <a:cs typeface="Helvetica Neue"/>
              </a:rPr>
              <a:t>10.47×</a:t>
            </a:r>
          </a:p>
        </p:txBody>
      </p:sp>
      <p:sp>
        <p:nvSpPr>
          <p:cNvPr id="11" name="">
            <a:extLst xmlns:a="http://schemas.openxmlformats.org/drawingml/2006/main">
              <a:ext uri="{FF2B5EF4-FFF2-40B4-BE49-F238E27FC236}">
                <a16:creationId xmlns:a16="http://schemas.microsoft.com/office/drawing/2014/main" id="{CDF1EF9C-8936-40C1-9242-85831492CF15}"/>
              </a:ext>
            </a:extLst>
          </p:cNvPr>
          <p:cNvSpPr>
            <a:spLocks xmlns:a="http://schemas.openxmlformats.org/drawingml/2006/main" noGrp="1"/>
          </p:cNvSpPr>
          <p:nvPr/>
        </p:nvSpPr>
        <p:spPr>
          <a:xfrm xmlns:a="http://schemas.openxmlformats.org/drawingml/2006/main">
            <a:off x="9525000" y="2867025"/>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8DDBC1"/>
                </a:solidFill>
                <a:latin typeface="Helvetica Neue"/>
                <a:ea typeface="Helvetica Neue"/>
                <a:cs typeface="Helvetica Neue"/>
              </a:defRPr>
            </a:pPr>
            <a:r>
              <a:rPr sz="1125" b="0">
                <a:solidFill>
                  <a:srgbClr val="8DDBC1"/>
                </a:solidFill>
                <a:latin typeface="Helvetica Neue"/>
                <a:ea typeface="Helvetica Neue"/>
                <a:cs typeface="Helvetica Neue"/>
              </a:rPr>
              <a:t>hotel miss</a:t>
            </a:r>
          </a:p>
        </p:txBody>
      </p:sp>
      <p:sp>
        <p:nvSpPr>
          <p:cNvPr id="12" name="">
            <a:extLst xmlns:a="http://schemas.openxmlformats.org/drawingml/2006/main">
              <a:ext uri="{FF2B5EF4-FFF2-40B4-BE49-F238E27FC236}">
                <a16:creationId xmlns:a16="http://schemas.microsoft.com/office/drawing/2014/main" id="{08929892-35C2-4749-A320-8048B2FCB937}"/>
              </a:ext>
            </a:extLst>
          </p:cNvPr>
          <p:cNvSpPr>
            <a:spLocks xmlns:a="http://schemas.openxmlformats.org/drawingml/2006/main" noGrp="1"/>
          </p:cNvSpPr>
          <p:nvPr/>
        </p:nvSpPr>
        <p:spPr>
          <a:xfrm xmlns:a="http://schemas.openxmlformats.org/drawingml/2006/main">
            <a:off x="8096250" y="3238500"/>
            <a:ext cx="1409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a:solidFill>
                  <a:srgbClr val="FFFFFF"/>
                </a:solidFill>
                <a:latin typeface="Helvetica Neue"/>
                <a:ea typeface="Helvetica Neue"/>
                <a:cs typeface="Helvetica Neue"/>
              </a:defRPr>
            </a:pPr>
            <a:r>
              <a:rPr sz="2025" b="1">
                <a:solidFill>
                  <a:srgbClr val="FFFFFF"/>
                </a:solidFill>
                <a:latin typeface="Helvetica Neue"/>
                <a:ea typeface="Helvetica Neue"/>
                <a:cs typeface="Helvetica Neue"/>
              </a:rPr>
              <a:t>2.88×</a:t>
            </a:r>
          </a:p>
        </p:txBody>
      </p:sp>
      <p:sp>
        <p:nvSpPr>
          <p:cNvPr id="13" name="">
            <a:extLst xmlns:a="http://schemas.openxmlformats.org/drawingml/2006/main">
              <a:ext uri="{FF2B5EF4-FFF2-40B4-BE49-F238E27FC236}">
                <a16:creationId xmlns:a16="http://schemas.microsoft.com/office/drawing/2014/main" id="{72E0CE3C-DA5A-4E27-95D7-CB9122616880}"/>
              </a:ext>
            </a:extLst>
          </p:cNvPr>
          <p:cNvSpPr>
            <a:spLocks xmlns:a="http://schemas.openxmlformats.org/drawingml/2006/main" noGrp="1"/>
          </p:cNvSpPr>
          <p:nvPr/>
        </p:nvSpPr>
        <p:spPr>
          <a:xfrm xmlns:a="http://schemas.openxmlformats.org/drawingml/2006/main">
            <a:off x="9525000" y="3324225"/>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9FC8F0"/>
                </a:solidFill>
                <a:latin typeface="Helvetica Neue"/>
                <a:ea typeface="Helvetica Neue"/>
                <a:cs typeface="Helvetica Neue"/>
              </a:defRPr>
            </a:pPr>
            <a:r>
              <a:rPr sz="1125" b="0">
                <a:solidFill>
                  <a:srgbClr val="9FC8F0"/>
                </a:solidFill>
                <a:latin typeface="Helvetica Neue"/>
                <a:ea typeface="Helvetica Neue"/>
                <a:cs typeface="Helvetica Neue"/>
              </a:rPr>
              <a:t>static miss</a:t>
            </a:r>
          </a:p>
        </p:txBody>
      </p:sp>
      <p:sp>
        <p:nvSpPr>
          <p:cNvPr id="14" name="">
            <a:extLst xmlns:a="http://schemas.openxmlformats.org/drawingml/2006/main">
              <a:ext uri="{FF2B5EF4-FFF2-40B4-BE49-F238E27FC236}">
                <a16:creationId xmlns:a16="http://schemas.microsoft.com/office/drawing/2014/main" id="{9C6FFFE4-743A-4810-8639-5DAD0C3CF142}"/>
              </a:ext>
            </a:extLst>
          </p:cNvPr>
          <p:cNvSpPr>
            <a:spLocks xmlns:a="http://schemas.openxmlformats.org/drawingml/2006/main" noGrp="1"/>
          </p:cNvSpPr>
          <p:nvPr/>
        </p:nvSpPr>
        <p:spPr>
          <a:xfrm xmlns:a="http://schemas.openxmlformats.org/drawingml/2006/main">
            <a:off x="8096250" y="3781425"/>
            <a:ext cx="3200400" cy="9525"/>
          </a:xfrm>
          <a:prstGeom xmlns:a="http://schemas.openxmlformats.org/drawingml/2006/main" prst="rect">
            <a:avLst/>
          </a:prstGeom>
          <a:solidFill xmlns:a="http://schemas.openxmlformats.org/drawingml/2006/main">
            <a:srgbClr val="465563"/>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F3CEA0B7-F786-458A-AACD-8298FEA9AB4F}"/>
              </a:ext>
            </a:extLst>
          </p:cNvPr>
          <p:cNvSpPr>
            <a:spLocks xmlns:a="http://schemas.openxmlformats.org/drawingml/2006/main" noGrp="1"/>
          </p:cNvSpPr>
          <p:nvPr/>
        </p:nvSpPr>
        <p:spPr>
          <a:xfrm xmlns:a="http://schemas.openxmlformats.org/drawingml/2006/main">
            <a:off x="8096250" y="3971925"/>
            <a:ext cx="2667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E5B249"/>
                </a:solidFill>
                <a:latin typeface="Helvetica Neue"/>
                <a:ea typeface="Helvetica Neue"/>
                <a:cs typeface="Helvetica Neue"/>
              </a:defRPr>
            </a:pPr>
            <a:r>
              <a:rPr sz="975" b="1">
                <a:solidFill>
                  <a:srgbClr val="E5B249"/>
                </a:solidFill>
                <a:latin typeface="Helvetica Neue"/>
                <a:ea typeface="Helvetica Neue"/>
                <a:cs typeface="Helvetica Neue"/>
              </a:rPr>
              <a:t>TRAJECTORY EVIDENCE AUDIT</a:t>
            </a:r>
          </a:p>
        </p:txBody>
      </p:sp>
      <p:sp>
        <p:nvSpPr>
          <p:cNvPr id="16" name="">
            <a:extLst xmlns:a="http://schemas.openxmlformats.org/drawingml/2006/main">
              <a:ext uri="{FF2B5EF4-FFF2-40B4-BE49-F238E27FC236}">
                <a16:creationId xmlns:a16="http://schemas.microsoft.com/office/drawing/2014/main" id="{5494E084-1A91-4C77-B39A-76B856C480A3}"/>
              </a:ext>
            </a:extLst>
          </p:cNvPr>
          <p:cNvSpPr>
            <a:spLocks xmlns:a="http://schemas.openxmlformats.org/drawingml/2006/main" noGrp="1"/>
          </p:cNvSpPr>
          <p:nvPr/>
        </p:nvSpPr>
        <p:spPr>
          <a:xfrm xmlns:a="http://schemas.openxmlformats.org/drawingml/2006/main">
            <a:off x="8096250" y="4276725"/>
            <a:ext cx="7048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00" b="1">
                <a:solidFill>
                  <a:srgbClr val="FFFFFF"/>
                </a:solidFill>
                <a:latin typeface="Helvetica Neue"/>
                <a:ea typeface="Helvetica Neue"/>
                <a:cs typeface="Helvetica Neue"/>
              </a:defRPr>
            </a:pPr>
            <a:r>
              <a:rPr sz="2100" b="1">
                <a:solidFill>
                  <a:srgbClr val="FFFFFF"/>
                </a:solidFill>
                <a:latin typeface="Helvetica Neue"/>
                <a:ea typeface="Helvetica Neue"/>
                <a:cs typeface="Helvetica Neue"/>
              </a:rPr>
              <a:t>39</a:t>
            </a:r>
          </a:p>
        </p:txBody>
      </p:sp>
      <p:sp>
        <p:nvSpPr>
          <p:cNvPr id="17" name="">
            <a:extLst xmlns:a="http://schemas.openxmlformats.org/drawingml/2006/main">
              <a:ext uri="{FF2B5EF4-FFF2-40B4-BE49-F238E27FC236}">
                <a16:creationId xmlns:a16="http://schemas.microsoft.com/office/drawing/2014/main" id="{FEE3F688-6C0D-434D-8A6C-A89BD0B063CE}"/>
              </a:ext>
            </a:extLst>
          </p:cNvPr>
          <p:cNvSpPr>
            <a:spLocks xmlns:a="http://schemas.openxmlformats.org/drawingml/2006/main" noGrp="1"/>
          </p:cNvSpPr>
          <p:nvPr/>
        </p:nvSpPr>
        <p:spPr>
          <a:xfrm xmlns:a="http://schemas.openxmlformats.org/drawingml/2006/main">
            <a:off x="8810625" y="4362450"/>
            <a:ext cx="1123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a:solidFill>
                  <a:srgbClr val="C4CED7"/>
                </a:solidFill>
                <a:latin typeface="Helvetica Neue"/>
                <a:ea typeface="Helvetica Neue"/>
                <a:cs typeface="Helvetica Neue"/>
              </a:defRPr>
            </a:pPr>
            <a:r>
              <a:rPr sz="975" b="0">
                <a:solidFill>
                  <a:srgbClr val="C4CED7"/>
                </a:solidFill>
                <a:latin typeface="Helvetica Neue"/>
                <a:ea typeface="Helvetica Neue"/>
                <a:cs typeface="Helvetica Neue"/>
              </a:rPr>
              <a:t>hotel outcomes</a:t>
            </a:r>
          </a:p>
        </p:txBody>
      </p:sp>
      <p:sp>
        <p:nvSpPr>
          <p:cNvPr id="18" name="">
            <a:extLst xmlns:a="http://schemas.openxmlformats.org/drawingml/2006/main">
              <a:ext uri="{FF2B5EF4-FFF2-40B4-BE49-F238E27FC236}">
                <a16:creationId xmlns:a16="http://schemas.microsoft.com/office/drawing/2014/main" id="{850F83C7-DBCB-4B43-81C2-B786E2303CEE}"/>
              </a:ext>
            </a:extLst>
          </p:cNvPr>
          <p:cNvSpPr>
            <a:spLocks xmlns:a="http://schemas.openxmlformats.org/drawingml/2006/main" noGrp="1"/>
          </p:cNvSpPr>
          <p:nvPr/>
        </p:nvSpPr>
        <p:spPr>
          <a:xfrm xmlns:a="http://schemas.openxmlformats.org/drawingml/2006/main">
            <a:off x="10029825" y="4276725"/>
            <a:ext cx="5524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00" b="1">
                <a:solidFill>
                  <a:srgbClr val="FFFFFF"/>
                </a:solidFill>
                <a:latin typeface="Helvetica Neue"/>
                <a:ea typeface="Helvetica Neue"/>
                <a:cs typeface="Helvetica Neue"/>
              </a:defRPr>
            </a:pPr>
            <a:r>
              <a:rPr sz="2100" b="1">
                <a:solidFill>
                  <a:srgbClr val="FFFFFF"/>
                </a:solidFill>
                <a:latin typeface="Helvetica Neue"/>
                <a:ea typeface="Helvetica Neue"/>
                <a:cs typeface="Helvetica Neue"/>
              </a:rPr>
              <a:t>20</a:t>
            </a:r>
          </a:p>
        </p:txBody>
      </p:sp>
      <p:sp>
        <p:nvSpPr>
          <p:cNvPr id="19" name="">
            <a:extLst xmlns:a="http://schemas.openxmlformats.org/drawingml/2006/main">
              <a:ext uri="{FF2B5EF4-FFF2-40B4-BE49-F238E27FC236}">
                <a16:creationId xmlns:a16="http://schemas.microsoft.com/office/drawing/2014/main" id="{9B4E80A9-166A-42C3-ADCE-432E01EB4B94}"/>
              </a:ext>
            </a:extLst>
          </p:cNvPr>
          <p:cNvSpPr>
            <a:spLocks xmlns:a="http://schemas.openxmlformats.org/drawingml/2006/main" noGrp="1"/>
          </p:cNvSpPr>
          <p:nvPr/>
        </p:nvSpPr>
        <p:spPr>
          <a:xfrm xmlns:a="http://schemas.openxmlformats.org/drawingml/2006/main">
            <a:off x="10572750" y="4362450"/>
            <a:ext cx="7239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a:solidFill>
                  <a:srgbClr val="C4CED7"/>
                </a:solidFill>
                <a:latin typeface="Helvetica Neue"/>
                <a:ea typeface="Helvetica Neue"/>
                <a:cs typeface="Helvetica Neue"/>
              </a:defRPr>
            </a:pPr>
            <a:r>
              <a:rPr sz="975" b="0">
                <a:solidFill>
                  <a:srgbClr val="C4CED7"/>
                </a:solidFill>
                <a:latin typeface="Helvetica Neue"/>
                <a:ea typeface="Helvetica Neue"/>
                <a:cs typeface="Helvetica Neue"/>
              </a:rPr>
              <a:t>successes</a:t>
            </a:r>
          </a:p>
        </p:txBody>
      </p:sp>
      <p:sp>
        <p:nvSpPr>
          <p:cNvPr id="20" name="">
            <a:extLst xmlns:a="http://schemas.openxmlformats.org/drawingml/2006/main">
              <a:ext uri="{FF2B5EF4-FFF2-40B4-BE49-F238E27FC236}">
                <a16:creationId xmlns:a16="http://schemas.microsoft.com/office/drawing/2014/main" id="{EC5A2F77-0409-4EB7-830F-9B5FB7BDD0BD}"/>
              </a:ext>
            </a:extLst>
          </p:cNvPr>
          <p:cNvSpPr>
            <a:spLocks xmlns:a="http://schemas.openxmlformats.org/drawingml/2006/main" noGrp="1"/>
          </p:cNvSpPr>
          <p:nvPr/>
        </p:nvSpPr>
        <p:spPr>
          <a:xfrm xmlns:a="http://schemas.openxmlformats.org/drawingml/2006/main">
            <a:off x="8096250" y="4733925"/>
            <a:ext cx="3200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F2BDAF"/>
                </a:solidFill>
                <a:latin typeface="Helvetica Neue"/>
                <a:ea typeface="Helvetica Neue"/>
                <a:cs typeface="Helvetica Neue"/>
              </a:defRPr>
            </a:pPr>
            <a:r>
              <a:rPr sz="1425" b="1">
                <a:solidFill>
                  <a:srgbClr val="F2BDAF"/>
                </a:solidFill>
                <a:latin typeface="Helvetica Neue"/>
                <a:ea typeface="Helvetica Neue"/>
                <a:cs typeface="Helvetica Neue"/>
              </a:rPr>
              <a:t>11 traced · 0 successful</a:t>
            </a:r>
          </a:p>
        </p:txBody>
      </p:sp>
      <p:sp>
        <p:nvSpPr>
          <p:cNvPr id="21" name="">
            <a:extLst xmlns:a="http://schemas.openxmlformats.org/drawingml/2006/main">
              <a:ext uri="{FF2B5EF4-FFF2-40B4-BE49-F238E27FC236}">
                <a16:creationId xmlns:a16="http://schemas.microsoft.com/office/drawing/2014/main" id="{02AC21C5-67FD-41EA-A572-220B230C1A1F}"/>
              </a:ext>
            </a:extLst>
          </p:cNvPr>
          <p:cNvSpPr>
            <a:spLocks xmlns:a="http://schemas.openxmlformats.org/drawingml/2006/main" noGrp="1"/>
          </p:cNvSpPr>
          <p:nvPr/>
        </p:nvSpPr>
        <p:spPr>
          <a:xfrm xmlns:a="http://schemas.openxmlformats.org/drawingml/2006/main">
            <a:off x="8096250" y="5067300"/>
            <a:ext cx="31051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a:solidFill>
                  <a:srgbClr val="C4CED7"/>
                </a:solidFill>
                <a:latin typeface="Helvetica Neue"/>
                <a:ea typeface="Helvetica Neue"/>
                <a:cs typeface="Helvetica Neue"/>
              </a:defRPr>
            </a:pPr>
            <a:r>
              <a:rPr sz="975" b="0">
                <a:solidFill>
                  <a:srgbClr val="C4CED7"/>
                </a:solidFill>
                <a:latin typeface="Helvetica Neue"/>
                <a:ea typeface="Helvetica Neue"/>
                <a:cs typeface="Helvetica Neue"/>
              </a:rPr>
              <a:t>No balanced activation set exists yet. Capture matched successes before fitting or claiming an outcome signal.</a:t>
            </a:r>
          </a:p>
        </p:txBody>
      </p:sp>
      <p:sp>
        <p:nvSpPr>
          <p:cNvPr id="22" name="">
            <a:extLst xmlns:a="http://schemas.openxmlformats.org/drawingml/2006/main">
              <a:ext uri="{FF2B5EF4-FFF2-40B4-BE49-F238E27FC236}">
                <a16:creationId xmlns:a16="http://schemas.microsoft.com/office/drawing/2014/main" id="{FD515F6A-9FC2-47EC-A63C-B36091343616}"/>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A2F051D3-4FD8-4760-A1E9-2F74D4593A5E}"/>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Plot: 3 prompt-baselined cases · inventory: 39 hotel trajectories, but successful runs have no activation traces</a:t>
            </a:r>
          </a:p>
        </p:txBody>
      </p:sp>
    </p:spTree>
    <p:extLst>
      <p:ext uri="{BB962C8B-B14F-4D97-AF65-F5344CB8AC3E}">
        <p14:creationId xmlns:p14="http://schemas.microsoft.com/office/powerpoint/2010/main" val="1703724098"/>
      </p:ext>
    </p:extLst>
  </p:cSld>
</p:sld>
</file>

<file path=ppt/slides/slide8.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D79042A5-CAB8-4FD4-A890-69F0B71ACE3A}"/>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RESEARCH DIRECTIONS</a:t>
            </a:r>
          </a:p>
        </p:txBody>
      </p:sp>
      <p:sp>
        <p:nvSpPr>
          <p:cNvPr id="2" name="">
            <a:extLst xmlns:a="http://schemas.openxmlformats.org/drawingml/2006/main">
              <a:ext uri="{FF2B5EF4-FFF2-40B4-BE49-F238E27FC236}">
                <a16:creationId xmlns:a16="http://schemas.microsoft.com/office/drawing/2014/main" id="{DFF6D043-8F60-4A32-A841-EE0417AB54B5}"/>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Turn a diagnostic into testable model improvements</a:t>
            </a:r>
          </a:p>
        </p:txBody>
      </p:sp>
      <p:sp>
        <p:nvSpPr>
          <p:cNvPr id="3" name="">
            <a:extLst xmlns:a="http://schemas.openxmlformats.org/drawingml/2006/main">
              <a:ext uri="{FF2B5EF4-FFF2-40B4-BE49-F238E27FC236}">
                <a16:creationId xmlns:a16="http://schemas.microsoft.com/office/drawing/2014/main" id="{99DE344B-2D8C-4EF2-85E2-BBF19E25582A}"/>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08</a:t>
            </a:r>
          </a:p>
        </p:txBody>
      </p:sp>
      <p:sp>
        <p:nvSpPr>
          <p:cNvPr id="4" name="">
            <a:extLst xmlns:a="http://schemas.openxmlformats.org/drawingml/2006/main">
              <a:ext uri="{FF2B5EF4-FFF2-40B4-BE49-F238E27FC236}">
                <a16:creationId xmlns:a16="http://schemas.microsoft.com/office/drawing/2014/main" id="{C30258E4-D05C-4B65-87AB-A8BC04144DB8}"/>
              </a:ext>
            </a:extLst>
          </p:cNvPr>
          <p:cNvSpPr>
            <a:spLocks xmlns:a="http://schemas.openxmlformats.org/drawingml/2006/main" noGrp="1"/>
          </p:cNvSpPr>
          <p:nvPr/>
        </p:nvSpPr>
        <p:spPr>
          <a:xfrm xmlns:a="http://schemas.openxmlformats.org/drawingml/2006/main">
            <a:off x="609600" y="1409700"/>
            <a:ext cx="5391150" cy="1676400"/>
          </a:xfrm>
          <a:prstGeom xmlns:a="http://schemas.openxmlformats.org/drawingml/2006/main" prst="roundRect">
            <a:avLst>
              <a:gd name="adj" fmla="val 4545"/>
            </a:avLst>
          </a:prstGeom>
          <a:solidFill xmlns:a="http://schemas.openxmlformats.org/drawingml/2006/main">
            <a:srgbClr val="FFFFFF"/>
          </a:solidFill>
          <a:ln xmlns:a="http://schemas.openxmlformats.org/drawingml/2006/main" w="9525">
            <a:solidFill>
              <a:srgbClr val="D9D4C8"/>
            </a:solidFill>
          </a:ln>
        </p:spPr>
      </p:sp>
      <p:sp>
        <p:nvSpPr>
          <p:cNvPr id="5" name="">
            <a:extLst xmlns:a="http://schemas.openxmlformats.org/drawingml/2006/main">
              <a:ext uri="{FF2B5EF4-FFF2-40B4-BE49-F238E27FC236}">
                <a16:creationId xmlns:a16="http://schemas.microsoft.com/office/drawing/2014/main" id="{7B7784D8-C360-42F7-9C09-B46BF23C5EEB}"/>
              </a:ext>
            </a:extLst>
          </p:cNvPr>
          <p:cNvSpPr>
            <a:spLocks xmlns:a="http://schemas.openxmlformats.org/drawingml/2006/main" noGrp="1"/>
          </p:cNvSpPr>
          <p:nvPr/>
        </p:nvSpPr>
        <p:spPr>
          <a:xfrm xmlns:a="http://schemas.openxmlformats.org/drawingml/2006/main">
            <a:off x="819150" y="1619250"/>
            <a:ext cx="45720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61A55D2B-CB2A-4C30-97E1-E3D0CE21D35D}"/>
              </a:ext>
            </a:extLst>
          </p:cNvPr>
          <p:cNvSpPr>
            <a:spLocks xmlns:a="http://schemas.openxmlformats.org/drawingml/2006/main" noGrp="1"/>
          </p:cNvSpPr>
          <p:nvPr/>
        </p:nvSpPr>
        <p:spPr>
          <a:xfrm xmlns:a="http://schemas.openxmlformats.org/drawingml/2006/main">
            <a:off x="914400" y="1638300"/>
            <a:ext cx="266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01</a:t>
            </a:r>
          </a:p>
        </p:txBody>
      </p:sp>
      <p:sp>
        <p:nvSpPr>
          <p:cNvPr id="7" name="">
            <a:extLst xmlns:a="http://schemas.openxmlformats.org/drawingml/2006/main">
              <a:ext uri="{FF2B5EF4-FFF2-40B4-BE49-F238E27FC236}">
                <a16:creationId xmlns:a16="http://schemas.microsoft.com/office/drawing/2014/main" id="{B9B52B0B-067F-49B1-B182-226750650944}"/>
              </a:ext>
            </a:extLst>
          </p:cNvPr>
          <p:cNvSpPr>
            <a:spLocks xmlns:a="http://schemas.openxmlformats.org/drawingml/2006/main" noGrp="1"/>
          </p:cNvSpPr>
          <p:nvPr/>
        </p:nvSpPr>
        <p:spPr>
          <a:xfrm xmlns:a="http://schemas.openxmlformats.org/drawingml/2006/main">
            <a:off x="1447800" y="1619250"/>
            <a:ext cx="4248150" cy="295275"/>
          </a:xfrm>
          <a:prstGeom xmlns:a="http://schemas.openxmlformats.org/drawingml/2006/main" prst="roundRect">
            <a:avLst>
              <a:gd name="adj" fmla="val 25806"/>
            </a:avLst>
          </a:prstGeom>
          <a:solidFill xmlns:a="http://schemas.openxmlformats.org/drawingml/2006/main">
            <a:srgbClr val="FCE2D9"/>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9E3F094C-8085-4716-B0FB-A2652AC967AF}"/>
              </a:ext>
            </a:extLst>
          </p:cNvPr>
          <p:cNvSpPr>
            <a:spLocks xmlns:a="http://schemas.openxmlformats.org/drawingml/2006/main" noGrp="1"/>
          </p:cNvSpPr>
          <p:nvPr/>
        </p:nvSpPr>
        <p:spPr>
          <a:xfrm xmlns:a="http://schemas.openxmlformats.org/drawingml/2006/main">
            <a:off x="1581150" y="1676400"/>
            <a:ext cx="3981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F05A3C"/>
                </a:solidFill>
                <a:latin typeface="Helvetica Neue"/>
                <a:ea typeface="Helvetica Neue"/>
                <a:cs typeface="Helvetica Neue"/>
              </a:defRPr>
            </a:pPr>
            <a:r>
              <a:rPr sz="975" b="1">
                <a:solidFill>
                  <a:srgbClr val="F05A3C"/>
                </a:solidFill>
                <a:latin typeface="Helvetica Neue"/>
                <a:ea typeface="Helvetica Neue"/>
                <a:cs typeface="Helvetica Neue"/>
              </a:rPr>
              <a:t>CALIBRATED DECISION HEADS</a:t>
            </a:r>
          </a:p>
        </p:txBody>
      </p:sp>
      <p:sp>
        <p:nvSpPr>
          <p:cNvPr id="9" name="">
            <a:extLst xmlns:a="http://schemas.openxmlformats.org/drawingml/2006/main">
              <a:ext uri="{FF2B5EF4-FFF2-40B4-BE49-F238E27FC236}">
                <a16:creationId xmlns:a16="http://schemas.microsoft.com/office/drawing/2014/main" id="{36515CAF-0773-4AC4-881B-A1E52DD96BB1}"/>
              </a:ext>
            </a:extLst>
          </p:cNvPr>
          <p:cNvSpPr>
            <a:spLocks xmlns:a="http://schemas.openxmlformats.org/drawingml/2006/main" noGrp="1"/>
          </p:cNvSpPr>
          <p:nvPr/>
        </p:nvSpPr>
        <p:spPr>
          <a:xfrm xmlns:a="http://schemas.openxmlformats.org/drawingml/2006/main">
            <a:off x="857250" y="2133600"/>
            <a:ext cx="4876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10151C"/>
                </a:solidFill>
                <a:latin typeface="Helvetica Neue"/>
                <a:ea typeface="Helvetica Neue"/>
                <a:cs typeface="Helvetica Neue"/>
              </a:defRPr>
            </a:pPr>
            <a:r>
              <a:rPr sz="1200" b="0">
                <a:solidFill>
                  <a:srgbClr val="10151C"/>
                </a:solidFill>
                <a:latin typeface="Helvetica Neue"/>
                <a:ea typeface="Helvetica Neue"/>
                <a:cs typeface="Helvetica Neue"/>
              </a:rPr>
              <a:t>Predict action success, ambiguity, and safety-refusal risk. Train with proper scoring rules; trigger clarification or abstention by calibrated thresholds.</a:t>
            </a:r>
          </a:p>
        </p:txBody>
      </p:sp>
      <p:sp>
        <p:nvSpPr>
          <p:cNvPr id="10" name="">
            <a:extLst xmlns:a="http://schemas.openxmlformats.org/drawingml/2006/main">
              <a:ext uri="{FF2B5EF4-FFF2-40B4-BE49-F238E27FC236}">
                <a16:creationId xmlns:a16="http://schemas.microsoft.com/office/drawing/2014/main" id="{A5B74E2E-1705-4028-B4E2-2D984E576C09}"/>
              </a:ext>
            </a:extLst>
          </p:cNvPr>
          <p:cNvSpPr>
            <a:spLocks xmlns:a="http://schemas.openxmlformats.org/drawingml/2006/main" noGrp="1"/>
          </p:cNvSpPr>
          <p:nvPr/>
        </p:nvSpPr>
        <p:spPr>
          <a:xfrm xmlns:a="http://schemas.openxmlformats.org/drawingml/2006/main">
            <a:off x="6191250" y="1409700"/>
            <a:ext cx="5391150" cy="1676400"/>
          </a:xfrm>
          <a:prstGeom xmlns:a="http://schemas.openxmlformats.org/drawingml/2006/main" prst="roundRect">
            <a:avLst>
              <a:gd name="adj" fmla="val 4545"/>
            </a:avLst>
          </a:prstGeom>
          <a:solidFill xmlns:a="http://schemas.openxmlformats.org/drawingml/2006/main">
            <a:srgbClr val="FFFFFF"/>
          </a:solidFill>
          <a:ln xmlns:a="http://schemas.openxmlformats.org/drawingml/2006/main" w="9525">
            <a:solidFill>
              <a:srgbClr val="D9D4C8"/>
            </a:solidFill>
          </a:ln>
        </p:spPr>
      </p:sp>
      <p:sp>
        <p:nvSpPr>
          <p:cNvPr id="11" name="">
            <a:extLst xmlns:a="http://schemas.openxmlformats.org/drawingml/2006/main">
              <a:ext uri="{FF2B5EF4-FFF2-40B4-BE49-F238E27FC236}">
                <a16:creationId xmlns:a16="http://schemas.microsoft.com/office/drawing/2014/main" id="{AD99B0A7-A9D6-43F5-A4D7-232B55FB563D}"/>
              </a:ext>
            </a:extLst>
          </p:cNvPr>
          <p:cNvSpPr>
            <a:spLocks xmlns:a="http://schemas.openxmlformats.org/drawingml/2006/main" noGrp="1"/>
          </p:cNvSpPr>
          <p:nvPr/>
        </p:nvSpPr>
        <p:spPr>
          <a:xfrm xmlns:a="http://schemas.openxmlformats.org/drawingml/2006/main">
            <a:off x="6400800" y="1619250"/>
            <a:ext cx="457200" cy="285750"/>
          </a:xfrm>
          <a:prstGeom xmlns:a="http://schemas.openxmlformats.org/drawingml/2006/main" prst="roundRect">
            <a:avLst>
              <a:gd name="adj" fmla="val 26667"/>
            </a:avLst>
          </a:prstGeom>
          <a:solidFill xmlns:a="http://schemas.openxmlformats.org/drawingml/2006/main">
            <a:srgbClr val="2D84D3"/>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9C984AD0-DD6A-4B2B-BDDB-49B707E690F2}"/>
              </a:ext>
            </a:extLst>
          </p:cNvPr>
          <p:cNvSpPr>
            <a:spLocks xmlns:a="http://schemas.openxmlformats.org/drawingml/2006/main" noGrp="1"/>
          </p:cNvSpPr>
          <p:nvPr/>
        </p:nvSpPr>
        <p:spPr>
          <a:xfrm xmlns:a="http://schemas.openxmlformats.org/drawingml/2006/main">
            <a:off x="6496050" y="1638300"/>
            <a:ext cx="266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02</a:t>
            </a:r>
          </a:p>
        </p:txBody>
      </p:sp>
      <p:sp>
        <p:nvSpPr>
          <p:cNvPr id="13" name="">
            <a:extLst xmlns:a="http://schemas.openxmlformats.org/drawingml/2006/main">
              <a:ext uri="{FF2B5EF4-FFF2-40B4-BE49-F238E27FC236}">
                <a16:creationId xmlns:a16="http://schemas.microsoft.com/office/drawing/2014/main" id="{1D82878C-DBF0-497B-936B-826D1A18C294}"/>
              </a:ext>
            </a:extLst>
          </p:cNvPr>
          <p:cNvSpPr>
            <a:spLocks xmlns:a="http://schemas.openxmlformats.org/drawingml/2006/main" noGrp="1"/>
          </p:cNvSpPr>
          <p:nvPr/>
        </p:nvSpPr>
        <p:spPr>
          <a:xfrm xmlns:a="http://schemas.openxmlformats.org/drawingml/2006/main">
            <a:off x="7029450" y="1619250"/>
            <a:ext cx="4248150" cy="295275"/>
          </a:xfrm>
          <a:prstGeom xmlns:a="http://schemas.openxmlformats.org/drawingml/2006/main" prst="roundRect">
            <a:avLst>
              <a:gd name="adj" fmla="val 25806"/>
            </a:avLst>
          </a:prstGeom>
          <a:solidFill xmlns:a="http://schemas.openxmlformats.org/drawingml/2006/main">
            <a:srgbClr val="DDECF9"/>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F385A1AB-9939-4564-9810-0660F0E4FFEC}"/>
              </a:ext>
            </a:extLst>
          </p:cNvPr>
          <p:cNvSpPr>
            <a:spLocks xmlns:a="http://schemas.openxmlformats.org/drawingml/2006/main" noGrp="1"/>
          </p:cNvSpPr>
          <p:nvPr/>
        </p:nvSpPr>
        <p:spPr>
          <a:xfrm xmlns:a="http://schemas.openxmlformats.org/drawingml/2006/main">
            <a:off x="7162800" y="1676400"/>
            <a:ext cx="3981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2D84D3"/>
                </a:solidFill>
                <a:latin typeface="Helvetica Neue"/>
                <a:ea typeface="Helvetica Neue"/>
                <a:cs typeface="Helvetica Neue"/>
              </a:defRPr>
            </a:pPr>
            <a:r>
              <a:rPr sz="975" b="1">
                <a:solidFill>
                  <a:srgbClr val="2D84D3"/>
                </a:solidFill>
                <a:latin typeface="Helvetica Neue"/>
                <a:ea typeface="Helvetica Neue"/>
                <a:cs typeface="Helvetica Neue"/>
              </a:rPr>
              <a:t>CAUSAL VALIDATION</a:t>
            </a:r>
          </a:p>
        </p:txBody>
      </p:sp>
      <p:sp>
        <p:nvSpPr>
          <p:cNvPr id="15" name="">
            <a:extLst xmlns:a="http://schemas.openxmlformats.org/drawingml/2006/main">
              <a:ext uri="{FF2B5EF4-FFF2-40B4-BE49-F238E27FC236}">
                <a16:creationId xmlns:a16="http://schemas.microsoft.com/office/drawing/2014/main" id="{AE53DAFA-40C5-42EC-9916-DC7AD15A6AEB}"/>
              </a:ext>
            </a:extLst>
          </p:cNvPr>
          <p:cNvSpPr>
            <a:spLocks xmlns:a="http://schemas.openxmlformats.org/drawingml/2006/main" noGrp="1"/>
          </p:cNvSpPr>
          <p:nvPr/>
        </p:nvSpPr>
        <p:spPr>
          <a:xfrm xmlns:a="http://schemas.openxmlformats.org/drawingml/2006/main">
            <a:off x="6438900" y="2133600"/>
            <a:ext cx="4876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10151C"/>
                </a:solidFill>
                <a:latin typeface="Helvetica Neue"/>
                <a:ea typeface="Helvetica Neue"/>
                <a:cs typeface="Helvetica Neue"/>
              </a:defRPr>
            </a:pPr>
            <a:r>
              <a:rPr sz="1200" b="0">
                <a:solidFill>
                  <a:srgbClr val="10151C"/>
                </a:solidFill>
                <a:latin typeface="Helvetica Neue"/>
                <a:ea typeface="Helvetica Neue"/>
                <a:cs typeface="Helvetica Neue"/>
              </a:rPr>
              <a:t>Mask, patch-swap, ablate, or activation-patch the highlighted regions. Ask whether changing the routed evidence changes the action.</a:t>
            </a:r>
          </a:p>
        </p:txBody>
      </p:sp>
      <p:sp>
        <p:nvSpPr>
          <p:cNvPr id="16" name="">
            <a:extLst xmlns:a="http://schemas.openxmlformats.org/drawingml/2006/main">
              <a:ext uri="{FF2B5EF4-FFF2-40B4-BE49-F238E27FC236}">
                <a16:creationId xmlns:a16="http://schemas.microsoft.com/office/drawing/2014/main" id="{257384B4-0BA1-4EBE-97A2-57F1C30B4EDD}"/>
              </a:ext>
            </a:extLst>
          </p:cNvPr>
          <p:cNvSpPr>
            <a:spLocks xmlns:a="http://schemas.openxmlformats.org/drawingml/2006/main" noGrp="1"/>
          </p:cNvSpPr>
          <p:nvPr/>
        </p:nvSpPr>
        <p:spPr>
          <a:xfrm xmlns:a="http://schemas.openxmlformats.org/drawingml/2006/main">
            <a:off x="609600" y="3333750"/>
            <a:ext cx="5391150" cy="1676400"/>
          </a:xfrm>
          <a:prstGeom xmlns:a="http://schemas.openxmlformats.org/drawingml/2006/main" prst="roundRect">
            <a:avLst>
              <a:gd name="adj" fmla="val 4545"/>
            </a:avLst>
          </a:prstGeom>
          <a:solidFill xmlns:a="http://schemas.openxmlformats.org/drawingml/2006/main">
            <a:srgbClr val="FFFFFF"/>
          </a:solidFill>
          <a:ln xmlns:a="http://schemas.openxmlformats.org/drawingml/2006/main" w="9525">
            <a:solidFill>
              <a:srgbClr val="D9D4C8"/>
            </a:solidFill>
          </a:ln>
        </p:spPr>
      </p:sp>
      <p:sp>
        <p:nvSpPr>
          <p:cNvPr id="17" name="">
            <a:extLst xmlns:a="http://schemas.openxmlformats.org/drawingml/2006/main">
              <a:ext uri="{FF2B5EF4-FFF2-40B4-BE49-F238E27FC236}">
                <a16:creationId xmlns:a16="http://schemas.microsoft.com/office/drawing/2014/main" id="{9364EB69-0316-4EC3-9393-3E68AF31E335}"/>
              </a:ext>
            </a:extLst>
          </p:cNvPr>
          <p:cNvSpPr>
            <a:spLocks xmlns:a="http://schemas.openxmlformats.org/drawingml/2006/main" noGrp="1"/>
          </p:cNvSpPr>
          <p:nvPr/>
        </p:nvSpPr>
        <p:spPr>
          <a:xfrm xmlns:a="http://schemas.openxmlformats.org/drawingml/2006/main">
            <a:off x="819150" y="3543300"/>
            <a:ext cx="457200" cy="285750"/>
          </a:xfrm>
          <a:prstGeom xmlns:a="http://schemas.openxmlformats.org/drawingml/2006/main" prst="roundRect">
            <a:avLst>
              <a:gd name="adj" fmla="val 26667"/>
            </a:avLst>
          </a:prstGeom>
          <a:solidFill xmlns:a="http://schemas.openxmlformats.org/drawingml/2006/main">
            <a:srgbClr val="18A875"/>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2D21C3B2-5BF1-417F-85D3-3A3230361E5C}"/>
              </a:ext>
            </a:extLst>
          </p:cNvPr>
          <p:cNvSpPr>
            <a:spLocks xmlns:a="http://schemas.openxmlformats.org/drawingml/2006/main" noGrp="1"/>
          </p:cNvSpPr>
          <p:nvPr/>
        </p:nvSpPr>
        <p:spPr>
          <a:xfrm xmlns:a="http://schemas.openxmlformats.org/drawingml/2006/main">
            <a:off x="914400" y="3562350"/>
            <a:ext cx="266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03</a:t>
            </a:r>
          </a:p>
        </p:txBody>
      </p:sp>
      <p:sp>
        <p:nvSpPr>
          <p:cNvPr id="19" name="">
            <a:extLst xmlns:a="http://schemas.openxmlformats.org/drawingml/2006/main">
              <a:ext uri="{FF2B5EF4-FFF2-40B4-BE49-F238E27FC236}">
                <a16:creationId xmlns:a16="http://schemas.microsoft.com/office/drawing/2014/main" id="{E0A13868-8591-4103-84F4-A4E4BEFADEF1}"/>
              </a:ext>
            </a:extLst>
          </p:cNvPr>
          <p:cNvSpPr>
            <a:spLocks xmlns:a="http://schemas.openxmlformats.org/drawingml/2006/main" noGrp="1"/>
          </p:cNvSpPr>
          <p:nvPr/>
        </p:nvSpPr>
        <p:spPr>
          <a:xfrm xmlns:a="http://schemas.openxmlformats.org/drawingml/2006/main">
            <a:off x="1447800" y="3543300"/>
            <a:ext cx="4248150" cy="295275"/>
          </a:xfrm>
          <a:prstGeom xmlns:a="http://schemas.openxmlformats.org/drawingml/2006/main" prst="roundRect">
            <a:avLst>
              <a:gd name="adj" fmla="val 25806"/>
            </a:avLst>
          </a:prstGeom>
          <a:solidFill xmlns:a="http://schemas.openxmlformats.org/drawingml/2006/main">
            <a:srgbClr val="E4F4EE"/>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AF3DAC6A-6B6E-4825-9077-8CBE60D0B32C}"/>
              </a:ext>
            </a:extLst>
          </p:cNvPr>
          <p:cNvSpPr>
            <a:spLocks xmlns:a="http://schemas.openxmlformats.org/drawingml/2006/main" noGrp="1"/>
          </p:cNvSpPr>
          <p:nvPr/>
        </p:nvSpPr>
        <p:spPr>
          <a:xfrm xmlns:a="http://schemas.openxmlformats.org/drawingml/2006/main">
            <a:off x="1581150" y="3600450"/>
            <a:ext cx="3981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18A875"/>
                </a:solidFill>
                <a:latin typeface="Helvetica Neue"/>
                <a:ea typeface="Helvetica Neue"/>
                <a:cs typeface="Helvetica Neue"/>
              </a:defRPr>
            </a:pPr>
            <a:r>
              <a:rPr sz="975" b="1">
                <a:solidFill>
                  <a:srgbClr val="18A875"/>
                </a:solidFill>
                <a:latin typeface="Helvetica Neue"/>
                <a:ea typeface="Helvetica Neue"/>
                <a:cs typeface="Helvetica Neue"/>
              </a:rPr>
              <a:t>LONG-HORIZON VISUAL MEMORY</a:t>
            </a:r>
          </a:p>
        </p:txBody>
      </p:sp>
      <p:sp>
        <p:nvSpPr>
          <p:cNvPr id="21" name="">
            <a:extLst xmlns:a="http://schemas.openxmlformats.org/drawingml/2006/main">
              <a:ext uri="{FF2B5EF4-FFF2-40B4-BE49-F238E27FC236}">
                <a16:creationId xmlns:a16="http://schemas.microsoft.com/office/drawing/2014/main" id="{158AB85F-704E-48BF-94D3-9F03440A1BE4}"/>
              </a:ext>
            </a:extLst>
          </p:cNvPr>
          <p:cNvSpPr>
            <a:spLocks xmlns:a="http://schemas.openxmlformats.org/drawingml/2006/main" noGrp="1"/>
          </p:cNvSpPr>
          <p:nvPr/>
        </p:nvSpPr>
        <p:spPr>
          <a:xfrm xmlns:a="http://schemas.openxmlformats.org/drawingml/2006/main">
            <a:off x="857250" y="4057650"/>
            <a:ext cx="4876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10151C"/>
                </a:solidFill>
                <a:latin typeface="Helvetica Neue"/>
                <a:ea typeface="Helvetica Neue"/>
                <a:cs typeface="Helvetica Neue"/>
              </a:defRPr>
            </a:pPr>
            <a:r>
              <a:rPr sz="1200" b="0">
                <a:solidFill>
                  <a:srgbClr val="10151C"/>
                </a:solidFill>
                <a:latin typeface="Helvetica Neue"/>
                <a:ea typeface="Helvetica Neue"/>
                <a:cs typeface="Helvetica Neue"/>
              </a:rPr>
              <a:t>Measure which historical frame supplies evidence, then learn retrieval or compression that preserves task-relevant patches without full-frame quadratic cost.</a:t>
            </a:r>
          </a:p>
        </p:txBody>
      </p:sp>
      <p:sp>
        <p:nvSpPr>
          <p:cNvPr id="22" name="">
            <a:extLst xmlns:a="http://schemas.openxmlformats.org/drawingml/2006/main">
              <a:ext uri="{FF2B5EF4-FFF2-40B4-BE49-F238E27FC236}">
                <a16:creationId xmlns:a16="http://schemas.microsoft.com/office/drawing/2014/main" id="{6BC157FC-535B-4B28-9F69-15D34ED8061C}"/>
              </a:ext>
            </a:extLst>
          </p:cNvPr>
          <p:cNvSpPr>
            <a:spLocks xmlns:a="http://schemas.openxmlformats.org/drawingml/2006/main" noGrp="1"/>
          </p:cNvSpPr>
          <p:nvPr/>
        </p:nvSpPr>
        <p:spPr>
          <a:xfrm xmlns:a="http://schemas.openxmlformats.org/drawingml/2006/main">
            <a:off x="6191250" y="3333750"/>
            <a:ext cx="5391150" cy="1676400"/>
          </a:xfrm>
          <a:prstGeom xmlns:a="http://schemas.openxmlformats.org/drawingml/2006/main" prst="roundRect">
            <a:avLst>
              <a:gd name="adj" fmla="val 4545"/>
            </a:avLst>
          </a:prstGeom>
          <a:solidFill xmlns:a="http://schemas.openxmlformats.org/drawingml/2006/main">
            <a:srgbClr val="FFFFFF"/>
          </a:solidFill>
          <a:ln xmlns:a="http://schemas.openxmlformats.org/drawingml/2006/main" w="9525">
            <a:solidFill>
              <a:srgbClr val="D9D4C8"/>
            </a:solidFill>
          </a:ln>
        </p:spPr>
      </p:sp>
      <p:sp>
        <p:nvSpPr>
          <p:cNvPr id="23" name="">
            <a:extLst xmlns:a="http://schemas.openxmlformats.org/drawingml/2006/main">
              <a:ext uri="{FF2B5EF4-FFF2-40B4-BE49-F238E27FC236}">
                <a16:creationId xmlns:a16="http://schemas.microsoft.com/office/drawing/2014/main" id="{B13C3478-7D4C-467E-8968-CBE1ABA3FAE4}"/>
              </a:ext>
            </a:extLst>
          </p:cNvPr>
          <p:cNvSpPr>
            <a:spLocks xmlns:a="http://schemas.openxmlformats.org/drawingml/2006/main" noGrp="1"/>
          </p:cNvSpPr>
          <p:nvPr/>
        </p:nvSpPr>
        <p:spPr>
          <a:xfrm xmlns:a="http://schemas.openxmlformats.org/drawingml/2006/main">
            <a:off x="6400800" y="3543300"/>
            <a:ext cx="457200" cy="285750"/>
          </a:xfrm>
          <a:prstGeom xmlns:a="http://schemas.openxmlformats.org/drawingml/2006/main" prst="roundRect">
            <a:avLst>
              <a:gd name="adj" fmla="val 26667"/>
            </a:avLst>
          </a:prstGeom>
          <a:solidFill xmlns:a="http://schemas.openxmlformats.org/drawingml/2006/main">
            <a:srgbClr val="E5B249"/>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4B752044-2608-469A-8505-DBEAF6D1A238}"/>
              </a:ext>
            </a:extLst>
          </p:cNvPr>
          <p:cNvSpPr>
            <a:spLocks xmlns:a="http://schemas.openxmlformats.org/drawingml/2006/main" noGrp="1"/>
          </p:cNvSpPr>
          <p:nvPr/>
        </p:nvSpPr>
        <p:spPr>
          <a:xfrm xmlns:a="http://schemas.openxmlformats.org/drawingml/2006/main">
            <a:off x="6496050" y="3562350"/>
            <a:ext cx="266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04</a:t>
            </a:r>
          </a:p>
        </p:txBody>
      </p:sp>
      <p:sp>
        <p:nvSpPr>
          <p:cNvPr id="25" name="">
            <a:extLst xmlns:a="http://schemas.openxmlformats.org/drawingml/2006/main">
              <a:ext uri="{FF2B5EF4-FFF2-40B4-BE49-F238E27FC236}">
                <a16:creationId xmlns:a16="http://schemas.microsoft.com/office/drawing/2014/main" id="{FDACFE05-F7F9-4DB8-AFAC-A1C57A25F532}"/>
              </a:ext>
            </a:extLst>
          </p:cNvPr>
          <p:cNvSpPr>
            <a:spLocks xmlns:a="http://schemas.openxmlformats.org/drawingml/2006/main" noGrp="1"/>
          </p:cNvSpPr>
          <p:nvPr/>
        </p:nvSpPr>
        <p:spPr>
          <a:xfrm xmlns:a="http://schemas.openxmlformats.org/drawingml/2006/main">
            <a:off x="7029450" y="3543300"/>
            <a:ext cx="4248150" cy="295275"/>
          </a:xfrm>
          <a:prstGeom xmlns:a="http://schemas.openxmlformats.org/drawingml/2006/main" prst="roundRect">
            <a:avLst>
              <a:gd name="adj" fmla="val 25806"/>
            </a:avLst>
          </a:prstGeom>
          <a:solidFill xmlns:a="http://schemas.openxmlformats.org/drawingml/2006/main">
            <a:srgbClr val="F3EBDD"/>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D9B76E99-0873-4EE3-B458-7630EA353691}"/>
              </a:ext>
            </a:extLst>
          </p:cNvPr>
          <p:cNvSpPr>
            <a:spLocks xmlns:a="http://schemas.openxmlformats.org/drawingml/2006/main" noGrp="1"/>
          </p:cNvSpPr>
          <p:nvPr/>
        </p:nvSpPr>
        <p:spPr>
          <a:xfrm xmlns:a="http://schemas.openxmlformats.org/drawingml/2006/main">
            <a:off x="7162800" y="3600450"/>
            <a:ext cx="3981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E5B249"/>
                </a:solidFill>
                <a:latin typeface="Helvetica Neue"/>
                <a:ea typeface="Helvetica Neue"/>
                <a:cs typeface="Helvetica Neue"/>
              </a:defRPr>
            </a:pPr>
            <a:r>
              <a:rPr sz="975" b="1">
                <a:solidFill>
                  <a:srgbClr val="E5B249"/>
                </a:solidFill>
                <a:latin typeface="Helvetica Neue"/>
                <a:ea typeface="Helvetica Neue"/>
                <a:cs typeface="Helvetica Neue"/>
              </a:rPr>
              <a:t>FINE-TUNING DELTA LENS</a:t>
            </a:r>
          </a:p>
        </p:txBody>
      </p:sp>
      <p:sp>
        <p:nvSpPr>
          <p:cNvPr id="27" name="">
            <a:extLst xmlns:a="http://schemas.openxmlformats.org/drawingml/2006/main">
              <a:ext uri="{FF2B5EF4-FFF2-40B4-BE49-F238E27FC236}">
                <a16:creationId xmlns:a16="http://schemas.microsoft.com/office/drawing/2014/main" id="{81E67A24-91A2-464F-B199-02D3CDDA0878}"/>
              </a:ext>
            </a:extLst>
          </p:cNvPr>
          <p:cNvSpPr>
            <a:spLocks xmlns:a="http://schemas.openxmlformats.org/drawingml/2006/main" noGrp="1"/>
          </p:cNvSpPr>
          <p:nvPr/>
        </p:nvSpPr>
        <p:spPr>
          <a:xfrm xmlns:a="http://schemas.openxmlformats.org/drawingml/2006/main">
            <a:off x="6438900" y="4057650"/>
            <a:ext cx="4876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10151C"/>
                </a:solidFill>
                <a:latin typeface="Helvetica Neue"/>
                <a:ea typeface="Helvetica Neue"/>
                <a:cs typeface="Helvetica Neue"/>
              </a:defRPr>
            </a:pPr>
            <a:r>
              <a:rPr sz="1200" b="0">
                <a:solidFill>
                  <a:srgbClr val="10151C"/>
                </a:solidFill>
                <a:latin typeface="Helvetica Neue"/>
                <a:ea typeface="Helvetica Neue"/>
                <a:cs typeface="Helvetica Neue"/>
              </a:rPr>
              <a:t>Teacher-force identical action tokens through base Qwen and Holo. Compare where instruction-specific routing appears, disappears, or sharpens.</a:t>
            </a:r>
          </a:p>
        </p:txBody>
      </p:sp>
      <p:sp>
        <p:nvSpPr>
          <p:cNvPr id="28" name="">
            <a:extLst xmlns:a="http://schemas.openxmlformats.org/drawingml/2006/main">
              <a:ext uri="{FF2B5EF4-FFF2-40B4-BE49-F238E27FC236}">
                <a16:creationId xmlns:a16="http://schemas.microsoft.com/office/drawing/2014/main" id="{AF7C20CA-BE6E-4E69-945D-8FF801BDF7D6}"/>
              </a:ext>
            </a:extLst>
          </p:cNvPr>
          <p:cNvSpPr>
            <a:spLocks xmlns:a="http://schemas.openxmlformats.org/drawingml/2006/main" noGrp="1"/>
          </p:cNvSpPr>
          <p:nvPr/>
        </p:nvSpPr>
        <p:spPr>
          <a:xfrm xmlns:a="http://schemas.openxmlformats.org/drawingml/2006/main">
            <a:off x="609600" y="5238750"/>
            <a:ext cx="10972800" cy="838200"/>
          </a:xfrm>
          <a:prstGeom xmlns:a="http://schemas.openxmlformats.org/drawingml/2006/main" prst="roundRect">
            <a:avLst>
              <a:gd name="adj" fmla="val 9091"/>
            </a:avLst>
          </a:prstGeom>
          <a:solidFill xmlns:a="http://schemas.openxmlformats.org/drawingml/2006/main">
            <a:srgbClr val="1C2733"/>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B505A50F-406D-4039-81CD-B1D0CCE8A81F}"/>
              </a:ext>
            </a:extLst>
          </p:cNvPr>
          <p:cNvSpPr>
            <a:spLocks xmlns:a="http://schemas.openxmlformats.org/drawingml/2006/main" noGrp="1"/>
          </p:cNvSpPr>
          <p:nvPr/>
        </p:nvSpPr>
        <p:spPr>
          <a:xfrm xmlns:a="http://schemas.openxmlformats.org/drawingml/2006/main">
            <a:off x="857250" y="5429250"/>
            <a:ext cx="14859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E5B249"/>
                </a:solidFill>
                <a:latin typeface="Helvetica Neue"/>
                <a:ea typeface="Helvetica Neue"/>
                <a:cs typeface="Helvetica Neue"/>
              </a:defRPr>
            </a:pPr>
            <a:r>
              <a:rPr sz="975" b="1">
                <a:solidFill>
                  <a:srgbClr val="E5B249"/>
                </a:solidFill>
                <a:latin typeface="Helvetica Neue"/>
                <a:ea typeface="Helvetica Neue"/>
                <a:cs typeface="Helvetica Neue"/>
              </a:rPr>
              <a:t>TRAINING LOOP</a:t>
            </a:r>
          </a:p>
        </p:txBody>
      </p:sp>
      <p:sp>
        <p:nvSpPr>
          <p:cNvPr id="30" name="">
            <a:extLst xmlns:a="http://schemas.openxmlformats.org/drawingml/2006/main">
              <a:ext uri="{FF2B5EF4-FFF2-40B4-BE49-F238E27FC236}">
                <a16:creationId xmlns:a16="http://schemas.microsoft.com/office/drawing/2014/main" id="{828E803E-C4B2-4211-B122-4D6F80BD719D}"/>
              </a:ext>
            </a:extLst>
          </p:cNvPr>
          <p:cNvSpPr>
            <a:spLocks xmlns:a="http://schemas.openxmlformats.org/drawingml/2006/main" noGrp="1"/>
          </p:cNvSpPr>
          <p:nvPr/>
        </p:nvSpPr>
        <p:spPr>
          <a:xfrm xmlns:a="http://schemas.openxmlformats.org/drawingml/2006/main">
            <a:off x="2514600" y="5391150"/>
            <a:ext cx="8591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4817"/>
          </a:bodyPr>
          <a:lstStyle xmlns:a="http://schemas.openxmlformats.org/drawingml/2006/main"/>
          <a:p xmlns:a="http://schemas.openxmlformats.org/drawingml/2006/main">
            <a:pPr algn="ctr">
              <a:defRPr sz="1575" b="1">
                <a:solidFill>
                  <a:srgbClr val="FFFFFF"/>
                </a:solidFill>
                <a:latin typeface="Helvetica Neue"/>
                <a:ea typeface="Helvetica Neue"/>
                <a:cs typeface="Helvetica Neue"/>
              </a:defRPr>
            </a:pPr>
            <a:r>
              <a:rPr sz="1575" b="1">
                <a:solidFill>
                  <a:srgbClr val="FFFFFF"/>
                </a:solidFill>
                <a:latin typeface="Helvetica Neue"/>
                <a:ea typeface="Helvetica Neue"/>
                <a:cs typeface="Helvetica Neue"/>
              </a:rPr>
              <a:t>Oracle SFT  →  measured mid-training lift  →  GRPO + LoRA with verifiable environment reward</a:t>
            </a:r>
          </a:p>
        </p:txBody>
      </p:sp>
      <p:sp>
        <p:nvSpPr>
          <p:cNvPr id="31" name="">
            <a:extLst xmlns:a="http://schemas.openxmlformats.org/drawingml/2006/main">
              <a:ext uri="{FF2B5EF4-FFF2-40B4-BE49-F238E27FC236}">
                <a16:creationId xmlns:a16="http://schemas.microsoft.com/office/drawing/2014/main" id="{11B21B08-07CF-45A9-98D2-24B7740FC3AE}"/>
              </a:ext>
            </a:extLst>
          </p:cNvPr>
          <p:cNvSpPr>
            <a:spLocks xmlns:a="http://schemas.openxmlformats.org/drawingml/2006/main" noGrp="1"/>
          </p:cNvSpPr>
          <p:nvPr/>
        </p:nvSpPr>
        <p:spPr>
          <a:xfrm xmlns:a="http://schemas.openxmlformats.org/drawingml/2006/main">
            <a:off x="2514600" y="5734050"/>
            <a:ext cx="8591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0">
                <a:solidFill>
                  <a:srgbClr val="B9C3CD"/>
                </a:solidFill>
                <a:latin typeface="Helvetica Neue"/>
                <a:ea typeface="Helvetica Neue"/>
                <a:cs typeface="Helvetica Neue"/>
              </a:defRPr>
            </a:pPr>
            <a:r>
              <a:rPr sz="1050" b="0">
                <a:solidFill>
                  <a:srgbClr val="B9C3CD"/>
                </a:solidFill>
                <a:latin typeface="Helvetica Neue"/>
                <a:ea typeface="Helvetica Neue"/>
                <a:cs typeface="Helvetica Neue"/>
              </a:rPr>
              <a:t>Use attribution for audit and diagnosis, not as the reward target.</a:t>
            </a:r>
          </a:p>
        </p:txBody>
      </p:sp>
      <p:sp>
        <p:nvSpPr>
          <p:cNvPr id="32" name="">
            <a:extLst xmlns:a="http://schemas.openxmlformats.org/drawingml/2006/main">
              <a:ext uri="{FF2B5EF4-FFF2-40B4-BE49-F238E27FC236}">
                <a16:creationId xmlns:a16="http://schemas.microsoft.com/office/drawing/2014/main" id="{CC83DA33-C847-4FC1-AE2E-0023D93264D5}"/>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CCD7AE78-04FA-4B74-8C87-34C94BAB277E}"/>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The highest-value next result is an intervention, not a prettier heatmap</a:t>
            </a:r>
          </a:p>
        </p:txBody>
      </p:sp>
    </p:spTree>
    <p:extLst>
      <p:ext uri="{BB962C8B-B14F-4D97-AF65-F5344CB8AC3E}">
        <p14:creationId xmlns:p14="http://schemas.microsoft.com/office/powerpoint/2010/main" val="915105168"/>
      </p:ext>
    </p:extLst>
  </p:cSld>
</p:sld>
</file>

<file path=ppt/slides/slide9.xml><?xml version="1.0" encoding="utf-8"?>
<p:sld xmlns:p="http://schemas.openxmlformats.org/presentationml/2006/main">
  <p:cSld>
    <p:bg>
      <p:bgPr>
        <a:solidFill xmlns:a="http://schemas.openxmlformats.org/drawingml/2006/main">
          <a:srgbClr val="10151C"/>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428A7187-AB1F-428A-9BCF-64C3B60D950C}"/>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9FC8F0"/>
                </a:solidFill>
                <a:latin typeface="Helvetica Neue"/>
                <a:ea typeface="Helvetica Neue"/>
                <a:cs typeface="Helvetica Neue"/>
              </a:defRPr>
            </a:pPr>
            <a:r>
              <a:rPr sz="900" b="1">
                <a:solidFill>
                  <a:srgbClr val="9FC8F0"/>
                </a:solidFill>
                <a:latin typeface="Helvetica Neue"/>
                <a:ea typeface="Helvetica Neue"/>
                <a:cs typeface="Helvetica Neue"/>
              </a:rPr>
              <a:t>TAKEAWAYS</a:t>
            </a:r>
          </a:p>
        </p:txBody>
      </p:sp>
      <p:sp>
        <p:nvSpPr>
          <p:cNvPr id="2" name="">
            <a:extLst xmlns:a="http://schemas.openxmlformats.org/drawingml/2006/main">
              <a:ext uri="{FF2B5EF4-FFF2-40B4-BE49-F238E27FC236}">
                <a16:creationId xmlns:a16="http://schemas.microsoft.com/office/drawing/2014/main" id="{A1A497AD-337D-4DBC-B4E8-671477196DE2}"/>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FFFFFF"/>
                </a:solidFill>
                <a:latin typeface="Helvetica Neue"/>
                <a:ea typeface="Helvetica Neue"/>
                <a:cs typeface="Helvetica Neue"/>
              </a:defRPr>
            </a:pPr>
            <a:r>
              <a:rPr sz="2850" b="1">
                <a:solidFill>
                  <a:srgbClr val="FFFFFF"/>
                </a:solidFill>
                <a:latin typeface="Helvetica Neue"/>
                <a:ea typeface="Helvetica Neue"/>
                <a:cs typeface="Helvetica Neue"/>
              </a:rPr>
              <a:t>A baseline-first story, with falsifiable next steps</a:t>
            </a:r>
          </a:p>
        </p:txBody>
      </p:sp>
      <p:sp>
        <p:nvSpPr>
          <p:cNvPr id="3" name="">
            <a:extLst xmlns:a="http://schemas.openxmlformats.org/drawingml/2006/main">
              <a:ext uri="{FF2B5EF4-FFF2-40B4-BE49-F238E27FC236}">
                <a16:creationId xmlns:a16="http://schemas.microsoft.com/office/drawing/2014/main" id="{6AEFC71E-F54C-482A-BE05-4B78FB37D346}"/>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96A2AE"/>
                </a:solidFill>
                <a:latin typeface="Helvetica Neue"/>
                <a:ea typeface="Helvetica Neue"/>
                <a:cs typeface="Helvetica Neue"/>
              </a:defRPr>
            </a:pPr>
            <a:r>
              <a:rPr sz="975" b="1">
                <a:solidFill>
                  <a:srgbClr val="96A2AE"/>
                </a:solidFill>
                <a:latin typeface="Helvetica Neue"/>
                <a:ea typeface="Helvetica Neue"/>
                <a:cs typeface="Helvetica Neue"/>
              </a:rPr>
              <a:t>09</a:t>
            </a:r>
          </a:p>
        </p:txBody>
      </p:sp>
      <p:sp>
        <p:nvSpPr>
          <p:cNvPr id="4" name="">
            <a:extLst xmlns:a="http://schemas.openxmlformats.org/drawingml/2006/main">
              <a:ext uri="{FF2B5EF4-FFF2-40B4-BE49-F238E27FC236}">
                <a16:creationId xmlns:a16="http://schemas.microsoft.com/office/drawing/2014/main" id="{24670D2D-C3A7-42F5-B4F0-7F879E9FD972}"/>
              </a:ext>
            </a:extLst>
          </p:cNvPr>
          <p:cNvSpPr>
            <a:spLocks xmlns:a="http://schemas.openxmlformats.org/drawingml/2006/main" noGrp="1"/>
          </p:cNvSpPr>
          <p:nvPr/>
        </p:nvSpPr>
        <p:spPr>
          <a:xfrm xmlns:a="http://schemas.openxmlformats.org/drawingml/2006/main">
            <a:off x="609600" y="1428750"/>
            <a:ext cx="49530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EC9E351-E39B-484E-A337-C23FAEDC1708}"/>
              </a:ext>
            </a:extLst>
          </p:cNvPr>
          <p:cNvSpPr>
            <a:spLocks xmlns:a="http://schemas.openxmlformats.org/drawingml/2006/main" noGrp="1"/>
          </p:cNvSpPr>
          <p:nvPr/>
        </p:nvSpPr>
        <p:spPr>
          <a:xfrm xmlns:a="http://schemas.openxmlformats.org/drawingml/2006/main">
            <a:off x="704850" y="1447800"/>
            <a:ext cx="304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01</a:t>
            </a:r>
          </a:p>
        </p:txBody>
      </p:sp>
      <p:sp>
        <p:nvSpPr>
          <p:cNvPr id="6" name="">
            <a:extLst xmlns:a="http://schemas.openxmlformats.org/drawingml/2006/main">
              <a:ext uri="{FF2B5EF4-FFF2-40B4-BE49-F238E27FC236}">
                <a16:creationId xmlns:a16="http://schemas.microsoft.com/office/drawing/2014/main" id="{237C8FC6-8909-491E-BF1E-DDA2E651FB97}"/>
              </a:ext>
            </a:extLst>
          </p:cNvPr>
          <p:cNvSpPr>
            <a:spLocks xmlns:a="http://schemas.openxmlformats.org/drawingml/2006/main" noGrp="1"/>
          </p:cNvSpPr>
          <p:nvPr/>
        </p:nvSpPr>
        <p:spPr>
          <a:xfrm xmlns:a="http://schemas.openxmlformats.org/drawingml/2006/main">
            <a:off x="1314450" y="1438275"/>
            <a:ext cx="4095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Remove general awareness</a:t>
            </a:r>
          </a:p>
        </p:txBody>
      </p:sp>
      <p:sp>
        <p:nvSpPr>
          <p:cNvPr id="7" name="">
            <a:extLst xmlns:a="http://schemas.openxmlformats.org/drawingml/2006/main">
              <a:ext uri="{FF2B5EF4-FFF2-40B4-BE49-F238E27FC236}">
                <a16:creationId xmlns:a16="http://schemas.microsoft.com/office/drawing/2014/main" id="{9B95023A-1285-405F-BAB0-DCCD29FC7794}"/>
              </a:ext>
            </a:extLst>
          </p:cNvPr>
          <p:cNvSpPr>
            <a:spLocks xmlns:a="http://schemas.openxmlformats.org/drawingml/2006/main" noGrp="1"/>
          </p:cNvSpPr>
          <p:nvPr/>
        </p:nvSpPr>
        <p:spPr>
          <a:xfrm xmlns:a="http://schemas.openxmlformats.org/drawingml/2006/main">
            <a:off x="1314450" y="1762125"/>
            <a:ext cx="4095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B7C1CB"/>
                </a:solidFill>
                <a:latin typeface="Helvetica Neue"/>
                <a:ea typeface="Helvetica Neue"/>
                <a:cs typeface="Helvetica Neue"/>
              </a:defRPr>
            </a:pPr>
            <a:r>
              <a:rPr sz="1125" b="0">
                <a:solidFill>
                  <a:srgbClr val="B7C1CB"/>
                </a:solidFill>
                <a:latin typeface="Helvetica Neue"/>
                <a:ea typeface="Helvetica Neue"/>
                <a:cs typeface="Helvetica Neue"/>
              </a:rPr>
              <a:t>Same-image instruction controls make target-specific routing visible.</a:t>
            </a:r>
          </a:p>
        </p:txBody>
      </p:sp>
      <p:sp>
        <p:nvSpPr>
          <p:cNvPr id="8" name="">
            <a:extLst xmlns:a="http://schemas.openxmlformats.org/drawingml/2006/main">
              <a:ext uri="{FF2B5EF4-FFF2-40B4-BE49-F238E27FC236}">
                <a16:creationId xmlns:a16="http://schemas.microsoft.com/office/drawing/2014/main" id="{CBF826AA-EBA1-4CC2-9B38-5EECA0A22F5D}"/>
              </a:ext>
            </a:extLst>
          </p:cNvPr>
          <p:cNvSpPr>
            <a:spLocks xmlns:a="http://schemas.openxmlformats.org/drawingml/2006/main" noGrp="1"/>
          </p:cNvSpPr>
          <p:nvPr/>
        </p:nvSpPr>
        <p:spPr>
          <a:xfrm xmlns:a="http://schemas.openxmlformats.org/drawingml/2006/main">
            <a:off x="609600" y="2590800"/>
            <a:ext cx="495300" cy="285750"/>
          </a:xfrm>
          <a:prstGeom xmlns:a="http://schemas.openxmlformats.org/drawingml/2006/main" prst="roundRect">
            <a:avLst>
              <a:gd name="adj" fmla="val 26667"/>
            </a:avLst>
          </a:prstGeom>
          <a:solidFill xmlns:a="http://schemas.openxmlformats.org/drawingml/2006/main">
            <a:srgbClr val="2D84D3"/>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58C2B119-B6D2-497D-9FEB-5D17DB4DB4D2}"/>
              </a:ext>
            </a:extLst>
          </p:cNvPr>
          <p:cNvSpPr>
            <a:spLocks xmlns:a="http://schemas.openxmlformats.org/drawingml/2006/main" noGrp="1"/>
          </p:cNvSpPr>
          <p:nvPr/>
        </p:nvSpPr>
        <p:spPr>
          <a:xfrm xmlns:a="http://schemas.openxmlformats.org/drawingml/2006/main">
            <a:off x="704850" y="2609850"/>
            <a:ext cx="304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02</a:t>
            </a:r>
          </a:p>
        </p:txBody>
      </p:sp>
      <p:sp>
        <p:nvSpPr>
          <p:cNvPr id="10" name="">
            <a:extLst xmlns:a="http://schemas.openxmlformats.org/drawingml/2006/main">
              <a:ext uri="{FF2B5EF4-FFF2-40B4-BE49-F238E27FC236}">
                <a16:creationId xmlns:a16="http://schemas.microsoft.com/office/drawing/2014/main" id="{E3FFC15D-1A5B-47F0-AB4F-74A1675E555A}"/>
              </a:ext>
            </a:extLst>
          </p:cNvPr>
          <p:cNvSpPr>
            <a:spLocks xmlns:a="http://schemas.openxmlformats.org/drawingml/2006/main" noGrp="1"/>
          </p:cNvSpPr>
          <p:nvPr/>
        </p:nvSpPr>
        <p:spPr>
          <a:xfrm xmlns:a="http://schemas.openxmlformats.org/drawingml/2006/main">
            <a:off x="1314450" y="2600325"/>
            <a:ext cx="4095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Separate retrieval from binding</a:t>
            </a:r>
          </a:p>
        </p:txBody>
      </p:sp>
      <p:sp>
        <p:nvSpPr>
          <p:cNvPr id="11" name="">
            <a:extLst xmlns:a="http://schemas.openxmlformats.org/drawingml/2006/main">
              <a:ext uri="{FF2B5EF4-FFF2-40B4-BE49-F238E27FC236}">
                <a16:creationId xmlns:a16="http://schemas.microsoft.com/office/drawing/2014/main" id="{57B8EAED-5C26-415E-85B7-68739C8E7033}"/>
              </a:ext>
            </a:extLst>
          </p:cNvPr>
          <p:cNvSpPr>
            <a:spLocks xmlns:a="http://schemas.openxmlformats.org/drawingml/2006/main" noGrp="1"/>
          </p:cNvSpPr>
          <p:nvPr/>
        </p:nvSpPr>
        <p:spPr>
          <a:xfrm xmlns:a="http://schemas.openxmlformats.org/drawingml/2006/main">
            <a:off x="1314450" y="2924175"/>
            <a:ext cx="4095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B7C1CB"/>
                </a:solidFill>
                <a:latin typeface="Helvetica Neue"/>
                <a:ea typeface="Helvetica Neue"/>
                <a:cs typeface="Helvetica Neue"/>
              </a:defRPr>
            </a:pPr>
            <a:r>
              <a:rPr sz="1125" b="0">
                <a:solidFill>
                  <a:srgbClr val="B7C1CB"/>
                </a:solidFill>
                <a:latin typeface="Helvetica Neue"/>
                <a:ea typeface="Helvetica Neue"/>
                <a:cs typeface="Helvetica Neue"/>
              </a:rPr>
              <a:t>Both misses find a relevant region but fail at precise affordance selection.</a:t>
            </a:r>
          </a:p>
        </p:txBody>
      </p:sp>
      <p:sp>
        <p:nvSpPr>
          <p:cNvPr id="12" name="">
            <a:extLst xmlns:a="http://schemas.openxmlformats.org/drawingml/2006/main">
              <a:ext uri="{FF2B5EF4-FFF2-40B4-BE49-F238E27FC236}">
                <a16:creationId xmlns:a16="http://schemas.microsoft.com/office/drawing/2014/main" id="{AA675872-EA63-4DA8-B5A1-C21E735248A0}"/>
              </a:ext>
            </a:extLst>
          </p:cNvPr>
          <p:cNvSpPr>
            <a:spLocks xmlns:a="http://schemas.openxmlformats.org/drawingml/2006/main" noGrp="1"/>
          </p:cNvSpPr>
          <p:nvPr/>
        </p:nvSpPr>
        <p:spPr>
          <a:xfrm xmlns:a="http://schemas.openxmlformats.org/drawingml/2006/main">
            <a:off x="609600" y="3752850"/>
            <a:ext cx="495300" cy="285750"/>
          </a:xfrm>
          <a:prstGeom xmlns:a="http://schemas.openxmlformats.org/drawingml/2006/main" prst="roundRect">
            <a:avLst>
              <a:gd name="adj" fmla="val 26667"/>
            </a:avLst>
          </a:prstGeom>
          <a:solidFill xmlns:a="http://schemas.openxmlformats.org/drawingml/2006/main">
            <a:srgbClr val="2D84D3"/>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ED5CEDEA-5275-4E2D-AE28-8A1ABDF7D292}"/>
              </a:ext>
            </a:extLst>
          </p:cNvPr>
          <p:cNvSpPr>
            <a:spLocks xmlns:a="http://schemas.openxmlformats.org/drawingml/2006/main" noGrp="1"/>
          </p:cNvSpPr>
          <p:nvPr/>
        </p:nvSpPr>
        <p:spPr>
          <a:xfrm xmlns:a="http://schemas.openxmlformats.org/drawingml/2006/main">
            <a:off x="704850" y="3771900"/>
            <a:ext cx="304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03</a:t>
            </a:r>
          </a:p>
        </p:txBody>
      </p:sp>
      <p:sp>
        <p:nvSpPr>
          <p:cNvPr id="14" name="">
            <a:extLst xmlns:a="http://schemas.openxmlformats.org/drawingml/2006/main">
              <a:ext uri="{FF2B5EF4-FFF2-40B4-BE49-F238E27FC236}">
                <a16:creationId xmlns:a16="http://schemas.microsoft.com/office/drawing/2014/main" id="{B6CE57B1-E937-4218-BE02-3078C3DF85A2}"/>
              </a:ext>
            </a:extLst>
          </p:cNvPr>
          <p:cNvSpPr>
            <a:spLocks xmlns:a="http://schemas.openxmlformats.org/drawingml/2006/main" noGrp="1"/>
          </p:cNvSpPr>
          <p:nvPr/>
        </p:nvSpPr>
        <p:spPr>
          <a:xfrm xmlns:a="http://schemas.openxmlformats.org/drawingml/2006/main">
            <a:off x="1314450" y="3762375"/>
            <a:ext cx="4095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Treat layers as candidate features</a:t>
            </a:r>
          </a:p>
        </p:txBody>
      </p:sp>
      <p:sp>
        <p:nvSpPr>
          <p:cNvPr id="15" name="">
            <a:extLst xmlns:a="http://schemas.openxmlformats.org/drawingml/2006/main">
              <a:ext uri="{FF2B5EF4-FFF2-40B4-BE49-F238E27FC236}">
                <a16:creationId xmlns:a16="http://schemas.microsoft.com/office/drawing/2014/main" id="{3C227420-DE58-4670-B13E-D12E3A84EC61}"/>
              </a:ext>
            </a:extLst>
          </p:cNvPr>
          <p:cNvSpPr>
            <a:spLocks xmlns:a="http://schemas.openxmlformats.org/drawingml/2006/main" noGrp="1"/>
          </p:cNvSpPr>
          <p:nvPr/>
        </p:nvSpPr>
        <p:spPr>
          <a:xfrm xmlns:a="http://schemas.openxmlformats.org/drawingml/2006/main">
            <a:off x="1314450" y="4086225"/>
            <a:ext cx="4095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B7C1CB"/>
                </a:solidFill>
                <a:latin typeface="Helvetica Neue"/>
                <a:ea typeface="Helvetica Neue"/>
                <a:cs typeface="Helvetica Neue"/>
              </a:defRPr>
            </a:pPr>
            <a:r>
              <a:rPr sz="1125" b="0">
                <a:solidFill>
                  <a:srgbClr val="B7C1CB"/>
                </a:solidFill>
                <a:latin typeface="Helvetica Neue"/>
                <a:ea typeface="Helvetica Neue"/>
                <a:cs typeface="Helvetica Neue"/>
              </a:rPr>
              <a:t>Calibrate and intervene before calling them confidence or mechanism.</a:t>
            </a:r>
          </a:p>
        </p:txBody>
      </p:sp>
      <p:sp>
        <p:nvSpPr>
          <p:cNvPr id="16" name="">
            <a:extLst xmlns:a="http://schemas.openxmlformats.org/drawingml/2006/main">
              <a:ext uri="{FF2B5EF4-FFF2-40B4-BE49-F238E27FC236}">
                <a16:creationId xmlns:a16="http://schemas.microsoft.com/office/drawing/2014/main" id="{560A9374-11DE-41AA-9845-EC815DCA77DC}"/>
              </a:ext>
            </a:extLst>
          </p:cNvPr>
          <p:cNvSpPr>
            <a:spLocks xmlns:a="http://schemas.openxmlformats.org/drawingml/2006/main" noGrp="1"/>
          </p:cNvSpPr>
          <p:nvPr/>
        </p:nvSpPr>
        <p:spPr>
          <a:xfrm xmlns:a="http://schemas.openxmlformats.org/drawingml/2006/main">
            <a:off x="6153150" y="1390650"/>
            <a:ext cx="5429250" cy="3943350"/>
          </a:xfrm>
          <a:prstGeom xmlns:a="http://schemas.openxmlformats.org/drawingml/2006/main" prst="roundRect">
            <a:avLst>
              <a:gd name="adj" fmla="val 1932"/>
            </a:avLst>
          </a:prstGeom>
          <a:solidFill xmlns:a="http://schemas.openxmlformats.org/drawingml/2006/main">
            <a:srgbClr val="FFFFFF"/>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5622B7A9-3EDA-4CBC-B302-886B79CED472}"/>
              </a:ext>
            </a:extLst>
          </p:cNvPr>
          <p:cNvSpPr>
            <a:spLocks xmlns:a="http://schemas.openxmlformats.org/drawingml/2006/main" noGrp="1"/>
          </p:cNvSpPr>
          <p:nvPr/>
        </p:nvSpPr>
        <p:spPr>
          <a:xfrm xmlns:a="http://schemas.openxmlformats.org/drawingml/2006/main">
            <a:off x="6438900" y="1657350"/>
            <a:ext cx="3048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F05A3C"/>
                </a:solidFill>
                <a:latin typeface="Helvetica Neue"/>
                <a:ea typeface="Helvetica Neue"/>
                <a:cs typeface="Helvetica Neue"/>
              </a:defRPr>
            </a:pPr>
            <a:r>
              <a:rPr sz="975" b="1">
                <a:solidFill>
                  <a:srgbClr val="F05A3C"/>
                </a:solidFill>
                <a:latin typeface="Helvetica Neue"/>
                <a:ea typeface="Helvetica Neue"/>
                <a:cs typeface="Helvetica Neue"/>
              </a:rPr>
              <a:t>LIVE DEMO · 90 SECONDS</a:t>
            </a:r>
          </a:p>
        </p:txBody>
      </p:sp>
      <p:sp>
        <p:nvSpPr>
          <p:cNvPr id="18" name="">
            <a:extLst xmlns:a="http://schemas.openxmlformats.org/drawingml/2006/main">
              <a:ext uri="{FF2B5EF4-FFF2-40B4-BE49-F238E27FC236}">
                <a16:creationId xmlns:a16="http://schemas.microsoft.com/office/drawing/2014/main" id="{B586D354-9C1E-4EED-9C3C-54B37F69428C}"/>
              </a:ext>
            </a:extLst>
          </p:cNvPr>
          <p:cNvSpPr>
            <a:spLocks xmlns:a="http://schemas.openxmlformats.org/drawingml/2006/main" noGrp="1"/>
          </p:cNvSpPr>
          <p:nvPr/>
        </p:nvSpPr>
        <p:spPr>
          <a:xfrm xmlns:a="http://schemas.openxmlformats.org/drawingml/2006/main">
            <a:off x="6438900" y="2076450"/>
            <a:ext cx="36195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0FE031BE-63C2-49A4-84AE-C8912AEF2000}"/>
              </a:ext>
            </a:extLst>
          </p:cNvPr>
          <p:cNvSpPr>
            <a:spLocks xmlns:a="http://schemas.openxmlformats.org/drawingml/2006/main" noGrp="1"/>
          </p:cNvSpPr>
          <p:nvPr/>
        </p:nvSpPr>
        <p:spPr>
          <a:xfrm xmlns:a="http://schemas.openxmlformats.org/drawingml/2006/main">
            <a:off x="6534150" y="2095500"/>
            <a:ext cx="171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1</a:t>
            </a:r>
          </a:p>
        </p:txBody>
      </p:sp>
      <p:sp>
        <p:nvSpPr>
          <p:cNvPr id="20" name="">
            <a:extLst xmlns:a="http://schemas.openxmlformats.org/drawingml/2006/main">
              <a:ext uri="{FF2B5EF4-FFF2-40B4-BE49-F238E27FC236}">
                <a16:creationId xmlns:a16="http://schemas.microsoft.com/office/drawing/2014/main" id="{8633BC66-4225-4812-87FB-A457A174321D}"/>
              </a:ext>
            </a:extLst>
          </p:cNvPr>
          <p:cNvSpPr>
            <a:spLocks xmlns:a="http://schemas.openxmlformats.org/drawingml/2006/main" noGrp="1"/>
          </p:cNvSpPr>
          <p:nvPr/>
        </p:nvSpPr>
        <p:spPr>
          <a:xfrm xmlns:a="http://schemas.openxmlformats.org/drawingml/2006/main">
            <a:off x="6953250" y="2085975"/>
            <a:ext cx="409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10151C"/>
                </a:solidFill>
                <a:latin typeface="Helvetica Neue"/>
                <a:ea typeface="Helvetica Neue"/>
                <a:cs typeface="Helvetica Neue"/>
              </a:defRPr>
            </a:pPr>
            <a:r>
              <a:rPr sz="1275" b="1">
                <a:solidFill>
                  <a:srgbClr val="10151C"/>
                </a:solidFill>
                <a:latin typeface="Helvetica Neue"/>
                <a:ea typeface="Helvetica Neue"/>
                <a:cs typeface="Helvetica Neue"/>
              </a:rPr>
              <a:t>Static hit: raw → prompt difference</a:t>
            </a:r>
          </a:p>
        </p:txBody>
      </p:sp>
      <p:sp>
        <p:nvSpPr>
          <p:cNvPr id="21" name="">
            <a:extLst xmlns:a="http://schemas.openxmlformats.org/drawingml/2006/main">
              <a:ext uri="{FF2B5EF4-FFF2-40B4-BE49-F238E27FC236}">
                <a16:creationId xmlns:a16="http://schemas.microsoft.com/office/drawing/2014/main" id="{C5A3C64B-EE18-4039-A5D0-6A9AA5480835}"/>
              </a:ext>
            </a:extLst>
          </p:cNvPr>
          <p:cNvSpPr>
            <a:spLocks xmlns:a="http://schemas.openxmlformats.org/drawingml/2006/main" noGrp="1"/>
          </p:cNvSpPr>
          <p:nvPr/>
        </p:nvSpPr>
        <p:spPr>
          <a:xfrm xmlns:a="http://schemas.openxmlformats.org/drawingml/2006/main">
            <a:off x="6953250" y="2352675"/>
            <a:ext cx="4095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Peak enters the selected template.</a:t>
            </a:r>
          </a:p>
        </p:txBody>
      </p:sp>
      <p:sp>
        <p:nvSpPr>
          <p:cNvPr id="22" name="">
            <a:extLst xmlns:a="http://schemas.openxmlformats.org/drawingml/2006/main">
              <a:ext uri="{FF2B5EF4-FFF2-40B4-BE49-F238E27FC236}">
                <a16:creationId xmlns:a16="http://schemas.microsoft.com/office/drawing/2014/main" id="{70D4E146-DE9A-404A-9159-4E7D183951F2}"/>
              </a:ext>
            </a:extLst>
          </p:cNvPr>
          <p:cNvSpPr>
            <a:spLocks xmlns:a="http://schemas.openxmlformats.org/drawingml/2006/main" noGrp="1"/>
          </p:cNvSpPr>
          <p:nvPr/>
        </p:nvSpPr>
        <p:spPr>
          <a:xfrm xmlns:a="http://schemas.openxmlformats.org/drawingml/2006/main">
            <a:off x="6438900" y="2819400"/>
            <a:ext cx="36195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C35A01F0-ECC7-452D-813E-6B3A651D00F5}"/>
              </a:ext>
            </a:extLst>
          </p:cNvPr>
          <p:cNvSpPr>
            <a:spLocks xmlns:a="http://schemas.openxmlformats.org/drawingml/2006/main" noGrp="1"/>
          </p:cNvSpPr>
          <p:nvPr/>
        </p:nvSpPr>
        <p:spPr>
          <a:xfrm xmlns:a="http://schemas.openxmlformats.org/drawingml/2006/main">
            <a:off x="6534150" y="2838450"/>
            <a:ext cx="171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2</a:t>
            </a:r>
          </a:p>
        </p:txBody>
      </p:sp>
      <p:sp>
        <p:nvSpPr>
          <p:cNvPr id="24" name="">
            <a:extLst xmlns:a="http://schemas.openxmlformats.org/drawingml/2006/main">
              <a:ext uri="{FF2B5EF4-FFF2-40B4-BE49-F238E27FC236}">
                <a16:creationId xmlns:a16="http://schemas.microsoft.com/office/drawing/2014/main" id="{485DCFA7-538F-4490-A203-DCA090EAD954}"/>
              </a:ext>
            </a:extLst>
          </p:cNvPr>
          <p:cNvSpPr>
            <a:spLocks xmlns:a="http://schemas.openxmlformats.org/drawingml/2006/main" noGrp="1"/>
          </p:cNvSpPr>
          <p:nvPr/>
        </p:nvSpPr>
        <p:spPr>
          <a:xfrm xmlns:a="http://schemas.openxmlformats.org/drawingml/2006/main">
            <a:off x="6953250" y="2828925"/>
            <a:ext cx="409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10151C"/>
                </a:solidFill>
                <a:latin typeface="Helvetica Neue"/>
                <a:ea typeface="Helvetica Neue"/>
                <a:cs typeface="Helvetica Neue"/>
              </a:defRPr>
            </a:pPr>
            <a:r>
              <a:rPr sz="1275" b="1">
                <a:solidFill>
                  <a:srgbClr val="10151C"/>
                </a:solidFill>
                <a:latin typeface="Helvetica Neue"/>
                <a:ea typeface="Helvetica Neue"/>
                <a:cs typeface="Helvetica Neue"/>
              </a:rPr>
              <a:t>Static miss: inspect click binding</a:t>
            </a:r>
          </a:p>
        </p:txBody>
      </p:sp>
      <p:sp>
        <p:nvSpPr>
          <p:cNvPr id="25" name="">
            <a:extLst xmlns:a="http://schemas.openxmlformats.org/drawingml/2006/main">
              <a:ext uri="{FF2B5EF4-FFF2-40B4-BE49-F238E27FC236}">
                <a16:creationId xmlns:a16="http://schemas.microsoft.com/office/drawing/2014/main" id="{058B71AA-011B-4168-BBF0-1C1128A0791F}"/>
              </a:ext>
            </a:extLst>
          </p:cNvPr>
          <p:cNvSpPr>
            <a:spLocks xmlns:a="http://schemas.openxmlformats.org/drawingml/2006/main" noGrp="1"/>
          </p:cNvSpPr>
          <p:nvPr/>
        </p:nvSpPr>
        <p:spPr>
          <a:xfrm xmlns:a="http://schemas.openxmlformats.org/drawingml/2006/main">
            <a:off x="6953250" y="3095625"/>
            <a:ext cx="4095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Correct task region, wrong tiny affordance.</a:t>
            </a:r>
          </a:p>
        </p:txBody>
      </p:sp>
      <p:sp>
        <p:nvSpPr>
          <p:cNvPr id="26" name="">
            <a:extLst xmlns:a="http://schemas.openxmlformats.org/drawingml/2006/main">
              <a:ext uri="{FF2B5EF4-FFF2-40B4-BE49-F238E27FC236}">
                <a16:creationId xmlns:a16="http://schemas.microsoft.com/office/drawing/2014/main" id="{551FA025-7A3A-4E5D-BA0C-B83BCECC57C0}"/>
              </a:ext>
            </a:extLst>
          </p:cNvPr>
          <p:cNvSpPr>
            <a:spLocks xmlns:a="http://schemas.openxmlformats.org/drawingml/2006/main" noGrp="1"/>
          </p:cNvSpPr>
          <p:nvPr/>
        </p:nvSpPr>
        <p:spPr>
          <a:xfrm xmlns:a="http://schemas.openxmlformats.org/drawingml/2006/main">
            <a:off x="6438900" y="3562350"/>
            <a:ext cx="36195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92B5F993-1751-4D96-8254-BE955057277E}"/>
              </a:ext>
            </a:extLst>
          </p:cNvPr>
          <p:cNvSpPr>
            <a:spLocks xmlns:a="http://schemas.openxmlformats.org/drawingml/2006/main" noGrp="1"/>
          </p:cNvSpPr>
          <p:nvPr/>
        </p:nvSpPr>
        <p:spPr>
          <a:xfrm xmlns:a="http://schemas.openxmlformats.org/drawingml/2006/main">
            <a:off x="6534150" y="3581400"/>
            <a:ext cx="171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3</a:t>
            </a:r>
          </a:p>
        </p:txBody>
      </p:sp>
      <p:sp>
        <p:nvSpPr>
          <p:cNvPr id="28" name="">
            <a:extLst xmlns:a="http://schemas.openxmlformats.org/drawingml/2006/main">
              <a:ext uri="{FF2B5EF4-FFF2-40B4-BE49-F238E27FC236}">
                <a16:creationId xmlns:a16="http://schemas.microsoft.com/office/drawing/2014/main" id="{A5667EB5-C778-4516-ABC1-F6CB09097F3B}"/>
              </a:ext>
            </a:extLst>
          </p:cNvPr>
          <p:cNvSpPr>
            <a:spLocks xmlns:a="http://schemas.openxmlformats.org/drawingml/2006/main" noGrp="1"/>
          </p:cNvSpPr>
          <p:nvPr/>
        </p:nvSpPr>
        <p:spPr>
          <a:xfrm xmlns:a="http://schemas.openxmlformats.org/drawingml/2006/main">
            <a:off x="6953250" y="3571875"/>
            <a:ext cx="409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10151C"/>
                </a:solidFill>
                <a:latin typeface="Helvetica Neue"/>
                <a:ea typeface="Helvetica Neue"/>
                <a:cs typeface="Helvetica Neue"/>
              </a:defRPr>
            </a:pPr>
            <a:r>
              <a:rPr sz="1275" b="1">
                <a:solidFill>
                  <a:srgbClr val="10151C"/>
                </a:solidFill>
                <a:latin typeface="Helvetica Neue"/>
                <a:ea typeface="Helvetica Neue"/>
                <a:cs typeface="Helvetica Neue"/>
              </a:rPr>
              <a:t>Hotel trace: step through four frames</a:t>
            </a:r>
          </a:p>
        </p:txBody>
      </p:sp>
      <p:sp>
        <p:nvSpPr>
          <p:cNvPr id="29" name="">
            <a:extLst xmlns:a="http://schemas.openxmlformats.org/drawingml/2006/main">
              <a:ext uri="{FF2B5EF4-FFF2-40B4-BE49-F238E27FC236}">
                <a16:creationId xmlns:a16="http://schemas.microsoft.com/office/drawing/2014/main" id="{F2498425-10CF-4BF3-B1D9-63661958D54F}"/>
              </a:ext>
            </a:extLst>
          </p:cNvPr>
          <p:cNvSpPr>
            <a:spLocks xmlns:a="http://schemas.openxmlformats.org/drawingml/2006/main" noGrp="1"/>
          </p:cNvSpPr>
          <p:nvPr/>
        </p:nvSpPr>
        <p:spPr>
          <a:xfrm xmlns:a="http://schemas.openxmlformats.org/drawingml/2006/main">
            <a:off x="6953250" y="3838575"/>
            <a:ext cx="4095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Evidence appears before the failed final click.</a:t>
            </a:r>
          </a:p>
        </p:txBody>
      </p:sp>
      <p:sp>
        <p:nvSpPr>
          <p:cNvPr id="30" name="">
            <a:extLst xmlns:a="http://schemas.openxmlformats.org/drawingml/2006/main">
              <a:ext uri="{FF2B5EF4-FFF2-40B4-BE49-F238E27FC236}">
                <a16:creationId xmlns:a16="http://schemas.microsoft.com/office/drawing/2014/main" id="{C69A811D-DB52-46DF-A0BF-D5CA6EF5942A}"/>
              </a:ext>
            </a:extLst>
          </p:cNvPr>
          <p:cNvSpPr>
            <a:spLocks xmlns:a="http://schemas.openxmlformats.org/drawingml/2006/main" noGrp="1"/>
          </p:cNvSpPr>
          <p:nvPr/>
        </p:nvSpPr>
        <p:spPr>
          <a:xfrm xmlns:a="http://schemas.openxmlformats.org/drawingml/2006/main">
            <a:off x="6438900" y="4305300"/>
            <a:ext cx="36195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33997D41-5A38-4E7B-9D65-A3A840436457}"/>
              </a:ext>
            </a:extLst>
          </p:cNvPr>
          <p:cNvSpPr>
            <a:spLocks xmlns:a="http://schemas.openxmlformats.org/drawingml/2006/main" noGrp="1"/>
          </p:cNvSpPr>
          <p:nvPr/>
        </p:nvSpPr>
        <p:spPr>
          <a:xfrm xmlns:a="http://schemas.openxmlformats.org/drawingml/2006/main">
            <a:off x="6534150" y="4324350"/>
            <a:ext cx="171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4</a:t>
            </a:r>
          </a:p>
        </p:txBody>
      </p:sp>
      <p:sp>
        <p:nvSpPr>
          <p:cNvPr id="32" name="">
            <a:extLst xmlns:a="http://schemas.openxmlformats.org/drawingml/2006/main">
              <a:ext uri="{FF2B5EF4-FFF2-40B4-BE49-F238E27FC236}">
                <a16:creationId xmlns:a16="http://schemas.microsoft.com/office/drawing/2014/main" id="{04D758AF-E4B0-4489-B41F-E53817A6CA1B}"/>
              </a:ext>
            </a:extLst>
          </p:cNvPr>
          <p:cNvSpPr>
            <a:spLocks xmlns:a="http://schemas.openxmlformats.org/drawingml/2006/main" noGrp="1"/>
          </p:cNvSpPr>
          <p:nvPr/>
        </p:nvSpPr>
        <p:spPr>
          <a:xfrm xmlns:a="http://schemas.openxmlformats.org/drawingml/2006/main">
            <a:off x="6953250" y="4314825"/>
            <a:ext cx="409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10151C"/>
                </a:solidFill>
                <a:latin typeface="Helvetica Neue"/>
                <a:ea typeface="Helvetica Neue"/>
                <a:cs typeface="Helvetica Neue"/>
              </a:defRPr>
            </a:pPr>
            <a:r>
              <a:rPr sz="1275" b="1">
                <a:solidFill>
                  <a:srgbClr val="10151C"/>
                </a:solidFill>
                <a:latin typeface="Helvetica Neue"/>
                <a:ea typeface="Helvetica Neue"/>
                <a:cs typeface="Helvetica Neue"/>
              </a:rPr>
              <a:t>Sort layer and head statistics</a:t>
            </a:r>
          </a:p>
        </p:txBody>
      </p:sp>
      <p:sp>
        <p:nvSpPr>
          <p:cNvPr id="33" name="">
            <a:extLst xmlns:a="http://schemas.openxmlformats.org/drawingml/2006/main">
              <a:ext uri="{FF2B5EF4-FFF2-40B4-BE49-F238E27FC236}">
                <a16:creationId xmlns:a16="http://schemas.microsoft.com/office/drawing/2014/main" id="{390E0808-73A0-40ED-A736-2DDD8CD989C9}"/>
              </a:ext>
            </a:extLst>
          </p:cNvPr>
          <p:cNvSpPr>
            <a:spLocks xmlns:a="http://schemas.openxmlformats.org/drawingml/2006/main" noGrp="1"/>
          </p:cNvSpPr>
          <p:nvPr/>
        </p:nvSpPr>
        <p:spPr>
          <a:xfrm xmlns:a="http://schemas.openxmlformats.org/drawingml/2006/main">
            <a:off x="6953250" y="4581525"/>
            <a:ext cx="4095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Turn observations into intervention hypotheses.</a:t>
            </a:r>
          </a:p>
        </p:txBody>
      </p:sp>
      <p:sp>
        <p:nvSpPr>
          <p:cNvPr id="34" name="">
            <a:extLst xmlns:a="http://schemas.openxmlformats.org/drawingml/2006/main">
              <a:ext uri="{FF2B5EF4-FFF2-40B4-BE49-F238E27FC236}">
                <a16:creationId xmlns:a16="http://schemas.microsoft.com/office/drawing/2014/main" id="{D788E5D3-9682-4303-8753-F2B01219FDA0}"/>
              </a:ext>
            </a:extLst>
          </p:cNvPr>
          <p:cNvSpPr>
            <a:spLocks xmlns:a="http://schemas.openxmlformats.org/drawingml/2006/main" noGrp="1"/>
          </p:cNvSpPr>
          <p:nvPr/>
        </p:nvSpPr>
        <p:spPr>
          <a:xfrm xmlns:a="http://schemas.openxmlformats.org/drawingml/2006/main">
            <a:off x="609600" y="5600700"/>
            <a:ext cx="10972800" cy="476250"/>
          </a:xfrm>
          <a:prstGeom xmlns:a="http://schemas.openxmlformats.org/drawingml/2006/main" prst="roundRect">
            <a:avLst>
              <a:gd name="adj" fmla="val 16000"/>
            </a:avLst>
          </a:prstGeom>
          <a:solidFill xmlns:a="http://schemas.openxmlformats.org/drawingml/2006/main">
            <a:srgbClr val="202C38"/>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EDB32A33-6A55-4926-AA57-31DF0F700464}"/>
              </a:ext>
            </a:extLst>
          </p:cNvPr>
          <p:cNvSpPr>
            <a:spLocks xmlns:a="http://schemas.openxmlformats.org/drawingml/2006/main" noGrp="1"/>
          </p:cNvSpPr>
          <p:nvPr/>
        </p:nvSpPr>
        <p:spPr>
          <a:xfrm xmlns:a="http://schemas.openxmlformats.org/drawingml/2006/main">
            <a:off x="857250" y="5695950"/>
            <a:ext cx="10458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Next decisive experiment: patch intervention across a frozen, matched evaluation split</a:t>
            </a:r>
          </a:p>
        </p:txBody>
      </p:sp>
      <p:sp>
        <p:nvSpPr>
          <p:cNvPr id="36" name="">
            <a:extLst xmlns:a="http://schemas.openxmlformats.org/drawingml/2006/main">
              <a:ext uri="{FF2B5EF4-FFF2-40B4-BE49-F238E27FC236}">
                <a16:creationId xmlns:a16="http://schemas.microsoft.com/office/drawing/2014/main" id="{51F6CCF1-A27F-474D-8591-A9A394E2F5E1}"/>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3A4652"/>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74D795D8-8948-4712-BC2A-110A4EF2FFFC}"/>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8794A2"/>
                </a:solidFill>
                <a:latin typeface="Helvetica Neue"/>
                <a:ea typeface="Helvetica Neue"/>
                <a:cs typeface="Helvetica Neue"/>
              </a:defRPr>
            </a:pPr>
            <a:r>
              <a:rPr sz="750" b="0">
                <a:solidFill>
                  <a:srgbClr val="8794A2"/>
                </a:solidFill>
                <a:latin typeface="Helvetica Neue"/>
                <a:ea typeface="Helvetica Neue"/>
                <a:cs typeface="Helvetica Neue"/>
              </a:rPr>
              <a:t>Viewers: ScreenSpot hit + miss · artifacts/screenspot-presentation/live/hotel-cheapest-multiframe/viewer.html</a:t>
            </a:r>
          </a:p>
        </p:txBody>
      </p:sp>
    </p:spTree>
    <p:extLst>
      <p:ext uri="{BB962C8B-B14F-4D97-AF65-F5344CB8AC3E}">
        <p14:creationId xmlns:p14="http://schemas.microsoft.com/office/powerpoint/2010/main" val="182373158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2026-09-21T07:27:23.7600000Z</dcterms:created>
  <dcterms:modified xsi:type="dcterms:W3CDTF">2026-09-21T07:27:23.7600000Z</dcterms:modified>
</coreProperties>
</file>