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66ad20dc9cc4a02" /><Relationship Type="http://schemas.openxmlformats.org/officeDocument/2006/relationships/extended-properties" Target="/docProps/app.xml" Id="R5ec651c94409423f" /><Relationship Type="http://schemas.openxmlformats.org/officeDocument/2006/relationships/officeDocument" Target="/ppt/presentation.xml" Id="R71405622953f47e7" /></Relationships>
</file>

<file path=ppt/presentation.xml><?xml version="1.0" encoding="utf-8"?>
<p:presentation xmlns:p="http://schemas.openxmlformats.org/presentationml/2006/main">
  <p:sldMasterIdLst>
    <p:sldMasterId xmlns:r="http://schemas.openxmlformats.org/officeDocument/2006/relationships" id="2147483648" r:id="R7bfc8ef8aff648ad"/>
  </p:sldMasterIdLst>
  <p:notesMasterIdLst>
    <p:notesMasterId xmlns:r="http://schemas.openxmlformats.org/officeDocument/2006/relationships" r:id="Rd8174364d75148ad"/>
  </p:notesMasterIdLst>
  <p:sldIdLst>
    <p:sldId xmlns:r="http://schemas.openxmlformats.org/officeDocument/2006/relationships" id="256" r:id="Ra28615d4b4af4956"/>
    <p:sldId xmlns:r="http://schemas.openxmlformats.org/officeDocument/2006/relationships" id="257" r:id="R9c298e91be094925"/>
    <p:sldId xmlns:r="http://schemas.openxmlformats.org/officeDocument/2006/relationships" id="258" r:id="R7cce791d41b34756"/>
    <p:sldId xmlns:r="http://schemas.openxmlformats.org/officeDocument/2006/relationships" id="259" r:id="R21c7e8d30cf1439c"/>
    <p:sldId xmlns:r="http://schemas.openxmlformats.org/officeDocument/2006/relationships" id="260" r:id="R070d082e59454ea8"/>
    <p:sldId xmlns:r="http://schemas.openxmlformats.org/officeDocument/2006/relationships" id="261" r:id="Ra3d47588af7d44e1"/>
    <p:sldId xmlns:r="http://schemas.openxmlformats.org/officeDocument/2006/relationships" id="262" r:id="Ree05b333b61b4179"/>
    <p:sldId xmlns:r="http://schemas.openxmlformats.org/officeDocument/2006/relationships" id="263" r:id="Re633bc02ed024762"/>
    <p:sldId xmlns:r="http://schemas.openxmlformats.org/officeDocument/2006/relationships" id="264" r:id="R145f8158ea9b4461"/>
    <p:sldId xmlns:r="http://schemas.openxmlformats.org/officeDocument/2006/relationships" id="265" r:id="R5af917bd745b45c4"/>
    <p:sldId xmlns:r="http://schemas.openxmlformats.org/officeDocument/2006/relationships" id="266" r:id="R048a8c3aaf7e4a8f"/>
    <p:sldId xmlns:r="http://schemas.openxmlformats.org/officeDocument/2006/relationships" id="267" r:id="R1095a55283254a60"/>
    <p:sldId xmlns:r="http://schemas.openxmlformats.org/officeDocument/2006/relationships" id="268" r:id="R953154b8e0194ccf"/>
    <p:sldId xmlns:r="http://schemas.openxmlformats.org/officeDocument/2006/relationships" id="269" r:id="R8088beb003bc456c"/>
    <p:sldId xmlns:r="http://schemas.openxmlformats.org/officeDocument/2006/relationships" id="270" r:id="Re4178e95718c41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30d668ea2d4f4e" /><Relationship Type="http://schemas.openxmlformats.org/officeDocument/2006/relationships/slideMaster" Target="/ppt/slideMasters/slideMaster1.xml" Id="R7bfc8ef8aff648ad" /><Relationship Type="http://schemas.openxmlformats.org/officeDocument/2006/relationships/notesMaster" Target="/ppt/notesMasters/notesMaster1.xml" Id="Rd8174364d75148ad" /><Relationship Type="http://schemas.openxmlformats.org/officeDocument/2006/relationships/presProps" Target="/ppt/presProps.xml" Id="R336375564f474225" /><Relationship Type="http://schemas.openxmlformats.org/officeDocument/2006/relationships/tableStyles" Target="/ppt/tableStyles.xml" Id="R730b2cec39fe4a64" /><Relationship Type="http://schemas.openxmlformats.org/officeDocument/2006/relationships/slide" Target="/ppt/slides/slide1.xml" Id="Ra28615d4b4af4956" /><Relationship Type="http://schemas.openxmlformats.org/officeDocument/2006/relationships/slide" Target="/ppt/slides/slide2.xml" Id="R9c298e91be094925" /><Relationship Type="http://schemas.openxmlformats.org/officeDocument/2006/relationships/slide" Target="/ppt/slides/slide3.xml" Id="R7cce791d41b34756" /><Relationship Type="http://schemas.openxmlformats.org/officeDocument/2006/relationships/slide" Target="/ppt/slides/slide4.xml" Id="R21c7e8d30cf1439c" /><Relationship Type="http://schemas.openxmlformats.org/officeDocument/2006/relationships/slide" Target="/ppt/slides/slide5.xml" Id="R070d082e59454ea8" /><Relationship Type="http://schemas.openxmlformats.org/officeDocument/2006/relationships/slide" Target="/ppt/slides/slide6.xml" Id="Ra3d47588af7d44e1" /><Relationship Type="http://schemas.openxmlformats.org/officeDocument/2006/relationships/slide" Target="/ppt/slides/slide7.xml" Id="Ree05b333b61b4179" /><Relationship Type="http://schemas.openxmlformats.org/officeDocument/2006/relationships/slide" Target="/ppt/slides/slide8.xml" Id="Re633bc02ed024762" /><Relationship Type="http://schemas.openxmlformats.org/officeDocument/2006/relationships/slide" Target="/ppt/slides/slide9.xml" Id="R145f8158ea9b4461" /><Relationship Type="http://schemas.openxmlformats.org/officeDocument/2006/relationships/slide" Target="/ppt/slides/slide10.xml" Id="R5af917bd745b45c4" /><Relationship Type="http://schemas.openxmlformats.org/officeDocument/2006/relationships/slide" Target="/ppt/slides/slide11.xml" Id="R048a8c3aaf7e4a8f" /><Relationship Type="http://schemas.openxmlformats.org/officeDocument/2006/relationships/slide" Target="/ppt/slides/slide12.xml" Id="R1095a55283254a60" /><Relationship Type="http://schemas.openxmlformats.org/officeDocument/2006/relationships/slide" Target="/ppt/slides/slide13.xml" Id="R953154b8e0194ccf" /><Relationship Type="http://schemas.openxmlformats.org/officeDocument/2006/relationships/slide" Target="/ppt/slides/slide14.xml" Id="R8088beb003bc456c" /><Relationship Type="http://schemas.openxmlformats.org/officeDocument/2006/relationships/slide" Target="/ppt/slides/slide15.xml" Id="Re4178e95718c41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bee2d29aa849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365264481640be" /><Relationship Type="http://schemas.openxmlformats.org/officeDocument/2006/relationships/notesMaster" Target="/ppt/notesMasters/notesMaster1.xml" Id="R2af98ee478ca4f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581673a82f4f55" /><Relationship Type="http://schemas.openxmlformats.org/officeDocument/2006/relationships/notesMaster" Target="/ppt/notesMasters/notesMaster1.xml" Id="R702a7fd4ef9144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409ad4f77d41ee" /><Relationship Type="http://schemas.openxmlformats.org/officeDocument/2006/relationships/notesMaster" Target="/ppt/notesMasters/notesMaster1.xml" Id="Rd843bad2b3f74d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3217d64cda4749" /><Relationship Type="http://schemas.openxmlformats.org/officeDocument/2006/relationships/notesMaster" Target="/ppt/notesMasters/notesMaster1.xml" Id="R670926e5a68248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72e80ae39241dc" /><Relationship Type="http://schemas.openxmlformats.org/officeDocument/2006/relationships/notesMaster" Target="/ppt/notesMasters/notesMaster1.xml" Id="Rc04a2e9bdba640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3136ce15aa4c7a" /><Relationship Type="http://schemas.openxmlformats.org/officeDocument/2006/relationships/notesMaster" Target="/ppt/notesMasters/notesMaster1.xml" Id="R9d59b27ceae84c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e686e1b08c4fad" /><Relationship Type="http://schemas.openxmlformats.org/officeDocument/2006/relationships/notesMaster" Target="/ppt/notesMasters/notesMaster1.xml" Id="R10b844bddc8444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fd891f5e2794c4f" /><Relationship Type="http://schemas.openxmlformats.org/officeDocument/2006/relationships/notesMaster" Target="/ppt/notesMasters/notesMaster1.xml" Id="Rbb3d86e6f26143d3"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edc334473444ad" /><Relationship Type="http://schemas.openxmlformats.org/officeDocument/2006/relationships/notesMaster" Target="/ppt/notesMasters/notesMaster1.xml" Id="R1fa363c6dd004b8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b2b2a4d0894e2d" /><Relationship Type="http://schemas.openxmlformats.org/officeDocument/2006/relationships/notesMaster" Target="/ppt/notesMasters/notesMaster1.xml" Id="Ra95fad95831242b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7abae096fb54ea9" /><Relationship Type="http://schemas.openxmlformats.org/officeDocument/2006/relationships/notesMaster" Target="/ppt/notesMasters/notesMaster1.xml" Id="Rd7fefd62ddf8437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13100a804704820" /><Relationship Type="http://schemas.openxmlformats.org/officeDocument/2006/relationships/notesMaster" Target="/ppt/notesMasters/notesMaster1.xml" Id="R66d75060e517488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205d1f3817421b" /><Relationship Type="http://schemas.openxmlformats.org/officeDocument/2006/relationships/notesMaster" Target="/ppt/notesMasters/notesMaster1.xml" Id="R13c9f4bde493421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4626e9695df42a2" /><Relationship Type="http://schemas.openxmlformats.org/officeDocument/2006/relationships/notesMaster" Target="/ppt/notesMasters/notesMaster1.xml" Id="R061b5e76e3904fd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147638fa04f42de" /><Relationship Type="http://schemas.openxmlformats.org/officeDocument/2006/relationships/notesMaster" Target="/ppt/notesMasters/notesMaster1.xml" Id="Rc0ddd27aef0a4e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subject: how visual evidence reaches GUI actions, where resolution disrupts that route, and how fine-tuning changes the internal coordinate state.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Introduce two complementary capabilities. ScreenSpot-Pro isolates static UI localization from one screenshot and instruction. The synthetic hotel environment tests context retrieval and action formation across a sequence of screenshots. The paired pilot runs Holo and its Qwen base independently on six audited cases at native resolution, using the official HoloDesktop 0.1.10 tools, normalized coordinates, a four-action cap, and the three-screenshot retention policy. Sources: docs/screenspot-case-study.md, docs/hotel-freegen-paired-v1.md, and artifacts/screenspot-presentation/hotel-freegen-paired-v1-summary.json.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 This is the complete local replication: 1,581 items, 1,042 strict point-in-box successes, no request failures, and 100% valid JSON. The 65.9% result is 0.6 percentage point below the approximately 66.5% Holo3.1-4B reference supplied by the project owner. ScreenSpot-Pro's UI type describes the annotated click target: icon means no text hint is present; targets with text labels belong to the text category even when an icon is also present. Raw accuracy is 79.4% for text targets and 44.0% for icon targets. The bottom matrix remains a diagnostic raw breakdown. Its action columns use our first-recognized-verb dictionary rather than an official ScreenSpot-Pro label. Icon plus file or transfer actions are lowest at 36.1% on 36 items. Icon plus navigation or reveal is the larger weak cell at 40.3% on 149 items. Do not interpret the raw UI split before examining target geometry on the next slide. Sources: data/remote-results/run/screenspot-full-official/summary.json, artifacts/screenspot-presentation/screenspot-benchmark-breakdown.json, and https://openreview.net/pdf?id=BS75DmIsRL.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2:10–2:55 — Show the observed geometry before interpreting the raw icon-versus-text accuracy gap. Each item's target area is its annotated bounding-box area divided by screenshot area. The histogram uses fixed area buckets and normalizes separately within the 604 icon targets and 977 text targets, so each series sums to 100%. The median normalized text-target area is 4.77 times the icon median. Median heights are nearly identical at 25 versus 24 pixels, while median widths are 111 versus 26 pixels. Strict ScreenSpot accuracy is point-in-box, so wider text boxes provide more click tolerance. This distribution is more transparent than a single model-adjusted gap. It does not establish how much of the performance gap target size causes. Sources: artifacts/screenspot-presentation/screenspot-target-size-analysis.json, scripts/analyze_screenspot_target_size.py, and the official annotations at revision 210e78d3844251110bff86c95835ebd37a6930fa.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2:55–3:50 — This is a paired success-retention experiment, not a new unconditional ScreenSpot-Pro accuracy estimate. We froze 36 items that were strict hits in the full native-resolution run: six size-spread targets in each application-by-UI-type stratum across Photoshop, PowerPoint, and VS Code. Every item was rerun in one Holo model process at 100%, 75%, 50%, and 25% of its original width and height using Lanczos downsampling. The official localization prompt, VisualLocalizerOutput schema, temperature zero, thinking-disabled decoding, and normalized 0–1000 coordinates remain fixed. The server stays at image_max_pixels 16777216, so it cannot add a second hidden resize. The same-run native rerun is 36 of 36. Retention is 25 of 36 at 75%, 22 of 36 at 50%, and 4 of 36 at 25% linear resolution. Wilson 95% intervals are 53.1 to 82.0%, 44.9 to 75.2%, and 4.4 to 25.3%. At half resolution, text targets retain 15 of 18 clicks while icon targets retain 7 of 18. Retained targets have about 4.1 times the median normalized area of failures. All 144 completions are valid JSON. The cohort is selected on native success, so use this as evidence of resolution sensitivity, not as the benchmark's full accuracy curve. Sources: artifacts/screenspot-presentation/screenspot-resolution-ablation-v1.json, docs/screenspot-resolution-ablation.md, and benchmarks/resolution_ablation/screenspot_success_retention_v1.json.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3:50–4:30 — This expands the six-case pilot to 18 native-resolution successes, balanced at three cases in each application-by-UI-type stratum across Photoshop, PowerPoint, and VS Code. Each case runs at 100, 75, 50, and 25 percent linear resolution. At every scale, Holo receives the official localization prompt and VisualLocalizerOutput contract, then the eager-attention harness traces the freely generated coordinate tokens. The primary attribution is value-norm rollout after subtracting the mean of four visible same-image alternate instructions. Median target-specific mass falls from 5.22 percent at native resolution to 2.18, 1.16, and 0.21 percent as resolution decreases, a 24-fold cohort-level reduction at quarter resolution. The paired within-case median retains 6.23 percent of native target mass at quarter resolution, with a bootstrap 95 percent interval of 0.18 to 14.47 percent. Median target lift falls from 168.7 to 5.4, and median best-target-patch rank falls from first to 6.5. Strict hits fall from 18 of 18 to 12, 10, and 3 of 18. In the exact Photoshop trace shown here, the processor records a 90 by 160 raw visual patch grid at native resolution and 22 by 40 at quarter resolution. With the model's two-by-two spatial merge, that is about 3,600 versus 220 visual tokens. The lower-resolution input is therefore not padded back to a fixed approximately one-thousand-token budget; the remaining resolution confounds are reduced spatial sampling and downsampling or aliasing. Localization loss explains most failures, but not all: 7 of 29 non-native misses still place the highest prompt-differential patch inside the oracle, including 3 of 8 misses at half resolution and 3 of 15 at quarter resolution. This repeatable dissociation motivates a separate coordinate-readout hypothesis. The cohort is conditioned on native success and remains a paired sensitivity diagnostic rather than an unconditional benchmark estimate. Sources: artifacts/screenspot-presentation/resolution-saliency-cohort18-v1/summary.json, data/remote-results/screenspot-resolution-saliency-pilot-v1, and docs/screenspot-resolution-saliency-cohort18.md.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4:30–5:30 — Pull back to the larger screenshot context. The left panel is value-norm rollout for Holo's freely generated x/y coordinate tokens without an instruction baseline. It puts 4.43% of positive mass in the tiny oracle, a 110.7x lift, but also retains saliency shared across the image edge, upper-left chrome, and broad canvas structure. The right panel subtracts the mean of four separately measured same-image instructions: Cut, Copy, Send backward, and Add comment. This resting-state-like control suppresses those instruction-invariant false positives and raises target-specific concentration to 18.58% and 464.4x lift; the minimum leave-one-control-out cosine is 0.991. Both panels use the same native 2880x1800 screenshot, official localization prompt, Holo output (209,243), and x/y token aggregation. The subtraction isolates instruction-conditioned saliency; neither map by itself proves a causal mechanism.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5:30–6:20 — This failure uses the same full-resolution official protocol and a four-instruction same-image baseline. Holo freely emits (124,73), projecting to (357.1,131.4) pixels. The x coordinate falls inside the annotated proofing-language control, while y lands 7.4 pixels below its bottom edge. After value-norm rollout and subtraction of Check accessibility, Translate, Add comment, and Show comments, the peak patch remains inside the oracle. The tiny box receives 17.15% of positive residual mass, a 278.6x lift, with a 0.951 leave-one-control-out floor. This pattern is consistent with localized visual evidence followed by imprecise coordinate extraction. Attention remains descriptive rather than causal.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6:20–7:20 — This slide now reports the paired free-generation pilot rather than a single success. The primary cohort contains six frozen cases whose deterministic route requires no more than three scrolls before the click. Holo succeeds on two of six and produces four malformed structured actions. Qwen succeeds on zero of six, with two malformed actions, two runs reaching the action cap, and two incorrect clicks. The chart therefore supports action-policy and output-contract fragility, but it does not isolate visual understanding. The visual is Holo's successful native-resolution test-0010 replicate: two scrolls followed by click (1023,216) on Fjord Compass Lodge at €166. The final value-norm rollout is rendered across the two retained history frames and the current frame. These are raw descriptive maps without same-image diverse-instruction subtraction. Qwen's corresponding traced run ends before its first executable action, so we do not present it as a matched final-click attribution comparison. Test-0000 remains archived but is excluded because its golden route requires four scrolls. Sources: artifacts/screenspot-presentation/hotel-freegen-paired-v1-summary.json; artifacts/screenspot-presentation/hotel-freegen-paired-v1-attribution/trajectory.json; docs/hotel-freegen-paired-v1.md; data/remote-results/hotel-freegen-paired-v1-20260922.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7:20–8:20 — Define the causal panel without phase labels. Four equal-size tile pairs produce eight mirrored instructions. The corruption swaps the target and distractor tiles without resizing or changing the prompt. Both checkpoints receive the Holo processor and official VisualLocalizerOutput request. The model is teacher-forced through equal-length coordinate candidates. The metric is the x-digit log-probability margin because the paired y coordinate stays fixed in this horizontal panel. First screen visual-region residuals and coordinate states across layers. Then test the selected Layer 15 coordinate state and all sixteen attention heads. Sources: benchmarks/activation_patching/qwen_holo_action_panel_v1 and benchmarks/activation_patching/qwen_holo_action_panel_v1_phase_b_layer15.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8:20–9:20 — Lead with the directly interpretable intervention. Replacing the corrupted-run Layer 15 x-coordinate residual with the clean-run state raises Holo's target-over-distractor margin by a median 1.01 nats in seven of eight prompts. Qwen's median is 0.10 nats and is positive in five of eight. The paired Holo-minus-Qwen median is 0.718 nats. Because the margin is a log target-versus-distractor sequence likelihood ratio, exponentiating the paired difference gives a 2.05-times likelihood-ratio recovery, or 105 percent larger. A paired nonparametric bootstrap gives a 95 percent interval of 1.74 to 3.15 times. An exact one-sided paired sign-flip test over all 256 assignments gives p=0.0078; with only eight mirrored prompts from four synthetic image pairs, treat this as exploratory within-panel evidence rather than population-level benchmark significance. Zero-ablation means setting that same Layer 15 coordinate residual to zero in the clean run, then measuring the clean-margin loss: 4.51 nats for Holo and 6.27 for Qwen. Both checkpoints rely on the state, so fine-tuning increases recoverability rather than creating a Holo-exclusive circuit. The all-head sweep also rejects a single-head explanation. Sources: artifacts/screenspot-presentation/causal-panel-statistics-v1.json, data/remote-results/qwen-holo-action-panel-v1-20260922, and data/remote-results/qwen-holo-action-panel-v1-20260922-phase-b-layer15.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9:20–10:10 — The 18-case resolution-attribution cohort is complete, so it is no longer listed as future work. The next resolution experiment should separate reduced spatial sampling from resampling artifacts by independently controlling image blur and visual-grid size. The hotel pilot motivates two tests: add same-image alternate-instruction controls to the multi-frame traces, then intervene on retained frames; and cross checkpoint with the tool-call contract and decoding budget because Holo and Qwen fail in different action-interface modes. The Layer 15 panel has a paired effect across eight mirrored prompts, but it still needs independent screenshots and applications before a broad mechanism claim. Sources: artifacts/screenspot-presentation/resolution-saliency-cohort18-v1/summary.json; artifacts/screenspot-presentation/hotel-freegen-paired-v1-summary.json; artifacts/screenspot-presentation/causal-panel-statistics-v1.json; docs/hotel-freegen-paired-v1.md.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10:10–11:10 — Close on the combined evidence. ScreenSpot replication shows that geometry and resolution strongly condition localization. Only four of 36 native-success clicks survive at quarter resolution, and the balanced 18-case attribution cohort finds a 24-fold drop in median target-specific mass. Most reduced-resolution misses also lose target localization, but 7 of 29 still place the highest task-specific patch inside the annotated target. In the paired hotel pilot, Holo completes two of six audited cases and Qwen completes none. Holo's traced success carries value-weighted attention across all three retained frames, while the cohort failures are dominated by malformed actions, excess scrolling, and wrong clicks. This supports action-interface fragility after visual inspection, although the small pilot does not isolate perception from policy. The causal panel adds a model-comparison result: Holo develops a more recoverable Layer 15 coordinate state than Qwen, but both models rely on the state and no single attention head explains it. The strongest current hypothesis is that fine-tuning improves action-state formation and coordinate extraction more clearly than it improves target-directed visual attention.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methods slide — Value-norm multiplies attention weights by the corresponding value-vector magnitude before normalization. Residual-aware rollout mixes each captured full-attention matrix with identity and composes the eight matrices in model order. We average only the generated x/y value-token maps. The raw map asks where the coordinate route goes. The diverse-instruction baseline subtracts four same-image alternate tasks and asks what remains specific to the target instruction. Target lift compares positive target mass with the target's share of image area. Hybrid Gated DeltaNet layers do not expose an equivalent square attention matrix and therefore sit outside this rollout.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Read across by action family and down by the benchmark's official target-element label. ScreenSpot-Pro defines icon targets as elements with no text hint; any target with a text label belongs to the text category even when it also includes an icon. The action-family columns are our deterministic instruction-verb taxonomy, not official benchmark labels. Each cell shows cohort accuracy and one real completed instruction selected for clear category membership. We replaced two visually ambiguous Blender examples after review because their released ui_type annotations appear inconsistent with the paper's stated rule. The Other bucket is omitted from the 2 × 6 grid; it contains 373 items at 64.1% accuracy. Sources: https://openreview.net/pdf?id=BS75DmIsRL, https://huggingface.co/datasets/yyyang/UI-Grounding-Benchmarks/blob/main/ScreenSpot-Pro/annotations/blender_windows.json, data/remote-results/run/screenspot-full-official/summary.json, and artifacts/screenspot-presentation/screenspot-category-examples.json.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587ae3160647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cfd320335646bd" /><Relationship Type="http://schemas.openxmlformats.org/officeDocument/2006/relationships/slideLayout" Target="/ppt/slideLayouts/slideLayout1.xml" Id="R78e9f30a8c2943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e9f30a8c2943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c169b007d394d1a" /><Relationship Type="http://schemas.openxmlformats.org/officeDocument/2006/relationships/image" Target="/ppt/media/image.png" Id="Rb85c54a24ba048fc" /><Relationship Type="http://schemas.openxmlformats.org/officeDocument/2006/relationships/notesSlide" Target="/ppt/notesSlides/notesSlide1.xml" Id="R896df779dd944a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85c6a3a2d8c4302" /><Relationship Type="http://schemas.openxmlformats.org/officeDocument/2006/relationships/notesSlide" Target="/ppt/notesSlides/notesSlide2.xml" Id="R451e6d6e6c8849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5faa10bf48a4536" /><Relationship Type="http://schemas.openxmlformats.org/officeDocument/2006/relationships/chart" Target="/ppt/slides/charts/chart1.xml" Id="Reabb1d9c43334b0b" /><Relationship Type="http://schemas.openxmlformats.org/officeDocument/2006/relationships/notesSlide" Target="/ppt/notesSlides/notesSlide3.xml" Id="R936ca8b265af4e2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e9f9db5a36d4ccc" /><Relationship Type="http://schemas.openxmlformats.org/officeDocument/2006/relationships/chart" Target="/ppt/slides/charts/chart2.xml" Id="R2e031e790f3145bf" /><Relationship Type="http://schemas.openxmlformats.org/officeDocument/2006/relationships/notesSlide" Target="/ppt/notesSlides/notesSlide4.xml" Id="R2cd9268faf9543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ccaa7bb77ca4f54" /><Relationship Type="http://schemas.openxmlformats.org/officeDocument/2006/relationships/chart" Target="/ppt/slides/charts/chart3.xml" Id="Rcd3ac5d1061e4c6a" /><Relationship Type="http://schemas.openxmlformats.org/officeDocument/2006/relationships/notesSlide" Target="/ppt/notesSlides/notesSlide5.xml" Id="R113bc6f1b8184e4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081fc40dc7c4113" /><Relationship Type="http://schemas.openxmlformats.org/officeDocument/2006/relationships/image" Target="/ppt/media/image2.png" Id="R6951d2d9edd54b44" /><Relationship Type="http://schemas.openxmlformats.org/officeDocument/2006/relationships/image" Target="/ppt/media/image3.png" Id="Ra422c12ea6f14b6a" /><Relationship Type="http://schemas.openxmlformats.org/officeDocument/2006/relationships/image" Target="/ppt/media/image4.png" Id="R6701eab403794f75" /><Relationship Type="http://schemas.openxmlformats.org/officeDocument/2006/relationships/image" Target="/ppt/media/image5.png" Id="R581c5a3280a245bb" /><Relationship Type="http://schemas.openxmlformats.org/officeDocument/2006/relationships/notesSlide" Target="/ppt/notesSlides/notesSlide6.xml" Id="R2179a56cc5b540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b87075f4ddd41d6" /><Relationship Type="http://schemas.openxmlformats.org/officeDocument/2006/relationships/image" Target="/ppt/media/image6.png" Id="Rd6ac5bad92da4625" /><Relationship Type="http://schemas.openxmlformats.org/officeDocument/2006/relationships/image" Target="/ppt/media/image7.png" Id="R1b5a7cb273f74d64" /><Relationship Type="http://schemas.openxmlformats.org/officeDocument/2006/relationships/notesSlide" Target="/ppt/notesSlides/notesSlide7.xml" Id="Re366113c24d8446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65dd57a61284d80" /><Relationship Type="http://schemas.openxmlformats.org/officeDocument/2006/relationships/image" Target="/ppt/media/image8.png" Id="R84d2246ecef6401a" /><Relationship Type="http://schemas.openxmlformats.org/officeDocument/2006/relationships/notesSlide" Target="/ppt/notesSlides/notesSlide8.xml" Id="Re67d9ec0e514402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b9e4ae39e9746d4" /><Relationship Type="http://schemas.openxmlformats.org/officeDocument/2006/relationships/chart" Target="/ppt/slides/charts/chart4.xml" Id="Racf8d5cd0d8d46ac" /><Relationship Type="http://schemas.openxmlformats.org/officeDocument/2006/relationships/image" Target="/ppt/media/image9.png" Id="R745bafd83b6446ea" /><Relationship Type="http://schemas.openxmlformats.org/officeDocument/2006/relationships/image" Target="/ppt/media/image10.png" Id="R568377b8c5824220" /><Relationship Type="http://schemas.openxmlformats.org/officeDocument/2006/relationships/image" Target="/ppt/media/image11.png" Id="R27ed1802803b4991" /><Relationship Type="http://schemas.openxmlformats.org/officeDocument/2006/relationships/notesSlide" Target="/ppt/notesSlides/notesSlide9.xml" Id="Rb145964274d747b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a70a7fa24bb4182" /><Relationship Type="http://schemas.openxmlformats.org/officeDocument/2006/relationships/image" Target="/ppt/media/image12.png" Id="Rfebd93c15085444f" /><Relationship Type="http://schemas.openxmlformats.org/officeDocument/2006/relationships/image" Target="/ppt/media/image13.png" Id="R4ff80890be7e42ee" /><Relationship Type="http://schemas.openxmlformats.org/officeDocument/2006/relationships/notesSlide" Target="/ppt/notesSlides/notesSlide10.xml" Id="R0a12fbd88b7a4ce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bf6377b833543c2" /><Relationship Type="http://schemas.openxmlformats.org/officeDocument/2006/relationships/notesSlide" Target="/ppt/notesSlides/notesSlide11.xml" Id="R9d1e4be5cb5a412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9603fc483964220" /><Relationship Type="http://schemas.openxmlformats.org/officeDocument/2006/relationships/notesSlide" Target="/ppt/notesSlides/notesSlide12.xml" Id="Rd7b715361c2e404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8ea0faf9bf64d32" /><Relationship Type="http://schemas.openxmlformats.org/officeDocument/2006/relationships/notesSlide" Target="/ppt/notesSlides/notesSlide13.xml" Id="R95c0628b86bf4c5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4139e6ea62241e5" /><Relationship Type="http://schemas.openxmlformats.org/officeDocument/2006/relationships/notesSlide" Target="/ppt/notesSlides/notesSlide14.xml" Id="Rf3691a069bb340f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f565bc294444942" /><Relationship Type="http://schemas.openxmlformats.org/officeDocument/2006/relationships/notesSlide" Target="/ppt/notesSlides/notesSlide15.xml" Id="Re31874cfadac426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Accuracy</c:v>
          </c:tx>
          <c:spPr>
            <a:solidFill xmlns:a="http://schemas.openxmlformats.org/drawingml/2006/main">
              <a:srgbClr val="2D84D3"/>
            </a:solidFill>
          </c:spPr>
          <c:cat>
            <c:strRef>
              <c:f>'Chart Data'!$A$2:$A$3</c:f>
              <c:strCache>
                <c:ptCount val="2"/>
                <c:pt idx="0">
                  <c:v>Text targets  n=977</c:v>
                </c:pt>
                <c:pt idx="1">
                  <c:v>Icon targets  n=604</c:v>
                </c:pt>
              </c:strCache>
            </c:strRef>
          </c:cat>
          <c:val>
            <c:numRef>
              <c:f>'Chart Data'!$B$2:$B$3</c:f>
              <c:numCache>
                <c:formatCode>General</c:formatCode>
                <c:ptCount val="2"/>
                <c:pt idx="0">
                  <c:v>0.7943</c:v>
                </c:pt>
                <c:pt idx="1">
                  <c:v>0.4404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b="1">
                <a:solidFill>
                  <a:srgbClr val="10151C"/>
                </a:solidFill>
                <a:latin typeface="Helvetica Neue"/>
                <a:ea typeface="Helvetica Neue"/>
                <a:cs typeface="Helvetica Neue"/>
              </a:defRPr>
            </a:pPr>
          </a:p>
        </c:txPr>
        <c:crossAx val="48650112"/>
        <c:crossBetween val="between"/>
      </c:valAx>
      <c:spPr>
        <a:solidFill xmlns:a="http://schemas.openxmlformats.org/drawingml/2006/main">
          <a:srgbClr val="F5F2EB"/>
        </a:solidFill>
        <a:ln xmlns:a="http://schemas.openxmlformats.org/drawingml/2006/main" w="0">
          <a:noFill/>
        </a:ln>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Icon</c:v>
          </c:tx>
          <c:spPr>
            <a:solidFill xmlns:a="http://schemas.openxmlformats.org/drawingml/2006/main">
              <a:srgbClr val="F05A3C"/>
            </a:solidFill>
          </c:spPr>
          <c:cat>
            <c:strRef>
              <c:f>'Chart Data'!$A$2:$A$8</c:f>
              <c:strCache>
                <c:ptCount val="7"/>
                <c:pt idx="0">
                  <c:v>&lt;0.01%</c:v>
                </c:pt>
                <c:pt idx="1">
                  <c:v>0.01–0.02%</c:v>
                </c:pt>
                <c:pt idx="2">
                  <c:v>0.02–0.05%</c:v>
                </c:pt>
                <c:pt idx="3">
                  <c:v>0.05–0.10%</c:v>
                </c:pt>
                <c:pt idx="4">
                  <c:v>0.10–0.20%</c:v>
                </c:pt>
                <c:pt idx="5">
                  <c:v>0.20–0.50%</c:v>
                </c:pt>
                <c:pt idx="6">
                  <c:v>≥0.50%</c:v>
                </c:pt>
              </c:strCache>
            </c:strRef>
          </c:cat>
          <c:val>
            <c:numRef>
              <c:f>'Chart Data'!$B$2:$B$8</c:f>
              <c:numCache>
                <c:formatCode>General</c:formatCode>
                <c:ptCount val="7"/>
                <c:pt idx="0">
                  <c:v>35.4</c:v>
                </c:pt>
                <c:pt idx="1">
                  <c:v>38.9</c:v>
                </c:pt>
                <c:pt idx="2">
                  <c:v>19.5</c:v>
                </c:pt>
                <c:pt idx="3">
                  <c:v>4.1</c:v>
                </c:pt>
                <c:pt idx="4">
                  <c:v>0.8</c:v>
                </c:pt>
                <c:pt idx="5">
                  <c:v>0.7</c:v>
                </c:pt>
                <c:pt idx="6">
                  <c:v>0.5</c:v>
                </c:pt>
              </c:numCache>
            </c:numRef>
          </c:val>
        </c:ser>
        <c:ser>
          <c:idx val="1"/>
          <c:order val="1"/>
          <c:tx>
            <c:v>Text</c:v>
          </c:tx>
          <c:spPr>
            <a:solidFill xmlns:a="http://schemas.openxmlformats.org/drawingml/2006/main">
              <a:srgbClr val="2D84D3"/>
            </a:solidFill>
          </c:spPr>
          <c:cat>
            <c:strRef>
              <c:f>'Chart Data'!$C$2:$C$8</c:f>
              <c:strCache>
                <c:ptCount val="7"/>
                <c:pt idx="0">
                  <c:v>&lt;0.01%</c:v>
                </c:pt>
                <c:pt idx="1">
                  <c:v>0.01–0.02%</c:v>
                </c:pt>
                <c:pt idx="2">
                  <c:v>0.02–0.05%</c:v>
                </c:pt>
                <c:pt idx="3">
                  <c:v>0.05–0.10%</c:v>
                </c:pt>
                <c:pt idx="4">
                  <c:v>0.10–0.20%</c:v>
                </c:pt>
                <c:pt idx="5">
                  <c:v>0.20–0.50%</c:v>
                </c:pt>
                <c:pt idx="6">
                  <c:v>≥0.50%</c:v>
                </c:pt>
              </c:strCache>
            </c:strRef>
          </c:cat>
          <c:val>
            <c:numRef>
              <c:f>'Chart Data'!$D$2:$D$8</c:f>
              <c:numCache>
                <c:formatCode>General</c:formatCode>
                <c:ptCount val="7"/>
                <c:pt idx="0">
                  <c:v>4.6</c:v>
                </c:pt>
                <c:pt idx="1">
                  <c:v>8.5</c:v>
                </c:pt>
                <c:pt idx="2">
                  <c:v>24</c:v>
                </c:pt>
                <c:pt idx="3">
                  <c:v>37.6</c:v>
                </c:pt>
                <c:pt idx="4">
                  <c:v>20.5</c:v>
                </c:pt>
                <c:pt idx="5">
                  <c:v>3.9</c:v>
                </c:pt>
                <c:pt idx="6">
                  <c:v>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Target area as share of screenshot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Share within UI type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Success retention</c:v>
          </c:tx>
          <c:spPr>
            <a:solidFill xmlns:a="http://schemas.openxmlformats.org/drawingml/2006/main">
              <a:srgbClr val="2D84D3"/>
            </a:solidFill>
          </c:spPr>
          <c:cat>
            <c:strRef>
              <c:f>'Chart Data'!$A$2:$A$5</c:f>
              <c:strCache>
                <c:ptCount val="4"/>
                <c:pt idx="0">
                  <c:v>100%
100% area</c:v>
                </c:pt>
                <c:pt idx="1">
                  <c:v>75%
56% area</c:v>
                </c:pt>
                <c:pt idx="2">
                  <c:v>50%
25% area</c:v>
                </c:pt>
                <c:pt idx="3">
                  <c:v>25%
6.25% area</c:v>
                </c:pt>
              </c:strCache>
            </c:strRef>
          </c:cat>
          <c:val>
            <c:numRef>
              <c:f>'Chart Data'!$B$2:$B$5</c:f>
              <c:numCache>
                <c:formatCode>General</c:formatCode>
                <c:ptCount val="4"/>
                <c:pt idx="0">
                  <c:v>100</c:v>
                </c:pt>
                <c:pt idx="1">
                  <c:v>69.4</c:v>
                </c:pt>
                <c:pt idx="2">
                  <c:v>61.1</c:v>
                </c:pt>
                <c:pt idx="3">
                  <c:v>11.1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Linear resolution and retained source area</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Previously correct clicks retained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Success</c:v>
          </c:tx>
          <c:spPr>
            <a:solidFill xmlns:a="http://schemas.openxmlformats.org/drawingml/2006/main">
              <a:srgbClr val="18A875"/>
            </a:solidFill>
          </c:spPr>
          <c:cat>
            <c:strRef>
              <c:f>'Chart Data'!$A$2:$A$3</c:f>
              <c:strCache>
                <c:ptCount val="2"/>
                <c:pt idx="0">
                  <c:v>Qwen 3.5 4B</c:v>
                </c:pt>
                <c:pt idx="1">
                  <c:v>Holo 3.1 4B</c:v>
                </c:pt>
              </c:strCache>
            </c:strRef>
          </c:cat>
          <c:val>
            <c:numRef>
              <c:f>'Chart Data'!$B$2:$B$3</c:f>
              <c:numCache>
                <c:formatCode>General</c:formatCode>
                <c:ptCount val="2"/>
                <c:pt idx="0">
                  <c:v>0</c:v>
                </c:pt>
                <c:pt idx="1">
                  <c:v>2</c:v>
                </c:pt>
              </c:numCache>
            </c:numRef>
          </c:val>
        </c:ser>
        <c:ser>
          <c:idx val="1"/>
          <c:order val="1"/>
          <c:tx>
            <c:v>Invalid action</c:v>
          </c:tx>
          <c:spPr>
            <a:solidFill xmlns:a="http://schemas.openxmlformats.org/drawingml/2006/main">
              <a:srgbClr val="F05A3C"/>
            </a:solidFill>
          </c:spPr>
          <c:cat>
            <c:strRef>
              <c:f>'Chart Data'!$C$2:$C$3</c:f>
              <c:strCache>
                <c:ptCount val="2"/>
                <c:pt idx="0">
                  <c:v>Qwen 3.5 4B</c:v>
                </c:pt>
                <c:pt idx="1">
                  <c:v>Holo 3.1 4B</c:v>
                </c:pt>
              </c:strCache>
            </c:strRef>
          </c:cat>
          <c:val>
            <c:numRef>
              <c:f>'Chart Data'!$D$2:$D$3</c:f>
              <c:numCache>
                <c:formatCode>General</c:formatCode>
                <c:ptCount val="2"/>
                <c:pt idx="0">
                  <c:v>2</c:v>
                </c:pt>
                <c:pt idx="1">
                  <c:v>4</c:v>
                </c:pt>
              </c:numCache>
            </c:numRef>
          </c:val>
        </c:ser>
        <c:ser>
          <c:idx val="2"/>
          <c:order val="2"/>
          <c:tx>
            <c:v>Step limit</c:v>
          </c:tx>
          <c:spPr>
            <a:solidFill xmlns:a="http://schemas.openxmlformats.org/drawingml/2006/main">
              <a:srgbClr val="E5B249"/>
            </a:solidFill>
          </c:spPr>
          <c:cat>
            <c:strRef>
              <c:f>'Chart Data'!$E$2:$E$3</c:f>
              <c:strCache>
                <c:ptCount val="2"/>
                <c:pt idx="0">
                  <c:v>Qwen 3.5 4B</c:v>
                </c:pt>
                <c:pt idx="1">
                  <c:v>Holo 3.1 4B</c:v>
                </c:pt>
              </c:strCache>
            </c:strRef>
          </c:cat>
          <c:val>
            <c:numRef>
              <c:f>'Chart Data'!$F$2:$F$3</c:f>
              <c:numCache>
                <c:formatCode>General</c:formatCode>
                <c:ptCount val="2"/>
                <c:pt idx="0">
                  <c:v>2</c:v>
                </c:pt>
                <c:pt idx="1">
                  <c:v>0</c:v>
                </c:pt>
              </c:numCache>
            </c:numRef>
          </c:val>
        </c:ser>
        <c:ser>
          <c:idx val="3"/>
          <c:order val="3"/>
          <c:tx>
            <c:v>Incorrect click</c:v>
          </c:tx>
          <c:spPr>
            <a:solidFill xmlns:a="http://schemas.openxmlformats.org/drawingml/2006/main">
              <a:srgbClr val="2D84D3"/>
            </a:solidFill>
          </c:spPr>
          <c:cat>
            <c:strRef>
              <c:f>'Chart Data'!$G$2:$G$3</c:f>
              <c:strCache>
                <c:ptCount val="2"/>
                <c:pt idx="0">
                  <c:v>Qwen 3.5 4B</c:v>
                </c:pt>
                <c:pt idx="1">
                  <c:v>Holo 3.1 4B</c:v>
                </c:pt>
              </c:strCache>
            </c:strRef>
          </c:cat>
          <c:val>
            <c:numRef>
              <c:f>'Chart Data'!$H$2:$H$3</c:f>
              <c:numCache>
                <c:formatCode>General</c:formatCode>
                <c:ptCount val="2"/>
                <c:pt idx="0">
                  <c:v>2</c:v>
                </c:pt>
                <c:pt idx="1">
                  <c:v>0</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5"/>
        <c:overlap val="100"/>
        <c:axId val="48650112"/>
        <c:axId val="48672768"/>
      </c:barChart>
      <c:catAx>
        <c:axId val="48650112"/>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cases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b="1">
                <a:solidFill>
                  <a:srgbClr val="10151C"/>
                </a:solidFill>
                <a:latin typeface="Helvetica Neue"/>
                <a:ea typeface="Helvetica Neue"/>
                <a:cs typeface="Helvetica Neue"/>
              </a:defRPr>
            </a:pPr>
          </a:p>
        </c:txPr>
        <c:crossAx val="48650112"/>
        <c:crossBetween val="between"/>
      </c:valAx>
      <c:spPr>
        <a:solidFill xmlns:a="http://schemas.openxmlformats.org/drawingml/2006/main">
          <a:srgbClr val="F5F2EB"/>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85c54a24ba048fc"/>
          <a:srcRect xmlns:a="http://schemas.openxmlformats.org/drawingml/2006/main" l="28000" t="8000" r="28000" b="8000"/>
          <a:stretch xmlns:a="http://schemas.openxmlformats.org/drawingml/2006/main"/>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F513BAE-2307-44B6-B28D-36ADF04B26DE}"/>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E7EA45-41C7-4F03-8508-DF696EE4A73C}"/>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0C57FA5-FF9C-4F54-97A4-8EB0C7A1DB88}"/>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CC76FD8-1267-4CF7-82D1-CBC5D5498E77}"/>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F56CFE76-41AC-445A-9C32-B80C2A02C7E4}"/>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Visual evidence and</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GUI action formation</a:t>
            </a:r>
          </a:p>
        </p:txBody>
      </p:sp>
      <p:sp>
        <p:nvSpPr>
          <p:cNvPr id="7" name="">
            <a:extLst xmlns:a="http://schemas.openxmlformats.org/drawingml/2006/main">
              <a:ext uri="{FF2B5EF4-FFF2-40B4-BE49-F238E27FC236}">
                <a16:creationId xmlns:a16="http://schemas.microsoft.com/office/drawing/2014/main" id="{A9599E5E-1B56-4508-94D3-FCBF707703E5}"/>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572C0941-98BC-43DE-B31F-1A07DF91CDAA}"/>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and NVIDIA traces · 22 Sep 2026</a:t>
            </a:r>
          </a:p>
        </p:txBody>
      </p:sp>
    </p:spTree>
    <p:extLst>
      <p:ext uri="{BB962C8B-B14F-4D97-AF65-F5344CB8AC3E}">
        <p14:creationId xmlns:p14="http://schemas.microsoft.com/office/powerpoint/2010/main" val="1390502341"/>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222C1C2D-2637-4B4C-9AAF-4CF3BB9BAFA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3A6D60CA-035E-4C1A-88C8-99046033B98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Two settings test complementary GUI capabilities</a:t>
            </a:r>
          </a:p>
        </p:txBody>
      </p:sp>
      <p:sp>
        <p:nvSpPr>
          <p:cNvPr id="3" name="">
            <a:extLst xmlns:a="http://schemas.openxmlformats.org/drawingml/2006/main">
              <a:ext uri="{FF2B5EF4-FFF2-40B4-BE49-F238E27FC236}">
                <a16:creationId xmlns:a16="http://schemas.microsoft.com/office/drawing/2014/main" id="{02D4BDEF-A7CB-4A53-99C2-C24A1CA74697}"/>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9A942092-25AA-4C01-A820-280220146F3F}"/>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529D028A-D99B-41B2-A2C1-981468EA7DE3}"/>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E2CE965-ADB1-4A67-9175-0787C34BAA7E}"/>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58C21C8B-0A0B-4FBC-9D25-6FD6EDFF8646}"/>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8AD26A68-DC2D-4B21-9C05-A10975B88176}"/>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27355FDB-9E6A-4CFC-8B46-4DEA8568F334}"/>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CAPABILITY</a:t>
            </a:r>
          </a:p>
        </p:txBody>
      </p:sp>
      <p:sp>
        <p:nvSpPr>
          <p:cNvPr id="10" name="">
            <a:extLst xmlns:a="http://schemas.openxmlformats.org/drawingml/2006/main">
              <a:ext uri="{FF2B5EF4-FFF2-40B4-BE49-F238E27FC236}">
                <a16:creationId xmlns:a16="http://schemas.microsoft.com/office/drawing/2014/main" id="{04E2F0C7-B4D6-4B58-A3E1-CCBB1F845728}"/>
              </a:ext>
            </a:extLst>
          </p:cNvPr>
          <p:cNvSpPr>
            <a:spLocks xmlns:a="http://schemas.openxmlformats.org/drawingml/2006/main" noGrp="1"/>
          </p:cNvSpPr>
          <p:nvPr/>
        </p:nvSpPr>
        <p:spPr>
          <a:xfrm xmlns:a="http://schemas.openxmlformats.org/drawingml/2006/main">
            <a:off x="857250" y="3409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0151C"/>
                </a:solidFill>
                <a:latin typeface="Helvetica Neue"/>
                <a:ea typeface="Helvetica Neue"/>
                <a:cs typeface="Helvetica Neue"/>
              </a:defRPr>
            </a:pPr>
            <a:r>
              <a:rPr sz="1725" b="1">
                <a:solidFill>
                  <a:srgbClr val="10151C"/>
                </a:solidFill>
                <a:latin typeface="Helvetica Neue"/>
                <a:ea typeface="Helvetica Neue"/>
                <a:cs typeface="Helvetica Neue"/>
              </a:rPr>
              <a:t>UI localization</a:t>
            </a:r>
          </a:p>
        </p:txBody>
      </p:sp>
      <p:sp>
        <p:nvSpPr>
          <p:cNvPr id="11" name="">
            <a:extLst xmlns:a="http://schemas.openxmlformats.org/drawingml/2006/main">
              <a:ext uri="{FF2B5EF4-FFF2-40B4-BE49-F238E27FC236}">
                <a16:creationId xmlns:a16="http://schemas.microsoft.com/office/drawing/2014/main" id="{85DBBCA0-9666-4A28-A50C-C191DA3500E4}"/>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F0F36CF-0049-44FE-85E5-C0E28C13892D}"/>
              </a:ext>
            </a:extLst>
          </p:cNvPr>
          <p:cNvSpPr>
            <a:spLocks xmlns:a="http://schemas.openxmlformats.org/drawingml/2006/main" noGrp="1"/>
          </p:cNvSpPr>
          <p:nvPr/>
        </p:nvSpPr>
        <p:spPr>
          <a:xfrm xmlns:a="http://schemas.openxmlformats.org/drawingml/2006/main">
            <a:off x="857250" y="4267200"/>
            <a:ext cx="4400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6717D"/>
                </a:solidFill>
                <a:latin typeface="Helvetica Neue"/>
                <a:ea typeface="Helvetica Neue"/>
                <a:cs typeface="Helvetica Neue"/>
              </a:defRPr>
            </a:pPr>
            <a:r>
              <a:rPr sz="1275" b="0">
                <a:solidFill>
                  <a:srgbClr val="66717D"/>
                </a:solidFill>
                <a:latin typeface="Helvetica Neue"/>
                <a:ea typeface="Helvetica Neue"/>
                <a:cs typeface="Helvetica Neue"/>
              </a:rPr>
              <a:t>Can the model map one instruction to the correct clickable region in a dense, high-resolution interface?</a:t>
            </a:r>
          </a:p>
        </p:txBody>
      </p:sp>
      <p:sp>
        <p:nvSpPr>
          <p:cNvPr id="13" name="">
            <a:extLst xmlns:a="http://schemas.openxmlformats.org/drawingml/2006/main">
              <a:ext uri="{FF2B5EF4-FFF2-40B4-BE49-F238E27FC236}">
                <a16:creationId xmlns:a16="http://schemas.microsoft.com/office/drawing/2014/main" id="{E102CD02-0579-476E-80C7-38B91B74DFF5}"/>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0B5B55E-B712-4493-862A-67AFD19C2417}"/>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2312B8D-78D4-4445-8ACE-58DC83594351}"/>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6" name="">
            <a:extLst xmlns:a="http://schemas.openxmlformats.org/drawingml/2006/main">
              <a:ext uri="{FF2B5EF4-FFF2-40B4-BE49-F238E27FC236}">
                <a16:creationId xmlns:a16="http://schemas.microsoft.com/office/drawing/2014/main" id="{73F5B069-67D5-49D4-8738-C0D0A0B9072C}"/>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7" name="">
            <a:extLst xmlns:a="http://schemas.openxmlformats.org/drawingml/2006/main">
              <a:ext uri="{FF2B5EF4-FFF2-40B4-BE49-F238E27FC236}">
                <a16:creationId xmlns:a16="http://schemas.microsoft.com/office/drawing/2014/main" id="{A0E6D0B6-68BD-45E0-9DFC-A3F15331A476}"/>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Six paired cases, native screenshots, four-action cap</a:t>
            </a:r>
          </a:p>
        </p:txBody>
      </p:sp>
      <p:sp>
        <p:nvSpPr>
          <p:cNvPr id="18" name="">
            <a:extLst xmlns:a="http://schemas.openxmlformats.org/drawingml/2006/main">
              <a:ext uri="{FF2B5EF4-FFF2-40B4-BE49-F238E27FC236}">
                <a16:creationId xmlns:a16="http://schemas.microsoft.com/office/drawing/2014/main" id="{15FAA71E-2DA0-4558-9B8A-B04E4C3366F7}"/>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3BF0715-ABD6-4577-9104-C5615CD104B9}"/>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4D6CE015-0EA8-49CA-A3E4-F758E74AE4D3}"/>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OBSERVE</a:t>
            </a:r>
          </a:p>
        </p:txBody>
      </p:sp>
      <p:sp>
        <p:nvSpPr>
          <p:cNvPr id="21" name="">
            <a:extLst xmlns:a="http://schemas.openxmlformats.org/drawingml/2006/main">
              <a:ext uri="{FF2B5EF4-FFF2-40B4-BE49-F238E27FC236}">
                <a16:creationId xmlns:a16="http://schemas.microsoft.com/office/drawing/2014/main" id="{DC158A6A-7ED0-4B9D-81B8-22F881A35110}"/>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native frame</a:t>
            </a:r>
          </a:p>
        </p:txBody>
      </p:sp>
      <p:sp>
        <p:nvSpPr>
          <p:cNvPr id="22" name="">
            <a:extLst xmlns:a="http://schemas.openxmlformats.org/drawingml/2006/main">
              <a:ext uri="{FF2B5EF4-FFF2-40B4-BE49-F238E27FC236}">
                <a16:creationId xmlns:a16="http://schemas.microsoft.com/office/drawing/2014/main" id="{0801568A-0469-4E3F-89BF-4D13B1978C7C}"/>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D63C783-4BDE-41E8-920E-DA8ABCF0C79E}"/>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4" name="">
            <a:extLst xmlns:a="http://schemas.openxmlformats.org/drawingml/2006/main">
              <a:ext uri="{FF2B5EF4-FFF2-40B4-BE49-F238E27FC236}">
                <a16:creationId xmlns:a16="http://schemas.microsoft.com/office/drawing/2014/main" id="{775B2A46-EC49-4EDD-BF45-BEBE3D37D384}"/>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SEARCH</a:t>
            </a:r>
          </a:p>
        </p:txBody>
      </p:sp>
      <p:sp>
        <p:nvSpPr>
          <p:cNvPr id="25" name="">
            <a:extLst xmlns:a="http://schemas.openxmlformats.org/drawingml/2006/main">
              <a:ext uri="{FF2B5EF4-FFF2-40B4-BE49-F238E27FC236}">
                <a16:creationId xmlns:a16="http://schemas.microsoft.com/office/drawing/2014/main" id="{BB50F4E5-2B68-496E-A8C0-34BD70F2D47D}"/>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≤3 scrolls</a:t>
            </a:r>
          </a:p>
        </p:txBody>
      </p:sp>
      <p:sp>
        <p:nvSpPr>
          <p:cNvPr id="26" name="">
            <a:extLst xmlns:a="http://schemas.openxmlformats.org/drawingml/2006/main">
              <a:ext uri="{FF2B5EF4-FFF2-40B4-BE49-F238E27FC236}">
                <a16:creationId xmlns:a16="http://schemas.microsoft.com/office/drawing/2014/main" id="{95EBEC10-A9CE-4454-96E3-AAF07868BC3C}"/>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6DF82FB-BCFB-48C2-A151-02D26A7B5391}"/>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28" name="">
            <a:extLst xmlns:a="http://schemas.openxmlformats.org/drawingml/2006/main">
              <a:ext uri="{FF2B5EF4-FFF2-40B4-BE49-F238E27FC236}">
                <a16:creationId xmlns:a16="http://schemas.microsoft.com/office/drawing/2014/main" id="{7A9CA1CA-5E94-4EBF-B63D-763FCC403A9F}"/>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RETAIN</a:t>
            </a:r>
          </a:p>
        </p:txBody>
      </p:sp>
      <p:sp>
        <p:nvSpPr>
          <p:cNvPr id="29" name="">
            <a:extLst xmlns:a="http://schemas.openxmlformats.org/drawingml/2006/main">
              <a:ext uri="{FF2B5EF4-FFF2-40B4-BE49-F238E27FC236}">
                <a16:creationId xmlns:a16="http://schemas.microsoft.com/office/drawing/2014/main" id="{8CB843D2-66C5-4E03-A485-66F60954708B}"/>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3 frames</a:t>
            </a:r>
          </a:p>
        </p:txBody>
      </p:sp>
      <p:sp>
        <p:nvSpPr>
          <p:cNvPr id="30" name="">
            <a:extLst xmlns:a="http://schemas.openxmlformats.org/drawingml/2006/main">
              <a:ext uri="{FF2B5EF4-FFF2-40B4-BE49-F238E27FC236}">
                <a16:creationId xmlns:a16="http://schemas.microsoft.com/office/drawing/2014/main" id="{A7BFE428-F222-41E4-8E0C-DF90D3733648}"/>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5B2DA28E-0278-490F-AA9D-13303B473637}"/>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2" name="">
            <a:extLst xmlns:a="http://schemas.openxmlformats.org/drawingml/2006/main">
              <a:ext uri="{FF2B5EF4-FFF2-40B4-BE49-F238E27FC236}">
                <a16:creationId xmlns:a16="http://schemas.microsoft.com/office/drawing/2014/main" id="{D095D2E7-5403-4547-9A0D-313E8C0A1D89}"/>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ACT</a:t>
            </a:r>
          </a:p>
        </p:txBody>
      </p:sp>
      <p:sp>
        <p:nvSpPr>
          <p:cNvPr id="33" name="">
            <a:extLst xmlns:a="http://schemas.openxmlformats.org/drawingml/2006/main">
              <a:ext uri="{FF2B5EF4-FFF2-40B4-BE49-F238E27FC236}">
                <a16:creationId xmlns:a16="http://schemas.microsoft.com/office/drawing/2014/main" id="{70831126-ADB2-443E-880E-15BCB10FC304}"/>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click or stop</a:t>
            </a:r>
          </a:p>
        </p:txBody>
      </p:sp>
      <p:sp>
        <p:nvSpPr>
          <p:cNvPr id="34" name="">
            <a:extLst xmlns:a="http://schemas.openxmlformats.org/drawingml/2006/main">
              <a:ext uri="{FF2B5EF4-FFF2-40B4-BE49-F238E27FC236}">
                <a16:creationId xmlns:a16="http://schemas.microsoft.com/office/drawing/2014/main" id="{D9D009DE-85A1-483C-BAC9-07EE7E404010}"/>
              </a:ext>
            </a:extLst>
          </p:cNvPr>
          <p:cNvSpPr>
            <a:spLocks xmlns:a="http://schemas.openxmlformats.org/drawingml/2006/main" noGrp="1"/>
          </p:cNvSpPr>
          <p:nvPr/>
        </p:nvSpPr>
        <p:spPr>
          <a:xfrm xmlns:a="http://schemas.openxmlformats.org/drawingml/2006/main">
            <a:off x="6477000" y="52863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CAPABILITY</a:t>
            </a:r>
          </a:p>
        </p:txBody>
      </p:sp>
      <p:sp>
        <p:nvSpPr>
          <p:cNvPr id="35" name="">
            <a:extLst xmlns:a="http://schemas.openxmlformats.org/drawingml/2006/main">
              <a:ext uri="{FF2B5EF4-FFF2-40B4-BE49-F238E27FC236}">
                <a16:creationId xmlns:a16="http://schemas.microsoft.com/office/drawing/2014/main" id="{9E9B99B8-CFF8-47BD-A1E4-C74B3E400E75}"/>
              </a:ext>
            </a:extLst>
          </p:cNvPr>
          <p:cNvSpPr>
            <a:spLocks xmlns:a="http://schemas.openxmlformats.org/drawingml/2006/main" noGrp="1"/>
          </p:cNvSpPr>
          <p:nvPr/>
        </p:nvSpPr>
        <p:spPr>
          <a:xfrm xmlns:a="http://schemas.openxmlformats.org/drawingml/2006/main">
            <a:off x="7696200" y="524827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8FE0BF"/>
                </a:solidFill>
                <a:latin typeface="Helvetica Neue"/>
                <a:ea typeface="Helvetica Neue"/>
                <a:cs typeface="Helvetica Neue"/>
              </a:defRPr>
            </a:pPr>
            <a:r>
              <a:rPr sz="1350" b="1">
                <a:solidFill>
                  <a:srgbClr val="8FE0BF"/>
                </a:solidFill>
                <a:latin typeface="Helvetica Neue"/>
                <a:ea typeface="Helvetica Neue"/>
                <a:cs typeface="Helvetica Neue"/>
              </a:rPr>
              <a:t>Context retrieval across frames</a:t>
            </a:r>
          </a:p>
        </p:txBody>
      </p:sp>
      <p:sp>
        <p:nvSpPr>
          <p:cNvPr id="36" name="">
            <a:extLst xmlns:a="http://schemas.openxmlformats.org/drawingml/2006/main">
              <a:ext uri="{FF2B5EF4-FFF2-40B4-BE49-F238E27FC236}">
                <a16:creationId xmlns:a16="http://schemas.microsoft.com/office/drawing/2014/main" id="{48D43225-A2A6-4DAC-AD1B-EC076FB9FC5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BE2225F0-C027-4BA0-86D2-189086C7C5E6}"/>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Static evaluation isolates localization · the hotel environment tests whether earlier visual evidence reaches a later action</a:t>
            </a:r>
          </a:p>
        </p:txBody>
      </p:sp>
    </p:spTree>
    <p:extLst>
      <p:ext uri="{BB962C8B-B14F-4D97-AF65-F5344CB8AC3E}">
        <p14:creationId xmlns:p14="http://schemas.microsoft.com/office/powerpoint/2010/main" val="91285475"/>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DEBF010-4463-48F4-A259-0CD93907C179}"/>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FULL BENCHMARK REPLICATION</a:t>
            </a:r>
          </a:p>
        </p:txBody>
      </p:sp>
      <p:sp>
        <p:nvSpPr>
          <p:cNvPr id="2" name="">
            <a:extLst xmlns:a="http://schemas.openxmlformats.org/drawingml/2006/main">
              <a:ext uri="{FF2B5EF4-FFF2-40B4-BE49-F238E27FC236}">
                <a16:creationId xmlns:a16="http://schemas.microsoft.com/office/drawing/2014/main" id="{0A7A1837-F2A2-44F7-A2B3-EA5D6F37FA68}"/>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65.9% overall, with icon file actions at 36.1%</a:t>
            </a:r>
          </a:p>
        </p:txBody>
      </p:sp>
      <p:sp>
        <p:nvSpPr>
          <p:cNvPr id="3" name="">
            <a:extLst xmlns:a="http://schemas.openxmlformats.org/drawingml/2006/main">
              <a:ext uri="{FF2B5EF4-FFF2-40B4-BE49-F238E27FC236}">
                <a16:creationId xmlns:a16="http://schemas.microsoft.com/office/drawing/2014/main" id="{8E6F38E4-BF4C-490B-B63D-C236A52ADA4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3712FB21-00BC-470A-8C8E-956D6785CE1C}"/>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Holo3.1-4B, official element-localization harness, all 1,581 ScreenSpot-Pro items</a:t>
            </a:r>
          </a:p>
        </p:txBody>
      </p:sp>
      <p:sp>
        <p:nvSpPr>
          <p:cNvPr id="5" name="">
            <a:extLst xmlns:a="http://schemas.openxmlformats.org/drawingml/2006/main">
              <a:ext uri="{FF2B5EF4-FFF2-40B4-BE49-F238E27FC236}">
                <a16:creationId xmlns:a16="http://schemas.microsoft.com/office/drawing/2014/main" id="{99268CA8-C292-45C9-9A27-6CAD3BB257CF}"/>
              </a:ext>
            </a:extLst>
          </p:cNvPr>
          <p:cNvSpPr>
            <a:spLocks xmlns:a="http://schemas.openxmlformats.org/drawingml/2006/main" noGrp="1"/>
          </p:cNvSpPr>
          <p:nvPr/>
        </p:nvSpPr>
        <p:spPr>
          <a:xfrm xmlns:a="http://schemas.openxmlformats.org/drawingml/2006/main">
            <a:off x="609600" y="15430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0151C"/>
                </a:solidFill>
                <a:latin typeface="Helvetica Neue"/>
                <a:ea typeface="Helvetica Neue"/>
                <a:cs typeface="Helvetica Neue"/>
              </a:defRPr>
            </a:pPr>
            <a:r>
              <a:rPr sz="4200" b="1">
                <a:solidFill>
                  <a:srgbClr val="10151C"/>
                </a:solidFill>
                <a:latin typeface="Helvetica Neue"/>
                <a:ea typeface="Helvetica Neue"/>
                <a:cs typeface="Helvetica Neue"/>
              </a:rPr>
              <a:t>65.9%</a:t>
            </a:r>
          </a:p>
        </p:txBody>
      </p:sp>
      <p:sp>
        <p:nvSpPr>
          <p:cNvPr id="6" name="">
            <a:extLst xmlns:a="http://schemas.openxmlformats.org/drawingml/2006/main">
              <a:ext uri="{FF2B5EF4-FFF2-40B4-BE49-F238E27FC236}">
                <a16:creationId xmlns:a16="http://schemas.microsoft.com/office/drawing/2014/main" id="{19EAEBDB-BBB7-49DA-803F-C34DBE4D34CE}"/>
              </a:ext>
            </a:extLst>
          </p:cNvPr>
          <p:cNvSpPr>
            <a:spLocks xmlns:a="http://schemas.openxmlformats.org/drawingml/2006/main" noGrp="1"/>
          </p:cNvSpPr>
          <p:nvPr/>
        </p:nvSpPr>
        <p:spPr>
          <a:xfrm xmlns:a="http://schemas.openxmlformats.org/drawingml/2006/main">
            <a:off x="647700" y="22098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1,042 correct out of 1,581</a:t>
            </a:r>
          </a:p>
        </p:txBody>
      </p:sp>
      <p:sp>
        <p:nvSpPr>
          <p:cNvPr id="7" name="">
            <a:extLst xmlns:a="http://schemas.openxmlformats.org/drawingml/2006/main">
              <a:ext uri="{FF2B5EF4-FFF2-40B4-BE49-F238E27FC236}">
                <a16:creationId xmlns:a16="http://schemas.microsoft.com/office/drawing/2014/main" id="{E8FF0F80-EFCE-4F42-8730-8D908ADDFA4C}"/>
              </a:ext>
            </a:extLst>
          </p:cNvPr>
          <p:cNvSpPr>
            <a:spLocks xmlns:a="http://schemas.openxmlformats.org/drawingml/2006/main" noGrp="1"/>
          </p:cNvSpPr>
          <p:nvPr/>
        </p:nvSpPr>
        <p:spPr>
          <a:xfrm xmlns:a="http://schemas.openxmlformats.org/drawingml/2006/main">
            <a:off x="647700" y="2619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D84D3"/>
                </a:solidFill>
                <a:latin typeface="Helvetica Neue"/>
                <a:ea typeface="Helvetica Neue"/>
                <a:cs typeface="Helvetica Neue"/>
              </a:defRPr>
            </a:pPr>
            <a:r>
              <a:rPr sz="1125" b="1">
                <a:solidFill>
                  <a:srgbClr val="2D84D3"/>
                </a:solidFill>
                <a:latin typeface="Helvetica Neue"/>
                <a:ea typeface="Helvetica Neue"/>
                <a:cs typeface="Helvetica Neue"/>
              </a:rPr>
              <a:t>Reported 4B reference ≈ 66.5%</a:t>
            </a:r>
          </a:p>
        </p:txBody>
      </p:sp>
      <p:sp>
        <p:nvSpPr>
          <p:cNvPr id="8" name="">
            <a:extLst xmlns:a="http://schemas.openxmlformats.org/drawingml/2006/main">
              <a:ext uri="{FF2B5EF4-FFF2-40B4-BE49-F238E27FC236}">
                <a16:creationId xmlns:a16="http://schemas.microsoft.com/office/drawing/2014/main" id="{75C60CC5-F490-4338-930E-98871BE46423}"/>
              </a:ext>
            </a:extLst>
          </p:cNvPr>
          <p:cNvSpPr>
            <a:spLocks xmlns:a="http://schemas.openxmlformats.org/drawingml/2006/main" noGrp="1"/>
          </p:cNvSpPr>
          <p:nvPr/>
        </p:nvSpPr>
        <p:spPr>
          <a:xfrm xmlns:a="http://schemas.openxmlformats.org/drawingml/2006/main">
            <a:off x="647700" y="28860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Difference: −0.6 percentage point</a:t>
            </a:r>
          </a:p>
        </p:txBody>
      </p:sp>
      <p:sp>
        <p:nvSpPr>
          <p:cNvPr id="9" name="">
            <a:extLst xmlns:a="http://schemas.openxmlformats.org/drawingml/2006/main">
              <a:ext uri="{FF2B5EF4-FFF2-40B4-BE49-F238E27FC236}">
                <a16:creationId xmlns:a16="http://schemas.microsoft.com/office/drawing/2014/main" id="{F03DF0F9-D6E9-4263-AC60-4A441C823D1D}"/>
              </a:ext>
            </a:extLst>
          </p:cNvPr>
          <p:cNvSpPr>
            <a:spLocks xmlns:a="http://schemas.openxmlformats.org/drawingml/2006/main" noGrp="1"/>
          </p:cNvSpPr>
          <p:nvPr/>
        </p:nvSpPr>
        <p:spPr>
          <a:xfrm xmlns:a="http://schemas.openxmlformats.org/drawingml/2006/main">
            <a:off x="647700" y="32480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100% valid JSON responses</a:t>
            </a:r>
          </a:p>
        </p:txBody>
      </p:sp>
      <p:sp>
        <p:nvSpPr>
          <p:cNvPr id="10" name="">
            <a:extLst xmlns:a="http://schemas.openxmlformats.org/drawingml/2006/main">
              <a:ext uri="{FF2B5EF4-FFF2-40B4-BE49-F238E27FC236}">
                <a16:creationId xmlns:a16="http://schemas.microsoft.com/office/drawing/2014/main" id="{CFEE521B-98F5-4CD6-98F1-6AA93E12387C}"/>
              </a:ext>
            </a:extLst>
          </p:cNvPr>
          <p:cNvSpPr>
            <a:spLocks xmlns:a="http://schemas.openxmlformats.org/drawingml/2006/main" noGrp="1"/>
          </p:cNvSpPr>
          <p:nvPr/>
        </p:nvSpPr>
        <p:spPr>
          <a:xfrm xmlns:a="http://schemas.openxmlformats.org/drawingml/2006/main">
            <a:off x="3562350" y="1504950"/>
            <a:ext cx="9525" cy="2057400"/>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E9ABF7B-8118-46F0-A05B-1BE85980784E}"/>
              </a:ext>
            </a:extLst>
          </p:cNvPr>
          <p:cNvSpPr>
            <a:spLocks xmlns:a="http://schemas.openxmlformats.org/drawingml/2006/main" noGrp="1"/>
          </p:cNvSpPr>
          <p:nvPr/>
        </p:nvSpPr>
        <p:spPr>
          <a:xfrm xmlns:a="http://schemas.openxmlformats.org/drawingml/2006/main">
            <a:off x="3848100" y="1504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ACCURACY BY TARGET UI</a:t>
            </a:r>
          </a:p>
        </p:txBody>
      </p:sp>
      <p:graphicFrame>
        <p:nvGraphicFramePr>
          <p:cNvPr id="37" name="Chart"/>
          <p:cNvGraphicFramePr/>
          <p:nvPr/>
        </p:nvGraphicFramePr>
        <p:xfrm>
          <a:off xmlns:a="http://schemas.openxmlformats.org/drawingml/2006/main" x="3733800" y="1752600"/>
          <a:ext xmlns:a="http://schemas.openxmlformats.org/drawingml/2006/main" cx="4819650" cy="1790700"/>
        </p:xfrm>
        <a:graphic xmlns:a="http://schemas.openxmlformats.org/drawingml/2006/main">
          <a:graphicData uri="http://schemas.openxmlformats.org/drawingml/2006/chart">
            <c:chart xmlns:r="http://schemas.openxmlformats.org/officeDocument/2006/relationships" xmlns:c="http://schemas.openxmlformats.org/drawingml/2006/chart" r:id="Reabb1d9c43334b0b"/>
          </a:graphicData>
        </a:graphic>
      </p:graphicFrame>
      <p:sp>
        <p:nvSpPr>
          <p:cNvPr id="13" name="">
            <a:extLst xmlns:a="http://schemas.openxmlformats.org/drawingml/2006/main">
              <a:ext uri="{FF2B5EF4-FFF2-40B4-BE49-F238E27FC236}">
                <a16:creationId xmlns:a16="http://schemas.microsoft.com/office/drawing/2014/main" id="{0AFC9741-B4DE-4CD5-B187-062B3B497BAC}"/>
              </a:ext>
            </a:extLst>
          </p:cNvPr>
          <p:cNvSpPr>
            <a:spLocks xmlns:a="http://schemas.openxmlformats.org/drawingml/2006/main" noGrp="1"/>
          </p:cNvSpPr>
          <p:nvPr/>
        </p:nvSpPr>
        <p:spPr>
          <a:xfrm xmlns:a="http://schemas.openxmlformats.org/drawingml/2006/main">
            <a:off x="6610350" y="207645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44.0%</a:t>
            </a:r>
          </a:p>
        </p:txBody>
      </p:sp>
      <p:sp>
        <p:nvSpPr>
          <p:cNvPr id="14" name="">
            <a:extLst xmlns:a="http://schemas.openxmlformats.org/drawingml/2006/main">
              <a:ext uri="{FF2B5EF4-FFF2-40B4-BE49-F238E27FC236}">
                <a16:creationId xmlns:a16="http://schemas.microsoft.com/office/drawing/2014/main" id="{1056E969-DF51-4F32-8FFD-B7C3D4BBCA1E}"/>
              </a:ext>
            </a:extLst>
          </p:cNvPr>
          <p:cNvSpPr>
            <a:spLocks xmlns:a="http://schemas.openxmlformats.org/drawingml/2006/main" noGrp="1"/>
          </p:cNvSpPr>
          <p:nvPr/>
        </p:nvSpPr>
        <p:spPr>
          <a:xfrm xmlns:a="http://schemas.openxmlformats.org/drawingml/2006/main">
            <a:off x="7800975" y="274320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79.4%</a:t>
            </a:r>
          </a:p>
        </p:txBody>
      </p:sp>
      <p:sp>
        <p:nvSpPr>
          <p:cNvPr id="15" name="">
            <a:extLst xmlns:a="http://schemas.openxmlformats.org/drawingml/2006/main">
              <a:ext uri="{FF2B5EF4-FFF2-40B4-BE49-F238E27FC236}">
                <a16:creationId xmlns:a16="http://schemas.microsoft.com/office/drawing/2014/main" id="{A608778C-79FA-42AC-A892-E4C534763B81}"/>
              </a:ext>
            </a:extLst>
          </p:cNvPr>
          <p:cNvSpPr>
            <a:spLocks xmlns:a="http://schemas.openxmlformats.org/drawingml/2006/main" noGrp="1"/>
          </p:cNvSpPr>
          <p:nvPr/>
        </p:nvSpPr>
        <p:spPr>
          <a:xfrm xmlns:a="http://schemas.openxmlformats.org/drawingml/2006/main">
            <a:off x="8858250" y="1504950"/>
            <a:ext cx="2724150" cy="2057400"/>
          </a:xfrm>
          <a:prstGeom xmlns:a="http://schemas.openxmlformats.org/drawingml/2006/main" prst="roundRect">
            <a:avLst>
              <a:gd name="adj" fmla="val 3704"/>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5EEB431-AE20-4085-9E94-366B9F455BEF}"/>
              </a:ext>
            </a:extLst>
          </p:cNvPr>
          <p:cNvSpPr>
            <a:spLocks xmlns:a="http://schemas.openxmlformats.org/drawingml/2006/main" noGrp="1"/>
          </p:cNvSpPr>
          <p:nvPr/>
        </p:nvSpPr>
        <p:spPr>
          <a:xfrm xmlns:a="http://schemas.openxmlformats.org/drawingml/2006/main">
            <a:off x="9086850" y="17335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WEAKEST LABELED CELL</a:t>
            </a:r>
          </a:p>
        </p:txBody>
      </p:sp>
      <p:sp>
        <p:nvSpPr>
          <p:cNvPr id="17" name="">
            <a:extLst xmlns:a="http://schemas.openxmlformats.org/drawingml/2006/main">
              <a:ext uri="{FF2B5EF4-FFF2-40B4-BE49-F238E27FC236}">
                <a16:creationId xmlns:a16="http://schemas.microsoft.com/office/drawing/2014/main" id="{876C7716-D55F-4832-A78F-1738698B659F}"/>
              </a:ext>
            </a:extLst>
          </p:cNvPr>
          <p:cNvSpPr>
            <a:spLocks xmlns:a="http://schemas.openxmlformats.org/drawingml/2006/main" noGrp="1"/>
          </p:cNvSpPr>
          <p:nvPr/>
        </p:nvSpPr>
        <p:spPr>
          <a:xfrm xmlns:a="http://schemas.openxmlformats.org/drawingml/2006/main">
            <a:off x="9086850" y="20478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Icon + file actions</a:t>
            </a:r>
          </a:p>
        </p:txBody>
      </p:sp>
      <p:sp>
        <p:nvSpPr>
          <p:cNvPr id="18" name="">
            <a:extLst xmlns:a="http://schemas.openxmlformats.org/drawingml/2006/main">
              <a:ext uri="{FF2B5EF4-FFF2-40B4-BE49-F238E27FC236}">
                <a16:creationId xmlns:a16="http://schemas.microsoft.com/office/drawing/2014/main" id="{1A62C999-CC14-4E21-9BD0-B85377FD298A}"/>
              </a:ext>
            </a:extLst>
          </p:cNvPr>
          <p:cNvSpPr>
            <a:spLocks xmlns:a="http://schemas.openxmlformats.org/drawingml/2006/main" noGrp="1"/>
          </p:cNvSpPr>
          <p:nvPr/>
        </p:nvSpPr>
        <p:spPr>
          <a:xfrm xmlns:a="http://schemas.openxmlformats.org/drawingml/2006/main">
            <a:off x="9086850" y="2438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F05A3C"/>
                </a:solidFill>
                <a:latin typeface="Helvetica Neue"/>
                <a:ea typeface="Helvetica Neue"/>
                <a:cs typeface="Helvetica Neue"/>
              </a:defRPr>
            </a:pPr>
            <a:r>
              <a:rPr sz="2700" b="1">
                <a:solidFill>
                  <a:srgbClr val="F05A3C"/>
                </a:solidFill>
                <a:latin typeface="Helvetica Neue"/>
                <a:ea typeface="Helvetica Neue"/>
                <a:cs typeface="Helvetica Neue"/>
              </a:rPr>
              <a:t>36.1%</a:t>
            </a:r>
          </a:p>
        </p:txBody>
      </p:sp>
      <p:sp>
        <p:nvSpPr>
          <p:cNvPr id="19" name="">
            <a:extLst xmlns:a="http://schemas.openxmlformats.org/drawingml/2006/main">
              <a:ext uri="{FF2B5EF4-FFF2-40B4-BE49-F238E27FC236}">
                <a16:creationId xmlns:a16="http://schemas.microsoft.com/office/drawing/2014/main" id="{B776177B-1A08-4A16-B451-E73D7E6939B6}"/>
              </a:ext>
            </a:extLst>
          </p:cNvPr>
          <p:cNvSpPr>
            <a:spLocks xmlns:a="http://schemas.openxmlformats.org/drawingml/2006/main" noGrp="1"/>
          </p:cNvSpPr>
          <p:nvPr/>
        </p:nvSpPr>
        <p:spPr>
          <a:xfrm xmlns:a="http://schemas.openxmlformats.org/drawingml/2006/main">
            <a:off x="10267950" y="2552700"/>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2BDAF"/>
                </a:solidFill>
                <a:latin typeface="Helvetica Neue"/>
                <a:ea typeface="Helvetica Neue"/>
                <a:cs typeface="Helvetica Neue"/>
              </a:defRPr>
            </a:pPr>
            <a:r>
              <a:rPr sz="1050" b="1">
                <a:solidFill>
                  <a:srgbClr val="F2BDAF"/>
                </a:solidFill>
                <a:latin typeface="Helvetica Neue"/>
                <a:ea typeface="Helvetica Neue"/>
                <a:cs typeface="Helvetica Neue"/>
              </a:rPr>
              <a:t>13 / 36 correct</a:t>
            </a:r>
          </a:p>
        </p:txBody>
      </p:sp>
      <p:sp>
        <p:nvSpPr>
          <p:cNvPr id="20" name="">
            <a:extLst xmlns:a="http://schemas.openxmlformats.org/drawingml/2006/main">
              <a:ext uri="{FF2B5EF4-FFF2-40B4-BE49-F238E27FC236}">
                <a16:creationId xmlns:a16="http://schemas.microsoft.com/office/drawing/2014/main" id="{5E114796-DFC9-4ABC-912C-2E88E997592F}"/>
              </a:ext>
            </a:extLst>
          </p:cNvPr>
          <p:cNvSpPr>
            <a:spLocks xmlns:a="http://schemas.openxmlformats.org/drawingml/2006/main" noGrp="1"/>
          </p:cNvSpPr>
          <p:nvPr/>
        </p:nvSpPr>
        <p:spPr>
          <a:xfrm xmlns:a="http://schemas.openxmlformats.org/drawingml/2006/main">
            <a:off x="9086850" y="30099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The larger icon + navigation cell reaches 40.3% on 149 items.</a:t>
            </a:r>
          </a:p>
        </p:txBody>
      </p:sp>
      <p:sp>
        <p:nvSpPr>
          <p:cNvPr id="21" name="">
            <a:extLst xmlns:a="http://schemas.openxmlformats.org/drawingml/2006/main">
              <a:ext uri="{FF2B5EF4-FFF2-40B4-BE49-F238E27FC236}">
                <a16:creationId xmlns:a16="http://schemas.microsoft.com/office/drawing/2014/main" id="{A228A1F4-741E-4D42-B8E2-74F08131FF4A}"/>
              </a:ext>
            </a:extLst>
          </p:cNvPr>
          <p:cNvSpPr>
            <a:spLocks xmlns:a="http://schemas.openxmlformats.org/drawingml/2006/main" noGrp="1"/>
          </p:cNvSpPr>
          <p:nvPr/>
        </p:nvSpPr>
        <p:spPr>
          <a:xfrm xmlns:a="http://schemas.openxmlformats.org/drawingml/2006/main">
            <a:off x="609600" y="38862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UI TYPE × INSTRUCTION ACTION FAMILY</a:t>
            </a:r>
          </a:p>
        </p:txBody>
      </p:sp>
      <p:sp>
        <p:nvSpPr>
          <p:cNvPr id="22" name="">
            <a:extLst xmlns:a="http://schemas.openxmlformats.org/drawingml/2006/main">
              <a:ext uri="{FF2B5EF4-FFF2-40B4-BE49-F238E27FC236}">
                <a16:creationId xmlns:a16="http://schemas.microsoft.com/office/drawing/2014/main" id="{66AAB3F5-DB1C-4C2B-9634-05AFCFBA0F5C}"/>
              </a:ext>
            </a:extLst>
          </p:cNvPr>
          <p:cNvSpPr>
            <a:spLocks xmlns:a="http://schemas.openxmlformats.org/drawingml/2006/main" noGrp="1"/>
          </p:cNvSpPr>
          <p:nvPr/>
        </p:nvSpPr>
        <p:spPr>
          <a:xfrm xmlns:a="http://schemas.openxmlformats.org/drawingml/2006/main">
            <a:off x="7543800" y="388620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Accuracy and item count in each cell</a:t>
            </a:r>
          </a:p>
        </p:txBody>
      </p:sp>
      <p:graphicFrame>
        <p:nvGraphicFramePr>
          <p:cNvPr id="48" name=""/>
          <p:cNvGraphicFramePr/>
          <p:nvPr/>
        </p:nvGraphicFramePr>
        <p:xfrm>
          <a:off xmlns:a="http://schemas.openxmlformats.org/drawingml/2006/main" x="609600" y="4171950"/>
          <a:ext xmlns:a="http://schemas.openxmlformats.org/drawingml/2006/main" cx="10972800" cy="1352550"/>
        </p:xfrm>
        <a:graphic xmlns:a="http://schemas.openxmlformats.org/drawingml/2006/main">
          <a:graphicData uri="http://schemas.openxmlformats.org/drawingml/2006/table">
            <a:tbl>
              <a:tblPr/>
              <a:tblGrid>
                <a:gridCol w="1104900"/>
                <a:gridCol w="1409700"/>
                <a:gridCol w="1409700"/>
                <a:gridCol w="1409700"/>
                <a:gridCol w="1409700"/>
                <a:gridCol w="1409700"/>
                <a:gridCol w="1409700"/>
                <a:gridCol w="1409700"/>
              </a:tblGrid>
              <a:tr h="450850">
                <a:tc>
                  <a:txBody>
                    <a:bodyPr>
                      <a:normAutofit/>
                    </a:bodyPr>
                    <a:lstStyle/>
                    <a:p>
                      <a:pPr algn="ctr"/>
                      <a:r>
                        <a:rPr sz="675" b="1">
                          <a:solidFill>
                            <a:srgbClr val="FFFFFF"/>
                          </a:solidFill>
                          <a:latin typeface="Helvetica Neue"/>
                          <a:ea typeface="Helvetica Neue"/>
                          <a:cs typeface="Helvetica Neue"/>
                        </a:rPr>
                        <a:t>UI TYPE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NAVIGATE</a:t>
                      </a:r>
                    </a:p>
                    <a:p>
                      <a:pPr algn="ctr"/>
                      <a:r>
                        <a:rPr sz="675" b="1">
                          <a:solidFill>
                            <a:srgbClr val="FFFFFF"/>
                          </a:solidFill>
                          <a:latin typeface="Helvetica Neue"/>
                          <a:ea typeface="Helvetica Neue"/>
                          <a:cs typeface="Helvetica Neue"/>
                        </a:rPr>
                        <a:t>REVEAL</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SELECT</a:t>
                      </a:r>
                    </a:p>
                    <a:p>
                      <a:pPr algn="ctr"/>
                      <a:r>
                        <a:rPr sz="675" b="1">
                          <a:solidFill>
                            <a:srgbClr val="FFFFFF"/>
                          </a:solidFill>
                          <a:latin typeface="Helvetica Neue"/>
                          <a:ea typeface="Helvetica Neue"/>
                          <a:cs typeface="Helvetica Neue"/>
                        </a:rPr>
                        <a:t>ACTIVATE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CREATE</a:t>
                      </a:r>
                    </a:p>
                    <a:p>
                      <a:pPr algn="ctr"/>
                      <a:r>
                        <a:rPr sz="675" b="1">
                          <a:solidFill>
                            <a:srgbClr val="FFFFFF"/>
                          </a:solidFill>
                          <a:latin typeface="Helvetica Neue"/>
                          <a:ea typeface="Helvetica Neue"/>
                          <a:cs typeface="Helvetica Neue"/>
                        </a:rPr>
                        <a:t>INSERT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EDIT</a:t>
                      </a:r>
                    </a:p>
                    <a:p>
                      <a:pPr algn="ctr"/>
                      <a:r>
                        <a:rPr sz="675" b="1">
                          <a:solidFill>
                            <a:srgbClr val="FFFFFF"/>
                          </a:solidFill>
                          <a:latin typeface="Helvetica Neue"/>
                          <a:ea typeface="Helvetica Neue"/>
                          <a:cs typeface="Helvetica Neue"/>
                        </a:rPr>
                        <a:t>FORMAT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REMOVE</a:t>
                      </a:r>
                    </a:p>
                    <a:p>
                      <a:pPr algn="ctr"/>
                      <a:r>
                        <a:rPr sz="675" b="1">
                          <a:solidFill>
                            <a:srgbClr val="FFFFFF"/>
                          </a:solidFill>
                          <a:latin typeface="Helvetica Neue"/>
                          <a:ea typeface="Helvetica Neue"/>
                          <a:cs typeface="Helvetica Neue"/>
                        </a:rPr>
                        <a:t>CLOSE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FILE</a:t>
                      </a:r>
                    </a:p>
                    <a:p>
                      <a:pPr algn="ctr"/>
                      <a:r>
                        <a:rPr sz="675" b="1">
                          <a:solidFill>
                            <a:srgbClr val="FFFFFF"/>
                          </a:solidFill>
                          <a:latin typeface="Helvetica Neue"/>
                          <a:ea typeface="Helvetica Neue"/>
                          <a:cs typeface="Helvetica Neue"/>
                        </a:rPr>
                        <a:t>TRANSFER</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OTHER</a:t>
                      </a:r>
                    </a:p>
                  </a:txBody>
                  <a:tcPr marL="47625" marR="47625" marT="19050" marB="19050" anchor="ctr">
                    <a:solidFill>
                      <a:srgbClr val="1C2733"/>
                    </a:solidFill>
                  </a:tcPr>
                </a:tc>
              </a:tr>
              <a:tr h="450850">
                <a:tc>
                  <a:txBody>
                    <a:bodyPr>
                      <a:normAutofit/>
                    </a:bodyPr>
                    <a:lstStyle/>
                    <a:p>
                      <a:pPr algn="ctr"/>
                      <a:r>
                        <a:rPr sz="900" b="1">
                          <a:solidFill>
                            <a:srgbClr val="FFFFFF"/>
                          </a:solidFill>
                          <a:latin typeface="Helvetica Neue"/>
                          <a:ea typeface="Helvetica Neue"/>
                          <a:cs typeface="Helvetica Neue"/>
                        </a:rPr>
                        <a:t>ICON</a:t>
                      </a:r>
                    </a:p>
                  </a:txBody>
                  <a:tcPr marL="47625" marR="47625" marT="19050" marB="19050" anchor="ctr">
                    <a:solidFill>
                      <a:srgbClr val="1C2733"/>
                    </a:solidFill>
                  </a:tcPr>
                </a:tc>
                <a:tc>
                  <a:txBody>
                    <a:bodyPr>
                      <a:normAutofit/>
                    </a:bodyPr>
                    <a:lstStyle/>
                    <a:p>
                      <a:pPr algn="ctr"/>
                      <a:r>
                        <a:rPr sz="900" b="1">
                          <a:solidFill>
                            <a:srgbClr val="A33D29"/>
                          </a:solidFill>
                          <a:latin typeface="Helvetica Neue"/>
                          <a:ea typeface="Helvetica Neue"/>
                          <a:cs typeface="Helvetica Neue"/>
                        </a:rPr>
                        <a:t>40.3%</a:t>
                      </a:r>
                    </a:p>
                    <a:p>
                      <a:pPr algn="ctr"/>
                      <a:r>
                        <a:rPr sz="900" b="1">
                          <a:solidFill>
                            <a:srgbClr val="A33D29"/>
                          </a:solidFill>
                          <a:latin typeface="Helvetica Neue"/>
                          <a:ea typeface="Helvetica Neue"/>
                          <a:cs typeface="Helvetica Neue"/>
                        </a:rPr>
                        <a:t>n=149</a:t>
                      </a:r>
                    </a:p>
                  </a:txBody>
                  <a:tcPr marL="47625" marR="47625" marT="19050" marB="19050" anchor="ctr">
                    <a:solidFill>
                      <a:srgbClr val="F7E4DB"/>
                    </a:solidFill>
                  </a:tcPr>
                </a:tc>
                <a:tc>
                  <a:txBody>
                    <a:bodyPr>
                      <a:normAutofit/>
                    </a:bodyPr>
                    <a:lstStyle/>
                    <a:p>
                      <a:pPr algn="ctr"/>
                      <a:r>
                        <a:rPr sz="900" b="1">
                          <a:solidFill>
                            <a:srgbClr val="10151C"/>
                          </a:solidFill>
                          <a:latin typeface="Helvetica Neue"/>
                          <a:ea typeface="Helvetica Neue"/>
                          <a:cs typeface="Helvetica Neue"/>
                        </a:rPr>
                        <a:t>52.6%</a:t>
                      </a:r>
                    </a:p>
                    <a:p>
                      <a:pPr algn="ctr"/>
                      <a:r>
                        <a:rPr sz="900" b="1">
                          <a:solidFill>
                            <a:srgbClr val="10151C"/>
                          </a:solidFill>
                          <a:latin typeface="Helvetica Neue"/>
                          <a:ea typeface="Helvetica Neue"/>
                          <a:cs typeface="Helvetica Neue"/>
                        </a:rPr>
                        <a:t>n=76</a:t>
                      </a:r>
                    </a:p>
                  </a:txBody>
                  <a:tcPr marL="47625" marR="47625" marT="19050" marB="19050" anchor="ctr">
                    <a:solidFill>
                      <a:srgbClr val="F0E7DE"/>
                    </a:solidFill>
                  </a:tcPr>
                </a:tc>
                <a:tc>
                  <a:txBody>
                    <a:bodyPr>
                      <a:normAutofit/>
                    </a:bodyPr>
                    <a:lstStyle/>
                    <a:p>
                      <a:pPr algn="ctr"/>
                      <a:r>
                        <a:rPr sz="900" b="1">
                          <a:solidFill>
                            <a:srgbClr val="A33D29"/>
                          </a:solidFill>
                          <a:latin typeface="Helvetica Neue"/>
                          <a:ea typeface="Helvetica Neue"/>
                          <a:cs typeface="Helvetica Neue"/>
                        </a:rPr>
                        <a:t>43.2%</a:t>
                      </a:r>
                    </a:p>
                    <a:p>
                      <a:pPr algn="ctr"/>
                      <a:r>
                        <a:rPr sz="900" b="1">
                          <a:solidFill>
                            <a:srgbClr val="A33D29"/>
                          </a:solidFill>
                          <a:latin typeface="Helvetica Neue"/>
                          <a:ea typeface="Helvetica Neue"/>
                          <a:cs typeface="Helvetica Neue"/>
                        </a:rPr>
                        <a:t>n=81</a:t>
                      </a:r>
                    </a:p>
                  </a:txBody>
                  <a:tcPr marL="47625" marR="47625" marT="19050" marB="19050" anchor="ctr">
                    <a:solidFill>
                      <a:srgbClr val="F5E5DC"/>
                    </a:solidFill>
                  </a:tcPr>
                </a:tc>
                <a:tc>
                  <a:txBody>
                    <a:bodyPr>
                      <a:normAutofit/>
                    </a:bodyPr>
                    <a:lstStyle/>
                    <a:p>
                      <a:pPr algn="ctr"/>
                      <a:r>
                        <a:rPr sz="900" b="1">
                          <a:solidFill>
                            <a:srgbClr val="10151C"/>
                          </a:solidFill>
                          <a:latin typeface="Helvetica Neue"/>
                          <a:ea typeface="Helvetica Neue"/>
                          <a:cs typeface="Helvetica Neue"/>
                        </a:rPr>
                        <a:t>45.0%</a:t>
                      </a:r>
                    </a:p>
                    <a:p>
                      <a:pPr algn="ctr"/>
                      <a:r>
                        <a:rPr sz="900" b="1">
                          <a:solidFill>
                            <a:srgbClr val="10151C"/>
                          </a:solidFill>
                          <a:latin typeface="Helvetica Neue"/>
                          <a:ea typeface="Helvetica Neue"/>
                          <a:cs typeface="Helvetica Neue"/>
                        </a:rPr>
                        <a:t>n=80</a:t>
                      </a:r>
                    </a:p>
                  </a:txBody>
                  <a:tcPr marL="47625" marR="47625" marT="19050" marB="19050" anchor="ctr">
                    <a:solidFill>
                      <a:srgbClr val="F4E5DD"/>
                    </a:solidFill>
                  </a:tcPr>
                </a:tc>
                <a:tc>
                  <a:txBody>
                    <a:bodyPr>
                      <a:normAutofit/>
                    </a:bodyPr>
                    <a:lstStyle/>
                    <a:p>
                      <a:pPr algn="ctr"/>
                      <a:r>
                        <a:rPr sz="900" b="1">
                          <a:solidFill>
                            <a:srgbClr val="10151C"/>
                          </a:solidFill>
                          <a:latin typeface="Helvetica Neue"/>
                          <a:ea typeface="Helvetica Neue"/>
                          <a:cs typeface="Helvetica Neue"/>
                        </a:rPr>
                        <a:t>59.6%</a:t>
                      </a:r>
                    </a:p>
                    <a:p>
                      <a:pPr algn="ctr"/>
                      <a:r>
                        <a:rPr sz="900" b="1">
                          <a:solidFill>
                            <a:srgbClr val="10151C"/>
                          </a:solidFill>
                          <a:latin typeface="Helvetica Neue"/>
                          <a:ea typeface="Helvetica Neue"/>
                          <a:cs typeface="Helvetica Neue"/>
                        </a:rPr>
                        <a:t>n=52</a:t>
                      </a:r>
                    </a:p>
                  </a:txBody>
                  <a:tcPr marL="47625" marR="47625" marT="19050" marB="19050" anchor="ctr">
                    <a:solidFill>
                      <a:srgbClr val="ECE8E0"/>
                    </a:solidFill>
                  </a:tcPr>
                </a:tc>
                <a:tc>
                  <a:txBody>
                    <a:bodyPr>
                      <a:normAutofit/>
                    </a:bodyPr>
                    <a:lstStyle/>
                    <a:p>
                      <a:pPr algn="ctr"/>
                      <a:r>
                        <a:rPr sz="900" b="1">
                          <a:solidFill>
                            <a:srgbClr val="A33D29"/>
                          </a:solidFill>
                          <a:latin typeface="Helvetica Neue"/>
                          <a:ea typeface="Helvetica Neue"/>
                          <a:cs typeface="Helvetica Neue"/>
                        </a:rPr>
                        <a:t>36.1%</a:t>
                      </a:r>
                    </a:p>
                    <a:p>
                      <a:pPr algn="ctr"/>
                      <a:r>
                        <a:rPr sz="900" b="1">
                          <a:solidFill>
                            <a:srgbClr val="A33D29"/>
                          </a:solidFill>
                          <a:latin typeface="Helvetica Neue"/>
                          <a:ea typeface="Helvetica Neue"/>
                          <a:cs typeface="Helvetica Neue"/>
                        </a:rPr>
                        <a:t>n=36</a:t>
                      </a:r>
                    </a:p>
                  </a:txBody>
                  <a:tcPr marL="47625" marR="47625" marT="19050" marB="19050" anchor="ctr">
                    <a:solidFill>
                      <a:srgbClr val="F9E3DA"/>
                    </a:solidFill>
                  </a:tcPr>
                </a:tc>
                <a:tc>
                  <a:txBody>
                    <a:bodyPr>
                      <a:normAutofit/>
                    </a:bodyPr>
                    <a:lstStyle/>
                    <a:p>
                      <a:pPr algn="ctr"/>
                      <a:r>
                        <a:rPr sz="900" b="1">
                          <a:solidFill>
                            <a:srgbClr val="A33D29"/>
                          </a:solidFill>
                          <a:latin typeface="Helvetica Neue"/>
                          <a:ea typeface="Helvetica Neue"/>
                          <a:cs typeface="Helvetica Neue"/>
                        </a:rPr>
                        <a:t>39.2%</a:t>
                      </a:r>
                    </a:p>
                    <a:p>
                      <a:pPr algn="ctr"/>
                      <a:r>
                        <a:rPr sz="900" b="1">
                          <a:solidFill>
                            <a:srgbClr val="A33D29"/>
                          </a:solidFill>
                          <a:latin typeface="Helvetica Neue"/>
                          <a:ea typeface="Helvetica Neue"/>
                          <a:cs typeface="Helvetica Neue"/>
                        </a:rPr>
                        <a:t>n=130</a:t>
                      </a:r>
                    </a:p>
                  </a:txBody>
                  <a:tcPr marL="47625" marR="47625" marT="19050" marB="19050" anchor="ctr">
                    <a:solidFill>
                      <a:srgbClr val="F7E4DB"/>
                    </a:solidFill>
                  </a:tcPr>
                </a:tc>
              </a:tr>
              <a:tr h="450850">
                <a:tc>
                  <a:txBody>
                    <a:bodyPr>
                      <a:normAutofit/>
                    </a:bodyPr>
                    <a:lstStyle/>
                    <a:p>
                      <a:pPr algn="ctr"/>
                      <a:r>
                        <a:rPr sz="900" b="1">
                          <a:solidFill>
                            <a:srgbClr val="FFFFFF"/>
                          </a:solidFill>
                          <a:latin typeface="Helvetica Neue"/>
                          <a:ea typeface="Helvetica Neue"/>
                          <a:cs typeface="Helvetica Neue"/>
                        </a:rPr>
                        <a:t>TEXT</a:t>
                      </a:r>
                    </a:p>
                  </a:txBody>
                  <a:tcPr marL="47625" marR="47625" marT="19050" marB="19050" anchor="ctr">
                    <a:solidFill>
                      <a:srgbClr val="1C2733"/>
                    </a:solidFill>
                  </a:tcPr>
                </a:tc>
                <a:tc>
                  <a:txBody>
                    <a:bodyPr>
                      <a:normAutofit/>
                    </a:bodyPr>
                    <a:lstStyle/>
                    <a:p>
                      <a:pPr algn="ctr"/>
                      <a:r>
                        <a:rPr sz="900" b="1">
                          <a:solidFill>
                            <a:srgbClr val="10151C"/>
                          </a:solidFill>
                          <a:latin typeface="Helvetica Neue"/>
                          <a:ea typeface="Helvetica Neue"/>
                          <a:cs typeface="Helvetica Neue"/>
                        </a:rPr>
                        <a:t>77.0%</a:t>
                      </a:r>
                    </a:p>
                    <a:p>
                      <a:pPr algn="ctr"/>
                      <a:r>
                        <a:rPr sz="900" b="1">
                          <a:solidFill>
                            <a:srgbClr val="10151C"/>
                          </a:solidFill>
                          <a:latin typeface="Helvetica Neue"/>
                          <a:ea typeface="Helvetica Neue"/>
                          <a:cs typeface="Helvetica Neue"/>
                        </a:rPr>
                        <a:t>n=161</a:t>
                      </a:r>
                    </a:p>
                  </a:txBody>
                  <a:tcPr marL="47625" marR="47625" marT="19050" marB="19050" anchor="ctr">
                    <a:solidFill>
                      <a:srgbClr val="E3ECE4"/>
                    </a:solidFill>
                  </a:tcPr>
                </a:tc>
                <a:tc>
                  <a:txBody>
                    <a:bodyPr>
                      <a:normAutofit/>
                    </a:bodyPr>
                    <a:lstStyle/>
                    <a:p>
                      <a:pPr algn="ctr"/>
                      <a:r>
                        <a:rPr sz="900" b="1">
                          <a:solidFill>
                            <a:srgbClr val="10151C"/>
                          </a:solidFill>
                          <a:latin typeface="Helvetica Neue"/>
                          <a:ea typeface="Helvetica Neue"/>
                          <a:cs typeface="Helvetica Neue"/>
                        </a:rPr>
                        <a:t>80.8%</a:t>
                      </a:r>
                    </a:p>
                    <a:p>
                      <a:pPr algn="ctr"/>
                      <a:r>
                        <a:rPr sz="900" b="1">
                          <a:solidFill>
                            <a:srgbClr val="10151C"/>
                          </a:solidFill>
                          <a:latin typeface="Helvetica Neue"/>
                          <a:ea typeface="Helvetica Neue"/>
                          <a:cs typeface="Helvetica Neue"/>
                        </a:rPr>
                        <a:t>n=151</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80.3%</a:t>
                      </a:r>
                    </a:p>
                    <a:p>
                      <a:pPr algn="ctr"/>
                      <a:r>
                        <a:rPr sz="900" b="1">
                          <a:solidFill>
                            <a:srgbClr val="10151C"/>
                          </a:solidFill>
                          <a:latin typeface="Helvetica Neue"/>
                          <a:ea typeface="Helvetica Neue"/>
                          <a:cs typeface="Helvetica Neue"/>
                        </a:rPr>
                        <a:t>n=152</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79.4%</a:t>
                      </a:r>
                    </a:p>
                    <a:p>
                      <a:pPr algn="ctr"/>
                      <a:r>
                        <a:rPr sz="900" b="1">
                          <a:solidFill>
                            <a:srgbClr val="10151C"/>
                          </a:solidFill>
                          <a:latin typeface="Helvetica Neue"/>
                          <a:ea typeface="Helvetica Neue"/>
                          <a:cs typeface="Helvetica Neue"/>
                        </a:rPr>
                        <a:t>n=180</a:t>
                      </a:r>
                    </a:p>
                  </a:txBody>
                  <a:tcPr marL="47625" marR="47625" marT="19050" marB="19050" anchor="ctr">
                    <a:solidFill>
                      <a:srgbClr val="E2EDE5"/>
                    </a:solidFill>
                  </a:tcPr>
                </a:tc>
                <a:tc>
                  <a:txBody>
                    <a:bodyPr>
                      <a:normAutofit/>
                    </a:bodyPr>
                    <a:lstStyle/>
                    <a:p>
                      <a:pPr algn="ctr"/>
                      <a:r>
                        <a:rPr sz="900" b="1">
                          <a:solidFill>
                            <a:srgbClr val="10151C"/>
                          </a:solidFill>
                          <a:latin typeface="Helvetica Neue"/>
                          <a:ea typeface="Helvetica Neue"/>
                          <a:cs typeface="Helvetica Neue"/>
                        </a:rPr>
                        <a:t>85.1%</a:t>
                      </a:r>
                    </a:p>
                    <a:p>
                      <a:pPr algn="ctr"/>
                      <a:r>
                        <a:rPr sz="900" b="1">
                          <a:solidFill>
                            <a:srgbClr val="10151C"/>
                          </a:solidFill>
                          <a:latin typeface="Helvetica Neue"/>
                          <a:ea typeface="Helvetica Neue"/>
                          <a:cs typeface="Helvetica Neue"/>
                        </a:rPr>
                        <a:t>n=47</a:t>
                      </a:r>
                    </a:p>
                  </a:txBody>
                  <a:tcPr marL="47625" marR="47625" marT="19050" marB="19050" anchor="ctr">
                    <a:solidFill>
                      <a:srgbClr val="DFEEE6"/>
                    </a:solidFill>
                  </a:tcPr>
                </a:tc>
                <a:tc>
                  <a:txBody>
                    <a:bodyPr>
                      <a:normAutofit/>
                    </a:bodyPr>
                    <a:lstStyle/>
                    <a:p>
                      <a:pPr algn="ctr"/>
                      <a:r>
                        <a:rPr sz="900" b="1">
                          <a:solidFill>
                            <a:srgbClr val="10151C"/>
                          </a:solidFill>
                          <a:latin typeface="Helvetica Neue"/>
                          <a:ea typeface="Helvetica Neue"/>
                          <a:cs typeface="Helvetica Neue"/>
                        </a:rPr>
                        <a:t>86.0%</a:t>
                      </a:r>
                    </a:p>
                    <a:p>
                      <a:pPr algn="ctr"/>
                      <a:r>
                        <a:rPr sz="900" b="1">
                          <a:solidFill>
                            <a:srgbClr val="10151C"/>
                          </a:solidFill>
                          <a:latin typeface="Helvetica Neue"/>
                          <a:ea typeface="Helvetica Neue"/>
                          <a:cs typeface="Helvetica Neue"/>
                        </a:rPr>
                        <a:t>n=43</a:t>
                      </a:r>
                    </a:p>
                  </a:txBody>
                  <a:tcPr marL="47625" marR="47625" marT="19050" marB="19050" anchor="ctr">
                    <a:solidFill>
                      <a:srgbClr val="DEEEE6"/>
                    </a:solidFill>
                  </a:tcPr>
                </a:tc>
                <a:tc>
                  <a:txBody>
                    <a:bodyPr>
                      <a:normAutofit/>
                    </a:bodyPr>
                    <a:lstStyle/>
                    <a:p>
                      <a:pPr algn="ctr"/>
                      <a:r>
                        <a:rPr sz="900" b="1">
                          <a:solidFill>
                            <a:srgbClr val="10151C"/>
                          </a:solidFill>
                          <a:latin typeface="Helvetica Neue"/>
                          <a:ea typeface="Helvetica Neue"/>
                          <a:cs typeface="Helvetica Neue"/>
                        </a:rPr>
                        <a:t>77.4%</a:t>
                      </a:r>
                    </a:p>
                    <a:p>
                      <a:pPr algn="ctr"/>
                      <a:r>
                        <a:rPr sz="900" b="1">
                          <a:solidFill>
                            <a:srgbClr val="10151C"/>
                          </a:solidFill>
                          <a:latin typeface="Helvetica Neue"/>
                          <a:ea typeface="Helvetica Neue"/>
                          <a:cs typeface="Helvetica Neue"/>
                        </a:rPr>
                        <a:t>n=243</a:t>
                      </a:r>
                    </a:p>
                  </a:txBody>
                  <a:tcPr marL="47625" marR="47625" marT="19050" marB="19050" anchor="ctr">
                    <a:solidFill>
                      <a:srgbClr val="E3ECE4"/>
                    </a:solidFill>
                  </a:tcPr>
                </a:tc>
              </a:tr>
            </a:tbl>
          </a:graphicData>
        </a:graphic>
      </p:graphicFrame>
      <p:sp>
        <p:nvSpPr>
          <p:cNvPr id="24" name="">
            <a:extLst xmlns:a="http://schemas.openxmlformats.org/drawingml/2006/main">
              <a:ext uri="{FF2B5EF4-FFF2-40B4-BE49-F238E27FC236}">
                <a16:creationId xmlns:a16="http://schemas.microsoft.com/office/drawing/2014/main" id="{68C27B61-495B-4074-9D3D-6A8D1CFA2F1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0D69556-C15F-44AC-9ABC-B79E26C21986}"/>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Raw point-in-box accuracy. UI type is the official target label; action families are diagnostic. Target geometry follows on the next slide.</a:t>
            </a:r>
          </a:p>
        </p:txBody>
      </p:sp>
    </p:spTree>
    <p:extLst>
      <p:ext uri="{BB962C8B-B14F-4D97-AF65-F5344CB8AC3E}">
        <p14:creationId xmlns:p14="http://schemas.microsoft.com/office/powerpoint/2010/main" val="1629636716"/>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5ED6C4B-61EF-4AC5-8831-830772CDDFF0}"/>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TARGET GEOMETRY</a:t>
            </a:r>
          </a:p>
        </p:txBody>
      </p:sp>
      <p:sp>
        <p:nvSpPr>
          <p:cNvPr id="2" name="">
            <a:extLst xmlns:a="http://schemas.openxmlformats.org/drawingml/2006/main">
              <a:ext uri="{FF2B5EF4-FFF2-40B4-BE49-F238E27FC236}">
                <a16:creationId xmlns:a16="http://schemas.microsoft.com/office/drawing/2014/main" id="{890AF6E9-5B7F-454D-B972-9976098A5812}"/>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Text target boxes are 4.77× larger at the median</a:t>
            </a:r>
          </a:p>
        </p:txBody>
      </p:sp>
      <p:sp>
        <p:nvSpPr>
          <p:cNvPr id="3" name="">
            <a:extLst xmlns:a="http://schemas.openxmlformats.org/drawingml/2006/main">
              <a:ext uri="{FF2B5EF4-FFF2-40B4-BE49-F238E27FC236}">
                <a16:creationId xmlns:a16="http://schemas.microsoft.com/office/drawing/2014/main" id="{7862330D-51A3-4460-B015-03F7BCD8EB7C}"/>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A2ACB0C3-0751-41E7-92A3-8BB64678048C}"/>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Normalized area is the annotated click-box area divided by screenshot area. Each series sums to 100%.</a:t>
            </a:r>
          </a:p>
        </p:txBody>
      </p:sp>
      <p:sp>
        <p:nvSpPr>
          <p:cNvPr id="5" name="">
            <a:extLst xmlns:a="http://schemas.openxmlformats.org/drawingml/2006/main">
              <a:ext uri="{FF2B5EF4-FFF2-40B4-BE49-F238E27FC236}">
                <a16:creationId xmlns:a16="http://schemas.microsoft.com/office/drawing/2014/main" id="{B098E8DC-D790-4477-9D95-95559B0B3BB1}"/>
              </a:ext>
            </a:extLst>
          </p:cNvPr>
          <p:cNvSpPr>
            <a:spLocks xmlns:a="http://schemas.openxmlformats.org/drawingml/2006/main" noGrp="1"/>
          </p:cNvSpPr>
          <p:nvPr/>
        </p:nvSpPr>
        <p:spPr>
          <a:xfrm xmlns:a="http://schemas.openxmlformats.org/drawingml/2006/main">
            <a:off x="609600" y="156210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SHARE OF TARGETS BY NORMALIZED AREA BUCKET</a:t>
            </a:r>
          </a:p>
        </p:txBody>
      </p:sp>
      <p:graphicFrame>
        <p:nvGraphicFramePr>
          <p:cNvPr id="25"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2e031e790f3145bf"/>
          </a:graphicData>
        </a:graphic>
      </p:graphicFrame>
      <p:sp>
        <p:nvSpPr>
          <p:cNvPr id="7" name="">
            <a:extLst xmlns:a="http://schemas.openxmlformats.org/drawingml/2006/main">
              <a:ext uri="{FF2B5EF4-FFF2-40B4-BE49-F238E27FC236}">
                <a16:creationId xmlns:a16="http://schemas.microsoft.com/office/drawing/2014/main" id="{93AB0AD5-04B5-4D44-961B-6762F247630E}"/>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DACAC41-DB5C-49B2-B773-43B09D4D7FAB}"/>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TARGET AREA</a:t>
            </a:r>
          </a:p>
        </p:txBody>
      </p:sp>
      <p:sp>
        <p:nvSpPr>
          <p:cNvPr id="9" name="">
            <a:extLst xmlns:a="http://schemas.openxmlformats.org/drawingml/2006/main">
              <a:ext uri="{FF2B5EF4-FFF2-40B4-BE49-F238E27FC236}">
                <a16:creationId xmlns:a16="http://schemas.microsoft.com/office/drawing/2014/main" id="{83C4DBE6-577E-486F-82E9-E7C51511E0C7}"/>
              </a:ext>
            </a:extLst>
          </p:cNvPr>
          <p:cNvSpPr>
            <a:spLocks xmlns:a="http://schemas.openxmlformats.org/drawingml/2006/main" noGrp="1"/>
          </p:cNvSpPr>
          <p:nvPr/>
        </p:nvSpPr>
        <p:spPr>
          <a:xfrm xmlns:a="http://schemas.openxmlformats.org/drawingml/2006/main">
            <a:off x="9067800" y="21907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4.77×</a:t>
            </a:r>
          </a:p>
        </p:txBody>
      </p:sp>
      <p:sp>
        <p:nvSpPr>
          <p:cNvPr id="10" name="">
            <a:extLst xmlns:a="http://schemas.openxmlformats.org/drawingml/2006/main">
              <a:ext uri="{FF2B5EF4-FFF2-40B4-BE49-F238E27FC236}">
                <a16:creationId xmlns:a16="http://schemas.microsoft.com/office/drawing/2014/main" id="{0C7FC121-47E4-4189-9615-7C46F2FB155C}"/>
              </a:ext>
            </a:extLst>
          </p:cNvPr>
          <p:cNvSpPr>
            <a:spLocks xmlns:a="http://schemas.openxmlformats.org/drawingml/2006/main" noGrp="1"/>
          </p:cNvSpPr>
          <p:nvPr/>
        </p:nvSpPr>
        <p:spPr>
          <a:xfrm xmlns:a="http://schemas.openxmlformats.org/drawingml/2006/main">
            <a:off x="9067800" y="280035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text versus icon</a:t>
            </a:r>
          </a:p>
        </p:txBody>
      </p:sp>
      <p:sp>
        <p:nvSpPr>
          <p:cNvPr id="11" name="">
            <a:extLst xmlns:a="http://schemas.openxmlformats.org/drawingml/2006/main">
              <a:ext uri="{FF2B5EF4-FFF2-40B4-BE49-F238E27FC236}">
                <a16:creationId xmlns:a16="http://schemas.microsoft.com/office/drawing/2014/main" id="{4A915339-CE6C-4C93-BEEC-BDCA9EB9526D}"/>
              </a:ext>
            </a:extLst>
          </p:cNvPr>
          <p:cNvSpPr>
            <a:spLocks xmlns:a="http://schemas.openxmlformats.org/drawingml/2006/main" noGrp="1"/>
          </p:cNvSpPr>
          <p:nvPr/>
        </p:nvSpPr>
        <p:spPr>
          <a:xfrm xmlns:a="http://schemas.openxmlformats.org/drawingml/2006/main">
            <a:off x="9067800" y="32575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E4DCC65-343C-4EC8-8971-BEAB67E0916E}"/>
              </a:ext>
            </a:extLst>
          </p:cNvPr>
          <p:cNvSpPr>
            <a:spLocks xmlns:a="http://schemas.openxmlformats.org/drawingml/2006/main" noGrp="1"/>
          </p:cNvSpPr>
          <p:nvPr/>
        </p:nvSpPr>
        <p:spPr>
          <a:xfrm xmlns:a="http://schemas.openxmlformats.org/drawingml/2006/main">
            <a:off x="9067800" y="35242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CLICK BOX</a:t>
            </a:r>
          </a:p>
        </p:txBody>
      </p:sp>
      <p:sp>
        <p:nvSpPr>
          <p:cNvPr id="13" name="">
            <a:extLst xmlns:a="http://schemas.openxmlformats.org/drawingml/2006/main">
              <a:ext uri="{FF2B5EF4-FFF2-40B4-BE49-F238E27FC236}">
                <a16:creationId xmlns:a16="http://schemas.microsoft.com/office/drawing/2014/main" id="{4336DB27-082A-41F6-8358-EF93FABC5A72}"/>
              </a:ext>
            </a:extLst>
          </p:cNvPr>
          <p:cNvSpPr>
            <a:spLocks xmlns:a="http://schemas.openxmlformats.org/drawingml/2006/main" noGrp="1"/>
          </p:cNvSpPr>
          <p:nvPr/>
        </p:nvSpPr>
        <p:spPr>
          <a:xfrm xmlns:a="http://schemas.openxmlformats.org/drawingml/2006/main">
            <a:off x="9067800" y="38290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111 × 25 px</a:t>
            </a:r>
          </a:p>
        </p:txBody>
      </p:sp>
      <p:sp>
        <p:nvSpPr>
          <p:cNvPr id="14" name="">
            <a:extLst xmlns:a="http://schemas.openxmlformats.org/drawingml/2006/main">
              <a:ext uri="{FF2B5EF4-FFF2-40B4-BE49-F238E27FC236}">
                <a16:creationId xmlns:a16="http://schemas.microsoft.com/office/drawing/2014/main" id="{80DE649A-3B13-4A42-B16B-FC4093B57B88}"/>
              </a:ext>
            </a:extLst>
          </p:cNvPr>
          <p:cNvSpPr>
            <a:spLocks xmlns:a="http://schemas.openxmlformats.org/drawingml/2006/main" noGrp="1"/>
          </p:cNvSpPr>
          <p:nvPr/>
        </p:nvSpPr>
        <p:spPr>
          <a:xfrm xmlns:a="http://schemas.openxmlformats.org/drawingml/2006/main">
            <a:off x="9067800" y="41910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Icon     26 × 24 px</a:t>
            </a:r>
          </a:p>
        </p:txBody>
      </p:sp>
      <p:sp>
        <p:nvSpPr>
          <p:cNvPr id="15" name="">
            <a:extLst xmlns:a="http://schemas.openxmlformats.org/drawingml/2006/main">
              <a:ext uri="{FF2B5EF4-FFF2-40B4-BE49-F238E27FC236}">
                <a16:creationId xmlns:a16="http://schemas.microsoft.com/office/drawing/2014/main" id="{42B735EF-3BD5-4327-B77D-68F716B8214F}"/>
              </a:ext>
            </a:extLst>
          </p:cNvPr>
          <p:cNvSpPr>
            <a:spLocks xmlns:a="http://schemas.openxmlformats.org/drawingml/2006/main" noGrp="1"/>
          </p:cNvSpPr>
          <p:nvPr/>
        </p:nvSpPr>
        <p:spPr>
          <a:xfrm xmlns:a="http://schemas.openxmlformats.org/drawingml/2006/main">
            <a:off x="9067800" y="46863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The difference is mostly width.</a:t>
            </a:r>
          </a:p>
        </p:txBody>
      </p:sp>
      <p:sp>
        <p:nvSpPr>
          <p:cNvPr id="16" name="">
            <a:extLst xmlns:a="http://schemas.openxmlformats.org/drawingml/2006/main">
              <a:ext uri="{FF2B5EF4-FFF2-40B4-BE49-F238E27FC236}">
                <a16:creationId xmlns:a16="http://schemas.microsoft.com/office/drawing/2014/main" id="{223676F2-EB56-4959-B862-F0529026E6EF}"/>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35F45F0-5CE2-4C3C-B205-8FBAC7229A44}"/>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Point-in-box scoring gives wider text regions more click tolerance, so the raw UI gap mixes recognition with target geometry.</a:t>
            </a:r>
          </a:p>
        </p:txBody>
      </p:sp>
      <p:sp>
        <p:nvSpPr>
          <p:cNvPr id="18" name="">
            <a:extLst xmlns:a="http://schemas.openxmlformats.org/drawingml/2006/main">
              <a:ext uri="{FF2B5EF4-FFF2-40B4-BE49-F238E27FC236}">
                <a16:creationId xmlns:a16="http://schemas.microsoft.com/office/drawing/2014/main" id="{F8B4882D-A158-4466-AB10-8682A0D4416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2112953-E300-4F09-A1BE-B810A6E3C769}"/>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All 1,581 official annotations. Buckets show observed within-label distributions, not accuracy or a causal adjustment.</a:t>
            </a:r>
          </a:p>
        </p:txBody>
      </p:sp>
    </p:spTree>
    <p:extLst>
      <p:ext uri="{BB962C8B-B14F-4D97-AF65-F5344CB8AC3E}">
        <p14:creationId xmlns:p14="http://schemas.microsoft.com/office/powerpoint/2010/main" val="1560749937"/>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9EE4FE9-C1F4-4D7F-AF02-0EE1B287F447}"/>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ABLATION</a:t>
            </a:r>
          </a:p>
        </p:txBody>
      </p:sp>
      <p:sp>
        <p:nvSpPr>
          <p:cNvPr id="2" name="">
            <a:extLst xmlns:a="http://schemas.openxmlformats.org/drawingml/2006/main">
              <a:ext uri="{FF2B5EF4-FFF2-40B4-BE49-F238E27FC236}">
                <a16:creationId xmlns:a16="http://schemas.microsoft.com/office/drawing/2014/main" id="{86B8193E-7583-435B-A5A5-F9646A99709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16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Only 11% of native-success clicks survive at quarter resolution</a:t>
            </a:r>
          </a:p>
        </p:txBody>
      </p:sp>
      <p:sp>
        <p:nvSpPr>
          <p:cNvPr id="3" name="">
            <a:extLst xmlns:a="http://schemas.openxmlformats.org/drawingml/2006/main">
              <a:ext uri="{FF2B5EF4-FFF2-40B4-BE49-F238E27FC236}">
                <a16:creationId xmlns:a16="http://schemas.microsoft.com/office/drawing/2014/main" id="{1EC85AEF-0CFD-4011-B7C4-78E797616807}"/>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F0E2580A-A4C2-4817-9D21-976B66C5D1D2}"/>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Paired retention across 36 ScreenSpot-Pro items that Holo localizes correctly at native resolution</a:t>
            </a:r>
          </a:p>
        </p:txBody>
      </p:sp>
      <p:sp>
        <p:nvSpPr>
          <p:cNvPr id="5" name="">
            <a:extLst xmlns:a="http://schemas.openxmlformats.org/drawingml/2006/main">
              <a:ext uri="{FF2B5EF4-FFF2-40B4-BE49-F238E27FC236}">
                <a16:creationId xmlns:a16="http://schemas.microsoft.com/office/drawing/2014/main" id="{7632C820-06B9-4D51-8C0A-14EDAA4272F6}"/>
              </a:ext>
            </a:extLst>
          </p:cNvPr>
          <p:cNvSpPr>
            <a:spLocks xmlns:a="http://schemas.openxmlformats.org/drawingml/2006/main" noGrp="1"/>
          </p:cNvSpPr>
          <p:nvPr/>
        </p:nvSpPr>
        <p:spPr>
          <a:xfrm xmlns:a="http://schemas.openxmlformats.org/drawingml/2006/main">
            <a:off x="609600" y="156210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SUCCESS RETENTION UNDER CONTROLLED DOWNSAMPLING</a:t>
            </a:r>
          </a:p>
        </p:txBody>
      </p:sp>
      <p:graphicFrame>
        <p:nvGraphicFramePr>
          <p:cNvPr id="26"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cd3ac5d1061e4c6a"/>
          </a:graphicData>
        </a:graphic>
      </p:graphicFrame>
      <p:sp>
        <p:nvSpPr>
          <p:cNvPr id="7" name="">
            <a:extLst xmlns:a="http://schemas.openxmlformats.org/drawingml/2006/main">
              <a:ext uri="{FF2B5EF4-FFF2-40B4-BE49-F238E27FC236}">
                <a16:creationId xmlns:a16="http://schemas.microsoft.com/office/drawing/2014/main" id="{076545D2-2F69-4955-8F88-28795A09B3A4}"/>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2F8AF16-A410-4074-BC49-C481FE82A455}"/>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QUARTER RESOLUTION</a:t>
            </a:r>
          </a:p>
        </p:txBody>
      </p:sp>
      <p:sp>
        <p:nvSpPr>
          <p:cNvPr id="9" name="">
            <a:extLst xmlns:a="http://schemas.openxmlformats.org/drawingml/2006/main">
              <a:ext uri="{FF2B5EF4-FFF2-40B4-BE49-F238E27FC236}">
                <a16:creationId xmlns:a16="http://schemas.microsoft.com/office/drawing/2014/main" id="{163FD356-8718-4197-988D-68D064C24D0F}"/>
              </a:ext>
            </a:extLst>
          </p:cNvPr>
          <p:cNvSpPr>
            <a:spLocks xmlns:a="http://schemas.openxmlformats.org/drawingml/2006/main" noGrp="1"/>
          </p:cNvSpPr>
          <p:nvPr/>
        </p:nvSpPr>
        <p:spPr>
          <a:xfrm xmlns:a="http://schemas.openxmlformats.org/drawingml/2006/main">
            <a:off x="9067800" y="21526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11.1%</a:t>
            </a:r>
          </a:p>
        </p:txBody>
      </p:sp>
      <p:sp>
        <p:nvSpPr>
          <p:cNvPr id="10" name="">
            <a:extLst xmlns:a="http://schemas.openxmlformats.org/drawingml/2006/main">
              <a:ext uri="{FF2B5EF4-FFF2-40B4-BE49-F238E27FC236}">
                <a16:creationId xmlns:a16="http://schemas.microsoft.com/office/drawing/2014/main" id="{BC7BA31F-B2A5-439B-9D23-BAFBAEF68808}"/>
              </a:ext>
            </a:extLst>
          </p:cNvPr>
          <p:cNvSpPr>
            <a:spLocks xmlns:a="http://schemas.openxmlformats.org/drawingml/2006/main" noGrp="1"/>
          </p:cNvSpPr>
          <p:nvPr/>
        </p:nvSpPr>
        <p:spPr>
          <a:xfrm xmlns:a="http://schemas.openxmlformats.org/drawingml/2006/main">
            <a:off x="9067800" y="278130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4/36 clicks survive</a:t>
            </a:r>
          </a:p>
        </p:txBody>
      </p:sp>
      <p:sp>
        <p:nvSpPr>
          <p:cNvPr id="11" name="">
            <a:extLst xmlns:a="http://schemas.openxmlformats.org/drawingml/2006/main">
              <a:ext uri="{FF2B5EF4-FFF2-40B4-BE49-F238E27FC236}">
                <a16:creationId xmlns:a16="http://schemas.microsoft.com/office/drawing/2014/main" id="{941BA0B9-9E3B-4552-8649-1FD34105F399}"/>
              </a:ext>
            </a:extLst>
          </p:cNvPr>
          <p:cNvSpPr>
            <a:spLocks xmlns:a="http://schemas.openxmlformats.org/drawingml/2006/main" noGrp="1"/>
          </p:cNvSpPr>
          <p:nvPr/>
        </p:nvSpPr>
        <p:spPr>
          <a:xfrm xmlns:a="http://schemas.openxmlformats.org/drawingml/2006/main">
            <a:off x="9067800" y="30670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95% CI 4.4–25.3%</a:t>
            </a:r>
          </a:p>
        </p:txBody>
      </p:sp>
      <p:sp>
        <p:nvSpPr>
          <p:cNvPr id="12" name="">
            <a:extLst xmlns:a="http://schemas.openxmlformats.org/drawingml/2006/main">
              <a:ext uri="{FF2B5EF4-FFF2-40B4-BE49-F238E27FC236}">
                <a16:creationId xmlns:a16="http://schemas.microsoft.com/office/drawing/2014/main" id="{5A74D86A-1258-495B-B584-5C7FCAA29C76}"/>
              </a:ext>
            </a:extLst>
          </p:cNvPr>
          <p:cNvSpPr>
            <a:spLocks xmlns:a="http://schemas.openxmlformats.org/drawingml/2006/main" noGrp="1"/>
          </p:cNvSpPr>
          <p:nvPr/>
        </p:nvSpPr>
        <p:spPr>
          <a:xfrm xmlns:a="http://schemas.openxmlformats.org/drawingml/2006/main">
            <a:off x="9067800" y="33718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EF9DD3F-5A4A-42FA-A42D-2A95323C1A43}"/>
              </a:ext>
            </a:extLst>
          </p:cNvPr>
          <p:cNvSpPr>
            <a:spLocks xmlns:a="http://schemas.openxmlformats.org/drawingml/2006/main" noGrp="1"/>
          </p:cNvSpPr>
          <p:nvPr/>
        </p:nvSpPr>
        <p:spPr>
          <a:xfrm xmlns:a="http://schemas.openxmlformats.org/drawingml/2006/main">
            <a:off x="9067800" y="36004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AT HALF RESOLUTION</a:t>
            </a:r>
          </a:p>
        </p:txBody>
      </p:sp>
      <p:sp>
        <p:nvSpPr>
          <p:cNvPr id="14" name="">
            <a:extLst xmlns:a="http://schemas.openxmlformats.org/drawingml/2006/main">
              <a:ext uri="{FF2B5EF4-FFF2-40B4-BE49-F238E27FC236}">
                <a16:creationId xmlns:a16="http://schemas.microsoft.com/office/drawing/2014/main" id="{E3857318-C2F4-4E9A-A18E-818826241BD8}"/>
              </a:ext>
            </a:extLst>
          </p:cNvPr>
          <p:cNvSpPr>
            <a:spLocks xmlns:a="http://schemas.openxmlformats.org/drawingml/2006/main" noGrp="1"/>
          </p:cNvSpPr>
          <p:nvPr/>
        </p:nvSpPr>
        <p:spPr>
          <a:xfrm xmlns:a="http://schemas.openxmlformats.org/drawingml/2006/main">
            <a:off x="9067800" y="39052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83.3%</a:t>
            </a:r>
          </a:p>
        </p:txBody>
      </p:sp>
      <p:sp>
        <p:nvSpPr>
          <p:cNvPr id="15" name="">
            <a:extLst xmlns:a="http://schemas.openxmlformats.org/drawingml/2006/main">
              <a:ext uri="{FF2B5EF4-FFF2-40B4-BE49-F238E27FC236}">
                <a16:creationId xmlns:a16="http://schemas.microsoft.com/office/drawing/2014/main" id="{A3BBCB77-E33C-45E4-B659-A60AA89E395C}"/>
              </a:ext>
            </a:extLst>
          </p:cNvPr>
          <p:cNvSpPr>
            <a:spLocks xmlns:a="http://schemas.openxmlformats.org/drawingml/2006/main" noGrp="1"/>
          </p:cNvSpPr>
          <p:nvPr/>
        </p:nvSpPr>
        <p:spPr>
          <a:xfrm xmlns:a="http://schemas.openxmlformats.org/drawingml/2006/main">
            <a:off x="9067800" y="42672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05A3C"/>
                </a:solidFill>
                <a:latin typeface="Helvetica Neue"/>
                <a:ea typeface="Helvetica Neue"/>
                <a:cs typeface="Helvetica Neue"/>
              </a:defRPr>
            </a:pPr>
            <a:r>
              <a:rPr sz="1500" b="1">
                <a:solidFill>
                  <a:srgbClr val="F05A3C"/>
                </a:solidFill>
                <a:latin typeface="Helvetica Neue"/>
                <a:ea typeface="Helvetica Neue"/>
                <a:cs typeface="Helvetica Neue"/>
              </a:rPr>
              <a:t>Icon    38.9%</a:t>
            </a:r>
          </a:p>
        </p:txBody>
      </p:sp>
      <p:sp>
        <p:nvSpPr>
          <p:cNvPr id="16" name="">
            <a:extLst xmlns:a="http://schemas.openxmlformats.org/drawingml/2006/main">
              <a:ext uri="{FF2B5EF4-FFF2-40B4-BE49-F238E27FC236}">
                <a16:creationId xmlns:a16="http://schemas.microsoft.com/office/drawing/2014/main" id="{7033DDCB-D475-43F4-BAA6-9B379BA29A2C}"/>
              </a:ext>
            </a:extLst>
          </p:cNvPr>
          <p:cNvSpPr>
            <a:spLocks xmlns:a="http://schemas.openxmlformats.org/drawingml/2006/main" noGrp="1"/>
          </p:cNvSpPr>
          <p:nvPr/>
        </p:nvSpPr>
        <p:spPr>
          <a:xfrm xmlns:a="http://schemas.openxmlformats.org/drawingml/2006/main">
            <a:off x="9067800" y="4743450"/>
            <a:ext cx="2247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Smaller icon targets lose more of their successful clicks.</a:t>
            </a:r>
          </a:p>
        </p:txBody>
      </p:sp>
      <p:sp>
        <p:nvSpPr>
          <p:cNvPr id="17" name="">
            <a:extLst xmlns:a="http://schemas.openxmlformats.org/drawingml/2006/main">
              <a:ext uri="{FF2B5EF4-FFF2-40B4-BE49-F238E27FC236}">
                <a16:creationId xmlns:a16="http://schemas.microsoft.com/office/drawing/2014/main" id="{7B01B8B7-6ED1-4A2F-A196-B8FED36C23A8}"/>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B805494-9004-44A7-924D-5C357BD939B5}"/>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Reducing each dimension to 25% cuts retained area to 6.25% and success by 88.9 percentage points.</a:t>
            </a:r>
          </a:p>
        </p:txBody>
      </p:sp>
      <p:sp>
        <p:nvSpPr>
          <p:cNvPr id="19" name="">
            <a:extLst xmlns:a="http://schemas.openxmlformats.org/drawingml/2006/main">
              <a:ext uri="{FF2B5EF4-FFF2-40B4-BE49-F238E27FC236}">
                <a16:creationId xmlns:a16="http://schemas.microsoft.com/office/drawing/2014/main" id="{0B75B5C3-BB48-4A33-B690-5A53582947C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CC673EA-5FDF-468E-A943-EAA31FBDE8FE}"/>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 selected native successes · 144 deterministic requests · official prompt and normalized 0–1000 coordinates · all outputs valid JSON</a:t>
            </a:r>
          </a:p>
        </p:txBody>
      </p:sp>
    </p:spTree>
    <p:extLst>
      <p:ext uri="{BB962C8B-B14F-4D97-AF65-F5344CB8AC3E}">
        <p14:creationId xmlns:p14="http://schemas.microsoft.com/office/powerpoint/2010/main" val="648055860"/>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CAA650C-8B0E-41C2-8267-73CBA990BA5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AND SALIENCY</a:t>
            </a:r>
          </a:p>
        </p:txBody>
      </p:sp>
      <p:sp>
        <p:nvSpPr>
          <p:cNvPr id="2" name="">
            <a:extLst xmlns:a="http://schemas.openxmlformats.org/drawingml/2006/main">
              <a:ext uri="{FF2B5EF4-FFF2-40B4-BE49-F238E27FC236}">
                <a16:creationId xmlns:a16="http://schemas.microsoft.com/office/drawing/2014/main" id="{377196FB-5F4E-47A7-B53A-F1CA9460ABC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809"/>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attribution weakens 24× at quarter resolution</a:t>
            </a:r>
          </a:p>
        </p:txBody>
      </p:sp>
      <p:sp>
        <p:nvSpPr>
          <p:cNvPr id="3" name="">
            <a:extLst xmlns:a="http://schemas.openxmlformats.org/drawingml/2006/main">
              <a:ext uri="{FF2B5EF4-FFF2-40B4-BE49-F238E27FC236}">
                <a16:creationId xmlns:a16="http://schemas.microsoft.com/office/drawing/2014/main" id="{019B809E-CEFE-404B-9F99-4138CC56D898}"/>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54E0F64D-363B-4105-AAC2-014F4E5895EB}"/>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18 balanced native-success cases · value-norm rollout minus four same-image instruction controls</a:t>
            </a:r>
          </a:p>
        </p:txBody>
      </p:sp>
      <p:sp>
        <p:nvSpPr>
          <p:cNvPr id="5" name="">
            <a:extLst xmlns:a="http://schemas.openxmlformats.org/drawingml/2006/main">
              <a:ext uri="{FF2B5EF4-FFF2-40B4-BE49-F238E27FC236}">
                <a16:creationId xmlns:a16="http://schemas.microsoft.com/office/drawing/2014/main" id="{984E3503-6C84-4769-8DFB-B72A588C0E22}"/>
              </a:ext>
            </a:extLst>
          </p:cNvPr>
          <p:cNvSpPr>
            <a:spLocks xmlns:a="http://schemas.openxmlformats.org/drawingml/2006/main" noGrp="1"/>
          </p:cNvSpPr>
          <p:nvPr/>
        </p:nvSpPr>
        <p:spPr>
          <a:xfrm xmlns:a="http://schemas.openxmlformats.org/drawingml/2006/main">
            <a:off x="6096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100%</a:t>
            </a:r>
          </a:p>
        </p:txBody>
      </p:sp>
      <p:sp>
        <p:nvSpPr>
          <p:cNvPr id="6" name="">
            <a:extLst xmlns:a="http://schemas.openxmlformats.org/drawingml/2006/main">
              <a:ext uri="{FF2B5EF4-FFF2-40B4-BE49-F238E27FC236}">
                <a16:creationId xmlns:a16="http://schemas.microsoft.com/office/drawing/2014/main" id="{FD425DF2-50C6-4B05-92FE-39BBD73FF447}"/>
              </a:ext>
            </a:extLst>
          </p:cNvPr>
          <p:cNvSpPr>
            <a:spLocks xmlns:a="http://schemas.openxmlformats.org/drawingml/2006/main" noGrp="1"/>
          </p:cNvSpPr>
          <p:nvPr/>
        </p:nvSpPr>
        <p:spPr>
          <a:xfrm xmlns:a="http://schemas.openxmlformats.org/drawingml/2006/main">
            <a:off x="24193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6951d2d9edd54b44"/>
          <a:srcRect xmlns:a="http://schemas.openxmlformats.org/drawingml/2006/main" l="5331" t="0" r="5331" b="0"/>
          <a:stretch xmlns:a="http://schemas.openxmlformats.org/drawingml/2006/main">
            <a:fillRect l="0" t="0" r="0" b="0"/>
          </a:stretch>
        </p:blipFill>
        <p:spPr>
          <a:xfrm xmlns:a="http://schemas.openxmlformats.org/drawingml/2006/main">
            <a:off x="609600" y="1790700"/>
            <a:ext cx="2571750" cy="1619250"/>
          </a:xfrm>
          <a:prstGeom xmlns:a="http://schemas.openxmlformats.org/drawingml/2006/main" prst="roundRect">
            <a:avLst>
              <a:gd name="adj" fmla="val 7059"/>
            </a:avLst>
          </a:prstGeom>
        </p:spPr>
      </p:pic>
      <p:sp>
        <p:nvSpPr>
          <p:cNvPr id="8" name="">
            <a:extLst xmlns:a="http://schemas.openxmlformats.org/drawingml/2006/main">
              <a:ext uri="{FF2B5EF4-FFF2-40B4-BE49-F238E27FC236}">
                <a16:creationId xmlns:a16="http://schemas.microsoft.com/office/drawing/2014/main" id="{4C63043F-17B4-4010-BEDF-6E22FF5376C8}"/>
              </a:ext>
            </a:extLst>
          </p:cNvPr>
          <p:cNvSpPr>
            <a:spLocks xmlns:a="http://schemas.openxmlformats.org/drawingml/2006/main" noGrp="1"/>
          </p:cNvSpPr>
          <p:nvPr/>
        </p:nvSpPr>
        <p:spPr>
          <a:xfrm xmlns:a="http://schemas.openxmlformats.org/drawingml/2006/main">
            <a:off x="6096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4C6D23DA-9185-4302-A4B8-6ADDAD5443CA}"/>
              </a:ext>
            </a:extLst>
          </p:cNvPr>
          <p:cNvSpPr>
            <a:spLocks xmlns:a="http://schemas.openxmlformats.org/drawingml/2006/main" noGrp="1"/>
          </p:cNvSpPr>
          <p:nvPr/>
        </p:nvSpPr>
        <p:spPr>
          <a:xfrm xmlns:a="http://schemas.openxmlformats.org/drawingml/2006/main">
            <a:off x="6096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9.6% target mass</a:t>
            </a:r>
          </a:p>
        </p:txBody>
      </p:sp>
      <p:sp>
        <p:nvSpPr>
          <p:cNvPr id="10" name="">
            <a:extLst xmlns:a="http://schemas.openxmlformats.org/drawingml/2006/main">
              <a:ext uri="{FF2B5EF4-FFF2-40B4-BE49-F238E27FC236}">
                <a16:creationId xmlns:a16="http://schemas.microsoft.com/office/drawing/2014/main" id="{851B58C8-ACEA-4FFF-965A-FF3EE00AE423}"/>
              </a:ext>
            </a:extLst>
          </p:cNvPr>
          <p:cNvSpPr>
            <a:spLocks xmlns:a="http://schemas.openxmlformats.org/drawingml/2006/main" noGrp="1"/>
          </p:cNvSpPr>
          <p:nvPr/>
        </p:nvSpPr>
        <p:spPr>
          <a:xfrm xmlns:a="http://schemas.openxmlformats.org/drawingml/2006/main">
            <a:off x="33528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75%</a:t>
            </a:r>
          </a:p>
        </p:txBody>
      </p:sp>
      <p:sp>
        <p:nvSpPr>
          <p:cNvPr id="11" name="">
            <a:extLst xmlns:a="http://schemas.openxmlformats.org/drawingml/2006/main">
              <a:ext uri="{FF2B5EF4-FFF2-40B4-BE49-F238E27FC236}">
                <a16:creationId xmlns:a16="http://schemas.microsoft.com/office/drawing/2014/main" id="{AF61310C-E47A-40E8-8ABE-537B90D40C14}"/>
              </a:ext>
            </a:extLst>
          </p:cNvPr>
          <p:cNvSpPr>
            <a:spLocks xmlns:a="http://schemas.openxmlformats.org/drawingml/2006/main" noGrp="1"/>
          </p:cNvSpPr>
          <p:nvPr/>
        </p:nvSpPr>
        <p:spPr>
          <a:xfrm xmlns:a="http://schemas.openxmlformats.org/drawingml/2006/main">
            <a:off x="51625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a422c12ea6f14b6a"/>
          <a:srcRect xmlns:a="http://schemas.openxmlformats.org/drawingml/2006/main" l="5331" t="0" r="5331" b="0"/>
          <a:stretch xmlns:a="http://schemas.openxmlformats.org/drawingml/2006/main">
            <a:fillRect l="0" t="0" r="0" b="0"/>
          </a:stretch>
        </p:blipFill>
        <p:spPr>
          <a:xfrm xmlns:a="http://schemas.openxmlformats.org/drawingml/2006/main">
            <a:off x="3352800" y="1790700"/>
            <a:ext cx="2571750" cy="1619250"/>
          </a:xfrm>
          <a:prstGeom xmlns:a="http://schemas.openxmlformats.org/drawingml/2006/main" prst="roundRect">
            <a:avLst>
              <a:gd name="adj" fmla="val 7059"/>
            </a:avLst>
          </a:prstGeom>
        </p:spPr>
      </p:pic>
      <p:sp>
        <p:nvSpPr>
          <p:cNvPr id="13" name="">
            <a:extLst xmlns:a="http://schemas.openxmlformats.org/drawingml/2006/main">
              <a:ext uri="{FF2B5EF4-FFF2-40B4-BE49-F238E27FC236}">
                <a16:creationId xmlns:a16="http://schemas.microsoft.com/office/drawing/2014/main" id="{D1A79F8F-F092-48F9-8312-CE0E79D2658C}"/>
              </a:ext>
            </a:extLst>
          </p:cNvPr>
          <p:cNvSpPr>
            <a:spLocks xmlns:a="http://schemas.openxmlformats.org/drawingml/2006/main" noGrp="1"/>
          </p:cNvSpPr>
          <p:nvPr/>
        </p:nvSpPr>
        <p:spPr>
          <a:xfrm xmlns:a="http://schemas.openxmlformats.org/drawingml/2006/main">
            <a:off x="33528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D260FB50-81C1-45FC-97A9-972F1EDF2518}"/>
              </a:ext>
            </a:extLst>
          </p:cNvPr>
          <p:cNvSpPr>
            <a:spLocks xmlns:a="http://schemas.openxmlformats.org/drawingml/2006/main" noGrp="1"/>
          </p:cNvSpPr>
          <p:nvPr/>
        </p:nvSpPr>
        <p:spPr>
          <a:xfrm xmlns:a="http://schemas.openxmlformats.org/drawingml/2006/main">
            <a:off x="33528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6.1% target mass</a:t>
            </a:r>
          </a:p>
        </p:txBody>
      </p:sp>
      <p:sp>
        <p:nvSpPr>
          <p:cNvPr id="15" name="">
            <a:extLst xmlns:a="http://schemas.openxmlformats.org/drawingml/2006/main">
              <a:ext uri="{FF2B5EF4-FFF2-40B4-BE49-F238E27FC236}">
                <a16:creationId xmlns:a16="http://schemas.microsoft.com/office/drawing/2014/main" id="{1AFDF5D6-0471-4871-887C-3D3DF1AF06AF}"/>
              </a:ext>
            </a:extLst>
          </p:cNvPr>
          <p:cNvSpPr>
            <a:spLocks xmlns:a="http://schemas.openxmlformats.org/drawingml/2006/main" noGrp="1"/>
          </p:cNvSpPr>
          <p:nvPr/>
        </p:nvSpPr>
        <p:spPr>
          <a:xfrm xmlns:a="http://schemas.openxmlformats.org/drawingml/2006/main">
            <a:off x="60960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50%</a:t>
            </a:r>
          </a:p>
        </p:txBody>
      </p:sp>
      <p:sp>
        <p:nvSpPr>
          <p:cNvPr id="16" name="">
            <a:extLst xmlns:a="http://schemas.openxmlformats.org/drawingml/2006/main">
              <a:ext uri="{FF2B5EF4-FFF2-40B4-BE49-F238E27FC236}">
                <a16:creationId xmlns:a16="http://schemas.microsoft.com/office/drawing/2014/main" id="{C4EF9780-77AE-443D-BBFF-F53618EA0EF1}"/>
              </a:ext>
            </a:extLst>
          </p:cNvPr>
          <p:cNvSpPr>
            <a:spLocks xmlns:a="http://schemas.openxmlformats.org/drawingml/2006/main" noGrp="1"/>
          </p:cNvSpPr>
          <p:nvPr/>
        </p:nvSpPr>
        <p:spPr>
          <a:xfrm xmlns:a="http://schemas.openxmlformats.org/drawingml/2006/main">
            <a:off x="79057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6701eab403794f75"/>
          <a:srcRect xmlns:a="http://schemas.openxmlformats.org/drawingml/2006/main" l="5331" t="0" r="5331" b="0"/>
          <a:stretch xmlns:a="http://schemas.openxmlformats.org/drawingml/2006/main">
            <a:fillRect l="0" t="0" r="0" b="0"/>
          </a:stretch>
        </p:blipFill>
        <p:spPr>
          <a:xfrm xmlns:a="http://schemas.openxmlformats.org/drawingml/2006/main">
            <a:off x="6096000" y="1790700"/>
            <a:ext cx="2571750" cy="1619250"/>
          </a:xfrm>
          <a:prstGeom xmlns:a="http://schemas.openxmlformats.org/drawingml/2006/main" prst="roundRect">
            <a:avLst>
              <a:gd name="adj" fmla="val 7059"/>
            </a:avLst>
          </a:prstGeom>
        </p:spPr>
      </p:pic>
      <p:sp>
        <p:nvSpPr>
          <p:cNvPr id="18" name="">
            <a:extLst xmlns:a="http://schemas.openxmlformats.org/drawingml/2006/main">
              <a:ext uri="{FF2B5EF4-FFF2-40B4-BE49-F238E27FC236}">
                <a16:creationId xmlns:a16="http://schemas.microsoft.com/office/drawing/2014/main" id="{E0DAAD78-FBE1-4F7A-9900-1C15B160C2F5}"/>
              </a:ext>
            </a:extLst>
          </p:cNvPr>
          <p:cNvSpPr>
            <a:spLocks xmlns:a="http://schemas.openxmlformats.org/drawingml/2006/main" noGrp="1"/>
          </p:cNvSpPr>
          <p:nvPr/>
        </p:nvSpPr>
        <p:spPr>
          <a:xfrm xmlns:a="http://schemas.openxmlformats.org/drawingml/2006/main">
            <a:off x="60960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2922EB24-B5D7-4A73-945A-EEE669926B05}"/>
              </a:ext>
            </a:extLst>
          </p:cNvPr>
          <p:cNvSpPr>
            <a:spLocks xmlns:a="http://schemas.openxmlformats.org/drawingml/2006/main" noGrp="1"/>
          </p:cNvSpPr>
          <p:nvPr/>
        </p:nvSpPr>
        <p:spPr>
          <a:xfrm xmlns:a="http://schemas.openxmlformats.org/drawingml/2006/main">
            <a:off x="60960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3.7% target mass</a:t>
            </a:r>
          </a:p>
        </p:txBody>
      </p:sp>
      <p:sp>
        <p:nvSpPr>
          <p:cNvPr id="20" name="">
            <a:extLst xmlns:a="http://schemas.openxmlformats.org/drawingml/2006/main">
              <a:ext uri="{FF2B5EF4-FFF2-40B4-BE49-F238E27FC236}">
                <a16:creationId xmlns:a16="http://schemas.microsoft.com/office/drawing/2014/main" id="{7BD0503C-E1C8-4D16-AE3C-B554438B6BA7}"/>
              </a:ext>
            </a:extLst>
          </p:cNvPr>
          <p:cNvSpPr>
            <a:spLocks xmlns:a="http://schemas.openxmlformats.org/drawingml/2006/main" noGrp="1"/>
          </p:cNvSpPr>
          <p:nvPr/>
        </p:nvSpPr>
        <p:spPr>
          <a:xfrm xmlns:a="http://schemas.openxmlformats.org/drawingml/2006/main">
            <a:off x="88392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5A3C"/>
                </a:solidFill>
                <a:latin typeface="Helvetica Neue"/>
                <a:ea typeface="Helvetica Neue"/>
                <a:cs typeface="Helvetica Neue"/>
              </a:defRPr>
            </a:pPr>
            <a:r>
              <a:rPr sz="1350" b="1">
                <a:solidFill>
                  <a:srgbClr val="F05A3C"/>
                </a:solidFill>
                <a:latin typeface="Helvetica Neue"/>
                <a:ea typeface="Helvetica Neue"/>
                <a:cs typeface="Helvetica Neue"/>
              </a:rPr>
              <a:t>25%</a:t>
            </a:r>
          </a:p>
        </p:txBody>
      </p:sp>
      <p:sp>
        <p:nvSpPr>
          <p:cNvPr id="21" name="">
            <a:extLst xmlns:a="http://schemas.openxmlformats.org/drawingml/2006/main">
              <a:ext uri="{FF2B5EF4-FFF2-40B4-BE49-F238E27FC236}">
                <a16:creationId xmlns:a16="http://schemas.microsoft.com/office/drawing/2014/main" id="{1B55623F-7763-4B04-AB53-CD684098D110}"/>
              </a:ext>
            </a:extLst>
          </p:cNvPr>
          <p:cNvSpPr>
            <a:spLocks xmlns:a="http://schemas.openxmlformats.org/drawingml/2006/main" noGrp="1"/>
          </p:cNvSpPr>
          <p:nvPr/>
        </p:nvSpPr>
        <p:spPr>
          <a:xfrm xmlns:a="http://schemas.openxmlformats.org/drawingml/2006/main">
            <a:off x="106489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MISS</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581c5a3280a245bb"/>
          <a:srcRect xmlns:a="http://schemas.openxmlformats.org/drawingml/2006/main" l="5331" t="0" r="5331" b="0"/>
          <a:stretch xmlns:a="http://schemas.openxmlformats.org/drawingml/2006/main">
            <a:fillRect l="0" t="0" r="0" b="0"/>
          </a:stretch>
        </p:blipFill>
        <p:spPr>
          <a:xfrm xmlns:a="http://schemas.openxmlformats.org/drawingml/2006/main">
            <a:off x="8839200" y="1790700"/>
            <a:ext cx="2571750" cy="1619250"/>
          </a:xfrm>
          <a:prstGeom xmlns:a="http://schemas.openxmlformats.org/drawingml/2006/main" prst="roundRect">
            <a:avLst>
              <a:gd name="adj" fmla="val 7059"/>
            </a:avLst>
          </a:prstGeom>
        </p:spPr>
      </p:pic>
      <p:sp>
        <p:nvSpPr>
          <p:cNvPr id="23" name="">
            <a:extLst xmlns:a="http://schemas.openxmlformats.org/drawingml/2006/main">
              <a:ext uri="{FF2B5EF4-FFF2-40B4-BE49-F238E27FC236}">
                <a16:creationId xmlns:a16="http://schemas.microsoft.com/office/drawing/2014/main" id="{958C9E2D-B146-4D8E-90FA-A39DF51A26BC}"/>
              </a:ext>
            </a:extLst>
          </p:cNvPr>
          <p:cNvSpPr>
            <a:spLocks xmlns:a="http://schemas.openxmlformats.org/drawingml/2006/main" noGrp="1"/>
          </p:cNvSpPr>
          <p:nvPr/>
        </p:nvSpPr>
        <p:spPr>
          <a:xfrm xmlns:a="http://schemas.openxmlformats.org/drawingml/2006/main">
            <a:off x="88392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EADF6E4F-9758-4CDF-9AA1-1CB5DFBF9AAF}"/>
              </a:ext>
            </a:extLst>
          </p:cNvPr>
          <p:cNvSpPr>
            <a:spLocks xmlns:a="http://schemas.openxmlformats.org/drawingml/2006/main" noGrp="1"/>
          </p:cNvSpPr>
          <p:nvPr/>
        </p:nvSpPr>
        <p:spPr>
          <a:xfrm xmlns:a="http://schemas.openxmlformats.org/drawingml/2006/main">
            <a:off x="88392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1.3% target mass</a:t>
            </a:r>
          </a:p>
        </p:txBody>
      </p:sp>
      <p:sp>
        <p:nvSpPr>
          <p:cNvPr id="25" name="">
            <a:extLst xmlns:a="http://schemas.openxmlformats.org/drawingml/2006/main">
              <a:ext uri="{FF2B5EF4-FFF2-40B4-BE49-F238E27FC236}">
                <a16:creationId xmlns:a16="http://schemas.microsoft.com/office/drawing/2014/main" id="{0690B6AC-BC50-45DF-B7A6-318E218B0EBA}"/>
              </a:ext>
            </a:extLst>
          </p:cNvPr>
          <p:cNvSpPr>
            <a:spLocks xmlns:a="http://schemas.openxmlformats.org/drawingml/2006/main" noGrp="1"/>
          </p:cNvSpPr>
          <p:nvPr/>
        </p:nvSpPr>
        <p:spPr>
          <a:xfrm xmlns:a="http://schemas.openxmlformats.org/drawingml/2006/main">
            <a:off x="609600" y="38862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BALANCED 18-CASE COHORT</a:t>
            </a:r>
          </a:p>
        </p:txBody>
      </p:sp>
      <p:graphicFrame>
        <p:nvGraphicFramePr>
          <p:cNvPr id="60" name=""/>
          <p:cNvGraphicFramePr/>
          <p:nvPr/>
        </p:nvGraphicFramePr>
        <p:xfrm>
          <a:off xmlns:a="http://schemas.openxmlformats.org/drawingml/2006/main" x="609600" y="4152900"/>
          <a:ext xmlns:a="http://schemas.openxmlformats.org/drawingml/2006/main" cx="6610350" cy="1866900"/>
        </p:xfrm>
        <a:graphic xmlns:a="http://schemas.openxmlformats.org/drawingml/2006/main">
          <a:graphicData uri="http://schemas.openxmlformats.org/drawingml/2006/table">
            <a:tbl>
              <a:tblPr/>
              <a:tblGrid>
                <a:gridCol w="1809750"/>
                <a:gridCol w="1200150"/>
                <a:gridCol w="1200150"/>
                <a:gridCol w="1200150"/>
                <a:gridCol w="1200150"/>
              </a:tblGrid>
              <a:tr h="373380">
                <a:tc>
                  <a:txBody>
                    <a:bodyPr>
                      <a:normAutofit/>
                    </a:bodyPr>
                    <a:lstStyle/>
                    <a:p>
                      <a:r>
                        <a:rPr sz="825" b="1">
                          <a:solidFill>
                            <a:srgbClr val="FFFFFF"/>
                          </a:solidFill>
                          <a:latin typeface="Helvetica Neue"/>
                          <a:ea typeface="Helvetica Neue"/>
                          <a:cs typeface="Helvetica Neue"/>
                        </a:rPr>
                        <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100%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75%</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50%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25%</a:t>
                      </a:r>
                    </a:p>
                  </a:txBody>
                  <a:tcPr marL="95250" marR="95250" marT="57150" marB="57150" anchor="ctr">
                    <a:solidFill>
                      <a:srgbClr val="1C2733"/>
                    </a:solidFill>
                  </a:tcPr>
                </a:tc>
              </a:tr>
              <a:tr h="373380">
                <a:tc>
                  <a:txBody>
                    <a:bodyPr>
                      <a:normAutofit/>
                    </a:bodyPr>
                    <a:lstStyle/>
                    <a:p>
                      <a:pPr algn="l"/>
                      <a:r>
                        <a:rPr sz="975" b="1">
                          <a:solidFill>
                            <a:srgbClr val="FFFFFF"/>
                          </a:solidFill>
                          <a:latin typeface="Helvetica Neue"/>
                          <a:ea typeface="Helvetica Neue"/>
                          <a:cs typeface="Helvetica Neue"/>
                        </a:rPr>
                        <a:t>Strict hits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18/18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12/18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10/18</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3/18</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mass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5.22%</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2.18%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1.16%</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0.21%</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lift</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169×</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79×</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29×</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5.4×</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best-patch rank</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6.5</a:t>
                      </a:r>
                    </a:p>
                  </a:txBody>
                  <a:tcPr marL="95250" marR="95250" marT="57150" marB="57150" anchor="ctr">
                    <a:solidFill>
                      <a:srgbClr val="FCE2D9"/>
                    </a:solidFill>
                  </a:tcPr>
                </a:tc>
              </a:tr>
            </a:tbl>
          </a:graphicData>
        </a:graphic>
      </p:graphicFrame>
      <p:sp>
        <p:nvSpPr>
          <p:cNvPr id="27" name="">
            <a:extLst xmlns:a="http://schemas.openxmlformats.org/drawingml/2006/main">
              <a:ext uri="{FF2B5EF4-FFF2-40B4-BE49-F238E27FC236}">
                <a16:creationId xmlns:a16="http://schemas.microsoft.com/office/drawing/2014/main" id="{36CAD496-46BE-4CBF-9EB2-216C6632887E}"/>
              </a:ext>
            </a:extLst>
          </p:cNvPr>
          <p:cNvSpPr>
            <a:spLocks xmlns:a="http://schemas.openxmlformats.org/drawingml/2006/main" noGrp="1"/>
          </p:cNvSpPr>
          <p:nvPr/>
        </p:nvSpPr>
        <p:spPr>
          <a:xfrm xmlns:a="http://schemas.openxmlformats.org/drawingml/2006/main">
            <a:off x="7524750" y="3886200"/>
            <a:ext cx="4057650" cy="2133600"/>
          </a:xfrm>
          <a:prstGeom xmlns:a="http://schemas.openxmlformats.org/drawingml/2006/main" prst="roundRect">
            <a:avLst>
              <a:gd name="adj" fmla="val 3571"/>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F76EE8F4-F2E8-467C-82D1-B450112504AE}"/>
              </a:ext>
            </a:extLst>
          </p:cNvPr>
          <p:cNvSpPr>
            <a:spLocks xmlns:a="http://schemas.openxmlformats.org/drawingml/2006/main" noGrp="1"/>
          </p:cNvSpPr>
          <p:nvPr/>
        </p:nvSpPr>
        <p:spPr>
          <a:xfrm xmlns:a="http://schemas.openxmlformats.org/drawingml/2006/main">
            <a:off x="7791450" y="4114800"/>
            <a:ext cx="2952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NO FIXED-GRID PADDING CONFOUND</a:t>
            </a:r>
          </a:p>
        </p:txBody>
      </p:sp>
      <p:sp>
        <p:nvSpPr>
          <p:cNvPr id="29" name="">
            <a:extLst xmlns:a="http://schemas.openxmlformats.org/drawingml/2006/main">
              <a:ext uri="{FF2B5EF4-FFF2-40B4-BE49-F238E27FC236}">
                <a16:creationId xmlns:a16="http://schemas.microsoft.com/office/drawing/2014/main" id="{49F8137D-5AF3-4DBF-B60A-2F79FE3826AB}"/>
              </a:ext>
            </a:extLst>
          </p:cNvPr>
          <p:cNvSpPr>
            <a:spLocks xmlns:a="http://schemas.openxmlformats.org/drawingml/2006/main" noGrp="1"/>
          </p:cNvSpPr>
          <p:nvPr/>
        </p:nvSpPr>
        <p:spPr>
          <a:xfrm xmlns:a="http://schemas.openxmlformats.org/drawingml/2006/main">
            <a:off x="7791450" y="44196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90×160 → 22×40</a:t>
            </a:r>
          </a:p>
        </p:txBody>
      </p:sp>
      <p:sp>
        <p:nvSpPr>
          <p:cNvPr id="30" name="">
            <a:extLst xmlns:a="http://schemas.openxmlformats.org/drawingml/2006/main">
              <a:ext uri="{FF2B5EF4-FFF2-40B4-BE49-F238E27FC236}">
                <a16:creationId xmlns:a16="http://schemas.microsoft.com/office/drawing/2014/main" id="{0A72B2FF-ACAC-4DB5-8875-1D8E72761ECC}"/>
              </a:ext>
            </a:extLst>
          </p:cNvPr>
          <p:cNvSpPr>
            <a:spLocks xmlns:a="http://schemas.openxmlformats.org/drawingml/2006/main" noGrp="1"/>
          </p:cNvSpPr>
          <p:nvPr/>
        </p:nvSpPr>
        <p:spPr>
          <a:xfrm xmlns:a="http://schemas.openxmlformats.org/drawingml/2006/main">
            <a:off x="7791450" y="48006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raw patch grid · ≈3,600 → 220 merged visual tokens</a:t>
            </a:r>
          </a:p>
        </p:txBody>
      </p:sp>
      <p:sp>
        <p:nvSpPr>
          <p:cNvPr id="31" name="">
            <a:extLst xmlns:a="http://schemas.openxmlformats.org/drawingml/2006/main">
              <a:ext uri="{FF2B5EF4-FFF2-40B4-BE49-F238E27FC236}">
                <a16:creationId xmlns:a16="http://schemas.microsoft.com/office/drawing/2014/main" id="{F5DE2E64-9C9A-4887-B3D2-24016E0A4840}"/>
              </a:ext>
            </a:extLst>
          </p:cNvPr>
          <p:cNvSpPr>
            <a:spLocks xmlns:a="http://schemas.openxmlformats.org/drawingml/2006/main" noGrp="1"/>
          </p:cNvSpPr>
          <p:nvPr/>
        </p:nvSpPr>
        <p:spPr>
          <a:xfrm xmlns:a="http://schemas.openxmlformats.org/drawingml/2006/main">
            <a:off x="7791450" y="51816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8FE0BF"/>
                </a:solidFill>
                <a:latin typeface="Helvetica Neue"/>
                <a:ea typeface="Helvetica Neue"/>
                <a:cs typeface="Helvetica Neue"/>
              </a:defRPr>
            </a:pPr>
            <a:r>
              <a:rPr sz="1050" b="1">
                <a:solidFill>
                  <a:srgbClr val="8FE0BF"/>
                </a:solidFill>
                <a:latin typeface="Helvetica Neue"/>
                <a:ea typeface="Helvetica Neue"/>
                <a:cs typeface="Helvetica Neue"/>
              </a:rPr>
              <a:t>The grid shrinks with the image; it is not padded back to a fixed ≈1k-token budget.</a:t>
            </a:r>
          </a:p>
        </p:txBody>
      </p:sp>
      <p:sp>
        <p:nvSpPr>
          <p:cNvPr id="32" name="">
            <a:extLst xmlns:a="http://schemas.openxmlformats.org/drawingml/2006/main">
              <a:ext uri="{FF2B5EF4-FFF2-40B4-BE49-F238E27FC236}">
                <a16:creationId xmlns:a16="http://schemas.microsoft.com/office/drawing/2014/main" id="{E5778563-5ECC-4078-81BE-3E08C8BD47D4}"/>
              </a:ext>
            </a:extLst>
          </p:cNvPr>
          <p:cNvSpPr>
            <a:spLocks xmlns:a="http://schemas.openxmlformats.org/drawingml/2006/main" noGrp="1"/>
          </p:cNvSpPr>
          <p:nvPr/>
        </p:nvSpPr>
        <p:spPr>
          <a:xfrm xmlns:a="http://schemas.openxmlformats.org/drawingml/2006/main">
            <a:off x="7791450" y="5619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744"/>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Remaining confounds: fewer spatial samples and downsampling/aliasing.</a:t>
            </a:r>
          </a:p>
        </p:txBody>
      </p:sp>
      <p:sp>
        <p:nvSpPr>
          <p:cNvPr id="33" name="">
            <a:extLst xmlns:a="http://schemas.openxmlformats.org/drawingml/2006/main">
              <a:ext uri="{FF2B5EF4-FFF2-40B4-BE49-F238E27FC236}">
                <a16:creationId xmlns:a16="http://schemas.microsoft.com/office/drawing/2014/main" id="{80E05D32-4759-4422-A1A2-922D1D876E50}"/>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C0309650-E23B-43C3-A0DA-D29450263EBB}"/>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360 deterministic requests · official localization prompt and 0–1000 contract · eager attention · n=18</a:t>
            </a:r>
          </a:p>
        </p:txBody>
      </p:sp>
    </p:spTree>
    <p:extLst>
      <p:ext uri="{BB962C8B-B14F-4D97-AF65-F5344CB8AC3E}">
        <p14:creationId xmlns:p14="http://schemas.microsoft.com/office/powerpoint/2010/main" val="1062283145"/>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F62C62E-1231-4CC3-B261-A6A159557A04}"/>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ATTRIBUTION BASELINE MATTERS</a:t>
            </a:r>
          </a:p>
        </p:txBody>
      </p:sp>
      <p:sp>
        <p:nvSpPr>
          <p:cNvPr id="2" name="">
            <a:extLst xmlns:a="http://schemas.openxmlformats.org/drawingml/2006/main">
              <a:ext uri="{FF2B5EF4-FFF2-40B4-BE49-F238E27FC236}">
                <a16:creationId xmlns:a16="http://schemas.microsoft.com/office/drawing/2014/main" id="{22E6D250-2370-4F98-9A0B-9C4B26418FED}"/>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Instruction controls suppress generic edge saliency</a:t>
            </a:r>
          </a:p>
        </p:txBody>
      </p:sp>
      <p:sp>
        <p:nvSpPr>
          <p:cNvPr id="3" name="">
            <a:extLst xmlns:a="http://schemas.openxmlformats.org/drawingml/2006/main">
              <a:ext uri="{FF2B5EF4-FFF2-40B4-BE49-F238E27FC236}">
                <a16:creationId xmlns:a16="http://schemas.microsoft.com/office/drawing/2014/main" id="{C00784B9-7FC3-4633-BA6D-8C2FFFD69FAB}"/>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9FADC418-F10F-4F98-B386-654A4373E404}"/>
              </a:ext>
            </a:extLst>
          </p:cNvPr>
          <p:cNvSpPr>
            <a:spLocks xmlns:a="http://schemas.openxmlformats.org/drawingml/2006/main" noGrp="1"/>
          </p:cNvSpPr>
          <p:nvPr/>
        </p:nvSpPr>
        <p:spPr>
          <a:xfrm xmlns:a="http://schemas.openxmlformats.org/drawingml/2006/main">
            <a:off x="609600" y="110490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Fill color · free Holo click (209,243)</a:t>
            </a:r>
          </a:p>
        </p:txBody>
      </p:sp>
      <p:sp>
        <p:nvSpPr>
          <p:cNvPr id="5" name="">
            <a:extLst xmlns:a="http://schemas.openxmlformats.org/drawingml/2006/main">
              <a:ext uri="{FF2B5EF4-FFF2-40B4-BE49-F238E27FC236}">
                <a16:creationId xmlns:a16="http://schemas.microsoft.com/office/drawing/2014/main" id="{42945C6B-13C3-48C6-AE1C-A41341757473}"/>
              </a:ext>
            </a:extLst>
          </p:cNvPr>
          <p:cNvSpPr>
            <a:spLocks xmlns:a="http://schemas.openxmlformats.org/drawingml/2006/main" noGrp="1"/>
          </p:cNvSpPr>
          <p:nvPr/>
        </p:nvSpPr>
        <p:spPr>
          <a:xfrm xmlns:a="http://schemas.openxmlformats.org/drawingml/2006/main">
            <a:off x="7981950" y="1076325"/>
            <a:ext cx="36004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441CFBC-3354-4BC3-9EC7-3FF3C6FFC019}"/>
              </a:ext>
            </a:extLst>
          </p:cNvPr>
          <p:cNvSpPr>
            <a:spLocks xmlns:a="http://schemas.openxmlformats.org/drawingml/2006/main" noGrp="1"/>
          </p:cNvSpPr>
          <p:nvPr/>
        </p:nvSpPr>
        <p:spPr>
          <a:xfrm xmlns:a="http://schemas.openxmlformats.org/drawingml/2006/main">
            <a:off x="8077200" y="1095375"/>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GREEN = ORACLE · WHITE = CLICK</a:t>
            </a:r>
          </a:p>
        </p:txBody>
      </p:sp>
      <p:sp>
        <p:nvSpPr>
          <p:cNvPr id="7" name="">
            <a:extLst xmlns:a="http://schemas.openxmlformats.org/drawingml/2006/main">
              <a:ext uri="{FF2B5EF4-FFF2-40B4-BE49-F238E27FC236}">
                <a16:creationId xmlns:a16="http://schemas.microsoft.com/office/drawing/2014/main" id="{1262EDBA-403C-4EBA-9F7A-4A92739E6E48}"/>
              </a:ext>
            </a:extLst>
          </p:cNvPr>
          <p:cNvSpPr>
            <a:spLocks xmlns:a="http://schemas.openxmlformats.org/drawingml/2006/main" noGrp="1"/>
          </p:cNvSpPr>
          <p:nvPr/>
        </p:nvSpPr>
        <p:spPr>
          <a:xfrm xmlns:a="http://schemas.openxmlformats.org/drawingml/2006/main">
            <a:off x="6096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VALUE-NORM · NO INSTRUCTION BASELINE</a:t>
            </a:r>
          </a:p>
        </p:txBody>
      </p:sp>
      <p:sp>
        <p:nvSpPr>
          <p:cNvPr id="8" name="">
            <a:extLst xmlns:a="http://schemas.openxmlformats.org/drawingml/2006/main">
              <a:ext uri="{FF2B5EF4-FFF2-40B4-BE49-F238E27FC236}">
                <a16:creationId xmlns:a16="http://schemas.microsoft.com/office/drawing/2014/main" id="{5E23ABC2-CEAD-4D70-A07D-8FFBEFE03965}"/>
              </a:ext>
            </a:extLst>
          </p:cNvPr>
          <p:cNvSpPr>
            <a:spLocks xmlns:a="http://schemas.openxmlformats.org/drawingml/2006/main" noGrp="1"/>
          </p:cNvSpPr>
          <p:nvPr/>
        </p:nvSpPr>
        <p:spPr>
          <a:xfrm xmlns:a="http://schemas.openxmlformats.org/drawingml/2006/main">
            <a:off x="64008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VALUE-NORM · MINUS 4 SAME-IMAGE INSTRUCTIONS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d6ac5bad92da4625"/>
          <a:srcRect xmlns:a="http://schemas.openxmlformats.org/drawingml/2006/main" l="0" t="2459" r="0" b="2459"/>
          <a:stretch xmlns:a="http://schemas.openxmlformats.org/drawingml/2006/main">
            <a:fillRect l="0" t="0" r="0" b="0"/>
          </a:stretch>
        </p:blipFill>
        <p:spPr>
          <a:xfrm xmlns:a="http://schemas.openxmlformats.org/drawingml/2006/main">
            <a:off x="609600" y="1714500"/>
            <a:ext cx="5181600" cy="3810000"/>
          </a:xfrm>
          <a:prstGeom xmlns:a="http://schemas.openxmlformats.org/drawingml/2006/main" prst="roundRect">
            <a:avLst>
              <a:gd name="adj" fmla="val 3000"/>
            </a:avLst>
          </a:prstGeom>
        </p:spPr>
      </p:pic>
      <p:sp>
        <p:nvSpPr>
          <p:cNvPr id="10" name="">
            <a:extLst xmlns:a="http://schemas.openxmlformats.org/drawingml/2006/main">
              <a:ext uri="{FF2B5EF4-FFF2-40B4-BE49-F238E27FC236}">
                <a16:creationId xmlns:a16="http://schemas.microsoft.com/office/drawing/2014/main" id="{F154D8B0-9467-4107-BF3F-96EBDB842D05}"/>
              </a:ext>
            </a:extLst>
          </p:cNvPr>
          <p:cNvSpPr>
            <a:spLocks xmlns:a="http://schemas.openxmlformats.org/drawingml/2006/main" noGrp="1"/>
          </p:cNvSpPr>
          <p:nvPr/>
        </p:nvSpPr>
        <p:spPr>
          <a:xfrm xmlns:a="http://schemas.openxmlformats.org/drawingml/2006/main">
            <a:off x="6096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1b5a7cb273f74d64"/>
          <a:srcRect xmlns:a="http://schemas.openxmlformats.org/drawingml/2006/main" l="0" t="2459" r="0" b="2459"/>
          <a:stretch xmlns:a="http://schemas.openxmlformats.org/drawingml/2006/main">
            <a:fillRect l="0" t="0" r="0" b="0"/>
          </a:stretch>
        </p:blipFill>
        <p:spPr>
          <a:xfrm xmlns:a="http://schemas.openxmlformats.org/drawingml/2006/main">
            <a:off x="6400800" y="1714500"/>
            <a:ext cx="5181600" cy="3810000"/>
          </a:xfrm>
          <a:prstGeom xmlns:a="http://schemas.openxmlformats.org/drawingml/2006/main" prst="roundRect">
            <a:avLst>
              <a:gd name="adj" fmla="val 3000"/>
            </a:avLst>
          </a:prstGeom>
        </p:spPr>
      </p:pic>
      <p:sp>
        <p:nvSpPr>
          <p:cNvPr id="12" name="">
            <a:extLst xmlns:a="http://schemas.openxmlformats.org/drawingml/2006/main">
              <a:ext uri="{FF2B5EF4-FFF2-40B4-BE49-F238E27FC236}">
                <a16:creationId xmlns:a16="http://schemas.microsoft.com/office/drawing/2014/main" id="{E627E5DE-3818-4DCC-8AF0-92B0A046E30A}"/>
              </a:ext>
            </a:extLst>
          </p:cNvPr>
          <p:cNvSpPr>
            <a:spLocks xmlns:a="http://schemas.openxmlformats.org/drawingml/2006/main" noGrp="1"/>
          </p:cNvSpPr>
          <p:nvPr/>
        </p:nvSpPr>
        <p:spPr>
          <a:xfrm xmlns:a="http://schemas.openxmlformats.org/drawingml/2006/main">
            <a:off x="64008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757D7050-B236-48A1-87D1-B7BF5AD5A2F5}"/>
              </a:ext>
            </a:extLst>
          </p:cNvPr>
          <p:cNvSpPr>
            <a:spLocks xmlns:a="http://schemas.openxmlformats.org/drawingml/2006/main" noGrp="1"/>
          </p:cNvSpPr>
          <p:nvPr/>
        </p:nvSpPr>
        <p:spPr>
          <a:xfrm xmlns:a="http://schemas.openxmlformats.org/drawingml/2006/main">
            <a:off x="6096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EB6C66C-3DC4-43A9-A862-707A6AFBDD64}"/>
              </a:ext>
            </a:extLst>
          </p:cNvPr>
          <p:cNvSpPr>
            <a:spLocks xmlns:a="http://schemas.openxmlformats.org/drawingml/2006/main" noGrp="1"/>
          </p:cNvSpPr>
          <p:nvPr/>
        </p:nvSpPr>
        <p:spPr>
          <a:xfrm xmlns:a="http://schemas.openxmlformats.org/drawingml/2006/main">
            <a:off x="800100" y="5743575"/>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05A3C"/>
                </a:solidFill>
                <a:latin typeface="Helvetica Neue"/>
                <a:ea typeface="Helvetica Neue"/>
                <a:cs typeface="Helvetica Neue"/>
              </a:defRPr>
            </a:pPr>
            <a:r>
              <a:rPr sz="1575" b="1">
                <a:solidFill>
                  <a:srgbClr val="F05A3C"/>
                </a:solidFill>
                <a:latin typeface="Helvetica Neue"/>
                <a:ea typeface="Helvetica Neue"/>
                <a:cs typeface="Helvetica Neue"/>
              </a:rPr>
              <a:t>111× target lift</a:t>
            </a:r>
          </a:p>
        </p:txBody>
      </p:sp>
      <p:sp>
        <p:nvSpPr>
          <p:cNvPr id="15" name="">
            <a:extLst xmlns:a="http://schemas.openxmlformats.org/drawingml/2006/main">
              <a:ext uri="{FF2B5EF4-FFF2-40B4-BE49-F238E27FC236}">
                <a16:creationId xmlns:a16="http://schemas.microsoft.com/office/drawing/2014/main" id="{5AB1FDA8-2E26-4CC5-B7CC-02C9B476D1E6}"/>
              </a:ext>
            </a:extLst>
          </p:cNvPr>
          <p:cNvSpPr>
            <a:spLocks xmlns:a="http://schemas.openxmlformats.org/drawingml/2006/main" noGrp="1"/>
          </p:cNvSpPr>
          <p:nvPr/>
        </p:nvSpPr>
        <p:spPr>
          <a:xfrm xmlns:a="http://schemas.openxmlformats.org/drawingml/2006/main">
            <a:off x="2781300" y="5781675"/>
            <a:ext cx="2781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D5DEE6"/>
                </a:solidFill>
                <a:latin typeface="Helvetica Neue"/>
                <a:ea typeface="Helvetica Neue"/>
                <a:cs typeface="Helvetica Neue"/>
              </a:defRPr>
            </a:pPr>
            <a:r>
              <a:rPr sz="900" b="0">
                <a:solidFill>
                  <a:srgbClr val="D5DEE6"/>
                </a:solidFill>
                <a:latin typeface="Helvetica Neue"/>
                <a:ea typeface="Helvetica Neue"/>
                <a:cs typeface="Helvetica Neue"/>
              </a:rPr>
              <a:t>shared edge + canvas structure remains</a:t>
            </a:r>
          </a:p>
        </p:txBody>
      </p:sp>
      <p:sp>
        <p:nvSpPr>
          <p:cNvPr id="16" name="">
            <a:extLst xmlns:a="http://schemas.openxmlformats.org/drawingml/2006/main">
              <a:ext uri="{FF2B5EF4-FFF2-40B4-BE49-F238E27FC236}">
                <a16:creationId xmlns:a16="http://schemas.microsoft.com/office/drawing/2014/main" id="{E3C06BAC-726E-4427-9B79-61ADEA17FF77}"/>
              </a:ext>
            </a:extLst>
          </p:cNvPr>
          <p:cNvSpPr>
            <a:spLocks xmlns:a="http://schemas.openxmlformats.org/drawingml/2006/main" noGrp="1"/>
          </p:cNvSpPr>
          <p:nvPr/>
        </p:nvSpPr>
        <p:spPr>
          <a:xfrm xmlns:a="http://schemas.openxmlformats.org/drawingml/2006/main">
            <a:off x="64008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858BF1A-B11D-4141-B4DE-4C891A6DA1A9}"/>
              </a:ext>
            </a:extLst>
          </p:cNvPr>
          <p:cNvSpPr>
            <a:spLocks xmlns:a="http://schemas.openxmlformats.org/drawingml/2006/main" noGrp="1"/>
          </p:cNvSpPr>
          <p:nvPr/>
        </p:nvSpPr>
        <p:spPr>
          <a:xfrm xmlns:a="http://schemas.openxmlformats.org/drawingml/2006/main">
            <a:off x="6591300" y="57435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8A875"/>
                </a:solidFill>
                <a:latin typeface="Helvetica Neue"/>
                <a:ea typeface="Helvetica Neue"/>
                <a:cs typeface="Helvetica Neue"/>
              </a:defRPr>
            </a:pPr>
            <a:r>
              <a:rPr sz="1575" b="1">
                <a:solidFill>
                  <a:srgbClr val="18A875"/>
                </a:solidFill>
                <a:latin typeface="Helvetica Neue"/>
                <a:ea typeface="Helvetica Neue"/>
                <a:cs typeface="Helvetica Neue"/>
              </a:rPr>
              <a:t>464× target lift</a:t>
            </a:r>
          </a:p>
        </p:txBody>
      </p:sp>
      <p:sp>
        <p:nvSpPr>
          <p:cNvPr id="18" name="">
            <a:extLst xmlns:a="http://schemas.openxmlformats.org/drawingml/2006/main">
              <a:ext uri="{FF2B5EF4-FFF2-40B4-BE49-F238E27FC236}">
                <a16:creationId xmlns:a16="http://schemas.microsoft.com/office/drawing/2014/main" id="{537BFA1E-1F13-4228-882A-270114F51546}"/>
              </a:ext>
            </a:extLst>
          </p:cNvPr>
          <p:cNvSpPr>
            <a:spLocks xmlns:a="http://schemas.openxmlformats.org/drawingml/2006/main" noGrp="1"/>
          </p:cNvSpPr>
          <p:nvPr/>
        </p:nvSpPr>
        <p:spPr>
          <a:xfrm xmlns:a="http://schemas.openxmlformats.org/drawingml/2006/main">
            <a:off x="8743950" y="5781675"/>
            <a:ext cx="2609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D5DEE6"/>
                </a:solidFill>
                <a:latin typeface="Helvetica Neue"/>
                <a:ea typeface="Helvetica Neue"/>
                <a:cs typeface="Helvetica Neue"/>
              </a:defRPr>
            </a:pPr>
            <a:r>
              <a:rPr sz="900" b="0">
                <a:solidFill>
                  <a:srgbClr val="D5DEE6"/>
                </a:solidFill>
                <a:latin typeface="Helvetica Neue"/>
                <a:ea typeface="Helvetica Neue"/>
                <a:cs typeface="Helvetica Neue"/>
              </a:rPr>
              <a:t>18.6% target mass · LOO ≥0.991</a:t>
            </a:r>
          </a:p>
        </p:txBody>
      </p:sp>
      <p:sp>
        <p:nvSpPr>
          <p:cNvPr id="19" name="">
            <a:extLst xmlns:a="http://schemas.openxmlformats.org/drawingml/2006/main">
              <a:ext uri="{FF2B5EF4-FFF2-40B4-BE49-F238E27FC236}">
                <a16:creationId xmlns:a16="http://schemas.microsoft.com/office/drawing/2014/main" id="{AC11C6FD-32B5-423F-8B50-F3AE103AD4A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C3CBADA-4BE4-4594-8877-08C2881B906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Resting-state analogy: same image and action; subtract the mean saliency shared across four visible alternate instructions</a:t>
            </a:r>
          </a:p>
        </p:txBody>
      </p:sp>
    </p:spTree>
    <p:extLst>
      <p:ext uri="{BB962C8B-B14F-4D97-AF65-F5344CB8AC3E}">
        <p14:creationId xmlns:p14="http://schemas.microsoft.com/office/powerpoint/2010/main" val="624500089"/>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5E180CC-9D78-4409-A6B1-DAA7FB7B0066}"/>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GENERATION · STRICT MISS</a:t>
            </a:r>
          </a:p>
        </p:txBody>
      </p:sp>
      <p:sp>
        <p:nvSpPr>
          <p:cNvPr id="2" name="">
            <a:extLst xmlns:a="http://schemas.openxmlformats.org/drawingml/2006/main">
              <a:ext uri="{FF2B5EF4-FFF2-40B4-BE49-F238E27FC236}">
                <a16:creationId xmlns:a16="http://schemas.microsoft.com/office/drawing/2014/main" id="{C5210EAF-EBE7-4175-9F41-811CB608F448}"/>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attention survives a 7.4-pixel click miss</a:t>
            </a:r>
          </a:p>
        </p:txBody>
      </p:sp>
      <p:sp>
        <p:nvSpPr>
          <p:cNvPr id="3" name="">
            <a:extLst xmlns:a="http://schemas.openxmlformats.org/drawingml/2006/main">
              <a:ext uri="{FF2B5EF4-FFF2-40B4-BE49-F238E27FC236}">
                <a16:creationId xmlns:a16="http://schemas.microsoft.com/office/drawing/2014/main" id="{891D10DF-6716-4CBA-A386-A2886C78D71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4CB54D58-5921-435F-97BC-6161148FD0FD}"/>
              </a:ext>
            </a:extLst>
          </p:cNvPr>
          <p:cNvSpPr>
            <a:spLocks xmlns:a="http://schemas.openxmlformats.org/drawingml/2006/main" noGrp="1"/>
          </p:cNvSpPr>
          <p:nvPr/>
        </p:nvSpPr>
        <p:spPr>
          <a:xfrm xmlns:a="http://schemas.openxmlformats.org/drawingml/2006/main">
            <a:off x="609600" y="11430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Choose the language for proofing tools</a:t>
            </a:r>
          </a:p>
        </p:txBody>
      </p:sp>
      <p:sp>
        <p:nvSpPr>
          <p:cNvPr id="5" name="">
            <a:extLst xmlns:a="http://schemas.openxmlformats.org/drawingml/2006/main">
              <a:ext uri="{FF2B5EF4-FFF2-40B4-BE49-F238E27FC236}">
                <a16:creationId xmlns:a16="http://schemas.microsoft.com/office/drawing/2014/main" id="{DF461777-93E1-44D1-BEB7-C0AED3B75595}"/>
              </a:ext>
            </a:extLst>
          </p:cNvPr>
          <p:cNvSpPr>
            <a:spLocks xmlns:a="http://schemas.openxmlformats.org/drawingml/2006/main" noGrp="1"/>
          </p:cNvSpPr>
          <p:nvPr/>
        </p:nvSpPr>
        <p:spPr>
          <a:xfrm xmlns:a="http://schemas.openxmlformats.org/drawingml/2006/main">
            <a:off x="7943850" y="1104900"/>
            <a:ext cx="36385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FA281EF-63CB-47BA-8773-5138578F43F3}"/>
              </a:ext>
            </a:extLst>
          </p:cNvPr>
          <p:cNvSpPr>
            <a:spLocks xmlns:a="http://schemas.openxmlformats.org/drawingml/2006/main" noGrp="1"/>
          </p:cNvSpPr>
          <p:nvPr/>
        </p:nvSpPr>
        <p:spPr>
          <a:xfrm xmlns:a="http://schemas.openxmlformats.org/drawingml/2006/main">
            <a:off x="8039100" y="1123950"/>
            <a:ext cx="3448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− 4 SAME-IMAGE INSTRUCTIONS</a:t>
            </a:r>
          </a:p>
        </p:txBody>
      </p:sp>
      <p:sp>
        <p:nvSpPr>
          <p:cNvPr id="7" name="">
            <a:extLst xmlns:a="http://schemas.openxmlformats.org/drawingml/2006/main">
              <a:ext uri="{FF2B5EF4-FFF2-40B4-BE49-F238E27FC236}">
                <a16:creationId xmlns:a16="http://schemas.microsoft.com/office/drawing/2014/main" id="{6214D25A-7915-405A-BC10-1080646DE9D8}"/>
              </a:ext>
            </a:extLst>
          </p:cNvPr>
          <p:cNvSpPr>
            <a:spLocks xmlns:a="http://schemas.openxmlformats.org/drawingml/2006/main" noGrp="1"/>
          </p:cNvSpPr>
          <p:nvPr/>
        </p:nvSpPr>
        <p:spPr>
          <a:xfrm xmlns:a="http://schemas.openxmlformats.org/drawingml/2006/main">
            <a:off x="609600" y="1466850"/>
            <a:ext cx="457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DIVERSE-INSTRUCTION SUBTRACTION</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84d2246ecef6401a"/>
          <a:srcRect xmlns:a="http://schemas.openxmlformats.org/drawingml/2006/main" l="0" t="74" r="0" b="74"/>
          <a:stretch xmlns:a="http://schemas.openxmlformats.org/drawingml/2006/main">
            <a:fillRect l="0" t="0" r="0" b="0"/>
          </a:stretch>
        </p:blipFill>
        <p:spPr>
          <a:xfrm xmlns:a="http://schemas.openxmlformats.org/drawingml/2006/main">
            <a:off x="609600" y="1695450"/>
            <a:ext cx="7524750" cy="2838450"/>
          </a:xfrm>
          <a:prstGeom xmlns:a="http://schemas.openxmlformats.org/drawingml/2006/main" prst="roundRect">
            <a:avLst>
              <a:gd name="adj" fmla="val 4027"/>
            </a:avLst>
          </a:prstGeom>
        </p:spPr>
      </p:pic>
      <p:sp>
        <p:nvSpPr>
          <p:cNvPr id="9" name="">
            <a:extLst xmlns:a="http://schemas.openxmlformats.org/drawingml/2006/main">
              <a:ext uri="{FF2B5EF4-FFF2-40B4-BE49-F238E27FC236}">
                <a16:creationId xmlns:a16="http://schemas.microsoft.com/office/drawing/2014/main" id="{80CB4C4F-5863-4F6A-A334-2319A7238B90}"/>
              </a:ext>
            </a:extLst>
          </p:cNvPr>
          <p:cNvSpPr>
            <a:spLocks xmlns:a="http://schemas.openxmlformats.org/drawingml/2006/main" noGrp="1"/>
          </p:cNvSpPr>
          <p:nvPr/>
        </p:nvSpPr>
        <p:spPr>
          <a:xfrm xmlns:a="http://schemas.openxmlformats.org/drawingml/2006/main">
            <a:off x="609600" y="1695450"/>
            <a:ext cx="7524750" cy="2838450"/>
          </a:xfrm>
          <a:prstGeom xmlns:a="http://schemas.openxmlformats.org/drawingml/2006/main" prst="roundRect">
            <a:avLst>
              <a:gd name="adj" fmla="val 2685"/>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172D84E5-09D3-4022-9528-EC1531475AB5}"/>
              </a:ext>
            </a:extLst>
          </p:cNvPr>
          <p:cNvSpPr>
            <a:spLocks xmlns:a="http://schemas.openxmlformats.org/drawingml/2006/main" noGrp="1"/>
          </p:cNvSpPr>
          <p:nvPr/>
        </p:nvSpPr>
        <p:spPr>
          <a:xfrm xmlns:a="http://schemas.openxmlformats.org/drawingml/2006/main">
            <a:off x="8477250" y="1695450"/>
            <a:ext cx="3105150" cy="4171950"/>
          </a:xfrm>
          <a:prstGeom xmlns:a="http://schemas.openxmlformats.org/drawingml/2006/main" prst="roundRect">
            <a:avLst>
              <a:gd name="adj" fmla="val 2454"/>
            </a:avLst>
          </a:prstGeom>
          <a:solidFill xmlns:a="http://schemas.openxmlformats.org/drawingml/2006/main">
            <a:srgbClr val="1C273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73F04AD-D229-4B89-AB0F-7C14BEBFF885}"/>
              </a:ext>
            </a:extLst>
          </p:cNvPr>
          <p:cNvSpPr>
            <a:spLocks xmlns:a="http://schemas.openxmlformats.org/drawingml/2006/main" noGrp="1"/>
          </p:cNvSpPr>
          <p:nvPr/>
        </p:nvSpPr>
        <p:spPr>
          <a:xfrm xmlns:a="http://schemas.openxmlformats.org/drawingml/2006/main">
            <a:off x="8724900" y="1924050"/>
            <a:ext cx="1200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2E619A0-DA5D-4B4D-888E-567E41ADABA1}"/>
              </a:ext>
            </a:extLst>
          </p:cNvPr>
          <p:cNvSpPr>
            <a:spLocks xmlns:a="http://schemas.openxmlformats.org/drawingml/2006/main" noGrp="1"/>
          </p:cNvSpPr>
          <p:nvPr/>
        </p:nvSpPr>
        <p:spPr>
          <a:xfrm xmlns:a="http://schemas.openxmlformats.org/drawingml/2006/main">
            <a:off x="8820150" y="19431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STRICT MISS</a:t>
            </a:r>
          </a:p>
        </p:txBody>
      </p:sp>
      <p:sp>
        <p:nvSpPr>
          <p:cNvPr id="13" name="">
            <a:extLst xmlns:a="http://schemas.openxmlformats.org/drawingml/2006/main">
              <a:ext uri="{FF2B5EF4-FFF2-40B4-BE49-F238E27FC236}">
                <a16:creationId xmlns:a16="http://schemas.microsoft.com/office/drawing/2014/main" id="{547CD167-8C2F-4711-BF8A-1DD54A853C90}"/>
              </a:ext>
            </a:extLst>
          </p:cNvPr>
          <p:cNvSpPr>
            <a:spLocks xmlns:a="http://schemas.openxmlformats.org/drawingml/2006/main" noGrp="1"/>
          </p:cNvSpPr>
          <p:nvPr/>
        </p:nvSpPr>
        <p:spPr>
          <a:xfrm xmlns:a="http://schemas.openxmlformats.org/drawingml/2006/main">
            <a:off x="8724900" y="23812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(124, 73)</a:t>
            </a:r>
          </a:p>
        </p:txBody>
      </p:sp>
      <p:sp>
        <p:nvSpPr>
          <p:cNvPr id="14" name="">
            <a:extLst xmlns:a="http://schemas.openxmlformats.org/drawingml/2006/main">
              <a:ext uri="{FF2B5EF4-FFF2-40B4-BE49-F238E27FC236}">
                <a16:creationId xmlns:a16="http://schemas.microsoft.com/office/drawing/2014/main" id="{A2EA440D-1B58-4CFD-9FF9-77152D6D1C8E}"/>
              </a:ext>
            </a:extLst>
          </p:cNvPr>
          <p:cNvSpPr>
            <a:spLocks xmlns:a="http://schemas.openxmlformats.org/drawingml/2006/main" noGrp="1"/>
          </p:cNvSpPr>
          <p:nvPr/>
        </p:nvSpPr>
        <p:spPr>
          <a:xfrm xmlns:a="http://schemas.openxmlformats.org/drawingml/2006/main">
            <a:off x="8724900" y="28575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2BDAF"/>
                </a:solidFill>
                <a:latin typeface="Helvetica Neue"/>
                <a:ea typeface="Helvetica Neue"/>
                <a:cs typeface="Helvetica Neue"/>
              </a:defRPr>
            </a:pPr>
            <a:r>
              <a:rPr sz="1350" b="1">
                <a:solidFill>
                  <a:srgbClr val="F2BDAF"/>
                </a:solidFill>
                <a:latin typeface="Helvetica Neue"/>
                <a:ea typeface="Helvetica Neue"/>
                <a:cs typeface="Helvetica Neue"/>
              </a:rPr>
              <a:t>7.4 px below the annotated box</a:t>
            </a:r>
          </a:p>
        </p:txBody>
      </p:sp>
      <p:sp>
        <p:nvSpPr>
          <p:cNvPr id="15" name="">
            <a:extLst xmlns:a="http://schemas.openxmlformats.org/drawingml/2006/main">
              <a:ext uri="{FF2B5EF4-FFF2-40B4-BE49-F238E27FC236}">
                <a16:creationId xmlns:a16="http://schemas.microsoft.com/office/drawing/2014/main" id="{109BF952-9E1F-4A46-9FD8-72B48A54C79A}"/>
              </a:ext>
            </a:extLst>
          </p:cNvPr>
          <p:cNvSpPr>
            <a:spLocks xmlns:a="http://schemas.openxmlformats.org/drawingml/2006/main" noGrp="1"/>
          </p:cNvSpPr>
          <p:nvPr/>
        </p:nvSpPr>
        <p:spPr>
          <a:xfrm xmlns:a="http://schemas.openxmlformats.org/drawingml/2006/main">
            <a:off x="8724900" y="3543300"/>
            <a:ext cx="2381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5778BF2-B3AF-4A04-9A36-5BE5F7698D6E}"/>
              </a:ext>
            </a:extLst>
          </p:cNvPr>
          <p:cNvSpPr>
            <a:spLocks xmlns:a="http://schemas.openxmlformats.org/drawingml/2006/main" noGrp="1"/>
          </p:cNvSpPr>
          <p:nvPr/>
        </p:nvSpPr>
        <p:spPr>
          <a:xfrm xmlns:a="http://schemas.openxmlformats.org/drawingml/2006/main">
            <a:off x="8724900" y="37528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positive mass in oracle</a:t>
            </a:r>
          </a:p>
        </p:txBody>
      </p:sp>
      <p:sp>
        <p:nvSpPr>
          <p:cNvPr id="17" name="">
            <a:extLst xmlns:a="http://schemas.openxmlformats.org/drawingml/2006/main">
              <a:ext uri="{FF2B5EF4-FFF2-40B4-BE49-F238E27FC236}">
                <a16:creationId xmlns:a16="http://schemas.microsoft.com/office/drawing/2014/main" id="{619D52AF-9F56-4DA2-8DE1-1CA9B1DD9D52}"/>
              </a:ext>
            </a:extLst>
          </p:cNvPr>
          <p:cNvSpPr>
            <a:spLocks xmlns:a="http://schemas.openxmlformats.org/drawingml/2006/main" noGrp="1"/>
          </p:cNvSpPr>
          <p:nvPr/>
        </p:nvSpPr>
        <p:spPr>
          <a:xfrm xmlns:a="http://schemas.openxmlformats.org/drawingml/2006/main">
            <a:off x="10401300" y="37147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17.1%</a:t>
            </a:r>
          </a:p>
        </p:txBody>
      </p:sp>
      <p:sp>
        <p:nvSpPr>
          <p:cNvPr id="18" name="">
            <a:extLst xmlns:a="http://schemas.openxmlformats.org/drawingml/2006/main">
              <a:ext uri="{FF2B5EF4-FFF2-40B4-BE49-F238E27FC236}">
                <a16:creationId xmlns:a16="http://schemas.microsoft.com/office/drawing/2014/main" id="{128A1CE9-45B9-41A3-87EC-5EFFE7421FEE}"/>
              </a:ext>
            </a:extLst>
          </p:cNvPr>
          <p:cNvSpPr>
            <a:spLocks xmlns:a="http://schemas.openxmlformats.org/drawingml/2006/main" noGrp="1"/>
          </p:cNvSpPr>
          <p:nvPr/>
        </p:nvSpPr>
        <p:spPr>
          <a:xfrm xmlns:a="http://schemas.openxmlformats.org/drawingml/2006/main">
            <a:off x="8724900" y="41719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target lift</a:t>
            </a:r>
          </a:p>
        </p:txBody>
      </p:sp>
      <p:sp>
        <p:nvSpPr>
          <p:cNvPr id="19" name="">
            <a:extLst xmlns:a="http://schemas.openxmlformats.org/drawingml/2006/main">
              <a:ext uri="{FF2B5EF4-FFF2-40B4-BE49-F238E27FC236}">
                <a16:creationId xmlns:a16="http://schemas.microsoft.com/office/drawing/2014/main" id="{E6151846-E169-406A-9662-009DA9E5E841}"/>
              </a:ext>
            </a:extLst>
          </p:cNvPr>
          <p:cNvSpPr>
            <a:spLocks xmlns:a="http://schemas.openxmlformats.org/drawingml/2006/main" noGrp="1"/>
          </p:cNvSpPr>
          <p:nvPr/>
        </p:nvSpPr>
        <p:spPr>
          <a:xfrm xmlns:a="http://schemas.openxmlformats.org/drawingml/2006/main">
            <a:off x="10401300" y="41338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279×</a:t>
            </a:r>
          </a:p>
        </p:txBody>
      </p:sp>
      <p:sp>
        <p:nvSpPr>
          <p:cNvPr id="20" name="">
            <a:extLst xmlns:a="http://schemas.openxmlformats.org/drawingml/2006/main">
              <a:ext uri="{FF2B5EF4-FFF2-40B4-BE49-F238E27FC236}">
                <a16:creationId xmlns:a16="http://schemas.microsoft.com/office/drawing/2014/main" id="{26958967-DDBC-4090-8775-97ECA2E11088}"/>
              </a:ext>
            </a:extLst>
          </p:cNvPr>
          <p:cNvSpPr>
            <a:spLocks xmlns:a="http://schemas.openxmlformats.org/drawingml/2006/main" noGrp="1"/>
          </p:cNvSpPr>
          <p:nvPr/>
        </p:nvSpPr>
        <p:spPr>
          <a:xfrm xmlns:a="http://schemas.openxmlformats.org/drawingml/2006/main">
            <a:off x="8724900" y="45910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peak patch</a:t>
            </a:r>
          </a:p>
        </p:txBody>
      </p:sp>
      <p:sp>
        <p:nvSpPr>
          <p:cNvPr id="21" name="">
            <a:extLst xmlns:a="http://schemas.openxmlformats.org/drawingml/2006/main">
              <a:ext uri="{FF2B5EF4-FFF2-40B4-BE49-F238E27FC236}">
                <a16:creationId xmlns:a16="http://schemas.microsoft.com/office/drawing/2014/main" id="{72B48099-5A84-4D8D-A913-B7A84089BCC1}"/>
              </a:ext>
            </a:extLst>
          </p:cNvPr>
          <p:cNvSpPr>
            <a:spLocks xmlns:a="http://schemas.openxmlformats.org/drawingml/2006/main" noGrp="1"/>
          </p:cNvSpPr>
          <p:nvPr/>
        </p:nvSpPr>
        <p:spPr>
          <a:xfrm xmlns:a="http://schemas.openxmlformats.org/drawingml/2006/main">
            <a:off x="10401300" y="45529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inside</a:t>
            </a:r>
          </a:p>
        </p:txBody>
      </p:sp>
      <p:sp>
        <p:nvSpPr>
          <p:cNvPr id="22" name="">
            <a:extLst xmlns:a="http://schemas.openxmlformats.org/drawingml/2006/main">
              <a:ext uri="{FF2B5EF4-FFF2-40B4-BE49-F238E27FC236}">
                <a16:creationId xmlns:a16="http://schemas.microsoft.com/office/drawing/2014/main" id="{9AFEB3E2-B003-412E-87C6-39F4C957F9BD}"/>
              </a:ext>
            </a:extLst>
          </p:cNvPr>
          <p:cNvSpPr>
            <a:spLocks xmlns:a="http://schemas.openxmlformats.org/drawingml/2006/main" noGrp="1"/>
          </p:cNvSpPr>
          <p:nvPr/>
        </p:nvSpPr>
        <p:spPr>
          <a:xfrm xmlns:a="http://schemas.openxmlformats.org/drawingml/2006/main">
            <a:off x="8724900" y="50673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control stability ≥0.951</a:t>
            </a:r>
          </a:p>
        </p:txBody>
      </p:sp>
      <p:sp>
        <p:nvSpPr>
          <p:cNvPr id="23" name="">
            <a:extLst xmlns:a="http://schemas.openxmlformats.org/drawingml/2006/main">
              <a:ext uri="{FF2B5EF4-FFF2-40B4-BE49-F238E27FC236}">
                <a16:creationId xmlns:a16="http://schemas.microsoft.com/office/drawing/2014/main" id="{97051FF4-29E1-4E13-A512-6E4D27D73D86}"/>
              </a:ext>
            </a:extLst>
          </p:cNvPr>
          <p:cNvSpPr>
            <a:spLocks xmlns:a="http://schemas.openxmlformats.org/drawingml/2006/main" noGrp="1"/>
          </p:cNvSpPr>
          <p:nvPr/>
        </p:nvSpPr>
        <p:spPr>
          <a:xfrm xmlns:a="http://schemas.openxmlformats.org/drawingml/2006/main">
            <a:off x="609600" y="4762500"/>
            <a:ext cx="7524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8D6545C7-A6AA-42C6-BE0D-5E6D4849B9AD}"/>
              </a:ext>
            </a:extLst>
          </p:cNvPr>
          <p:cNvSpPr>
            <a:spLocks xmlns:a="http://schemas.openxmlformats.org/drawingml/2006/main" noGrp="1"/>
          </p:cNvSpPr>
          <p:nvPr/>
        </p:nvSpPr>
        <p:spPr>
          <a:xfrm xmlns:a="http://schemas.openxmlformats.org/drawingml/2006/main">
            <a:off x="838200" y="49530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ACTION-PRECISION FAILURE</a:t>
            </a:r>
          </a:p>
        </p:txBody>
      </p:sp>
      <p:sp>
        <p:nvSpPr>
          <p:cNvPr id="25" name="">
            <a:extLst xmlns:a="http://schemas.openxmlformats.org/drawingml/2006/main">
              <a:ext uri="{FF2B5EF4-FFF2-40B4-BE49-F238E27FC236}">
                <a16:creationId xmlns:a16="http://schemas.microsoft.com/office/drawing/2014/main" id="{5044155F-29EB-4381-86BB-45A826DCB322}"/>
              </a:ext>
            </a:extLst>
          </p:cNvPr>
          <p:cNvSpPr>
            <a:spLocks xmlns:a="http://schemas.openxmlformats.org/drawingml/2006/main" noGrp="1"/>
          </p:cNvSpPr>
          <p:nvPr/>
        </p:nvSpPr>
        <p:spPr>
          <a:xfrm xmlns:a="http://schemas.openxmlformats.org/drawingml/2006/main">
            <a:off x="838200" y="5219700"/>
            <a:ext cx="699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51C"/>
                </a:solidFill>
                <a:latin typeface="Helvetica Neue"/>
                <a:ea typeface="Helvetica Neue"/>
                <a:cs typeface="Helvetica Neue"/>
              </a:defRPr>
            </a:pPr>
            <a:r>
              <a:rPr sz="1350" b="1">
                <a:solidFill>
                  <a:srgbClr val="10151C"/>
                </a:solidFill>
                <a:latin typeface="Helvetica Neue"/>
                <a:ea typeface="Helvetica Neue"/>
                <a:cs typeface="Helvetica Neue"/>
              </a:rPr>
              <a:t>The target-specific peak is inside the proofing-language control, but the generated y coordinate crosses the strict point-in-box boundary.</a:t>
            </a:r>
          </a:p>
        </p:txBody>
      </p:sp>
      <p:sp>
        <p:nvSpPr>
          <p:cNvPr id="26" name="">
            <a:extLst xmlns:a="http://schemas.openxmlformats.org/drawingml/2006/main">
              <a:ext uri="{FF2B5EF4-FFF2-40B4-BE49-F238E27FC236}">
                <a16:creationId xmlns:a16="http://schemas.microsoft.com/office/drawing/2014/main" id="{F4C683B1-3EED-4E1D-829B-B954CC6BBF17}"/>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F6746F6-FDB4-45D1-8B2D-CB7FB1961092}"/>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free generation · normalized 0–1000 output · native 2880×1800 input · no downsampling</a:t>
            </a:r>
          </a:p>
        </p:txBody>
      </p:sp>
    </p:spTree>
    <p:extLst>
      <p:ext uri="{BB962C8B-B14F-4D97-AF65-F5344CB8AC3E}">
        <p14:creationId xmlns:p14="http://schemas.microsoft.com/office/powerpoint/2010/main" val="494685197"/>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B4BDBDE7-7C36-4321-9E95-7E5E27F346D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PAIRED HOTEL FREE GENERATION</a:t>
            </a:r>
          </a:p>
        </p:txBody>
      </p:sp>
      <p:sp>
        <p:nvSpPr>
          <p:cNvPr id="2" name="">
            <a:extLst xmlns:a="http://schemas.openxmlformats.org/drawingml/2006/main">
              <a:ext uri="{FF2B5EF4-FFF2-40B4-BE49-F238E27FC236}">
                <a16:creationId xmlns:a16="http://schemas.microsoft.com/office/drawing/2014/main" id="{61958104-35F6-430C-AC06-206F40BBEE7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Holo completes 2 of 6 while Qwen completes 0 of 6</a:t>
            </a:r>
          </a:p>
        </p:txBody>
      </p:sp>
      <p:sp>
        <p:nvSpPr>
          <p:cNvPr id="3" name="">
            <a:extLst xmlns:a="http://schemas.openxmlformats.org/drawingml/2006/main">
              <a:ext uri="{FF2B5EF4-FFF2-40B4-BE49-F238E27FC236}">
                <a16:creationId xmlns:a16="http://schemas.microsoft.com/office/drawing/2014/main" id="{2E0E83BD-1B49-4687-A124-056368F19F52}"/>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0B13D615-9A89-4AD2-B0AA-798921C416B4}"/>
              </a:ext>
            </a:extLst>
          </p:cNvPr>
          <p:cNvSpPr>
            <a:spLocks xmlns:a="http://schemas.openxmlformats.org/drawingml/2006/main" noGrp="1"/>
          </p:cNvSpPr>
          <p:nvPr/>
        </p:nvSpPr>
        <p:spPr>
          <a:xfrm xmlns:a="http://schemas.openxmlformats.org/drawingml/2006/main">
            <a:off x="609600" y="11239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Six audited cases · native 1280×800 screenshots · official tools · four-action cap</a:t>
            </a:r>
          </a:p>
        </p:txBody>
      </p:sp>
      <p:sp>
        <p:nvSpPr>
          <p:cNvPr id="5" name="">
            <a:extLst xmlns:a="http://schemas.openxmlformats.org/drawingml/2006/main">
              <a:ext uri="{FF2B5EF4-FFF2-40B4-BE49-F238E27FC236}">
                <a16:creationId xmlns:a16="http://schemas.microsoft.com/office/drawing/2014/main" id="{E0C7DAC5-528C-4152-874C-6683909E029E}"/>
              </a:ext>
            </a:extLst>
          </p:cNvPr>
          <p:cNvSpPr>
            <a:spLocks xmlns:a="http://schemas.openxmlformats.org/drawingml/2006/main" noGrp="1"/>
          </p:cNvSpPr>
          <p:nvPr/>
        </p:nvSpPr>
        <p:spPr>
          <a:xfrm xmlns:a="http://schemas.openxmlformats.org/drawingml/2006/main">
            <a:off x="609600" y="1485900"/>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OUTCOMES ACROSS THE PRIMARY COHORT</a:t>
            </a:r>
          </a:p>
        </p:txBody>
      </p:sp>
      <p:graphicFrame>
        <p:nvGraphicFramePr>
          <p:cNvPr id="44" name="Chart"/>
          <p:cNvGraphicFramePr/>
          <p:nvPr/>
        </p:nvGraphicFramePr>
        <p:xfrm>
          <a:off xmlns:a="http://schemas.openxmlformats.org/drawingml/2006/main" x="609600" y="1695450"/>
          <a:ext xmlns:a="http://schemas.openxmlformats.org/drawingml/2006/main" cx="4762500" cy="2114550"/>
        </p:xfrm>
        <a:graphic xmlns:a="http://schemas.openxmlformats.org/drawingml/2006/main">
          <a:graphicData uri="http://schemas.openxmlformats.org/drawingml/2006/chart">
            <c:chart xmlns:r="http://schemas.openxmlformats.org/officeDocument/2006/relationships" xmlns:c="http://schemas.openxmlformats.org/drawingml/2006/chart" r:id="Racf8d5cd0d8d46ac"/>
          </a:graphicData>
        </a:graphic>
      </p:graphicFrame>
      <p:sp>
        <p:nvSpPr>
          <p:cNvPr id="7" name="">
            <a:extLst xmlns:a="http://schemas.openxmlformats.org/drawingml/2006/main">
              <a:ext uri="{FF2B5EF4-FFF2-40B4-BE49-F238E27FC236}">
                <a16:creationId xmlns:a16="http://schemas.microsoft.com/office/drawing/2014/main" id="{C7DC2049-5FF3-4523-A2E2-C8D1E1A08726}"/>
              </a:ext>
            </a:extLst>
          </p:cNvPr>
          <p:cNvSpPr>
            <a:spLocks xmlns:a="http://schemas.openxmlformats.org/drawingml/2006/main" noGrp="1"/>
          </p:cNvSpPr>
          <p:nvPr/>
        </p:nvSpPr>
        <p:spPr>
          <a:xfrm xmlns:a="http://schemas.openxmlformats.org/drawingml/2006/main">
            <a:off x="609600" y="3962400"/>
            <a:ext cx="1381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18A875"/>
                </a:solidFill>
                <a:latin typeface="Helvetica Neue"/>
                <a:ea typeface="Helvetica Neue"/>
                <a:cs typeface="Helvetica Neue"/>
              </a:defRPr>
            </a:pPr>
            <a:r>
              <a:rPr sz="2925" b="1">
                <a:solidFill>
                  <a:srgbClr val="18A875"/>
                </a:solidFill>
                <a:latin typeface="Helvetica Neue"/>
                <a:ea typeface="Helvetica Neue"/>
                <a:cs typeface="Helvetica Neue"/>
              </a:rPr>
              <a:t>2/6</a:t>
            </a:r>
          </a:p>
        </p:txBody>
      </p:sp>
      <p:sp>
        <p:nvSpPr>
          <p:cNvPr id="8" name="">
            <a:extLst xmlns:a="http://schemas.openxmlformats.org/drawingml/2006/main">
              <a:ext uri="{FF2B5EF4-FFF2-40B4-BE49-F238E27FC236}">
                <a16:creationId xmlns:a16="http://schemas.microsoft.com/office/drawing/2014/main" id="{63010C72-0B6F-4AA1-B16E-D80CB9A577EC}"/>
              </a:ext>
            </a:extLst>
          </p:cNvPr>
          <p:cNvSpPr>
            <a:spLocks xmlns:a="http://schemas.openxmlformats.org/drawingml/2006/main" noGrp="1"/>
          </p:cNvSpPr>
          <p:nvPr/>
        </p:nvSpPr>
        <p:spPr>
          <a:xfrm xmlns:a="http://schemas.openxmlformats.org/drawingml/2006/main">
            <a:off x="609600" y="4400550"/>
            <a:ext cx="1381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0151C"/>
                </a:solidFill>
                <a:latin typeface="Helvetica Neue"/>
                <a:ea typeface="Helvetica Neue"/>
                <a:cs typeface="Helvetica Neue"/>
              </a:defRPr>
            </a:pPr>
            <a:r>
              <a:rPr sz="1050" b="1">
                <a:solidFill>
                  <a:srgbClr val="10151C"/>
                </a:solidFill>
                <a:latin typeface="Helvetica Neue"/>
                <a:ea typeface="Helvetica Neue"/>
                <a:cs typeface="Helvetica Neue"/>
              </a:rPr>
              <a:t>Holo successes</a:t>
            </a:r>
          </a:p>
        </p:txBody>
      </p:sp>
      <p:sp>
        <p:nvSpPr>
          <p:cNvPr id="9" name="">
            <a:extLst xmlns:a="http://schemas.openxmlformats.org/drawingml/2006/main">
              <a:ext uri="{FF2B5EF4-FFF2-40B4-BE49-F238E27FC236}">
                <a16:creationId xmlns:a16="http://schemas.microsoft.com/office/drawing/2014/main" id="{6282CAA2-6298-4FB3-8E15-529B807289DE}"/>
              </a:ext>
            </a:extLst>
          </p:cNvPr>
          <p:cNvSpPr>
            <a:spLocks xmlns:a="http://schemas.openxmlformats.org/drawingml/2006/main" noGrp="1"/>
          </p:cNvSpPr>
          <p:nvPr/>
        </p:nvSpPr>
        <p:spPr>
          <a:xfrm xmlns:a="http://schemas.openxmlformats.org/drawingml/2006/main">
            <a:off x="2305050" y="3962400"/>
            <a:ext cx="1381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2D84D3"/>
                </a:solidFill>
                <a:latin typeface="Helvetica Neue"/>
                <a:ea typeface="Helvetica Neue"/>
                <a:cs typeface="Helvetica Neue"/>
              </a:defRPr>
            </a:pPr>
            <a:r>
              <a:rPr sz="2925" b="1">
                <a:solidFill>
                  <a:srgbClr val="2D84D3"/>
                </a:solidFill>
                <a:latin typeface="Helvetica Neue"/>
                <a:ea typeface="Helvetica Neue"/>
                <a:cs typeface="Helvetica Neue"/>
              </a:rPr>
              <a:t>0/6</a:t>
            </a:r>
          </a:p>
        </p:txBody>
      </p:sp>
      <p:sp>
        <p:nvSpPr>
          <p:cNvPr id="10" name="">
            <a:extLst xmlns:a="http://schemas.openxmlformats.org/drawingml/2006/main">
              <a:ext uri="{FF2B5EF4-FFF2-40B4-BE49-F238E27FC236}">
                <a16:creationId xmlns:a16="http://schemas.microsoft.com/office/drawing/2014/main" id="{038DA7ED-361F-4144-BE00-392315DBCAA9}"/>
              </a:ext>
            </a:extLst>
          </p:cNvPr>
          <p:cNvSpPr>
            <a:spLocks xmlns:a="http://schemas.openxmlformats.org/drawingml/2006/main" noGrp="1"/>
          </p:cNvSpPr>
          <p:nvPr/>
        </p:nvSpPr>
        <p:spPr>
          <a:xfrm xmlns:a="http://schemas.openxmlformats.org/drawingml/2006/main">
            <a:off x="2305050" y="4400550"/>
            <a:ext cx="1381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0151C"/>
                </a:solidFill>
                <a:latin typeface="Helvetica Neue"/>
                <a:ea typeface="Helvetica Neue"/>
                <a:cs typeface="Helvetica Neue"/>
              </a:defRPr>
            </a:pPr>
            <a:r>
              <a:rPr sz="1050" b="1">
                <a:solidFill>
                  <a:srgbClr val="10151C"/>
                </a:solidFill>
                <a:latin typeface="Helvetica Neue"/>
                <a:ea typeface="Helvetica Neue"/>
                <a:cs typeface="Helvetica Neue"/>
              </a:rPr>
              <a:t>Qwen successes</a:t>
            </a:r>
          </a:p>
        </p:txBody>
      </p:sp>
      <p:sp>
        <p:nvSpPr>
          <p:cNvPr id="11" name="">
            <a:extLst xmlns:a="http://schemas.openxmlformats.org/drawingml/2006/main">
              <a:ext uri="{FF2B5EF4-FFF2-40B4-BE49-F238E27FC236}">
                <a16:creationId xmlns:a16="http://schemas.microsoft.com/office/drawing/2014/main" id="{8EEED02D-7C5C-4D67-9622-FA9B32B1611D}"/>
              </a:ext>
            </a:extLst>
          </p:cNvPr>
          <p:cNvSpPr>
            <a:spLocks xmlns:a="http://schemas.openxmlformats.org/drawingml/2006/main" noGrp="1"/>
          </p:cNvSpPr>
          <p:nvPr/>
        </p:nvSpPr>
        <p:spPr>
          <a:xfrm xmlns:a="http://schemas.openxmlformats.org/drawingml/2006/main">
            <a:off x="3810000" y="4000500"/>
            <a:ext cx="1562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66717D"/>
                </a:solidFill>
                <a:latin typeface="Helvetica Neue"/>
                <a:ea typeface="Helvetica Neue"/>
                <a:cs typeface="Helvetica Neue"/>
              </a:defRPr>
            </a:pPr>
            <a:r>
              <a:rPr sz="900" b="1">
                <a:solidFill>
                  <a:srgbClr val="66717D"/>
                </a:solidFill>
                <a:latin typeface="Helvetica Neue"/>
                <a:ea typeface="Helvetica Neue"/>
                <a:cs typeface="Helvetica Neue"/>
              </a:rPr>
              <a:t>Holo: four malformed structured actions</a:t>
            </a:r>
          </a:p>
          <a:p xmlns:a="http://schemas.openxmlformats.org/drawingml/2006/main">
            <a:pPr algn="l">
              <a:defRPr sz="900" b="1">
                <a:solidFill>
                  <a:srgbClr val="66717D"/>
                </a:solidFill>
                <a:latin typeface="Helvetica Neue"/>
                <a:ea typeface="Helvetica Neue"/>
                <a:cs typeface="Helvetica Neue"/>
              </a:defRPr>
            </a:pPr>
            <a:r>
              <a:rPr sz="900" b="1">
                <a:solidFill>
                  <a:srgbClr val="66717D"/>
                </a:solidFill>
                <a:latin typeface="Helvetica Neue"/>
                <a:ea typeface="Helvetica Neue"/>
                <a:cs typeface="Helvetica Neue"/>
              </a:rPr>
              <a:t>Qwen: two malformed, two step-limit, two wrong clicks</a:t>
            </a:r>
          </a:p>
        </p:txBody>
      </p:sp>
      <p:sp>
        <p:nvSpPr>
          <p:cNvPr id="12" name="">
            <a:extLst xmlns:a="http://schemas.openxmlformats.org/drawingml/2006/main">
              <a:ext uri="{FF2B5EF4-FFF2-40B4-BE49-F238E27FC236}">
                <a16:creationId xmlns:a16="http://schemas.microsoft.com/office/drawing/2014/main" id="{7FD91689-CD02-4EA6-8F49-BE2AF4B30CA4}"/>
              </a:ext>
            </a:extLst>
          </p:cNvPr>
          <p:cNvSpPr>
            <a:spLocks xmlns:a="http://schemas.openxmlformats.org/drawingml/2006/main" noGrp="1"/>
          </p:cNvSpPr>
          <p:nvPr/>
        </p:nvSpPr>
        <p:spPr>
          <a:xfrm xmlns:a="http://schemas.openxmlformats.org/drawingml/2006/main">
            <a:off x="609600" y="4857750"/>
            <a:ext cx="47625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3E0130DC-2754-4BD4-93C6-6AF31AE27BB8}"/>
              </a:ext>
            </a:extLst>
          </p:cNvPr>
          <p:cNvSpPr>
            <a:spLocks xmlns:a="http://schemas.openxmlformats.org/drawingml/2006/main" noGrp="1"/>
          </p:cNvSpPr>
          <p:nvPr/>
        </p:nvSpPr>
        <p:spPr>
          <a:xfrm xmlns:a="http://schemas.openxmlformats.org/drawingml/2006/main">
            <a:off x="838200" y="504825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CLAIM BOUNDARY</a:t>
            </a:r>
          </a:p>
        </p:txBody>
      </p:sp>
      <p:sp>
        <p:nvSpPr>
          <p:cNvPr id="14" name="">
            <a:extLst xmlns:a="http://schemas.openxmlformats.org/drawingml/2006/main">
              <a:ext uri="{FF2B5EF4-FFF2-40B4-BE49-F238E27FC236}">
                <a16:creationId xmlns:a16="http://schemas.microsoft.com/office/drawing/2014/main" id="{847CA925-19F8-4940-AFF2-D63973EA621E}"/>
              </a:ext>
            </a:extLst>
          </p:cNvPr>
          <p:cNvSpPr>
            <a:spLocks xmlns:a="http://schemas.openxmlformats.org/drawingml/2006/main" noGrp="1"/>
          </p:cNvSpPr>
          <p:nvPr/>
        </p:nvSpPr>
        <p:spPr>
          <a:xfrm xmlns:a="http://schemas.openxmlformats.org/drawingml/2006/main">
            <a:off x="838200" y="5295900"/>
            <a:ext cx="430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63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The pilot measures the whole action loop. It does not isolate visual understanding from formatting, stopping, or coordinate policy.</a:t>
            </a:r>
          </a:p>
        </p:txBody>
      </p:sp>
      <p:sp>
        <p:nvSpPr>
          <p:cNvPr id="15" name="">
            <a:extLst xmlns:a="http://schemas.openxmlformats.org/drawingml/2006/main">
              <a:ext uri="{FF2B5EF4-FFF2-40B4-BE49-F238E27FC236}">
                <a16:creationId xmlns:a16="http://schemas.microsoft.com/office/drawing/2014/main" id="{043C5A7C-B298-4F26-8FC5-78D0B6721235}"/>
              </a:ext>
            </a:extLst>
          </p:cNvPr>
          <p:cNvSpPr>
            <a:spLocks xmlns:a="http://schemas.openxmlformats.org/drawingml/2006/main" noGrp="1"/>
          </p:cNvSpPr>
          <p:nvPr/>
        </p:nvSpPr>
        <p:spPr>
          <a:xfrm xmlns:a="http://schemas.openxmlformats.org/drawingml/2006/main">
            <a:off x="5676900" y="1485900"/>
            <a:ext cx="590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TRACED HOLO SUCCESS · FINAL VALUE-NORM ROLLOUT</a:t>
            </a:r>
          </a:p>
        </p:txBody>
      </p:sp>
      <p:sp>
        <p:nvSpPr>
          <p:cNvPr id="16" name="">
            <a:extLst xmlns:a="http://schemas.openxmlformats.org/drawingml/2006/main">
              <a:ext uri="{FF2B5EF4-FFF2-40B4-BE49-F238E27FC236}">
                <a16:creationId xmlns:a16="http://schemas.microsoft.com/office/drawing/2014/main" id="{78975DA1-F71C-4A67-82FA-C218CBC45BE3}"/>
              </a:ext>
            </a:extLst>
          </p:cNvPr>
          <p:cNvSpPr>
            <a:spLocks xmlns:a="http://schemas.openxmlformats.org/drawingml/2006/main" noGrp="1"/>
          </p:cNvSpPr>
          <p:nvPr/>
        </p:nvSpPr>
        <p:spPr>
          <a:xfrm xmlns:a="http://schemas.openxmlformats.org/drawingml/2006/main">
            <a:off x="5676900" y="1724025"/>
            <a:ext cx="1257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66717D"/>
                </a:solidFill>
                <a:latin typeface="Helvetica Neue"/>
                <a:ea typeface="Helvetica Neue"/>
                <a:cs typeface="Helvetica Neue"/>
              </a:defRPr>
            </a:pPr>
            <a:r>
              <a:rPr sz="675" b="1">
                <a:solidFill>
                  <a:srgbClr val="66717D"/>
                </a:solidFill>
                <a:latin typeface="Helvetica Neue"/>
                <a:ea typeface="Helvetica Neue"/>
                <a:cs typeface="Helvetica Neue"/>
              </a:rPr>
              <a:t>HISTORY 1</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745bafd83b6446ea"/>
          <a:stretch xmlns:a="http://schemas.openxmlformats.org/drawingml/2006/main"/>
        </p:blipFill>
        <p:spPr>
          <a:xfrm xmlns:a="http://schemas.openxmlformats.org/drawingml/2006/main">
            <a:off x="5676900" y="1916906"/>
            <a:ext cx="1257300" cy="785813"/>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A1AC0EF3-7D76-4DD3-8BB3-C20F4F66B760}"/>
              </a:ext>
            </a:extLst>
          </p:cNvPr>
          <p:cNvSpPr>
            <a:spLocks xmlns:a="http://schemas.openxmlformats.org/drawingml/2006/main" noGrp="1"/>
          </p:cNvSpPr>
          <p:nvPr/>
        </p:nvSpPr>
        <p:spPr>
          <a:xfrm xmlns:a="http://schemas.openxmlformats.org/drawingml/2006/main">
            <a:off x="5676900" y="1914525"/>
            <a:ext cx="1257300" cy="790575"/>
          </a:xfrm>
          <a:prstGeom xmlns:a="http://schemas.openxmlformats.org/drawingml/2006/main" prst="roundRect">
            <a:avLst>
              <a:gd name="adj" fmla="val 9639"/>
            </a:avLst>
          </a:prstGeom>
          <a:noFill xmlns:a="http://schemas.openxmlformats.org/drawingml/2006/main"/>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2DE8DB1F-BBAB-40F7-9253-EEDB6DCF5CAB}"/>
              </a:ext>
            </a:extLst>
          </p:cNvPr>
          <p:cNvSpPr>
            <a:spLocks xmlns:a="http://schemas.openxmlformats.org/drawingml/2006/main" noGrp="1"/>
          </p:cNvSpPr>
          <p:nvPr/>
        </p:nvSpPr>
        <p:spPr>
          <a:xfrm xmlns:a="http://schemas.openxmlformats.org/drawingml/2006/main">
            <a:off x="5676900" y="2828925"/>
            <a:ext cx="1257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66717D"/>
                </a:solidFill>
                <a:latin typeface="Helvetica Neue"/>
                <a:ea typeface="Helvetica Neue"/>
                <a:cs typeface="Helvetica Neue"/>
              </a:defRPr>
            </a:pPr>
            <a:r>
              <a:rPr sz="675" b="1">
                <a:solidFill>
                  <a:srgbClr val="66717D"/>
                </a:solidFill>
                <a:latin typeface="Helvetica Neue"/>
                <a:ea typeface="Helvetica Neue"/>
                <a:cs typeface="Helvetica Neue"/>
              </a:rPr>
              <a:t>HISTORY 2</a:t>
            </a:r>
          </a:p>
        </p:txBody>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568377b8c5824220"/>
          <a:stretch xmlns:a="http://schemas.openxmlformats.org/drawingml/2006/main"/>
        </p:blipFill>
        <p:spPr>
          <a:xfrm xmlns:a="http://schemas.openxmlformats.org/drawingml/2006/main">
            <a:off x="5676900" y="3021806"/>
            <a:ext cx="1257300" cy="785813"/>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72BFE930-80F6-49B8-9F0D-8F075A9DEAC8}"/>
              </a:ext>
            </a:extLst>
          </p:cNvPr>
          <p:cNvSpPr>
            <a:spLocks xmlns:a="http://schemas.openxmlformats.org/drawingml/2006/main" noGrp="1"/>
          </p:cNvSpPr>
          <p:nvPr/>
        </p:nvSpPr>
        <p:spPr>
          <a:xfrm xmlns:a="http://schemas.openxmlformats.org/drawingml/2006/main">
            <a:off x="5676900" y="3019425"/>
            <a:ext cx="1257300" cy="790575"/>
          </a:xfrm>
          <a:prstGeom xmlns:a="http://schemas.openxmlformats.org/drawingml/2006/main" prst="roundRect">
            <a:avLst>
              <a:gd name="adj" fmla="val 9639"/>
            </a:avLst>
          </a:prstGeom>
          <a:noFill xmlns:a="http://schemas.openxmlformats.org/drawingml/2006/main"/>
          <a:ln xmlns:a="http://schemas.openxmlformats.org/drawingml/2006/main" w="9525">
            <a:solidFill>
              <a:srgbClr val="D9D4C8"/>
            </a:solidFill>
          </a:ln>
        </p:spPr>
      </p:sp>
      <p:sp>
        <p:nvSpPr>
          <p:cNvPr id="22" name="">
            <a:extLst xmlns:a="http://schemas.openxmlformats.org/drawingml/2006/main">
              <a:ext uri="{FF2B5EF4-FFF2-40B4-BE49-F238E27FC236}">
                <a16:creationId xmlns:a16="http://schemas.microsoft.com/office/drawing/2014/main" id="{D8792117-31AC-4D54-97D1-7950836F0A58}"/>
              </a:ext>
            </a:extLst>
          </p:cNvPr>
          <p:cNvSpPr>
            <a:spLocks xmlns:a="http://schemas.openxmlformats.org/drawingml/2006/main" noGrp="1"/>
          </p:cNvSpPr>
          <p:nvPr/>
        </p:nvSpPr>
        <p:spPr>
          <a:xfrm xmlns:a="http://schemas.openxmlformats.org/drawingml/2006/main">
            <a:off x="7086600" y="1724025"/>
            <a:ext cx="44958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18A875"/>
                </a:solidFill>
                <a:latin typeface="Helvetica Neue"/>
                <a:ea typeface="Helvetica Neue"/>
                <a:cs typeface="Helvetica Neue"/>
              </a:defRPr>
            </a:pPr>
            <a:r>
              <a:rPr sz="675" b="1">
                <a:solidFill>
                  <a:srgbClr val="18A875"/>
                </a:solidFill>
                <a:latin typeface="Helvetica Neue"/>
                <a:ea typeface="Helvetica Neue"/>
                <a:cs typeface="Helvetica Neue"/>
              </a:rPr>
              <a:t>CURRENT FRAME</a:t>
            </a:r>
          </a:p>
        </p:txBody>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27ed1802803b4991"/>
          <a:stretch xmlns:a="http://schemas.openxmlformats.org/drawingml/2006/main"/>
        </p:blipFill>
        <p:spPr>
          <a:xfrm xmlns:a="http://schemas.openxmlformats.org/drawingml/2006/main">
            <a:off x="7086600" y="1914525"/>
            <a:ext cx="4495800" cy="2809875"/>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8C65BFCB-4874-40F1-B17F-4B9F50BB538A}"/>
              </a:ext>
            </a:extLst>
          </p:cNvPr>
          <p:cNvSpPr>
            <a:spLocks xmlns:a="http://schemas.openxmlformats.org/drawingml/2006/main" noGrp="1"/>
          </p:cNvSpPr>
          <p:nvPr/>
        </p:nvSpPr>
        <p:spPr>
          <a:xfrm xmlns:a="http://schemas.openxmlformats.org/drawingml/2006/main">
            <a:off x="7086600" y="1914525"/>
            <a:ext cx="4495800" cy="2809875"/>
          </a:xfrm>
          <a:prstGeom xmlns:a="http://schemas.openxmlformats.org/drawingml/2006/main" prst="roundRect">
            <a:avLst>
              <a:gd name="adj" fmla="val 2712"/>
            </a:avLst>
          </a:prstGeom>
          <a:noFill xmlns:a="http://schemas.openxmlformats.org/drawingml/2006/main"/>
          <a:ln xmlns:a="http://schemas.openxmlformats.org/drawingml/2006/main" w="9525">
            <a:solidFill>
              <a:srgbClr val="D9D4C8"/>
            </a:solidFill>
          </a:ln>
        </p:spPr>
      </p:sp>
      <p:sp>
        <p:nvSpPr>
          <p:cNvPr id="25" name="">
            <a:extLst xmlns:a="http://schemas.openxmlformats.org/drawingml/2006/main">
              <a:ext uri="{FF2B5EF4-FFF2-40B4-BE49-F238E27FC236}">
                <a16:creationId xmlns:a16="http://schemas.microsoft.com/office/drawing/2014/main" id="{E1188D31-07EA-4E10-B427-3518CF3A4A25}"/>
              </a:ext>
            </a:extLst>
          </p:cNvPr>
          <p:cNvSpPr>
            <a:spLocks xmlns:a="http://schemas.openxmlformats.org/drawingml/2006/main" noGrp="1"/>
          </p:cNvSpPr>
          <p:nvPr/>
        </p:nvSpPr>
        <p:spPr>
          <a:xfrm xmlns:a="http://schemas.openxmlformats.org/drawingml/2006/main">
            <a:off x="10518160" y="2585383"/>
            <a:ext cx="449580" cy="175617"/>
          </a:xfrm>
          <a:prstGeom xmlns:a="http://schemas.openxmlformats.org/drawingml/2006/main" prst="roundRect">
            <a:avLst>
              <a:gd name="adj" fmla="val 43390"/>
            </a:avLst>
          </a:prstGeom>
          <a:noFill xmlns:a="http://schemas.openxmlformats.org/drawingml/2006/main"/>
          <a:ln xmlns:a="http://schemas.openxmlformats.org/drawingml/2006/main" w="9525">
            <a:solidFill>
              <a:srgbClr val="18A875"/>
            </a:solidFill>
          </a:ln>
        </p:spPr>
      </p:sp>
      <p:sp>
        <p:nvSpPr>
          <p:cNvPr id="26" name="">
            <a:extLst xmlns:a="http://schemas.openxmlformats.org/drawingml/2006/main">
              <a:ext uri="{FF2B5EF4-FFF2-40B4-BE49-F238E27FC236}">
                <a16:creationId xmlns:a16="http://schemas.microsoft.com/office/drawing/2014/main" id="{AF7D8D3D-3401-4E53-8702-8A92E78FBAE0}"/>
              </a:ext>
            </a:extLst>
          </p:cNvPr>
          <p:cNvSpPr>
            <a:spLocks xmlns:a="http://schemas.openxmlformats.org/drawingml/2006/main" noGrp="1"/>
          </p:cNvSpPr>
          <p:nvPr/>
        </p:nvSpPr>
        <p:spPr>
          <a:xfrm xmlns:a="http://schemas.openxmlformats.org/drawingml/2006/main">
            <a:off x="10641628" y="2635091"/>
            <a:ext cx="76200" cy="76200"/>
          </a:xfrm>
          <a:prstGeom xmlns:a="http://schemas.openxmlformats.org/drawingml/2006/main" prst="ellipse">
            <a:avLst/>
          </a:prstGeom>
          <a:noFill xmlns:a="http://schemas.openxmlformats.org/drawingml/2006/main"/>
          <a:ln xmlns:a="http://schemas.openxmlformats.org/drawingml/2006/main" w="66675">
            <a:solidFill>
              <a:srgbClr val="F05A3C"/>
            </a:solidFill>
          </a:ln>
        </p:spPr>
      </p:sp>
      <p:sp>
        <p:nvSpPr>
          <p:cNvPr id="27" name="">
            <a:extLst xmlns:a="http://schemas.openxmlformats.org/drawingml/2006/main">
              <a:ext uri="{FF2B5EF4-FFF2-40B4-BE49-F238E27FC236}">
                <a16:creationId xmlns:a16="http://schemas.microsoft.com/office/drawing/2014/main" id="{65CE1389-39B4-40CC-A460-9CC59DDFF672}"/>
              </a:ext>
            </a:extLst>
          </p:cNvPr>
          <p:cNvSpPr>
            <a:spLocks xmlns:a="http://schemas.openxmlformats.org/drawingml/2006/main" noGrp="1"/>
          </p:cNvSpPr>
          <p:nvPr/>
        </p:nvSpPr>
        <p:spPr>
          <a:xfrm xmlns:a="http://schemas.openxmlformats.org/drawingml/2006/main">
            <a:off x="10641628" y="2635091"/>
            <a:ext cx="76200" cy="76200"/>
          </a:xfrm>
          <a:prstGeom xmlns:a="http://schemas.openxmlformats.org/drawingml/2006/main" prst="ellipse">
            <a:avLst/>
          </a:prstGeom>
          <a:noFill xmlns:a="http://schemas.openxmlformats.org/drawingml/2006/main"/>
          <a:ln xmlns:a="http://schemas.openxmlformats.org/drawingml/2006/main" w="28575">
            <a:solidFill>
              <a:srgbClr val="FFFFFF"/>
            </a:solidFill>
          </a:ln>
        </p:spPr>
      </p:sp>
      <p:sp>
        <p:nvSpPr>
          <p:cNvPr id="28" name="">
            <a:extLst xmlns:a="http://schemas.openxmlformats.org/drawingml/2006/main">
              <a:ext uri="{FF2B5EF4-FFF2-40B4-BE49-F238E27FC236}">
                <a16:creationId xmlns:a16="http://schemas.microsoft.com/office/drawing/2014/main" id="{3B22B701-031E-4C79-B674-F093FD34D9A6}"/>
              </a:ext>
            </a:extLst>
          </p:cNvPr>
          <p:cNvSpPr>
            <a:spLocks xmlns:a="http://schemas.openxmlformats.org/drawingml/2006/main" noGrp="1"/>
          </p:cNvSpPr>
          <p:nvPr/>
        </p:nvSpPr>
        <p:spPr>
          <a:xfrm xmlns:a="http://schemas.openxmlformats.org/drawingml/2006/main">
            <a:off x="10584478" y="2639854"/>
            <a:ext cx="190500" cy="66675"/>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3499388-E1B6-456B-B80E-FF203A984B4A}"/>
              </a:ext>
            </a:extLst>
          </p:cNvPr>
          <p:cNvSpPr>
            <a:spLocks xmlns:a="http://schemas.openxmlformats.org/drawingml/2006/main" noGrp="1"/>
          </p:cNvSpPr>
          <p:nvPr/>
        </p:nvSpPr>
        <p:spPr>
          <a:xfrm xmlns:a="http://schemas.openxmlformats.org/drawingml/2006/main">
            <a:off x="10646390" y="2577941"/>
            <a:ext cx="66675" cy="1905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C6AA9953-058B-4CF4-8C0D-1DBC6C57FDFD}"/>
              </a:ext>
            </a:extLst>
          </p:cNvPr>
          <p:cNvSpPr>
            <a:spLocks xmlns:a="http://schemas.openxmlformats.org/drawingml/2006/main" noGrp="1"/>
          </p:cNvSpPr>
          <p:nvPr/>
        </p:nvSpPr>
        <p:spPr>
          <a:xfrm xmlns:a="http://schemas.openxmlformats.org/drawingml/2006/main">
            <a:off x="10584478" y="2658904"/>
            <a:ext cx="190500" cy="285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FE130C5-7708-4C97-A20E-60FA8DD1DB4A}"/>
              </a:ext>
            </a:extLst>
          </p:cNvPr>
          <p:cNvSpPr>
            <a:spLocks xmlns:a="http://schemas.openxmlformats.org/drawingml/2006/main" noGrp="1"/>
          </p:cNvSpPr>
          <p:nvPr/>
        </p:nvSpPr>
        <p:spPr>
          <a:xfrm xmlns:a="http://schemas.openxmlformats.org/drawingml/2006/main">
            <a:off x="10665440" y="2577941"/>
            <a:ext cx="28575" cy="1905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FE19FC8A-337D-4487-BC25-D5BF8C95F773}"/>
              </a:ext>
            </a:extLst>
          </p:cNvPr>
          <p:cNvSpPr>
            <a:spLocks xmlns:a="http://schemas.openxmlformats.org/drawingml/2006/main" noGrp="1"/>
          </p:cNvSpPr>
          <p:nvPr/>
        </p:nvSpPr>
        <p:spPr>
          <a:xfrm xmlns:a="http://schemas.openxmlformats.org/drawingml/2006/main">
            <a:off x="5676900" y="4857750"/>
            <a:ext cx="5905500" cy="1066800"/>
          </a:xfrm>
          <a:prstGeom xmlns:a="http://schemas.openxmlformats.org/drawingml/2006/main" prst="roundRect">
            <a:avLst>
              <a:gd name="adj" fmla="val 7143"/>
            </a:avLst>
          </a:prstGeom>
          <a:solidFill xmlns:a="http://schemas.openxmlformats.org/drawingml/2006/main">
            <a:srgbClr val="1C273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F3A0BB0-6EE5-431F-A0E3-6554814B5B3D}"/>
              </a:ext>
            </a:extLst>
          </p:cNvPr>
          <p:cNvSpPr>
            <a:spLocks xmlns:a="http://schemas.openxmlformats.org/drawingml/2006/main" noGrp="1"/>
          </p:cNvSpPr>
          <p:nvPr/>
        </p:nvSpPr>
        <p:spPr>
          <a:xfrm xmlns:a="http://schemas.openxmlformats.org/drawingml/2006/main">
            <a:off x="5905500" y="503872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18A875"/>
                </a:solidFill>
                <a:latin typeface="Helvetica Neue"/>
                <a:ea typeface="Helvetica Neue"/>
                <a:cs typeface="Helvetica Neue"/>
              </a:defRPr>
            </a:pPr>
            <a:r>
              <a:rPr sz="750" b="1">
                <a:solidFill>
                  <a:srgbClr val="18A875"/>
                </a:solidFill>
                <a:latin typeface="Helvetica Neue"/>
                <a:ea typeface="Helvetica Neue"/>
                <a:cs typeface="Helvetica Neue"/>
              </a:rPr>
              <a:t>TRACED SUCCESS</a:t>
            </a:r>
          </a:p>
        </p:txBody>
      </p:sp>
      <p:sp>
        <p:nvSpPr>
          <p:cNvPr id="34" name="">
            <a:extLst xmlns:a="http://schemas.openxmlformats.org/drawingml/2006/main">
              <a:ext uri="{FF2B5EF4-FFF2-40B4-BE49-F238E27FC236}">
                <a16:creationId xmlns:a16="http://schemas.microsoft.com/office/drawing/2014/main" id="{E0EE0B67-F11F-476B-8666-ADBE4A9CC2A2}"/>
              </a:ext>
            </a:extLst>
          </p:cNvPr>
          <p:cNvSpPr>
            <a:spLocks xmlns:a="http://schemas.openxmlformats.org/drawingml/2006/main" noGrp="1"/>
          </p:cNvSpPr>
          <p:nvPr/>
        </p:nvSpPr>
        <p:spPr>
          <a:xfrm xmlns:a="http://schemas.openxmlformats.org/drawingml/2006/main">
            <a:off x="5905500" y="523875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Fjord Compass Lodge · €166</a:t>
            </a:r>
          </a:p>
        </p:txBody>
      </p:sp>
      <p:sp>
        <p:nvSpPr>
          <p:cNvPr id="35" name="">
            <a:extLst xmlns:a="http://schemas.openxmlformats.org/drawingml/2006/main">
              <a:ext uri="{FF2B5EF4-FFF2-40B4-BE49-F238E27FC236}">
                <a16:creationId xmlns:a16="http://schemas.microsoft.com/office/drawing/2014/main" id="{567E4719-422A-43DA-90BB-65DECC3158DF}"/>
              </a:ext>
            </a:extLst>
          </p:cNvPr>
          <p:cNvSpPr>
            <a:spLocks xmlns:a="http://schemas.openxmlformats.org/drawingml/2006/main" noGrp="1"/>
          </p:cNvSpPr>
          <p:nvPr/>
        </p:nvSpPr>
        <p:spPr>
          <a:xfrm xmlns:a="http://schemas.openxmlformats.org/drawingml/2006/main">
            <a:off x="5905500" y="551497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Two scrolls, then click (1023,216) inside the oracle button</a:t>
            </a:r>
          </a:p>
        </p:txBody>
      </p:sp>
      <p:sp>
        <p:nvSpPr>
          <p:cNvPr id="36" name="">
            <a:extLst xmlns:a="http://schemas.openxmlformats.org/drawingml/2006/main">
              <a:ext uri="{FF2B5EF4-FFF2-40B4-BE49-F238E27FC236}">
                <a16:creationId xmlns:a16="http://schemas.microsoft.com/office/drawing/2014/main" id="{4F36F4BC-457F-4363-B709-D87C002E7474}"/>
              </a:ext>
            </a:extLst>
          </p:cNvPr>
          <p:cNvSpPr>
            <a:spLocks xmlns:a="http://schemas.openxmlformats.org/drawingml/2006/main" noGrp="1"/>
          </p:cNvSpPr>
          <p:nvPr/>
        </p:nvSpPr>
        <p:spPr>
          <a:xfrm xmlns:a="http://schemas.openxmlformats.org/drawingml/2006/main">
            <a:off x="9239250" y="50577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CBD3DB"/>
                </a:solidFill>
                <a:latin typeface="Helvetica Neue"/>
                <a:ea typeface="Helvetica Neue"/>
                <a:cs typeface="Helvetica Neue"/>
              </a:defRPr>
            </a:pPr>
            <a:r>
              <a:rPr sz="900" b="0">
                <a:solidFill>
                  <a:srgbClr val="CBD3DB"/>
                </a:solidFill>
                <a:latin typeface="Helvetica Neue"/>
                <a:ea typeface="Helvetica Neue"/>
                <a:cs typeface="Helvetica Neue"/>
              </a:rPr>
              <a:t>Attribution appears across all three retained frames. These maps are descriptive and do not yet subtract diverse-instruction controls.</a:t>
            </a:r>
          </a:p>
        </p:txBody>
      </p:sp>
      <p:sp>
        <p:nvSpPr>
          <p:cNvPr id="37" name="">
            <a:extLst xmlns:a="http://schemas.openxmlformats.org/drawingml/2006/main">
              <a:ext uri="{FF2B5EF4-FFF2-40B4-BE49-F238E27FC236}">
                <a16:creationId xmlns:a16="http://schemas.microsoft.com/office/drawing/2014/main" id="{A6393CB3-1B67-432D-90E2-670C0523CC7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01093FEA-9799-43C0-B496-368F7C53101B}"/>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Independent free generation · HoloDesktop 0.1.10 tools · normalized 0–1000 coordinates · native resolution</a:t>
            </a:r>
          </a:p>
        </p:txBody>
      </p:sp>
    </p:spTree>
    <p:extLst>
      <p:ext uri="{BB962C8B-B14F-4D97-AF65-F5344CB8AC3E}">
        <p14:creationId xmlns:p14="http://schemas.microsoft.com/office/powerpoint/2010/main" val="1631080882"/>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C1C0664E-AB1D-40BD-B271-2B34F17E39A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EXPERIMENT</a:t>
            </a:r>
          </a:p>
        </p:txBody>
      </p:sp>
      <p:sp>
        <p:nvSpPr>
          <p:cNvPr id="2" name="">
            <a:extLst xmlns:a="http://schemas.openxmlformats.org/drawingml/2006/main">
              <a:ext uri="{FF2B5EF4-FFF2-40B4-BE49-F238E27FC236}">
                <a16:creationId xmlns:a16="http://schemas.microsoft.com/office/drawing/2014/main" id="{C086043B-525C-4A2A-98F5-883FFC9B9955}"/>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Where visual evidence becomes a coordinate action</a:t>
            </a:r>
          </a:p>
        </p:txBody>
      </p:sp>
      <p:sp>
        <p:nvSpPr>
          <p:cNvPr id="3" name="">
            <a:extLst xmlns:a="http://schemas.openxmlformats.org/drawingml/2006/main">
              <a:ext uri="{FF2B5EF4-FFF2-40B4-BE49-F238E27FC236}">
                <a16:creationId xmlns:a16="http://schemas.microsoft.com/office/drawing/2014/main" id="{5165A5A8-BD29-4D40-87F7-4C00D0F6C258}"/>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FE44E5C5-DE49-442E-94AF-4EA0AD10F09F}"/>
              </a:ext>
            </a:extLst>
          </p:cNvPr>
          <p:cNvSpPr>
            <a:spLocks xmlns:a="http://schemas.openxmlformats.org/drawingml/2006/main" noGrp="1"/>
          </p:cNvSpPr>
          <p:nvPr/>
        </p:nvSpPr>
        <p:spPr>
          <a:xfrm xmlns:a="http://schemas.openxmlformats.org/drawingml/2006/main">
            <a:off x="609600" y="11239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hold the official request, native image, and teacher-forced coordinate strings fixed</a:t>
            </a:r>
          </a:p>
        </p:txBody>
      </p:sp>
      <p:sp>
        <p:nvSpPr>
          <p:cNvPr id="5" name="">
            <a:extLst xmlns:a="http://schemas.openxmlformats.org/drawingml/2006/main">
              <a:ext uri="{FF2B5EF4-FFF2-40B4-BE49-F238E27FC236}">
                <a16:creationId xmlns:a16="http://schemas.microsoft.com/office/drawing/2014/main" id="{3A2872C8-7A9E-439F-BF4B-E7F2DD5CED91}"/>
              </a:ext>
            </a:extLst>
          </p:cNvPr>
          <p:cNvSpPr>
            <a:spLocks xmlns:a="http://schemas.openxmlformats.org/drawingml/2006/main" noGrp="1"/>
          </p:cNvSpPr>
          <p:nvPr/>
        </p:nvSpPr>
        <p:spPr>
          <a:xfrm xmlns:a="http://schemas.openxmlformats.org/drawingml/2006/main">
            <a:off x="609600" y="1524000"/>
            <a:ext cx="8001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38D7E14-9491-4408-BF74-CF804BBD9E38}"/>
              </a:ext>
            </a:extLst>
          </p:cNvPr>
          <p:cNvSpPr>
            <a:spLocks xmlns:a="http://schemas.openxmlformats.org/drawingml/2006/main" noGrp="1"/>
          </p:cNvSpPr>
          <p:nvPr/>
        </p:nvSpPr>
        <p:spPr>
          <a:xfrm xmlns:a="http://schemas.openxmlformats.org/drawingml/2006/main">
            <a:off x="704850" y="15430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CLEAN</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febd93c15085444f"/>
          <a:srcRect xmlns:a="http://schemas.openxmlformats.org/drawingml/2006/main" l="16533" t="0" r="16533" b="0"/>
          <a:stretch xmlns:a="http://schemas.openxmlformats.org/drawingml/2006/main">
            <a:fillRect l="0" t="0" r="0" b="0"/>
          </a:stretch>
        </p:blipFill>
        <p:spPr>
          <a:xfrm xmlns:a="http://schemas.openxmlformats.org/drawingml/2006/main">
            <a:off x="609600" y="1885950"/>
            <a:ext cx="2381250" cy="1581150"/>
          </a:xfrm>
          <a:prstGeom xmlns:a="http://schemas.openxmlformats.org/drawingml/2006/main" prst="roundRect">
            <a:avLst>
              <a:gd name="adj" fmla="val 7229"/>
            </a:avLst>
          </a:prstGeom>
        </p:spPr>
      </p:pic>
      <p:sp>
        <p:nvSpPr>
          <p:cNvPr id="8" name="">
            <a:extLst xmlns:a="http://schemas.openxmlformats.org/drawingml/2006/main">
              <a:ext uri="{FF2B5EF4-FFF2-40B4-BE49-F238E27FC236}">
                <a16:creationId xmlns:a16="http://schemas.microsoft.com/office/drawing/2014/main" id="{0F1CC0DA-2192-4DB1-9D7D-BF2303C845F2}"/>
              </a:ext>
            </a:extLst>
          </p:cNvPr>
          <p:cNvSpPr>
            <a:spLocks xmlns:a="http://schemas.openxmlformats.org/drawingml/2006/main" noGrp="1"/>
          </p:cNvSpPr>
          <p:nvPr/>
        </p:nvSpPr>
        <p:spPr>
          <a:xfrm xmlns:a="http://schemas.openxmlformats.org/drawingml/2006/main">
            <a:off x="609600" y="188595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93216D96-DB73-45BA-A3F6-68F29D13B50C}"/>
              </a:ext>
            </a:extLst>
          </p:cNvPr>
          <p:cNvSpPr>
            <a:spLocks xmlns:a="http://schemas.openxmlformats.org/drawingml/2006/main" noGrp="1"/>
          </p:cNvSpPr>
          <p:nvPr/>
        </p:nvSpPr>
        <p:spPr>
          <a:xfrm xmlns:a="http://schemas.openxmlformats.org/drawingml/2006/main">
            <a:off x="609600" y="35623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Original tile positions</a:t>
            </a:r>
          </a:p>
        </p:txBody>
      </p:sp>
      <p:sp>
        <p:nvSpPr>
          <p:cNvPr id="10" name="">
            <a:extLst xmlns:a="http://schemas.openxmlformats.org/drawingml/2006/main">
              <a:ext uri="{FF2B5EF4-FFF2-40B4-BE49-F238E27FC236}">
                <a16:creationId xmlns:a16="http://schemas.microsoft.com/office/drawing/2014/main" id="{4B404CA5-AE7D-4B41-9486-6EB7AC6327F7}"/>
              </a:ext>
            </a:extLst>
          </p:cNvPr>
          <p:cNvSpPr>
            <a:spLocks xmlns:a="http://schemas.openxmlformats.org/drawingml/2006/main" noGrp="1"/>
          </p:cNvSpPr>
          <p:nvPr/>
        </p:nvSpPr>
        <p:spPr>
          <a:xfrm xmlns:a="http://schemas.openxmlformats.org/drawingml/2006/main">
            <a:off x="609600" y="4095750"/>
            <a:ext cx="11049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C3EA5AE-A448-49E5-90E3-9DC901244D87}"/>
              </a:ext>
            </a:extLst>
          </p:cNvPr>
          <p:cNvSpPr>
            <a:spLocks xmlns:a="http://schemas.openxmlformats.org/drawingml/2006/main" noGrp="1"/>
          </p:cNvSpPr>
          <p:nvPr/>
        </p:nvSpPr>
        <p:spPr>
          <a:xfrm xmlns:a="http://schemas.openxmlformats.org/drawingml/2006/main">
            <a:off x="704850" y="41148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CORRUPTED</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4ff80890be7e42ee"/>
          <a:srcRect xmlns:a="http://schemas.openxmlformats.org/drawingml/2006/main" l="16533" t="0" r="16533" b="0"/>
          <a:stretch xmlns:a="http://schemas.openxmlformats.org/drawingml/2006/main">
            <a:fillRect l="0" t="0" r="0" b="0"/>
          </a:stretch>
        </p:blipFill>
        <p:spPr>
          <a:xfrm xmlns:a="http://schemas.openxmlformats.org/drawingml/2006/main">
            <a:off x="609600" y="4457700"/>
            <a:ext cx="2381250" cy="1581150"/>
          </a:xfrm>
          <a:prstGeom xmlns:a="http://schemas.openxmlformats.org/drawingml/2006/main" prst="roundRect">
            <a:avLst>
              <a:gd name="adj" fmla="val 7229"/>
            </a:avLst>
          </a:prstGeom>
        </p:spPr>
      </p:pic>
      <p:sp>
        <p:nvSpPr>
          <p:cNvPr id="13" name="">
            <a:extLst xmlns:a="http://schemas.openxmlformats.org/drawingml/2006/main">
              <a:ext uri="{FF2B5EF4-FFF2-40B4-BE49-F238E27FC236}">
                <a16:creationId xmlns:a16="http://schemas.microsoft.com/office/drawing/2014/main" id="{04ADF2BC-D360-450B-97E9-71A09DCA904D}"/>
              </a:ext>
            </a:extLst>
          </p:cNvPr>
          <p:cNvSpPr>
            <a:spLocks xmlns:a="http://schemas.openxmlformats.org/drawingml/2006/main" noGrp="1"/>
          </p:cNvSpPr>
          <p:nvPr/>
        </p:nvSpPr>
        <p:spPr>
          <a:xfrm xmlns:a="http://schemas.openxmlformats.org/drawingml/2006/main">
            <a:off x="609600" y="445770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8B950211-3498-42A9-BDCF-68F5E24D93EB}"/>
              </a:ext>
            </a:extLst>
          </p:cNvPr>
          <p:cNvSpPr>
            <a:spLocks xmlns:a="http://schemas.openxmlformats.org/drawingml/2006/main" noGrp="1"/>
          </p:cNvSpPr>
          <p:nvPr/>
        </p:nvSpPr>
        <p:spPr>
          <a:xfrm xmlns:a="http://schemas.openxmlformats.org/drawingml/2006/main">
            <a:off x="609600" y="613410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Two equal-size tiles swap</a:t>
            </a:r>
          </a:p>
        </p:txBody>
      </p:sp>
      <p:sp>
        <p:nvSpPr>
          <p:cNvPr id="15" name="">
            <a:extLst xmlns:a="http://schemas.openxmlformats.org/drawingml/2006/main">
              <a:ext uri="{FF2B5EF4-FFF2-40B4-BE49-F238E27FC236}">
                <a16:creationId xmlns:a16="http://schemas.microsoft.com/office/drawing/2014/main" id="{42952272-A719-4E3A-8012-141E4B906E55}"/>
              </a:ext>
            </a:extLst>
          </p:cNvPr>
          <p:cNvSpPr>
            <a:spLocks xmlns:a="http://schemas.openxmlformats.org/drawingml/2006/main" noGrp="1"/>
          </p:cNvSpPr>
          <p:nvPr/>
        </p:nvSpPr>
        <p:spPr>
          <a:xfrm xmlns:a="http://schemas.openxmlformats.org/drawingml/2006/main">
            <a:off x="3276600" y="1524000"/>
            <a:ext cx="8305800" cy="4514850"/>
          </a:xfrm>
          <a:prstGeom xmlns:a="http://schemas.openxmlformats.org/drawingml/2006/main" prst="roundRect">
            <a:avLst>
              <a:gd name="adj" fmla="val 1688"/>
            </a:avLst>
          </a:prstGeom>
          <a:solidFill xmlns:a="http://schemas.openxmlformats.org/drawingml/2006/main">
            <a:srgbClr val="FFFFFF"/>
          </a:solidFill>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4BD78952-8C68-4579-811D-A41F9D6B063F}"/>
              </a:ext>
            </a:extLst>
          </p:cNvPr>
          <p:cNvSpPr>
            <a:spLocks xmlns:a="http://schemas.openxmlformats.org/drawingml/2006/main" noGrp="1"/>
          </p:cNvSpPr>
          <p:nvPr/>
        </p:nvSpPr>
        <p:spPr>
          <a:xfrm xmlns:a="http://schemas.openxmlformats.org/drawingml/2006/main">
            <a:off x="3543300" y="177165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TEACHER-FORCED ACTION SEQUENCE</a:t>
            </a:r>
          </a:p>
        </p:txBody>
      </p:sp>
      <p:sp>
        <p:nvSpPr>
          <p:cNvPr id="17" name="">
            <a:extLst xmlns:a="http://schemas.openxmlformats.org/drawingml/2006/main">
              <a:ext uri="{FF2B5EF4-FFF2-40B4-BE49-F238E27FC236}">
                <a16:creationId xmlns:a16="http://schemas.microsoft.com/office/drawing/2014/main" id="{6FF28155-7F97-4604-BF97-BC2A2AFACC55}"/>
              </a:ext>
            </a:extLst>
          </p:cNvPr>
          <p:cNvSpPr>
            <a:spLocks xmlns:a="http://schemas.openxmlformats.org/drawingml/2006/main" noGrp="1"/>
          </p:cNvSpPr>
          <p:nvPr/>
        </p:nvSpPr>
        <p:spPr>
          <a:xfrm xmlns:a="http://schemas.openxmlformats.org/drawingml/2006/main">
            <a:off x="3543300" y="2000250"/>
            <a:ext cx="695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Image evidence and instruction tokens precede the scored x-coordinate digits</a:t>
            </a:r>
          </a:p>
        </p:txBody>
      </p:sp>
      <p:sp>
        <p:nvSpPr>
          <p:cNvPr id="18" name="">
            <a:extLst xmlns:a="http://schemas.openxmlformats.org/drawingml/2006/main">
              <a:ext uri="{FF2B5EF4-FFF2-40B4-BE49-F238E27FC236}">
                <a16:creationId xmlns:a16="http://schemas.microsoft.com/office/drawing/2014/main" id="{55B45F08-9A66-4AB1-BB4F-A28AABFE4E8A}"/>
              </a:ext>
            </a:extLst>
          </p:cNvPr>
          <p:cNvSpPr>
            <a:spLocks xmlns:a="http://schemas.openxmlformats.org/drawingml/2006/main" noGrp="1"/>
          </p:cNvSpPr>
          <p:nvPr/>
        </p:nvSpPr>
        <p:spPr>
          <a:xfrm xmlns:a="http://schemas.openxmlformats.org/drawingml/2006/main">
            <a:off x="3543300" y="2457450"/>
            <a:ext cx="1428750" cy="781050"/>
          </a:xfrm>
          <a:prstGeom xmlns:a="http://schemas.openxmlformats.org/drawingml/2006/main" prst="roundRect">
            <a:avLst>
              <a:gd name="adj" fmla="val 9756"/>
            </a:avLst>
          </a:prstGeom>
          <a:solidFill xmlns:a="http://schemas.openxmlformats.org/drawingml/2006/main">
            <a:srgbClr val="DDECF9"/>
          </a:solidFill>
          <a:ln xmlns:a="http://schemas.openxmlformats.org/drawingml/2006/main" w="9525">
            <a:solidFill>
              <a:srgbClr val="2D84D3"/>
            </a:solidFill>
          </a:ln>
        </p:spPr>
      </p:sp>
      <p:sp>
        <p:nvSpPr>
          <p:cNvPr id="19" name="">
            <a:extLst xmlns:a="http://schemas.openxmlformats.org/drawingml/2006/main">
              <a:ext uri="{FF2B5EF4-FFF2-40B4-BE49-F238E27FC236}">
                <a16:creationId xmlns:a16="http://schemas.microsoft.com/office/drawing/2014/main" id="{7E567847-10BB-4940-B49B-70655135F8B7}"/>
              </a:ext>
            </a:extLst>
          </p:cNvPr>
          <p:cNvSpPr>
            <a:spLocks xmlns:a="http://schemas.openxmlformats.org/drawingml/2006/main" noGrp="1"/>
          </p:cNvSpPr>
          <p:nvPr/>
        </p:nvSpPr>
        <p:spPr>
          <a:xfrm xmlns:a="http://schemas.openxmlformats.org/drawingml/2006/main">
            <a:off x="36385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IMAGE</a:t>
            </a:r>
          </a:p>
        </p:txBody>
      </p:sp>
      <p:sp>
        <p:nvSpPr>
          <p:cNvPr id="20" name="">
            <a:extLst xmlns:a="http://schemas.openxmlformats.org/drawingml/2006/main">
              <a:ext uri="{FF2B5EF4-FFF2-40B4-BE49-F238E27FC236}">
                <a16:creationId xmlns:a16="http://schemas.microsoft.com/office/drawing/2014/main" id="{558FAF6C-7178-4558-AE0F-9FEC89FBF3DA}"/>
              </a:ext>
            </a:extLst>
          </p:cNvPr>
          <p:cNvSpPr>
            <a:spLocks xmlns:a="http://schemas.openxmlformats.org/drawingml/2006/main" noGrp="1"/>
          </p:cNvSpPr>
          <p:nvPr/>
        </p:nvSpPr>
        <p:spPr>
          <a:xfrm xmlns:a="http://schemas.openxmlformats.org/drawingml/2006/main">
            <a:off x="36385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patch residuals</a:t>
            </a:r>
          </a:p>
        </p:txBody>
      </p:sp>
      <p:sp>
        <p:nvSpPr>
          <p:cNvPr id="21" name="">
            <a:extLst xmlns:a="http://schemas.openxmlformats.org/drawingml/2006/main">
              <a:ext uri="{FF2B5EF4-FFF2-40B4-BE49-F238E27FC236}">
                <a16:creationId xmlns:a16="http://schemas.microsoft.com/office/drawing/2014/main" id="{A663AF07-C3D9-489F-80A2-A27CA77439FC}"/>
              </a:ext>
            </a:extLst>
          </p:cNvPr>
          <p:cNvSpPr>
            <a:spLocks xmlns:a="http://schemas.openxmlformats.org/drawingml/2006/main" noGrp="1"/>
          </p:cNvSpPr>
          <p:nvPr/>
        </p:nvSpPr>
        <p:spPr>
          <a:xfrm xmlns:a="http://schemas.openxmlformats.org/drawingml/2006/main">
            <a:off x="5105400" y="2457450"/>
            <a:ext cx="1619250" cy="781050"/>
          </a:xfrm>
          <a:prstGeom xmlns:a="http://schemas.openxmlformats.org/drawingml/2006/main" prst="roundRect">
            <a:avLst>
              <a:gd name="adj" fmla="val 975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D2A1EEE9-93F5-43E0-89AE-BF4177B37482}"/>
              </a:ext>
            </a:extLst>
          </p:cNvPr>
          <p:cNvSpPr>
            <a:spLocks xmlns:a="http://schemas.openxmlformats.org/drawingml/2006/main" noGrp="1"/>
          </p:cNvSpPr>
          <p:nvPr/>
        </p:nvSpPr>
        <p:spPr>
          <a:xfrm xmlns:a="http://schemas.openxmlformats.org/drawingml/2006/main">
            <a:off x="5200650" y="258127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C2733"/>
                </a:solidFill>
                <a:latin typeface="Helvetica Neue"/>
                <a:ea typeface="Helvetica Neue"/>
                <a:cs typeface="Helvetica Neue"/>
              </a:defRPr>
            </a:pPr>
            <a:r>
              <a:rPr sz="825" b="1">
                <a:solidFill>
                  <a:srgbClr val="1C2733"/>
                </a:solidFill>
                <a:latin typeface="Helvetica Neue"/>
                <a:ea typeface="Helvetica Neue"/>
                <a:cs typeface="Helvetica Neue"/>
              </a:rPr>
              <a:t>INSTRUCTION</a:t>
            </a:r>
          </a:p>
        </p:txBody>
      </p:sp>
      <p:sp>
        <p:nvSpPr>
          <p:cNvPr id="23" name="">
            <a:extLst xmlns:a="http://schemas.openxmlformats.org/drawingml/2006/main">
              <a:ext uri="{FF2B5EF4-FFF2-40B4-BE49-F238E27FC236}">
                <a16:creationId xmlns:a16="http://schemas.microsoft.com/office/drawing/2014/main" id="{5D65061F-1A18-445F-AD43-0214EED42B14}"/>
              </a:ext>
            </a:extLst>
          </p:cNvPr>
          <p:cNvSpPr>
            <a:spLocks xmlns:a="http://schemas.openxmlformats.org/drawingml/2006/main" noGrp="1"/>
          </p:cNvSpPr>
          <p:nvPr/>
        </p:nvSpPr>
        <p:spPr>
          <a:xfrm xmlns:a="http://schemas.openxmlformats.org/drawingml/2006/main">
            <a:off x="5200650" y="28384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target name</a:t>
            </a:r>
          </a:p>
        </p:txBody>
      </p:sp>
      <p:sp>
        <p:nvSpPr>
          <p:cNvPr id="24" name="">
            <a:extLst xmlns:a="http://schemas.openxmlformats.org/drawingml/2006/main">
              <a:ext uri="{FF2B5EF4-FFF2-40B4-BE49-F238E27FC236}">
                <a16:creationId xmlns:a16="http://schemas.microsoft.com/office/drawing/2014/main" id="{A5C598E8-E698-43BE-AE1C-213213758281}"/>
              </a:ext>
            </a:extLst>
          </p:cNvPr>
          <p:cNvSpPr>
            <a:spLocks xmlns:a="http://schemas.openxmlformats.org/drawingml/2006/main" noGrp="1"/>
          </p:cNvSpPr>
          <p:nvPr/>
        </p:nvSpPr>
        <p:spPr>
          <a:xfrm xmlns:a="http://schemas.openxmlformats.org/drawingml/2006/main">
            <a:off x="6858000" y="2457450"/>
            <a:ext cx="8572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5" name="">
            <a:extLst xmlns:a="http://schemas.openxmlformats.org/drawingml/2006/main">
              <a:ext uri="{FF2B5EF4-FFF2-40B4-BE49-F238E27FC236}">
                <a16:creationId xmlns:a16="http://schemas.microsoft.com/office/drawing/2014/main" id="{1C892F7C-C092-4AF7-A26D-1B230ABFBF88}"/>
              </a:ext>
            </a:extLst>
          </p:cNvPr>
          <p:cNvSpPr>
            <a:spLocks xmlns:a="http://schemas.openxmlformats.org/drawingml/2006/main" noGrp="1"/>
          </p:cNvSpPr>
          <p:nvPr/>
        </p:nvSpPr>
        <p:spPr>
          <a:xfrm xmlns:a="http://schemas.openxmlformats.org/drawingml/2006/main">
            <a:off x="6953250" y="258127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JSON</a:t>
            </a:r>
          </a:p>
        </p:txBody>
      </p:sp>
      <p:sp>
        <p:nvSpPr>
          <p:cNvPr id="26" name="">
            <a:extLst xmlns:a="http://schemas.openxmlformats.org/drawingml/2006/main">
              <a:ext uri="{FF2B5EF4-FFF2-40B4-BE49-F238E27FC236}">
                <a16:creationId xmlns:a16="http://schemas.microsoft.com/office/drawing/2014/main" id="{E278506C-025C-471E-AB5A-8D93D781A66A}"/>
              </a:ext>
            </a:extLst>
          </p:cNvPr>
          <p:cNvSpPr>
            <a:spLocks xmlns:a="http://schemas.openxmlformats.org/drawingml/2006/main" noGrp="1"/>
          </p:cNvSpPr>
          <p:nvPr/>
        </p:nvSpPr>
        <p:spPr>
          <a:xfrm xmlns:a="http://schemas.openxmlformats.org/drawingml/2006/main">
            <a:off x="6953250" y="28384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 x:</a:t>
            </a:r>
          </a:p>
        </p:txBody>
      </p:sp>
      <p:sp>
        <p:nvSpPr>
          <p:cNvPr id="27" name="">
            <a:extLst xmlns:a="http://schemas.openxmlformats.org/drawingml/2006/main">
              <a:ext uri="{FF2B5EF4-FFF2-40B4-BE49-F238E27FC236}">
                <a16:creationId xmlns:a16="http://schemas.microsoft.com/office/drawing/2014/main" id="{78B48831-2281-42E0-82B6-F0BDCA94DB55}"/>
              </a:ext>
            </a:extLst>
          </p:cNvPr>
          <p:cNvSpPr>
            <a:spLocks xmlns:a="http://schemas.openxmlformats.org/drawingml/2006/main" noGrp="1"/>
          </p:cNvSpPr>
          <p:nvPr/>
        </p:nvSpPr>
        <p:spPr>
          <a:xfrm xmlns:a="http://schemas.openxmlformats.org/drawingml/2006/main">
            <a:off x="7848600" y="2457450"/>
            <a:ext cx="14287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8" name="">
            <a:extLst xmlns:a="http://schemas.openxmlformats.org/drawingml/2006/main">
              <a:ext uri="{FF2B5EF4-FFF2-40B4-BE49-F238E27FC236}">
                <a16:creationId xmlns:a16="http://schemas.microsoft.com/office/drawing/2014/main" id="{50F169A6-D02F-4A61-9779-36B5C802E764}"/>
              </a:ext>
            </a:extLst>
          </p:cNvPr>
          <p:cNvSpPr>
            <a:spLocks xmlns:a="http://schemas.openxmlformats.org/drawingml/2006/main" noGrp="1"/>
          </p:cNvSpPr>
          <p:nvPr/>
        </p:nvSpPr>
        <p:spPr>
          <a:xfrm xmlns:a="http://schemas.openxmlformats.org/drawingml/2006/main">
            <a:off x="79438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X DIGITS</a:t>
            </a:r>
          </a:p>
        </p:txBody>
      </p:sp>
      <p:sp>
        <p:nvSpPr>
          <p:cNvPr id="29" name="">
            <a:extLst xmlns:a="http://schemas.openxmlformats.org/drawingml/2006/main">
              <a:ext uri="{FF2B5EF4-FFF2-40B4-BE49-F238E27FC236}">
                <a16:creationId xmlns:a16="http://schemas.microsoft.com/office/drawing/2014/main" id="{25E4C164-3196-4E19-8051-9257D3D4C595}"/>
              </a:ext>
            </a:extLst>
          </p:cNvPr>
          <p:cNvSpPr>
            <a:spLocks xmlns:a="http://schemas.openxmlformats.org/drawingml/2006/main" noGrp="1"/>
          </p:cNvSpPr>
          <p:nvPr/>
        </p:nvSpPr>
        <p:spPr>
          <a:xfrm xmlns:a="http://schemas.openxmlformats.org/drawingml/2006/main">
            <a:off x="79438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scored action</a:t>
            </a:r>
          </a:p>
        </p:txBody>
      </p:sp>
      <p:sp>
        <p:nvSpPr>
          <p:cNvPr id="30" name="">
            <a:extLst xmlns:a="http://schemas.openxmlformats.org/drawingml/2006/main">
              <a:ext uri="{FF2B5EF4-FFF2-40B4-BE49-F238E27FC236}">
                <a16:creationId xmlns:a16="http://schemas.microsoft.com/office/drawing/2014/main" id="{60D8F8A5-44D0-4F0F-82EB-F6C550A426A0}"/>
              </a:ext>
            </a:extLst>
          </p:cNvPr>
          <p:cNvSpPr>
            <a:spLocks xmlns:a="http://schemas.openxmlformats.org/drawingml/2006/main" noGrp="1"/>
          </p:cNvSpPr>
          <p:nvPr/>
        </p:nvSpPr>
        <p:spPr>
          <a:xfrm xmlns:a="http://schemas.openxmlformats.org/drawingml/2006/main">
            <a:off x="9410700" y="2457450"/>
            <a:ext cx="1333500" cy="781050"/>
          </a:xfrm>
          <a:prstGeom xmlns:a="http://schemas.openxmlformats.org/drawingml/2006/main" prst="roundRect">
            <a:avLst>
              <a:gd name="adj" fmla="val 9756"/>
            </a:avLst>
          </a:prstGeom>
          <a:solidFill xmlns:a="http://schemas.openxmlformats.org/drawingml/2006/main">
            <a:srgbClr val="DDEFE7"/>
          </a:solidFill>
          <a:ln xmlns:a="http://schemas.openxmlformats.org/drawingml/2006/main" w="9525">
            <a:solidFill>
              <a:srgbClr val="18A875"/>
            </a:solidFill>
          </a:ln>
        </p:spPr>
      </p:sp>
      <p:sp>
        <p:nvSpPr>
          <p:cNvPr id="31" name="">
            <a:extLst xmlns:a="http://schemas.openxmlformats.org/drawingml/2006/main">
              <a:ext uri="{FF2B5EF4-FFF2-40B4-BE49-F238E27FC236}">
                <a16:creationId xmlns:a16="http://schemas.microsoft.com/office/drawing/2014/main" id="{51D2BE6E-7B84-4261-A0AB-FBE16D2C1848}"/>
              </a:ext>
            </a:extLst>
          </p:cNvPr>
          <p:cNvSpPr>
            <a:spLocks xmlns:a="http://schemas.openxmlformats.org/drawingml/2006/main" noGrp="1"/>
          </p:cNvSpPr>
          <p:nvPr/>
        </p:nvSpPr>
        <p:spPr>
          <a:xfrm xmlns:a="http://schemas.openxmlformats.org/drawingml/2006/main">
            <a:off x="9505950" y="25812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Y DIGITS</a:t>
            </a:r>
          </a:p>
        </p:txBody>
      </p:sp>
      <p:sp>
        <p:nvSpPr>
          <p:cNvPr id="32" name="">
            <a:extLst xmlns:a="http://schemas.openxmlformats.org/drawingml/2006/main">
              <a:ext uri="{FF2B5EF4-FFF2-40B4-BE49-F238E27FC236}">
                <a16:creationId xmlns:a16="http://schemas.microsoft.com/office/drawing/2014/main" id="{9DB36157-2EE4-4C61-9F92-63F2C8650604}"/>
              </a:ext>
            </a:extLst>
          </p:cNvPr>
          <p:cNvSpPr>
            <a:spLocks xmlns:a="http://schemas.openxmlformats.org/drawingml/2006/main" noGrp="1"/>
          </p:cNvSpPr>
          <p:nvPr/>
        </p:nvSpPr>
        <p:spPr>
          <a:xfrm xmlns:a="http://schemas.openxmlformats.org/drawingml/2006/main">
            <a:off x="9505950" y="28384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held matched</a:t>
            </a:r>
          </a:p>
        </p:txBody>
      </p:sp>
      <p:sp>
        <p:nvSpPr>
          <p:cNvPr id="33" name="">
            <a:extLst xmlns:a="http://schemas.openxmlformats.org/drawingml/2006/main">
              <a:ext uri="{FF2B5EF4-FFF2-40B4-BE49-F238E27FC236}">
                <a16:creationId xmlns:a16="http://schemas.microsoft.com/office/drawing/2014/main" id="{06560ECD-738E-4B6F-A724-DCC1B215DEF8}"/>
              </a:ext>
            </a:extLst>
          </p:cNvPr>
          <p:cNvSpPr>
            <a:spLocks xmlns:a="http://schemas.openxmlformats.org/drawingml/2006/main" noGrp="1"/>
          </p:cNvSpPr>
          <p:nvPr/>
        </p:nvSpPr>
        <p:spPr>
          <a:xfrm xmlns:a="http://schemas.openxmlformats.org/drawingml/2006/main">
            <a:off x="3543300" y="361950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Replace one internal state in the corrupted run with its clean-run counterpart</a:t>
            </a:r>
          </a:p>
        </p:txBody>
      </p:sp>
      <p:sp>
        <p:nvSpPr>
          <p:cNvPr id="34" name="">
            <a:extLst xmlns:a="http://schemas.openxmlformats.org/drawingml/2006/main">
              <a:ext uri="{FF2B5EF4-FFF2-40B4-BE49-F238E27FC236}">
                <a16:creationId xmlns:a16="http://schemas.microsoft.com/office/drawing/2014/main" id="{77B0E077-2F38-4875-B6B3-A23067C2CE11}"/>
              </a:ext>
            </a:extLst>
          </p:cNvPr>
          <p:cNvSpPr>
            <a:spLocks xmlns:a="http://schemas.openxmlformats.org/drawingml/2006/main" noGrp="1"/>
          </p:cNvSpPr>
          <p:nvPr/>
        </p:nvSpPr>
        <p:spPr>
          <a:xfrm xmlns:a="http://schemas.openxmlformats.org/drawingml/2006/main">
            <a:off x="3543300" y="4019550"/>
            <a:ext cx="3295650" cy="1466850"/>
          </a:xfrm>
          <a:prstGeom xmlns:a="http://schemas.openxmlformats.org/drawingml/2006/main" prst="roundRect">
            <a:avLst>
              <a:gd name="adj" fmla="val 5195"/>
            </a:avLst>
          </a:prstGeom>
          <a:solidFill xmlns:a="http://schemas.openxmlformats.org/drawingml/2006/main">
            <a:srgbClr val="DDECF9"/>
          </a:solidFill>
          <a:ln xmlns:a="http://schemas.openxmlformats.org/drawingml/2006/main" w="9525">
            <a:solidFill>
              <a:srgbClr val="2D84D3"/>
            </a:solidFill>
          </a:ln>
        </p:spPr>
      </p:sp>
      <p:sp>
        <p:nvSpPr>
          <p:cNvPr id="35" name="">
            <a:extLst xmlns:a="http://schemas.openxmlformats.org/drawingml/2006/main">
              <a:ext uri="{FF2B5EF4-FFF2-40B4-BE49-F238E27FC236}">
                <a16:creationId xmlns:a16="http://schemas.microsoft.com/office/drawing/2014/main" id="{14DB647E-968D-4298-AEAD-719F0459643C}"/>
              </a:ext>
            </a:extLst>
          </p:cNvPr>
          <p:cNvSpPr>
            <a:spLocks xmlns:a="http://schemas.openxmlformats.org/drawingml/2006/main" noGrp="1"/>
          </p:cNvSpPr>
          <p:nvPr/>
        </p:nvSpPr>
        <p:spPr>
          <a:xfrm xmlns:a="http://schemas.openxmlformats.org/drawingml/2006/main">
            <a:off x="3733800" y="4210050"/>
            <a:ext cx="1600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57A0DD1E-8F3C-4586-A54C-288AA7544A36}"/>
              </a:ext>
            </a:extLst>
          </p:cNvPr>
          <p:cNvSpPr>
            <a:spLocks xmlns:a="http://schemas.openxmlformats.org/drawingml/2006/main" noGrp="1"/>
          </p:cNvSpPr>
          <p:nvPr/>
        </p:nvSpPr>
        <p:spPr>
          <a:xfrm xmlns:a="http://schemas.openxmlformats.org/drawingml/2006/main">
            <a:off x="3829050" y="4229100"/>
            <a:ext cx="1409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 · VISUAL REGION</a:t>
            </a:r>
          </a:p>
        </p:txBody>
      </p:sp>
      <p:sp>
        <p:nvSpPr>
          <p:cNvPr id="37" name="">
            <a:extLst xmlns:a="http://schemas.openxmlformats.org/drawingml/2006/main">
              <a:ext uri="{FF2B5EF4-FFF2-40B4-BE49-F238E27FC236}">
                <a16:creationId xmlns:a16="http://schemas.microsoft.com/office/drawing/2014/main" id="{506B29A4-7203-401E-8384-E07FFA1EF563}"/>
              </a:ext>
            </a:extLst>
          </p:cNvPr>
          <p:cNvSpPr>
            <a:spLocks xmlns:a="http://schemas.openxmlformats.org/drawingml/2006/main" noGrp="1"/>
          </p:cNvSpPr>
          <p:nvPr/>
        </p:nvSpPr>
        <p:spPr>
          <a:xfrm xmlns:a="http://schemas.openxmlformats.org/drawingml/2006/main">
            <a:off x="3733800" y="4629150"/>
            <a:ext cx="2895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target or distractor image-region residuals to test whether localized visual evidence restores the coordinate preference.</a:t>
            </a:r>
          </a:p>
        </p:txBody>
      </p:sp>
      <p:sp>
        <p:nvSpPr>
          <p:cNvPr id="38" name="">
            <a:extLst xmlns:a="http://schemas.openxmlformats.org/drawingml/2006/main">
              <a:ext uri="{FF2B5EF4-FFF2-40B4-BE49-F238E27FC236}">
                <a16:creationId xmlns:a16="http://schemas.microsoft.com/office/drawing/2014/main" id="{63ED7CDD-D886-4A4D-8EBF-8BB832CA3D61}"/>
              </a:ext>
            </a:extLst>
          </p:cNvPr>
          <p:cNvSpPr>
            <a:spLocks xmlns:a="http://schemas.openxmlformats.org/drawingml/2006/main" noGrp="1"/>
          </p:cNvSpPr>
          <p:nvPr/>
        </p:nvSpPr>
        <p:spPr>
          <a:xfrm xmlns:a="http://schemas.openxmlformats.org/drawingml/2006/main">
            <a:off x="7105650" y="4019550"/>
            <a:ext cx="3943350" cy="1466850"/>
          </a:xfrm>
          <a:prstGeom xmlns:a="http://schemas.openxmlformats.org/drawingml/2006/main" prst="roundRect">
            <a:avLst>
              <a:gd name="adj" fmla="val 5195"/>
            </a:avLst>
          </a:prstGeom>
          <a:solidFill xmlns:a="http://schemas.openxmlformats.org/drawingml/2006/main">
            <a:srgbClr val="FCE2D9"/>
          </a:solidFill>
          <a:ln xmlns:a="http://schemas.openxmlformats.org/drawingml/2006/main" w="9525">
            <a:solidFill>
              <a:srgbClr val="F05A3C"/>
            </a:solidFill>
          </a:ln>
        </p:spPr>
      </p:sp>
      <p:sp>
        <p:nvSpPr>
          <p:cNvPr id="39" name="">
            <a:extLst xmlns:a="http://schemas.openxmlformats.org/drawingml/2006/main">
              <a:ext uri="{FF2B5EF4-FFF2-40B4-BE49-F238E27FC236}">
                <a16:creationId xmlns:a16="http://schemas.microsoft.com/office/drawing/2014/main" id="{71B34C25-9167-41D6-B9DB-509CDD1AC46B}"/>
              </a:ext>
            </a:extLst>
          </p:cNvPr>
          <p:cNvSpPr>
            <a:spLocks xmlns:a="http://schemas.openxmlformats.org/drawingml/2006/main" noGrp="1"/>
          </p:cNvSpPr>
          <p:nvPr/>
        </p:nvSpPr>
        <p:spPr>
          <a:xfrm xmlns:a="http://schemas.openxmlformats.org/drawingml/2006/main">
            <a:off x="7296150" y="4210050"/>
            <a:ext cx="18478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63D8DF54-C5F1-4048-9EC0-2D304BC033B2}"/>
              </a:ext>
            </a:extLst>
          </p:cNvPr>
          <p:cNvSpPr>
            <a:spLocks xmlns:a="http://schemas.openxmlformats.org/drawingml/2006/main" noGrp="1"/>
          </p:cNvSpPr>
          <p:nvPr/>
        </p:nvSpPr>
        <p:spPr>
          <a:xfrm xmlns:a="http://schemas.openxmlformats.org/drawingml/2006/main">
            <a:off x="7391400" y="4229100"/>
            <a:ext cx="1657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 · COORDINATE STATE</a:t>
            </a:r>
          </a:p>
        </p:txBody>
      </p:sp>
      <p:sp>
        <p:nvSpPr>
          <p:cNvPr id="41" name="">
            <a:extLst xmlns:a="http://schemas.openxmlformats.org/drawingml/2006/main">
              <a:ext uri="{FF2B5EF4-FFF2-40B4-BE49-F238E27FC236}">
                <a16:creationId xmlns:a16="http://schemas.microsoft.com/office/drawing/2014/main" id="{02F6F038-BFFC-45D6-9773-D23F0D7B14CB}"/>
              </a:ext>
            </a:extLst>
          </p:cNvPr>
          <p:cNvSpPr>
            <a:spLocks xmlns:a="http://schemas.openxmlformats.org/drawingml/2006/main" noGrp="1"/>
          </p:cNvSpPr>
          <p:nvPr/>
        </p:nvSpPr>
        <p:spPr>
          <a:xfrm xmlns:a="http://schemas.openxmlformats.org/drawingml/2006/main">
            <a:off x="7296150" y="4629150"/>
            <a:ext cx="3524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coordinate-token residuals across layers. Then test the selected Layer 15 state and each attention head at x-token positions.</a:t>
            </a:r>
          </a:p>
        </p:txBody>
      </p:sp>
      <p:sp>
        <p:nvSpPr>
          <p:cNvPr id="42" name="">
            <a:extLst xmlns:a="http://schemas.openxmlformats.org/drawingml/2006/main">
              <a:ext uri="{FF2B5EF4-FFF2-40B4-BE49-F238E27FC236}">
                <a16:creationId xmlns:a16="http://schemas.microsoft.com/office/drawing/2014/main" id="{29953F6B-9EDF-4E70-A499-7696F55A829E}"/>
              </a:ext>
            </a:extLst>
          </p:cNvPr>
          <p:cNvSpPr>
            <a:spLocks xmlns:a="http://schemas.openxmlformats.org/drawingml/2006/main" noGrp="1"/>
          </p:cNvSpPr>
          <p:nvPr/>
        </p:nvSpPr>
        <p:spPr>
          <a:xfrm xmlns:a="http://schemas.openxmlformats.org/drawingml/2006/main">
            <a:off x="3543300" y="5657850"/>
            <a:ext cx="7505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C2733"/>
                </a:solidFill>
                <a:latin typeface="Helvetica Neue"/>
                <a:ea typeface="Helvetica Neue"/>
                <a:cs typeface="Helvetica Neue"/>
              </a:defRPr>
            </a:pPr>
            <a:r>
              <a:rPr sz="1200" b="1">
                <a:solidFill>
                  <a:srgbClr val="1C2733"/>
                </a:solidFill>
                <a:latin typeface="Helvetica Neue"/>
                <a:ea typeface="Helvetica Neue"/>
                <a:cs typeface="Helvetica Neue"/>
              </a:rPr>
              <a:t>Metric: log p(target x digits) − log p(distractor x digits)</a:t>
            </a:r>
          </a:p>
        </p:txBody>
      </p:sp>
      <p:sp>
        <p:nvSpPr>
          <p:cNvPr id="43" name="">
            <a:extLst xmlns:a="http://schemas.openxmlformats.org/drawingml/2006/main">
              <a:ext uri="{FF2B5EF4-FFF2-40B4-BE49-F238E27FC236}">
                <a16:creationId xmlns:a16="http://schemas.microsoft.com/office/drawing/2014/main" id="{FFD19163-73FC-4F48-BFB5-DB96AEA919A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7C4C077B-F9F8-4B23-ABB1-3F52CC3A04B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Four equal-tile pairs × two mirrored instructions · native 2880×1800 · official VisualLocalizerOutput contract</a:t>
            </a:r>
          </a:p>
        </p:txBody>
      </p:sp>
    </p:spTree>
    <p:extLst>
      <p:ext uri="{BB962C8B-B14F-4D97-AF65-F5344CB8AC3E}">
        <p14:creationId xmlns:p14="http://schemas.microsoft.com/office/powerpoint/2010/main" val="1683197743"/>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5B1E23F-B906-480A-B2C2-6ED5AD072BB5}"/>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RESULT · LAYER 15</a:t>
            </a:r>
          </a:p>
        </p:txBody>
      </p:sp>
      <p:sp>
        <p:nvSpPr>
          <p:cNvPr id="2" name="">
            <a:extLst xmlns:a="http://schemas.openxmlformats.org/drawingml/2006/main">
              <a:ext uri="{FF2B5EF4-FFF2-40B4-BE49-F238E27FC236}">
                <a16:creationId xmlns:a16="http://schemas.microsoft.com/office/drawing/2014/main" id="{A90AFCA1-3503-415A-9C9B-DE5E6FFEFA8D}"/>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Fine-tuning doubles recovery of the coordinate state</a:t>
            </a:r>
          </a:p>
        </p:txBody>
      </p:sp>
      <p:sp>
        <p:nvSpPr>
          <p:cNvPr id="3" name="">
            <a:extLst xmlns:a="http://schemas.openxmlformats.org/drawingml/2006/main">
              <a:ext uri="{FF2B5EF4-FFF2-40B4-BE49-F238E27FC236}">
                <a16:creationId xmlns:a16="http://schemas.microsoft.com/office/drawing/2014/main" id="{1FA4B81B-1B48-4B24-A746-664FCC9DB60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58252F1F-5DA5-4056-983D-43E29B2E5AC8}"/>
              </a:ext>
            </a:extLst>
          </p:cNvPr>
          <p:cNvSpPr>
            <a:spLocks xmlns:a="http://schemas.openxmlformats.org/drawingml/2006/main" noGrp="1"/>
          </p:cNvSpPr>
          <p:nvPr/>
        </p:nvSpPr>
        <p:spPr>
          <a:xfrm xmlns:a="http://schemas.openxmlformats.org/drawingml/2006/main">
            <a:off x="609600" y="11239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 x-coordinate teacher forcing · same processor, prompt, image bytes, and candidate syntax</a:t>
            </a:r>
          </a:p>
        </p:txBody>
      </p:sp>
      <p:sp>
        <p:nvSpPr>
          <p:cNvPr id="5" name="">
            <a:extLst xmlns:a="http://schemas.openxmlformats.org/drawingml/2006/main">
              <a:ext uri="{FF2B5EF4-FFF2-40B4-BE49-F238E27FC236}">
                <a16:creationId xmlns:a16="http://schemas.microsoft.com/office/drawing/2014/main" id="{647A98B4-E714-480A-955B-9745D692107B}"/>
              </a:ext>
            </a:extLst>
          </p:cNvPr>
          <p:cNvSpPr>
            <a:spLocks xmlns:a="http://schemas.openxmlformats.org/drawingml/2006/main" noGrp="1"/>
          </p:cNvSpPr>
          <p:nvPr/>
        </p:nvSpPr>
        <p:spPr>
          <a:xfrm xmlns:a="http://schemas.openxmlformats.org/drawingml/2006/main">
            <a:off x="609600" y="1524000"/>
            <a:ext cx="5238750" cy="1581150"/>
          </a:xfrm>
          <a:prstGeom xmlns:a="http://schemas.openxmlformats.org/drawingml/2006/main" prst="roundRect">
            <a:avLst>
              <a:gd name="adj" fmla="val 4819"/>
            </a:avLst>
          </a:prstGeom>
          <a:solidFill xmlns:a="http://schemas.openxmlformats.org/drawingml/2006/main">
            <a:srgbClr val="DDEFE7"/>
          </a:solidFill>
          <a:ln xmlns:a="http://schemas.openxmlformats.org/drawingml/2006/main" w="9525">
            <a:solidFill>
              <a:srgbClr val="18A875"/>
            </a:solidFill>
          </a:ln>
        </p:spPr>
      </p:sp>
      <p:sp>
        <p:nvSpPr>
          <p:cNvPr id="6" name="">
            <a:extLst xmlns:a="http://schemas.openxmlformats.org/drawingml/2006/main">
              <a:ext uri="{FF2B5EF4-FFF2-40B4-BE49-F238E27FC236}">
                <a16:creationId xmlns:a16="http://schemas.microsoft.com/office/drawing/2014/main" id="{47DC2810-0973-4072-9D2D-4DD1F72678F4}"/>
              </a:ext>
            </a:extLst>
          </p:cNvPr>
          <p:cNvSpPr>
            <a:spLocks xmlns:a="http://schemas.openxmlformats.org/drawingml/2006/main" noGrp="1"/>
          </p:cNvSpPr>
          <p:nvPr/>
        </p:nvSpPr>
        <p:spPr>
          <a:xfrm xmlns:a="http://schemas.openxmlformats.org/drawingml/2006/main">
            <a:off x="819150" y="17526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PATCH CLEAN STATE INTO THE CORRUPTED RUN</a:t>
            </a:r>
          </a:p>
        </p:txBody>
      </p:sp>
      <p:sp>
        <p:nvSpPr>
          <p:cNvPr id="7" name="">
            <a:extLst xmlns:a="http://schemas.openxmlformats.org/drawingml/2006/main">
              <a:ext uri="{FF2B5EF4-FFF2-40B4-BE49-F238E27FC236}">
                <a16:creationId xmlns:a16="http://schemas.microsoft.com/office/drawing/2014/main" id="{711400F3-67F5-431E-8E5F-03B87F33B158}"/>
              </a:ext>
            </a:extLst>
          </p:cNvPr>
          <p:cNvSpPr>
            <a:spLocks xmlns:a="http://schemas.openxmlformats.org/drawingml/2006/main" noGrp="1"/>
          </p:cNvSpPr>
          <p:nvPr/>
        </p:nvSpPr>
        <p:spPr>
          <a:xfrm xmlns:a="http://schemas.openxmlformats.org/drawingml/2006/main">
            <a:off x="819150" y="21145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8A875"/>
                </a:solidFill>
                <a:latin typeface="Helvetica Neue"/>
                <a:ea typeface="Helvetica Neue"/>
                <a:cs typeface="Helvetica Neue"/>
              </a:defRPr>
            </a:pPr>
            <a:r>
              <a:rPr sz="1875" b="1">
                <a:solidFill>
                  <a:srgbClr val="18A875"/>
                </a:solidFill>
                <a:latin typeface="Helvetica Neue"/>
                <a:ea typeface="Helvetica Neue"/>
                <a:cs typeface="Helvetica Neue"/>
              </a:rPr>
              <a:t>Holo  +1.01 nats</a:t>
            </a:r>
          </a:p>
        </p:txBody>
      </p:sp>
      <p:sp>
        <p:nvSpPr>
          <p:cNvPr id="8" name="">
            <a:extLst xmlns:a="http://schemas.openxmlformats.org/drawingml/2006/main">
              <a:ext uri="{FF2B5EF4-FFF2-40B4-BE49-F238E27FC236}">
                <a16:creationId xmlns:a16="http://schemas.microsoft.com/office/drawing/2014/main" id="{7F535E3E-5F47-4CDD-8320-E27D7982BE96}"/>
              </a:ext>
            </a:extLst>
          </p:cNvPr>
          <p:cNvSpPr>
            <a:spLocks xmlns:a="http://schemas.openxmlformats.org/drawingml/2006/main" noGrp="1"/>
          </p:cNvSpPr>
          <p:nvPr/>
        </p:nvSpPr>
        <p:spPr>
          <a:xfrm xmlns:a="http://schemas.openxmlformats.org/drawingml/2006/main">
            <a:off x="3162300" y="21145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C2733"/>
                </a:solidFill>
                <a:latin typeface="Helvetica Neue"/>
                <a:ea typeface="Helvetica Neue"/>
                <a:cs typeface="Helvetica Neue"/>
              </a:defRPr>
            </a:pPr>
            <a:r>
              <a:rPr sz="1875" b="1">
                <a:solidFill>
                  <a:srgbClr val="1C2733"/>
                </a:solidFill>
                <a:latin typeface="Helvetica Neue"/>
                <a:ea typeface="Helvetica Neue"/>
                <a:cs typeface="Helvetica Neue"/>
              </a:rPr>
              <a:t>Qwen  +0.10 nats</a:t>
            </a:r>
          </a:p>
        </p:txBody>
      </p:sp>
      <p:sp>
        <p:nvSpPr>
          <p:cNvPr id="9" name="">
            <a:extLst xmlns:a="http://schemas.openxmlformats.org/drawingml/2006/main">
              <a:ext uri="{FF2B5EF4-FFF2-40B4-BE49-F238E27FC236}">
                <a16:creationId xmlns:a16="http://schemas.microsoft.com/office/drawing/2014/main" id="{5D169F30-1CF8-40B5-B1D3-DB04F51A7264}"/>
              </a:ext>
            </a:extLst>
          </p:cNvPr>
          <p:cNvSpPr>
            <a:spLocks xmlns:a="http://schemas.openxmlformats.org/drawingml/2006/main" noGrp="1"/>
          </p:cNvSpPr>
          <p:nvPr/>
        </p:nvSpPr>
        <p:spPr>
          <a:xfrm xmlns:a="http://schemas.openxmlformats.org/drawingml/2006/main">
            <a:off x="819150" y="25908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Positive restoration: Holo 7/8 · Qwen 5/8 prompts</a:t>
            </a:r>
          </a:p>
        </p:txBody>
      </p:sp>
      <p:sp>
        <p:nvSpPr>
          <p:cNvPr id="10" name="">
            <a:extLst xmlns:a="http://schemas.openxmlformats.org/drawingml/2006/main">
              <a:ext uri="{FF2B5EF4-FFF2-40B4-BE49-F238E27FC236}">
                <a16:creationId xmlns:a16="http://schemas.microsoft.com/office/drawing/2014/main" id="{559E08A9-0B83-4167-9D88-B6D2112C65DB}"/>
              </a:ext>
            </a:extLst>
          </p:cNvPr>
          <p:cNvSpPr>
            <a:spLocks xmlns:a="http://schemas.openxmlformats.org/drawingml/2006/main" noGrp="1"/>
          </p:cNvSpPr>
          <p:nvPr/>
        </p:nvSpPr>
        <p:spPr>
          <a:xfrm xmlns:a="http://schemas.openxmlformats.org/drawingml/2006/main">
            <a:off x="6076950" y="1524000"/>
            <a:ext cx="550545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889FEA90-7F2D-49AF-B0C9-49F9F8A71F91}"/>
              </a:ext>
            </a:extLst>
          </p:cNvPr>
          <p:cNvSpPr>
            <a:spLocks xmlns:a="http://schemas.openxmlformats.org/drawingml/2006/main" noGrp="1"/>
          </p:cNvSpPr>
          <p:nvPr/>
        </p:nvSpPr>
        <p:spPr>
          <a:xfrm xmlns:a="http://schemas.openxmlformats.org/drawingml/2006/main">
            <a:off x="6286500" y="1752600"/>
            <a:ext cx="457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PAIRED HOLO − QWEN EFFECT</a:t>
            </a:r>
          </a:p>
        </p:txBody>
      </p:sp>
      <p:sp>
        <p:nvSpPr>
          <p:cNvPr id="12" name="">
            <a:extLst xmlns:a="http://schemas.openxmlformats.org/drawingml/2006/main">
              <a:ext uri="{FF2B5EF4-FFF2-40B4-BE49-F238E27FC236}">
                <a16:creationId xmlns:a16="http://schemas.microsoft.com/office/drawing/2014/main" id="{25AA2FCD-88C1-47A1-A726-1888CD6EF46D}"/>
              </a:ext>
            </a:extLst>
          </p:cNvPr>
          <p:cNvSpPr>
            <a:spLocks xmlns:a="http://schemas.openxmlformats.org/drawingml/2006/main" noGrp="1"/>
          </p:cNvSpPr>
          <p:nvPr/>
        </p:nvSpPr>
        <p:spPr>
          <a:xfrm xmlns:a="http://schemas.openxmlformats.org/drawingml/2006/main">
            <a:off x="6286500" y="205740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2D84D3"/>
                </a:solidFill>
                <a:latin typeface="Helvetica Neue"/>
                <a:ea typeface="Helvetica Neue"/>
                <a:cs typeface="Helvetica Neue"/>
              </a:defRPr>
            </a:pPr>
            <a:r>
              <a:rPr sz="2850" b="1">
                <a:solidFill>
                  <a:srgbClr val="2D84D3"/>
                </a:solidFill>
                <a:latin typeface="Helvetica Neue"/>
                <a:ea typeface="Helvetica Neue"/>
                <a:cs typeface="Helvetica Neue"/>
              </a:rPr>
              <a:t>2.05×</a:t>
            </a:r>
          </a:p>
        </p:txBody>
      </p:sp>
      <p:sp>
        <p:nvSpPr>
          <p:cNvPr id="13" name="">
            <a:extLst xmlns:a="http://schemas.openxmlformats.org/drawingml/2006/main">
              <a:ext uri="{FF2B5EF4-FFF2-40B4-BE49-F238E27FC236}">
                <a16:creationId xmlns:a16="http://schemas.microsoft.com/office/drawing/2014/main" id="{6175DEFD-F463-45F8-8BD1-8F04FE1BE26C}"/>
              </a:ext>
            </a:extLst>
          </p:cNvPr>
          <p:cNvSpPr>
            <a:spLocks xmlns:a="http://schemas.openxmlformats.org/drawingml/2006/main" noGrp="1"/>
          </p:cNvSpPr>
          <p:nvPr/>
        </p:nvSpPr>
        <p:spPr>
          <a:xfrm xmlns:a="http://schemas.openxmlformats.org/drawingml/2006/main">
            <a:off x="7867650" y="21336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C2733"/>
                </a:solidFill>
                <a:latin typeface="Helvetica Neue"/>
                <a:ea typeface="Helvetica Neue"/>
                <a:cs typeface="Helvetica Neue"/>
              </a:defRPr>
            </a:pPr>
            <a:r>
              <a:rPr sz="1500" b="1">
                <a:solidFill>
                  <a:srgbClr val="1C2733"/>
                </a:solidFill>
                <a:latin typeface="Helvetica Neue"/>
                <a:ea typeface="Helvetica Neue"/>
                <a:cs typeface="Helvetica Neue"/>
              </a:rPr>
              <a:t>+105% likelihood-ratio recovery</a:t>
            </a:r>
          </a:p>
        </p:txBody>
      </p:sp>
      <p:sp>
        <p:nvSpPr>
          <p:cNvPr id="14" name="">
            <a:extLst xmlns:a="http://schemas.openxmlformats.org/drawingml/2006/main">
              <a:ext uri="{FF2B5EF4-FFF2-40B4-BE49-F238E27FC236}">
                <a16:creationId xmlns:a16="http://schemas.microsoft.com/office/drawing/2014/main" id="{7E78562B-32E0-466F-930D-B581B05F5AE7}"/>
              </a:ext>
            </a:extLst>
          </p:cNvPr>
          <p:cNvSpPr>
            <a:spLocks xmlns:a="http://schemas.openxmlformats.org/drawingml/2006/main" noGrp="1"/>
          </p:cNvSpPr>
          <p:nvPr/>
        </p:nvSpPr>
        <p:spPr>
          <a:xfrm xmlns:a="http://schemas.openxmlformats.org/drawingml/2006/main">
            <a:off x="6286500" y="26479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bootstrap 95% CI 1.74×–3.15× · exact paired p=0.0078</a:t>
            </a:r>
          </a:p>
        </p:txBody>
      </p:sp>
      <p:sp>
        <p:nvSpPr>
          <p:cNvPr id="15" name="">
            <a:extLst xmlns:a="http://schemas.openxmlformats.org/drawingml/2006/main">
              <a:ext uri="{FF2B5EF4-FFF2-40B4-BE49-F238E27FC236}">
                <a16:creationId xmlns:a16="http://schemas.microsoft.com/office/drawing/2014/main" id="{94E1F8A5-DB82-494B-A914-568C719EFD11}"/>
              </a:ext>
            </a:extLst>
          </p:cNvPr>
          <p:cNvSpPr>
            <a:spLocks xmlns:a="http://schemas.openxmlformats.org/drawingml/2006/main" noGrp="1"/>
          </p:cNvSpPr>
          <p:nvPr/>
        </p:nvSpPr>
        <p:spPr>
          <a:xfrm xmlns:a="http://schemas.openxmlformats.org/drawingml/2006/main">
            <a:off x="609600" y="33909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WHAT THE INTERVENTIONS SHOW</a:t>
            </a:r>
          </a:p>
        </p:txBody>
      </p:sp>
      <p:sp>
        <p:nvSpPr>
          <p:cNvPr id="16" name="">
            <a:extLst xmlns:a="http://schemas.openxmlformats.org/drawingml/2006/main">
              <a:ext uri="{FF2B5EF4-FFF2-40B4-BE49-F238E27FC236}">
                <a16:creationId xmlns:a16="http://schemas.microsoft.com/office/drawing/2014/main" id="{4B9895C5-292D-402F-94AB-994C3AE4627C}"/>
              </a:ext>
            </a:extLst>
          </p:cNvPr>
          <p:cNvSpPr>
            <a:spLocks xmlns:a="http://schemas.openxmlformats.org/drawingml/2006/main" noGrp="1"/>
          </p:cNvSpPr>
          <p:nvPr/>
        </p:nvSpPr>
        <p:spPr>
          <a:xfrm xmlns:a="http://schemas.openxmlformats.org/drawingml/2006/main">
            <a:off x="609600" y="3657600"/>
            <a:ext cx="10972800" cy="533400"/>
          </a:xfrm>
          <a:prstGeom xmlns:a="http://schemas.openxmlformats.org/drawingml/2006/main" prst="roundRect">
            <a:avLst>
              <a:gd name="adj" fmla="val 14286"/>
            </a:avLst>
          </a:prstGeom>
          <a:solidFill xmlns:a="http://schemas.openxmlformats.org/drawingml/2006/main">
            <a:srgbClr val="DDEFE7"/>
          </a:solidFill>
          <a:ln xmlns:a="http://schemas.openxmlformats.org/drawingml/2006/main" w="9525">
            <a:solidFill>
              <a:srgbClr val="18A875"/>
            </a:solidFill>
          </a:ln>
        </p:spPr>
      </p:sp>
      <p:sp>
        <p:nvSpPr>
          <p:cNvPr id="17" name="">
            <a:extLst xmlns:a="http://schemas.openxmlformats.org/drawingml/2006/main">
              <a:ext uri="{FF2B5EF4-FFF2-40B4-BE49-F238E27FC236}">
                <a16:creationId xmlns:a16="http://schemas.microsoft.com/office/drawing/2014/main" id="{1D82D636-B061-4FEA-89E9-D606ECDF4ADD}"/>
              </a:ext>
            </a:extLst>
          </p:cNvPr>
          <p:cNvSpPr>
            <a:spLocks xmlns:a="http://schemas.openxmlformats.org/drawingml/2006/main" noGrp="1"/>
          </p:cNvSpPr>
          <p:nvPr/>
        </p:nvSpPr>
        <p:spPr>
          <a:xfrm xmlns:a="http://schemas.openxmlformats.org/drawingml/2006/main">
            <a:off x="781050" y="3781425"/>
            <a:ext cx="2857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722661B-88D4-437A-9491-679935F1A8B7}"/>
              </a:ext>
            </a:extLst>
          </p:cNvPr>
          <p:cNvSpPr>
            <a:spLocks xmlns:a="http://schemas.openxmlformats.org/drawingml/2006/main" noGrp="1"/>
          </p:cNvSpPr>
          <p:nvPr/>
        </p:nvSpPr>
        <p:spPr>
          <a:xfrm xmlns:a="http://schemas.openxmlformats.org/drawingml/2006/main">
            <a:off x="876300" y="38004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19" name="">
            <a:extLst xmlns:a="http://schemas.openxmlformats.org/drawingml/2006/main">
              <a:ext uri="{FF2B5EF4-FFF2-40B4-BE49-F238E27FC236}">
                <a16:creationId xmlns:a16="http://schemas.microsoft.com/office/drawing/2014/main" id="{857AE676-F70F-44A6-A637-66F817D1B4E0}"/>
              </a:ext>
            </a:extLst>
          </p:cNvPr>
          <p:cNvSpPr>
            <a:spLocks xmlns:a="http://schemas.openxmlformats.org/drawingml/2006/main" noGrp="1"/>
          </p:cNvSpPr>
          <p:nvPr/>
        </p:nvSpPr>
        <p:spPr>
          <a:xfrm xmlns:a="http://schemas.openxmlformats.org/drawingml/2006/main">
            <a:off x="1257300" y="37528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Paired margin</a:t>
            </a:r>
          </a:p>
        </p:txBody>
      </p:sp>
      <p:sp>
        <p:nvSpPr>
          <p:cNvPr id="20" name="">
            <a:extLst xmlns:a="http://schemas.openxmlformats.org/drawingml/2006/main">
              <a:ext uri="{FF2B5EF4-FFF2-40B4-BE49-F238E27FC236}">
                <a16:creationId xmlns:a16="http://schemas.microsoft.com/office/drawing/2014/main" id="{21B90F43-3F2D-4838-9FCD-F04DB4A1606C}"/>
              </a:ext>
            </a:extLst>
          </p:cNvPr>
          <p:cNvSpPr>
            <a:spLocks xmlns:a="http://schemas.openxmlformats.org/drawingml/2006/main" noGrp="1"/>
          </p:cNvSpPr>
          <p:nvPr/>
        </p:nvSpPr>
        <p:spPr>
          <a:xfrm xmlns:a="http://schemas.openxmlformats.org/drawingml/2006/main">
            <a:off x="3752850" y="37338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The median Holo-minus-Qwen restoration is +0.72 nats; every prompt uses identical clean/corrupt images and candidate strings.</a:t>
            </a:r>
          </a:p>
        </p:txBody>
      </p:sp>
      <p:sp>
        <p:nvSpPr>
          <p:cNvPr id="21" name="">
            <a:extLst xmlns:a="http://schemas.openxmlformats.org/drawingml/2006/main">
              <a:ext uri="{FF2B5EF4-FFF2-40B4-BE49-F238E27FC236}">
                <a16:creationId xmlns:a16="http://schemas.microsoft.com/office/drawing/2014/main" id="{45799CFA-AB1C-4478-AD4C-42A0B37AC915}"/>
              </a:ext>
            </a:extLst>
          </p:cNvPr>
          <p:cNvSpPr>
            <a:spLocks xmlns:a="http://schemas.openxmlformats.org/drawingml/2006/main" noGrp="1"/>
          </p:cNvSpPr>
          <p:nvPr/>
        </p:nvSpPr>
        <p:spPr>
          <a:xfrm xmlns:a="http://schemas.openxmlformats.org/drawingml/2006/main">
            <a:off x="609600" y="4343400"/>
            <a:ext cx="10972800" cy="533400"/>
          </a:xfrm>
          <a:prstGeom xmlns:a="http://schemas.openxmlformats.org/drawingml/2006/main" prst="roundRect">
            <a:avLst>
              <a:gd name="adj" fmla="val 1428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33DF771E-CB43-4583-9E16-B41BE00EEFA9}"/>
              </a:ext>
            </a:extLst>
          </p:cNvPr>
          <p:cNvSpPr>
            <a:spLocks xmlns:a="http://schemas.openxmlformats.org/drawingml/2006/main" noGrp="1"/>
          </p:cNvSpPr>
          <p:nvPr/>
        </p:nvSpPr>
        <p:spPr>
          <a:xfrm xmlns:a="http://schemas.openxmlformats.org/drawingml/2006/main">
            <a:off x="781050" y="4467225"/>
            <a:ext cx="2857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E43BE18-E7E2-43AD-B7CA-D9CD0D22463B}"/>
              </a:ext>
            </a:extLst>
          </p:cNvPr>
          <p:cNvSpPr>
            <a:spLocks xmlns:a="http://schemas.openxmlformats.org/drawingml/2006/main" noGrp="1"/>
          </p:cNvSpPr>
          <p:nvPr/>
        </p:nvSpPr>
        <p:spPr>
          <a:xfrm xmlns:a="http://schemas.openxmlformats.org/drawingml/2006/main">
            <a:off x="876300" y="44862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A6FD645F-35D8-40E3-B615-39D8606151E0}"/>
              </a:ext>
            </a:extLst>
          </p:cNvPr>
          <p:cNvSpPr>
            <a:spLocks xmlns:a="http://schemas.openxmlformats.org/drawingml/2006/main" noGrp="1"/>
          </p:cNvSpPr>
          <p:nvPr/>
        </p:nvSpPr>
        <p:spPr>
          <a:xfrm xmlns:a="http://schemas.openxmlformats.org/drawingml/2006/main">
            <a:off x="1257300" y="44386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C2733"/>
                </a:solidFill>
                <a:latin typeface="Helvetica Neue"/>
                <a:ea typeface="Helvetica Neue"/>
                <a:cs typeface="Helvetica Neue"/>
              </a:defRPr>
            </a:pPr>
            <a:r>
              <a:rPr sz="1125" b="1">
                <a:solidFill>
                  <a:srgbClr val="1C2733"/>
                </a:solidFill>
                <a:latin typeface="Helvetica Neue"/>
                <a:ea typeface="Helvetica Neue"/>
                <a:cs typeface="Helvetica Neue"/>
              </a:rPr>
              <a:t>Shared necessity</a:t>
            </a:r>
          </a:p>
        </p:txBody>
      </p:sp>
      <p:sp>
        <p:nvSpPr>
          <p:cNvPr id="25" name="">
            <a:extLst xmlns:a="http://schemas.openxmlformats.org/drawingml/2006/main">
              <a:ext uri="{FF2B5EF4-FFF2-40B4-BE49-F238E27FC236}">
                <a16:creationId xmlns:a16="http://schemas.microsoft.com/office/drawing/2014/main" id="{C734D730-E029-45C0-B4D2-FFB57EA51452}"/>
              </a:ext>
            </a:extLst>
          </p:cNvPr>
          <p:cNvSpPr>
            <a:spLocks xmlns:a="http://schemas.openxmlformats.org/drawingml/2006/main" noGrp="1"/>
          </p:cNvSpPr>
          <p:nvPr/>
        </p:nvSpPr>
        <p:spPr>
          <a:xfrm xmlns:a="http://schemas.openxmlformats.org/drawingml/2006/main">
            <a:off x="3752850" y="44196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Setting the Layer 15 coordinate state to zero in a clean run costs 4.51 nats for Holo and 6.27 for Qwen: both checkpoints rely on it.</a:t>
            </a:r>
          </a:p>
        </p:txBody>
      </p:sp>
      <p:sp>
        <p:nvSpPr>
          <p:cNvPr id="26" name="">
            <a:extLst xmlns:a="http://schemas.openxmlformats.org/drawingml/2006/main">
              <a:ext uri="{FF2B5EF4-FFF2-40B4-BE49-F238E27FC236}">
                <a16:creationId xmlns:a16="http://schemas.microsoft.com/office/drawing/2014/main" id="{B5C6003A-94DA-47D1-82C2-1A27A317826E}"/>
              </a:ext>
            </a:extLst>
          </p:cNvPr>
          <p:cNvSpPr>
            <a:spLocks xmlns:a="http://schemas.openxmlformats.org/drawingml/2006/main" noGrp="1"/>
          </p:cNvSpPr>
          <p:nvPr/>
        </p:nvSpPr>
        <p:spPr>
          <a:xfrm xmlns:a="http://schemas.openxmlformats.org/drawingml/2006/main">
            <a:off x="609600" y="5029200"/>
            <a:ext cx="10972800" cy="533400"/>
          </a:xfrm>
          <a:prstGeom xmlns:a="http://schemas.openxmlformats.org/drawingml/2006/main" prst="roundRect">
            <a:avLst>
              <a:gd name="adj" fmla="val 14286"/>
            </a:avLst>
          </a:prstGeom>
          <a:solidFill xmlns:a="http://schemas.openxmlformats.org/drawingml/2006/main">
            <a:srgbClr val="FCE2D9"/>
          </a:solidFill>
          <a:ln xmlns:a="http://schemas.openxmlformats.org/drawingml/2006/main" w="9525">
            <a:solidFill>
              <a:srgbClr val="F05A3C"/>
            </a:solidFill>
          </a:ln>
        </p:spPr>
      </p:sp>
      <p:sp>
        <p:nvSpPr>
          <p:cNvPr id="27" name="">
            <a:extLst xmlns:a="http://schemas.openxmlformats.org/drawingml/2006/main">
              <a:ext uri="{FF2B5EF4-FFF2-40B4-BE49-F238E27FC236}">
                <a16:creationId xmlns:a16="http://schemas.microsoft.com/office/drawing/2014/main" id="{4C7A7E0A-3356-47C9-82E9-A3AB64FD0D90}"/>
              </a:ext>
            </a:extLst>
          </p:cNvPr>
          <p:cNvSpPr>
            <a:spLocks xmlns:a="http://schemas.openxmlformats.org/drawingml/2006/main" noGrp="1"/>
          </p:cNvSpPr>
          <p:nvPr/>
        </p:nvSpPr>
        <p:spPr>
          <a:xfrm xmlns:a="http://schemas.openxmlformats.org/drawingml/2006/main">
            <a:off x="781050" y="5153025"/>
            <a:ext cx="2857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2314C12-FDA9-45B0-A776-C13132577335}"/>
              </a:ext>
            </a:extLst>
          </p:cNvPr>
          <p:cNvSpPr>
            <a:spLocks xmlns:a="http://schemas.openxmlformats.org/drawingml/2006/main" noGrp="1"/>
          </p:cNvSpPr>
          <p:nvPr/>
        </p:nvSpPr>
        <p:spPr>
          <a:xfrm xmlns:a="http://schemas.openxmlformats.org/drawingml/2006/main">
            <a:off x="876300" y="51720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A7635EF1-695C-4757-8DD3-66AF2A863884}"/>
              </a:ext>
            </a:extLst>
          </p:cNvPr>
          <p:cNvSpPr>
            <a:spLocks xmlns:a="http://schemas.openxmlformats.org/drawingml/2006/main" noGrp="1"/>
          </p:cNvSpPr>
          <p:nvPr/>
        </p:nvSpPr>
        <p:spPr>
          <a:xfrm xmlns:a="http://schemas.openxmlformats.org/drawingml/2006/main">
            <a:off x="1257300" y="51244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5A3C"/>
                </a:solidFill>
                <a:latin typeface="Helvetica Neue"/>
                <a:ea typeface="Helvetica Neue"/>
                <a:cs typeface="Helvetica Neue"/>
              </a:defRPr>
            </a:pPr>
            <a:r>
              <a:rPr sz="1125" b="1">
                <a:solidFill>
                  <a:srgbClr val="F05A3C"/>
                </a:solidFill>
                <a:latin typeface="Helvetica Neue"/>
                <a:ea typeface="Helvetica Neue"/>
                <a:cs typeface="Helvetica Neue"/>
              </a:rPr>
              <a:t>Distributed mechanism</a:t>
            </a:r>
          </a:p>
        </p:txBody>
      </p:sp>
      <p:sp>
        <p:nvSpPr>
          <p:cNvPr id="30" name="">
            <a:extLst xmlns:a="http://schemas.openxmlformats.org/drawingml/2006/main">
              <a:ext uri="{FF2B5EF4-FFF2-40B4-BE49-F238E27FC236}">
                <a16:creationId xmlns:a16="http://schemas.microsoft.com/office/drawing/2014/main" id="{0E293A07-B6FE-4DD1-AF1B-0B715DC09483}"/>
              </a:ext>
            </a:extLst>
          </p:cNvPr>
          <p:cNvSpPr>
            <a:spLocks xmlns:a="http://schemas.openxmlformats.org/drawingml/2006/main" noGrp="1"/>
          </p:cNvSpPr>
          <p:nvPr/>
        </p:nvSpPr>
        <p:spPr>
          <a:xfrm xmlns:a="http://schemas.openxmlformats.org/drawingml/2006/main">
            <a:off x="3752850" y="51054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All 16 heads were tested. No single head explains the checkpoint difference; the recoverable effect is distributed in the residual state.</a:t>
            </a:r>
          </a:p>
        </p:txBody>
      </p:sp>
      <p:sp>
        <p:nvSpPr>
          <p:cNvPr id="31" name="">
            <a:extLst xmlns:a="http://schemas.openxmlformats.org/drawingml/2006/main">
              <a:ext uri="{FF2B5EF4-FFF2-40B4-BE49-F238E27FC236}">
                <a16:creationId xmlns:a16="http://schemas.microsoft.com/office/drawing/2014/main" id="{E861417F-69B3-4E57-BCD4-9103C284761F}"/>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oundRect">
            <a:avLst>
              <a:gd name="adj" fmla="val 19048"/>
            </a:avLst>
          </a:prstGeom>
          <a:solidFill xmlns:a="http://schemas.openxmlformats.org/drawingml/2006/main">
            <a:srgbClr val="1C273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A966F9E8-0CA4-4A7A-B592-17A074A4826B}"/>
              </a:ext>
            </a:extLst>
          </p:cNvPr>
          <p:cNvSpPr>
            <a:spLocks xmlns:a="http://schemas.openxmlformats.org/drawingml/2006/main" noGrp="1"/>
          </p:cNvSpPr>
          <p:nvPr/>
        </p:nvSpPr>
        <p:spPr>
          <a:xfrm xmlns:a="http://schemas.openxmlformats.org/drawingml/2006/main">
            <a:off x="800100" y="5924550"/>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Fine-tuning strengthens recoverable action state; it does not create a Holo-only coordinate circuit.</a:t>
            </a:r>
          </a:p>
        </p:txBody>
      </p:sp>
      <p:sp>
        <p:nvSpPr>
          <p:cNvPr id="33" name="">
            <a:extLst xmlns:a="http://schemas.openxmlformats.org/drawingml/2006/main">
              <a:ext uri="{FF2B5EF4-FFF2-40B4-BE49-F238E27FC236}">
                <a16:creationId xmlns:a16="http://schemas.microsoft.com/office/drawing/2014/main" id="{C2551B60-17E9-4ABB-ABF8-440EDFE084F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95812E8A-22AC-443D-A72A-C60A94FAF629}"/>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Exploratory n=8 within-image panel · paired bootstrap and all 256 sign flips · not an independent-image benchmark</a:t>
            </a:r>
          </a:p>
        </p:txBody>
      </p:sp>
    </p:spTree>
    <p:extLst>
      <p:ext uri="{BB962C8B-B14F-4D97-AF65-F5344CB8AC3E}">
        <p14:creationId xmlns:p14="http://schemas.microsoft.com/office/powerpoint/2010/main" val="260068885"/>
      </p:ext>
    </p:extLst>
  </p:cSld>
</p:sld>
</file>

<file path=ppt/slides/slide1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F0D0F4ED-7E24-48F7-AC73-4E2EDD8EE35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NEXT TESTS</a:t>
            </a:r>
          </a:p>
        </p:txBody>
      </p:sp>
      <p:sp>
        <p:nvSpPr>
          <p:cNvPr id="2" name="">
            <a:extLst xmlns:a="http://schemas.openxmlformats.org/drawingml/2006/main">
              <a:ext uri="{FF2B5EF4-FFF2-40B4-BE49-F238E27FC236}">
                <a16:creationId xmlns:a16="http://schemas.microsoft.com/office/drawing/2014/main" id="{35277E89-A3DF-49FC-B0DD-B2CC0BA987F5}"/>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The completed cohorts narrow the next experiments</a:t>
            </a:r>
          </a:p>
        </p:txBody>
      </p:sp>
      <p:sp>
        <p:nvSpPr>
          <p:cNvPr id="3" name="">
            <a:extLst xmlns:a="http://schemas.openxmlformats.org/drawingml/2006/main">
              <a:ext uri="{FF2B5EF4-FFF2-40B4-BE49-F238E27FC236}">
                <a16:creationId xmlns:a16="http://schemas.microsoft.com/office/drawing/2014/main" id="{C50B57FB-2AC5-4CB7-9F23-B77475EA72C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B46E3D47-9E26-4768-BD40-A4A5045494EE}"/>
              </a:ext>
            </a:extLst>
          </p:cNvPr>
          <p:cNvSpPr>
            <a:spLocks xmlns:a="http://schemas.openxmlformats.org/drawingml/2006/main" noGrp="1"/>
          </p:cNvSpPr>
          <p:nvPr/>
        </p:nvSpPr>
        <p:spPr>
          <a:xfrm xmlns:a="http://schemas.openxmlformats.org/drawingml/2006/main">
            <a:off x="60960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DDFF9E16-4BA7-405C-94F5-3329644289A8}"/>
              </a:ext>
            </a:extLst>
          </p:cNvPr>
          <p:cNvSpPr>
            <a:spLocks xmlns:a="http://schemas.openxmlformats.org/drawingml/2006/main" noGrp="1"/>
          </p:cNvSpPr>
          <p:nvPr/>
        </p:nvSpPr>
        <p:spPr>
          <a:xfrm xmlns:a="http://schemas.openxmlformats.org/drawingml/2006/main">
            <a:off x="819150" y="1619250"/>
            <a:ext cx="4572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4DE1ACF-0DCE-4B3E-B0C2-E96BC8D1B700}"/>
              </a:ext>
            </a:extLst>
          </p:cNvPr>
          <p:cNvSpPr>
            <a:spLocks xmlns:a="http://schemas.openxmlformats.org/drawingml/2006/main" noGrp="1"/>
          </p:cNvSpPr>
          <p:nvPr/>
        </p:nvSpPr>
        <p:spPr>
          <a:xfrm xmlns:a="http://schemas.openxmlformats.org/drawingml/2006/main">
            <a:off x="91440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A63EF227-69C2-4EC8-9119-4E3818E9CB41}"/>
              </a:ext>
            </a:extLst>
          </p:cNvPr>
          <p:cNvSpPr>
            <a:spLocks xmlns:a="http://schemas.openxmlformats.org/drawingml/2006/main" noGrp="1"/>
          </p:cNvSpPr>
          <p:nvPr/>
        </p:nvSpPr>
        <p:spPr>
          <a:xfrm xmlns:a="http://schemas.openxmlformats.org/drawingml/2006/main">
            <a:off x="1447800" y="1619250"/>
            <a:ext cx="4248150" cy="295275"/>
          </a:xfrm>
          <a:prstGeom xmlns:a="http://schemas.openxmlformats.org/drawingml/2006/main" prst="roundRect">
            <a:avLst>
              <a:gd name="adj" fmla="val 25806"/>
            </a:avLst>
          </a:prstGeom>
          <a:solidFill xmlns:a="http://schemas.openxmlformats.org/drawingml/2006/main">
            <a:srgbClr val="FCE2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C3E86C7-0BEC-4117-8E97-71AB6789EB2D}"/>
              </a:ext>
            </a:extLst>
          </p:cNvPr>
          <p:cNvSpPr>
            <a:spLocks xmlns:a="http://schemas.openxmlformats.org/drawingml/2006/main" noGrp="1"/>
          </p:cNvSpPr>
          <p:nvPr/>
        </p:nvSpPr>
        <p:spPr>
          <a:xfrm xmlns:a="http://schemas.openxmlformats.org/drawingml/2006/main">
            <a:off x="158115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TOKEN GRID VS RESAMPLING</a:t>
            </a:r>
          </a:p>
        </p:txBody>
      </p:sp>
      <p:sp>
        <p:nvSpPr>
          <p:cNvPr id="9" name="">
            <a:extLst xmlns:a="http://schemas.openxmlformats.org/drawingml/2006/main">
              <a:ext uri="{FF2B5EF4-FFF2-40B4-BE49-F238E27FC236}">
                <a16:creationId xmlns:a16="http://schemas.microsoft.com/office/drawing/2014/main" id="{6E2689AF-78B1-45B6-B192-5DA0C28FA172}"/>
              </a:ext>
            </a:extLst>
          </p:cNvPr>
          <p:cNvSpPr>
            <a:spLocks xmlns:a="http://schemas.openxmlformats.org/drawingml/2006/main" noGrp="1"/>
          </p:cNvSpPr>
          <p:nvPr/>
        </p:nvSpPr>
        <p:spPr>
          <a:xfrm xmlns:a="http://schemas.openxmlformats.org/drawingml/2006/main">
            <a:off x="85725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Hold the visual-token grid fixed while varying blur and resampling, then vary grid size with matched image content.</a:t>
            </a:r>
          </a:p>
        </p:txBody>
      </p:sp>
      <p:sp>
        <p:nvSpPr>
          <p:cNvPr id="10" name="">
            <a:extLst xmlns:a="http://schemas.openxmlformats.org/drawingml/2006/main">
              <a:ext uri="{FF2B5EF4-FFF2-40B4-BE49-F238E27FC236}">
                <a16:creationId xmlns:a16="http://schemas.microsoft.com/office/drawing/2014/main" id="{3D67B849-C560-4BE7-B418-719E3C439BE6}"/>
              </a:ext>
            </a:extLst>
          </p:cNvPr>
          <p:cNvSpPr>
            <a:spLocks xmlns:a="http://schemas.openxmlformats.org/drawingml/2006/main" noGrp="1"/>
          </p:cNvSpPr>
          <p:nvPr/>
        </p:nvSpPr>
        <p:spPr>
          <a:xfrm xmlns:a="http://schemas.openxmlformats.org/drawingml/2006/main">
            <a:off x="619125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51168997-73DF-4EEF-8114-32AE9B7DA430}"/>
              </a:ext>
            </a:extLst>
          </p:cNvPr>
          <p:cNvSpPr>
            <a:spLocks xmlns:a="http://schemas.openxmlformats.org/drawingml/2006/main" noGrp="1"/>
          </p:cNvSpPr>
          <p:nvPr/>
        </p:nvSpPr>
        <p:spPr>
          <a:xfrm xmlns:a="http://schemas.openxmlformats.org/drawingml/2006/main">
            <a:off x="6400800" y="1619250"/>
            <a:ext cx="457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5E818BA-D25E-4F77-BAE3-99E4D1C5FE6F}"/>
              </a:ext>
            </a:extLst>
          </p:cNvPr>
          <p:cNvSpPr>
            <a:spLocks xmlns:a="http://schemas.openxmlformats.org/drawingml/2006/main" noGrp="1"/>
          </p:cNvSpPr>
          <p:nvPr/>
        </p:nvSpPr>
        <p:spPr>
          <a:xfrm xmlns:a="http://schemas.openxmlformats.org/drawingml/2006/main">
            <a:off x="649605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19B7135A-81ED-4E2C-A5CB-EA6989074CAB}"/>
              </a:ext>
            </a:extLst>
          </p:cNvPr>
          <p:cNvSpPr>
            <a:spLocks xmlns:a="http://schemas.openxmlformats.org/drawingml/2006/main" noGrp="1"/>
          </p:cNvSpPr>
          <p:nvPr/>
        </p:nvSpPr>
        <p:spPr>
          <a:xfrm xmlns:a="http://schemas.openxmlformats.org/drawingml/2006/main">
            <a:off x="7029450" y="1619250"/>
            <a:ext cx="4248150" cy="295275"/>
          </a:xfrm>
          <a:prstGeom xmlns:a="http://schemas.openxmlformats.org/drawingml/2006/main" prst="roundRect">
            <a:avLst>
              <a:gd name="adj" fmla="val 25806"/>
            </a:avLst>
          </a:prstGeom>
          <a:solidFill xmlns:a="http://schemas.openxmlformats.org/drawingml/2006/main">
            <a:srgbClr val="DDEC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82EF2DD-B2B6-4A0F-852E-A3B6F9ED9791}"/>
              </a:ext>
            </a:extLst>
          </p:cNvPr>
          <p:cNvSpPr>
            <a:spLocks xmlns:a="http://schemas.openxmlformats.org/drawingml/2006/main" noGrp="1"/>
          </p:cNvSpPr>
          <p:nvPr/>
        </p:nvSpPr>
        <p:spPr>
          <a:xfrm xmlns:a="http://schemas.openxmlformats.org/drawingml/2006/main">
            <a:off x="716280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HELD-OUT CAUSAL GENERALIZATION</a:t>
            </a:r>
          </a:p>
        </p:txBody>
      </p:sp>
      <p:sp>
        <p:nvSpPr>
          <p:cNvPr id="15" name="">
            <a:extLst xmlns:a="http://schemas.openxmlformats.org/drawingml/2006/main">
              <a:ext uri="{FF2B5EF4-FFF2-40B4-BE49-F238E27FC236}">
                <a16:creationId xmlns:a16="http://schemas.microsoft.com/office/drawing/2014/main" id="{537ED72E-D425-4EA4-9BFD-CE67ECF64E99}"/>
              </a:ext>
            </a:extLst>
          </p:cNvPr>
          <p:cNvSpPr>
            <a:spLocks xmlns:a="http://schemas.openxmlformats.org/drawingml/2006/main" noGrp="1"/>
          </p:cNvSpPr>
          <p:nvPr/>
        </p:nvSpPr>
        <p:spPr>
          <a:xfrm xmlns:a="http://schemas.openxmlformats.org/drawingml/2006/main">
            <a:off x="643890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Repeat the Layer 15 clean-state patch on independent screenshots, applications, and layouts with a preregistered paired test.</a:t>
            </a:r>
          </a:p>
        </p:txBody>
      </p:sp>
      <p:sp>
        <p:nvSpPr>
          <p:cNvPr id="16" name="">
            <a:extLst xmlns:a="http://schemas.openxmlformats.org/drawingml/2006/main">
              <a:ext uri="{FF2B5EF4-FFF2-40B4-BE49-F238E27FC236}">
                <a16:creationId xmlns:a16="http://schemas.microsoft.com/office/drawing/2014/main" id="{1F5C3A7C-AD54-40DC-814E-8BE37EEBCFAD}"/>
              </a:ext>
            </a:extLst>
          </p:cNvPr>
          <p:cNvSpPr>
            <a:spLocks xmlns:a="http://schemas.openxmlformats.org/drawingml/2006/main" noGrp="1"/>
          </p:cNvSpPr>
          <p:nvPr/>
        </p:nvSpPr>
        <p:spPr>
          <a:xfrm xmlns:a="http://schemas.openxmlformats.org/drawingml/2006/main">
            <a:off x="60960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073D1E33-882C-45EC-A607-9C6ABCD582EF}"/>
              </a:ext>
            </a:extLst>
          </p:cNvPr>
          <p:cNvSpPr>
            <a:spLocks xmlns:a="http://schemas.openxmlformats.org/drawingml/2006/main" noGrp="1"/>
          </p:cNvSpPr>
          <p:nvPr/>
        </p:nvSpPr>
        <p:spPr>
          <a:xfrm xmlns:a="http://schemas.openxmlformats.org/drawingml/2006/main">
            <a:off x="819150" y="3543300"/>
            <a:ext cx="4572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64F7C78-9052-44C5-BA51-A90CADFF74BC}"/>
              </a:ext>
            </a:extLst>
          </p:cNvPr>
          <p:cNvSpPr>
            <a:spLocks xmlns:a="http://schemas.openxmlformats.org/drawingml/2006/main" noGrp="1"/>
          </p:cNvSpPr>
          <p:nvPr/>
        </p:nvSpPr>
        <p:spPr>
          <a:xfrm xmlns:a="http://schemas.openxmlformats.org/drawingml/2006/main">
            <a:off x="91440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CC19B425-38DD-48E4-9B05-631C7F97B0F5}"/>
              </a:ext>
            </a:extLst>
          </p:cNvPr>
          <p:cNvSpPr>
            <a:spLocks xmlns:a="http://schemas.openxmlformats.org/drawingml/2006/main" noGrp="1"/>
          </p:cNvSpPr>
          <p:nvPr/>
        </p:nvSpPr>
        <p:spPr>
          <a:xfrm xmlns:a="http://schemas.openxmlformats.org/drawingml/2006/main">
            <a:off x="1447800" y="3543300"/>
            <a:ext cx="4248150" cy="295275"/>
          </a:xfrm>
          <a:prstGeom xmlns:a="http://schemas.openxmlformats.org/drawingml/2006/main" prst="roundRect">
            <a:avLst>
              <a:gd name="adj" fmla="val 25806"/>
            </a:avLst>
          </a:prstGeom>
          <a:solidFill xmlns:a="http://schemas.openxmlformats.org/drawingml/2006/main">
            <a:srgbClr val="DDEFE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0834E8F-DAFF-4E07-AFB5-DFBFBB4D326F}"/>
              </a:ext>
            </a:extLst>
          </p:cNvPr>
          <p:cNvSpPr>
            <a:spLocks xmlns:a="http://schemas.openxmlformats.org/drawingml/2006/main" noGrp="1"/>
          </p:cNvSpPr>
          <p:nvPr/>
        </p:nvSpPr>
        <p:spPr>
          <a:xfrm xmlns:a="http://schemas.openxmlformats.org/drawingml/2006/main">
            <a:off x="158115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CONTROL-CORRECTED VISUAL MEMORY</a:t>
            </a:r>
          </a:p>
        </p:txBody>
      </p:sp>
      <p:sp>
        <p:nvSpPr>
          <p:cNvPr id="21" name="">
            <a:extLst xmlns:a="http://schemas.openxmlformats.org/drawingml/2006/main">
              <a:ext uri="{FF2B5EF4-FFF2-40B4-BE49-F238E27FC236}">
                <a16:creationId xmlns:a16="http://schemas.microsoft.com/office/drawing/2014/main" id="{2B49DB23-1C79-4DCB-B920-CC817FC4F299}"/>
              </a:ext>
            </a:extLst>
          </p:cNvPr>
          <p:cNvSpPr>
            <a:spLocks xmlns:a="http://schemas.openxmlformats.org/drawingml/2006/main" noGrp="1"/>
          </p:cNvSpPr>
          <p:nvPr/>
        </p:nvSpPr>
        <p:spPr>
          <a:xfrm xmlns:a="http://schemas.openxmlformats.org/drawingml/2006/main">
            <a:off x="85725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Add same-image alternate-instruction controls to paired hotel histories, then remove or patch retained frames at the final click.</a:t>
            </a:r>
          </a:p>
        </p:txBody>
      </p:sp>
      <p:sp>
        <p:nvSpPr>
          <p:cNvPr id="22" name="">
            <a:extLst xmlns:a="http://schemas.openxmlformats.org/drawingml/2006/main">
              <a:ext uri="{FF2B5EF4-FFF2-40B4-BE49-F238E27FC236}">
                <a16:creationId xmlns:a16="http://schemas.microsoft.com/office/drawing/2014/main" id="{13919B42-9074-4EA1-A69D-97649C8D63FE}"/>
              </a:ext>
            </a:extLst>
          </p:cNvPr>
          <p:cNvSpPr>
            <a:spLocks xmlns:a="http://schemas.openxmlformats.org/drawingml/2006/main" noGrp="1"/>
          </p:cNvSpPr>
          <p:nvPr/>
        </p:nvSpPr>
        <p:spPr>
          <a:xfrm xmlns:a="http://schemas.openxmlformats.org/drawingml/2006/main">
            <a:off x="619125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23" name="">
            <a:extLst xmlns:a="http://schemas.openxmlformats.org/drawingml/2006/main">
              <a:ext uri="{FF2B5EF4-FFF2-40B4-BE49-F238E27FC236}">
                <a16:creationId xmlns:a16="http://schemas.microsoft.com/office/drawing/2014/main" id="{803887EC-11C6-4ADF-B460-0BF96798D0CD}"/>
              </a:ext>
            </a:extLst>
          </p:cNvPr>
          <p:cNvSpPr>
            <a:spLocks xmlns:a="http://schemas.openxmlformats.org/drawingml/2006/main" noGrp="1"/>
          </p:cNvSpPr>
          <p:nvPr/>
        </p:nvSpPr>
        <p:spPr>
          <a:xfrm xmlns:a="http://schemas.openxmlformats.org/drawingml/2006/main">
            <a:off x="6400800" y="3543300"/>
            <a:ext cx="45720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9D3F7E0-5CBD-4E91-AA16-EEFF63DF2E56}"/>
              </a:ext>
            </a:extLst>
          </p:cNvPr>
          <p:cNvSpPr>
            <a:spLocks xmlns:a="http://schemas.openxmlformats.org/drawingml/2006/main" noGrp="1"/>
          </p:cNvSpPr>
          <p:nvPr/>
        </p:nvSpPr>
        <p:spPr>
          <a:xfrm xmlns:a="http://schemas.openxmlformats.org/drawingml/2006/main">
            <a:off x="649605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5" name="">
            <a:extLst xmlns:a="http://schemas.openxmlformats.org/drawingml/2006/main">
              <a:ext uri="{FF2B5EF4-FFF2-40B4-BE49-F238E27FC236}">
                <a16:creationId xmlns:a16="http://schemas.microsoft.com/office/drawing/2014/main" id="{2DF00A95-C152-4B1D-BB3D-D9F2BA7EA702}"/>
              </a:ext>
            </a:extLst>
          </p:cNvPr>
          <p:cNvSpPr>
            <a:spLocks xmlns:a="http://schemas.openxmlformats.org/drawingml/2006/main" noGrp="1"/>
          </p:cNvSpPr>
          <p:nvPr/>
        </p:nvSpPr>
        <p:spPr>
          <a:xfrm xmlns:a="http://schemas.openxmlformats.org/drawingml/2006/main">
            <a:off x="7029450" y="3543300"/>
            <a:ext cx="4248150" cy="295275"/>
          </a:xfrm>
          <a:prstGeom xmlns:a="http://schemas.openxmlformats.org/drawingml/2006/main" prst="roundRect">
            <a:avLst>
              <a:gd name="adj" fmla="val 25806"/>
            </a:avLst>
          </a:prstGeom>
          <a:solidFill xmlns:a="http://schemas.openxmlformats.org/drawingml/2006/main">
            <a:srgbClr val="F3EBD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8A95351-EA07-49A4-9882-6F9D6F4CC48F}"/>
              </a:ext>
            </a:extLst>
          </p:cNvPr>
          <p:cNvSpPr>
            <a:spLocks xmlns:a="http://schemas.openxmlformats.org/drawingml/2006/main" noGrp="1"/>
          </p:cNvSpPr>
          <p:nvPr/>
        </p:nvSpPr>
        <p:spPr>
          <a:xfrm xmlns:a="http://schemas.openxmlformats.org/drawingml/2006/main">
            <a:off x="716280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ACTION-CONTRACT ABLATION</a:t>
            </a:r>
          </a:p>
        </p:txBody>
      </p:sp>
      <p:sp>
        <p:nvSpPr>
          <p:cNvPr id="27" name="">
            <a:extLst xmlns:a="http://schemas.openxmlformats.org/drawingml/2006/main">
              <a:ext uri="{FF2B5EF4-FFF2-40B4-BE49-F238E27FC236}">
                <a16:creationId xmlns:a16="http://schemas.microsoft.com/office/drawing/2014/main" id="{6AE33D82-9C96-4827-AED1-B540E98C4041}"/>
              </a:ext>
            </a:extLst>
          </p:cNvPr>
          <p:cNvSpPr>
            <a:spLocks xmlns:a="http://schemas.openxmlformats.org/drawingml/2006/main" noGrp="1"/>
          </p:cNvSpPr>
          <p:nvPr/>
        </p:nvSpPr>
        <p:spPr>
          <a:xfrm xmlns:a="http://schemas.openxmlformats.org/drawingml/2006/main">
            <a:off x="643890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Cross checkpoint, tool-call contract, and decoding budget to separate coordinate policy from malformed JSON, extra scrolling, and premature clicks.</a:t>
            </a:r>
          </a:p>
        </p:txBody>
      </p:sp>
      <p:sp>
        <p:nvSpPr>
          <p:cNvPr id="28" name="">
            <a:extLst xmlns:a="http://schemas.openxmlformats.org/drawingml/2006/main">
              <a:ext uri="{FF2B5EF4-FFF2-40B4-BE49-F238E27FC236}">
                <a16:creationId xmlns:a16="http://schemas.microsoft.com/office/drawing/2014/main" id="{7BC2B2E6-FD98-4394-80BF-EA249FBEE1DF}"/>
              </a:ext>
            </a:extLst>
          </p:cNvPr>
          <p:cNvSpPr>
            <a:spLocks xmlns:a="http://schemas.openxmlformats.org/drawingml/2006/main" noGrp="1"/>
          </p:cNvSpPr>
          <p:nvPr/>
        </p:nvSpPr>
        <p:spPr>
          <a:xfrm xmlns:a="http://schemas.openxmlformats.org/drawingml/2006/main">
            <a:off x="609600" y="5238750"/>
            <a:ext cx="10972800" cy="838200"/>
          </a:xfrm>
          <a:prstGeom xmlns:a="http://schemas.openxmlformats.org/drawingml/2006/main" prst="roundRect">
            <a:avLst>
              <a:gd name="adj" fmla="val 9091"/>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72D8FCB-5A29-47EA-B8F0-513479DBCAAE}"/>
              </a:ext>
            </a:extLst>
          </p:cNvPr>
          <p:cNvSpPr>
            <a:spLocks xmlns:a="http://schemas.openxmlformats.org/drawingml/2006/main" noGrp="1"/>
          </p:cNvSpPr>
          <p:nvPr/>
        </p:nvSpPr>
        <p:spPr>
          <a:xfrm xmlns:a="http://schemas.openxmlformats.org/drawingml/2006/main">
            <a:off x="857250" y="5429250"/>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COMPLETED EVIDENCE</a:t>
            </a:r>
          </a:p>
        </p:txBody>
      </p:sp>
      <p:sp>
        <p:nvSpPr>
          <p:cNvPr id="30" name="">
            <a:extLst xmlns:a="http://schemas.openxmlformats.org/drawingml/2006/main">
              <a:ext uri="{FF2B5EF4-FFF2-40B4-BE49-F238E27FC236}">
                <a16:creationId xmlns:a16="http://schemas.microsoft.com/office/drawing/2014/main" id="{C88DF4CD-4BBD-4E44-868F-DC0C8A3D03E3}"/>
              </a:ext>
            </a:extLst>
          </p:cNvPr>
          <p:cNvSpPr>
            <a:spLocks xmlns:a="http://schemas.openxmlformats.org/drawingml/2006/main" noGrp="1"/>
          </p:cNvSpPr>
          <p:nvPr/>
        </p:nvSpPr>
        <p:spPr>
          <a:xfrm xmlns:a="http://schemas.openxmlformats.org/drawingml/2006/main">
            <a:off x="2724150" y="53721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Resolution attribution, paired hotel free generation, and the Layer 15 causal panel</a:t>
            </a:r>
          </a:p>
        </p:txBody>
      </p:sp>
      <p:sp>
        <p:nvSpPr>
          <p:cNvPr id="31" name="">
            <a:extLst xmlns:a="http://schemas.openxmlformats.org/drawingml/2006/main">
              <a:ext uri="{FF2B5EF4-FFF2-40B4-BE49-F238E27FC236}">
                <a16:creationId xmlns:a16="http://schemas.microsoft.com/office/drawing/2014/main" id="{C098C22A-4F6E-4D45-8633-8CDFDFC7E1CA}"/>
              </a:ext>
            </a:extLst>
          </p:cNvPr>
          <p:cNvSpPr>
            <a:spLocks xmlns:a="http://schemas.openxmlformats.org/drawingml/2006/main" noGrp="1"/>
          </p:cNvSpPr>
          <p:nvPr/>
        </p:nvSpPr>
        <p:spPr>
          <a:xfrm xmlns:a="http://schemas.openxmlformats.org/drawingml/2006/main">
            <a:off x="2724150" y="5724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B9C3CD"/>
                </a:solidFill>
                <a:latin typeface="Helvetica Neue"/>
                <a:ea typeface="Helvetica Neue"/>
                <a:cs typeface="Helvetica Neue"/>
              </a:defRPr>
            </a:pPr>
            <a:r>
              <a:rPr sz="975" b="0">
                <a:solidFill>
                  <a:srgbClr val="B9C3CD"/>
                </a:solidFill>
                <a:latin typeface="Helvetica Neue"/>
                <a:ea typeface="Helvetica Neue"/>
                <a:cs typeface="Helvetica Neue"/>
              </a:rPr>
              <a:t>The next experiments isolate image sampling, output contracts, visual memory, and held-out generalization.</a:t>
            </a:r>
          </a:p>
        </p:txBody>
      </p:sp>
      <p:sp>
        <p:nvSpPr>
          <p:cNvPr id="32" name="">
            <a:extLst xmlns:a="http://schemas.openxmlformats.org/drawingml/2006/main">
              <a:ext uri="{FF2B5EF4-FFF2-40B4-BE49-F238E27FC236}">
                <a16:creationId xmlns:a16="http://schemas.microsoft.com/office/drawing/2014/main" id="{CB9B9EDC-DB19-4624-B22B-01C7BF45FC1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9CE27216-5739-4E5F-AE91-F311FD17AD7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Mechanism claims now require controlled interventions beyond the completed cohorts</a:t>
            </a:r>
          </a:p>
        </p:txBody>
      </p:sp>
    </p:spTree>
    <p:extLst>
      <p:ext uri="{BB962C8B-B14F-4D97-AF65-F5344CB8AC3E}">
        <p14:creationId xmlns:p14="http://schemas.microsoft.com/office/powerpoint/2010/main" val="1444090746"/>
      </p:ext>
    </p:extLst>
  </p:cSld>
</p:sld>
</file>

<file path=ppt/slides/slide13.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977D2A8-67D8-47E6-A47D-35F67DC8DD6E}"/>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TAKEAWAYS</a:t>
            </a:r>
          </a:p>
        </p:txBody>
      </p:sp>
      <p:sp>
        <p:nvSpPr>
          <p:cNvPr id="2" name="">
            <a:extLst xmlns:a="http://schemas.openxmlformats.org/drawingml/2006/main">
              <a:ext uri="{FF2B5EF4-FFF2-40B4-BE49-F238E27FC236}">
                <a16:creationId xmlns:a16="http://schemas.microsoft.com/office/drawing/2014/main" id="{F1A18BD6-ECE6-4031-AEE3-A412500E43D9}"/>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912"/>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Grounding depends on resolution while action readout remains fragile</a:t>
            </a:r>
          </a:p>
        </p:txBody>
      </p:sp>
      <p:sp>
        <p:nvSpPr>
          <p:cNvPr id="3" name="">
            <a:extLst xmlns:a="http://schemas.openxmlformats.org/drawingml/2006/main">
              <a:ext uri="{FF2B5EF4-FFF2-40B4-BE49-F238E27FC236}">
                <a16:creationId xmlns:a16="http://schemas.microsoft.com/office/drawing/2014/main" id="{BB05C6A1-B902-4539-84C8-833A0DD7F89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DCADFA2C-E432-44E4-9F13-51B4B352A2F6}"/>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566BA0B-238A-410A-A26D-40E690DF5043}"/>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D34F578A-F1BF-41F0-B42C-CFD42DC2A295}"/>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Resolution changes grounding</a:t>
            </a:r>
          </a:p>
        </p:txBody>
      </p:sp>
      <p:sp>
        <p:nvSpPr>
          <p:cNvPr id="7" name="">
            <a:extLst xmlns:a="http://schemas.openxmlformats.org/drawingml/2006/main">
              <a:ext uri="{FF2B5EF4-FFF2-40B4-BE49-F238E27FC236}">
                <a16:creationId xmlns:a16="http://schemas.microsoft.com/office/drawing/2014/main" id="{3ECBF2B2-4F5C-4247-A374-F9391AC40D72}"/>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Only 4 of 36 clicks survive; cohort target mass falls 24× at quarter resolution.</a:t>
            </a:r>
          </a:p>
        </p:txBody>
      </p:sp>
      <p:sp>
        <p:nvSpPr>
          <p:cNvPr id="8" name="">
            <a:extLst xmlns:a="http://schemas.openxmlformats.org/drawingml/2006/main">
              <a:ext uri="{FF2B5EF4-FFF2-40B4-BE49-F238E27FC236}">
                <a16:creationId xmlns:a16="http://schemas.microsoft.com/office/drawing/2014/main" id="{60981C71-250D-474A-9368-D06A87A9E60D}"/>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21CAEE3-0D5A-4206-B041-8105144A24AC}"/>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D679D19D-480E-4E73-8823-B2D73629D978}"/>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Attention can outlive the click</a:t>
            </a:r>
          </a:p>
        </p:txBody>
      </p:sp>
      <p:sp>
        <p:nvSpPr>
          <p:cNvPr id="11" name="">
            <a:extLst xmlns:a="http://schemas.openxmlformats.org/drawingml/2006/main">
              <a:ext uri="{FF2B5EF4-FFF2-40B4-BE49-F238E27FC236}">
                <a16:creationId xmlns:a16="http://schemas.microsoft.com/office/drawing/2014/main" id="{42EEB31C-3559-4595-879D-BCF1E7294267}"/>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Across reduced-resolution runs, 7 of 29 misses still rank the oracle patch first.</a:t>
            </a:r>
          </a:p>
        </p:txBody>
      </p:sp>
      <p:sp>
        <p:nvSpPr>
          <p:cNvPr id="12" name="">
            <a:extLst xmlns:a="http://schemas.openxmlformats.org/drawingml/2006/main">
              <a:ext uri="{FF2B5EF4-FFF2-40B4-BE49-F238E27FC236}">
                <a16:creationId xmlns:a16="http://schemas.microsoft.com/office/drawing/2014/main" id="{8CE5D185-5496-450B-9090-0FC9D99AD1A2}"/>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42F5650-F75D-4EFA-BD1F-DD9751918398}"/>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8B8A394E-1D8E-4CC1-ACEA-E82E5A15F9D3}"/>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Action execution remains fragile</a:t>
            </a:r>
          </a:p>
        </p:txBody>
      </p:sp>
      <p:sp>
        <p:nvSpPr>
          <p:cNvPr id="15" name="">
            <a:extLst xmlns:a="http://schemas.openxmlformats.org/drawingml/2006/main">
              <a:ext uri="{FF2B5EF4-FFF2-40B4-BE49-F238E27FC236}">
                <a16:creationId xmlns:a16="http://schemas.microsoft.com/office/drawing/2014/main" id="{ED267523-2C1A-4D42-9BBA-5A416D09829D}"/>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Holo completes 2 of 6 paired hotel cases. Qwen completes 0 of 6, with failures concentrated after visual inspection.</a:t>
            </a:r>
          </a:p>
        </p:txBody>
      </p:sp>
      <p:sp>
        <p:nvSpPr>
          <p:cNvPr id="16" name="">
            <a:extLst xmlns:a="http://schemas.openxmlformats.org/drawingml/2006/main">
              <a:ext uri="{FF2B5EF4-FFF2-40B4-BE49-F238E27FC236}">
                <a16:creationId xmlns:a16="http://schemas.microsoft.com/office/drawing/2014/main" id="{F152064C-D28E-4B6F-BF5B-09BF3BA20E46}"/>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4EC095A-38B9-4D10-861D-0D06F632AB65}"/>
              </a:ext>
            </a:extLst>
          </p:cNvPr>
          <p:cNvSpPr>
            <a:spLocks xmlns:a="http://schemas.openxmlformats.org/drawingml/2006/main" noGrp="1"/>
          </p:cNvSpPr>
          <p:nvPr/>
        </p:nvSpPr>
        <p:spPr>
          <a:xfrm xmlns:a="http://schemas.openxmlformats.org/drawingml/2006/main">
            <a:off x="6438900" y="1657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WHAT THE CAUSAL PANEL ADDS</a:t>
            </a:r>
          </a:p>
        </p:txBody>
      </p:sp>
      <p:sp>
        <p:nvSpPr>
          <p:cNvPr id="18" name="">
            <a:extLst xmlns:a="http://schemas.openxmlformats.org/drawingml/2006/main">
              <a:ext uri="{FF2B5EF4-FFF2-40B4-BE49-F238E27FC236}">
                <a16:creationId xmlns:a16="http://schemas.microsoft.com/office/drawing/2014/main" id="{49346D32-60C3-4248-9BDB-A74BFAEE2DBC}"/>
              </a:ext>
            </a:extLst>
          </p:cNvPr>
          <p:cNvSpPr>
            <a:spLocks xmlns:a="http://schemas.openxmlformats.org/drawingml/2006/main" noGrp="1"/>
          </p:cNvSpPr>
          <p:nvPr/>
        </p:nvSpPr>
        <p:spPr>
          <a:xfrm xmlns:a="http://schemas.openxmlformats.org/drawingml/2006/main">
            <a:off x="6438900" y="215265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3D36CBE-E24A-46CA-87BB-38F77DA3A216}"/>
              </a:ext>
            </a:extLst>
          </p:cNvPr>
          <p:cNvSpPr>
            <a:spLocks xmlns:a="http://schemas.openxmlformats.org/drawingml/2006/main" noGrp="1"/>
          </p:cNvSpPr>
          <p:nvPr/>
        </p:nvSpPr>
        <p:spPr>
          <a:xfrm xmlns:a="http://schemas.openxmlformats.org/drawingml/2006/main">
            <a:off x="6534150" y="21717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8292D822-9D04-4B1B-8082-1635561794B9}"/>
              </a:ext>
            </a:extLst>
          </p:cNvPr>
          <p:cNvSpPr>
            <a:spLocks xmlns:a="http://schemas.openxmlformats.org/drawingml/2006/main" noGrp="1"/>
          </p:cNvSpPr>
          <p:nvPr/>
        </p:nvSpPr>
        <p:spPr>
          <a:xfrm xmlns:a="http://schemas.openxmlformats.org/drawingml/2006/main">
            <a:off x="6953250" y="21621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Recoverable Layer 15 state</a:t>
            </a:r>
          </a:p>
        </p:txBody>
      </p:sp>
      <p:sp>
        <p:nvSpPr>
          <p:cNvPr id="21" name="">
            <a:extLst xmlns:a="http://schemas.openxmlformats.org/drawingml/2006/main">
              <a:ext uri="{FF2B5EF4-FFF2-40B4-BE49-F238E27FC236}">
                <a16:creationId xmlns:a16="http://schemas.microsoft.com/office/drawing/2014/main" id="{3024EC5D-563D-4178-B6B3-5812D937EE15}"/>
              </a:ext>
            </a:extLst>
          </p:cNvPr>
          <p:cNvSpPr>
            <a:spLocks xmlns:a="http://schemas.openxmlformats.org/drawingml/2006/main" noGrp="1"/>
          </p:cNvSpPr>
          <p:nvPr/>
        </p:nvSpPr>
        <p:spPr>
          <a:xfrm xmlns:a="http://schemas.openxmlformats.org/drawingml/2006/main">
            <a:off x="6953250" y="24479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Clean Holo state restores +1.01 nats; Qwen restores +0.10.</a:t>
            </a:r>
          </a:p>
        </p:txBody>
      </p:sp>
      <p:sp>
        <p:nvSpPr>
          <p:cNvPr id="22" name="">
            <a:extLst xmlns:a="http://schemas.openxmlformats.org/drawingml/2006/main">
              <a:ext uri="{FF2B5EF4-FFF2-40B4-BE49-F238E27FC236}">
                <a16:creationId xmlns:a16="http://schemas.microsoft.com/office/drawing/2014/main" id="{BE639130-EEA4-4BF6-A3BA-0D0D6E7816AE}"/>
              </a:ext>
            </a:extLst>
          </p:cNvPr>
          <p:cNvSpPr>
            <a:spLocks xmlns:a="http://schemas.openxmlformats.org/drawingml/2006/main" noGrp="1"/>
          </p:cNvSpPr>
          <p:nvPr/>
        </p:nvSpPr>
        <p:spPr>
          <a:xfrm xmlns:a="http://schemas.openxmlformats.org/drawingml/2006/main">
            <a:off x="6438900" y="30861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6DB37B8-B536-4D00-B170-DEF2127AC048}"/>
              </a:ext>
            </a:extLst>
          </p:cNvPr>
          <p:cNvSpPr>
            <a:spLocks xmlns:a="http://schemas.openxmlformats.org/drawingml/2006/main" noGrp="1"/>
          </p:cNvSpPr>
          <p:nvPr/>
        </p:nvSpPr>
        <p:spPr>
          <a:xfrm xmlns:a="http://schemas.openxmlformats.org/drawingml/2006/main">
            <a:off x="6534150" y="31051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4BD772FF-24AD-4D07-9F7E-E7ADF0949845}"/>
              </a:ext>
            </a:extLst>
          </p:cNvPr>
          <p:cNvSpPr>
            <a:spLocks xmlns:a="http://schemas.openxmlformats.org/drawingml/2006/main" noGrp="1"/>
          </p:cNvSpPr>
          <p:nvPr/>
        </p:nvSpPr>
        <p:spPr>
          <a:xfrm xmlns:a="http://schemas.openxmlformats.org/drawingml/2006/main">
            <a:off x="6953250" y="30956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Shared coordinate machinery</a:t>
            </a:r>
          </a:p>
        </p:txBody>
      </p:sp>
      <p:sp>
        <p:nvSpPr>
          <p:cNvPr id="25" name="">
            <a:extLst xmlns:a="http://schemas.openxmlformats.org/drawingml/2006/main">
              <a:ext uri="{FF2B5EF4-FFF2-40B4-BE49-F238E27FC236}">
                <a16:creationId xmlns:a16="http://schemas.microsoft.com/office/drawing/2014/main" id="{9CDC2601-48A9-408F-BC18-8F63307D5D70}"/>
              </a:ext>
            </a:extLst>
          </p:cNvPr>
          <p:cNvSpPr>
            <a:spLocks xmlns:a="http://schemas.openxmlformats.org/drawingml/2006/main" noGrp="1"/>
          </p:cNvSpPr>
          <p:nvPr/>
        </p:nvSpPr>
        <p:spPr>
          <a:xfrm xmlns:a="http://schemas.openxmlformats.org/drawingml/2006/main">
            <a:off x="6953250" y="338137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Zeroing the same state harms both checkpoints.</a:t>
            </a:r>
          </a:p>
        </p:txBody>
      </p:sp>
      <p:sp>
        <p:nvSpPr>
          <p:cNvPr id="26" name="">
            <a:extLst xmlns:a="http://schemas.openxmlformats.org/drawingml/2006/main">
              <a:ext uri="{FF2B5EF4-FFF2-40B4-BE49-F238E27FC236}">
                <a16:creationId xmlns:a16="http://schemas.microsoft.com/office/drawing/2014/main" id="{279BB181-14D2-494B-9EBC-5EAE48902698}"/>
              </a:ext>
            </a:extLst>
          </p:cNvPr>
          <p:cNvSpPr>
            <a:spLocks xmlns:a="http://schemas.openxmlformats.org/drawingml/2006/main" noGrp="1"/>
          </p:cNvSpPr>
          <p:nvPr/>
        </p:nvSpPr>
        <p:spPr>
          <a:xfrm xmlns:a="http://schemas.openxmlformats.org/drawingml/2006/main">
            <a:off x="6438900" y="40195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02B70C6-42D2-4352-9F34-904EC9FA5A42}"/>
              </a:ext>
            </a:extLst>
          </p:cNvPr>
          <p:cNvSpPr>
            <a:spLocks xmlns:a="http://schemas.openxmlformats.org/drawingml/2006/main" noGrp="1"/>
          </p:cNvSpPr>
          <p:nvPr/>
        </p:nvSpPr>
        <p:spPr>
          <a:xfrm xmlns:a="http://schemas.openxmlformats.org/drawingml/2006/main">
            <a:off x="6534150" y="40386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10286C0F-C2C5-47CC-926F-1DC53749B11B}"/>
              </a:ext>
            </a:extLst>
          </p:cNvPr>
          <p:cNvSpPr>
            <a:spLocks xmlns:a="http://schemas.openxmlformats.org/drawingml/2006/main" noGrp="1"/>
          </p:cNvSpPr>
          <p:nvPr/>
        </p:nvSpPr>
        <p:spPr>
          <a:xfrm xmlns:a="http://schemas.openxmlformats.org/drawingml/2006/main">
            <a:off x="6953250" y="40290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Distributed mechanism</a:t>
            </a:r>
          </a:p>
        </p:txBody>
      </p:sp>
      <p:sp>
        <p:nvSpPr>
          <p:cNvPr id="29" name="">
            <a:extLst xmlns:a="http://schemas.openxmlformats.org/drawingml/2006/main">
              <a:ext uri="{FF2B5EF4-FFF2-40B4-BE49-F238E27FC236}">
                <a16:creationId xmlns:a16="http://schemas.microsoft.com/office/drawing/2014/main" id="{541856B4-554A-4197-903C-93EE903E861A}"/>
              </a:ext>
            </a:extLst>
          </p:cNvPr>
          <p:cNvSpPr>
            <a:spLocks xmlns:a="http://schemas.openxmlformats.org/drawingml/2006/main" noGrp="1"/>
          </p:cNvSpPr>
          <p:nvPr/>
        </p:nvSpPr>
        <p:spPr>
          <a:xfrm xmlns:a="http://schemas.openxmlformats.org/drawingml/2006/main">
            <a:off x="6953250" y="43148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 single attention head explains the restoration effect.</a:t>
            </a:r>
          </a:p>
        </p:txBody>
      </p:sp>
      <p:sp>
        <p:nvSpPr>
          <p:cNvPr id="30" name="">
            <a:extLst xmlns:a="http://schemas.openxmlformats.org/drawingml/2006/main">
              <a:ext uri="{FF2B5EF4-FFF2-40B4-BE49-F238E27FC236}">
                <a16:creationId xmlns:a16="http://schemas.microsoft.com/office/drawing/2014/main" id="{B2E7C6B1-6C5E-48ED-9835-34FE649CAE05}"/>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C1009A20-92D0-40B0-BB65-0071C9F8D115}"/>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Current hypothesis: fine-tuning improves action-state formation more clearly than target-directed visual attention</a:t>
            </a:r>
          </a:p>
        </p:txBody>
      </p:sp>
      <p:sp>
        <p:nvSpPr>
          <p:cNvPr id="32" name="">
            <a:extLst xmlns:a="http://schemas.openxmlformats.org/drawingml/2006/main">
              <a:ext uri="{FF2B5EF4-FFF2-40B4-BE49-F238E27FC236}">
                <a16:creationId xmlns:a16="http://schemas.microsoft.com/office/drawing/2014/main" id="{B2A6AF3A-5F00-411E-99CF-9ABBAE1CD05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89765FA4-655D-4F00-A21D-D36CDFE97B2A}"/>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Attention is descriptive; the eight-prompt intervention is causal within one image</a:t>
            </a:r>
          </a:p>
        </p:txBody>
      </p:sp>
    </p:spTree>
    <p:extLst>
      <p:ext uri="{BB962C8B-B14F-4D97-AF65-F5344CB8AC3E}">
        <p14:creationId xmlns:p14="http://schemas.microsoft.com/office/powerpoint/2010/main" val="1007514314"/>
      </p:ext>
    </p:extLst>
  </p:cSld>
</p:sld>
</file>

<file path=ppt/slides/slide1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72E6568E-9528-49E7-9550-C5BAC42D0678}"/>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METHODS APPENDIX</a:t>
            </a:r>
          </a:p>
        </p:txBody>
      </p:sp>
      <p:sp>
        <p:nvSpPr>
          <p:cNvPr id="2" name="">
            <a:extLst xmlns:a="http://schemas.openxmlformats.org/drawingml/2006/main">
              <a:ext uri="{FF2B5EF4-FFF2-40B4-BE49-F238E27FC236}">
                <a16:creationId xmlns:a16="http://schemas.microsoft.com/office/drawing/2014/main" id="{AFF702BF-AA4C-402B-982C-F74BBE1E7204}"/>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3BC47759-8C18-4758-A824-B88AB8F5D998}"/>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8BD2BCF3-5557-41B8-A86D-613EBC5930DD}"/>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A attention weights · V value vectors · R rolled-out token influence · M image-patch map for generated x/y value tokens</a:t>
            </a:r>
          </a:p>
        </p:txBody>
      </p:sp>
      <p:sp>
        <p:nvSpPr>
          <p:cNvPr id="5" name="">
            <a:extLst xmlns:a="http://schemas.openxmlformats.org/drawingml/2006/main">
              <a:ext uri="{FF2B5EF4-FFF2-40B4-BE49-F238E27FC236}">
                <a16:creationId xmlns:a16="http://schemas.microsoft.com/office/drawing/2014/main" id="{3DF6D8B3-B851-41CB-9E04-63670D71D959}"/>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6" name="">
            <a:extLst xmlns:a="http://schemas.openxmlformats.org/drawingml/2006/main">
              <a:ext uri="{FF2B5EF4-FFF2-40B4-BE49-F238E27FC236}">
                <a16:creationId xmlns:a16="http://schemas.microsoft.com/office/drawing/2014/main" id="{8B9142E1-7EBF-4F0C-905E-5E64FD45B550}"/>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9845B69-4CC3-43F1-9657-E850E8591BC9}"/>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1A98EF5B-47DA-4B4F-A293-1C4721EB97E5}"/>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9" name="">
            <a:extLst xmlns:a="http://schemas.openxmlformats.org/drawingml/2006/main">
              <a:ext uri="{FF2B5EF4-FFF2-40B4-BE49-F238E27FC236}">
                <a16:creationId xmlns:a16="http://schemas.microsoft.com/office/drawing/2014/main" id="{D9777804-D5EC-43B9-AD6A-88A0BF370F9A}"/>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93A59D6-CD72-4EA1-8DAC-47FCEE662627}"/>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1" name="">
            <a:extLst xmlns:a="http://schemas.openxmlformats.org/drawingml/2006/main">
              <a:ext uri="{FF2B5EF4-FFF2-40B4-BE49-F238E27FC236}">
                <a16:creationId xmlns:a16="http://schemas.microsoft.com/office/drawing/2014/main" id="{6694657B-D8C3-4D60-B953-037489C6DC2E}"/>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Down-weight attention paths whose value vectors carry little magnitude</a:t>
            </a:r>
          </a:p>
        </p:txBody>
      </p:sp>
      <p:sp>
        <p:nvSpPr>
          <p:cNvPr id="12" name="">
            <a:extLst xmlns:a="http://schemas.openxmlformats.org/drawingml/2006/main">
              <a:ext uri="{FF2B5EF4-FFF2-40B4-BE49-F238E27FC236}">
                <a16:creationId xmlns:a16="http://schemas.microsoft.com/office/drawing/2014/main" id="{AF94D0D0-10C9-407A-8BEE-A398192A75C8}"/>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BB77CAAF-DC27-4353-AEF6-1F5024A312B3}"/>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452FCD3-7DD4-4E3F-BA41-ADE4B40D86A1}"/>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F4E37CA1-7309-4025-AC9E-AA3C70178DA3}"/>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6" name="">
            <a:extLst xmlns:a="http://schemas.openxmlformats.org/drawingml/2006/main">
              <a:ext uri="{FF2B5EF4-FFF2-40B4-BE49-F238E27FC236}">
                <a16:creationId xmlns:a16="http://schemas.microsoft.com/office/drawing/2014/main" id="{344BD2A7-61C3-4E98-BF2E-74D033D2B032}"/>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B3DE24B-E967-4597-BC0A-672118130ADD}"/>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8" name="">
            <a:extLst xmlns:a="http://schemas.openxmlformats.org/drawingml/2006/main">
              <a:ext uri="{FF2B5EF4-FFF2-40B4-BE49-F238E27FC236}">
                <a16:creationId xmlns:a16="http://schemas.microsoft.com/office/drawing/2014/main" id="{E623521F-E40E-4C48-9F4D-67A79B446A4A}"/>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eight captured full-attention blocks with residual flow</a:t>
            </a:r>
          </a:p>
        </p:txBody>
      </p:sp>
      <p:sp>
        <p:nvSpPr>
          <p:cNvPr id="19" name="">
            <a:extLst xmlns:a="http://schemas.openxmlformats.org/drawingml/2006/main">
              <a:ext uri="{FF2B5EF4-FFF2-40B4-BE49-F238E27FC236}">
                <a16:creationId xmlns:a16="http://schemas.microsoft.com/office/drawing/2014/main" id="{93DEB299-87D2-4CB2-AE63-AAA8BEF67C03}"/>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249C60F4-DCD5-4A73-A160-3643858E7775}"/>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8576788-808F-4277-B6E9-106A8BB16F18}"/>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2" name="">
            <a:extLst xmlns:a="http://schemas.openxmlformats.org/drawingml/2006/main">
              <a:ext uri="{FF2B5EF4-FFF2-40B4-BE49-F238E27FC236}">
                <a16:creationId xmlns:a16="http://schemas.microsoft.com/office/drawing/2014/main" id="{A5EFB31D-6C87-4DD7-8AF9-84AD1A85B3E1}"/>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TO PARAMETER</a:t>
            </a:r>
          </a:p>
        </p:txBody>
      </p:sp>
      <p:sp>
        <p:nvSpPr>
          <p:cNvPr id="23" name="">
            <a:extLst xmlns:a="http://schemas.openxmlformats.org/drawingml/2006/main">
              <a:ext uri="{FF2B5EF4-FFF2-40B4-BE49-F238E27FC236}">
                <a16:creationId xmlns:a16="http://schemas.microsoft.com/office/drawing/2014/main" id="{052259F1-CF01-4E83-ACA2-11490431DBA8}"/>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DDEFE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561D61E-8897-47C4-A5BA-43665B70B52B}"/>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5" name="">
            <a:extLst xmlns:a="http://schemas.openxmlformats.org/drawingml/2006/main">
              <a:ext uri="{FF2B5EF4-FFF2-40B4-BE49-F238E27FC236}">
                <a16:creationId xmlns:a16="http://schemas.microsoft.com/office/drawing/2014/main" id="{768E9B95-76FB-4E36-A892-30B53164FFFF}"/>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the x/y value-token maps so token length cannot inflate a parameter</a:t>
            </a:r>
          </a:p>
        </p:txBody>
      </p:sp>
      <p:sp>
        <p:nvSpPr>
          <p:cNvPr id="26" name="">
            <a:extLst xmlns:a="http://schemas.openxmlformats.org/drawingml/2006/main">
              <a:ext uri="{FF2B5EF4-FFF2-40B4-BE49-F238E27FC236}">
                <a16:creationId xmlns:a16="http://schemas.microsoft.com/office/drawing/2014/main" id="{96FD81D7-7AB1-44BE-B424-12C40066907D}"/>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The baseline determines the question</a:t>
            </a:r>
          </a:p>
        </p:txBody>
      </p:sp>
      <p:sp>
        <p:nvSpPr>
          <p:cNvPr id="27" name="">
            <a:extLst xmlns:a="http://schemas.openxmlformats.org/drawingml/2006/main">
              <a:ext uri="{FF2B5EF4-FFF2-40B4-BE49-F238E27FC236}">
                <a16:creationId xmlns:a16="http://schemas.microsoft.com/office/drawing/2014/main" id="{D53C2C42-2FA9-49A6-A23F-A64A911BF8A1}"/>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9D3DF95-4A14-4B6B-B3F9-8855FD623342}"/>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RAW VALUE-NORM MAP</a:t>
            </a:r>
          </a:p>
        </p:txBody>
      </p:sp>
      <p:sp>
        <p:nvSpPr>
          <p:cNvPr id="29" name="">
            <a:extLst xmlns:a="http://schemas.openxmlformats.org/drawingml/2006/main">
              <a:ext uri="{FF2B5EF4-FFF2-40B4-BE49-F238E27FC236}">
                <a16:creationId xmlns:a16="http://schemas.microsoft.com/office/drawing/2014/main" id="{94A7B5DB-8CD4-4898-B3E0-698A1ECA069E}"/>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Mtarget</a:t>
            </a:r>
          </a:p>
        </p:txBody>
      </p:sp>
      <p:sp>
        <p:nvSpPr>
          <p:cNvPr id="30" name="">
            <a:extLst xmlns:a="http://schemas.openxmlformats.org/drawingml/2006/main">
              <a:ext uri="{FF2B5EF4-FFF2-40B4-BE49-F238E27FC236}">
                <a16:creationId xmlns:a16="http://schemas.microsoft.com/office/drawing/2014/main" id="{21FB0D14-736F-47D3-9A69-62A300D6C614}"/>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Where does the generated coordinate draw value-weighted attention on this image?</a:t>
            </a:r>
          </a:p>
        </p:txBody>
      </p:sp>
      <p:sp>
        <p:nvSpPr>
          <p:cNvPr id="31" name="">
            <a:extLst xmlns:a="http://schemas.openxmlformats.org/drawingml/2006/main">
              <a:ext uri="{FF2B5EF4-FFF2-40B4-BE49-F238E27FC236}">
                <a16:creationId xmlns:a16="http://schemas.microsoft.com/office/drawing/2014/main" id="{A4D13429-FADA-4D87-A666-246035634890}"/>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2AF98488-87E5-4928-86C5-004739F4AB23}"/>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DIVERSE-INSTRUCTION BASELINE</a:t>
            </a:r>
          </a:p>
        </p:txBody>
      </p:sp>
      <p:sp>
        <p:nvSpPr>
          <p:cNvPr id="33" name="">
            <a:extLst xmlns:a="http://schemas.openxmlformats.org/drawingml/2006/main">
              <a:ext uri="{FF2B5EF4-FFF2-40B4-BE49-F238E27FC236}">
                <a16:creationId xmlns:a16="http://schemas.microsoft.com/office/drawing/2014/main" id="{8C991AA2-16E9-4E5A-8FF9-0AC7475280FE}"/>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Mtarget − mean(Mcontrol,k)</a:t>
            </a:r>
          </a:p>
        </p:txBody>
      </p:sp>
      <p:sp>
        <p:nvSpPr>
          <p:cNvPr id="34" name="">
            <a:extLst xmlns:a="http://schemas.openxmlformats.org/drawingml/2006/main">
              <a:ext uri="{FF2B5EF4-FFF2-40B4-BE49-F238E27FC236}">
                <a16:creationId xmlns:a16="http://schemas.microsoft.com/office/drawing/2014/main" id="{0893DA78-17C3-479C-AB89-335992D71563}"/>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remains specific to this instruction after shared image saliency is removed?</a:t>
            </a:r>
          </a:p>
        </p:txBody>
      </p:sp>
      <p:sp>
        <p:nvSpPr>
          <p:cNvPr id="35" name="">
            <a:extLst xmlns:a="http://schemas.openxmlformats.org/drawingml/2006/main">
              <a:ext uri="{FF2B5EF4-FFF2-40B4-BE49-F238E27FC236}">
                <a16:creationId xmlns:a16="http://schemas.microsoft.com/office/drawing/2014/main" id="{CF1E904F-6B52-4509-AE67-43FA4E919FB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E92C569C-6759-4B8D-9DBF-2A575D4030C6}"/>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Target lift = positive target-minus-control mass inside the target box ÷ target-box area fraction. 1× means a uniform residual map.</a:t>
            </a:r>
          </a:p>
        </p:txBody>
      </p:sp>
    </p:spTree>
    <p:extLst>
      <p:ext uri="{BB962C8B-B14F-4D97-AF65-F5344CB8AC3E}">
        <p14:creationId xmlns:p14="http://schemas.microsoft.com/office/powerpoint/2010/main" val="1793380865"/>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342A9A-BFBB-4121-9D40-D501E94F98C9}"/>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a:t>
            </a:r>
          </a:p>
        </p:txBody>
      </p:sp>
      <p:sp>
        <p:nvSpPr>
          <p:cNvPr id="2" name="">
            <a:extLst xmlns:a="http://schemas.openxmlformats.org/drawingml/2006/main">
              <a:ext uri="{FF2B5EF4-FFF2-40B4-BE49-F238E27FC236}">
                <a16:creationId xmlns:a16="http://schemas.microsoft.com/office/drawing/2014/main" id="{E9730E48-E091-4B12-8546-A1B37F8551A3}"/>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Examples for the 12 labeled UI × action cells</a:t>
            </a:r>
          </a:p>
        </p:txBody>
      </p:sp>
      <p:sp>
        <p:nvSpPr>
          <p:cNvPr id="3" name="">
            <a:extLst xmlns:a="http://schemas.openxmlformats.org/drawingml/2006/main">
              <a:ext uri="{FF2B5EF4-FFF2-40B4-BE49-F238E27FC236}">
                <a16:creationId xmlns:a16="http://schemas.microsoft.com/office/drawing/2014/main" id="{AC38F6C5-56C7-45A4-AAA2-E9FA42B73CAB}"/>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70956696-6E4D-487B-9C5E-2FF8E918124A}"/>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Rows use the benchmark's target-element label; columns use our instruction-verb taxonomy</a:t>
            </a:r>
          </a:p>
        </p:txBody>
      </p:sp>
      <p:graphicFrame>
        <p:nvGraphicFramePr>
          <p:cNvPr id="12" name=""/>
          <p:cNvGraphicFramePr/>
          <p:nvPr/>
        </p:nvGraphicFramePr>
        <p:xfrm>
          <a:off xmlns:a="http://schemas.openxmlformats.org/drawingml/2006/main" x="609600" y="1581150"/>
          <a:ext xmlns:a="http://schemas.openxmlformats.org/drawingml/2006/main" cx="10972800" cy="4286250"/>
        </p:xfrm>
        <a:graphic xmlns:a="http://schemas.openxmlformats.org/drawingml/2006/main">
          <a:graphicData uri="http://schemas.openxmlformats.org/drawingml/2006/table">
            <a:tbl>
              <a:tblPr/>
              <a:tblGrid>
                <a:gridCol w="895350"/>
                <a:gridCol w="1679575"/>
                <a:gridCol w="1679575"/>
                <a:gridCol w="1679575"/>
                <a:gridCol w="1679575"/>
                <a:gridCol w="1679575"/>
                <a:gridCol w="1679575"/>
              </a:tblGrid>
              <a:tr h="1428750">
                <a:tc>
                  <a:txBody>
                    <a:bodyPr>
                      <a:normAutofit/>
                    </a:bodyPr>
                    <a:lstStyle/>
                    <a:p>
                      <a:pPr algn="ctr"/>
                      <a:r>
                        <a:rPr sz="750" b="1">
                          <a:solidFill>
                            <a:srgbClr val="FFFFFF"/>
                          </a:solidFill>
                          <a:latin typeface="Helvetica Neue"/>
                          <a:ea typeface="Helvetica Neue"/>
                          <a:cs typeface="Helvetica Neue"/>
                        </a:rPr>
                        <a:t>OFFICIAL</a:t>
                      </a:r>
                    </a:p>
                    <a:p>
                      <a:pPr algn="ctr"/>
                      <a:r>
                        <a:rPr sz="750" b="1">
                          <a:solidFill>
                            <a:srgbClr val="FFFFFF"/>
                          </a:solidFill>
                          <a:latin typeface="Helvetica Neue"/>
                          <a:ea typeface="Helvetica Neue"/>
                          <a:cs typeface="Helvetica Neue"/>
                        </a:rPr>
                        <a:t>TARGET UI</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NAVIGATE</a:t>
                      </a:r>
                    </a:p>
                    <a:p>
                      <a:pPr algn="ctr"/>
                      <a:r>
                        <a:rPr sz="750" b="1">
                          <a:solidFill>
                            <a:srgbClr val="FFFFFF"/>
                          </a:solidFill>
                          <a:latin typeface="Helvetica Neue"/>
                          <a:ea typeface="Helvetica Neue"/>
                          <a:cs typeface="Helvetica Neue"/>
                        </a:rPr>
                        <a:t>REVEAL</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SELECT</a:t>
                      </a:r>
                    </a:p>
                    <a:p>
                      <a:pPr algn="ctr"/>
                      <a:r>
                        <a:rPr sz="750" b="1">
                          <a:solidFill>
                            <a:srgbClr val="FFFFFF"/>
                          </a:solidFill>
                          <a:latin typeface="Helvetica Neue"/>
                          <a:ea typeface="Helvetica Neue"/>
                          <a:cs typeface="Helvetica Neue"/>
                        </a:rPr>
                        <a:t>ACTIVATE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CREATE</a:t>
                      </a:r>
                    </a:p>
                    <a:p>
                      <a:pPr algn="ctr"/>
                      <a:r>
                        <a:rPr sz="750" b="1">
                          <a:solidFill>
                            <a:srgbClr val="FFFFFF"/>
                          </a:solidFill>
                          <a:latin typeface="Helvetica Neue"/>
                          <a:ea typeface="Helvetica Neue"/>
                          <a:cs typeface="Helvetica Neue"/>
                        </a:rPr>
                        <a:t>INSERT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EDIT</a:t>
                      </a:r>
                    </a:p>
                    <a:p>
                      <a:pPr algn="ctr"/>
                      <a:r>
                        <a:rPr sz="750" b="1">
                          <a:solidFill>
                            <a:srgbClr val="FFFFFF"/>
                          </a:solidFill>
                          <a:latin typeface="Helvetica Neue"/>
                          <a:ea typeface="Helvetica Neue"/>
                          <a:cs typeface="Helvetica Neue"/>
                        </a:rPr>
                        <a:t>FORMAT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REMOVE</a:t>
                      </a:r>
                    </a:p>
                    <a:p>
                      <a:pPr algn="ctr"/>
                      <a:r>
                        <a:rPr sz="750" b="1">
                          <a:solidFill>
                            <a:srgbClr val="FFFFFF"/>
                          </a:solidFill>
                          <a:latin typeface="Helvetica Neue"/>
                          <a:ea typeface="Helvetica Neue"/>
                          <a:cs typeface="Helvetica Neue"/>
                        </a:rPr>
                        <a:t>CLOSE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FILE</a:t>
                      </a:r>
                    </a:p>
                    <a:p>
                      <a:pPr algn="ctr"/>
                      <a:r>
                        <a:rPr sz="750" b="1">
                          <a:solidFill>
                            <a:srgbClr val="FFFFFF"/>
                          </a:solidFill>
                          <a:latin typeface="Helvetica Neue"/>
                          <a:ea typeface="Helvetica Neue"/>
                          <a:cs typeface="Helvetica Neue"/>
                        </a:rPr>
                        <a:t>TRANSFER</a:t>
                      </a:r>
                    </a:p>
                  </a:txBody>
                  <a:tcPr marL="85725" marR="85725" marT="76200" marB="76200" anchor="ctr">
                    <a:solidFill>
                      <a:srgbClr val="1C2733"/>
                    </a:solidFill>
                  </a:tcPr>
                </a:tc>
              </a:tr>
              <a:tr h="1428750">
                <a:tc>
                  <a:txBody>
                    <a:bodyPr>
                      <a:normAutofit/>
                    </a:bodyPr>
                    <a:lstStyle/>
                    <a:p>
                      <a:pPr algn="ctr"/>
                      <a:r>
                        <a:rPr sz="975" b="1">
                          <a:solidFill>
                            <a:srgbClr val="FFFFFF"/>
                          </a:solidFill>
                          <a:latin typeface="Helvetica Neue"/>
                          <a:ea typeface="Helvetica Neue"/>
                          <a:cs typeface="Helvetica Neue"/>
                        </a:rPr>
                        <a:t>ICON</a:t>
                      </a:r>
                    </a:p>
                  </a:txBody>
                  <a:tcPr marL="85725" marR="85725" marT="76200" marB="76200" anchor="ctr">
                    <a:solidFill>
                      <a:srgbClr val="1C2733"/>
                    </a:solidFill>
                  </a:tcPr>
                </a:tc>
                <a:tc>
                  <a:txBody>
                    <a:bodyPr>
                      <a:normAutofit/>
                    </a:bodyPr>
                    <a:lstStyle/>
                    <a:p>
                      <a:pPr algn="l"/>
                      <a:r>
                        <a:rPr sz="900" b="0">
                          <a:solidFill>
                            <a:srgbClr val="A33D29"/>
                          </a:solidFill>
                          <a:latin typeface="Helvetica Neue"/>
                          <a:ea typeface="Helvetica Neue"/>
                          <a:cs typeface="Helvetica Neue"/>
                        </a:rPr>
                        <a:t>40.3%   n=149</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“Refresh the file explorer.”</a:t>
                      </a:r>
                    </a:p>
                    <a:p>
                      <a:pPr algn="l"/>
                      <a:r>
                        <a:rPr sz="900" b="0">
                          <a:solidFill>
                            <a:srgbClr val="A33D29"/>
                          </a:solidFill>
                          <a:latin typeface="Helvetica Neue"/>
                          <a:ea typeface="Helvetica Neue"/>
                          <a:cs typeface="Helvetica Neue"/>
                        </a:rPr>
                        <a:t>VS Code</a:t>
                      </a:r>
                    </a:p>
                  </a:txBody>
                  <a:tcPr marL="85725" marR="85725" marT="76200" marB="76200" anchor="ctr">
                    <a:solidFill>
                      <a:srgbClr val="F7E4DB"/>
                    </a:solidFill>
                  </a:tcPr>
                </a:tc>
                <a:tc>
                  <a:txBody>
                    <a:bodyPr>
                      <a:normAutofit/>
                    </a:bodyPr>
                    <a:lstStyle/>
                    <a:p>
                      <a:pPr algn="l"/>
                      <a:r>
                        <a:rPr sz="900" b="0">
                          <a:solidFill>
                            <a:srgbClr val="10151C"/>
                          </a:solidFill>
                          <a:latin typeface="Helvetica Neue"/>
                          <a:ea typeface="Helvetica Neue"/>
                          <a:cs typeface="Helvetica Neue"/>
                        </a:rPr>
                        <a:t>52.6%   n=76</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the eraser tool”</a:t>
                      </a:r>
                    </a:p>
                    <a:p>
                      <a:pPr algn="l"/>
                      <a:r>
                        <a:rPr sz="900" b="0">
                          <a:solidFill>
                            <a:srgbClr val="10151C"/>
                          </a:solidFill>
                          <a:latin typeface="Helvetica Neue"/>
                          <a:ea typeface="Helvetica Neue"/>
                          <a:cs typeface="Helvetica Neue"/>
                        </a:rPr>
                        <a:t>Illustrator</a:t>
                      </a:r>
                    </a:p>
                  </a:txBody>
                  <a:tcPr marL="85725" marR="85725" marT="76200" marB="76200" anchor="ctr">
                    <a:solidFill>
                      <a:srgbClr val="F0E7DE"/>
                    </a:solidFill>
                  </a:tcPr>
                </a:tc>
                <a:tc>
                  <a:txBody>
                    <a:bodyPr>
                      <a:normAutofit/>
                    </a:bodyPr>
                    <a:lstStyle/>
                    <a:p>
                      <a:pPr algn="l"/>
                      <a:r>
                        <a:rPr sz="900" b="0">
                          <a:solidFill>
                            <a:srgbClr val="A33D29"/>
                          </a:solidFill>
                          <a:latin typeface="Helvetica Neue"/>
                          <a:ea typeface="Helvetica Neue"/>
                          <a:cs typeface="Helvetica Neue"/>
                        </a:rPr>
                        <a:t>43.2%   n=81</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“add new service in android studio using the icon”</a:t>
                      </a:r>
                    </a:p>
                    <a:p>
                      <a:pPr algn="l"/>
                      <a:r>
                        <a:rPr sz="900" b="0">
                          <a:solidFill>
                            <a:srgbClr val="A33D29"/>
                          </a:solidFill>
                          <a:latin typeface="Helvetica Neue"/>
                          <a:ea typeface="Helvetica Neue"/>
                          <a:cs typeface="Helvetica Neue"/>
                        </a:rPr>
                        <a:t>Android Studio</a:t>
                      </a:r>
                    </a:p>
                  </a:txBody>
                  <a:tcPr marL="85725" marR="85725" marT="76200" marB="76200" anchor="ctr">
                    <a:solidFill>
                      <a:srgbClr val="F5E5DC"/>
                    </a:solidFill>
                  </a:tcPr>
                </a:tc>
                <a:tc>
                  <a:txBody>
                    <a:bodyPr>
                      <a:normAutofit/>
                    </a:bodyPr>
                    <a:lstStyle/>
                    <a:p>
                      <a:pPr algn="l"/>
                      <a:r>
                        <a:rPr sz="900" b="0">
                          <a:solidFill>
                            <a:srgbClr val="10151C"/>
                          </a:solidFill>
                          <a:latin typeface="Helvetica Neue"/>
                          <a:ea typeface="Helvetica Neue"/>
                          <a:cs typeface="Helvetica Neue"/>
                        </a:rPr>
                        <a:t>45.0%   n=80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font color to red”</a:t>
                      </a:r>
                    </a:p>
                    <a:p>
                      <a:pPr algn="l"/>
                      <a:r>
                        <a:rPr sz="900" b="0">
                          <a:solidFill>
                            <a:srgbClr val="10151C"/>
                          </a:solidFill>
                          <a:latin typeface="Helvetica Neue"/>
                          <a:ea typeface="Helvetica Neue"/>
                          <a:cs typeface="Helvetica Neue"/>
                        </a:rPr>
                        <a:t>PowerPoint</a:t>
                      </a:r>
                    </a:p>
                  </a:txBody>
                  <a:tcPr marL="85725" marR="85725" marT="76200" marB="76200" anchor="ctr">
                    <a:solidFill>
                      <a:srgbClr val="F4E5DD"/>
                    </a:solidFill>
                  </a:tcPr>
                </a:tc>
                <a:tc>
                  <a:txBody>
                    <a:bodyPr>
                      <a:normAutofit/>
                    </a:bodyPr>
                    <a:lstStyle/>
                    <a:p>
                      <a:pPr algn="l"/>
                      <a:r>
                        <a:rPr sz="900" b="0">
                          <a:solidFill>
                            <a:srgbClr val="10151C"/>
                          </a:solidFill>
                          <a:latin typeface="Helvetica Neue"/>
                          <a:ea typeface="Helvetica Neue"/>
                          <a:cs typeface="Helvetica Neue"/>
                        </a:rPr>
                        <a:t>59.6%   n=52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“Close the piano window”</a:t>
                      </a:r>
                    </a:p>
                    <a:p>
                      <a:pPr algn="l"/>
                      <a:r>
                        <a:rPr sz="900" b="0">
                          <a:solidFill>
                            <a:srgbClr val="10151C"/>
                          </a:solidFill>
                          <a:latin typeface="Helvetica Neue"/>
                          <a:ea typeface="Helvetica Neue"/>
                          <a:cs typeface="Helvetica Neue"/>
                        </a:rPr>
                        <a:t>FL Studio</a:t>
                      </a:r>
                    </a:p>
                  </a:txBody>
                  <a:tcPr marL="85725" marR="85725" marT="76200" marB="76200" anchor="ctr">
                    <a:solidFill>
                      <a:srgbClr val="ECE8E0"/>
                    </a:solidFill>
                  </a:tcPr>
                </a:tc>
                <a:tc>
                  <a:txBody>
                    <a:bodyPr>
                      <a:normAutofit/>
                    </a:bodyPr>
                    <a:lstStyle/>
                    <a:p>
                      <a:pPr algn="l"/>
                      <a:r>
                        <a:rPr sz="900" b="0">
                          <a:solidFill>
                            <a:srgbClr val="A33D29"/>
                          </a:solidFill>
                          <a:latin typeface="Helvetica Neue"/>
                          <a:ea typeface="Helvetica Neue"/>
                          <a:cs typeface="Helvetica Neue"/>
                        </a:rPr>
                        <a:t>36.1%   n=36</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“Save a file”</a:t>
                      </a:r>
                    </a:p>
                    <a:p>
                      <a:pPr algn="l"/>
                      <a:r>
                        <a:rPr sz="900" b="0">
                          <a:solidFill>
                            <a:srgbClr val="A33D29"/>
                          </a:solidFill>
                          <a:latin typeface="Helvetica Neue"/>
                          <a:ea typeface="Helvetica Neue"/>
                          <a:cs typeface="Helvetica Neue"/>
                        </a:rPr>
                        <a:t>MATLAB</a:t>
                      </a:r>
                    </a:p>
                  </a:txBody>
                  <a:tcPr marL="85725" marR="85725" marT="76200" marB="76200" anchor="ctr">
                    <a:solidFill>
                      <a:srgbClr val="F9E3DA"/>
                    </a:solidFill>
                  </a:tcPr>
                </a:tc>
              </a:tr>
              <a:tr h="1428750">
                <a:tc>
                  <a:txBody>
                    <a:bodyPr>
                      <a:normAutofit/>
                    </a:bodyPr>
                    <a:lstStyle/>
                    <a:p>
                      <a:pPr algn="ctr"/>
                      <a:r>
                        <a:rPr sz="975" b="1">
                          <a:solidFill>
                            <a:srgbClr val="FFFFFF"/>
                          </a:solidFill>
                          <a:latin typeface="Helvetica Neue"/>
                          <a:ea typeface="Helvetica Neue"/>
                          <a:cs typeface="Helvetica Neue"/>
                        </a:rPr>
                        <a:t>TEXT</a:t>
                      </a:r>
                    </a:p>
                  </a:txBody>
                  <a:tcPr marL="85725" marR="85725" marT="76200" marB="76200" anchor="ctr">
                    <a:solidFill>
                      <a:srgbClr val="1C2733"/>
                    </a:solidFill>
                  </a:tcPr>
                </a:tc>
                <a:tc>
                  <a:txBody>
                    <a:bodyPr>
                      <a:normAutofit/>
                    </a:bodyPr>
                    <a:lstStyle/>
                    <a:p>
                      <a:pPr algn="l"/>
                      <a:r>
                        <a:rPr sz="900" b="0">
                          <a:solidFill>
                            <a:srgbClr val="10151C"/>
                          </a:solidFill>
                          <a:latin typeface="Helvetica Neue"/>
                          <a:ea typeface="Helvetica Neue"/>
                          <a:cs typeface="Helvetica Neue"/>
                        </a:rPr>
                        <a:t>77.0%   n=161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“Display the selection pane”</a:t>
                      </a:r>
                    </a:p>
                    <a:p>
                      <a:pPr algn="l"/>
                      <a:r>
                        <a:rPr sz="900" b="0">
                          <a:solidFill>
                            <a:srgbClr val="10151C"/>
                          </a:solidFill>
                          <a:latin typeface="Helvetica Neue"/>
                          <a:ea typeface="Helvetica Neue"/>
                          <a:cs typeface="Helvetica Neue"/>
                        </a:rPr>
                        <a:t>PowerPoint</a:t>
                      </a:r>
                    </a:p>
                  </a:txBody>
                  <a:tcPr marL="85725" marR="85725" marT="76200" marB="76200" anchor="ctr">
                    <a:solidFill>
                      <a:srgbClr val="E3ECE4"/>
                    </a:solidFill>
                  </a:tcPr>
                </a:tc>
                <a:tc>
                  <a:txBody>
                    <a:bodyPr>
                      <a:normAutofit/>
                    </a:bodyPr>
                    <a:lstStyle/>
                    <a:p>
                      <a:pPr algn="l"/>
                      <a:r>
                        <a:rPr sz="900" b="0">
                          <a:solidFill>
                            <a:srgbClr val="10151C"/>
                          </a:solidFill>
                          <a:latin typeface="Helvetica Neue"/>
                          <a:ea typeface="Helvetica Neue"/>
                          <a:cs typeface="Helvetica Neue"/>
                        </a:rPr>
                        <a:t>80.8%   n=151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Sheet1 in Book2”</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80.3%   n=152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“Create a new worksheet”</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79.4%   n=180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ending frame.”</a:t>
                      </a:r>
                    </a:p>
                    <a:p>
                      <a:pPr algn="l"/>
                      <a:r>
                        <a:rPr sz="900" b="0">
                          <a:solidFill>
                            <a:srgbClr val="10151C"/>
                          </a:solidFill>
                          <a:latin typeface="Helvetica Neue"/>
                          <a:ea typeface="Helvetica Neue"/>
                          <a:cs typeface="Helvetica Neue"/>
                        </a:rPr>
                        <a:t>Blender</a:t>
                      </a:r>
                    </a:p>
                  </a:txBody>
                  <a:tcPr marL="85725" marR="85725" marT="76200" marB="76200" anchor="ctr">
                    <a:solidFill>
                      <a:srgbClr val="E2EDE5"/>
                    </a:solidFill>
                  </a:tcPr>
                </a:tc>
                <a:tc>
                  <a:txBody>
                    <a:bodyPr>
                      <a:normAutofit/>
                    </a:bodyPr>
                    <a:lstStyle/>
                    <a:p>
                      <a:pPr algn="l"/>
                      <a:r>
                        <a:rPr sz="900" b="0">
                          <a:solidFill>
                            <a:srgbClr val="10151C"/>
                          </a:solidFill>
                          <a:latin typeface="Helvetica Neue"/>
                          <a:ea typeface="Helvetica Neue"/>
                          <a:cs typeface="Helvetica Neue"/>
                        </a:rPr>
                        <a:t>85.1%   n=47</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“Delete”</a:t>
                      </a:r>
                    </a:p>
                    <a:p>
                      <a:pPr algn="l"/>
                      <a:r>
                        <a:rPr sz="900" b="0">
                          <a:solidFill>
                            <a:srgbClr val="10151C"/>
                          </a:solidFill>
                          <a:latin typeface="Helvetica Neue"/>
                          <a:ea typeface="Helvetica Neue"/>
                          <a:cs typeface="Helvetica Neue"/>
                        </a:rPr>
                        <a:t>SolidWorks</a:t>
                      </a:r>
                    </a:p>
                  </a:txBody>
                  <a:tcPr marL="85725" marR="85725" marT="76200" marB="76200" anchor="ctr">
                    <a:solidFill>
                      <a:srgbClr val="DFEEE6"/>
                    </a:solidFill>
                  </a:tcPr>
                </a:tc>
                <a:tc>
                  <a:txBody>
                    <a:bodyPr>
                      <a:normAutofit/>
                    </a:bodyPr>
                    <a:lstStyle/>
                    <a:p>
                      <a:pPr algn="l"/>
                      <a:r>
                        <a:rPr sz="900" b="0">
                          <a:solidFill>
                            <a:srgbClr val="10151C"/>
                          </a:solidFill>
                          <a:latin typeface="Helvetica Neue"/>
                          <a:ea typeface="Helvetica Neue"/>
                          <a:cs typeface="Helvetica Neue"/>
                        </a:rPr>
                        <a:t>86.0%   n=43</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“Export the object”</a:t>
                      </a:r>
                    </a:p>
                    <a:p>
                      <a:pPr algn="l"/>
                      <a:r>
                        <a:rPr sz="900" b="0">
                          <a:solidFill>
                            <a:srgbClr val="10151C"/>
                          </a:solidFill>
                          <a:latin typeface="Helvetica Neue"/>
                          <a:ea typeface="Helvetica Neue"/>
                          <a:cs typeface="Helvetica Neue"/>
                        </a:rPr>
                        <a:t>Inventor</a:t>
                      </a:r>
                    </a:p>
                  </a:txBody>
                  <a:tcPr marL="85725" marR="85725" marT="76200" marB="76200" anchor="ctr">
                    <a:solidFill>
                      <a:srgbClr val="DEEEE6"/>
                    </a:solidFill>
                  </a:tcPr>
                </a:tc>
              </a:tr>
            </a:tbl>
          </a:graphicData>
        </a:graphic>
      </p:graphicFrame>
      <p:sp>
        <p:nvSpPr>
          <p:cNvPr id="6" name="">
            <a:extLst xmlns:a="http://schemas.openxmlformats.org/drawingml/2006/main">
              <a:ext uri="{FF2B5EF4-FFF2-40B4-BE49-F238E27FC236}">
                <a16:creationId xmlns:a16="http://schemas.microsoft.com/office/drawing/2014/main" id="{9F3B68C0-142C-4A4B-97C1-464FB43D9FE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90D9929-D65A-4440-94A6-6984236803EE}"/>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UI rule: icon only when no text hint appears; text otherwise. Examples show categories, not outcomes. Other omitted: 373 items, 64.1%.</a:t>
            </a:r>
          </a:p>
        </p:txBody>
      </p:sp>
    </p:spTree>
    <p:extLst>
      <p:ext uri="{BB962C8B-B14F-4D97-AF65-F5344CB8AC3E}">
        <p14:creationId xmlns:p14="http://schemas.microsoft.com/office/powerpoint/2010/main" val="14434972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2026-09-22T14:18:35.4900000Z</dcterms:created>
  <dcterms:modified xsi:type="dcterms:W3CDTF">2026-09-22T14:18:35.4900000Z</dcterms:modified>
</coreProperties>
</file>