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0a6680487644a8" /><Relationship Type="http://schemas.openxmlformats.org/officeDocument/2006/relationships/extended-properties" Target="/docProps/app.xml" Id="Rf7c36602bb47404d" /><Relationship Type="http://schemas.openxmlformats.org/officeDocument/2006/relationships/officeDocument" Target="/ppt/presentation.xml" Id="Rc8ff0d65d6e74bc7" /></Relationships>
</file>

<file path=ppt/presentation.xml><?xml version="1.0" encoding="utf-8"?>
<p:presentation xmlns:p="http://schemas.openxmlformats.org/presentationml/2006/main">
  <p:sldMasterIdLst>
    <p:sldMasterId xmlns:r="http://schemas.openxmlformats.org/officeDocument/2006/relationships" id="2147483648" r:id="R04b243f6b06e4c66"/>
  </p:sldMasterIdLst>
  <p:notesMasterIdLst>
    <p:notesMasterId xmlns:r="http://schemas.openxmlformats.org/officeDocument/2006/relationships" r:id="R4c0f9bee003d45b0"/>
  </p:notesMasterIdLst>
  <p:sldIdLst>
    <p:sldId xmlns:r="http://schemas.openxmlformats.org/officeDocument/2006/relationships" id="256" r:id="Rac4e43a7645d4977"/>
    <p:sldId xmlns:r="http://schemas.openxmlformats.org/officeDocument/2006/relationships" id="257" r:id="R01d2f70e39ae4360"/>
    <p:sldId xmlns:r="http://schemas.openxmlformats.org/officeDocument/2006/relationships" id="258" r:id="R38efe7820501421b"/>
    <p:sldId xmlns:r="http://schemas.openxmlformats.org/officeDocument/2006/relationships" id="259" r:id="R5e0ffae2ceb24b9e"/>
    <p:sldId xmlns:r="http://schemas.openxmlformats.org/officeDocument/2006/relationships" id="260" r:id="Rcc8e0f385bb94a26"/>
    <p:sldId xmlns:r="http://schemas.openxmlformats.org/officeDocument/2006/relationships" id="261" r:id="R80b4c5f8ec3b4908"/>
    <p:sldId xmlns:r="http://schemas.openxmlformats.org/officeDocument/2006/relationships" id="262" r:id="R70fd37e8e5d841c9"/>
    <p:sldId xmlns:r="http://schemas.openxmlformats.org/officeDocument/2006/relationships" id="263" r:id="R0fcd206384b344c1"/>
    <p:sldId xmlns:r="http://schemas.openxmlformats.org/officeDocument/2006/relationships" id="264" r:id="R9d03763191c74750"/>
    <p:sldId xmlns:r="http://schemas.openxmlformats.org/officeDocument/2006/relationships" id="265" r:id="R874f0ba3c1d44a62"/>
    <p:sldId xmlns:r="http://schemas.openxmlformats.org/officeDocument/2006/relationships" id="266" r:id="R773078416b2a4783"/>
    <p:sldId xmlns:r="http://schemas.openxmlformats.org/officeDocument/2006/relationships" id="267" r:id="Rd610044b07fa4c82"/>
    <p:sldId xmlns:r="http://schemas.openxmlformats.org/officeDocument/2006/relationships" id="268" r:id="R7926fcf5025f43bd"/>
    <p:sldId xmlns:r="http://schemas.openxmlformats.org/officeDocument/2006/relationships" id="269" r:id="Rea923258d1564cf6"/>
    <p:sldId xmlns:r="http://schemas.openxmlformats.org/officeDocument/2006/relationships" id="270" r:id="Raa335ba46aad468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c48b28da8f4535" /><Relationship Type="http://schemas.openxmlformats.org/officeDocument/2006/relationships/slideMaster" Target="/ppt/slideMasters/slideMaster1.xml" Id="R04b243f6b06e4c66" /><Relationship Type="http://schemas.openxmlformats.org/officeDocument/2006/relationships/notesMaster" Target="/ppt/notesMasters/notesMaster1.xml" Id="R4c0f9bee003d45b0" /><Relationship Type="http://schemas.openxmlformats.org/officeDocument/2006/relationships/presProps" Target="/ppt/presProps.xml" Id="Rfe76df643df840da" /><Relationship Type="http://schemas.openxmlformats.org/officeDocument/2006/relationships/tableStyles" Target="/ppt/tableStyles.xml" Id="R449841229b484534" /><Relationship Type="http://schemas.openxmlformats.org/officeDocument/2006/relationships/slide" Target="/ppt/slides/slide1.xml" Id="Rac4e43a7645d4977" /><Relationship Type="http://schemas.openxmlformats.org/officeDocument/2006/relationships/slide" Target="/ppt/slides/slide2.xml" Id="R01d2f70e39ae4360" /><Relationship Type="http://schemas.openxmlformats.org/officeDocument/2006/relationships/slide" Target="/ppt/slides/slide3.xml" Id="R38efe7820501421b" /><Relationship Type="http://schemas.openxmlformats.org/officeDocument/2006/relationships/slide" Target="/ppt/slides/slide4.xml" Id="R5e0ffae2ceb24b9e" /><Relationship Type="http://schemas.openxmlformats.org/officeDocument/2006/relationships/slide" Target="/ppt/slides/slide5.xml" Id="Rcc8e0f385bb94a26" /><Relationship Type="http://schemas.openxmlformats.org/officeDocument/2006/relationships/slide" Target="/ppt/slides/slide6.xml" Id="R80b4c5f8ec3b4908" /><Relationship Type="http://schemas.openxmlformats.org/officeDocument/2006/relationships/slide" Target="/ppt/slides/slide7.xml" Id="R70fd37e8e5d841c9" /><Relationship Type="http://schemas.openxmlformats.org/officeDocument/2006/relationships/slide" Target="/ppt/slides/slide8.xml" Id="R0fcd206384b344c1" /><Relationship Type="http://schemas.openxmlformats.org/officeDocument/2006/relationships/slide" Target="/ppt/slides/slide9.xml" Id="R9d03763191c74750" /><Relationship Type="http://schemas.openxmlformats.org/officeDocument/2006/relationships/slide" Target="/ppt/slides/slide10.xml" Id="R874f0ba3c1d44a62" /><Relationship Type="http://schemas.openxmlformats.org/officeDocument/2006/relationships/slide" Target="/ppt/slides/slide11.xml" Id="R773078416b2a4783" /><Relationship Type="http://schemas.openxmlformats.org/officeDocument/2006/relationships/slide" Target="/ppt/slides/slide12.xml" Id="Rd610044b07fa4c82" /><Relationship Type="http://schemas.openxmlformats.org/officeDocument/2006/relationships/slide" Target="/ppt/slides/slide13.xml" Id="R7926fcf5025f43bd" /><Relationship Type="http://schemas.openxmlformats.org/officeDocument/2006/relationships/slide" Target="/ppt/slides/slide14.xml" Id="Rea923258d1564cf6" /><Relationship Type="http://schemas.openxmlformats.org/officeDocument/2006/relationships/slide" Target="/ppt/slides/slide15.xml" Id="Raa335ba46aad468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2e657af212c4f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335a33d80849e3" /><Relationship Type="http://schemas.openxmlformats.org/officeDocument/2006/relationships/notesMaster" Target="/ppt/notesMasters/notesMaster1.xml" Id="Rad70b4cd1c8c40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ab1fd34e634041" /><Relationship Type="http://schemas.openxmlformats.org/officeDocument/2006/relationships/notesMaster" Target="/ppt/notesMasters/notesMaster1.xml" Id="R32c9cb3e1a824b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9303ea19ae461d" /><Relationship Type="http://schemas.openxmlformats.org/officeDocument/2006/relationships/notesMaster" Target="/ppt/notesMasters/notesMaster1.xml" Id="R6ebd9cc8f3224e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c6278a14d145ae" /><Relationship Type="http://schemas.openxmlformats.org/officeDocument/2006/relationships/notesMaster" Target="/ppt/notesMasters/notesMaster1.xml" Id="R84cc33024eb346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3d475e3bdb4e89" /><Relationship Type="http://schemas.openxmlformats.org/officeDocument/2006/relationships/notesMaster" Target="/ppt/notesMasters/notesMaster1.xml" Id="R56ba173228344c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df5bc782c144f5" /><Relationship Type="http://schemas.openxmlformats.org/officeDocument/2006/relationships/notesMaster" Target="/ppt/notesMasters/notesMaster1.xml" Id="Rc416118e74aa4e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ebbaf2924b64939" /><Relationship Type="http://schemas.openxmlformats.org/officeDocument/2006/relationships/notesMaster" Target="/ppt/notesMasters/notesMaster1.xml" Id="R2c1104024db74c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64bcca2caa485b" /><Relationship Type="http://schemas.openxmlformats.org/officeDocument/2006/relationships/notesMaster" Target="/ppt/notesMasters/notesMaster1.xml" Id="Rfcb62534b3e84d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01c38bcdef45c4" /><Relationship Type="http://schemas.openxmlformats.org/officeDocument/2006/relationships/notesMaster" Target="/ppt/notesMasters/notesMaster1.xml" Id="Rd0d05da4770d4a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de5e148f8594937" /><Relationship Type="http://schemas.openxmlformats.org/officeDocument/2006/relationships/notesMaster" Target="/ppt/notesMasters/notesMaster1.xml" Id="Rb69299fd20dc48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dcf8b5175f4220" /><Relationship Type="http://schemas.openxmlformats.org/officeDocument/2006/relationships/notesMaster" Target="/ppt/notesMasters/notesMaster1.xml" Id="R2a061f09623047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e987c0eefc499e" /><Relationship Type="http://schemas.openxmlformats.org/officeDocument/2006/relationships/notesMaster" Target="/ppt/notesMasters/notesMaster1.xml" Id="Rc75ee03abfa344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cc41ead40e4612" /><Relationship Type="http://schemas.openxmlformats.org/officeDocument/2006/relationships/notesMaster" Target="/ppt/notesMasters/notesMaster1.xml" Id="R8cadd7288d5d4f2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db3e5eb2304eea" /><Relationship Type="http://schemas.openxmlformats.org/officeDocument/2006/relationships/notesMaster" Target="/ppt/notesMasters/notesMaster1.xml" Id="R54c874e7372a42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f908c632a194e4b" /><Relationship Type="http://schemas.openxmlformats.org/officeDocument/2006/relationships/notesMaster" Target="/ppt/notesMasters/notesMaster1.xml" Id="R1c9a4ec0c32148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subject: how visual evidence reaches GUI actions, where resolution disrupts that route, and how fine-tuning changes the internal coordinate state.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Introduce two complementary capabilities. ScreenSpot-Pro isolates static UI localization from one screenshot and instruction. The synthetic hotel environment tests context retrieval and action formation across a sequence of screenshots. The matched test-0010 case runs Holo and its Qwen base independently from the same frozen fixture at native resolution, using the official HoloDesktop 0.1.10 tools, normalized coordinates, a four-action cap, and the three-screenshot retention policy. The incomplete multi-case batch is excluded from the finalized evidence set because a 384-token output cap truncated four Holo responses. Sources: docs/screenspot-case-study.md and data/remote-results/hotel-freegen-paired-v1-20260922/hotel-freegen-paired-v1/{holo,qwen}/bundles/test-0010.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2:55–3:50 — This is a paired success-retention experiment, not a new unconditional ScreenSpot-Pro accuracy estimate. We froze 36 items that were strict hits in the full native-resolution run: six size-spread targets in each application-by-UI-type stratum across Photoshop, PowerPoint, and VS Code. Every item was rerun in one Holo model process at 100%, 75%, 50%, and 25% of its original width and height using Lanczos downsampling. The official localization prompt, VisualLocalizerOutput schema, temperature zero, thinking-disabled decoding, and normalized 0–1000 coordinates remain fixed. The server stays at image_max_pixels 16777216, so it cannot add a second hidden resize. The same-run native rerun is 36 of 36. Retention is 25 of 36 at 75%, 22 of 36 at 50%, and 4 of 36 at 25% linear resolution. Wilson 95% intervals are 53.1 to 82.0%, 44.9 to 75.2%, and 4.4 to 25.3%. At half resolution, text targets retain 15 of 18 clicks while icon targets retain 7 of 18. Retained targets have about 4.1 times the median normalized area of failures. All 144 completions are valid JSON. The cohort is selected on native success, so use this as evidence of resolution sensitivity, not as the benchmark's full accuracy curve. Sources: artifacts/screenspot-presentation/screenspot-resolution-ablation-v1.json, docs/screenspot-resolution-ablation.md, and benchmarks/resolution_ablation/screenspot_success_retention_v1.json.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3:50–4:30 — This expands the six-case pilot to 18 native-resolution successes, balanced at three cases in each application-by-UI-type stratum across Photoshop, PowerPoint, and VS Code. Each case runs at 100, 75, 50, and 25 percent linear resolution. At every scale, Holo receives the official localization prompt and VisualLocalizerOutput contract, then the eager-attention harness traces the freely generated coordinate tokens. The primary attribution is value-norm rollout after subtracting the mean of four visible same-image alternate instructions. Median target-specific mass falls from 5.22 percent at native resolution to 2.18, 1.16, and 0.21 percent as resolution decreases, a 24-fold cohort-level reduction at quarter resolution. The paired within-case median retains 6.23 percent of native target mass at quarter resolution, with a bootstrap 95 percent interval of 0.18 to 14.47 percent. Median target lift falls from 168.7 to 5.4, and median best-target-patch rank falls from first to 6.5. Strict hits fall from 18 of 18 to 12, 10, and 3 of 18. In the exact Photoshop trace shown here, the processor records a 90 by 160 raw visual patch grid at native resolution and 22 by 40 at quarter resolution. With the model's two-by-two spatial merge, that is about 3,600 versus 220 visual tokens. The lower-resolution input is therefore not padded back to a fixed approximately one-thousand-token budget; the remaining resolution confounds are reduced spatial sampling and downsampling or aliasing. Localization loss explains most failures, but not all: 7 of 29 non-native misses still place the highest prompt-differential patch inside the oracle, including 3 of 8 misses at half resolution and 3 of 15 at quarter resolution. This repeatable dissociation motivates a separate coordinate-readout hypothesis. The cohort is conditioned on native success and remains a paired sensitivity diagnostic rather than an unconditional benchmark estimate. Sources: artifacts/screenspot-presentation/resolution-saliency-cohort18-v1/summary.json, data/remote-results/screenspot-resolution-saliency-pilot-v1, and docs/screenspot-resolution-saliency-cohort18.md.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4:30–5:30 — Pull back to the larger screenshot context. The left panel is value-norm rollout for Holo's freely generated x/y coordinate tokens without an instruction baseline. It puts 4.43% of positive mass in the tiny oracle, a 110.7x lift, but also retains saliency shared across the image edge, upper-left chrome, and broad canvas structure. The right panel subtracts the mean of four separately measured same-image instructions: Cut, Copy, Send backward, and Add comment. This resting-state-like control suppresses those instruction-invariant false positives and raises target-specific concentration to 18.58% and 464.4x lift; the minimum leave-one-control-out cosine is 0.991. Both panels use the same native 2880x1800 screenshot, official localization prompt, Holo output (209,243), and x/y token aggregation. The subtraction isolates instruction-conditioned saliency; neither map by itself proves a causal mechanism.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5:30–6:20 — This failure uses the same full-resolution official protocol and a four-instruction same-image baseline. Holo freely emits (124,73), projecting to (357.1,131.4) pixels. The x coordinate falls inside the annotated proofing-language control, while y lands 7.4 pixels below its bottom edge. After value-norm rollout and subtraction of Check accessibility, Translate, Add comment, and Show comments, the peak patch remains inside the oracle. The tiny box receives 17.15% of positive residual mass, a 278.6x lift, with a 0.951 leave-one-control-out floor. This pattern is consistent with localized visual evidence followed by imprecise coordinate extraction. Attention remains descriptive rather than causal. Source: data/remote-results/slide67-native-controls-20260922 and artifacts/screenspot-presentation/slide67-native-contrast-v1.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6:20–7:20 — This slide reports one complete matched free-generation case and excludes the incomplete multi-case batch. Holo and Qwen start from the same frozen test-0010 fixture, use native 1280 by 800 screenshots, the official HoloDesktop 0.1.10 tool schema, normalized coordinates, and a four-action cap. Holo scrolls 500 pixels twice, inventories all six prices, then clicks Fjord Compass Lodge at normalized (1023,208). Qwen scrolls 250 pixels four times. By its third response, Qwen records €166 as the lowest observed price, but it spends the fourth action scrolling again and reaches the cap without clicking. This supports a stopping and action-readout hypothesis within one case, not a checkpoint accuracy claim. The visual uses a separately traced Holo replicate on the same fixture: two scrolls followed by click (1023,216). Its final value-norm rollout appears across the two retained history frames and the current frame. These maps remain descriptive and do not include same-image diverse-instruction subtraction. The larger batch is absent from the finalized evidence because a 384-token cap truncated four Holo responses. Sources: data/remote-results/hotel-freegen-paired-v1-20260922/hotel-freegen-paired-v1/holo/bundles/test-0010; data/remote-results/hotel-freegen-paired-v1-20260922/hotel-freegen-paired-v1/qwen/bundles/test-0010; artifacts/screenspot-presentation/hotel-freegen-paired-v1-attribution/trajectory.json.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7:20–8:20 — Define the causal panel without phase labels. Four equal-size tile pairs produce eight mirrored instructions. The corruption swaps the target and distractor tiles without resizing or changing the prompt. Both checkpoints receive the Holo processor and official VisualLocalizerOutput request. The model is teacher-forced through equal-length coordinate candidates. The metric is the x-digit log-probability margin because the paired y coordinate stays fixed in this horizontal panel. First screen visual-region residuals and coordinate states across layers. Then test the selected Layer 15 coordinate state and all sixteen attention heads. Sources: benchmarks/activation_patching/qwen_holo_action_panel_v1 and benchmarks/activation_patching/qwen_holo_action_panel_v1_phase_b_layer15.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8:20–9:20 — Lead with the directly interpretable intervention. Replacing the corrupted-run Layer 15 x-coordinate residual with the clean-run state raises Holo's target-over-distractor margin by a median 1.01 nats in seven of eight prompts. Qwen's median is 0.10 nats and is positive in five of eight. The paired Holo-minus-Qwen median is 0.718 nats. Because the margin is a log target-versus-distractor sequence likelihood ratio, exponentiating the paired difference gives a 2.05-times likelihood-ratio recovery, or 105 percent larger. A paired nonparametric bootstrap gives a 95 percent interval of 1.74 to 3.15 times. An exact one-sided paired sign-flip test over all 256 assignments gives p=0.0078; with only eight mirrored prompts from four synthetic image pairs, treat this as exploratory within-panel evidence rather than population-level benchmark significance. Zero-ablation means setting that same Layer 15 coordinate residual to zero in the clean run, then measuring the clean-margin loss: 4.51 nats for Holo and 6.27 for Qwen. Both checkpoints rely on the state, so fine-tuning increases recoverability rather than creating a Holo-exclusive circuit. The all-head sweep also rejects a single-head explanation. Sources: artifacts/screenspot-presentation/causal-panel-statistics-v1.json, data/remote-results/qwen-holo-action-panel-v1-20260922, and data/remote-results/qwen-holo-action-panel-v1-20260922-phase-b-layer15.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9:20–10:10 — The 18-case resolution-attribution cohort is complete, so it is no longer listed as future work. The next resolution experiment should separate reduced spatial sampling from resampling artifacts by independently controlling image blur and visual-grid size. The complete matched hotel case motivates two tests: add same-image alternate-instruction controls to the multi-frame trace, then intervene on retained frames; and repeat the matched comparison across new fixtures with a validated completion budget to test stopping and action readout. The Layer 15 panel has a paired effect across eight mirrored prompts, but it still needs independent screenshots and applications before a broad mechanism claim. Sources: artifacts/screenspot-presentation/resolution-saliency-cohort18-v1/summary.json; artifacts/screenspot-presentation/hotel-freegen-paired-v1-attribution/trajectory.json; artifacts/screenspot-presentation/causal-panel-statistics-v1.json.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10:10–11:10 — Close the main deck on the combined evidence. ScreenSpot replication shows that geometry and resolution strongly condition localization. Only four of 36 native-success clicks survive at quarter resolution, and the balanced 18-case attribution cohort finds a 24-fold drop in median target-specific mass. Most reduced-resolution misses also lose target localization, but 7 of 29 still place the highest task-specific patch inside the annotated target. In the complete matched hotel case, both checkpoints record €166 as the lowest observed price. Holo terminates with the correct click after two scrolls, while Qwen spends all four actions scrolling. The separately traced Holo replicate carries value-weighted attention across all three retained frames. This one case motivates a stopping and action-readout hypothesis but does not estimate checkpoint accuracy. The causal panel adds the strongest model-comparison evidence: Holo develops a more recoverable Layer 15 coordinate state than Qwen, while both models rely on that state and no single attention head explains the effect. The current hypothesis is that fine-tuning strengthens action-state formation and coordinate extraction more clearly than value-weighted target grounding. Slides A1 and A2 are backup material for methods and benchmark taxonomy.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methods slide — Value-norm multiplies attention weights by the corresponding value-vector magnitude before normalization. Residual-aware rollout mixes each captured full-attention matrix with identity and composes the eight matrices in model order. We average only the generated x/y value-token maps. The raw map asks where the coordinate route goes. The diverse-instruction baseline subtracts four same-image alternate tasks and asks what remains specific to the target instruction. Target lift compares positive target mass with the target's share of image area. Hybrid Gated DeltaNet layers do not expose an equivalent square attention matrix and therefore sit outside this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09c3d5e55f4f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96c28e9f374ef6" /><Relationship Type="http://schemas.openxmlformats.org/officeDocument/2006/relationships/slideLayout" Target="/ppt/slideLayouts/slideLayout1.xml" Id="R36577e02017c4d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577e02017c4d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df99e81cbc04f24" /><Relationship Type="http://schemas.openxmlformats.org/officeDocument/2006/relationships/image" Target="/ppt/media/image.png" Id="Rdcd5ba18ac4744e5" /><Relationship Type="http://schemas.openxmlformats.org/officeDocument/2006/relationships/notesSlide" Target="/ppt/notesSlides/notesSlide1.xml" Id="R80db3668af5940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1b922e081b496d" /><Relationship Type="http://schemas.openxmlformats.org/officeDocument/2006/relationships/notesSlide" Target="/ppt/notesSlides/notesSlide2.xml" Id="R00614d0936694b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731a2825c04197" /><Relationship Type="http://schemas.openxmlformats.org/officeDocument/2006/relationships/chart" Target="/ppt/slides/charts/chart1.xml" Id="R3b23817b54334f60" /><Relationship Type="http://schemas.openxmlformats.org/officeDocument/2006/relationships/notesSlide" Target="/ppt/notesSlides/notesSlide3.xml" Id="Re82f42c18caf4d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cf44c41aa614037" /><Relationship Type="http://schemas.openxmlformats.org/officeDocument/2006/relationships/chart" Target="/ppt/slides/charts/chart2.xml" Id="R13756c6980544486" /><Relationship Type="http://schemas.openxmlformats.org/officeDocument/2006/relationships/notesSlide" Target="/ppt/notesSlides/notesSlide4.xml" Id="R36b448f56b3b46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bcff48511c248f1" /><Relationship Type="http://schemas.openxmlformats.org/officeDocument/2006/relationships/chart" Target="/ppt/slides/charts/chart3.xml" Id="R287b420cc7d84cf4" /><Relationship Type="http://schemas.openxmlformats.org/officeDocument/2006/relationships/notesSlide" Target="/ppt/notesSlides/notesSlide5.xml" Id="R4b77d2e03aec41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9333767ba845b7" /><Relationship Type="http://schemas.openxmlformats.org/officeDocument/2006/relationships/image" Target="/ppt/media/image2.png" Id="R9986766a8a2444ba" /><Relationship Type="http://schemas.openxmlformats.org/officeDocument/2006/relationships/image" Target="/ppt/media/image3.png" Id="R8ad71fc4f08b4cca" /><Relationship Type="http://schemas.openxmlformats.org/officeDocument/2006/relationships/image" Target="/ppt/media/image4.png" Id="R876323bc76404d10" /><Relationship Type="http://schemas.openxmlformats.org/officeDocument/2006/relationships/image" Target="/ppt/media/image5.png" Id="R74c229ea3beb4bff" /><Relationship Type="http://schemas.openxmlformats.org/officeDocument/2006/relationships/notesSlide" Target="/ppt/notesSlides/notesSlide6.xml" Id="Rc5d15f30bb5b4d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d5e5326feb44c5d" /><Relationship Type="http://schemas.openxmlformats.org/officeDocument/2006/relationships/image" Target="/ppt/media/image6.png" Id="R21393a348c694d0c" /><Relationship Type="http://schemas.openxmlformats.org/officeDocument/2006/relationships/image" Target="/ppt/media/image7.png" Id="Ra3644c7349d5443e" /><Relationship Type="http://schemas.openxmlformats.org/officeDocument/2006/relationships/notesSlide" Target="/ppt/notesSlides/notesSlide7.xml" Id="R6ba1e09e9a2340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360a861c9f246e0" /><Relationship Type="http://schemas.openxmlformats.org/officeDocument/2006/relationships/image" Target="/ppt/media/image8.png" Id="R4d468b7e0b2548f4" /><Relationship Type="http://schemas.openxmlformats.org/officeDocument/2006/relationships/notesSlide" Target="/ppt/notesSlides/notesSlide8.xml" Id="Rf09f8d35bacd49d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0dd178bf2b84ff5" /><Relationship Type="http://schemas.openxmlformats.org/officeDocument/2006/relationships/image" Target="/ppt/media/image9.png" Id="R5a35b642c7154622" /><Relationship Type="http://schemas.openxmlformats.org/officeDocument/2006/relationships/image" Target="/ppt/media/image10.png" Id="Rfd3b1d5b1e74472e" /><Relationship Type="http://schemas.openxmlformats.org/officeDocument/2006/relationships/image" Target="/ppt/media/image11.png" Id="R1f33b3c9af0f4032" /><Relationship Type="http://schemas.openxmlformats.org/officeDocument/2006/relationships/notesSlide" Target="/ppt/notesSlides/notesSlide9.xml" Id="R681299628361491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cbbc641160949b9" /><Relationship Type="http://schemas.openxmlformats.org/officeDocument/2006/relationships/image" Target="/ppt/media/image12.png" Id="Rd324b5432092438f" /><Relationship Type="http://schemas.openxmlformats.org/officeDocument/2006/relationships/image" Target="/ppt/media/image13.png" Id="Rc1ea100490a94fe7" /><Relationship Type="http://schemas.openxmlformats.org/officeDocument/2006/relationships/notesSlide" Target="/ppt/notesSlides/notesSlide10.xml" Id="R3c0ad5f9b22a4c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2e1022c8724efb" /><Relationship Type="http://schemas.openxmlformats.org/officeDocument/2006/relationships/notesSlide" Target="/ppt/notesSlides/notesSlide11.xml" Id="R1e2600af0f7145e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08ea2673bb41b6" /><Relationship Type="http://schemas.openxmlformats.org/officeDocument/2006/relationships/notesSlide" Target="/ppt/notesSlides/notesSlide12.xml" Id="Re79a351a7d3143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62ebe912ea44f7b" /><Relationship Type="http://schemas.openxmlformats.org/officeDocument/2006/relationships/notesSlide" Target="/ppt/notesSlides/notesSlide13.xml" Id="R23c7fc5647d241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00705f8aeaa45ff" /><Relationship Type="http://schemas.openxmlformats.org/officeDocument/2006/relationships/notesSlide" Target="/ppt/notesSlides/notesSlide14.xml" Id="R1a88617d0708433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f1050b84084462" /><Relationship Type="http://schemas.openxmlformats.org/officeDocument/2006/relationships/notesSlide" Target="/ppt/notesSlides/notesSlide15.xml" Id="Rf5a79f2f8ff84e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Success retention</c:v>
          </c:tx>
          <c:spPr>
            <a:solidFill xmlns:a="http://schemas.openxmlformats.org/drawingml/2006/main">
              <a:srgbClr val="2D84D3"/>
            </a:solidFill>
          </c:spPr>
          <c:cat>
            <c:strRef>
              <c:f>'Chart Data'!$A$2:$A$5</c:f>
              <c:strCache>
                <c:ptCount val="4"/>
                <c:pt idx="0">
                  <c:v>100%
100% area</c:v>
                </c:pt>
                <c:pt idx="1">
                  <c:v>75%
56% area</c:v>
                </c:pt>
                <c:pt idx="2">
                  <c:v>50%
25% area</c:v>
                </c:pt>
                <c:pt idx="3">
                  <c:v>25%
6.25% area</c:v>
                </c:pt>
              </c:strCache>
            </c:strRef>
          </c:cat>
          <c:val>
            <c:numRef>
              <c:f>'Chart Data'!$B$2:$B$5</c:f>
              <c:numCache>
                <c:formatCode>General</c:formatCode>
                <c:ptCount val="4"/>
                <c:pt idx="0">
                  <c:v>100</c:v>
                </c:pt>
                <c:pt idx="1">
                  <c:v>69.4</c:v>
                </c:pt>
                <c:pt idx="2">
                  <c:v>61.1</c:v>
                </c:pt>
                <c:pt idx="3">
                  <c:v>11.1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Linear resolution and retained source area</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Previously correct clicks retained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cd5ba18ac4744e5"/>
          <a:srcRect xmlns:a="http://schemas.openxmlformats.org/drawingml/2006/main" l="28000" t="8000" r="28000" b="8000"/>
          <a:stretch xmlns:a="http://schemas.openxmlformats.org/drawingml/2006/main"/>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FD1BF8-DC5F-467C-972C-62AC43093C2C}"/>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F32E30-42A6-4C5E-BD41-BAC743380427}"/>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65D7E27-0C50-4A8A-9B3F-DF56FF494666}"/>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4223673-B38C-4337-B110-AB14A424FD62}"/>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6FF39DEA-1042-464A-8FAB-3FF549D4C143}"/>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Visual evidence and</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GUI action formation</a:t>
            </a:r>
          </a:p>
        </p:txBody>
      </p:sp>
      <p:sp>
        <p:nvSpPr>
          <p:cNvPr id="7" name="">
            <a:extLst xmlns:a="http://schemas.openxmlformats.org/drawingml/2006/main">
              <a:ext uri="{FF2B5EF4-FFF2-40B4-BE49-F238E27FC236}">
                <a16:creationId xmlns:a16="http://schemas.microsoft.com/office/drawing/2014/main" id="{2E01D2B7-A347-4BE2-AF89-90ABC1E3A586}"/>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F7928F8E-0933-4147-BDB9-FFF11A8F60EF}"/>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and NVIDIA traces · 22 Sep 2026</a:t>
            </a:r>
          </a:p>
        </p:txBody>
      </p:sp>
    </p:spTree>
    <p:extLst>
      <p:ext uri="{BB962C8B-B14F-4D97-AF65-F5344CB8AC3E}">
        <p14:creationId xmlns:p14="http://schemas.microsoft.com/office/powerpoint/2010/main" val="1503242714"/>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0BF7F15-B480-41D7-B01B-86F27ABC297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C0163BC3-67AB-4D6C-A4B4-88A712ED740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settings test complementary GUI capabilities</a:t>
            </a:r>
          </a:p>
        </p:txBody>
      </p:sp>
      <p:sp>
        <p:nvSpPr>
          <p:cNvPr id="3" name="">
            <a:extLst xmlns:a="http://schemas.openxmlformats.org/drawingml/2006/main">
              <a:ext uri="{FF2B5EF4-FFF2-40B4-BE49-F238E27FC236}">
                <a16:creationId xmlns:a16="http://schemas.microsoft.com/office/drawing/2014/main" id="{71803BF5-8BF6-417E-80F2-FDD891C498E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59772F64-BB42-4659-B130-034D56CA28FA}"/>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E2C10B02-9B2C-40E7-BC62-A1B777A210C6}"/>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0216BAA8-F5D7-4AED-A364-38AA06019335}"/>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F0D32EE9-8A57-4E98-9925-7686E50DA655}"/>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9A513F78-6FF9-4E07-8E2D-B67493EF9775}"/>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9321C40D-ED61-4D0D-8545-326219CB1BDD}"/>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CAPABILITY</a:t>
            </a:r>
          </a:p>
        </p:txBody>
      </p:sp>
      <p:sp>
        <p:nvSpPr>
          <p:cNvPr id="10" name="">
            <a:extLst xmlns:a="http://schemas.openxmlformats.org/drawingml/2006/main">
              <a:ext uri="{FF2B5EF4-FFF2-40B4-BE49-F238E27FC236}">
                <a16:creationId xmlns:a16="http://schemas.microsoft.com/office/drawing/2014/main" id="{991EB693-6A78-40AD-870E-3E35ED4F8102}"/>
              </a:ext>
            </a:extLst>
          </p:cNvPr>
          <p:cNvSpPr>
            <a:spLocks xmlns:a="http://schemas.openxmlformats.org/drawingml/2006/main" noGrp="1"/>
          </p:cNvSpPr>
          <p:nvPr/>
        </p:nvSpPr>
        <p:spPr>
          <a:xfrm xmlns:a="http://schemas.openxmlformats.org/drawingml/2006/main">
            <a:off x="857250" y="34099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10151C"/>
                </a:solidFill>
                <a:latin typeface="Helvetica Neue"/>
                <a:ea typeface="Helvetica Neue"/>
                <a:cs typeface="Helvetica Neue"/>
              </a:defRPr>
            </a:pPr>
            <a:r>
              <a:rPr sz="1725" b="1">
                <a:solidFill>
                  <a:srgbClr val="10151C"/>
                </a:solidFill>
                <a:latin typeface="Helvetica Neue"/>
                <a:ea typeface="Helvetica Neue"/>
                <a:cs typeface="Helvetica Neue"/>
              </a:rPr>
              <a:t>UI localization</a:t>
            </a:r>
          </a:p>
        </p:txBody>
      </p:sp>
      <p:sp>
        <p:nvSpPr>
          <p:cNvPr id="11" name="">
            <a:extLst xmlns:a="http://schemas.openxmlformats.org/drawingml/2006/main">
              <a:ext uri="{FF2B5EF4-FFF2-40B4-BE49-F238E27FC236}">
                <a16:creationId xmlns:a16="http://schemas.microsoft.com/office/drawing/2014/main" id="{F7973360-B507-4859-A73B-B9CFFE6EA1F0}"/>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CB29396-251C-4757-B899-5138C03C513F}"/>
              </a:ext>
            </a:extLst>
          </p:cNvPr>
          <p:cNvSpPr>
            <a:spLocks xmlns:a="http://schemas.openxmlformats.org/drawingml/2006/main" noGrp="1"/>
          </p:cNvSpPr>
          <p:nvPr/>
        </p:nvSpPr>
        <p:spPr>
          <a:xfrm xmlns:a="http://schemas.openxmlformats.org/drawingml/2006/main">
            <a:off x="857250" y="4267200"/>
            <a:ext cx="4400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6717D"/>
                </a:solidFill>
                <a:latin typeface="Helvetica Neue"/>
                <a:ea typeface="Helvetica Neue"/>
                <a:cs typeface="Helvetica Neue"/>
              </a:defRPr>
            </a:pPr>
            <a:r>
              <a:rPr sz="1275" b="0">
                <a:solidFill>
                  <a:srgbClr val="66717D"/>
                </a:solidFill>
                <a:latin typeface="Helvetica Neue"/>
                <a:ea typeface="Helvetica Neue"/>
                <a:cs typeface="Helvetica Neue"/>
              </a:rPr>
              <a:t>Can the model map one instruction to the correct clickable region in a dense, high-resolution interface?</a:t>
            </a:r>
          </a:p>
        </p:txBody>
      </p:sp>
      <p:sp>
        <p:nvSpPr>
          <p:cNvPr id="13" name="">
            <a:extLst xmlns:a="http://schemas.openxmlformats.org/drawingml/2006/main">
              <a:ext uri="{FF2B5EF4-FFF2-40B4-BE49-F238E27FC236}">
                <a16:creationId xmlns:a16="http://schemas.microsoft.com/office/drawing/2014/main" id="{DAC9B3E8-DF01-41DF-8A85-70220854B40A}"/>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3B8B060-47D4-4572-BC4A-63F2F0C3F755}"/>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3E28483-FA59-4824-B956-61E7F2F83BE0}"/>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6" name="">
            <a:extLst xmlns:a="http://schemas.openxmlformats.org/drawingml/2006/main">
              <a:ext uri="{FF2B5EF4-FFF2-40B4-BE49-F238E27FC236}">
                <a16:creationId xmlns:a16="http://schemas.microsoft.com/office/drawing/2014/main" id="{7FF1A820-DCD9-44B8-A09E-3CC8132708B4}"/>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7" name="">
            <a:extLst xmlns:a="http://schemas.openxmlformats.org/drawingml/2006/main">
              <a:ext uri="{FF2B5EF4-FFF2-40B4-BE49-F238E27FC236}">
                <a16:creationId xmlns:a16="http://schemas.microsoft.com/office/drawing/2014/main" id="{F9F05A13-076D-4428-BDFA-E9877D8E537A}"/>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One matched case, native screenshots, four-action cap</a:t>
            </a:r>
          </a:p>
        </p:txBody>
      </p:sp>
      <p:sp>
        <p:nvSpPr>
          <p:cNvPr id="18" name="">
            <a:extLst xmlns:a="http://schemas.openxmlformats.org/drawingml/2006/main">
              <a:ext uri="{FF2B5EF4-FFF2-40B4-BE49-F238E27FC236}">
                <a16:creationId xmlns:a16="http://schemas.microsoft.com/office/drawing/2014/main" id="{F9F47489-20C1-479D-9C12-B1A5C2FA7079}"/>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E7F460F-B211-4D75-B644-ADFADAC4A75C}"/>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0" name="">
            <a:extLst xmlns:a="http://schemas.openxmlformats.org/drawingml/2006/main">
              <a:ext uri="{FF2B5EF4-FFF2-40B4-BE49-F238E27FC236}">
                <a16:creationId xmlns:a16="http://schemas.microsoft.com/office/drawing/2014/main" id="{0D41BFD6-DA2F-4AE7-B339-7D7FAD93B480}"/>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OBSERVE</a:t>
            </a:r>
          </a:p>
        </p:txBody>
      </p:sp>
      <p:sp>
        <p:nvSpPr>
          <p:cNvPr id="21" name="">
            <a:extLst xmlns:a="http://schemas.openxmlformats.org/drawingml/2006/main">
              <a:ext uri="{FF2B5EF4-FFF2-40B4-BE49-F238E27FC236}">
                <a16:creationId xmlns:a16="http://schemas.microsoft.com/office/drawing/2014/main" id="{FFB495AF-4FD2-4AE1-AE75-A7DCEC77D9AA}"/>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native frame</a:t>
            </a:r>
          </a:p>
        </p:txBody>
      </p:sp>
      <p:sp>
        <p:nvSpPr>
          <p:cNvPr id="22" name="">
            <a:extLst xmlns:a="http://schemas.openxmlformats.org/drawingml/2006/main">
              <a:ext uri="{FF2B5EF4-FFF2-40B4-BE49-F238E27FC236}">
                <a16:creationId xmlns:a16="http://schemas.microsoft.com/office/drawing/2014/main" id="{4D7558EC-E4EF-49D3-882D-CD9717D4AD22}"/>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358E6ED-E32E-48C8-B79F-FB7275415378}"/>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4" name="">
            <a:extLst xmlns:a="http://schemas.openxmlformats.org/drawingml/2006/main">
              <a:ext uri="{FF2B5EF4-FFF2-40B4-BE49-F238E27FC236}">
                <a16:creationId xmlns:a16="http://schemas.microsoft.com/office/drawing/2014/main" id="{41E869A8-7497-45E1-9EBB-66640B4FE7EE}"/>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SEARCH</a:t>
            </a:r>
          </a:p>
        </p:txBody>
      </p:sp>
      <p:sp>
        <p:nvSpPr>
          <p:cNvPr id="25" name="">
            <a:extLst xmlns:a="http://schemas.openxmlformats.org/drawingml/2006/main">
              <a:ext uri="{FF2B5EF4-FFF2-40B4-BE49-F238E27FC236}">
                <a16:creationId xmlns:a16="http://schemas.microsoft.com/office/drawing/2014/main" id="{5D08C317-7387-41BF-9ABB-205C7BFBC1E5}"/>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scrolls</a:t>
            </a:r>
          </a:p>
        </p:txBody>
      </p:sp>
      <p:sp>
        <p:nvSpPr>
          <p:cNvPr id="26" name="">
            <a:extLst xmlns:a="http://schemas.openxmlformats.org/drawingml/2006/main">
              <a:ext uri="{FF2B5EF4-FFF2-40B4-BE49-F238E27FC236}">
                <a16:creationId xmlns:a16="http://schemas.microsoft.com/office/drawing/2014/main" id="{41E73DBF-E9D6-47B6-81D5-A3D248122764}"/>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80F52AA-85BF-4F28-9808-941E24F11562}"/>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28" name="">
            <a:extLst xmlns:a="http://schemas.openxmlformats.org/drawingml/2006/main">
              <a:ext uri="{FF2B5EF4-FFF2-40B4-BE49-F238E27FC236}">
                <a16:creationId xmlns:a16="http://schemas.microsoft.com/office/drawing/2014/main" id="{B9260AFE-3454-43D2-8A57-CFDDDAFEF944}"/>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RETAIN</a:t>
            </a:r>
          </a:p>
        </p:txBody>
      </p:sp>
      <p:sp>
        <p:nvSpPr>
          <p:cNvPr id="29" name="">
            <a:extLst xmlns:a="http://schemas.openxmlformats.org/drawingml/2006/main">
              <a:ext uri="{FF2B5EF4-FFF2-40B4-BE49-F238E27FC236}">
                <a16:creationId xmlns:a16="http://schemas.microsoft.com/office/drawing/2014/main" id="{DA923431-6CD3-47DC-8E53-508134F92FA9}"/>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3 frames</a:t>
            </a:r>
          </a:p>
        </p:txBody>
      </p:sp>
      <p:sp>
        <p:nvSpPr>
          <p:cNvPr id="30" name="">
            <a:extLst xmlns:a="http://schemas.openxmlformats.org/drawingml/2006/main">
              <a:ext uri="{FF2B5EF4-FFF2-40B4-BE49-F238E27FC236}">
                <a16:creationId xmlns:a16="http://schemas.microsoft.com/office/drawing/2014/main" id="{19BB0A5F-24D9-4077-B452-60108D3FEDA8}"/>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FE41097F-200D-40E8-A0CC-999A9E106223}"/>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2" name="">
            <a:extLst xmlns:a="http://schemas.openxmlformats.org/drawingml/2006/main">
              <a:ext uri="{FF2B5EF4-FFF2-40B4-BE49-F238E27FC236}">
                <a16:creationId xmlns:a16="http://schemas.microsoft.com/office/drawing/2014/main" id="{009DFB51-1DFB-4CCC-9091-1A2343A82340}"/>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ACT</a:t>
            </a:r>
          </a:p>
        </p:txBody>
      </p:sp>
      <p:sp>
        <p:nvSpPr>
          <p:cNvPr id="33" name="">
            <a:extLst xmlns:a="http://schemas.openxmlformats.org/drawingml/2006/main">
              <a:ext uri="{FF2B5EF4-FFF2-40B4-BE49-F238E27FC236}">
                <a16:creationId xmlns:a16="http://schemas.microsoft.com/office/drawing/2014/main" id="{85C9FE94-0EB8-4BE2-9E32-549827B76409}"/>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click or stop</a:t>
            </a:r>
          </a:p>
        </p:txBody>
      </p:sp>
      <p:sp>
        <p:nvSpPr>
          <p:cNvPr id="34" name="">
            <a:extLst xmlns:a="http://schemas.openxmlformats.org/drawingml/2006/main">
              <a:ext uri="{FF2B5EF4-FFF2-40B4-BE49-F238E27FC236}">
                <a16:creationId xmlns:a16="http://schemas.microsoft.com/office/drawing/2014/main" id="{0E93E746-AEE5-4B6B-80C7-AE2FE89F4435}"/>
              </a:ext>
            </a:extLst>
          </p:cNvPr>
          <p:cNvSpPr>
            <a:spLocks xmlns:a="http://schemas.openxmlformats.org/drawingml/2006/main" noGrp="1"/>
          </p:cNvSpPr>
          <p:nvPr/>
        </p:nvSpPr>
        <p:spPr>
          <a:xfrm xmlns:a="http://schemas.openxmlformats.org/drawingml/2006/main">
            <a:off x="6477000" y="52863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CAPABILITY</a:t>
            </a:r>
          </a:p>
        </p:txBody>
      </p:sp>
      <p:sp>
        <p:nvSpPr>
          <p:cNvPr id="35" name="">
            <a:extLst xmlns:a="http://schemas.openxmlformats.org/drawingml/2006/main">
              <a:ext uri="{FF2B5EF4-FFF2-40B4-BE49-F238E27FC236}">
                <a16:creationId xmlns:a16="http://schemas.microsoft.com/office/drawing/2014/main" id="{623163B7-2C88-4B4D-8027-5B3B2C2EAFE1}"/>
              </a:ext>
            </a:extLst>
          </p:cNvPr>
          <p:cNvSpPr>
            <a:spLocks xmlns:a="http://schemas.openxmlformats.org/drawingml/2006/main" noGrp="1"/>
          </p:cNvSpPr>
          <p:nvPr/>
        </p:nvSpPr>
        <p:spPr>
          <a:xfrm xmlns:a="http://schemas.openxmlformats.org/drawingml/2006/main">
            <a:off x="7696200" y="5248275"/>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8FE0BF"/>
                </a:solidFill>
                <a:latin typeface="Helvetica Neue"/>
                <a:ea typeface="Helvetica Neue"/>
                <a:cs typeface="Helvetica Neue"/>
              </a:defRPr>
            </a:pPr>
            <a:r>
              <a:rPr sz="1350" b="1">
                <a:solidFill>
                  <a:srgbClr val="8FE0BF"/>
                </a:solidFill>
                <a:latin typeface="Helvetica Neue"/>
                <a:ea typeface="Helvetica Neue"/>
                <a:cs typeface="Helvetica Neue"/>
              </a:rPr>
              <a:t>Context retrieval across frames</a:t>
            </a:r>
          </a:p>
        </p:txBody>
      </p:sp>
      <p:sp>
        <p:nvSpPr>
          <p:cNvPr id="36" name="">
            <a:extLst xmlns:a="http://schemas.openxmlformats.org/drawingml/2006/main">
              <a:ext uri="{FF2B5EF4-FFF2-40B4-BE49-F238E27FC236}">
                <a16:creationId xmlns:a16="http://schemas.microsoft.com/office/drawing/2014/main" id="{C4625D80-0390-41FA-BA6F-FEF7E65695E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447565C-1913-405C-BE2F-0E3B80FD614E}"/>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Static evaluation isolates localization · the hotel environment tests whether earlier visual evidence reaches a later action</a:t>
            </a:r>
          </a:p>
        </p:txBody>
      </p:sp>
    </p:spTree>
    <p:extLst>
      <p:ext uri="{BB962C8B-B14F-4D97-AF65-F5344CB8AC3E}">
        <p14:creationId xmlns:p14="http://schemas.microsoft.com/office/powerpoint/2010/main" val="1015961277"/>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EC6F64B-1E49-460D-8491-AD7EBDD2B04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A41FA21F-3AE3-4ADA-9EA4-015053CF38A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D0951299-4AC2-4DC0-AC22-F3530903A7C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5804573-4A45-414A-BE28-FF96BCFF72B0}"/>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CCDFCB3A-35FB-4CF1-834C-065ED35427C2}"/>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A4186AA7-57BB-4332-B0B6-552CECE538C2}"/>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0CBE2151-3B4E-48FD-BD3F-5B613E236C13}"/>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CE1D6967-0753-4CFC-963F-A5CA8D8C62EE}"/>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5DBC9781-C5C7-4953-97BC-D387ECB6E984}"/>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0B2C0675-7F0D-4FB3-B8E6-93E3E60EC9F0}"/>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385F543-F21B-40C8-930F-7C2199AB6235}"/>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3b23817b54334f60"/>
          </a:graphicData>
        </a:graphic>
      </p:graphicFrame>
      <p:sp>
        <p:nvSpPr>
          <p:cNvPr id="13" name="">
            <a:extLst xmlns:a="http://schemas.openxmlformats.org/drawingml/2006/main">
              <a:ext uri="{FF2B5EF4-FFF2-40B4-BE49-F238E27FC236}">
                <a16:creationId xmlns:a16="http://schemas.microsoft.com/office/drawing/2014/main" id="{AE98E41E-D0D4-4B66-9810-B0614633395D}"/>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06366D64-FAE5-4F0F-A658-8AE5098991AF}"/>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9B2532C8-D9EA-4F27-9959-E2CE0A294239}"/>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6A4CEF-99BF-4D26-BFE2-0CDC989D6A36}"/>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A577374E-B99C-4A5E-8431-EC3F48459D48}"/>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9DFC818F-3562-4F09-B1FA-9E917709578C}"/>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FE69253C-640E-42C7-B1CF-DF3A1FEBDDBC}"/>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DD902AFF-660C-4093-A40A-6C490C49CB84}"/>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700DE724-932A-4086-AA5D-455235B34B72}"/>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13E5A66F-547F-4F47-A5CE-3F2BD4140141}"/>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5F5C60A9-277E-4DB5-A2C4-65CE6DB8F3E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427BDEEF-57A7-4C13-AEAA-B416BB1695E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664461444"/>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0F3FF99-9DF8-4340-A5A4-2BFAB118A00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79B9FB9A-DBB1-4947-8316-5466177A8C8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CC6FFD36-736F-41D0-9EE6-ACE6296F38E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ED8CBE29-0C50-4F15-AEE5-E4F92B895B33}"/>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BFDEB193-DE85-4022-9B1E-27A5D1C6AC13}"/>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13756c6980544486"/>
          </a:graphicData>
        </a:graphic>
      </p:graphicFrame>
      <p:sp>
        <p:nvSpPr>
          <p:cNvPr id="7" name="">
            <a:extLst xmlns:a="http://schemas.openxmlformats.org/drawingml/2006/main">
              <a:ext uri="{FF2B5EF4-FFF2-40B4-BE49-F238E27FC236}">
                <a16:creationId xmlns:a16="http://schemas.microsoft.com/office/drawing/2014/main" id="{63F487E9-44FF-4BCF-BFB0-54FD2C8254D8}"/>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4EBF0D-0EE0-4E35-A3C9-FE7F3F887831}"/>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04ADCE33-5A40-4658-937A-42F13C028140}"/>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0AE6C716-E45A-49FF-BE64-9BB1791D35D6}"/>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3810DC42-88E3-47CC-82C1-AC0241F5B771}"/>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AE9ABB6-D849-468E-80FF-3585DD84981C}"/>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FB8A8A67-60AF-4A64-857D-A78604F718CE}"/>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0EA21E4F-1EFF-4015-81C5-824240E0E0A1}"/>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4CB2A78E-6B74-462E-BA0D-F741C42346B4}"/>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1FB33286-5114-4F31-AC23-F88BDA4F0912}"/>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F36E729-BF09-44B6-A546-BB3186123BEF}"/>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1B4B8D3C-A10C-47E4-B828-92DD0EC80C7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C88A7E14-EDEF-409E-A2D9-18EE3AF045C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615800446"/>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123FBD5-0AD2-43ED-AFB5-C6C72F31321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ABLATION</a:t>
            </a:r>
          </a:p>
        </p:txBody>
      </p:sp>
      <p:sp>
        <p:nvSpPr>
          <p:cNvPr id="2" name="">
            <a:extLst xmlns:a="http://schemas.openxmlformats.org/drawingml/2006/main">
              <a:ext uri="{FF2B5EF4-FFF2-40B4-BE49-F238E27FC236}">
                <a16:creationId xmlns:a16="http://schemas.microsoft.com/office/drawing/2014/main" id="{5A7CE5F5-AE4B-4DD1-A746-124EF298484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21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Only 11% of native-success clicks survive at quarter resolution</a:t>
            </a:r>
          </a:p>
        </p:txBody>
      </p:sp>
      <p:sp>
        <p:nvSpPr>
          <p:cNvPr id="3" name="">
            <a:extLst xmlns:a="http://schemas.openxmlformats.org/drawingml/2006/main">
              <a:ext uri="{FF2B5EF4-FFF2-40B4-BE49-F238E27FC236}">
                <a16:creationId xmlns:a16="http://schemas.microsoft.com/office/drawing/2014/main" id="{A80323D3-DD00-4A18-B2A9-BE475976AD8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FB37C8A-1F31-4EE4-98C7-5023141171FF}"/>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Paired retention across 36 ScreenSpot-Pro items that Holo localizes correctly at native resolution</a:t>
            </a:r>
          </a:p>
        </p:txBody>
      </p:sp>
      <p:sp>
        <p:nvSpPr>
          <p:cNvPr id="5" name="">
            <a:extLst xmlns:a="http://schemas.openxmlformats.org/drawingml/2006/main">
              <a:ext uri="{FF2B5EF4-FFF2-40B4-BE49-F238E27FC236}">
                <a16:creationId xmlns:a16="http://schemas.microsoft.com/office/drawing/2014/main" id="{4AAE6624-40FA-4CF0-A4C8-BFC3AEB61693}"/>
              </a:ext>
            </a:extLst>
          </p:cNvPr>
          <p:cNvSpPr>
            <a:spLocks xmlns:a="http://schemas.openxmlformats.org/drawingml/2006/main" noGrp="1"/>
          </p:cNvSpPr>
          <p:nvPr/>
        </p:nvSpPr>
        <p:spPr>
          <a:xfrm xmlns:a="http://schemas.openxmlformats.org/drawingml/2006/main">
            <a:off x="609600" y="1562100"/>
            <a:ext cx="723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SUCCESS RETENTION UNDER CONTROLLED DOWNSAMPLING</a:t>
            </a:r>
          </a:p>
        </p:txBody>
      </p:sp>
      <p:graphicFrame>
        <p:nvGraphicFramePr>
          <p:cNvPr id="26"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287b420cc7d84cf4"/>
          </a:graphicData>
        </a:graphic>
      </p:graphicFrame>
      <p:sp>
        <p:nvSpPr>
          <p:cNvPr id="7" name="">
            <a:extLst xmlns:a="http://schemas.openxmlformats.org/drawingml/2006/main">
              <a:ext uri="{FF2B5EF4-FFF2-40B4-BE49-F238E27FC236}">
                <a16:creationId xmlns:a16="http://schemas.microsoft.com/office/drawing/2014/main" id="{A22F623A-533E-4B88-8D55-BAD94171577C}"/>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EDD84DC-CB54-4FFF-AF4D-168D9BAC73E9}"/>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QUARTER RESOLUTION</a:t>
            </a:r>
          </a:p>
        </p:txBody>
      </p:sp>
      <p:sp>
        <p:nvSpPr>
          <p:cNvPr id="9" name="">
            <a:extLst xmlns:a="http://schemas.openxmlformats.org/drawingml/2006/main">
              <a:ext uri="{FF2B5EF4-FFF2-40B4-BE49-F238E27FC236}">
                <a16:creationId xmlns:a16="http://schemas.microsoft.com/office/drawing/2014/main" id="{5796BC99-3F2D-4324-ABDE-80C8EDC78E68}"/>
              </a:ext>
            </a:extLst>
          </p:cNvPr>
          <p:cNvSpPr>
            <a:spLocks xmlns:a="http://schemas.openxmlformats.org/drawingml/2006/main" noGrp="1"/>
          </p:cNvSpPr>
          <p:nvPr/>
        </p:nvSpPr>
        <p:spPr>
          <a:xfrm xmlns:a="http://schemas.openxmlformats.org/drawingml/2006/main">
            <a:off x="9067800" y="21526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11.1%</a:t>
            </a:r>
          </a:p>
        </p:txBody>
      </p:sp>
      <p:sp>
        <p:nvSpPr>
          <p:cNvPr id="10" name="">
            <a:extLst xmlns:a="http://schemas.openxmlformats.org/drawingml/2006/main">
              <a:ext uri="{FF2B5EF4-FFF2-40B4-BE49-F238E27FC236}">
                <a16:creationId xmlns:a16="http://schemas.microsoft.com/office/drawing/2014/main" id="{F0DB2116-450F-4095-9BE2-96462E946B44}"/>
              </a:ext>
            </a:extLst>
          </p:cNvPr>
          <p:cNvSpPr>
            <a:spLocks xmlns:a="http://schemas.openxmlformats.org/drawingml/2006/main" noGrp="1"/>
          </p:cNvSpPr>
          <p:nvPr/>
        </p:nvSpPr>
        <p:spPr>
          <a:xfrm xmlns:a="http://schemas.openxmlformats.org/drawingml/2006/main">
            <a:off x="9067800" y="27813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4/36 clicks survive</a:t>
            </a:r>
          </a:p>
        </p:txBody>
      </p:sp>
      <p:sp>
        <p:nvSpPr>
          <p:cNvPr id="11" name="">
            <a:extLst xmlns:a="http://schemas.openxmlformats.org/drawingml/2006/main">
              <a:ext uri="{FF2B5EF4-FFF2-40B4-BE49-F238E27FC236}">
                <a16:creationId xmlns:a16="http://schemas.microsoft.com/office/drawing/2014/main" id="{71BD1119-A41B-4500-8784-D46AD16AA783}"/>
              </a:ext>
            </a:extLst>
          </p:cNvPr>
          <p:cNvSpPr>
            <a:spLocks xmlns:a="http://schemas.openxmlformats.org/drawingml/2006/main" noGrp="1"/>
          </p:cNvSpPr>
          <p:nvPr/>
        </p:nvSpPr>
        <p:spPr>
          <a:xfrm xmlns:a="http://schemas.openxmlformats.org/drawingml/2006/main">
            <a:off x="9067800" y="30670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95% CI 4.4–25.3%</a:t>
            </a:r>
          </a:p>
        </p:txBody>
      </p:sp>
      <p:sp>
        <p:nvSpPr>
          <p:cNvPr id="12" name="">
            <a:extLst xmlns:a="http://schemas.openxmlformats.org/drawingml/2006/main">
              <a:ext uri="{FF2B5EF4-FFF2-40B4-BE49-F238E27FC236}">
                <a16:creationId xmlns:a16="http://schemas.microsoft.com/office/drawing/2014/main" id="{5BE0F0CF-A984-4DA2-BC64-16E1DE482035}"/>
              </a:ext>
            </a:extLst>
          </p:cNvPr>
          <p:cNvSpPr>
            <a:spLocks xmlns:a="http://schemas.openxmlformats.org/drawingml/2006/main" noGrp="1"/>
          </p:cNvSpPr>
          <p:nvPr/>
        </p:nvSpPr>
        <p:spPr>
          <a:xfrm xmlns:a="http://schemas.openxmlformats.org/drawingml/2006/main">
            <a:off x="9067800" y="33718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5C313FE-A94B-4C3F-9D02-62FE261CA57F}"/>
              </a:ext>
            </a:extLst>
          </p:cNvPr>
          <p:cNvSpPr>
            <a:spLocks xmlns:a="http://schemas.openxmlformats.org/drawingml/2006/main" noGrp="1"/>
          </p:cNvSpPr>
          <p:nvPr/>
        </p:nvSpPr>
        <p:spPr>
          <a:xfrm xmlns:a="http://schemas.openxmlformats.org/drawingml/2006/main">
            <a:off x="9067800" y="36004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AT HALF RESOLUTION</a:t>
            </a:r>
          </a:p>
        </p:txBody>
      </p:sp>
      <p:sp>
        <p:nvSpPr>
          <p:cNvPr id="14" name="">
            <a:extLst xmlns:a="http://schemas.openxmlformats.org/drawingml/2006/main">
              <a:ext uri="{FF2B5EF4-FFF2-40B4-BE49-F238E27FC236}">
                <a16:creationId xmlns:a16="http://schemas.microsoft.com/office/drawing/2014/main" id="{6EBEC17F-B858-4D01-A9B8-D1C2BC4C9AA8}"/>
              </a:ext>
            </a:extLst>
          </p:cNvPr>
          <p:cNvSpPr>
            <a:spLocks xmlns:a="http://schemas.openxmlformats.org/drawingml/2006/main" noGrp="1"/>
          </p:cNvSpPr>
          <p:nvPr/>
        </p:nvSpPr>
        <p:spPr>
          <a:xfrm xmlns:a="http://schemas.openxmlformats.org/drawingml/2006/main">
            <a:off x="9067800" y="3905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83.3%</a:t>
            </a:r>
          </a:p>
        </p:txBody>
      </p:sp>
      <p:sp>
        <p:nvSpPr>
          <p:cNvPr id="15" name="">
            <a:extLst xmlns:a="http://schemas.openxmlformats.org/drawingml/2006/main">
              <a:ext uri="{FF2B5EF4-FFF2-40B4-BE49-F238E27FC236}">
                <a16:creationId xmlns:a16="http://schemas.microsoft.com/office/drawing/2014/main" id="{F41A17B0-53EC-4530-980F-4B8E4D9BBE42}"/>
              </a:ext>
            </a:extLst>
          </p:cNvPr>
          <p:cNvSpPr>
            <a:spLocks xmlns:a="http://schemas.openxmlformats.org/drawingml/2006/main" noGrp="1"/>
          </p:cNvSpPr>
          <p:nvPr/>
        </p:nvSpPr>
        <p:spPr>
          <a:xfrm xmlns:a="http://schemas.openxmlformats.org/drawingml/2006/main">
            <a:off x="9067800" y="42672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Icon    38.9%</a:t>
            </a:r>
          </a:p>
        </p:txBody>
      </p:sp>
      <p:sp>
        <p:nvSpPr>
          <p:cNvPr id="16" name="">
            <a:extLst xmlns:a="http://schemas.openxmlformats.org/drawingml/2006/main">
              <a:ext uri="{FF2B5EF4-FFF2-40B4-BE49-F238E27FC236}">
                <a16:creationId xmlns:a16="http://schemas.microsoft.com/office/drawing/2014/main" id="{E532DC0A-FE41-45A7-8712-700847DCE556}"/>
              </a:ext>
            </a:extLst>
          </p:cNvPr>
          <p:cNvSpPr>
            <a:spLocks xmlns:a="http://schemas.openxmlformats.org/drawingml/2006/main" noGrp="1"/>
          </p:cNvSpPr>
          <p:nvPr/>
        </p:nvSpPr>
        <p:spPr>
          <a:xfrm xmlns:a="http://schemas.openxmlformats.org/drawingml/2006/main">
            <a:off x="9067800" y="4743450"/>
            <a:ext cx="2247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Smaller icon targets lose more of their successful clicks.</a:t>
            </a:r>
          </a:p>
        </p:txBody>
      </p:sp>
      <p:sp>
        <p:nvSpPr>
          <p:cNvPr id="17" name="">
            <a:extLst xmlns:a="http://schemas.openxmlformats.org/drawingml/2006/main">
              <a:ext uri="{FF2B5EF4-FFF2-40B4-BE49-F238E27FC236}">
                <a16:creationId xmlns:a16="http://schemas.microsoft.com/office/drawing/2014/main" id="{0D45991B-B169-4B38-85B2-1A91D94E4172}"/>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F3542C9-A617-4C72-9FBF-467AD44590AF}"/>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Reducing each dimension to 25% cuts retained area to 6.25% and success by 88.9 percentage points.</a:t>
            </a:r>
          </a:p>
        </p:txBody>
      </p:sp>
      <p:sp>
        <p:nvSpPr>
          <p:cNvPr id="19" name="">
            <a:extLst xmlns:a="http://schemas.openxmlformats.org/drawingml/2006/main">
              <a:ext uri="{FF2B5EF4-FFF2-40B4-BE49-F238E27FC236}">
                <a16:creationId xmlns:a16="http://schemas.microsoft.com/office/drawing/2014/main" id="{6B6E8060-79B7-4031-BC44-24C10693DEB4}"/>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1960D04-070B-4070-8B17-6F3B862AAB7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 selected native successes · 144 deterministic requests · official prompt and normalized 0–1000 coordinates · all outputs valid JSON</a:t>
            </a:r>
          </a:p>
        </p:txBody>
      </p:sp>
    </p:spTree>
    <p:extLst>
      <p:ext uri="{BB962C8B-B14F-4D97-AF65-F5344CB8AC3E}">
        <p14:creationId xmlns:p14="http://schemas.microsoft.com/office/powerpoint/2010/main" val="43017475"/>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D96E0DC-E7D0-4643-B6B6-C85635C39BF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RESOLUTION AND SALIENCY</a:t>
            </a:r>
          </a:p>
        </p:txBody>
      </p:sp>
      <p:sp>
        <p:nvSpPr>
          <p:cNvPr id="2" name="">
            <a:extLst xmlns:a="http://schemas.openxmlformats.org/drawingml/2006/main">
              <a:ext uri="{FF2B5EF4-FFF2-40B4-BE49-F238E27FC236}">
                <a16:creationId xmlns:a16="http://schemas.microsoft.com/office/drawing/2014/main" id="{5F56ACBC-0C60-4450-A06D-5F3F3FEDC84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809"/>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attribution weakens 24× at quarter resolution</a:t>
            </a:r>
          </a:p>
        </p:txBody>
      </p:sp>
      <p:sp>
        <p:nvSpPr>
          <p:cNvPr id="3" name="">
            <a:extLst xmlns:a="http://schemas.openxmlformats.org/drawingml/2006/main">
              <a:ext uri="{FF2B5EF4-FFF2-40B4-BE49-F238E27FC236}">
                <a16:creationId xmlns:a16="http://schemas.microsoft.com/office/drawing/2014/main" id="{7275BDC5-A09C-4997-B034-ACB13EA3822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16ED7D6D-8229-4117-82E7-E53A1D61AD9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18 balanced native-success cases · value-norm rollout minus four same-image instruction controls</a:t>
            </a:r>
          </a:p>
        </p:txBody>
      </p:sp>
      <p:sp>
        <p:nvSpPr>
          <p:cNvPr id="5" name="">
            <a:extLst xmlns:a="http://schemas.openxmlformats.org/drawingml/2006/main">
              <a:ext uri="{FF2B5EF4-FFF2-40B4-BE49-F238E27FC236}">
                <a16:creationId xmlns:a16="http://schemas.microsoft.com/office/drawing/2014/main" id="{2A9453D0-D821-495E-9CD5-332203352443}"/>
              </a:ext>
            </a:extLst>
          </p:cNvPr>
          <p:cNvSpPr>
            <a:spLocks xmlns:a="http://schemas.openxmlformats.org/drawingml/2006/main" noGrp="1"/>
          </p:cNvSpPr>
          <p:nvPr/>
        </p:nvSpPr>
        <p:spPr>
          <a:xfrm xmlns:a="http://schemas.openxmlformats.org/drawingml/2006/main">
            <a:off x="6096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100%</a:t>
            </a:r>
          </a:p>
        </p:txBody>
      </p:sp>
      <p:sp>
        <p:nvSpPr>
          <p:cNvPr id="6" name="">
            <a:extLst xmlns:a="http://schemas.openxmlformats.org/drawingml/2006/main">
              <a:ext uri="{FF2B5EF4-FFF2-40B4-BE49-F238E27FC236}">
                <a16:creationId xmlns:a16="http://schemas.microsoft.com/office/drawing/2014/main" id="{C9D66ABC-6F89-4AFB-93D2-BC932B167D5D}"/>
              </a:ext>
            </a:extLst>
          </p:cNvPr>
          <p:cNvSpPr>
            <a:spLocks xmlns:a="http://schemas.openxmlformats.org/drawingml/2006/main" noGrp="1"/>
          </p:cNvSpPr>
          <p:nvPr/>
        </p:nvSpPr>
        <p:spPr>
          <a:xfrm xmlns:a="http://schemas.openxmlformats.org/drawingml/2006/main">
            <a:off x="24193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9986766a8a2444ba"/>
          <a:srcRect xmlns:a="http://schemas.openxmlformats.org/drawingml/2006/main" l="5331" t="0" r="5331" b="0"/>
          <a:stretch xmlns:a="http://schemas.openxmlformats.org/drawingml/2006/main">
            <a:fillRect l="0" t="0" r="0" b="0"/>
          </a:stretch>
        </p:blipFill>
        <p:spPr>
          <a:xfrm xmlns:a="http://schemas.openxmlformats.org/drawingml/2006/main">
            <a:off x="609600" y="1790700"/>
            <a:ext cx="2571750" cy="1619250"/>
          </a:xfrm>
          <a:prstGeom xmlns:a="http://schemas.openxmlformats.org/drawingml/2006/main" prst="roundRect">
            <a:avLst>
              <a:gd name="adj" fmla="val 7059"/>
            </a:avLst>
          </a:prstGeom>
        </p:spPr>
      </p:pic>
      <p:sp>
        <p:nvSpPr>
          <p:cNvPr id="8" name="">
            <a:extLst xmlns:a="http://schemas.openxmlformats.org/drawingml/2006/main">
              <a:ext uri="{FF2B5EF4-FFF2-40B4-BE49-F238E27FC236}">
                <a16:creationId xmlns:a16="http://schemas.microsoft.com/office/drawing/2014/main" id="{F76625A5-180B-4415-8438-3496C282F6C7}"/>
              </a:ext>
            </a:extLst>
          </p:cNvPr>
          <p:cNvSpPr>
            <a:spLocks xmlns:a="http://schemas.openxmlformats.org/drawingml/2006/main" noGrp="1"/>
          </p:cNvSpPr>
          <p:nvPr/>
        </p:nvSpPr>
        <p:spPr>
          <a:xfrm xmlns:a="http://schemas.openxmlformats.org/drawingml/2006/main">
            <a:off x="6096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6301860C-EFAA-4B83-9269-9B9019FDCC07}"/>
              </a:ext>
            </a:extLst>
          </p:cNvPr>
          <p:cNvSpPr>
            <a:spLocks xmlns:a="http://schemas.openxmlformats.org/drawingml/2006/main" noGrp="1"/>
          </p:cNvSpPr>
          <p:nvPr/>
        </p:nvSpPr>
        <p:spPr>
          <a:xfrm xmlns:a="http://schemas.openxmlformats.org/drawingml/2006/main">
            <a:off x="6096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9.6% target mass</a:t>
            </a:r>
          </a:p>
        </p:txBody>
      </p:sp>
      <p:sp>
        <p:nvSpPr>
          <p:cNvPr id="10" name="">
            <a:extLst xmlns:a="http://schemas.openxmlformats.org/drawingml/2006/main">
              <a:ext uri="{FF2B5EF4-FFF2-40B4-BE49-F238E27FC236}">
                <a16:creationId xmlns:a16="http://schemas.microsoft.com/office/drawing/2014/main" id="{3A638194-C042-4F3D-8C3D-5DDECE5AD4F3}"/>
              </a:ext>
            </a:extLst>
          </p:cNvPr>
          <p:cNvSpPr>
            <a:spLocks xmlns:a="http://schemas.openxmlformats.org/drawingml/2006/main" noGrp="1"/>
          </p:cNvSpPr>
          <p:nvPr/>
        </p:nvSpPr>
        <p:spPr>
          <a:xfrm xmlns:a="http://schemas.openxmlformats.org/drawingml/2006/main">
            <a:off x="33528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75%</a:t>
            </a:r>
          </a:p>
        </p:txBody>
      </p:sp>
      <p:sp>
        <p:nvSpPr>
          <p:cNvPr id="11" name="">
            <a:extLst xmlns:a="http://schemas.openxmlformats.org/drawingml/2006/main">
              <a:ext uri="{FF2B5EF4-FFF2-40B4-BE49-F238E27FC236}">
                <a16:creationId xmlns:a16="http://schemas.microsoft.com/office/drawing/2014/main" id="{35FA1A4B-180E-4133-AA70-EE653A933BE6}"/>
              </a:ext>
            </a:extLst>
          </p:cNvPr>
          <p:cNvSpPr>
            <a:spLocks xmlns:a="http://schemas.openxmlformats.org/drawingml/2006/main" noGrp="1"/>
          </p:cNvSpPr>
          <p:nvPr/>
        </p:nvSpPr>
        <p:spPr>
          <a:xfrm xmlns:a="http://schemas.openxmlformats.org/drawingml/2006/main">
            <a:off x="51625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ad71fc4f08b4cca"/>
          <a:srcRect xmlns:a="http://schemas.openxmlformats.org/drawingml/2006/main" l="5331" t="0" r="5331" b="0"/>
          <a:stretch xmlns:a="http://schemas.openxmlformats.org/drawingml/2006/main">
            <a:fillRect l="0" t="0" r="0" b="0"/>
          </a:stretch>
        </p:blipFill>
        <p:spPr>
          <a:xfrm xmlns:a="http://schemas.openxmlformats.org/drawingml/2006/main">
            <a:off x="3352800" y="1790700"/>
            <a:ext cx="2571750" cy="1619250"/>
          </a:xfrm>
          <a:prstGeom xmlns:a="http://schemas.openxmlformats.org/drawingml/2006/main" prst="roundRect">
            <a:avLst>
              <a:gd name="adj" fmla="val 7059"/>
            </a:avLst>
          </a:prstGeom>
        </p:spPr>
      </p:pic>
      <p:sp>
        <p:nvSpPr>
          <p:cNvPr id="13" name="">
            <a:extLst xmlns:a="http://schemas.openxmlformats.org/drawingml/2006/main">
              <a:ext uri="{FF2B5EF4-FFF2-40B4-BE49-F238E27FC236}">
                <a16:creationId xmlns:a16="http://schemas.microsoft.com/office/drawing/2014/main" id="{436FBB79-129B-4F03-BA36-40123FF483FF}"/>
              </a:ext>
            </a:extLst>
          </p:cNvPr>
          <p:cNvSpPr>
            <a:spLocks xmlns:a="http://schemas.openxmlformats.org/drawingml/2006/main" noGrp="1"/>
          </p:cNvSpPr>
          <p:nvPr/>
        </p:nvSpPr>
        <p:spPr>
          <a:xfrm xmlns:a="http://schemas.openxmlformats.org/drawingml/2006/main">
            <a:off x="33528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F1B86C3A-B30F-4F9B-B8CB-BFC0BF0EFBEE}"/>
              </a:ext>
            </a:extLst>
          </p:cNvPr>
          <p:cNvSpPr>
            <a:spLocks xmlns:a="http://schemas.openxmlformats.org/drawingml/2006/main" noGrp="1"/>
          </p:cNvSpPr>
          <p:nvPr/>
        </p:nvSpPr>
        <p:spPr>
          <a:xfrm xmlns:a="http://schemas.openxmlformats.org/drawingml/2006/main">
            <a:off x="33528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6.1% target mass</a:t>
            </a:r>
          </a:p>
        </p:txBody>
      </p:sp>
      <p:sp>
        <p:nvSpPr>
          <p:cNvPr id="15" name="">
            <a:extLst xmlns:a="http://schemas.openxmlformats.org/drawingml/2006/main">
              <a:ext uri="{FF2B5EF4-FFF2-40B4-BE49-F238E27FC236}">
                <a16:creationId xmlns:a16="http://schemas.microsoft.com/office/drawing/2014/main" id="{48415DDD-0DF9-4EE6-A187-D3600A48A203}"/>
              </a:ext>
            </a:extLst>
          </p:cNvPr>
          <p:cNvSpPr>
            <a:spLocks xmlns:a="http://schemas.openxmlformats.org/drawingml/2006/main" noGrp="1"/>
          </p:cNvSpPr>
          <p:nvPr/>
        </p:nvSpPr>
        <p:spPr>
          <a:xfrm xmlns:a="http://schemas.openxmlformats.org/drawingml/2006/main">
            <a:off x="60960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50%</a:t>
            </a:r>
          </a:p>
        </p:txBody>
      </p:sp>
      <p:sp>
        <p:nvSpPr>
          <p:cNvPr id="16" name="">
            <a:extLst xmlns:a="http://schemas.openxmlformats.org/drawingml/2006/main">
              <a:ext uri="{FF2B5EF4-FFF2-40B4-BE49-F238E27FC236}">
                <a16:creationId xmlns:a16="http://schemas.microsoft.com/office/drawing/2014/main" id="{9C32E0C7-0321-4D18-839A-BDA66E92E182}"/>
              </a:ext>
            </a:extLst>
          </p:cNvPr>
          <p:cNvSpPr>
            <a:spLocks xmlns:a="http://schemas.openxmlformats.org/drawingml/2006/main" noGrp="1"/>
          </p:cNvSpPr>
          <p:nvPr/>
        </p:nvSpPr>
        <p:spPr>
          <a:xfrm xmlns:a="http://schemas.openxmlformats.org/drawingml/2006/main">
            <a:off x="79057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HIT</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876323bc76404d10"/>
          <a:srcRect xmlns:a="http://schemas.openxmlformats.org/drawingml/2006/main" l="5331" t="0" r="5331" b="0"/>
          <a:stretch xmlns:a="http://schemas.openxmlformats.org/drawingml/2006/main">
            <a:fillRect l="0" t="0" r="0" b="0"/>
          </a:stretch>
        </p:blipFill>
        <p:spPr>
          <a:xfrm xmlns:a="http://schemas.openxmlformats.org/drawingml/2006/main">
            <a:off x="6096000" y="1790700"/>
            <a:ext cx="2571750" cy="1619250"/>
          </a:xfrm>
          <a:prstGeom xmlns:a="http://schemas.openxmlformats.org/drawingml/2006/main" prst="roundRect">
            <a:avLst>
              <a:gd name="adj" fmla="val 7059"/>
            </a:avLst>
          </a:prstGeom>
        </p:spPr>
      </p:pic>
      <p:sp>
        <p:nvSpPr>
          <p:cNvPr id="18" name="">
            <a:extLst xmlns:a="http://schemas.openxmlformats.org/drawingml/2006/main">
              <a:ext uri="{FF2B5EF4-FFF2-40B4-BE49-F238E27FC236}">
                <a16:creationId xmlns:a16="http://schemas.microsoft.com/office/drawing/2014/main" id="{A18A3CFB-9A20-431F-AF7E-0F0B5351DE93}"/>
              </a:ext>
            </a:extLst>
          </p:cNvPr>
          <p:cNvSpPr>
            <a:spLocks xmlns:a="http://schemas.openxmlformats.org/drawingml/2006/main" noGrp="1"/>
          </p:cNvSpPr>
          <p:nvPr/>
        </p:nvSpPr>
        <p:spPr>
          <a:xfrm xmlns:a="http://schemas.openxmlformats.org/drawingml/2006/main">
            <a:off x="60960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554EF371-DF3A-4022-AF20-CD29C541C928}"/>
              </a:ext>
            </a:extLst>
          </p:cNvPr>
          <p:cNvSpPr>
            <a:spLocks xmlns:a="http://schemas.openxmlformats.org/drawingml/2006/main" noGrp="1"/>
          </p:cNvSpPr>
          <p:nvPr/>
        </p:nvSpPr>
        <p:spPr>
          <a:xfrm xmlns:a="http://schemas.openxmlformats.org/drawingml/2006/main">
            <a:off x="60960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18A875"/>
                </a:solidFill>
                <a:latin typeface="Helvetica Neue"/>
                <a:ea typeface="Helvetica Neue"/>
                <a:cs typeface="Helvetica Neue"/>
              </a:defRPr>
            </a:pPr>
            <a:r>
              <a:rPr sz="900" b="1">
                <a:solidFill>
                  <a:srgbClr val="18A875"/>
                </a:solidFill>
                <a:latin typeface="Helvetica Neue"/>
                <a:ea typeface="Helvetica Neue"/>
                <a:cs typeface="Helvetica Neue"/>
              </a:rPr>
              <a:t>3.7% target mass</a:t>
            </a:r>
          </a:p>
        </p:txBody>
      </p:sp>
      <p:sp>
        <p:nvSpPr>
          <p:cNvPr id="20" name="">
            <a:extLst xmlns:a="http://schemas.openxmlformats.org/drawingml/2006/main">
              <a:ext uri="{FF2B5EF4-FFF2-40B4-BE49-F238E27FC236}">
                <a16:creationId xmlns:a16="http://schemas.microsoft.com/office/drawing/2014/main" id="{54352020-ADE3-482B-A210-7382025D3510}"/>
              </a:ext>
            </a:extLst>
          </p:cNvPr>
          <p:cNvSpPr>
            <a:spLocks xmlns:a="http://schemas.openxmlformats.org/drawingml/2006/main" noGrp="1"/>
          </p:cNvSpPr>
          <p:nvPr/>
        </p:nvSpPr>
        <p:spPr>
          <a:xfrm xmlns:a="http://schemas.openxmlformats.org/drawingml/2006/main">
            <a:off x="8839200" y="15049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25%</a:t>
            </a:r>
          </a:p>
        </p:txBody>
      </p:sp>
      <p:sp>
        <p:nvSpPr>
          <p:cNvPr id="21" name="">
            <a:extLst xmlns:a="http://schemas.openxmlformats.org/drawingml/2006/main">
              <a:ext uri="{FF2B5EF4-FFF2-40B4-BE49-F238E27FC236}">
                <a16:creationId xmlns:a16="http://schemas.microsoft.com/office/drawing/2014/main" id="{9EC6162B-AB7A-4F7E-98DE-AB6DD45E412D}"/>
              </a:ext>
            </a:extLst>
          </p:cNvPr>
          <p:cNvSpPr>
            <a:spLocks xmlns:a="http://schemas.openxmlformats.org/drawingml/2006/main" noGrp="1"/>
          </p:cNvSpPr>
          <p:nvPr/>
        </p:nvSpPr>
        <p:spPr>
          <a:xfrm xmlns:a="http://schemas.openxmlformats.org/drawingml/2006/main">
            <a:off x="10648950" y="1524000"/>
            <a:ext cx="76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MISS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74c229ea3beb4bff"/>
          <a:srcRect xmlns:a="http://schemas.openxmlformats.org/drawingml/2006/main" l="5331" t="0" r="5331" b="0"/>
          <a:stretch xmlns:a="http://schemas.openxmlformats.org/drawingml/2006/main">
            <a:fillRect l="0" t="0" r="0" b="0"/>
          </a:stretch>
        </p:blipFill>
        <p:spPr>
          <a:xfrm xmlns:a="http://schemas.openxmlformats.org/drawingml/2006/main">
            <a:off x="8839200" y="1790700"/>
            <a:ext cx="2571750" cy="1619250"/>
          </a:xfrm>
          <a:prstGeom xmlns:a="http://schemas.openxmlformats.org/drawingml/2006/main" prst="roundRect">
            <a:avLst>
              <a:gd name="adj" fmla="val 7059"/>
            </a:avLst>
          </a:prstGeom>
        </p:spPr>
      </p:pic>
      <p:sp>
        <p:nvSpPr>
          <p:cNvPr id="23" name="">
            <a:extLst xmlns:a="http://schemas.openxmlformats.org/drawingml/2006/main">
              <a:ext uri="{FF2B5EF4-FFF2-40B4-BE49-F238E27FC236}">
                <a16:creationId xmlns:a16="http://schemas.microsoft.com/office/drawing/2014/main" id="{0D364709-2290-4C51-8BFE-0E33883C9F08}"/>
              </a:ext>
            </a:extLst>
          </p:cNvPr>
          <p:cNvSpPr>
            <a:spLocks xmlns:a="http://schemas.openxmlformats.org/drawingml/2006/main" noGrp="1"/>
          </p:cNvSpPr>
          <p:nvPr/>
        </p:nvSpPr>
        <p:spPr>
          <a:xfrm xmlns:a="http://schemas.openxmlformats.org/drawingml/2006/main">
            <a:off x="8839200" y="1790700"/>
            <a:ext cx="2571750" cy="1619250"/>
          </a:xfrm>
          <a:prstGeom xmlns:a="http://schemas.openxmlformats.org/drawingml/2006/main" prst="roundRect">
            <a:avLst>
              <a:gd name="adj" fmla="val 4706"/>
            </a:avLst>
          </a:prstGeom>
          <a:noFill xmlns:a="http://schemas.openxmlformats.org/drawingml/2006/main"/>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10BA2A91-F4FD-403C-BECB-866C9ECFBDED}"/>
              </a:ext>
            </a:extLst>
          </p:cNvPr>
          <p:cNvSpPr>
            <a:spLocks xmlns:a="http://schemas.openxmlformats.org/drawingml/2006/main" noGrp="1"/>
          </p:cNvSpPr>
          <p:nvPr/>
        </p:nvSpPr>
        <p:spPr>
          <a:xfrm xmlns:a="http://schemas.openxmlformats.org/drawingml/2006/main">
            <a:off x="8839200" y="3486150"/>
            <a:ext cx="2571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1.3% target mass</a:t>
            </a:r>
          </a:p>
        </p:txBody>
      </p:sp>
      <p:sp>
        <p:nvSpPr>
          <p:cNvPr id="25" name="">
            <a:extLst xmlns:a="http://schemas.openxmlformats.org/drawingml/2006/main">
              <a:ext uri="{FF2B5EF4-FFF2-40B4-BE49-F238E27FC236}">
                <a16:creationId xmlns:a16="http://schemas.microsoft.com/office/drawing/2014/main" id="{DD9908B3-D5B8-41EA-8083-F27EB0305BCF}"/>
              </a:ext>
            </a:extLst>
          </p:cNvPr>
          <p:cNvSpPr>
            <a:spLocks xmlns:a="http://schemas.openxmlformats.org/drawingml/2006/main" noGrp="1"/>
          </p:cNvSpPr>
          <p:nvPr/>
        </p:nvSpPr>
        <p:spPr>
          <a:xfrm xmlns:a="http://schemas.openxmlformats.org/drawingml/2006/main">
            <a:off x="609600" y="38862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BALANCED 18-CASE COHORT</a:t>
            </a:r>
          </a:p>
        </p:txBody>
      </p:sp>
      <p:graphicFrame>
        <p:nvGraphicFramePr>
          <p:cNvPr id="60" name=""/>
          <p:cNvGraphicFramePr/>
          <p:nvPr/>
        </p:nvGraphicFramePr>
        <p:xfrm>
          <a:off xmlns:a="http://schemas.openxmlformats.org/drawingml/2006/main" x="609600" y="4152900"/>
          <a:ext xmlns:a="http://schemas.openxmlformats.org/drawingml/2006/main" cx="6610350" cy="1866900"/>
        </p:xfrm>
        <a:graphic xmlns:a="http://schemas.openxmlformats.org/drawingml/2006/main">
          <a:graphicData uri="http://schemas.openxmlformats.org/drawingml/2006/table">
            <a:tbl>
              <a:tblPr/>
              <a:tblGrid>
                <a:gridCol w="1809750"/>
                <a:gridCol w="1200150"/>
                <a:gridCol w="1200150"/>
                <a:gridCol w="1200150"/>
                <a:gridCol w="1200150"/>
              </a:tblGrid>
              <a:tr h="373380">
                <a:tc>
                  <a:txBody>
                    <a:bodyPr>
                      <a:normAutofit/>
                    </a:bodyPr>
                    <a:lstStyle/>
                    <a:p>
                      <a:r>
                        <a:rPr sz="825" b="1">
                          <a:solidFill>
                            <a:srgbClr val="FFFFFF"/>
                          </a:solidFill>
                          <a:latin typeface="Helvetica Neue"/>
                          <a:ea typeface="Helvetica Neue"/>
                          <a:cs typeface="Helvetica Neue"/>
                        </a:rPr>
                        <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100%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75%</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50%</a:t>
                      </a:r>
                    </a:p>
                  </a:txBody>
                  <a:tcPr marL="95250" marR="95250" marT="57150" marB="57150" anchor="ctr">
                    <a:solidFill>
                      <a:srgbClr val="1C2733"/>
                    </a:solidFill>
                  </a:tcPr>
                </a:tc>
                <a:tc>
                  <a:txBody>
                    <a:bodyPr>
                      <a:normAutofit/>
                    </a:bodyPr>
                    <a:lstStyle/>
                    <a:p>
                      <a:pPr algn="ctr"/>
                      <a:r>
                        <a:rPr sz="825" b="1">
                          <a:solidFill>
                            <a:srgbClr val="FFFFFF"/>
                          </a:solidFill>
                          <a:latin typeface="Helvetica Neue"/>
                          <a:ea typeface="Helvetica Neue"/>
                          <a:cs typeface="Helvetica Neue"/>
                        </a:rPr>
                        <a:t>25%</a:t>
                      </a:r>
                    </a:p>
                  </a:txBody>
                  <a:tcPr marL="95250" marR="95250" marT="57150" marB="57150" anchor="ctr">
                    <a:solidFill>
                      <a:srgbClr val="1C2733"/>
                    </a:solidFill>
                  </a:tcPr>
                </a:tc>
              </a:tr>
              <a:tr h="373380">
                <a:tc>
                  <a:txBody>
                    <a:bodyPr>
                      <a:normAutofit/>
                    </a:bodyPr>
                    <a:lstStyle/>
                    <a:p>
                      <a:pPr algn="l"/>
                      <a:r>
                        <a:rPr sz="975" b="1">
                          <a:solidFill>
                            <a:srgbClr val="FFFFFF"/>
                          </a:solidFill>
                          <a:latin typeface="Helvetica Neue"/>
                          <a:ea typeface="Helvetica Neue"/>
                          <a:cs typeface="Helvetica Neue"/>
                        </a:rPr>
                        <a:t>Strict hits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18/18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10/18</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3/18</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mass</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5.22%</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2.18%</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1.16%</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0.21%</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target lift</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169×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79×</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29×</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5.4×</a:t>
                      </a:r>
                    </a:p>
                  </a:txBody>
                  <a:tcPr marL="95250" marR="95250" marT="57150" marB="57150" anchor="ctr">
                    <a:solidFill>
                      <a:srgbClr val="FCE2D9"/>
                    </a:solidFill>
                  </a:tcPr>
                </a:tc>
              </a:tr>
              <a:tr h="373380">
                <a:tc>
                  <a:txBody>
                    <a:bodyPr>
                      <a:normAutofit/>
                    </a:bodyPr>
                    <a:lstStyle/>
                    <a:p>
                      <a:pPr algn="l"/>
                      <a:r>
                        <a:rPr sz="975" b="1">
                          <a:solidFill>
                            <a:srgbClr val="FFFFFF"/>
                          </a:solidFill>
                          <a:latin typeface="Helvetica Neue"/>
                          <a:ea typeface="Helvetica Neue"/>
                          <a:cs typeface="Helvetica Neue"/>
                        </a:rPr>
                        <a:t>Median best-patch rank</a:t>
                      </a:r>
                    </a:p>
                  </a:txBody>
                  <a:tcPr marL="95250" marR="95250" marT="57150" marB="57150" anchor="ctr">
                    <a:solidFill>
                      <a:srgbClr val="1C2733"/>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10151C"/>
                          </a:solidFill>
                          <a:latin typeface="Helvetica Neue"/>
                          <a:ea typeface="Helvetica Neue"/>
                          <a:cs typeface="Helvetica Neue"/>
                        </a:rPr>
                        <a:t>1</a:t>
                      </a:r>
                    </a:p>
                  </a:txBody>
                  <a:tcPr marL="95250" marR="95250" marT="57150" marB="57150" anchor="ctr">
                    <a:solidFill>
                      <a:srgbClr val="FFFFFF"/>
                    </a:solidFill>
                  </a:tcPr>
                </a:tc>
                <a:tc>
                  <a:txBody>
                    <a:bodyPr>
                      <a:normAutofit/>
                    </a:bodyPr>
                    <a:lstStyle/>
                    <a:p>
                      <a:pPr algn="ctr"/>
                      <a:r>
                        <a:rPr sz="975" b="0">
                          <a:solidFill>
                            <a:srgbClr val="A33D29"/>
                          </a:solidFill>
                          <a:latin typeface="Helvetica Neue"/>
                          <a:ea typeface="Helvetica Neue"/>
                          <a:cs typeface="Helvetica Neue"/>
                        </a:rPr>
                        <a:t>6.5</a:t>
                      </a:r>
                    </a:p>
                  </a:txBody>
                  <a:tcPr marL="95250" marR="95250" marT="57150" marB="57150" anchor="ctr">
                    <a:solidFill>
                      <a:srgbClr val="FCE2D9"/>
                    </a:solidFill>
                  </a:tcPr>
                </a:tc>
              </a:tr>
            </a:tbl>
          </a:graphicData>
        </a:graphic>
      </p:graphicFrame>
      <p:sp>
        <p:nvSpPr>
          <p:cNvPr id="27" name="">
            <a:extLst xmlns:a="http://schemas.openxmlformats.org/drawingml/2006/main">
              <a:ext uri="{FF2B5EF4-FFF2-40B4-BE49-F238E27FC236}">
                <a16:creationId xmlns:a16="http://schemas.microsoft.com/office/drawing/2014/main" id="{1447F527-E569-44FA-9BE4-A975458D723F}"/>
              </a:ext>
            </a:extLst>
          </p:cNvPr>
          <p:cNvSpPr>
            <a:spLocks xmlns:a="http://schemas.openxmlformats.org/drawingml/2006/main" noGrp="1"/>
          </p:cNvSpPr>
          <p:nvPr/>
        </p:nvSpPr>
        <p:spPr>
          <a:xfrm xmlns:a="http://schemas.openxmlformats.org/drawingml/2006/main">
            <a:off x="7524750" y="3886200"/>
            <a:ext cx="4057650" cy="2133600"/>
          </a:xfrm>
          <a:prstGeom xmlns:a="http://schemas.openxmlformats.org/drawingml/2006/main" prst="roundRect">
            <a:avLst>
              <a:gd name="adj" fmla="val 3571"/>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1DA3422-CBEA-41D0-B0BA-16C2C15AD634}"/>
              </a:ext>
            </a:extLst>
          </p:cNvPr>
          <p:cNvSpPr>
            <a:spLocks xmlns:a="http://schemas.openxmlformats.org/drawingml/2006/main" noGrp="1"/>
          </p:cNvSpPr>
          <p:nvPr/>
        </p:nvSpPr>
        <p:spPr>
          <a:xfrm xmlns:a="http://schemas.openxmlformats.org/drawingml/2006/main">
            <a:off x="7791450" y="4114800"/>
            <a:ext cx="2952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NO FIXED-GRID PADDING CONFOUND</a:t>
            </a:r>
          </a:p>
        </p:txBody>
      </p:sp>
      <p:sp>
        <p:nvSpPr>
          <p:cNvPr id="29" name="">
            <a:extLst xmlns:a="http://schemas.openxmlformats.org/drawingml/2006/main">
              <a:ext uri="{FF2B5EF4-FFF2-40B4-BE49-F238E27FC236}">
                <a16:creationId xmlns:a16="http://schemas.microsoft.com/office/drawing/2014/main" id="{91650B14-D512-4E53-ADAA-759C9C7EAF53}"/>
              </a:ext>
            </a:extLst>
          </p:cNvPr>
          <p:cNvSpPr>
            <a:spLocks xmlns:a="http://schemas.openxmlformats.org/drawingml/2006/main" noGrp="1"/>
          </p:cNvSpPr>
          <p:nvPr/>
        </p:nvSpPr>
        <p:spPr>
          <a:xfrm xmlns:a="http://schemas.openxmlformats.org/drawingml/2006/main">
            <a:off x="7791450" y="4419600"/>
            <a:ext cx="333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90×160 → 22×40</a:t>
            </a:r>
          </a:p>
        </p:txBody>
      </p:sp>
      <p:sp>
        <p:nvSpPr>
          <p:cNvPr id="30" name="">
            <a:extLst xmlns:a="http://schemas.openxmlformats.org/drawingml/2006/main">
              <a:ext uri="{FF2B5EF4-FFF2-40B4-BE49-F238E27FC236}">
                <a16:creationId xmlns:a16="http://schemas.microsoft.com/office/drawing/2014/main" id="{9D0C5B04-F8CB-4BB5-816D-F3C504884711}"/>
              </a:ext>
            </a:extLst>
          </p:cNvPr>
          <p:cNvSpPr>
            <a:spLocks xmlns:a="http://schemas.openxmlformats.org/drawingml/2006/main" noGrp="1"/>
          </p:cNvSpPr>
          <p:nvPr/>
        </p:nvSpPr>
        <p:spPr>
          <a:xfrm xmlns:a="http://schemas.openxmlformats.org/drawingml/2006/main">
            <a:off x="7791450" y="48006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raw patch grid · ≈3,600 → 220 merged visual tokens</a:t>
            </a:r>
          </a:p>
        </p:txBody>
      </p:sp>
      <p:sp>
        <p:nvSpPr>
          <p:cNvPr id="31" name="">
            <a:extLst xmlns:a="http://schemas.openxmlformats.org/drawingml/2006/main">
              <a:ext uri="{FF2B5EF4-FFF2-40B4-BE49-F238E27FC236}">
                <a16:creationId xmlns:a16="http://schemas.microsoft.com/office/drawing/2014/main" id="{F1B1C7A7-20BA-41E5-B19E-0B7ECC14100B}"/>
              </a:ext>
            </a:extLst>
          </p:cNvPr>
          <p:cNvSpPr>
            <a:spLocks xmlns:a="http://schemas.openxmlformats.org/drawingml/2006/main" noGrp="1"/>
          </p:cNvSpPr>
          <p:nvPr/>
        </p:nvSpPr>
        <p:spPr>
          <a:xfrm xmlns:a="http://schemas.openxmlformats.org/drawingml/2006/main">
            <a:off x="7791450" y="5181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8FE0BF"/>
                </a:solidFill>
                <a:latin typeface="Helvetica Neue"/>
                <a:ea typeface="Helvetica Neue"/>
                <a:cs typeface="Helvetica Neue"/>
              </a:defRPr>
            </a:pPr>
            <a:r>
              <a:rPr sz="1050" b="1">
                <a:solidFill>
                  <a:srgbClr val="8FE0BF"/>
                </a:solidFill>
                <a:latin typeface="Helvetica Neue"/>
                <a:ea typeface="Helvetica Neue"/>
                <a:cs typeface="Helvetica Neue"/>
              </a:rPr>
              <a:t>The grid shrinks with the image; it is not padded back to a fixed ≈1k-token budget.</a:t>
            </a:r>
          </a:p>
        </p:txBody>
      </p:sp>
      <p:sp>
        <p:nvSpPr>
          <p:cNvPr id="32" name="">
            <a:extLst xmlns:a="http://schemas.openxmlformats.org/drawingml/2006/main">
              <a:ext uri="{FF2B5EF4-FFF2-40B4-BE49-F238E27FC236}">
                <a16:creationId xmlns:a16="http://schemas.microsoft.com/office/drawing/2014/main" id="{853D3F75-4DC9-4C77-8205-C5F701E3ED12}"/>
              </a:ext>
            </a:extLst>
          </p:cNvPr>
          <p:cNvSpPr>
            <a:spLocks xmlns:a="http://schemas.openxmlformats.org/drawingml/2006/main" noGrp="1"/>
          </p:cNvSpPr>
          <p:nvPr/>
        </p:nvSpPr>
        <p:spPr>
          <a:xfrm xmlns:a="http://schemas.openxmlformats.org/drawingml/2006/main">
            <a:off x="7791450" y="561975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9744"/>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Remaining confounds: fewer spatial samples and downsampling/aliasing.</a:t>
            </a:r>
          </a:p>
        </p:txBody>
      </p:sp>
      <p:sp>
        <p:nvSpPr>
          <p:cNvPr id="33" name="">
            <a:extLst xmlns:a="http://schemas.openxmlformats.org/drawingml/2006/main">
              <a:ext uri="{FF2B5EF4-FFF2-40B4-BE49-F238E27FC236}">
                <a16:creationId xmlns:a16="http://schemas.microsoft.com/office/drawing/2014/main" id="{C852578B-0705-45A8-BC5C-34AD7F95359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5664F70-3F9C-44B9-B7ED-F62D130172E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360 deterministic requests · official localization prompt and 0–1000 contract · eager attention · n=18</a:t>
            </a:r>
          </a:p>
        </p:txBody>
      </p:sp>
    </p:spTree>
    <p:extLst>
      <p:ext uri="{BB962C8B-B14F-4D97-AF65-F5344CB8AC3E}">
        <p14:creationId xmlns:p14="http://schemas.microsoft.com/office/powerpoint/2010/main" val="1084539084"/>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6A3AF3ED-C0BC-48D9-A82A-53DC8D0FC10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ATTRIBUTION BASELINE MATTERS</a:t>
            </a:r>
          </a:p>
        </p:txBody>
      </p:sp>
      <p:sp>
        <p:nvSpPr>
          <p:cNvPr id="2" name="">
            <a:extLst xmlns:a="http://schemas.openxmlformats.org/drawingml/2006/main">
              <a:ext uri="{FF2B5EF4-FFF2-40B4-BE49-F238E27FC236}">
                <a16:creationId xmlns:a16="http://schemas.microsoft.com/office/drawing/2014/main" id="{71A007A3-F38A-4B02-AA4C-D8A57739F32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Instruction controls suppress generic edge saliency</a:t>
            </a:r>
          </a:p>
        </p:txBody>
      </p:sp>
      <p:sp>
        <p:nvSpPr>
          <p:cNvPr id="3" name="">
            <a:extLst xmlns:a="http://schemas.openxmlformats.org/drawingml/2006/main">
              <a:ext uri="{FF2B5EF4-FFF2-40B4-BE49-F238E27FC236}">
                <a16:creationId xmlns:a16="http://schemas.microsoft.com/office/drawing/2014/main" id="{DA113D24-2213-4D07-ABFB-61C252A03F8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BB6ED57D-08AF-4649-9E97-720897623A81}"/>
              </a:ext>
            </a:extLst>
          </p:cNvPr>
          <p:cNvSpPr>
            <a:spLocks xmlns:a="http://schemas.openxmlformats.org/drawingml/2006/main" noGrp="1"/>
          </p:cNvSpPr>
          <p:nvPr/>
        </p:nvSpPr>
        <p:spPr>
          <a:xfrm xmlns:a="http://schemas.openxmlformats.org/drawingml/2006/main">
            <a:off x="609600" y="110490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Fill color · free Holo click (209,243)</a:t>
            </a:r>
          </a:p>
        </p:txBody>
      </p:sp>
      <p:sp>
        <p:nvSpPr>
          <p:cNvPr id="5" name="">
            <a:extLst xmlns:a="http://schemas.openxmlformats.org/drawingml/2006/main">
              <a:ext uri="{FF2B5EF4-FFF2-40B4-BE49-F238E27FC236}">
                <a16:creationId xmlns:a16="http://schemas.microsoft.com/office/drawing/2014/main" id="{1EB6DF40-45A6-4FFA-89A1-606F10C8C51C}"/>
              </a:ext>
            </a:extLst>
          </p:cNvPr>
          <p:cNvSpPr>
            <a:spLocks xmlns:a="http://schemas.openxmlformats.org/drawingml/2006/main" noGrp="1"/>
          </p:cNvSpPr>
          <p:nvPr/>
        </p:nvSpPr>
        <p:spPr>
          <a:xfrm xmlns:a="http://schemas.openxmlformats.org/drawingml/2006/main">
            <a:off x="7981950" y="1076325"/>
            <a:ext cx="36004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316A2F0-586B-48E5-B2EA-42524268FB92}"/>
              </a:ext>
            </a:extLst>
          </p:cNvPr>
          <p:cNvSpPr>
            <a:spLocks xmlns:a="http://schemas.openxmlformats.org/drawingml/2006/main" noGrp="1"/>
          </p:cNvSpPr>
          <p:nvPr/>
        </p:nvSpPr>
        <p:spPr>
          <a:xfrm xmlns:a="http://schemas.openxmlformats.org/drawingml/2006/main">
            <a:off x="8077200" y="1095375"/>
            <a:ext cx="3409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 ORACLE · WHITE = CLICK</a:t>
            </a:r>
          </a:p>
        </p:txBody>
      </p:sp>
      <p:sp>
        <p:nvSpPr>
          <p:cNvPr id="7" name="">
            <a:extLst xmlns:a="http://schemas.openxmlformats.org/drawingml/2006/main">
              <a:ext uri="{FF2B5EF4-FFF2-40B4-BE49-F238E27FC236}">
                <a16:creationId xmlns:a16="http://schemas.microsoft.com/office/drawing/2014/main" id="{BDC2362B-86D9-4EB6-8B31-1EEE81904E1E}"/>
              </a:ext>
            </a:extLst>
          </p:cNvPr>
          <p:cNvSpPr>
            <a:spLocks xmlns:a="http://schemas.openxmlformats.org/drawingml/2006/main" noGrp="1"/>
          </p:cNvSpPr>
          <p:nvPr/>
        </p:nvSpPr>
        <p:spPr>
          <a:xfrm xmlns:a="http://schemas.openxmlformats.org/drawingml/2006/main">
            <a:off x="6096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VALUE-NORM · NO INSTRUCTION BASELINE</a:t>
            </a:r>
          </a:p>
        </p:txBody>
      </p:sp>
      <p:sp>
        <p:nvSpPr>
          <p:cNvPr id="8" name="">
            <a:extLst xmlns:a="http://schemas.openxmlformats.org/drawingml/2006/main">
              <a:ext uri="{FF2B5EF4-FFF2-40B4-BE49-F238E27FC236}">
                <a16:creationId xmlns:a16="http://schemas.microsoft.com/office/drawing/2014/main" id="{4ADE6949-5166-4503-B72D-FE333D1E83B9}"/>
              </a:ext>
            </a:extLst>
          </p:cNvPr>
          <p:cNvSpPr>
            <a:spLocks xmlns:a="http://schemas.openxmlformats.org/drawingml/2006/main" noGrp="1"/>
          </p:cNvSpPr>
          <p:nvPr/>
        </p:nvSpPr>
        <p:spPr>
          <a:xfrm xmlns:a="http://schemas.openxmlformats.org/drawingml/2006/main">
            <a:off x="6400800" y="1457325"/>
            <a:ext cx="5181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VALUE-NORM · MINUS 4 SAME-IMAGE INSTRUCTIONS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1393a348c694d0c"/>
          <a:srcRect xmlns:a="http://schemas.openxmlformats.org/drawingml/2006/main" l="0" t="2459" r="0" b="2459"/>
          <a:stretch xmlns:a="http://schemas.openxmlformats.org/drawingml/2006/main">
            <a:fillRect l="0" t="0" r="0" b="0"/>
          </a:stretch>
        </p:blipFill>
        <p:spPr>
          <a:xfrm xmlns:a="http://schemas.openxmlformats.org/drawingml/2006/main">
            <a:off x="609600" y="1714500"/>
            <a:ext cx="5181600" cy="3810000"/>
          </a:xfrm>
          <a:prstGeom xmlns:a="http://schemas.openxmlformats.org/drawingml/2006/main" prst="roundRect">
            <a:avLst>
              <a:gd name="adj" fmla="val 3000"/>
            </a:avLst>
          </a:prstGeom>
        </p:spPr>
      </p:pic>
      <p:sp>
        <p:nvSpPr>
          <p:cNvPr id="10" name="">
            <a:extLst xmlns:a="http://schemas.openxmlformats.org/drawingml/2006/main">
              <a:ext uri="{FF2B5EF4-FFF2-40B4-BE49-F238E27FC236}">
                <a16:creationId xmlns:a16="http://schemas.microsoft.com/office/drawing/2014/main" id="{B7BF9BBB-5D66-42BF-813F-092EDD662ABC}"/>
              </a:ext>
            </a:extLst>
          </p:cNvPr>
          <p:cNvSpPr>
            <a:spLocks xmlns:a="http://schemas.openxmlformats.org/drawingml/2006/main" noGrp="1"/>
          </p:cNvSpPr>
          <p:nvPr/>
        </p:nvSpPr>
        <p:spPr>
          <a:xfrm xmlns:a="http://schemas.openxmlformats.org/drawingml/2006/main">
            <a:off x="6096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3644c7349d5443e"/>
          <a:srcRect xmlns:a="http://schemas.openxmlformats.org/drawingml/2006/main" l="0" t="2459" r="0" b="2459"/>
          <a:stretch xmlns:a="http://schemas.openxmlformats.org/drawingml/2006/main">
            <a:fillRect l="0" t="0" r="0" b="0"/>
          </a:stretch>
        </p:blipFill>
        <p:spPr>
          <a:xfrm xmlns:a="http://schemas.openxmlformats.org/drawingml/2006/main">
            <a:off x="6400800" y="1714500"/>
            <a:ext cx="5181600" cy="3810000"/>
          </a:xfrm>
          <a:prstGeom xmlns:a="http://schemas.openxmlformats.org/drawingml/2006/main" prst="roundRect">
            <a:avLst>
              <a:gd name="adj" fmla="val 3000"/>
            </a:avLst>
          </a:prstGeom>
        </p:spPr>
      </p:pic>
      <p:sp>
        <p:nvSpPr>
          <p:cNvPr id="12" name="">
            <a:extLst xmlns:a="http://schemas.openxmlformats.org/drawingml/2006/main">
              <a:ext uri="{FF2B5EF4-FFF2-40B4-BE49-F238E27FC236}">
                <a16:creationId xmlns:a16="http://schemas.microsoft.com/office/drawing/2014/main" id="{1BDEBE1B-9260-4505-8479-AEF361A25713}"/>
              </a:ext>
            </a:extLst>
          </p:cNvPr>
          <p:cNvSpPr>
            <a:spLocks xmlns:a="http://schemas.openxmlformats.org/drawingml/2006/main" noGrp="1"/>
          </p:cNvSpPr>
          <p:nvPr/>
        </p:nvSpPr>
        <p:spPr>
          <a:xfrm xmlns:a="http://schemas.openxmlformats.org/drawingml/2006/main">
            <a:off x="6400800" y="1714500"/>
            <a:ext cx="5181600" cy="3810000"/>
          </a:xfrm>
          <a:prstGeom xmlns:a="http://schemas.openxmlformats.org/drawingml/2006/main" prst="roundRect">
            <a:avLst>
              <a:gd name="adj" fmla="val 2000"/>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6547BF18-0640-46FE-B590-312FD0085AE5}"/>
              </a:ext>
            </a:extLst>
          </p:cNvPr>
          <p:cNvSpPr>
            <a:spLocks xmlns:a="http://schemas.openxmlformats.org/drawingml/2006/main" noGrp="1"/>
          </p:cNvSpPr>
          <p:nvPr/>
        </p:nvSpPr>
        <p:spPr>
          <a:xfrm xmlns:a="http://schemas.openxmlformats.org/drawingml/2006/main">
            <a:off x="6096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AC6276C-38BA-40F1-8F14-38F60A608D7A}"/>
              </a:ext>
            </a:extLst>
          </p:cNvPr>
          <p:cNvSpPr>
            <a:spLocks xmlns:a="http://schemas.openxmlformats.org/drawingml/2006/main" noGrp="1"/>
          </p:cNvSpPr>
          <p:nvPr/>
        </p:nvSpPr>
        <p:spPr>
          <a:xfrm xmlns:a="http://schemas.openxmlformats.org/drawingml/2006/main">
            <a:off x="800100" y="5743575"/>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05A3C"/>
                </a:solidFill>
                <a:latin typeface="Helvetica Neue"/>
                <a:ea typeface="Helvetica Neue"/>
                <a:cs typeface="Helvetica Neue"/>
              </a:defRPr>
            </a:pPr>
            <a:r>
              <a:rPr sz="1575" b="1">
                <a:solidFill>
                  <a:srgbClr val="F05A3C"/>
                </a:solidFill>
                <a:latin typeface="Helvetica Neue"/>
                <a:ea typeface="Helvetica Neue"/>
                <a:cs typeface="Helvetica Neue"/>
              </a:rPr>
              <a:t>111× target lift</a:t>
            </a:r>
          </a:p>
        </p:txBody>
      </p:sp>
      <p:sp>
        <p:nvSpPr>
          <p:cNvPr id="15" name="">
            <a:extLst xmlns:a="http://schemas.openxmlformats.org/drawingml/2006/main">
              <a:ext uri="{FF2B5EF4-FFF2-40B4-BE49-F238E27FC236}">
                <a16:creationId xmlns:a16="http://schemas.microsoft.com/office/drawing/2014/main" id="{5F90238D-BF49-410E-94BB-EBE43D5E5430}"/>
              </a:ext>
            </a:extLst>
          </p:cNvPr>
          <p:cNvSpPr>
            <a:spLocks xmlns:a="http://schemas.openxmlformats.org/drawingml/2006/main" noGrp="1"/>
          </p:cNvSpPr>
          <p:nvPr/>
        </p:nvSpPr>
        <p:spPr>
          <a:xfrm xmlns:a="http://schemas.openxmlformats.org/drawingml/2006/main">
            <a:off x="2781300" y="5781675"/>
            <a:ext cx="2781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shared edge + canvas structure remains</a:t>
            </a:r>
          </a:p>
        </p:txBody>
      </p:sp>
      <p:sp>
        <p:nvSpPr>
          <p:cNvPr id="16" name="">
            <a:extLst xmlns:a="http://schemas.openxmlformats.org/drawingml/2006/main">
              <a:ext uri="{FF2B5EF4-FFF2-40B4-BE49-F238E27FC236}">
                <a16:creationId xmlns:a16="http://schemas.microsoft.com/office/drawing/2014/main" id="{3099F3BD-4F74-4D06-8F16-E815391F8EB6}"/>
              </a:ext>
            </a:extLst>
          </p:cNvPr>
          <p:cNvSpPr>
            <a:spLocks xmlns:a="http://schemas.openxmlformats.org/drawingml/2006/main" noGrp="1"/>
          </p:cNvSpPr>
          <p:nvPr/>
        </p:nvSpPr>
        <p:spPr>
          <a:xfrm xmlns:a="http://schemas.openxmlformats.org/drawingml/2006/main">
            <a:off x="6400800" y="5657850"/>
            <a:ext cx="5181600" cy="552450"/>
          </a:xfrm>
          <a:prstGeom xmlns:a="http://schemas.openxmlformats.org/drawingml/2006/main" prst="roundRect">
            <a:avLst>
              <a:gd name="adj" fmla="val 13793"/>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7EC9710-3B95-4397-8034-940D52903F1F}"/>
              </a:ext>
            </a:extLst>
          </p:cNvPr>
          <p:cNvSpPr>
            <a:spLocks xmlns:a="http://schemas.openxmlformats.org/drawingml/2006/main" noGrp="1"/>
          </p:cNvSpPr>
          <p:nvPr/>
        </p:nvSpPr>
        <p:spPr>
          <a:xfrm xmlns:a="http://schemas.openxmlformats.org/drawingml/2006/main">
            <a:off x="6591300" y="5743575"/>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18A875"/>
                </a:solidFill>
                <a:latin typeface="Helvetica Neue"/>
                <a:ea typeface="Helvetica Neue"/>
                <a:cs typeface="Helvetica Neue"/>
              </a:defRPr>
            </a:pPr>
            <a:r>
              <a:rPr sz="1575" b="1">
                <a:solidFill>
                  <a:srgbClr val="18A875"/>
                </a:solidFill>
                <a:latin typeface="Helvetica Neue"/>
                <a:ea typeface="Helvetica Neue"/>
                <a:cs typeface="Helvetica Neue"/>
              </a:rPr>
              <a:t>464× target lift</a:t>
            </a:r>
          </a:p>
        </p:txBody>
      </p:sp>
      <p:sp>
        <p:nvSpPr>
          <p:cNvPr id="18" name="">
            <a:extLst xmlns:a="http://schemas.openxmlformats.org/drawingml/2006/main">
              <a:ext uri="{FF2B5EF4-FFF2-40B4-BE49-F238E27FC236}">
                <a16:creationId xmlns:a16="http://schemas.microsoft.com/office/drawing/2014/main" id="{C6A13910-447D-4DFE-B2BF-3861C284AB70}"/>
              </a:ext>
            </a:extLst>
          </p:cNvPr>
          <p:cNvSpPr>
            <a:spLocks xmlns:a="http://schemas.openxmlformats.org/drawingml/2006/main" noGrp="1"/>
          </p:cNvSpPr>
          <p:nvPr/>
        </p:nvSpPr>
        <p:spPr>
          <a:xfrm xmlns:a="http://schemas.openxmlformats.org/drawingml/2006/main">
            <a:off x="8743950" y="5781675"/>
            <a:ext cx="2609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D5DEE6"/>
                </a:solidFill>
                <a:latin typeface="Helvetica Neue"/>
                <a:ea typeface="Helvetica Neue"/>
                <a:cs typeface="Helvetica Neue"/>
              </a:defRPr>
            </a:pPr>
            <a:r>
              <a:rPr sz="900" b="0">
                <a:solidFill>
                  <a:srgbClr val="D5DEE6"/>
                </a:solidFill>
                <a:latin typeface="Helvetica Neue"/>
                <a:ea typeface="Helvetica Neue"/>
                <a:cs typeface="Helvetica Neue"/>
              </a:rPr>
              <a:t>18.6% target mass · LOO ≥0.991</a:t>
            </a:r>
          </a:p>
        </p:txBody>
      </p:sp>
      <p:sp>
        <p:nvSpPr>
          <p:cNvPr id="19" name="">
            <a:extLst xmlns:a="http://schemas.openxmlformats.org/drawingml/2006/main">
              <a:ext uri="{FF2B5EF4-FFF2-40B4-BE49-F238E27FC236}">
                <a16:creationId xmlns:a16="http://schemas.microsoft.com/office/drawing/2014/main" id="{A863C983-7ACB-4587-85D8-E866AF98114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84AB016-8AB7-4286-9ECD-9215001AD5E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Resting-state analogy: same image and action; subtract the mean saliency shared across four visible alternate instructions</a:t>
            </a:r>
          </a:p>
        </p:txBody>
      </p:sp>
    </p:spTree>
    <p:extLst>
      <p:ext uri="{BB962C8B-B14F-4D97-AF65-F5344CB8AC3E}">
        <p14:creationId xmlns:p14="http://schemas.microsoft.com/office/powerpoint/2010/main" val="128172009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D9888B6-10BA-4E82-983F-D72A05C2269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FREE GENERATION · STRICT MISS</a:t>
            </a:r>
          </a:p>
        </p:txBody>
      </p:sp>
      <p:sp>
        <p:nvSpPr>
          <p:cNvPr id="2" name="">
            <a:extLst xmlns:a="http://schemas.openxmlformats.org/drawingml/2006/main">
              <a:ext uri="{FF2B5EF4-FFF2-40B4-BE49-F238E27FC236}">
                <a16:creationId xmlns:a16="http://schemas.microsoft.com/office/drawing/2014/main" id="{01CB062E-A97D-4448-B3FE-BBD8A6FB90B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Target-specific attention survives a 7.4-pixel click miss</a:t>
            </a:r>
          </a:p>
        </p:txBody>
      </p:sp>
      <p:sp>
        <p:nvSpPr>
          <p:cNvPr id="3" name="">
            <a:extLst xmlns:a="http://schemas.openxmlformats.org/drawingml/2006/main">
              <a:ext uri="{FF2B5EF4-FFF2-40B4-BE49-F238E27FC236}">
                <a16:creationId xmlns:a16="http://schemas.microsoft.com/office/drawing/2014/main" id="{51BCC72B-7BA7-4ECD-B2B9-B6D625EE430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4ACC5374-AD63-44F6-BB43-42B6B81DE7D0}"/>
              </a:ext>
            </a:extLst>
          </p:cNvPr>
          <p:cNvSpPr>
            <a:spLocks xmlns:a="http://schemas.openxmlformats.org/drawingml/2006/main" noGrp="1"/>
          </p:cNvSpPr>
          <p:nvPr/>
        </p:nvSpPr>
        <p:spPr>
          <a:xfrm xmlns:a="http://schemas.openxmlformats.org/drawingml/2006/main">
            <a:off x="609600" y="1143000"/>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Choose the language for proofing tools</a:t>
            </a:r>
          </a:p>
        </p:txBody>
      </p:sp>
      <p:sp>
        <p:nvSpPr>
          <p:cNvPr id="5" name="">
            <a:extLst xmlns:a="http://schemas.openxmlformats.org/drawingml/2006/main">
              <a:ext uri="{FF2B5EF4-FFF2-40B4-BE49-F238E27FC236}">
                <a16:creationId xmlns:a16="http://schemas.microsoft.com/office/drawing/2014/main" id="{5B137793-1462-4256-B297-2987B2EE9888}"/>
              </a:ext>
            </a:extLst>
          </p:cNvPr>
          <p:cNvSpPr>
            <a:spLocks xmlns:a="http://schemas.openxmlformats.org/drawingml/2006/main" noGrp="1"/>
          </p:cNvSpPr>
          <p:nvPr/>
        </p:nvSpPr>
        <p:spPr>
          <a:xfrm xmlns:a="http://schemas.openxmlformats.org/drawingml/2006/main">
            <a:off x="7943850" y="1104900"/>
            <a:ext cx="36385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AF3448A-4907-4559-891C-AFD16B1DF206}"/>
              </a:ext>
            </a:extLst>
          </p:cNvPr>
          <p:cNvSpPr>
            <a:spLocks xmlns:a="http://schemas.openxmlformats.org/drawingml/2006/main" noGrp="1"/>
          </p:cNvSpPr>
          <p:nvPr/>
        </p:nvSpPr>
        <p:spPr>
          <a:xfrm xmlns:a="http://schemas.openxmlformats.org/drawingml/2006/main">
            <a:off x="8039100" y="1123950"/>
            <a:ext cx="3448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− 4 SAME-IMAGE INSTRUCTIONS</a:t>
            </a:r>
          </a:p>
        </p:txBody>
      </p:sp>
      <p:sp>
        <p:nvSpPr>
          <p:cNvPr id="7" name="">
            <a:extLst xmlns:a="http://schemas.openxmlformats.org/drawingml/2006/main">
              <a:ext uri="{FF2B5EF4-FFF2-40B4-BE49-F238E27FC236}">
                <a16:creationId xmlns:a16="http://schemas.microsoft.com/office/drawing/2014/main" id="{2D2AFDDF-3CFA-4C68-89B9-8A7146DFFD46}"/>
              </a:ext>
            </a:extLst>
          </p:cNvPr>
          <p:cNvSpPr>
            <a:spLocks xmlns:a="http://schemas.openxmlformats.org/drawingml/2006/main" noGrp="1"/>
          </p:cNvSpPr>
          <p:nvPr/>
        </p:nvSpPr>
        <p:spPr>
          <a:xfrm xmlns:a="http://schemas.openxmlformats.org/drawingml/2006/main">
            <a:off x="609600" y="1466850"/>
            <a:ext cx="4572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DIVERSE-INSTRUCTION SUBTRACTION</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d468b7e0b2548f4"/>
          <a:srcRect xmlns:a="http://schemas.openxmlformats.org/drawingml/2006/main" l="0" t="74" r="0" b="74"/>
          <a:stretch xmlns:a="http://schemas.openxmlformats.org/drawingml/2006/main">
            <a:fillRect l="0" t="0" r="0" b="0"/>
          </a:stretch>
        </p:blipFill>
        <p:spPr>
          <a:xfrm xmlns:a="http://schemas.openxmlformats.org/drawingml/2006/main">
            <a:off x="609600" y="1695450"/>
            <a:ext cx="7524750" cy="2838450"/>
          </a:xfrm>
          <a:prstGeom xmlns:a="http://schemas.openxmlformats.org/drawingml/2006/main" prst="roundRect">
            <a:avLst>
              <a:gd name="adj" fmla="val 4027"/>
            </a:avLst>
          </a:prstGeom>
        </p:spPr>
      </p:pic>
      <p:sp>
        <p:nvSpPr>
          <p:cNvPr id="9" name="">
            <a:extLst xmlns:a="http://schemas.openxmlformats.org/drawingml/2006/main">
              <a:ext uri="{FF2B5EF4-FFF2-40B4-BE49-F238E27FC236}">
                <a16:creationId xmlns:a16="http://schemas.microsoft.com/office/drawing/2014/main" id="{4F2A4D93-A538-4F9B-B6A2-34704A9085A4}"/>
              </a:ext>
            </a:extLst>
          </p:cNvPr>
          <p:cNvSpPr>
            <a:spLocks xmlns:a="http://schemas.openxmlformats.org/drawingml/2006/main" noGrp="1"/>
          </p:cNvSpPr>
          <p:nvPr/>
        </p:nvSpPr>
        <p:spPr>
          <a:xfrm xmlns:a="http://schemas.openxmlformats.org/drawingml/2006/main">
            <a:off x="609600" y="1695450"/>
            <a:ext cx="7524750" cy="2838450"/>
          </a:xfrm>
          <a:prstGeom xmlns:a="http://schemas.openxmlformats.org/drawingml/2006/main" prst="roundRect">
            <a:avLst>
              <a:gd name="adj" fmla="val 2685"/>
            </a:avLst>
          </a:prstGeom>
          <a:noFill xmlns:a="http://schemas.openxmlformats.org/drawingml/2006/main"/>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016888AD-612A-4FE4-B688-4FBDD62E3C88}"/>
              </a:ext>
            </a:extLst>
          </p:cNvPr>
          <p:cNvSpPr>
            <a:spLocks xmlns:a="http://schemas.openxmlformats.org/drawingml/2006/main" noGrp="1"/>
          </p:cNvSpPr>
          <p:nvPr/>
        </p:nvSpPr>
        <p:spPr>
          <a:xfrm xmlns:a="http://schemas.openxmlformats.org/drawingml/2006/main">
            <a:off x="8477250" y="1695450"/>
            <a:ext cx="3105150" cy="4171950"/>
          </a:xfrm>
          <a:prstGeom xmlns:a="http://schemas.openxmlformats.org/drawingml/2006/main" prst="roundRect">
            <a:avLst>
              <a:gd name="adj" fmla="val 2454"/>
            </a:avLst>
          </a:prstGeom>
          <a:solidFill xmlns:a="http://schemas.openxmlformats.org/drawingml/2006/main">
            <a:srgbClr val="1C273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C79B487-6E3C-46D9-BC5E-A38BF824F5FD}"/>
              </a:ext>
            </a:extLst>
          </p:cNvPr>
          <p:cNvSpPr>
            <a:spLocks xmlns:a="http://schemas.openxmlformats.org/drawingml/2006/main" noGrp="1"/>
          </p:cNvSpPr>
          <p:nvPr/>
        </p:nvSpPr>
        <p:spPr>
          <a:xfrm xmlns:a="http://schemas.openxmlformats.org/drawingml/2006/main">
            <a:off x="8724900" y="1924050"/>
            <a:ext cx="1200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A2DB758-0829-44EE-86FD-D308CBB94E69}"/>
              </a:ext>
            </a:extLst>
          </p:cNvPr>
          <p:cNvSpPr>
            <a:spLocks xmlns:a="http://schemas.openxmlformats.org/drawingml/2006/main" noGrp="1"/>
          </p:cNvSpPr>
          <p:nvPr/>
        </p:nvSpPr>
        <p:spPr>
          <a:xfrm xmlns:a="http://schemas.openxmlformats.org/drawingml/2006/main">
            <a:off x="8820150" y="1943100"/>
            <a:ext cx="1009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MISS</a:t>
            </a:r>
          </a:p>
        </p:txBody>
      </p:sp>
      <p:sp>
        <p:nvSpPr>
          <p:cNvPr id="13" name="">
            <a:extLst xmlns:a="http://schemas.openxmlformats.org/drawingml/2006/main">
              <a:ext uri="{FF2B5EF4-FFF2-40B4-BE49-F238E27FC236}">
                <a16:creationId xmlns:a16="http://schemas.microsoft.com/office/drawing/2014/main" id="{CA0B61E7-AE71-48A3-97CF-E3FD2A4B6565}"/>
              </a:ext>
            </a:extLst>
          </p:cNvPr>
          <p:cNvSpPr>
            <a:spLocks xmlns:a="http://schemas.openxmlformats.org/drawingml/2006/main" noGrp="1"/>
          </p:cNvSpPr>
          <p:nvPr/>
        </p:nvSpPr>
        <p:spPr>
          <a:xfrm xmlns:a="http://schemas.openxmlformats.org/drawingml/2006/main">
            <a:off x="8724900" y="23812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(124, 73)</a:t>
            </a:r>
          </a:p>
        </p:txBody>
      </p:sp>
      <p:sp>
        <p:nvSpPr>
          <p:cNvPr id="14" name="">
            <a:extLst xmlns:a="http://schemas.openxmlformats.org/drawingml/2006/main">
              <a:ext uri="{FF2B5EF4-FFF2-40B4-BE49-F238E27FC236}">
                <a16:creationId xmlns:a16="http://schemas.microsoft.com/office/drawing/2014/main" id="{3B8F8887-7677-428A-83D5-A1E8C0CBD91A}"/>
              </a:ext>
            </a:extLst>
          </p:cNvPr>
          <p:cNvSpPr>
            <a:spLocks xmlns:a="http://schemas.openxmlformats.org/drawingml/2006/main" noGrp="1"/>
          </p:cNvSpPr>
          <p:nvPr/>
        </p:nvSpPr>
        <p:spPr>
          <a:xfrm xmlns:a="http://schemas.openxmlformats.org/drawingml/2006/main">
            <a:off x="8724900" y="28575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2BDAF"/>
                </a:solidFill>
                <a:latin typeface="Helvetica Neue"/>
                <a:ea typeface="Helvetica Neue"/>
                <a:cs typeface="Helvetica Neue"/>
              </a:defRPr>
            </a:pPr>
            <a:r>
              <a:rPr sz="1350" b="1">
                <a:solidFill>
                  <a:srgbClr val="F2BDAF"/>
                </a:solidFill>
                <a:latin typeface="Helvetica Neue"/>
                <a:ea typeface="Helvetica Neue"/>
                <a:cs typeface="Helvetica Neue"/>
              </a:rPr>
              <a:t>7.4 px below the annotated box</a:t>
            </a:r>
          </a:p>
        </p:txBody>
      </p:sp>
      <p:sp>
        <p:nvSpPr>
          <p:cNvPr id="15" name="">
            <a:extLst xmlns:a="http://schemas.openxmlformats.org/drawingml/2006/main">
              <a:ext uri="{FF2B5EF4-FFF2-40B4-BE49-F238E27FC236}">
                <a16:creationId xmlns:a16="http://schemas.microsoft.com/office/drawing/2014/main" id="{0BEDA3A4-9C99-496D-8EBE-385A161EDF30}"/>
              </a:ext>
            </a:extLst>
          </p:cNvPr>
          <p:cNvSpPr>
            <a:spLocks xmlns:a="http://schemas.openxmlformats.org/drawingml/2006/main" noGrp="1"/>
          </p:cNvSpPr>
          <p:nvPr/>
        </p:nvSpPr>
        <p:spPr>
          <a:xfrm xmlns:a="http://schemas.openxmlformats.org/drawingml/2006/main">
            <a:off x="8724900" y="3543300"/>
            <a:ext cx="2381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6E2BD77-84D1-4850-8937-046EC7BA3FD1}"/>
              </a:ext>
            </a:extLst>
          </p:cNvPr>
          <p:cNvSpPr>
            <a:spLocks xmlns:a="http://schemas.openxmlformats.org/drawingml/2006/main" noGrp="1"/>
          </p:cNvSpPr>
          <p:nvPr/>
        </p:nvSpPr>
        <p:spPr>
          <a:xfrm xmlns:a="http://schemas.openxmlformats.org/drawingml/2006/main">
            <a:off x="8724900" y="37528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positive mass in oracle</a:t>
            </a:r>
          </a:p>
        </p:txBody>
      </p:sp>
      <p:sp>
        <p:nvSpPr>
          <p:cNvPr id="17" name="">
            <a:extLst xmlns:a="http://schemas.openxmlformats.org/drawingml/2006/main">
              <a:ext uri="{FF2B5EF4-FFF2-40B4-BE49-F238E27FC236}">
                <a16:creationId xmlns:a16="http://schemas.microsoft.com/office/drawing/2014/main" id="{FB36102E-C3FA-4A92-A8F6-518F7575FB15}"/>
              </a:ext>
            </a:extLst>
          </p:cNvPr>
          <p:cNvSpPr>
            <a:spLocks xmlns:a="http://schemas.openxmlformats.org/drawingml/2006/main" noGrp="1"/>
          </p:cNvSpPr>
          <p:nvPr/>
        </p:nvSpPr>
        <p:spPr>
          <a:xfrm xmlns:a="http://schemas.openxmlformats.org/drawingml/2006/main">
            <a:off x="10401300" y="37147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17.1%</a:t>
            </a:r>
          </a:p>
        </p:txBody>
      </p:sp>
      <p:sp>
        <p:nvSpPr>
          <p:cNvPr id="18" name="">
            <a:extLst xmlns:a="http://schemas.openxmlformats.org/drawingml/2006/main">
              <a:ext uri="{FF2B5EF4-FFF2-40B4-BE49-F238E27FC236}">
                <a16:creationId xmlns:a16="http://schemas.microsoft.com/office/drawing/2014/main" id="{46B88EA0-C7FC-4C86-9DA6-8B4602E1B885}"/>
              </a:ext>
            </a:extLst>
          </p:cNvPr>
          <p:cNvSpPr>
            <a:spLocks xmlns:a="http://schemas.openxmlformats.org/drawingml/2006/main" noGrp="1"/>
          </p:cNvSpPr>
          <p:nvPr/>
        </p:nvSpPr>
        <p:spPr>
          <a:xfrm xmlns:a="http://schemas.openxmlformats.org/drawingml/2006/main">
            <a:off x="8724900" y="41719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target lift</a:t>
            </a:r>
          </a:p>
        </p:txBody>
      </p:sp>
      <p:sp>
        <p:nvSpPr>
          <p:cNvPr id="19" name="">
            <a:extLst xmlns:a="http://schemas.openxmlformats.org/drawingml/2006/main">
              <a:ext uri="{FF2B5EF4-FFF2-40B4-BE49-F238E27FC236}">
                <a16:creationId xmlns:a16="http://schemas.microsoft.com/office/drawing/2014/main" id="{9FA8D566-E48D-4C0C-947E-38A790D76833}"/>
              </a:ext>
            </a:extLst>
          </p:cNvPr>
          <p:cNvSpPr>
            <a:spLocks xmlns:a="http://schemas.openxmlformats.org/drawingml/2006/main" noGrp="1"/>
          </p:cNvSpPr>
          <p:nvPr/>
        </p:nvSpPr>
        <p:spPr>
          <a:xfrm xmlns:a="http://schemas.openxmlformats.org/drawingml/2006/main">
            <a:off x="10401300" y="41338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279×</a:t>
            </a:r>
          </a:p>
        </p:txBody>
      </p:sp>
      <p:sp>
        <p:nvSpPr>
          <p:cNvPr id="20" name="">
            <a:extLst xmlns:a="http://schemas.openxmlformats.org/drawingml/2006/main">
              <a:ext uri="{FF2B5EF4-FFF2-40B4-BE49-F238E27FC236}">
                <a16:creationId xmlns:a16="http://schemas.microsoft.com/office/drawing/2014/main" id="{8FC29350-49CD-4C3B-B3B5-F6F0392F0CC0}"/>
              </a:ext>
            </a:extLst>
          </p:cNvPr>
          <p:cNvSpPr>
            <a:spLocks xmlns:a="http://schemas.openxmlformats.org/drawingml/2006/main" noGrp="1"/>
          </p:cNvSpPr>
          <p:nvPr/>
        </p:nvSpPr>
        <p:spPr>
          <a:xfrm xmlns:a="http://schemas.openxmlformats.org/drawingml/2006/main">
            <a:off x="8724900" y="4591050"/>
            <a:ext cx="16668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9EABB7"/>
                </a:solidFill>
                <a:latin typeface="Helvetica Neue"/>
                <a:ea typeface="Helvetica Neue"/>
                <a:cs typeface="Helvetica Neue"/>
              </a:defRPr>
            </a:pPr>
            <a:r>
              <a:rPr sz="900" b="0">
                <a:solidFill>
                  <a:srgbClr val="9EABB7"/>
                </a:solidFill>
                <a:latin typeface="Helvetica Neue"/>
                <a:ea typeface="Helvetica Neue"/>
                <a:cs typeface="Helvetica Neue"/>
              </a:rPr>
              <a:t>peak patch</a:t>
            </a:r>
          </a:p>
        </p:txBody>
      </p:sp>
      <p:sp>
        <p:nvSpPr>
          <p:cNvPr id="21" name="">
            <a:extLst xmlns:a="http://schemas.openxmlformats.org/drawingml/2006/main">
              <a:ext uri="{FF2B5EF4-FFF2-40B4-BE49-F238E27FC236}">
                <a16:creationId xmlns:a16="http://schemas.microsoft.com/office/drawing/2014/main" id="{D8AC3749-E6D8-4B2A-A3CE-8C4F432A7D93}"/>
              </a:ext>
            </a:extLst>
          </p:cNvPr>
          <p:cNvSpPr>
            <a:spLocks xmlns:a="http://schemas.openxmlformats.org/drawingml/2006/main" noGrp="1"/>
          </p:cNvSpPr>
          <p:nvPr/>
        </p:nvSpPr>
        <p:spPr>
          <a:xfrm xmlns:a="http://schemas.openxmlformats.org/drawingml/2006/main">
            <a:off x="10401300" y="4552950"/>
            <a:ext cx="704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18A875"/>
                </a:solidFill>
                <a:latin typeface="Helvetica Neue"/>
                <a:ea typeface="Helvetica Neue"/>
                <a:cs typeface="Helvetica Neue"/>
              </a:defRPr>
            </a:pPr>
            <a:r>
              <a:rPr sz="1350" b="1">
                <a:solidFill>
                  <a:srgbClr val="18A875"/>
                </a:solidFill>
                <a:latin typeface="Helvetica Neue"/>
                <a:ea typeface="Helvetica Neue"/>
                <a:cs typeface="Helvetica Neue"/>
              </a:rPr>
              <a:t>inside</a:t>
            </a:r>
          </a:p>
        </p:txBody>
      </p:sp>
      <p:sp>
        <p:nvSpPr>
          <p:cNvPr id="22" name="">
            <a:extLst xmlns:a="http://schemas.openxmlformats.org/drawingml/2006/main">
              <a:ext uri="{FF2B5EF4-FFF2-40B4-BE49-F238E27FC236}">
                <a16:creationId xmlns:a16="http://schemas.microsoft.com/office/drawing/2014/main" id="{9F9D50EF-F115-4254-BDF5-6C1E86108A88}"/>
              </a:ext>
            </a:extLst>
          </p:cNvPr>
          <p:cNvSpPr>
            <a:spLocks xmlns:a="http://schemas.openxmlformats.org/drawingml/2006/main" noGrp="1"/>
          </p:cNvSpPr>
          <p:nvPr/>
        </p:nvSpPr>
        <p:spPr>
          <a:xfrm xmlns:a="http://schemas.openxmlformats.org/drawingml/2006/main">
            <a:off x="8724900" y="5067300"/>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control stability ≥0.951</a:t>
            </a:r>
          </a:p>
        </p:txBody>
      </p:sp>
      <p:sp>
        <p:nvSpPr>
          <p:cNvPr id="23" name="">
            <a:extLst xmlns:a="http://schemas.openxmlformats.org/drawingml/2006/main">
              <a:ext uri="{FF2B5EF4-FFF2-40B4-BE49-F238E27FC236}">
                <a16:creationId xmlns:a16="http://schemas.microsoft.com/office/drawing/2014/main" id="{78E34801-A602-4B18-97CA-44E0733B11BE}"/>
              </a:ext>
            </a:extLst>
          </p:cNvPr>
          <p:cNvSpPr>
            <a:spLocks xmlns:a="http://schemas.openxmlformats.org/drawingml/2006/main" noGrp="1"/>
          </p:cNvSpPr>
          <p:nvPr/>
        </p:nvSpPr>
        <p:spPr>
          <a:xfrm xmlns:a="http://schemas.openxmlformats.org/drawingml/2006/main">
            <a:off x="609600" y="4762500"/>
            <a:ext cx="752475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24" name="">
            <a:extLst xmlns:a="http://schemas.openxmlformats.org/drawingml/2006/main">
              <a:ext uri="{FF2B5EF4-FFF2-40B4-BE49-F238E27FC236}">
                <a16:creationId xmlns:a16="http://schemas.microsoft.com/office/drawing/2014/main" id="{15B67AB1-B2BB-4D2C-B55A-7E3E794A1F20}"/>
              </a:ext>
            </a:extLst>
          </p:cNvPr>
          <p:cNvSpPr>
            <a:spLocks xmlns:a="http://schemas.openxmlformats.org/drawingml/2006/main" noGrp="1"/>
          </p:cNvSpPr>
          <p:nvPr/>
        </p:nvSpPr>
        <p:spPr>
          <a:xfrm xmlns:a="http://schemas.openxmlformats.org/drawingml/2006/main">
            <a:off x="838200" y="4953000"/>
            <a:ext cx="2286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ACTION-PRECISION FAILURE</a:t>
            </a:r>
          </a:p>
        </p:txBody>
      </p:sp>
      <p:sp>
        <p:nvSpPr>
          <p:cNvPr id="25" name="">
            <a:extLst xmlns:a="http://schemas.openxmlformats.org/drawingml/2006/main">
              <a:ext uri="{FF2B5EF4-FFF2-40B4-BE49-F238E27FC236}">
                <a16:creationId xmlns:a16="http://schemas.microsoft.com/office/drawing/2014/main" id="{C00CEC79-36BE-452C-A40D-F076713C6193}"/>
              </a:ext>
            </a:extLst>
          </p:cNvPr>
          <p:cNvSpPr>
            <a:spLocks xmlns:a="http://schemas.openxmlformats.org/drawingml/2006/main" noGrp="1"/>
          </p:cNvSpPr>
          <p:nvPr/>
        </p:nvSpPr>
        <p:spPr>
          <a:xfrm xmlns:a="http://schemas.openxmlformats.org/drawingml/2006/main">
            <a:off x="838200" y="5219700"/>
            <a:ext cx="699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The target-specific peak is inside the proofing-language control, but the generated y coordinate crosses the strict point-in-box boundary.</a:t>
            </a:r>
          </a:p>
        </p:txBody>
      </p:sp>
      <p:sp>
        <p:nvSpPr>
          <p:cNvPr id="26" name="">
            <a:extLst xmlns:a="http://schemas.openxmlformats.org/drawingml/2006/main">
              <a:ext uri="{FF2B5EF4-FFF2-40B4-BE49-F238E27FC236}">
                <a16:creationId xmlns:a16="http://schemas.microsoft.com/office/drawing/2014/main" id="{25CB27A7-CEA8-416E-9547-FD27850901F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5577F8E-B34D-4219-B501-9B71FC01AEA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free generation · normalized 0–1000 output · native 2880×1800 input · no downsampling</a:t>
            </a:r>
          </a:p>
        </p:txBody>
      </p:sp>
    </p:spTree>
    <p:extLst>
      <p:ext uri="{BB962C8B-B14F-4D97-AF65-F5344CB8AC3E}">
        <p14:creationId xmlns:p14="http://schemas.microsoft.com/office/powerpoint/2010/main" val="1565650338"/>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19637381-5FB9-412C-B505-0120E7D97D5D}"/>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MATCHED HOTEL TRAJECTORY</a:t>
            </a:r>
          </a:p>
        </p:txBody>
      </p:sp>
      <p:sp>
        <p:nvSpPr>
          <p:cNvPr id="2" name="">
            <a:extLst xmlns:a="http://schemas.openxmlformats.org/drawingml/2006/main">
              <a:ext uri="{FF2B5EF4-FFF2-40B4-BE49-F238E27FC236}">
                <a16:creationId xmlns:a16="http://schemas.microsoft.com/office/drawing/2014/main" id="{F939506D-A4A9-4931-B5C8-6685AB0E10A0}"/>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clicks while Qwen continues searching</a:t>
            </a:r>
          </a:p>
        </p:txBody>
      </p:sp>
      <p:sp>
        <p:nvSpPr>
          <p:cNvPr id="3" name="">
            <a:extLst xmlns:a="http://schemas.openxmlformats.org/drawingml/2006/main">
              <a:ext uri="{FF2B5EF4-FFF2-40B4-BE49-F238E27FC236}">
                <a16:creationId xmlns:a16="http://schemas.microsoft.com/office/drawing/2014/main" id="{1309A72C-2343-4B25-A25D-EA0DA10B954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3229A40C-9F48-46DB-AE56-7223A8F0A1CD}"/>
              </a:ext>
            </a:extLst>
          </p:cNvPr>
          <p:cNvSpPr>
            <a:spLocks xmlns:a="http://schemas.openxmlformats.org/drawingml/2006/main" noGrp="1"/>
          </p:cNvSpPr>
          <p:nvPr/>
        </p:nvSpPr>
        <p:spPr>
          <a:xfrm xmlns:a="http://schemas.openxmlformats.org/drawingml/2006/main">
            <a:off x="609600" y="1123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Exploratory n=1 · same frozen fixture · native 1280×800 screenshots · official tools</a:t>
            </a:r>
          </a:p>
        </p:txBody>
      </p:sp>
      <p:sp>
        <p:nvSpPr>
          <p:cNvPr id="5" name="">
            <a:extLst xmlns:a="http://schemas.openxmlformats.org/drawingml/2006/main">
              <a:ext uri="{FF2B5EF4-FFF2-40B4-BE49-F238E27FC236}">
                <a16:creationId xmlns:a16="http://schemas.microsoft.com/office/drawing/2014/main" id="{30670383-C6C4-433F-B5D7-3C9C524F4365}"/>
              </a:ext>
            </a:extLst>
          </p:cNvPr>
          <p:cNvSpPr>
            <a:spLocks xmlns:a="http://schemas.openxmlformats.org/drawingml/2006/main" noGrp="1"/>
          </p:cNvSpPr>
          <p:nvPr/>
        </p:nvSpPr>
        <p:spPr>
          <a:xfrm xmlns:a="http://schemas.openxmlformats.org/drawingml/2006/main">
            <a:off x="609600" y="1485900"/>
            <a:ext cx="476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SAME TARGET · FJORD COMPASS LODGE · €166</a:t>
            </a:r>
          </a:p>
        </p:txBody>
      </p:sp>
      <p:graphicFrame>
        <p:nvGraphicFramePr>
          <p:cNvPr id="41" name=""/>
          <p:cNvGraphicFramePr/>
          <p:nvPr/>
        </p:nvGraphicFramePr>
        <p:xfrm>
          <a:off xmlns:a="http://schemas.openxmlformats.org/drawingml/2006/main" x="609600" y="1771650"/>
          <a:ext xmlns:a="http://schemas.openxmlformats.org/drawingml/2006/main" cx="4762500" cy="1581150"/>
        </p:xfrm>
        <a:graphic xmlns:a="http://schemas.openxmlformats.org/drawingml/2006/main">
          <a:graphicData uri="http://schemas.openxmlformats.org/drawingml/2006/table">
            <a:tbl>
              <a:tblPr/>
              <a:tblGrid>
                <a:gridCol w="685800"/>
                <a:gridCol w="723900"/>
                <a:gridCol w="723900"/>
                <a:gridCol w="876300"/>
                <a:gridCol w="723900"/>
                <a:gridCol w="1028700"/>
              </a:tblGrid>
              <a:tr h="527050">
                <a:tc>
                  <a:txBody>
                    <a:bodyPr>
                      <a:normAutofit/>
                    </a:bodyPr>
                    <a:lstStyle/>
                    <a:p>
                      <a:pPr algn="ctr"/>
                      <a:r>
                        <a:rPr sz="750" b="1">
                          <a:solidFill>
                            <a:srgbClr val="FFFFFF"/>
                          </a:solidFill>
                          <a:latin typeface="Helvetica Neue"/>
                          <a:ea typeface="Helvetica Neue"/>
                          <a:cs typeface="Helvetica Neue"/>
                        </a:rPr>
                        <a:t>MODEL</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1</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2</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3</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TURN 4</a:t>
                      </a:r>
                    </a:p>
                  </a:txBody>
                  <a:tcPr marL="57150" marR="57150" marT="47625" marB="47625"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57150" marR="57150" marT="47625" marB="47625" anchor="ctr">
                    <a:solidFill>
                      <a:srgbClr val="1C2733"/>
                    </a:solidFill>
                  </a:tcPr>
                </a:tc>
              </a:tr>
              <a:tr h="527050">
                <a:tc>
                  <a:txBody>
                    <a:bodyPr>
                      <a:normAutofit/>
                    </a:bodyPr>
                    <a:lstStyle/>
                    <a:p>
                      <a:pPr algn="ctr"/>
                      <a:r>
                        <a:rPr sz="825" b="1">
                          <a:solidFill>
                            <a:srgbClr val="10151C"/>
                          </a:solidFill>
                          <a:latin typeface="Helvetica Neue"/>
                          <a:ea typeface="Helvetica Neue"/>
                          <a:cs typeface="Helvetica Neue"/>
                        </a:rPr>
                        <a:t>Holo</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scroll 500</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click</a:t>
                      </a:r>
                    </a:p>
                    <a:p>
                      <a:pPr algn="ctr"/>
                      <a:r>
                        <a:rPr sz="825" b="0">
                          <a:solidFill>
                            <a:srgbClr val="10151C"/>
                          </a:solidFill>
                          <a:latin typeface="Helvetica Neue"/>
                          <a:ea typeface="Helvetica Neue"/>
                          <a:cs typeface="Helvetica Neue"/>
                        </a:rPr>
                        <a:t>(1023,208)</a:t>
                      </a:r>
                    </a:p>
                  </a:txBody>
                  <a:tcPr marL="57150" marR="57150" marT="47625" marB="47625" anchor="ctr">
                    <a:solidFill>
                      <a:srgbClr val="DDEFE7"/>
                    </a:solidFill>
                  </a:tcPr>
                </a:tc>
                <a:tc>
                  <a:txBody>
                    <a:bodyPr>
                      <a:normAutofit/>
                    </a:bodyPr>
                    <a:lstStyle/>
                    <a:p>
                      <a:pPr algn="ctr"/>
                      <a:r>
                        <a:rPr sz="825" b="0">
                          <a:solidFill>
                            <a:srgbClr val="10151C"/>
                          </a:solidFill>
                          <a:latin typeface="Helvetica Neue"/>
                          <a:ea typeface="Helvetica Neue"/>
                          <a:cs typeface="Helvetica Neue"/>
                        </a:rPr>
                        <a:t>—</a:t>
                      </a:r>
                    </a:p>
                  </a:txBody>
                  <a:tcPr marL="57150" marR="57150" marT="47625" marB="47625" anchor="ctr">
                    <a:solidFill>
                      <a:srgbClr val="DDEFE7"/>
                    </a:solidFill>
                  </a:tcPr>
                </a:tc>
                <a:tc>
                  <a:txBody>
                    <a:bodyPr>
                      <a:normAutofit/>
                    </a:bodyPr>
                    <a:lstStyle/>
                    <a:p>
                      <a:pPr algn="ctr"/>
                      <a:r>
                        <a:rPr sz="825" b="1">
                          <a:solidFill>
                            <a:srgbClr val="18A875"/>
                          </a:solidFill>
                          <a:latin typeface="Helvetica Neue"/>
                          <a:ea typeface="Helvetica Neue"/>
                          <a:cs typeface="Helvetica Neue"/>
                        </a:rPr>
                        <a:t>correct click</a:t>
                      </a:r>
                    </a:p>
                  </a:txBody>
                  <a:tcPr marL="57150" marR="57150" marT="47625" marB="47625" anchor="ctr">
                    <a:solidFill>
                      <a:srgbClr val="DDEFE7"/>
                    </a:solidFill>
                  </a:tcPr>
                </a:tc>
              </a:tr>
              <a:tr h="527050">
                <a:tc>
                  <a:txBody>
                    <a:bodyPr>
                      <a:normAutofit/>
                    </a:bodyPr>
                    <a:lstStyle/>
                    <a:p>
                      <a:pPr algn="ctr"/>
                      <a:r>
                        <a:rPr sz="825" b="1">
                          <a:solidFill>
                            <a:srgbClr val="10151C"/>
                          </a:solidFill>
                          <a:latin typeface="Helvetica Neue"/>
                          <a:ea typeface="Helvetica Neue"/>
                          <a:cs typeface="Helvetica Neue"/>
                        </a:rPr>
                        <a:t>Qwen</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0">
                          <a:solidFill>
                            <a:srgbClr val="10151C"/>
                          </a:solidFill>
                          <a:latin typeface="Helvetica Neue"/>
                          <a:ea typeface="Helvetica Neue"/>
                          <a:cs typeface="Helvetica Neue"/>
                        </a:rPr>
                        <a:t>scroll 250</a:t>
                      </a:r>
                    </a:p>
                  </a:txBody>
                  <a:tcPr marL="57150" marR="57150" marT="47625" marB="47625" anchor="ctr">
                    <a:solidFill>
                      <a:srgbClr val="DDECF9"/>
                    </a:solidFill>
                  </a:tcPr>
                </a:tc>
                <a:tc>
                  <a:txBody>
                    <a:bodyPr>
                      <a:normAutofit/>
                    </a:bodyPr>
                    <a:lstStyle/>
                    <a:p>
                      <a:pPr algn="ctr"/>
                      <a:r>
                        <a:rPr sz="825" b="1">
                          <a:solidFill>
                            <a:srgbClr val="2D84D3"/>
                          </a:solidFill>
                          <a:latin typeface="Helvetica Neue"/>
                          <a:ea typeface="Helvetica Neue"/>
                          <a:cs typeface="Helvetica Neue"/>
                        </a:rPr>
                        <a:t>cap reached</a:t>
                      </a:r>
                    </a:p>
                  </a:txBody>
                  <a:tcPr marL="57150" marR="57150" marT="47625" marB="47625" anchor="ctr">
                    <a:solidFill>
                      <a:srgbClr val="DDECF9"/>
                    </a:solidFill>
                  </a:tcPr>
                </a:tc>
              </a:tr>
            </a:tbl>
          </a:graphicData>
        </a:graphic>
      </p:graphicFrame>
      <p:sp>
        <p:nvSpPr>
          <p:cNvPr id="7" name="">
            <a:extLst xmlns:a="http://schemas.openxmlformats.org/drawingml/2006/main">
              <a:ext uri="{FF2B5EF4-FFF2-40B4-BE49-F238E27FC236}">
                <a16:creationId xmlns:a16="http://schemas.microsoft.com/office/drawing/2014/main" id="{E6AAF500-63F6-4D8F-98CF-D9096AE9813F}"/>
              </a:ext>
            </a:extLst>
          </p:cNvPr>
          <p:cNvSpPr>
            <a:spLocks xmlns:a="http://schemas.openxmlformats.org/drawingml/2006/main" noGrp="1"/>
          </p:cNvSpPr>
          <p:nvPr/>
        </p:nvSpPr>
        <p:spPr>
          <a:xfrm xmlns:a="http://schemas.openxmlformats.org/drawingml/2006/main">
            <a:off x="609600" y="3638550"/>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BOTH TRACK €166 BY TURN 3</a:t>
            </a:r>
          </a:p>
        </p:txBody>
      </p:sp>
      <p:sp>
        <p:nvSpPr>
          <p:cNvPr id="8" name="">
            <a:extLst xmlns:a="http://schemas.openxmlformats.org/drawingml/2006/main">
              <a:ext uri="{FF2B5EF4-FFF2-40B4-BE49-F238E27FC236}">
                <a16:creationId xmlns:a16="http://schemas.microsoft.com/office/drawing/2014/main" id="{A9B7548B-04AE-4ABE-9DCC-9AA361DBAB01}"/>
              </a:ext>
            </a:extLst>
          </p:cNvPr>
          <p:cNvSpPr>
            <a:spLocks xmlns:a="http://schemas.openxmlformats.org/drawingml/2006/main" noGrp="1"/>
          </p:cNvSpPr>
          <p:nvPr/>
        </p:nvSpPr>
        <p:spPr>
          <a:xfrm xmlns:a="http://schemas.openxmlformats.org/drawingml/2006/main">
            <a:off x="609600" y="39052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679"/>
          </a:bodyPr>
          <a:lstStyle xmlns:a="http://schemas.openxmlformats.org/drawingml/2006/main"/>
          <a:p xmlns:a="http://schemas.openxmlformats.org/drawingml/2006/main">
            <a:pPr algn="l">
              <a:defRPr sz="1350" b="1">
                <a:solidFill>
                  <a:srgbClr val="10151C"/>
                </a:solidFill>
                <a:latin typeface="Helvetica Neue"/>
                <a:ea typeface="Helvetica Neue"/>
                <a:cs typeface="Helvetica Neue"/>
              </a:defRPr>
            </a:pPr>
            <a:r>
              <a:rPr sz="1350" b="1">
                <a:solidFill>
                  <a:srgbClr val="10151C"/>
                </a:solidFill>
                <a:latin typeface="Helvetica Neue"/>
                <a:ea typeface="Helvetica Neue"/>
                <a:cs typeface="Helvetica Neue"/>
              </a:rPr>
              <a:t>Holo sees all six prices and clicks. Qwen identifies €166 as the lowest observed price, then spends its fourth action scrolling.</a:t>
            </a:r>
          </a:p>
        </p:txBody>
      </p:sp>
      <p:sp>
        <p:nvSpPr>
          <p:cNvPr id="9" name="">
            <a:extLst xmlns:a="http://schemas.openxmlformats.org/drawingml/2006/main">
              <a:ext uri="{FF2B5EF4-FFF2-40B4-BE49-F238E27FC236}">
                <a16:creationId xmlns:a16="http://schemas.microsoft.com/office/drawing/2014/main" id="{84D37142-73EC-4ACD-A6FD-776F3861E168}"/>
              </a:ext>
            </a:extLst>
          </p:cNvPr>
          <p:cNvSpPr>
            <a:spLocks xmlns:a="http://schemas.openxmlformats.org/drawingml/2006/main" noGrp="1"/>
          </p:cNvSpPr>
          <p:nvPr/>
        </p:nvSpPr>
        <p:spPr>
          <a:xfrm xmlns:a="http://schemas.openxmlformats.org/drawingml/2006/main">
            <a:off x="609600" y="4819650"/>
            <a:ext cx="4762500" cy="1104900"/>
          </a:xfrm>
          <a:prstGeom xmlns:a="http://schemas.openxmlformats.org/drawingml/2006/main" prst="roundRect">
            <a:avLst>
              <a:gd name="adj" fmla="val 6897"/>
            </a:avLst>
          </a:prstGeom>
          <a:solidFill xmlns:a="http://schemas.openxmlformats.org/drawingml/2006/main">
            <a:srgbClr val="FFFFFF"/>
          </a:solidFill>
          <a:ln xmlns:a="http://schemas.openxmlformats.org/drawingml/2006/main" w="9525">
            <a:solidFill>
              <a:srgbClr val="D9D4C8"/>
            </a:solidFill>
          </a:ln>
        </p:spPr>
      </p:sp>
      <p:sp>
        <p:nvSpPr>
          <p:cNvPr id="10" name="">
            <a:extLst xmlns:a="http://schemas.openxmlformats.org/drawingml/2006/main">
              <a:ext uri="{FF2B5EF4-FFF2-40B4-BE49-F238E27FC236}">
                <a16:creationId xmlns:a16="http://schemas.microsoft.com/office/drawing/2014/main" id="{351B3162-D288-4918-97E6-AB6DC5A19DC6}"/>
              </a:ext>
            </a:extLst>
          </p:cNvPr>
          <p:cNvSpPr>
            <a:spLocks xmlns:a="http://schemas.openxmlformats.org/drawingml/2006/main" noGrp="1"/>
          </p:cNvSpPr>
          <p:nvPr/>
        </p:nvSpPr>
        <p:spPr>
          <a:xfrm xmlns:a="http://schemas.openxmlformats.org/drawingml/2006/main">
            <a:off x="838200" y="5010150"/>
            <a:ext cx="1809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CLAIM BOUNDARY</a:t>
            </a:r>
          </a:p>
        </p:txBody>
      </p:sp>
      <p:sp>
        <p:nvSpPr>
          <p:cNvPr id="11" name="">
            <a:extLst xmlns:a="http://schemas.openxmlformats.org/drawingml/2006/main">
              <a:ext uri="{FF2B5EF4-FFF2-40B4-BE49-F238E27FC236}">
                <a16:creationId xmlns:a16="http://schemas.microsoft.com/office/drawing/2014/main" id="{202D4079-7A56-48F3-82A1-8A609504711A}"/>
              </a:ext>
            </a:extLst>
          </p:cNvPr>
          <p:cNvSpPr>
            <a:spLocks xmlns:a="http://schemas.openxmlformats.org/drawingml/2006/main" noGrp="1"/>
          </p:cNvSpPr>
          <p:nvPr/>
        </p:nvSpPr>
        <p:spPr>
          <a:xfrm xmlns:a="http://schemas.openxmlformats.org/drawingml/2006/main">
            <a:off x="838200" y="5267325"/>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922"/>
          </a:bodyPr>
          <a:lstStyle xmlns:a="http://schemas.openxmlformats.org/drawingml/2006/main"/>
          <a:p xmlns:a="http://schemas.openxmlformats.org/drawingml/2006/main">
            <a:pPr algn="l">
              <a:defRPr sz="1200" b="1">
                <a:solidFill>
                  <a:srgbClr val="10151C"/>
                </a:solidFill>
                <a:latin typeface="Helvetica Neue"/>
                <a:ea typeface="Helvetica Neue"/>
                <a:cs typeface="Helvetica Neue"/>
              </a:defRPr>
            </a:pPr>
            <a:r>
              <a:rPr sz="1200" b="1">
                <a:solidFill>
                  <a:srgbClr val="10151C"/>
                </a:solidFill>
                <a:latin typeface="Helvetica Neue"/>
                <a:ea typeface="Helvetica Neue"/>
                <a:cs typeface="Helvetica Neue"/>
              </a:rPr>
              <a:t>This matched case motivates a stopping and action-readout hypothesis. It does not estimate checkpoint accuracy.</a:t>
            </a:r>
          </a:p>
        </p:txBody>
      </p:sp>
      <p:sp>
        <p:nvSpPr>
          <p:cNvPr id="12" name="">
            <a:extLst xmlns:a="http://schemas.openxmlformats.org/drawingml/2006/main">
              <a:ext uri="{FF2B5EF4-FFF2-40B4-BE49-F238E27FC236}">
                <a16:creationId xmlns:a16="http://schemas.microsoft.com/office/drawing/2014/main" id="{D66B3C37-5571-49D1-A725-155CD9FAA1BE}"/>
              </a:ext>
            </a:extLst>
          </p:cNvPr>
          <p:cNvSpPr>
            <a:spLocks xmlns:a="http://schemas.openxmlformats.org/drawingml/2006/main" noGrp="1"/>
          </p:cNvSpPr>
          <p:nvPr/>
        </p:nvSpPr>
        <p:spPr>
          <a:xfrm xmlns:a="http://schemas.openxmlformats.org/drawingml/2006/main">
            <a:off x="5676900" y="1485900"/>
            <a:ext cx="590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TRACED HOLO REPLICATE · FINAL VALUE-NORM ROLLOUT</a:t>
            </a:r>
          </a:p>
        </p:txBody>
      </p:sp>
      <p:sp>
        <p:nvSpPr>
          <p:cNvPr id="13" name="">
            <a:extLst xmlns:a="http://schemas.openxmlformats.org/drawingml/2006/main">
              <a:ext uri="{FF2B5EF4-FFF2-40B4-BE49-F238E27FC236}">
                <a16:creationId xmlns:a16="http://schemas.microsoft.com/office/drawing/2014/main" id="{0B682A46-B914-4B8A-B365-1FEEBFDE9D84}"/>
              </a:ext>
            </a:extLst>
          </p:cNvPr>
          <p:cNvSpPr>
            <a:spLocks xmlns:a="http://schemas.openxmlformats.org/drawingml/2006/main" noGrp="1"/>
          </p:cNvSpPr>
          <p:nvPr/>
        </p:nvSpPr>
        <p:spPr>
          <a:xfrm xmlns:a="http://schemas.openxmlformats.org/drawingml/2006/main">
            <a:off x="5676900" y="17240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1</a:t>
            </a:r>
          </a:p>
        </p:txBody>
      </p:sp>
      <p:pic>
        <p:nvPicPr>
          <p:cNvPr id="49" name=""/>
          <p:cNvPicPr>
            <a:picLocks xmlns:a="http://schemas.openxmlformats.org/drawingml/2006/main" noChangeAspect="1"/>
          </p:cNvPicPr>
          <p:nvPr/>
        </p:nvPicPr>
        <p:blipFill>
          <a:blip xmlns:r="http://schemas.openxmlformats.org/officeDocument/2006/relationships" xmlns:a="http://schemas.openxmlformats.org/drawingml/2006/main" r:embed="R5a35b642c7154622"/>
          <a:stretch xmlns:a="http://schemas.openxmlformats.org/drawingml/2006/main"/>
        </p:blipFill>
        <p:spPr>
          <a:xfrm xmlns:a="http://schemas.openxmlformats.org/drawingml/2006/main">
            <a:off x="5676900" y="1916906"/>
            <a:ext cx="1257300" cy="785813"/>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12DC19E9-310C-4AB6-950B-95ACEEB86830}"/>
              </a:ext>
            </a:extLst>
          </p:cNvPr>
          <p:cNvSpPr>
            <a:spLocks xmlns:a="http://schemas.openxmlformats.org/drawingml/2006/main" noGrp="1"/>
          </p:cNvSpPr>
          <p:nvPr/>
        </p:nvSpPr>
        <p:spPr>
          <a:xfrm xmlns:a="http://schemas.openxmlformats.org/drawingml/2006/main">
            <a:off x="5676900" y="19145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8B8F9113-1E9D-4248-9A45-D8705862D887}"/>
              </a:ext>
            </a:extLst>
          </p:cNvPr>
          <p:cNvSpPr>
            <a:spLocks xmlns:a="http://schemas.openxmlformats.org/drawingml/2006/main" noGrp="1"/>
          </p:cNvSpPr>
          <p:nvPr/>
        </p:nvSpPr>
        <p:spPr>
          <a:xfrm xmlns:a="http://schemas.openxmlformats.org/drawingml/2006/main">
            <a:off x="5676900" y="2828925"/>
            <a:ext cx="12573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66717D"/>
                </a:solidFill>
                <a:latin typeface="Helvetica Neue"/>
                <a:ea typeface="Helvetica Neue"/>
                <a:cs typeface="Helvetica Neue"/>
              </a:defRPr>
            </a:pPr>
            <a:r>
              <a:rPr sz="675" b="1">
                <a:solidFill>
                  <a:srgbClr val="66717D"/>
                </a:solidFill>
                <a:latin typeface="Helvetica Neue"/>
                <a:ea typeface="Helvetica Neue"/>
                <a:cs typeface="Helvetica Neue"/>
              </a:rPr>
              <a:t>HISTORY 2</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fd3b1d5b1e74472e"/>
          <a:stretch xmlns:a="http://schemas.openxmlformats.org/drawingml/2006/main"/>
        </p:blipFill>
        <p:spPr>
          <a:xfrm xmlns:a="http://schemas.openxmlformats.org/drawingml/2006/main">
            <a:off x="5676900" y="3021806"/>
            <a:ext cx="1257300" cy="785813"/>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57FF4B05-75C4-41B3-A1CA-16CA7B7CEF6A}"/>
              </a:ext>
            </a:extLst>
          </p:cNvPr>
          <p:cNvSpPr>
            <a:spLocks xmlns:a="http://schemas.openxmlformats.org/drawingml/2006/main" noGrp="1"/>
          </p:cNvSpPr>
          <p:nvPr/>
        </p:nvSpPr>
        <p:spPr>
          <a:xfrm xmlns:a="http://schemas.openxmlformats.org/drawingml/2006/main">
            <a:off x="5676900" y="3019425"/>
            <a:ext cx="1257300" cy="790575"/>
          </a:xfrm>
          <a:prstGeom xmlns:a="http://schemas.openxmlformats.org/drawingml/2006/main" prst="roundRect">
            <a:avLst>
              <a:gd name="adj" fmla="val 9639"/>
            </a:avLst>
          </a:prstGeom>
          <a:noFill xmlns:a="http://schemas.openxmlformats.org/drawingml/2006/main"/>
          <a:ln xmlns:a="http://schemas.openxmlformats.org/drawingml/2006/main" w="9525">
            <a:solidFill>
              <a:srgbClr val="D9D4C8"/>
            </a:solidFill>
          </a:ln>
        </p:spPr>
      </p:sp>
      <p:sp>
        <p:nvSpPr>
          <p:cNvPr id="19" name="">
            <a:extLst xmlns:a="http://schemas.openxmlformats.org/drawingml/2006/main">
              <a:ext uri="{FF2B5EF4-FFF2-40B4-BE49-F238E27FC236}">
                <a16:creationId xmlns:a16="http://schemas.microsoft.com/office/drawing/2014/main" id="{60D014D3-171B-4F75-A7FA-FCE6F6A09333}"/>
              </a:ext>
            </a:extLst>
          </p:cNvPr>
          <p:cNvSpPr>
            <a:spLocks xmlns:a="http://schemas.openxmlformats.org/drawingml/2006/main" noGrp="1"/>
          </p:cNvSpPr>
          <p:nvPr/>
        </p:nvSpPr>
        <p:spPr>
          <a:xfrm xmlns:a="http://schemas.openxmlformats.org/drawingml/2006/main">
            <a:off x="7086600" y="1724025"/>
            <a:ext cx="4495800"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675" b="1">
                <a:solidFill>
                  <a:srgbClr val="18A875"/>
                </a:solidFill>
                <a:latin typeface="Helvetica Neue"/>
                <a:ea typeface="Helvetica Neue"/>
                <a:cs typeface="Helvetica Neue"/>
              </a:defRPr>
            </a:pPr>
            <a:r>
              <a:rPr sz="675" b="1">
                <a:solidFill>
                  <a:srgbClr val="18A875"/>
                </a:solidFill>
                <a:latin typeface="Helvetica Neue"/>
                <a:ea typeface="Helvetica Neue"/>
                <a:cs typeface="Helvetica Neue"/>
              </a:rPr>
              <a:t>CURRENT FRAME</a:t>
            </a:r>
          </a:p>
        </p:txBody>
      </p:sp>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1f33b3c9af0f4032"/>
          <a:stretch xmlns:a="http://schemas.openxmlformats.org/drawingml/2006/main"/>
        </p:blipFill>
        <p:spPr>
          <a:xfrm xmlns:a="http://schemas.openxmlformats.org/drawingml/2006/main">
            <a:off x="7086600" y="1914525"/>
            <a:ext cx="4495800" cy="2809875"/>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BA3F7C7B-2ADE-45BB-98CA-243BB9E84687}"/>
              </a:ext>
            </a:extLst>
          </p:cNvPr>
          <p:cNvSpPr>
            <a:spLocks xmlns:a="http://schemas.openxmlformats.org/drawingml/2006/main" noGrp="1"/>
          </p:cNvSpPr>
          <p:nvPr/>
        </p:nvSpPr>
        <p:spPr>
          <a:xfrm xmlns:a="http://schemas.openxmlformats.org/drawingml/2006/main">
            <a:off x="7086600" y="1914525"/>
            <a:ext cx="4495800" cy="2809875"/>
          </a:xfrm>
          <a:prstGeom xmlns:a="http://schemas.openxmlformats.org/drawingml/2006/main" prst="roundRect">
            <a:avLst>
              <a:gd name="adj" fmla="val 2712"/>
            </a:avLst>
          </a:prstGeom>
          <a:noFill xmlns:a="http://schemas.openxmlformats.org/drawingml/2006/main"/>
          <a:ln xmlns:a="http://schemas.openxmlformats.org/drawingml/2006/main" w="9525">
            <a:solidFill>
              <a:srgbClr val="D9D4C8"/>
            </a:solidFill>
          </a:ln>
        </p:spPr>
      </p:sp>
      <p:sp>
        <p:nvSpPr>
          <p:cNvPr id="22" name="">
            <a:extLst xmlns:a="http://schemas.openxmlformats.org/drawingml/2006/main">
              <a:ext uri="{FF2B5EF4-FFF2-40B4-BE49-F238E27FC236}">
                <a16:creationId xmlns:a16="http://schemas.microsoft.com/office/drawing/2014/main" id="{104D7AD8-DCF9-4EA1-BD87-95B4D563174A}"/>
              </a:ext>
            </a:extLst>
          </p:cNvPr>
          <p:cNvSpPr>
            <a:spLocks xmlns:a="http://schemas.openxmlformats.org/drawingml/2006/main" noGrp="1"/>
          </p:cNvSpPr>
          <p:nvPr/>
        </p:nvSpPr>
        <p:spPr>
          <a:xfrm xmlns:a="http://schemas.openxmlformats.org/drawingml/2006/main">
            <a:off x="10518160" y="2585383"/>
            <a:ext cx="449580" cy="175617"/>
          </a:xfrm>
          <a:prstGeom xmlns:a="http://schemas.openxmlformats.org/drawingml/2006/main" prst="roundRect">
            <a:avLst>
              <a:gd name="adj" fmla="val 43390"/>
            </a:avLst>
          </a:prstGeom>
          <a:noFill xmlns:a="http://schemas.openxmlformats.org/drawingml/2006/main"/>
          <a:ln xmlns:a="http://schemas.openxmlformats.org/drawingml/2006/main" w="9525">
            <a:solidFill>
              <a:srgbClr val="18A875"/>
            </a:solidFill>
          </a:ln>
        </p:spPr>
      </p:sp>
      <p:sp>
        <p:nvSpPr>
          <p:cNvPr id="23" name="">
            <a:extLst xmlns:a="http://schemas.openxmlformats.org/drawingml/2006/main">
              <a:ext uri="{FF2B5EF4-FFF2-40B4-BE49-F238E27FC236}">
                <a16:creationId xmlns:a16="http://schemas.microsoft.com/office/drawing/2014/main" id="{AC92026C-E047-4628-844A-400750D9246B}"/>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66675">
            <a:solidFill>
              <a:srgbClr val="F05A3C"/>
            </a:solidFill>
          </a:ln>
        </p:spPr>
      </p:sp>
      <p:sp>
        <p:nvSpPr>
          <p:cNvPr id="24" name="">
            <a:extLst xmlns:a="http://schemas.openxmlformats.org/drawingml/2006/main">
              <a:ext uri="{FF2B5EF4-FFF2-40B4-BE49-F238E27FC236}">
                <a16:creationId xmlns:a16="http://schemas.microsoft.com/office/drawing/2014/main" id="{1B37FD64-FC46-4713-A702-8A293ECB6F6D}"/>
              </a:ext>
            </a:extLst>
          </p:cNvPr>
          <p:cNvSpPr>
            <a:spLocks xmlns:a="http://schemas.openxmlformats.org/drawingml/2006/main" noGrp="1"/>
          </p:cNvSpPr>
          <p:nvPr/>
        </p:nvSpPr>
        <p:spPr>
          <a:xfrm xmlns:a="http://schemas.openxmlformats.org/drawingml/2006/main">
            <a:off x="10641628" y="2635091"/>
            <a:ext cx="76200" cy="762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30BE3CC5-6355-40A8-9FBD-FED689045CC3}"/>
              </a:ext>
            </a:extLst>
          </p:cNvPr>
          <p:cNvSpPr>
            <a:spLocks xmlns:a="http://schemas.openxmlformats.org/drawingml/2006/main" noGrp="1"/>
          </p:cNvSpPr>
          <p:nvPr/>
        </p:nvSpPr>
        <p:spPr>
          <a:xfrm xmlns:a="http://schemas.openxmlformats.org/drawingml/2006/main">
            <a:off x="10584478" y="2639854"/>
            <a:ext cx="190500" cy="66675"/>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D71DBD2-2CD4-4DEA-A40D-89F6D65B6E32}"/>
              </a:ext>
            </a:extLst>
          </p:cNvPr>
          <p:cNvSpPr>
            <a:spLocks xmlns:a="http://schemas.openxmlformats.org/drawingml/2006/main" noGrp="1"/>
          </p:cNvSpPr>
          <p:nvPr/>
        </p:nvSpPr>
        <p:spPr>
          <a:xfrm xmlns:a="http://schemas.openxmlformats.org/drawingml/2006/main">
            <a:off x="10646390" y="2577941"/>
            <a:ext cx="66675" cy="1905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D96CC6E3-6BC9-4583-BA24-DD457363445C}"/>
              </a:ext>
            </a:extLst>
          </p:cNvPr>
          <p:cNvSpPr>
            <a:spLocks xmlns:a="http://schemas.openxmlformats.org/drawingml/2006/main" noGrp="1"/>
          </p:cNvSpPr>
          <p:nvPr/>
        </p:nvSpPr>
        <p:spPr>
          <a:xfrm xmlns:a="http://schemas.openxmlformats.org/drawingml/2006/main">
            <a:off x="10584478" y="2658904"/>
            <a:ext cx="1905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277DC174-744A-42EC-9188-D14C68EB9838}"/>
              </a:ext>
            </a:extLst>
          </p:cNvPr>
          <p:cNvSpPr>
            <a:spLocks xmlns:a="http://schemas.openxmlformats.org/drawingml/2006/main" noGrp="1"/>
          </p:cNvSpPr>
          <p:nvPr/>
        </p:nvSpPr>
        <p:spPr>
          <a:xfrm xmlns:a="http://schemas.openxmlformats.org/drawingml/2006/main">
            <a:off x="10665440" y="2577941"/>
            <a:ext cx="28575" cy="1905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76F7952-17ED-4C91-A06F-C51004C49184}"/>
              </a:ext>
            </a:extLst>
          </p:cNvPr>
          <p:cNvSpPr>
            <a:spLocks xmlns:a="http://schemas.openxmlformats.org/drawingml/2006/main" noGrp="1"/>
          </p:cNvSpPr>
          <p:nvPr/>
        </p:nvSpPr>
        <p:spPr>
          <a:xfrm xmlns:a="http://schemas.openxmlformats.org/drawingml/2006/main">
            <a:off x="5676900" y="4857750"/>
            <a:ext cx="5905500" cy="1066800"/>
          </a:xfrm>
          <a:prstGeom xmlns:a="http://schemas.openxmlformats.org/drawingml/2006/main" prst="roundRect">
            <a:avLst>
              <a:gd name="adj" fmla="val 7143"/>
            </a:avLst>
          </a:prstGeom>
          <a:solidFill xmlns:a="http://schemas.openxmlformats.org/drawingml/2006/main">
            <a:srgbClr val="1C2733"/>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24BA5DC-6F2C-40E3-BC35-5D54FBC84A25}"/>
              </a:ext>
            </a:extLst>
          </p:cNvPr>
          <p:cNvSpPr>
            <a:spLocks xmlns:a="http://schemas.openxmlformats.org/drawingml/2006/main" noGrp="1"/>
          </p:cNvSpPr>
          <p:nvPr/>
        </p:nvSpPr>
        <p:spPr>
          <a:xfrm xmlns:a="http://schemas.openxmlformats.org/drawingml/2006/main">
            <a:off x="5905500" y="503872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1">
                <a:solidFill>
                  <a:srgbClr val="18A875"/>
                </a:solidFill>
                <a:latin typeface="Helvetica Neue"/>
                <a:ea typeface="Helvetica Neue"/>
                <a:cs typeface="Helvetica Neue"/>
              </a:defRPr>
            </a:pPr>
            <a:r>
              <a:rPr sz="750" b="1">
                <a:solidFill>
                  <a:srgbClr val="18A875"/>
                </a:solidFill>
                <a:latin typeface="Helvetica Neue"/>
                <a:ea typeface="Helvetica Neue"/>
                <a:cs typeface="Helvetica Neue"/>
              </a:rPr>
              <a:t>TRACED REPLICATE</a:t>
            </a:r>
          </a:p>
        </p:txBody>
      </p:sp>
      <p:sp>
        <p:nvSpPr>
          <p:cNvPr id="31" name="">
            <a:extLst xmlns:a="http://schemas.openxmlformats.org/drawingml/2006/main">
              <a:ext uri="{FF2B5EF4-FFF2-40B4-BE49-F238E27FC236}">
                <a16:creationId xmlns:a16="http://schemas.microsoft.com/office/drawing/2014/main" id="{07B877E3-6E9D-41FA-A5EF-DDA1898BE13A}"/>
              </a:ext>
            </a:extLst>
          </p:cNvPr>
          <p:cNvSpPr>
            <a:spLocks xmlns:a="http://schemas.openxmlformats.org/drawingml/2006/main" noGrp="1"/>
          </p:cNvSpPr>
          <p:nvPr/>
        </p:nvSpPr>
        <p:spPr>
          <a:xfrm xmlns:a="http://schemas.openxmlformats.org/drawingml/2006/main">
            <a:off x="5905500" y="523875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Fjord Compass Lodge · €166</a:t>
            </a:r>
          </a:p>
        </p:txBody>
      </p:sp>
      <p:sp>
        <p:nvSpPr>
          <p:cNvPr id="32" name="">
            <a:extLst xmlns:a="http://schemas.openxmlformats.org/drawingml/2006/main">
              <a:ext uri="{FF2B5EF4-FFF2-40B4-BE49-F238E27FC236}">
                <a16:creationId xmlns:a16="http://schemas.microsoft.com/office/drawing/2014/main" id="{DA254417-3BED-4AA0-B59E-E25C2EE47300}"/>
              </a:ext>
            </a:extLst>
          </p:cNvPr>
          <p:cNvSpPr>
            <a:spLocks xmlns:a="http://schemas.openxmlformats.org/drawingml/2006/main" noGrp="1"/>
          </p:cNvSpPr>
          <p:nvPr/>
        </p:nvSpPr>
        <p:spPr>
          <a:xfrm xmlns:a="http://schemas.openxmlformats.org/drawingml/2006/main">
            <a:off x="5905500" y="5514975"/>
            <a:ext cx="3429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Two scrolls, then click (1023,216) inside the oracle button</a:t>
            </a:r>
          </a:p>
        </p:txBody>
      </p:sp>
      <p:sp>
        <p:nvSpPr>
          <p:cNvPr id="33" name="">
            <a:extLst xmlns:a="http://schemas.openxmlformats.org/drawingml/2006/main">
              <a:ext uri="{FF2B5EF4-FFF2-40B4-BE49-F238E27FC236}">
                <a16:creationId xmlns:a16="http://schemas.microsoft.com/office/drawing/2014/main" id="{521FCA7B-C42C-4283-A877-A9A64FB66621}"/>
              </a:ext>
            </a:extLst>
          </p:cNvPr>
          <p:cNvSpPr>
            <a:spLocks xmlns:a="http://schemas.openxmlformats.org/drawingml/2006/main" noGrp="1"/>
          </p:cNvSpPr>
          <p:nvPr/>
        </p:nvSpPr>
        <p:spPr>
          <a:xfrm xmlns:a="http://schemas.openxmlformats.org/drawingml/2006/main">
            <a:off x="9239250" y="505777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BD3DB"/>
                </a:solidFill>
                <a:latin typeface="Helvetica Neue"/>
                <a:ea typeface="Helvetica Neue"/>
                <a:cs typeface="Helvetica Neue"/>
              </a:defRPr>
            </a:pPr>
            <a:r>
              <a:rPr sz="900" b="0">
                <a:solidFill>
                  <a:srgbClr val="CBD3DB"/>
                </a:solidFill>
                <a:latin typeface="Helvetica Neue"/>
                <a:ea typeface="Helvetica Neue"/>
                <a:cs typeface="Helvetica Neue"/>
              </a:rPr>
              <a:t>Attribution appears across all three retained frames. These maps are descriptive and do not yet subtract diverse-instruction controls.</a:t>
            </a:r>
          </a:p>
        </p:txBody>
      </p:sp>
      <p:sp>
        <p:nvSpPr>
          <p:cNvPr id="34" name="">
            <a:extLst xmlns:a="http://schemas.openxmlformats.org/drawingml/2006/main">
              <a:ext uri="{FF2B5EF4-FFF2-40B4-BE49-F238E27FC236}">
                <a16:creationId xmlns:a16="http://schemas.microsoft.com/office/drawing/2014/main" id="{C5B5E89C-F765-4CBA-AF39-B49563679F9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89CB2ACF-CA4C-49A8-975C-B138140787E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Independent free generation · HoloDesktop 0.1.10 tools · normalized 0–1000 coordinates · native resolution</a:t>
            </a:r>
          </a:p>
        </p:txBody>
      </p:sp>
    </p:spTree>
    <p:extLst>
      <p:ext uri="{BB962C8B-B14F-4D97-AF65-F5344CB8AC3E}">
        <p14:creationId xmlns:p14="http://schemas.microsoft.com/office/powerpoint/2010/main" val="1844823288"/>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03B5E8B9-0089-4434-8554-CF0F2736944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EXPERIMENT</a:t>
            </a:r>
          </a:p>
        </p:txBody>
      </p:sp>
      <p:sp>
        <p:nvSpPr>
          <p:cNvPr id="2" name="">
            <a:extLst xmlns:a="http://schemas.openxmlformats.org/drawingml/2006/main">
              <a:ext uri="{FF2B5EF4-FFF2-40B4-BE49-F238E27FC236}">
                <a16:creationId xmlns:a16="http://schemas.microsoft.com/office/drawing/2014/main" id="{B6F8FAA2-6E8A-4819-BA1B-D02F1F33A98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Where visual evidence becomes a coordinate action</a:t>
            </a:r>
          </a:p>
        </p:txBody>
      </p:sp>
      <p:sp>
        <p:nvSpPr>
          <p:cNvPr id="3" name="">
            <a:extLst xmlns:a="http://schemas.openxmlformats.org/drawingml/2006/main">
              <a:ext uri="{FF2B5EF4-FFF2-40B4-BE49-F238E27FC236}">
                <a16:creationId xmlns:a16="http://schemas.microsoft.com/office/drawing/2014/main" id="{1F1B32D4-1646-499D-A34B-56B0990927C8}"/>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AD342017-0FB3-4415-8CF2-EFC453F9D567}"/>
              </a:ext>
            </a:extLst>
          </p:cNvPr>
          <p:cNvSpPr>
            <a:spLocks xmlns:a="http://schemas.openxmlformats.org/drawingml/2006/main" noGrp="1"/>
          </p:cNvSpPr>
          <p:nvPr/>
        </p:nvSpPr>
        <p:spPr>
          <a:xfrm xmlns:a="http://schemas.openxmlformats.org/drawingml/2006/main">
            <a:off x="609600" y="1123950"/>
            <a:ext cx="1038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hold the official request, native image, and teacher-forced coordinate strings fixed</a:t>
            </a:r>
          </a:p>
        </p:txBody>
      </p:sp>
      <p:sp>
        <p:nvSpPr>
          <p:cNvPr id="5" name="">
            <a:extLst xmlns:a="http://schemas.openxmlformats.org/drawingml/2006/main">
              <a:ext uri="{FF2B5EF4-FFF2-40B4-BE49-F238E27FC236}">
                <a16:creationId xmlns:a16="http://schemas.microsoft.com/office/drawing/2014/main" id="{839C39A7-245D-478D-BA15-CC3FB4A3D0FB}"/>
              </a:ext>
            </a:extLst>
          </p:cNvPr>
          <p:cNvSpPr>
            <a:spLocks xmlns:a="http://schemas.openxmlformats.org/drawingml/2006/main" noGrp="1"/>
          </p:cNvSpPr>
          <p:nvPr/>
        </p:nvSpPr>
        <p:spPr>
          <a:xfrm xmlns:a="http://schemas.openxmlformats.org/drawingml/2006/main">
            <a:off x="609600" y="1524000"/>
            <a:ext cx="8001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FD2BC1B-B799-4A0B-904D-8EFB90777A9F}"/>
              </a:ext>
            </a:extLst>
          </p:cNvPr>
          <p:cNvSpPr>
            <a:spLocks xmlns:a="http://schemas.openxmlformats.org/drawingml/2006/main" noGrp="1"/>
          </p:cNvSpPr>
          <p:nvPr/>
        </p:nvSpPr>
        <p:spPr>
          <a:xfrm xmlns:a="http://schemas.openxmlformats.org/drawingml/2006/main">
            <a:off x="704850" y="15430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d324b5432092438f"/>
          <a:srcRect xmlns:a="http://schemas.openxmlformats.org/drawingml/2006/main" l="16533" t="0" r="16533" b="0"/>
          <a:stretch xmlns:a="http://schemas.openxmlformats.org/drawingml/2006/main">
            <a:fillRect l="0" t="0" r="0" b="0"/>
          </a:stretch>
        </p:blipFill>
        <p:spPr>
          <a:xfrm xmlns:a="http://schemas.openxmlformats.org/drawingml/2006/main">
            <a:off x="609600" y="1885950"/>
            <a:ext cx="2381250" cy="1581150"/>
          </a:xfrm>
          <a:prstGeom xmlns:a="http://schemas.openxmlformats.org/drawingml/2006/main" prst="roundRect">
            <a:avLst>
              <a:gd name="adj" fmla="val 7229"/>
            </a:avLst>
          </a:prstGeom>
        </p:spPr>
      </p:pic>
      <p:sp>
        <p:nvSpPr>
          <p:cNvPr id="8" name="">
            <a:extLst xmlns:a="http://schemas.openxmlformats.org/drawingml/2006/main">
              <a:ext uri="{FF2B5EF4-FFF2-40B4-BE49-F238E27FC236}">
                <a16:creationId xmlns:a16="http://schemas.microsoft.com/office/drawing/2014/main" id="{CFDA576D-3670-4665-BC97-1E50E37BD2A6}"/>
              </a:ext>
            </a:extLst>
          </p:cNvPr>
          <p:cNvSpPr>
            <a:spLocks xmlns:a="http://schemas.openxmlformats.org/drawingml/2006/main" noGrp="1"/>
          </p:cNvSpPr>
          <p:nvPr/>
        </p:nvSpPr>
        <p:spPr>
          <a:xfrm xmlns:a="http://schemas.openxmlformats.org/drawingml/2006/main">
            <a:off x="609600" y="188595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857AA545-18C1-4A88-9046-7DE92D8FC2EB}"/>
              </a:ext>
            </a:extLst>
          </p:cNvPr>
          <p:cNvSpPr>
            <a:spLocks xmlns:a="http://schemas.openxmlformats.org/drawingml/2006/main" noGrp="1"/>
          </p:cNvSpPr>
          <p:nvPr/>
        </p:nvSpPr>
        <p:spPr>
          <a:xfrm xmlns:a="http://schemas.openxmlformats.org/drawingml/2006/main">
            <a:off x="609600" y="35623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Original tile positions</a:t>
            </a:r>
          </a:p>
        </p:txBody>
      </p:sp>
      <p:sp>
        <p:nvSpPr>
          <p:cNvPr id="10" name="">
            <a:extLst xmlns:a="http://schemas.openxmlformats.org/drawingml/2006/main">
              <a:ext uri="{FF2B5EF4-FFF2-40B4-BE49-F238E27FC236}">
                <a16:creationId xmlns:a16="http://schemas.microsoft.com/office/drawing/2014/main" id="{D718E501-6E86-4648-BC4E-06BA8EDB2889}"/>
              </a:ext>
            </a:extLst>
          </p:cNvPr>
          <p:cNvSpPr>
            <a:spLocks xmlns:a="http://schemas.openxmlformats.org/drawingml/2006/main" noGrp="1"/>
          </p:cNvSpPr>
          <p:nvPr/>
        </p:nvSpPr>
        <p:spPr>
          <a:xfrm xmlns:a="http://schemas.openxmlformats.org/drawingml/2006/main">
            <a:off x="609600" y="4095750"/>
            <a:ext cx="11049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BC6158D-4D49-44E7-B1A8-8D6F64520188}"/>
              </a:ext>
            </a:extLst>
          </p:cNvPr>
          <p:cNvSpPr>
            <a:spLocks xmlns:a="http://schemas.openxmlformats.org/drawingml/2006/main" noGrp="1"/>
          </p:cNvSpPr>
          <p:nvPr/>
        </p:nvSpPr>
        <p:spPr>
          <a:xfrm xmlns:a="http://schemas.openxmlformats.org/drawingml/2006/main">
            <a:off x="704850" y="41148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CORRUPTED</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c1ea100490a94fe7"/>
          <a:srcRect xmlns:a="http://schemas.openxmlformats.org/drawingml/2006/main" l="16533" t="0" r="16533" b="0"/>
          <a:stretch xmlns:a="http://schemas.openxmlformats.org/drawingml/2006/main">
            <a:fillRect l="0" t="0" r="0" b="0"/>
          </a:stretch>
        </p:blipFill>
        <p:spPr>
          <a:xfrm xmlns:a="http://schemas.openxmlformats.org/drawingml/2006/main">
            <a:off x="609600" y="4457700"/>
            <a:ext cx="2381250" cy="1581150"/>
          </a:xfrm>
          <a:prstGeom xmlns:a="http://schemas.openxmlformats.org/drawingml/2006/main" prst="roundRect">
            <a:avLst>
              <a:gd name="adj" fmla="val 7229"/>
            </a:avLst>
          </a:prstGeom>
        </p:spPr>
      </p:pic>
      <p:sp>
        <p:nvSpPr>
          <p:cNvPr id="13" name="">
            <a:extLst xmlns:a="http://schemas.openxmlformats.org/drawingml/2006/main">
              <a:ext uri="{FF2B5EF4-FFF2-40B4-BE49-F238E27FC236}">
                <a16:creationId xmlns:a16="http://schemas.microsoft.com/office/drawing/2014/main" id="{82D8EB6B-6D54-4D9C-940F-A8BECE0F7BCC}"/>
              </a:ext>
            </a:extLst>
          </p:cNvPr>
          <p:cNvSpPr>
            <a:spLocks xmlns:a="http://schemas.openxmlformats.org/drawingml/2006/main" noGrp="1"/>
          </p:cNvSpPr>
          <p:nvPr/>
        </p:nvSpPr>
        <p:spPr>
          <a:xfrm xmlns:a="http://schemas.openxmlformats.org/drawingml/2006/main">
            <a:off x="609600" y="4457700"/>
            <a:ext cx="2381250" cy="1581150"/>
          </a:xfrm>
          <a:prstGeom xmlns:a="http://schemas.openxmlformats.org/drawingml/2006/main" prst="roundRect">
            <a:avLst>
              <a:gd name="adj" fmla="val 4819"/>
            </a:avLst>
          </a:prstGeom>
          <a:noFill xmlns:a="http://schemas.openxmlformats.org/drawingml/2006/main"/>
          <a:ln xmlns:a="http://schemas.openxmlformats.org/drawingml/2006/main" w="9525">
            <a:solidFill>
              <a:srgbClr val="D9D4C8"/>
            </a:solidFill>
          </a:ln>
        </p:spPr>
      </p:sp>
      <p:sp>
        <p:nvSpPr>
          <p:cNvPr id="14" name="">
            <a:extLst xmlns:a="http://schemas.openxmlformats.org/drawingml/2006/main">
              <a:ext uri="{FF2B5EF4-FFF2-40B4-BE49-F238E27FC236}">
                <a16:creationId xmlns:a16="http://schemas.microsoft.com/office/drawing/2014/main" id="{36CF8387-EC25-4871-B36F-FB57E68F377F}"/>
              </a:ext>
            </a:extLst>
          </p:cNvPr>
          <p:cNvSpPr>
            <a:spLocks xmlns:a="http://schemas.openxmlformats.org/drawingml/2006/main" noGrp="1"/>
          </p:cNvSpPr>
          <p:nvPr/>
        </p:nvSpPr>
        <p:spPr>
          <a:xfrm xmlns:a="http://schemas.openxmlformats.org/drawingml/2006/main">
            <a:off x="609600" y="613410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Two equal-size tiles swap</a:t>
            </a:r>
          </a:p>
        </p:txBody>
      </p:sp>
      <p:sp>
        <p:nvSpPr>
          <p:cNvPr id="15" name="">
            <a:extLst xmlns:a="http://schemas.openxmlformats.org/drawingml/2006/main">
              <a:ext uri="{FF2B5EF4-FFF2-40B4-BE49-F238E27FC236}">
                <a16:creationId xmlns:a16="http://schemas.microsoft.com/office/drawing/2014/main" id="{8F4DDFC9-0C9E-4F4D-9955-70352BD23064}"/>
              </a:ext>
            </a:extLst>
          </p:cNvPr>
          <p:cNvSpPr>
            <a:spLocks xmlns:a="http://schemas.openxmlformats.org/drawingml/2006/main" noGrp="1"/>
          </p:cNvSpPr>
          <p:nvPr/>
        </p:nvSpPr>
        <p:spPr>
          <a:xfrm xmlns:a="http://schemas.openxmlformats.org/drawingml/2006/main">
            <a:off x="3276600" y="1524000"/>
            <a:ext cx="8305800" cy="4514850"/>
          </a:xfrm>
          <a:prstGeom xmlns:a="http://schemas.openxmlformats.org/drawingml/2006/main" prst="roundRect">
            <a:avLst>
              <a:gd name="adj" fmla="val 1688"/>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BCA84480-C8D2-496E-88E5-FB9D0BEEAD5A}"/>
              </a:ext>
            </a:extLst>
          </p:cNvPr>
          <p:cNvSpPr>
            <a:spLocks xmlns:a="http://schemas.openxmlformats.org/drawingml/2006/main" noGrp="1"/>
          </p:cNvSpPr>
          <p:nvPr/>
        </p:nvSpPr>
        <p:spPr>
          <a:xfrm xmlns:a="http://schemas.openxmlformats.org/drawingml/2006/main">
            <a:off x="3543300" y="1771650"/>
            <a:ext cx="3143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TEACHER-FORCED ACTION SEQUENCE</a:t>
            </a:r>
          </a:p>
        </p:txBody>
      </p:sp>
      <p:sp>
        <p:nvSpPr>
          <p:cNvPr id="17" name="">
            <a:extLst xmlns:a="http://schemas.openxmlformats.org/drawingml/2006/main">
              <a:ext uri="{FF2B5EF4-FFF2-40B4-BE49-F238E27FC236}">
                <a16:creationId xmlns:a16="http://schemas.microsoft.com/office/drawing/2014/main" id="{03A1438A-8F2A-46BE-949C-175A777B434D}"/>
              </a:ext>
            </a:extLst>
          </p:cNvPr>
          <p:cNvSpPr>
            <a:spLocks xmlns:a="http://schemas.openxmlformats.org/drawingml/2006/main" noGrp="1"/>
          </p:cNvSpPr>
          <p:nvPr/>
        </p:nvSpPr>
        <p:spPr>
          <a:xfrm xmlns:a="http://schemas.openxmlformats.org/drawingml/2006/main">
            <a:off x="3543300" y="2000250"/>
            <a:ext cx="695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Image evidence and instruction tokens precede the scored x-coordinate digits</a:t>
            </a:r>
          </a:p>
        </p:txBody>
      </p:sp>
      <p:sp>
        <p:nvSpPr>
          <p:cNvPr id="18" name="">
            <a:extLst xmlns:a="http://schemas.openxmlformats.org/drawingml/2006/main">
              <a:ext uri="{FF2B5EF4-FFF2-40B4-BE49-F238E27FC236}">
                <a16:creationId xmlns:a16="http://schemas.microsoft.com/office/drawing/2014/main" id="{ACA62FE4-4FCB-4BB2-A0DE-D4EA48D5D814}"/>
              </a:ext>
            </a:extLst>
          </p:cNvPr>
          <p:cNvSpPr>
            <a:spLocks xmlns:a="http://schemas.openxmlformats.org/drawingml/2006/main" noGrp="1"/>
          </p:cNvSpPr>
          <p:nvPr/>
        </p:nvSpPr>
        <p:spPr>
          <a:xfrm xmlns:a="http://schemas.openxmlformats.org/drawingml/2006/main">
            <a:off x="3543300" y="2457450"/>
            <a:ext cx="1428750" cy="781050"/>
          </a:xfrm>
          <a:prstGeom xmlns:a="http://schemas.openxmlformats.org/drawingml/2006/main" prst="roundRect">
            <a:avLst>
              <a:gd name="adj" fmla="val 9756"/>
            </a:avLst>
          </a:prstGeom>
          <a:solidFill xmlns:a="http://schemas.openxmlformats.org/drawingml/2006/main">
            <a:srgbClr val="DDECF9"/>
          </a:solidFill>
          <a:ln xmlns:a="http://schemas.openxmlformats.org/drawingml/2006/main" w="9525">
            <a:solidFill>
              <a:srgbClr val="2D84D3"/>
            </a:solidFill>
          </a:ln>
        </p:spPr>
      </p:sp>
      <p:sp>
        <p:nvSpPr>
          <p:cNvPr id="19" name="">
            <a:extLst xmlns:a="http://schemas.openxmlformats.org/drawingml/2006/main">
              <a:ext uri="{FF2B5EF4-FFF2-40B4-BE49-F238E27FC236}">
                <a16:creationId xmlns:a16="http://schemas.microsoft.com/office/drawing/2014/main" id="{8ED36828-FAA8-40CE-BCF3-6AA968240E95}"/>
              </a:ext>
            </a:extLst>
          </p:cNvPr>
          <p:cNvSpPr>
            <a:spLocks xmlns:a="http://schemas.openxmlformats.org/drawingml/2006/main" noGrp="1"/>
          </p:cNvSpPr>
          <p:nvPr/>
        </p:nvSpPr>
        <p:spPr>
          <a:xfrm xmlns:a="http://schemas.openxmlformats.org/drawingml/2006/main">
            <a:off x="36385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IMAGE</a:t>
            </a:r>
          </a:p>
        </p:txBody>
      </p:sp>
      <p:sp>
        <p:nvSpPr>
          <p:cNvPr id="20" name="">
            <a:extLst xmlns:a="http://schemas.openxmlformats.org/drawingml/2006/main">
              <a:ext uri="{FF2B5EF4-FFF2-40B4-BE49-F238E27FC236}">
                <a16:creationId xmlns:a16="http://schemas.microsoft.com/office/drawing/2014/main" id="{4F52AD79-D56E-4D41-81B9-F356B1FAE86A}"/>
              </a:ext>
            </a:extLst>
          </p:cNvPr>
          <p:cNvSpPr>
            <a:spLocks xmlns:a="http://schemas.openxmlformats.org/drawingml/2006/main" noGrp="1"/>
          </p:cNvSpPr>
          <p:nvPr/>
        </p:nvSpPr>
        <p:spPr>
          <a:xfrm xmlns:a="http://schemas.openxmlformats.org/drawingml/2006/main">
            <a:off x="36385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patch residuals</a:t>
            </a:r>
          </a:p>
        </p:txBody>
      </p:sp>
      <p:sp>
        <p:nvSpPr>
          <p:cNvPr id="21" name="">
            <a:extLst xmlns:a="http://schemas.openxmlformats.org/drawingml/2006/main">
              <a:ext uri="{FF2B5EF4-FFF2-40B4-BE49-F238E27FC236}">
                <a16:creationId xmlns:a16="http://schemas.microsoft.com/office/drawing/2014/main" id="{08088C03-1560-4091-84A3-FEE05C2E2976}"/>
              </a:ext>
            </a:extLst>
          </p:cNvPr>
          <p:cNvSpPr>
            <a:spLocks xmlns:a="http://schemas.openxmlformats.org/drawingml/2006/main" noGrp="1"/>
          </p:cNvSpPr>
          <p:nvPr/>
        </p:nvSpPr>
        <p:spPr>
          <a:xfrm xmlns:a="http://schemas.openxmlformats.org/drawingml/2006/main">
            <a:off x="5105400" y="2457450"/>
            <a:ext cx="1619250" cy="781050"/>
          </a:xfrm>
          <a:prstGeom xmlns:a="http://schemas.openxmlformats.org/drawingml/2006/main" prst="roundRect">
            <a:avLst>
              <a:gd name="adj" fmla="val 975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E9795974-AB53-41C4-AE9D-CB410A2D32AF}"/>
              </a:ext>
            </a:extLst>
          </p:cNvPr>
          <p:cNvSpPr>
            <a:spLocks xmlns:a="http://schemas.openxmlformats.org/drawingml/2006/main" noGrp="1"/>
          </p:cNvSpPr>
          <p:nvPr/>
        </p:nvSpPr>
        <p:spPr>
          <a:xfrm xmlns:a="http://schemas.openxmlformats.org/drawingml/2006/main">
            <a:off x="5200650" y="2581275"/>
            <a:ext cx="1428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C2733"/>
                </a:solidFill>
                <a:latin typeface="Helvetica Neue"/>
                <a:ea typeface="Helvetica Neue"/>
                <a:cs typeface="Helvetica Neue"/>
              </a:defRPr>
            </a:pPr>
            <a:r>
              <a:rPr sz="825" b="1">
                <a:solidFill>
                  <a:srgbClr val="1C2733"/>
                </a:solidFill>
                <a:latin typeface="Helvetica Neue"/>
                <a:ea typeface="Helvetica Neue"/>
                <a:cs typeface="Helvetica Neue"/>
              </a:rPr>
              <a:t>INSTRUCTION</a:t>
            </a:r>
          </a:p>
        </p:txBody>
      </p:sp>
      <p:sp>
        <p:nvSpPr>
          <p:cNvPr id="23" name="">
            <a:extLst xmlns:a="http://schemas.openxmlformats.org/drawingml/2006/main">
              <a:ext uri="{FF2B5EF4-FFF2-40B4-BE49-F238E27FC236}">
                <a16:creationId xmlns:a16="http://schemas.microsoft.com/office/drawing/2014/main" id="{D0C09897-E758-4D00-B89B-ADB766BFE768}"/>
              </a:ext>
            </a:extLst>
          </p:cNvPr>
          <p:cNvSpPr>
            <a:spLocks xmlns:a="http://schemas.openxmlformats.org/drawingml/2006/main" noGrp="1"/>
          </p:cNvSpPr>
          <p:nvPr/>
        </p:nvSpPr>
        <p:spPr>
          <a:xfrm xmlns:a="http://schemas.openxmlformats.org/drawingml/2006/main">
            <a:off x="5200650" y="2838450"/>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target name</a:t>
            </a:r>
          </a:p>
        </p:txBody>
      </p:sp>
      <p:sp>
        <p:nvSpPr>
          <p:cNvPr id="24" name="">
            <a:extLst xmlns:a="http://schemas.openxmlformats.org/drawingml/2006/main">
              <a:ext uri="{FF2B5EF4-FFF2-40B4-BE49-F238E27FC236}">
                <a16:creationId xmlns:a16="http://schemas.microsoft.com/office/drawing/2014/main" id="{7AE5FEEB-E9BC-449A-81DB-7089627C31CB}"/>
              </a:ext>
            </a:extLst>
          </p:cNvPr>
          <p:cNvSpPr>
            <a:spLocks xmlns:a="http://schemas.openxmlformats.org/drawingml/2006/main" noGrp="1"/>
          </p:cNvSpPr>
          <p:nvPr/>
        </p:nvSpPr>
        <p:spPr>
          <a:xfrm xmlns:a="http://schemas.openxmlformats.org/drawingml/2006/main">
            <a:off x="6858000" y="2457450"/>
            <a:ext cx="8572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5" name="">
            <a:extLst xmlns:a="http://schemas.openxmlformats.org/drawingml/2006/main">
              <a:ext uri="{FF2B5EF4-FFF2-40B4-BE49-F238E27FC236}">
                <a16:creationId xmlns:a16="http://schemas.microsoft.com/office/drawing/2014/main" id="{78B9E751-E872-4C0D-9D68-E10E523AC0EE}"/>
              </a:ext>
            </a:extLst>
          </p:cNvPr>
          <p:cNvSpPr>
            <a:spLocks xmlns:a="http://schemas.openxmlformats.org/drawingml/2006/main" noGrp="1"/>
          </p:cNvSpPr>
          <p:nvPr/>
        </p:nvSpPr>
        <p:spPr>
          <a:xfrm xmlns:a="http://schemas.openxmlformats.org/drawingml/2006/main">
            <a:off x="6953250" y="2581275"/>
            <a:ext cx="6667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JSON</a:t>
            </a:r>
          </a:p>
        </p:txBody>
      </p:sp>
      <p:sp>
        <p:nvSpPr>
          <p:cNvPr id="26" name="">
            <a:extLst xmlns:a="http://schemas.openxmlformats.org/drawingml/2006/main">
              <a:ext uri="{FF2B5EF4-FFF2-40B4-BE49-F238E27FC236}">
                <a16:creationId xmlns:a16="http://schemas.microsoft.com/office/drawing/2014/main" id="{EC2F1EE8-EE0F-4D20-B97A-BF476161666C}"/>
              </a:ext>
            </a:extLst>
          </p:cNvPr>
          <p:cNvSpPr>
            <a:spLocks xmlns:a="http://schemas.openxmlformats.org/drawingml/2006/main" noGrp="1"/>
          </p:cNvSpPr>
          <p:nvPr/>
        </p:nvSpPr>
        <p:spPr>
          <a:xfrm xmlns:a="http://schemas.openxmlformats.org/drawingml/2006/main">
            <a:off x="6953250" y="2838450"/>
            <a:ext cx="66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 x:</a:t>
            </a:r>
          </a:p>
        </p:txBody>
      </p:sp>
      <p:sp>
        <p:nvSpPr>
          <p:cNvPr id="27" name="">
            <a:extLst xmlns:a="http://schemas.openxmlformats.org/drawingml/2006/main">
              <a:ext uri="{FF2B5EF4-FFF2-40B4-BE49-F238E27FC236}">
                <a16:creationId xmlns:a16="http://schemas.microsoft.com/office/drawing/2014/main" id="{7B45B31C-7A08-4389-A379-50AE74B3C3F0}"/>
              </a:ext>
            </a:extLst>
          </p:cNvPr>
          <p:cNvSpPr>
            <a:spLocks xmlns:a="http://schemas.openxmlformats.org/drawingml/2006/main" noGrp="1"/>
          </p:cNvSpPr>
          <p:nvPr/>
        </p:nvSpPr>
        <p:spPr>
          <a:xfrm xmlns:a="http://schemas.openxmlformats.org/drawingml/2006/main">
            <a:off x="7848600" y="2457450"/>
            <a:ext cx="1428750" cy="781050"/>
          </a:xfrm>
          <a:prstGeom xmlns:a="http://schemas.openxmlformats.org/drawingml/2006/main" prst="roundRect">
            <a:avLst>
              <a:gd name="adj" fmla="val 9756"/>
            </a:avLst>
          </a:prstGeom>
          <a:solidFill xmlns:a="http://schemas.openxmlformats.org/drawingml/2006/main">
            <a:srgbClr val="FCE2D9"/>
          </a:solidFill>
          <a:ln xmlns:a="http://schemas.openxmlformats.org/drawingml/2006/main" w="9525">
            <a:solidFill>
              <a:srgbClr val="F05A3C"/>
            </a:solidFill>
          </a:ln>
        </p:spPr>
      </p:sp>
      <p:sp>
        <p:nvSpPr>
          <p:cNvPr id="28" name="">
            <a:extLst xmlns:a="http://schemas.openxmlformats.org/drawingml/2006/main">
              <a:ext uri="{FF2B5EF4-FFF2-40B4-BE49-F238E27FC236}">
                <a16:creationId xmlns:a16="http://schemas.microsoft.com/office/drawing/2014/main" id="{7C46C278-82FA-4A1A-B8A2-507E3DE7D6F2}"/>
              </a:ext>
            </a:extLst>
          </p:cNvPr>
          <p:cNvSpPr>
            <a:spLocks xmlns:a="http://schemas.openxmlformats.org/drawingml/2006/main" noGrp="1"/>
          </p:cNvSpPr>
          <p:nvPr/>
        </p:nvSpPr>
        <p:spPr>
          <a:xfrm xmlns:a="http://schemas.openxmlformats.org/drawingml/2006/main">
            <a:off x="7943850" y="2581275"/>
            <a:ext cx="1238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F05A3C"/>
                </a:solidFill>
                <a:latin typeface="Helvetica Neue"/>
                <a:ea typeface="Helvetica Neue"/>
                <a:cs typeface="Helvetica Neue"/>
              </a:defRPr>
            </a:pPr>
            <a:r>
              <a:rPr sz="825" b="1">
                <a:solidFill>
                  <a:srgbClr val="F05A3C"/>
                </a:solidFill>
                <a:latin typeface="Helvetica Neue"/>
                <a:ea typeface="Helvetica Neue"/>
                <a:cs typeface="Helvetica Neue"/>
              </a:rPr>
              <a:t>X DIGITS</a:t>
            </a:r>
          </a:p>
        </p:txBody>
      </p:sp>
      <p:sp>
        <p:nvSpPr>
          <p:cNvPr id="29" name="">
            <a:extLst xmlns:a="http://schemas.openxmlformats.org/drawingml/2006/main">
              <a:ext uri="{FF2B5EF4-FFF2-40B4-BE49-F238E27FC236}">
                <a16:creationId xmlns:a16="http://schemas.microsoft.com/office/drawing/2014/main" id="{B4ECE158-CE21-4810-8C03-A6BBE4137F45}"/>
              </a:ext>
            </a:extLst>
          </p:cNvPr>
          <p:cNvSpPr>
            <a:spLocks xmlns:a="http://schemas.openxmlformats.org/drawingml/2006/main" noGrp="1"/>
          </p:cNvSpPr>
          <p:nvPr/>
        </p:nvSpPr>
        <p:spPr>
          <a:xfrm xmlns:a="http://schemas.openxmlformats.org/drawingml/2006/main">
            <a:off x="7943850" y="2838450"/>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scored action</a:t>
            </a:r>
          </a:p>
        </p:txBody>
      </p:sp>
      <p:sp>
        <p:nvSpPr>
          <p:cNvPr id="30" name="">
            <a:extLst xmlns:a="http://schemas.openxmlformats.org/drawingml/2006/main">
              <a:ext uri="{FF2B5EF4-FFF2-40B4-BE49-F238E27FC236}">
                <a16:creationId xmlns:a16="http://schemas.microsoft.com/office/drawing/2014/main" id="{05BFA4ED-343D-41DB-950A-9807827F9D00}"/>
              </a:ext>
            </a:extLst>
          </p:cNvPr>
          <p:cNvSpPr>
            <a:spLocks xmlns:a="http://schemas.openxmlformats.org/drawingml/2006/main" noGrp="1"/>
          </p:cNvSpPr>
          <p:nvPr/>
        </p:nvSpPr>
        <p:spPr>
          <a:xfrm xmlns:a="http://schemas.openxmlformats.org/drawingml/2006/main">
            <a:off x="9410700" y="2457450"/>
            <a:ext cx="1333500" cy="781050"/>
          </a:xfrm>
          <a:prstGeom xmlns:a="http://schemas.openxmlformats.org/drawingml/2006/main" prst="roundRect">
            <a:avLst>
              <a:gd name="adj" fmla="val 9756"/>
            </a:avLst>
          </a:prstGeom>
          <a:solidFill xmlns:a="http://schemas.openxmlformats.org/drawingml/2006/main">
            <a:srgbClr val="DDEFE7"/>
          </a:solidFill>
          <a:ln xmlns:a="http://schemas.openxmlformats.org/drawingml/2006/main" w="9525">
            <a:solidFill>
              <a:srgbClr val="18A875"/>
            </a:solidFill>
          </a:ln>
        </p:spPr>
      </p:sp>
      <p:sp>
        <p:nvSpPr>
          <p:cNvPr id="31" name="">
            <a:extLst xmlns:a="http://schemas.openxmlformats.org/drawingml/2006/main">
              <a:ext uri="{FF2B5EF4-FFF2-40B4-BE49-F238E27FC236}">
                <a16:creationId xmlns:a16="http://schemas.microsoft.com/office/drawing/2014/main" id="{113964EE-AD63-49B2-92AB-42B70A83F4A8}"/>
              </a:ext>
            </a:extLst>
          </p:cNvPr>
          <p:cNvSpPr>
            <a:spLocks xmlns:a="http://schemas.openxmlformats.org/drawingml/2006/main" noGrp="1"/>
          </p:cNvSpPr>
          <p:nvPr/>
        </p:nvSpPr>
        <p:spPr>
          <a:xfrm xmlns:a="http://schemas.openxmlformats.org/drawingml/2006/main">
            <a:off x="9505950" y="2581275"/>
            <a:ext cx="114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Y DIGITS</a:t>
            </a:r>
          </a:p>
        </p:txBody>
      </p:sp>
      <p:sp>
        <p:nvSpPr>
          <p:cNvPr id="32" name="">
            <a:extLst xmlns:a="http://schemas.openxmlformats.org/drawingml/2006/main">
              <a:ext uri="{FF2B5EF4-FFF2-40B4-BE49-F238E27FC236}">
                <a16:creationId xmlns:a16="http://schemas.microsoft.com/office/drawing/2014/main" id="{DA459C8B-8208-46EB-8912-A25BEA834573}"/>
              </a:ext>
            </a:extLst>
          </p:cNvPr>
          <p:cNvSpPr>
            <a:spLocks xmlns:a="http://schemas.openxmlformats.org/drawingml/2006/main" noGrp="1"/>
          </p:cNvSpPr>
          <p:nvPr/>
        </p:nvSpPr>
        <p:spPr>
          <a:xfrm xmlns:a="http://schemas.openxmlformats.org/drawingml/2006/main">
            <a:off x="9505950" y="2838450"/>
            <a:ext cx="1143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10151C"/>
                </a:solidFill>
                <a:latin typeface="Helvetica Neue"/>
                <a:ea typeface="Helvetica Neue"/>
                <a:cs typeface="Helvetica Neue"/>
              </a:defRPr>
            </a:pPr>
            <a:r>
              <a:rPr sz="975" b="0">
                <a:solidFill>
                  <a:srgbClr val="10151C"/>
                </a:solidFill>
                <a:latin typeface="Helvetica Neue"/>
                <a:ea typeface="Helvetica Neue"/>
                <a:cs typeface="Helvetica Neue"/>
              </a:rPr>
              <a:t>held matched</a:t>
            </a:r>
          </a:p>
        </p:txBody>
      </p:sp>
      <p:sp>
        <p:nvSpPr>
          <p:cNvPr id="33" name="">
            <a:extLst xmlns:a="http://schemas.openxmlformats.org/drawingml/2006/main">
              <a:ext uri="{FF2B5EF4-FFF2-40B4-BE49-F238E27FC236}">
                <a16:creationId xmlns:a16="http://schemas.microsoft.com/office/drawing/2014/main" id="{EB1B8D46-E8AD-413E-BFAB-995D43DEF349}"/>
              </a:ext>
            </a:extLst>
          </p:cNvPr>
          <p:cNvSpPr>
            <a:spLocks xmlns:a="http://schemas.openxmlformats.org/drawingml/2006/main" noGrp="1"/>
          </p:cNvSpPr>
          <p:nvPr/>
        </p:nvSpPr>
        <p:spPr>
          <a:xfrm xmlns:a="http://schemas.openxmlformats.org/drawingml/2006/main">
            <a:off x="3543300" y="3619500"/>
            <a:ext cx="723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Replace one internal state in the corrupted run with its clean-run counterpart</a:t>
            </a:r>
          </a:p>
        </p:txBody>
      </p:sp>
      <p:sp>
        <p:nvSpPr>
          <p:cNvPr id="34" name="">
            <a:extLst xmlns:a="http://schemas.openxmlformats.org/drawingml/2006/main">
              <a:ext uri="{FF2B5EF4-FFF2-40B4-BE49-F238E27FC236}">
                <a16:creationId xmlns:a16="http://schemas.microsoft.com/office/drawing/2014/main" id="{AA8F12C9-EA93-408F-B488-33ADB9E221A1}"/>
              </a:ext>
            </a:extLst>
          </p:cNvPr>
          <p:cNvSpPr>
            <a:spLocks xmlns:a="http://schemas.openxmlformats.org/drawingml/2006/main" noGrp="1"/>
          </p:cNvSpPr>
          <p:nvPr/>
        </p:nvSpPr>
        <p:spPr>
          <a:xfrm xmlns:a="http://schemas.openxmlformats.org/drawingml/2006/main">
            <a:off x="3543300" y="4019550"/>
            <a:ext cx="3295650" cy="1466850"/>
          </a:xfrm>
          <a:prstGeom xmlns:a="http://schemas.openxmlformats.org/drawingml/2006/main" prst="roundRect">
            <a:avLst>
              <a:gd name="adj" fmla="val 5195"/>
            </a:avLst>
          </a:prstGeom>
          <a:solidFill xmlns:a="http://schemas.openxmlformats.org/drawingml/2006/main">
            <a:srgbClr val="DDECF9"/>
          </a:solidFill>
          <a:ln xmlns:a="http://schemas.openxmlformats.org/drawingml/2006/main" w="9525">
            <a:solidFill>
              <a:srgbClr val="2D84D3"/>
            </a:solidFill>
          </a:ln>
        </p:spPr>
      </p:sp>
      <p:sp>
        <p:nvSpPr>
          <p:cNvPr id="35" name="">
            <a:extLst xmlns:a="http://schemas.openxmlformats.org/drawingml/2006/main">
              <a:ext uri="{FF2B5EF4-FFF2-40B4-BE49-F238E27FC236}">
                <a16:creationId xmlns:a16="http://schemas.microsoft.com/office/drawing/2014/main" id="{B1E047E8-9237-45F1-81F0-47689C0EBA43}"/>
              </a:ext>
            </a:extLst>
          </p:cNvPr>
          <p:cNvSpPr>
            <a:spLocks xmlns:a="http://schemas.openxmlformats.org/drawingml/2006/main" noGrp="1"/>
          </p:cNvSpPr>
          <p:nvPr/>
        </p:nvSpPr>
        <p:spPr>
          <a:xfrm xmlns:a="http://schemas.openxmlformats.org/drawingml/2006/main">
            <a:off x="3733800" y="4210050"/>
            <a:ext cx="1600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3E679390-6E1B-4D8E-AB0C-C847D958BC1F}"/>
              </a:ext>
            </a:extLst>
          </p:cNvPr>
          <p:cNvSpPr>
            <a:spLocks xmlns:a="http://schemas.openxmlformats.org/drawingml/2006/main" noGrp="1"/>
          </p:cNvSpPr>
          <p:nvPr/>
        </p:nvSpPr>
        <p:spPr>
          <a:xfrm xmlns:a="http://schemas.openxmlformats.org/drawingml/2006/main">
            <a:off x="3829050" y="4229100"/>
            <a:ext cx="1409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 · VISUAL REGION</a:t>
            </a:r>
          </a:p>
        </p:txBody>
      </p:sp>
      <p:sp>
        <p:nvSpPr>
          <p:cNvPr id="37" name="">
            <a:extLst xmlns:a="http://schemas.openxmlformats.org/drawingml/2006/main">
              <a:ext uri="{FF2B5EF4-FFF2-40B4-BE49-F238E27FC236}">
                <a16:creationId xmlns:a16="http://schemas.microsoft.com/office/drawing/2014/main" id="{BBF1CC88-D292-4305-902A-14476106E9FE}"/>
              </a:ext>
            </a:extLst>
          </p:cNvPr>
          <p:cNvSpPr>
            <a:spLocks xmlns:a="http://schemas.openxmlformats.org/drawingml/2006/main" noGrp="1"/>
          </p:cNvSpPr>
          <p:nvPr/>
        </p:nvSpPr>
        <p:spPr>
          <a:xfrm xmlns:a="http://schemas.openxmlformats.org/drawingml/2006/main">
            <a:off x="3733800" y="4629150"/>
            <a:ext cx="289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target or distractor image-region residuals to test whether localized visual evidence restores the coordinate preference.</a:t>
            </a:r>
          </a:p>
        </p:txBody>
      </p:sp>
      <p:sp>
        <p:nvSpPr>
          <p:cNvPr id="38" name="">
            <a:extLst xmlns:a="http://schemas.openxmlformats.org/drawingml/2006/main">
              <a:ext uri="{FF2B5EF4-FFF2-40B4-BE49-F238E27FC236}">
                <a16:creationId xmlns:a16="http://schemas.microsoft.com/office/drawing/2014/main" id="{C18FFCDD-16F3-438F-AD94-9951943E4C4C}"/>
              </a:ext>
            </a:extLst>
          </p:cNvPr>
          <p:cNvSpPr>
            <a:spLocks xmlns:a="http://schemas.openxmlformats.org/drawingml/2006/main" noGrp="1"/>
          </p:cNvSpPr>
          <p:nvPr/>
        </p:nvSpPr>
        <p:spPr>
          <a:xfrm xmlns:a="http://schemas.openxmlformats.org/drawingml/2006/main">
            <a:off x="7105650" y="4019550"/>
            <a:ext cx="3943350" cy="1466850"/>
          </a:xfrm>
          <a:prstGeom xmlns:a="http://schemas.openxmlformats.org/drawingml/2006/main" prst="roundRect">
            <a:avLst>
              <a:gd name="adj" fmla="val 5195"/>
            </a:avLst>
          </a:prstGeom>
          <a:solidFill xmlns:a="http://schemas.openxmlformats.org/drawingml/2006/main">
            <a:srgbClr val="FCE2D9"/>
          </a:solidFill>
          <a:ln xmlns:a="http://schemas.openxmlformats.org/drawingml/2006/main" w="9525">
            <a:solidFill>
              <a:srgbClr val="F05A3C"/>
            </a:solidFill>
          </a:ln>
        </p:spPr>
      </p:sp>
      <p:sp>
        <p:nvSpPr>
          <p:cNvPr id="39" name="">
            <a:extLst xmlns:a="http://schemas.openxmlformats.org/drawingml/2006/main">
              <a:ext uri="{FF2B5EF4-FFF2-40B4-BE49-F238E27FC236}">
                <a16:creationId xmlns:a16="http://schemas.microsoft.com/office/drawing/2014/main" id="{13A32605-9997-42D7-B5CE-3FEADC3FF3DB}"/>
              </a:ext>
            </a:extLst>
          </p:cNvPr>
          <p:cNvSpPr>
            <a:spLocks xmlns:a="http://schemas.openxmlformats.org/drawingml/2006/main" noGrp="1"/>
          </p:cNvSpPr>
          <p:nvPr/>
        </p:nvSpPr>
        <p:spPr>
          <a:xfrm xmlns:a="http://schemas.openxmlformats.org/drawingml/2006/main">
            <a:off x="7296150" y="4210050"/>
            <a:ext cx="18478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3DF8026-3179-4AC4-AF74-80C8612A9746}"/>
              </a:ext>
            </a:extLst>
          </p:cNvPr>
          <p:cNvSpPr>
            <a:spLocks xmlns:a="http://schemas.openxmlformats.org/drawingml/2006/main" noGrp="1"/>
          </p:cNvSpPr>
          <p:nvPr/>
        </p:nvSpPr>
        <p:spPr>
          <a:xfrm xmlns:a="http://schemas.openxmlformats.org/drawingml/2006/main">
            <a:off x="7391400" y="4229100"/>
            <a:ext cx="16573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 · COORDINATE STATE</a:t>
            </a:r>
          </a:p>
        </p:txBody>
      </p:sp>
      <p:sp>
        <p:nvSpPr>
          <p:cNvPr id="41" name="">
            <a:extLst xmlns:a="http://schemas.openxmlformats.org/drawingml/2006/main">
              <a:ext uri="{FF2B5EF4-FFF2-40B4-BE49-F238E27FC236}">
                <a16:creationId xmlns:a16="http://schemas.microsoft.com/office/drawing/2014/main" id="{361234AB-0160-4FB4-B442-D165BE304A92}"/>
              </a:ext>
            </a:extLst>
          </p:cNvPr>
          <p:cNvSpPr>
            <a:spLocks xmlns:a="http://schemas.openxmlformats.org/drawingml/2006/main" noGrp="1"/>
          </p:cNvSpPr>
          <p:nvPr/>
        </p:nvSpPr>
        <p:spPr>
          <a:xfrm xmlns:a="http://schemas.openxmlformats.org/drawingml/2006/main">
            <a:off x="7296150" y="4629150"/>
            <a:ext cx="352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Patch coordinate-token residuals across layers. Then test the selected Layer 15 state and each attention head at x-token positions.</a:t>
            </a:r>
          </a:p>
        </p:txBody>
      </p:sp>
      <p:sp>
        <p:nvSpPr>
          <p:cNvPr id="42" name="">
            <a:extLst xmlns:a="http://schemas.openxmlformats.org/drawingml/2006/main">
              <a:ext uri="{FF2B5EF4-FFF2-40B4-BE49-F238E27FC236}">
                <a16:creationId xmlns:a16="http://schemas.microsoft.com/office/drawing/2014/main" id="{70C527D5-D738-4C1C-95E6-19937F0FA936}"/>
              </a:ext>
            </a:extLst>
          </p:cNvPr>
          <p:cNvSpPr>
            <a:spLocks xmlns:a="http://schemas.openxmlformats.org/drawingml/2006/main" noGrp="1"/>
          </p:cNvSpPr>
          <p:nvPr/>
        </p:nvSpPr>
        <p:spPr>
          <a:xfrm xmlns:a="http://schemas.openxmlformats.org/drawingml/2006/main">
            <a:off x="3543300" y="5657850"/>
            <a:ext cx="75057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1C2733"/>
                </a:solidFill>
                <a:latin typeface="Helvetica Neue"/>
                <a:ea typeface="Helvetica Neue"/>
                <a:cs typeface="Helvetica Neue"/>
              </a:defRPr>
            </a:pPr>
            <a:r>
              <a:rPr sz="1200" b="1">
                <a:solidFill>
                  <a:srgbClr val="1C2733"/>
                </a:solidFill>
                <a:latin typeface="Helvetica Neue"/>
                <a:ea typeface="Helvetica Neue"/>
                <a:cs typeface="Helvetica Neue"/>
              </a:rPr>
              <a:t>Metric: log p(target x digits) − log p(distractor x digits)</a:t>
            </a:r>
          </a:p>
        </p:txBody>
      </p:sp>
      <p:sp>
        <p:nvSpPr>
          <p:cNvPr id="43" name="">
            <a:extLst xmlns:a="http://schemas.openxmlformats.org/drawingml/2006/main">
              <a:ext uri="{FF2B5EF4-FFF2-40B4-BE49-F238E27FC236}">
                <a16:creationId xmlns:a16="http://schemas.microsoft.com/office/drawing/2014/main" id="{D5D30DBE-39AB-48B4-86CE-A4832A13EA8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D1F2503-9A7D-44FD-9C18-AD6FBB45AF2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Four equal-tile pairs × two mirrored instructions · native 2880×1800 · official VisualLocalizerOutput contract</a:t>
            </a:r>
          </a:p>
        </p:txBody>
      </p:sp>
    </p:spTree>
    <p:extLst>
      <p:ext uri="{BB962C8B-B14F-4D97-AF65-F5344CB8AC3E}">
        <p14:creationId xmlns:p14="http://schemas.microsoft.com/office/powerpoint/2010/main" val="1796048822"/>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4E7A76EE-F201-4A3E-8477-019B27C3C63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RESULT · LAYER 15</a:t>
            </a:r>
          </a:p>
        </p:txBody>
      </p:sp>
      <p:sp>
        <p:nvSpPr>
          <p:cNvPr id="2" name="">
            <a:extLst xmlns:a="http://schemas.openxmlformats.org/drawingml/2006/main">
              <a:ext uri="{FF2B5EF4-FFF2-40B4-BE49-F238E27FC236}">
                <a16:creationId xmlns:a16="http://schemas.microsoft.com/office/drawing/2014/main" id="{38C90E4B-0095-4817-A283-E6AB5C8A3A7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Fine-tuning doubles recovery of the coordinate state</a:t>
            </a:r>
          </a:p>
        </p:txBody>
      </p:sp>
      <p:sp>
        <p:nvSpPr>
          <p:cNvPr id="3" name="">
            <a:extLst xmlns:a="http://schemas.openxmlformats.org/drawingml/2006/main">
              <a:ext uri="{FF2B5EF4-FFF2-40B4-BE49-F238E27FC236}">
                <a16:creationId xmlns:a16="http://schemas.microsoft.com/office/drawing/2014/main" id="{809B0266-EA03-4B85-B13E-77619FDC57A3}"/>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B95AD17-D6C7-4116-A178-7C9A24F4E56C}"/>
              </a:ext>
            </a:extLst>
          </p:cNvPr>
          <p:cNvSpPr>
            <a:spLocks xmlns:a="http://schemas.openxmlformats.org/drawingml/2006/main" noGrp="1"/>
          </p:cNvSpPr>
          <p:nvPr/>
        </p:nvSpPr>
        <p:spPr>
          <a:xfrm xmlns:a="http://schemas.openxmlformats.org/drawingml/2006/main">
            <a:off x="609600" y="1123950"/>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Eight mirrored prompts · x-coordinate teacher forcing · same processor, prompt, image bytes, and candidate syntax</a:t>
            </a:r>
          </a:p>
        </p:txBody>
      </p:sp>
      <p:sp>
        <p:nvSpPr>
          <p:cNvPr id="5" name="">
            <a:extLst xmlns:a="http://schemas.openxmlformats.org/drawingml/2006/main">
              <a:ext uri="{FF2B5EF4-FFF2-40B4-BE49-F238E27FC236}">
                <a16:creationId xmlns:a16="http://schemas.microsoft.com/office/drawing/2014/main" id="{FD5026B5-F0CD-4B36-B398-3E3E3CE76568}"/>
              </a:ext>
            </a:extLst>
          </p:cNvPr>
          <p:cNvSpPr>
            <a:spLocks xmlns:a="http://schemas.openxmlformats.org/drawingml/2006/main" noGrp="1"/>
          </p:cNvSpPr>
          <p:nvPr/>
        </p:nvSpPr>
        <p:spPr>
          <a:xfrm xmlns:a="http://schemas.openxmlformats.org/drawingml/2006/main">
            <a:off x="609600" y="1524000"/>
            <a:ext cx="5238750" cy="1581150"/>
          </a:xfrm>
          <a:prstGeom xmlns:a="http://schemas.openxmlformats.org/drawingml/2006/main" prst="roundRect">
            <a:avLst>
              <a:gd name="adj" fmla="val 4819"/>
            </a:avLst>
          </a:prstGeom>
          <a:solidFill xmlns:a="http://schemas.openxmlformats.org/drawingml/2006/main">
            <a:srgbClr val="DDEFE7"/>
          </a:solidFill>
          <a:ln xmlns:a="http://schemas.openxmlformats.org/drawingml/2006/main" w="9525">
            <a:solidFill>
              <a:srgbClr val="18A875"/>
            </a:solidFill>
          </a:ln>
        </p:spPr>
      </p:sp>
      <p:sp>
        <p:nvSpPr>
          <p:cNvPr id="6" name="">
            <a:extLst xmlns:a="http://schemas.openxmlformats.org/drawingml/2006/main">
              <a:ext uri="{FF2B5EF4-FFF2-40B4-BE49-F238E27FC236}">
                <a16:creationId xmlns:a16="http://schemas.microsoft.com/office/drawing/2014/main" id="{754F0649-0F55-4D45-AA62-6549DCE39223}"/>
              </a:ext>
            </a:extLst>
          </p:cNvPr>
          <p:cNvSpPr>
            <a:spLocks xmlns:a="http://schemas.openxmlformats.org/drawingml/2006/main" noGrp="1"/>
          </p:cNvSpPr>
          <p:nvPr/>
        </p:nvSpPr>
        <p:spPr>
          <a:xfrm xmlns:a="http://schemas.openxmlformats.org/drawingml/2006/main">
            <a:off x="819150" y="1752600"/>
            <a:ext cx="447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18A875"/>
                </a:solidFill>
                <a:latin typeface="Helvetica Neue"/>
                <a:ea typeface="Helvetica Neue"/>
                <a:cs typeface="Helvetica Neue"/>
              </a:defRPr>
            </a:pPr>
            <a:r>
              <a:rPr sz="825" b="1">
                <a:solidFill>
                  <a:srgbClr val="18A875"/>
                </a:solidFill>
                <a:latin typeface="Helvetica Neue"/>
                <a:ea typeface="Helvetica Neue"/>
                <a:cs typeface="Helvetica Neue"/>
              </a:rPr>
              <a:t>PATCH CLEAN STATE INTO THE CORRUPTED RUN</a:t>
            </a:r>
          </a:p>
        </p:txBody>
      </p:sp>
      <p:sp>
        <p:nvSpPr>
          <p:cNvPr id="7" name="">
            <a:extLst xmlns:a="http://schemas.openxmlformats.org/drawingml/2006/main">
              <a:ext uri="{FF2B5EF4-FFF2-40B4-BE49-F238E27FC236}">
                <a16:creationId xmlns:a16="http://schemas.microsoft.com/office/drawing/2014/main" id="{687C154B-ECE9-4272-8213-43AED66CC93F}"/>
              </a:ext>
            </a:extLst>
          </p:cNvPr>
          <p:cNvSpPr>
            <a:spLocks xmlns:a="http://schemas.openxmlformats.org/drawingml/2006/main" noGrp="1"/>
          </p:cNvSpPr>
          <p:nvPr/>
        </p:nvSpPr>
        <p:spPr>
          <a:xfrm xmlns:a="http://schemas.openxmlformats.org/drawingml/2006/main">
            <a:off x="819150" y="2114550"/>
            <a:ext cx="2190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8A875"/>
                </a:solidFill>
                <a:latin typeface="Helvetica Neue"/>
                <a:ea typeface="Helvetica Neue"/>
                <a:cs typeface="Helvetica Neue"/>
              </a:defRPr>
            </a:pPr>
            <a:r>
              <a:rPr sz="1875" b="1">
                <a:solidFill>
                  <a:srgbClr val="18A875"/>
                </a:solidFill>
                <a:latin typeface="Helvetica Neue"/>
                <a:ea typeface="Helvetica Neue"/>
                <a:cs typeface="Helvetica Neue"/>
              </a:rPr>
              <a:t>Holo  +1.01 nats</a:t>
            </a:r>
          </a:p>
        </p:txBody>
      </p:sp>
      <p:sp>
        <p:nvSpPr>
          <p:cNvPr id="8" name="">
            <a:extLst xmlns:a="http://schemas.openxmlformats.org/drawingml/2006/main">
              <a:ext uri="{FF2B5EF4-FFF2-40B4-BE49-F238E27FC236}">
                <a16:creationId xmlns:a16="http://schemas.microsoft.com/office/drawing/2014/main" id="{EF801D8D-DD0E-4919-B37B-AEE954E43CEA}"/>
              </a:ext>
            </a:extLst>
          </p:cNvPr>
          <p:cNvSpPr>
            <a:spLocks xmlns:a="http://schemas.openxmlformats.org/drawingml/2006/main" noGrp="1"/>
          </p:cNvSpPr>
          <p:nvPr/>
        </p:nvSpPr>
        <p:spPr>
          <a:xfrm xmlns:a="http://schemas.openxmlformats.org/drawingml/2006/main">
            <a:off x="3162300" y="21145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75" b="1">
                <a:solidFill>
                  <a:srgbClr val="1C2733"/>
                </a:solidFill>
                <a:latin typeface="Helvetica Neue"/>
                <a:ea typeface="Helvetica Neue"/>
                <a:cs typeface="Helvetica Neue"/>
              </a:defRPr>
            </a:pPr>
            <a:r>
              <a:rPr sz="1875" b="1">
                <a:solidFill>
                  <a:srgbClr val="1C2733"/>
                </a:solidFill>
                <a:latin typeface="Helvetica Neue"/>
                <a:ea typeface="Helvetica Neue"/>
                <a:cs typeface="Helvetica Neue"/>
              </a:rPr>
              <a:t>Qwen  +0.10 nats</a:t>
            </a:r>
          </a:p>
        </p:txBody>
      </p:sp>
      <p:sp>
        <p:nvSpPr>
          <p:cNvPr id="9" name="">
            <a:extLst xmlns:a="http://schemas.openxmlformats.org/drawingml/2006/main">
              <a:ext uri="{FF2B5EF4-FFF2-40B4-BE49-F238E27FC236}">
                <a16:creationId xmlns:a16="http://schemas.microsoft.com/office/drawing/2014/main" id="{3972D8A6-4176-4126-BD00-73DB616B9736}"/>
              </a:ext>
            </a:extLst>
          </p:cNvPr>
          <p:cNvSpPr>
            <a:spLocks xmlns:a="http://schemas.openxmlformats.org/drawingml/2006/main" noGrp="1"/>
          </p:cNvSpPr>
          <p:nvPr/>
        </p:nvSpPr>
        <p:spPr>
          <a:xfrm xmlns:a="http://schemas.openxmlformats.org/drawingml/2006/main">
            <a:off x="819150" y="259080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Positive restoration: Holo 7/8 · Qwen 5/8 prompts</a:t>
            </a:r>
          </a:p>
        </p:txBody>
      </p:sp>
      <p:sp>
        <p:nvSpPr>
          <p:cNvPr id="10" name="">
            <a:extLst xmlns:a="http://schemas.openxmlformats.org/drawingml/2006/main">
              <a:ext uri="{FF2B5EF4-FFF2-40B4-BE49-F238E27FC236}">
                <a16:creationId xmlns:a16="http://schemas.microsoft.com/office/drawing/2014/main" id="{153A619E-D55B-4F0B-9164-FAA534FCF908}"/>
              </a:ext>
            </a:extLst>
          </p:cNvPr>
          <p:cNvSpPr>
            <a:spLocks xmlns:a="http://schemas.openxmlformats.org/drawingml/2006/main" noGrp="1"/>
          </p:cNvSpPr>
          <p:nvPr/>
        </p:nvSpPr>
        <p:spPr>
          <a:xfrm xmlns:a="http://schemas.openxmlformats.org/drawingml/2006/main">
            <a:off x="6076950" y="1524000"/>
            <a:ext cx="5505450" cy="1581150"/>
          </a:xfrm>
          <a:prstGeom xmlns:a="http://schemas.openxmlformats.org/drawingml/2006/main" prst="roundRect">
            <a:avLst>
              <a:gd name="adj" fmla="val 4819"/>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829A44C4-FACB-463E-9845-1BE9EB5FD6F7}"/>
              </a:ext>
            </a:extLst>
          </p:cNvPr>
          <p:cNvSpPr>
            <a:spLocks xmlns:a="http://schemas.openxmlformats.org/drawingml/2006/main" noGrp="1"/>
          </p:cNvSpPr>
          <p:nvPr/>
        </p:nvSpPr>
        <p:spPr>
          <a:xfrm xmlns:a="http://schemas.openxmlformats.org/drawingml/2006/main">
            <a:off x="6286500" y="1752600"/>
            <a:ext cx="4572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PAIRED HOLO − QWEN EFFECT</a:t>
            </a:r>
          </a:p>
        </p:txBody>
      </p:sp>
      <p:sp>
        <p:nvSpPr>
          <p:cNvPr id="12" name="">
            <a:extLst xmlns:a="http://schemas.openxmlformats.org/drawingml/2006/main">
              <a:ext uri="{FF2B5EF4-FFF2-40B4-BE49-F238E27FC236}">
                <a16:creationId xmlns:a16="http://schemas.microsoft.com/office/drawing/2014/main" id="{8EAB7625-FD48-47DF-8A5D-CECAA1F5D886}"/>
              </a:ext>
            </a:extLst>
          </p:cNvPr>
          <p:cNvSpPr>
            <a:spLocks xmlns:a="http://schemas.openxmlformats.org/drawingml/2006/main" noGrp="1"/>
          </p:cNvSpPr>
          <p:nvPr/>
        </p:nvSpPr>
        <p:spPr>
          <a:xfrm xmlns:a="http://schemas.openxmlformats.org/drawingml/2006/main">
            <a:off x="6286500" y="20574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2D84D3"/>
                </a:solidFill>
                <a:latin typeface="Helvetica Neue"/>
                <a:ea typeface="Helvetica Neue"/>
                <a:cs typeface="Helvetica Neue"/>
              </a:defRPr>
            </a:pPr>
            <a:r>
              <a:rPr sz="2850" b="1">
                <a:solidFill>
                  <a:srgbClr val="2D84D3"/>
                </a:solidFill>
                <a:latin typeface="Helvetica Neue"/>
                <a:ea typeface="Helvetica Neue"/>
                <a:cs typeface="Helvetica Neue"/>
              </a:rPr>
              <a:t>2.05×</a:t>
            </a:r>
          </a:p>
        </p:txBody>
      </p:sp>
      <p:sp>
        <p:nvSpPr>
          <p:cNvPr id="13" name="">
            <a:extLst xmlns:a="http://schemas.openxmlformats.org/drawingml/2006/main">
              <a:ext uri="{FF2B5EF4-FFF2-40B4-BE49-F238E27FC236}">
                <a16:creationId xmlns:a16="http://schemas.microsoft.com/office/drawing/2014/main" id="{8156022E-B1E6-4D09-8740-3629A7FC4BB4}"/>
              </a:ext>
            </a:extLst>
          </p:cNvPr>
          <p:cNvSpPr>
            <a:spLocks xmlns:a="http://schemas.openxmlformats.org/drawingml/2006/main" noGrp="1"/>
          </p:cNvSpPr>
          <p:nvPr/>
        </p:nvSpPr>
        <p:spPr>
          <a:xfrm xmlns:a="http://schemas.openxmlformats.org/drawingml/2006/main">
            <a:off x="7867650" y="21336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C2733"/>
                </a:solidFill>
                <a:latin typeface="Helvetica Neue"/>
                <a:ea typeface="Helvetica Neue"/>
                <a:cs typeface="Helvetica Neue"/>
              </a:defRPr>
            </a:pPr>
            <a:r>
              <a:rPr sz="1500" b="1">
                <a:solidFill>
                  <a:srgbClr val="1C2733"/>
                </a:solidFill>
                <a:latin typeface="Helvetica Neue"/>
                <a:ea typeface="Helvetica Neue"/>
                <a:cs typeface="Helvetica Neue"/>
              </a:rPr>
              <a:t>+105% likelihood-ratio recovery</a:t>
            </a:r>
          </a:p>
        </p:txBody>
      </p:sp>
      <p:sp>
        <p:nvSpPr>
          <p:cNvPr id="14" name="">
            <a:extLst xmlns:a="http://schemas.openxmlformats.org/drawingml/2006/main">
              <a:ext uri="{FF2B5EF4-FFF2-40B4-BE49-F238E27FC236}">
                <a16:creationId xmlns:a16="http://schemas.microsoft.com/office/drawing/2014/main" id="{92CCCFB8-C0B5-4CBA-9788-D13169BBE55F}"/>
              </a:ext>
            </a:extLst>
          </p:cNvPr>
          <p:cNvSpPr>
            <a:spLocks xmlns:a="http://schemas.openxmlformats.org/drawingml/2006/main" noGrp="1"/>
          </p:cNvSpPr>
          <p:nvPr/>
        </p:nvSpPr>
        <p:spPr>
          <a:xfrm xmlns:a="http://schemas.openxmlformats.org/drawingml/2006/main">
            <a:off x="6286500" y="26479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bootstrap 95% CI 1.74×–3.15× · exact paired p=0.0078</a:t>
            </a:r>
          </a:p>
        </p:txBody>
      </p:sp>
      <p:sp>
        <p:nvSpPr>
          <p:cNvPr id="15" name="">
            <a:extLst xmlns:a="http://schemas.openxmlformats.org/drawingml/2006/main">
              <a:ext uri="{FF2B5EF4-FFF2-40B4-BE49-F238E27FC236}">
                <a16:creationId xmlns:a16="http://schemas.microsoft.com/office/drawing/2014/main" id="{FA5581B5-DE75-45F0-9BA3-3A7C51CBD17A}"/>
              </a:ext>
            </a:extLst>
          </p:cNvPr>
          <p:cNvSpPr>
            <a:spLocks xmlns:a="http://schemas.openxmlformats.org/drawingml/2006/main" noGrp="1"/>
          </p:cNvSpPr>
          <p:nvPr/>
        </p:nvSpPr>
        <p:spPr>
          <a:xfrm xmlns:a="http://schemas.openxmlformats.org/drawingml/2006/main">
            <a:off x="609600" y="339090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WHAT THE INTERVENTIONS SHOW</a:t>
            </a:r>
          </a:p>
        </p:txBody>
      </p:sp>
      <p:sp>
        <p:nvSpPr>
          <p:cNvPr id="16" name="">
            <a:extLst xmlns:a="http://schemas.openxmlformats.org/drawingml/2006/main">
              <a:ext uri="{FF2B5EF4-FFF2-40B4-BE49-F238E27FC236}">
                <a16:creationId xmlns:a16="http://schemas.microsoft.com/office/drawing/2014/main" id="{790613FC-0FF3-4409-B064-66EC431E6641}"/>
              </a:ext>
            </a:extLst>
          </p:cNvPr>
          <p:cNvSpPr>
            <a:spLocks xmlns:a="http://schemas.openxmlformats.org/drawingml/2006/main" noGrp="1"/>
          </p:cNvSpPr>
          <p:nvPr/>
        </p:nvSpPr>
        <p:spPr>
          <a:xfrm xmlns:a="http://schemas.openxmlformats.org/drawingml/2006/main">
            <a:off x="609600" y="3657600"/>
            <a:ext cx="10972800" cy="533400"/>
          </a:xfrm>
          <a:prstGeom xmlns:a="http://schemas.openxmlformats.org/drawingml/2006/main" prst="roundRect">
            <a:avLst>
              <a:gd name="adj" fmla="val 14286"/>
            </a:avLst>
          </a:prstGeom>
          <a:solidFill xmlns:a="http://schemas.openxmlformats.org/drawingml/2006/main">
            <a:srgbClr val="DDEFE7"/>
          </a:solidFill>
          <a:ln xmlns:a="http://schemas.openxmlformats.org/drawingml/2006/main" w="9525">
            <a:solidFill>
              <a:srgbClr val="18A875"/>
            </a:solidFill>
          </a:ln>
        </p:spPr>
      </p:sp>
      <p:sp>
        <p:nvSpPr>
          <p:cNvPr id="17" name="">
            <a:extLst xmlns:a="http://schemas.openxmlformats.org/drawingml/2006/main">
              <a:ext uri="{FF2B5EF4-FFF2-40B4-BE49-F238E27FC236}">
                <a16:creationId xmlns:a16="http://schemas.microsoft.com/office/drawing/2014/main" id="{2A5C9A9D-75DD-4DFB-B641-ED52704E75D4}"/>
              </a:ext>
            </a:extLst>
          </p:cNvPr>
          <p:cNvSpPr>
            <a:spLocks xmlns:a="http://schemas.openxmlformats.org/drawingml/2006/main" noGrp="1"/>
          </p:cNvSpPr>
          <p:nvPr/>
        </p:nvSpPr>
        <p:spPr>
          <a:xfrm xmlns:a="http://schemas.openxmlformats.org/drawingml/2006/main">
            <a:off x="781050" y="3781425"/>
            <a:ext cx="2857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56EE289-8294-4B21-95E3-FBD0C8D97258}"/>
              </a:ext>
            </a:extLst>
          </p:cNvPr>
          <p:cNvSpPr>
            <a:spLocks xmlns:a="http://schemas.openxmlformats.org/drawingml/2006/main" noGrp="1"/>
          </p:cNvSpPr>
          <p:nvPr/>
        </p:nvSpPr>
        <p:spPr>
          <a:xfrm xmlns:a="http://schemas.openxmlformats.org/drawingml/2006/main">
            <a:off x="876300" y="38004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19" name="">
            <a:extLst xmlns:a="http://schemas.openxmlformats.org/drawingml/2006/main">
              <a:ext uri="{FF2B5EF4-FFF2-40B4-BE49-F238E27FC236}">
                <a16:creationId xmlns:a16="http://schemas.microsoft.com/office/drawing/2014/main" id="{322997D9-6CC5-4B4C-978B-BCE8D97BA5D9}"/>
              </a:ext>
            </a:extLst>
          </p:cNvPr>
          <p:cNvSpPr>
            <a:spLocks xmlns:a="http://schemas.openxmlformats.org/drawingml/2006/main" noGrp="1"/>
          </p:cNvSpPr>
          <p:nvPr/>
        </p:nvSpPr>
        <p:spPr>
          <a:xfrm xmlns:a="http://schemas.openxmlformats.org/drawingml/2006/main">
            <a:off x="1257300" y="37528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Paired margin</a:t>
            </a:r>
          </a:p>
        </p:txBody>
      </p:sp>
      <p:sp>
        <p:nvSpPr>
          <p:cNvPr id="20" name="">
            <a:extLst xmlns:a="http://schemas.openxmlformats.org/drawingml/2006/main">
              <a:ext uri="{FF2B5EF4-FFF2-40B4-BE49-F238E27FC236}">
                <a16:creationId xmlns:a16="http://schemas.microsoft.com/office/drawing/2014/main" id="{0B12A87D-3FC5-4C94-89D8-F1B034A2BAE3}"/>
              </a:ext>
            </a:extLst>
          </p:cNvPr>
          <p:cNvSpPr>
            <a:spLocks xmlns:a="http://schemas.openxmlformats.org/drawingml/2006/main" noGrp="1"/>
          </p:cNvSpPr>
          <p:nvPr/>
        </p:nvSpPr>
        <p:spPr>
          <a:xfrm xmlns:a="http://schemas.openxmlformats.org/drawingml/2006/main">
            <a:off x="3752850" y="37338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The median Holo-minus-Qwen restoration is +0.72 nats; every prompt uses identical clean/corrupt images and candidate strings.</a:t>
            </a:r>
          </a:p>
        </p:txBody>
      </p:sp>
      <p:sp>
        <p:nvSpPr>
          <p:cNvPr id="21" name="">
            <a:extLst xmlns:a="http://schemas.openxmlformats.org/drawingml/2006/main">
              <a:ext uri="{FF2B5EF4-FFF2-40B4-BE49-F238E27FC236}">
                <a16:creationId xmlns:a16="http://schemas.microsoft.com/office/drawing/2014/main" id="{3774DDA1-AC5F-4A1A-904E-7DEFBE806282}"/>
              </a:ext>
            </a:extLst>
          </p:cNvPr>
          <p:cNvSpPr>
            <a:spLocks xmlns:a="http://schemas.openxmlformats.org/drawingml/2006/main" noGrp="1"/>
          </p:cNvSpPr>
          <p:nvPr/>
        </p:nvSpPr>
        <p:spPr>
          <a:xfrm xmlns:a="http://schemas.openxmlformats.org/drawingml/2006/main">
            <a:off x="609600" y="4343400"/>
            <a:ext cx="10972800" cy="533400"/>
          </a:xfrm>
          <a:prstGeom xmlns:a="http://schemas.openxmlformats.org/drawingml/2006/main" prst="roundRect">
            <a:avLst>
              <a:gd name="adj" fmla="val 14286"/>
            </a:avLst>
          </a:prstGeom>
          <a:solidFill xmlns:a="http://schemas.openxmlformats.org/drawingml/2006/main">
            <a:srgbClr val="E9EDF1"/>
          </a:solidFill>
          <a:ln xmlns:a="http://schemas.openxmlformats.org/drawingml/2006/main" w="9525">
            <a:solidFill>
              <a:srgbClr val="1C2733"/>
            </a:solidFill>
          </a:ln>
        </p:spPr>
      </p:sp>
      <p:sp>
        <p:nvSpPr>
          <p:cNvPr id="22" name="">
            <a:extLst xmlns:a="http://schemas.openxmlformats.org/drawingml/2006/main">
              <a:ext uri="{FF2B5EF4-FFF2-40B4-BE49-F238E27FC236}">
                <a16:creationId xmlns:a16="http://schemas.microsoft.com/office/drawing/2014/main" id="{C78D0491-974F-4B96-BBF7-717D27263280}"/>
              </a:ext>
            </a:extLst>
          </p:cNvPr>
          <p:cNvSpPr>
            <a:spLocks xmlns:a="http://schemas.openxmlformats.org/drawingml/2006/main" noGrp="1"/>
          </p:cNvSpPr>
          <p:nvPr/>
        </p:nvSpPr>
        <p:spPr>
          <a:xfrm xmlns:a="http://schemas.openxmlformats.org/drawingml/2006/main">
            <a:off x="781050" y="4467225"/>
            <a:ext cx="2857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5684F33-4B73-4A97-9B4F-2462AB5DD869}"/>
              </a:ext>
            </a:extLst>
          </p:cNvPr>
          <p:cNvSpPr>
            <a:spLocks xmlns:a="http://schemas.openxmlformats.org/drawingml/2006/main" noGrp="1"/>
          </p:cNvSpPr>
          <p:nvPr/>
        </p:nvSpPr>
        <p:spPr>
          <a:xfrm xmlns:a="http://schemas.openxmlformats.org/drawingml/2006/main">
            <a:off x="876300" y="44862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8036252D-84B6-433F-AEC2-0C0251EC682D}"/>
              </a:ext>
            </a:extLst>
          </p:cNvPr>
          <p:cNvSpPr>
            <a:spLocks xmlns:a="http://schemas.openxmlformats.org/drawingml/2006/main" noGrp="1"/>
          </p:cNvSpPr>
          <p:nvPr/>
        </p:nvSpPr>
        <p:spPr>
          <a:xfrm xmlns:a="http://schemas.openxmlformats.org/drawingml/2006/main">
            <a:off x="1257300" y="44386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C2733"/>
                </a:solidFill>
                <a:latin typeface="Helvetica Neue"/>
                <a:ea typeface="Helvetica Neue"/>
                <a:cs typeface="Helvetica Neue"/>
              </a:defRPr>
            </a:pPr>
            <a:r>
              <a:rPr sz="1125" b="1">
                <a:solidFill>
                  <a:srgbClr val="1C2733"/>
                </a:solidFill>
                <a:latin typeface="Helvetica Neue"/>
                <a:ea typeface="Helvetica Neue"/>
                <a:cs typeface="Helvetica Neue"/>
              </a:rPr>
              <a:t>Shared necessity</a:t>
            </a:r>
          </a:p>
        </p:txBody>
      </p:sp>
      <p:sp>
        <p:nvSpPr>
          <p:cNvPr id="25" name="">
            <a:extLst xmlns:a="http://schemas.openxmlformats.org/drawingml/2006/main">
              <a:ext uri="{FF2B5EF4-FFF2-40B4-BE49-F238E27FC236}">
                <a16:creationId xmlns:a16="http://schemas.microsoft.com/office/drawing/2014/main" id="{DEB83CE3-DE5D-4E54-9DD8-A114CB56E29D}"/>
              </a:ext>
            </a:extLst>
          </p:cNvPr>
          <p:cNvSpPr>
            <a:spLocks xmlns:a="http://schemas.openxmlformats.org/drawingml/2006/main" noGrp="1"/>
          </p:cNvSpPr>
          <p:nvPr/>
        </p:nvSpPr>
        <p:spPr>
          <a:xfrm xmlns:a="http://schemas.openxmlformats.org/drawingml/2006/main">
            <a:off x="3752850" y="44196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Setting the Layer 15 coordinate state to zero in a clean run costs 4.51 nats for Holo and 6.27 for Qwen: both checkpoints rely on it.</a:t>
            </a:r>
          </a:p>
        </p:txBody>
      </p:sp>
      <p:sp>
        <p:nvSpPr>
          <p:cNvPr id="26" name="">
            <a:extLst xmlns:a="http://schemas.openxmlformats.org/drawingml/2006/main">
              <a:ext uri="{FF2B5EF4-FFF2-40B4-BE49-F238E27FC236}">
                <a16:creationId xmlns:a16="http://schemas.microsoft.com/office/drawing/2014/main" id="{A0919B73-D85C-4A75-8EB0-EFFCE71AAD30}"/>
              </a:ext>
            </a:extLst>
          </p:cNvPr>
          <p:cNvSpPr>
            <a:spLocks xmlns:a="http://schemas.openxmlformats.org/drawingml/2006/main" noGrp="1"/>
          </p:cNvSpPr>
          <p:nvPr/>
        </p:nvSpPr>
        <p:spPr>
          <a:xfrm xmlns:a="http://schemas.openxmlformats.org/drawingml/2006/main">
            <a:off x="609600" y="5029200"/>
            <a:ext cx="10972800" cy="533400"/>
          </a:xfrm>
          <a:prstGeom xmlns:a="http://schemas.openxmlformats.org/drawingml/2006/main" prst="roundRect">
            <a:avLst>
              <a:gd name="adj" fmla="val 14286"/>
            </a:avLst>
          </a:prstGeom>
          <a:solidFill xmlns:a="http://schemas.openxmlformats.org/drawingml/2006/main">
            <a:srgbClr val="FCE2D9"/>
          </a:solidFill>
          <a:ln xmlns:a="http://schemas.openxmlformats.org/drawingml/2006/main" w="9525">
            <a:solidFill>
              <a:srgbClr val="F05A3C"/>
            </a:solidFill>
          </a:ln>
        </p:spPr>
      </p:sp>
      <p:sp>
        <p:nvSpPr>
          <p:cNvPr id="27" name="">
            <a:extLst xmlns:a="http://schemas.openxmlformats.org/drawingml/2006/main">
              <a:ext uri="{FF2B5EF4-FFF2-40B4-BE49-F238E27FC236}">
                <a16:creationId xmlns:a16="http://schemas.microsoft.com/office/drawing/2014/main" id="{65E3197C-5F71-4E30-ADAB-9DA26720C393}"/>
              </a:ext>
            </a:extLst>
          </p:cNvPr>
          <p:cNvSpPr>
            <a:spLocks xmlns:a="http://schemas.openxmlformats.org/drawingml/2006/main" noGrp="1"/>
          </p:cNvSpPr>
          <p:nvPr/>
        </p:nvSpPr>
        <p:spPr>
          <a:xfrm xmlns:a="http://schemas.openxmlformats.org/drawingml/2006/main">
            <a:off x="781050" y="5153025"/>
            <a:ext cx="285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01949CC-CB36-49FC-B949-D6232A3E50AC}"/>
              </a:ext>
            </a:extLst>
          </p:cNvPr>
          <p:cNvSpPr>
            <a:spLocks xmlns:a="http://schemas.openxmlformats.org/drawingml/2006/main" noGrp="1"/>
          </p:cNvSpPr>
          <p:nvPr/>
        </p:nvSpPr>
        <p:spPr>
          <a:xfrm xmlns:a="http://schemas.openxmlformats.org/drawingml/2006/main">
            <a:off x="876300" y="5172075"/>
            <a:ext cx="9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D3031118-4045-4C26-859B-EF7B62B5138F}"/>
              </a:ext>
            </a:extLst>
          </p:cNvPr>
          <p:cNvSpPr>
            <a:spLocks xmlns:a="http://schemas.openxmlformats.org/drawingml/2006/main" noGrp="1"/>
          </p:cNvSpPr>
          <p:nvPr/>
        </p:nvSpPr>
        <p:spPr>
          <a:xfrm xmlns:a="http://schemas.openxmlformats.org/drawingml/2006/main">
            <a:off x="1257300" y="512445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5A3C"/>
                </a:solidFill>
                <a:latin typeface="Helvetica Neue"/>
                <a:ea typeface="Helvetica Neue"/>
                <a:cs typeface="Helvetica Neue"/>
              </a:defRPr>
            </a:pPr>
            <a:r>
              <a:rPr sz="1125" b="1">
                <a:solidFill>
                  <a:srgbClr val="F05A3C"/>
                </a:solidFill>
                <a:latin typeface="Helvetica Neue"/>
                <a:ea typeface="Helvetica Neue"/>
                <a:cs typeface="Helvetica Neue"/>
              </a:rPr>
              <a:t>Distributed mechanism</a:t>
            </a:r>
          </a:p>
        </p:txBody>
      </p:sp>
      <p:sp>
        <p:nvSpPr>
          <p:cNvPr id="30" name="">
            <a:extLst xmlns:a="http://schemas.openxmlformats.org/drawingml/2006/main">
              <a:ext uri="{FF2B5EF4-FFF2-40B4-BE49-F238E27FC236}">
                <a16:creationId xmlns:a16="http://schemas.microsoft.com/office/drawing/2014/main" id="{765E7BDC-B6B3-4B12-B7DE-BEB68196D81B}"/>
              </a:ext>
            </a:extLst>
          </p:cNvPr>
          <p:cNvSpPr>
            <a:spLocks xmlns:a="http://schemas.openxmlformats.org/drawingml/2006/main" noGrp="1"/>
          </p:cNvSpPr>
          <p:nvPr/>
        </p:nvSpPr>
        <p:spPr>
          <a:xfrm xmlns:a="http://schemas.openxmlformats.org/drawingml/2006/main">
            <a:off x="3752850" y="5105400"/>
            <a:ext cx="7581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10151C"/>
                </a:solidFill>
                <a:latin typeface="Helvetica Neue"/>
                <a:ea typeface="Helvetica Neue"/>
                <a:cs typeface="Helvetica Neue"/>
              </a:defRPr>
            </a:pPr>
            <a:r>
              <a:rPr sz="1050" b="0">
                <a:solidFill>
                  <a:srgbClr val="10151C"/>
                </a:solidFill>
                <a:latin typeface="Helvetica Neue"/>
                <a:ea typeface="Helvetica Neue"/>
                <a:cs typeface="Helvetica Neue"/>
              </a:rPr>
              <a:t>All 16 heads were tested. No single head explains the checkpoint difference; the recoverable effect is distributed in the residual state.</a:t>
            </a:r>
          </a:p>
        </p:txBody>
      </p:sp>
      <p:sp>
        <p:nvSpPr>
          <p:cNvPr id="31" name="">
            <a:extLst xmlns:a="http://schemas.openxmlformats.org/drawingml/2006/main">
              <a:ext uri="{FF2B5EF4-FFF2-40B4-BE49-F238E27FC236}">
                <a16:creationId xmlns:a16="http://schemas.microsoft.com/office/drawing/2014/main" id="{4E531905-1702-4A49-9D95-43F5E4D644AC}"/>
              </a:ext>
            </a:extLst>
          </p:cNvPr>
          <p:cNvSpPr>
            <a:spLocks xmlns:a="http://schemas.openxmlformats.org/drawingml/2006/main" noGrp="1"/>
          </p:cNvSpPr>
          <p:nvPr/>
        </p:nvSpPr>
        <p:spPr>
          <a:xfrm xmlns:a="http://schemas.openxmlformats.org/drawingml/2006/main">
            <a:off x="609600" y="5829300"/>
            <a:ext cx="10972800" cy="400050"/>
          </a:xfrm>
          <a:prstGeom xmlns:a="http://schemas.openxmlformats.org/drawingml/2006/main" prst="roundRect">
            <a:avLst>
              <a:gd name="adj" fmla="val 19048"/>
            </a:avLst>
          </a:prstGeom>
          <a:solidFill xmlns:a="http://schemas.openxmlformats.org/drawingml/2006/main">
            <a:srgbClr val="1C2733"/>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632E7C92-AF93-4F94-AD0D-5CC49A12D7C2}"/>
              </a:ext>
            </a:extLst>
          </p:cNvPr>
          <p:cNvSpPr>
            <a:spLocks xmlns:a="http://schemas.openxmlformats.org/drawingml/2006/main" noGrp="1"/>
          </p:cNvSpPr>
          <p:nvPr/>
        </p:nvSpPr>
        <p:spPr>
          <a:xfrm xmlns:a="http://schemas.openxmlformats.org/drawingml/2006/main">
            <a:off x="800100" y="5924550"/>
            <a:ext cx="10591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Fine-tuning strengthens recoverable action state; it does not create a Holo-only coordinate circuit.</a:t>
            </a:r>
          </a:p>
        </p:txBody>
      </p:sp>
      <p:sp>
        <p:nvSpPr>
          <p:cNvPr id="33" name="">
            <a:extLst xmlns:a="http://schemas.openxmlformats.org/drawingml/2006/main">
              <a:ext uri="{FF2B5EF4-FFF2-40B4-BE49-F238E27FC236}">
                <a16:creationId xmlns:a16="http://schemas.microsoft.com/office/drawing/2014/main" id="{E4286E66-8A00-47E7-918C-86CF678D56C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5FBCC8A-2E84-4CDE-B93B-3B4ACB21F01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Exploratory n=8 within-image panel · paired bootstrap and all 256 sign flips · not an independent-image benchmark</a:t>
            </a:r>
          </a:p>
        </p:txBody>
      </p:sp>
    </p:spTree>
    <p:extLst>
      <p:ext uri="{BB962C8B-B14F-4D97-AF65-F5344CB8AC3E}">
        <p14:creationId xmlns:p14="http://schemas.microsoft.com/office/powerpoint/2010/main" val="1476825789"/>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CB51EA9-1AFA-4C18-98E1-DCFCE8005AF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NEXT TESTS</a:t>
            </a:r>
          </a:p>
        </p:txBody>
      </p:sp>
      <p:sp>
        <p:nvSpPr>
          <p:cNvPr id="2" name="">
            <a:extLst xmlns:a="http://schemas.openxmlformats.org/drawingml/2006/main">
              <a:ext uri="{FF2B5EF4-FFF2-40B4-BE49-F238E27FC236}">
                <a16:creationId xmlns:a16="http://schemas.microsoft.com/office/drawing/2014/main" id="{10250B6A-7636-42C1-B56F-9DC7B7318C2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Completed evidence narrows the next experiments</a:t>
            </a:r>
          </a:p>
        </p:txBody>
      </p:sp>
      <p:sp>
        <p:nvSpPr>
          <p:cNvPr id="3" name="">
            <a:extLst xmlns:a="http://schemas.openxmlformats.org/drawingml/2006/main">
              <a:ext uri="{FF2B5EF4-FFF2-40B4-BE49-F238E27FC236}">
                <a16:creationId xmlns:a16="http://schemas.microsoft.com/office/drawing/2014/main" id="{1E450C04-3D41-4256-AB27-933831415D3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77A36962-438B-4E19-9FD9-40398068EA9C}"/>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8C6D30EA-0057-40D2-811B-C000A325E19F}"/>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2421D71-806A-4A92-A0D8-917777B93DD5}"/>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4F070B41-30B8-487C-9AB7-46C5F39D0F12}"/>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6E93C34-6D82-44A4-9EAA-B81155A341A2}"/>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TOKEN GRID VS RESAMPLING</a:t>
            </a:r>
          </a:p>
        </p:txBody>
      </p:sp>
      <p:sp>
        <p:nvSpPr>
          <p:cNvPr id="9" name="">
            <a:extLst xmlns:a="http://schemas.openxmlformats.org/drawingml/2006/main">
              <a:ext uri="{FF2B5EF4-FFF2-40B4-BE49-F238E27FC236}">
                <a16:creationId xmlns:a16="http://schemas.microsoft.com/office/drawing/2014/main" id="{8F0F01B8-28DE-4E61-AF29-8F08FE067760}"/>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Hold the visual-token grid fixed while varying blur and resampling, then vary grid size with matched image content.</a:t>
            </a:r>
          </a:p>
        </p:txBody>
      </p:sp>
      <p:sp>
        <p:nvSpPr>
          <p:cNvPr id="10" name="">
            <a:extLst xmlns:a="http://schemas.openxmlformats.org/drawingml/2006/main">
              <a:ext uri="{FF2B5EF4-FFF2-40B4-BE49-F238E27FC236}">
                <a16:creationId xmlns:a16="http://schemas.microsoft.com/office/drawing/2014/main" id="{8A253436-0844-42EC-B057-4839EA7BE406}"/>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7718F966-A274-4648-9787-C83FDC2394E6}"/>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0A004AB-D39D-4E07-9EC2-739D2D5D95B3}"/>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1208309C-CCC4-4E79-BC8B-B7D3A5F251FB}"/>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500F1B7-2281-4392-AAED-7F350DF7F091}"/>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HELD-OUT CAUSAL GENERALIZATION</a:t>
            </a:r>
          </a:p>
        </p:txBody>
      </p:sp>
      <p:sp>
        <p:nvSpPr>
          <p:cNvPr id="15" name="">
            <a:extLst xmlns:a="http://schemas.openxmlformats.org/drawingml/2006/main">
              <a:ext uri="{FF2B5EF4-FFF2-40B4-BE49-F238E27FC236}">
                <a16:creationId xmlns:a16="http://schemas.microsoft.com/office/drawing/2014/main" id="{5BE51A05-E505-4524-B106-AF14D3707EBB}"/>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Repeat the Layer 15 clean-state patch on independent screenshots, applications, and layouts with a preregistered paired test.</a:t>
            </a:r>
          </a:p>
        </p:txBody>
      </p:sp>
      <p:sp>
        <p:nvSpPr>
          <p:cNvPr id="16" name="">
            <a:extLst xmlns:a="http://schemas.openxmlformats.org/drawingml/2006/main">
              <a:ext uri="{FF2B5EF4-FFF2-40B4-BE49-F238E27FC236}">
                <a16:creationId xmlns:a16="http://schemas.microsoft.com/office/drawing/2014/main" id="{0E357EBF-BEDD-4B29-B9E3-72623C1C217C}"/>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38658452-488F-4818-AC30-05E718D33DD0}"/>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6227FEA-81CB-4E58-A51E-34E7B1BD7BD2}"/>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741BF538-19FE-4D62-BB50-08D7E2B5CAE6}"/>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DDEFE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111B5B11-2919-43BA-9BD9-95CD1010AF23}"/>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CONTROL-CORRECTED VISUAL MEMORY</a:t>
            </a:r>
          </a:p>
        </p:txBody>
      </p:sp>
      <p:sp>
        <p:nvSpPr>
          <p:cNvPr id="21" name="">
            <a:extLst xmlns:a="http://schemas.openxmlformats.org/drawingml/2006/main">
              <a:ext uri="{FF2B5EF4-FFF2-40B4-BE49-F238E27FC236}">
                <a16:creationId xmlns:a16="http://schemas.microsoft.com/office/drawing/2014/main" id="{3A6A3465-5330-4D6C-8E1E-AE4538B628AC}"/>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Add same-image alternate-instruction controls to the matched hotel history, then remove or patch retained frames at the final click.</a:t>
            </a:r>
          </a:p>
        </p:txBody>
      </p:sp>
      <p:sp>
        <p:nvSpPr>
          <p:cNvPr id="22" name="">
            <a:extLst xmlns:a="http://schemas.openxmlformats.org/drawingml/2006/main">
              <a:ext uri="{FF2B5EF4-FFF2-40B4-BE49-F238E27FC236}">
                <a16:creationId xmlns:a16="http://schemas.microsoft.com/office/drawing/2014/main" id="{C0530BA0-F88A-4A77-9852-4349C47B5CEE}"/>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8E4A6B56-CD96-45C9-838C-B4E829727006}"/>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B2F3383-2525-4930-B446-41E10E393F10}"/>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DD56F1A9-299D-4B3E-BD71-142931812459}"/>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A0C838D-5DCC-4FFA-BF22-55966EDD4C92}"/>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STOPPING AND ACTION ABLATION</a:t>
            </a:r>
          </a:p>
        </p:txBody>
      </p:sp>
      <p:sp>
        <p:nvSpPr>
          <p:cNvPr id="27" name="">
            <a:extLst xmlns:a="http://schemas.openxmlformats.org/drawingml/2006/main">
              <a:ext uri="{FF2B5EF4-FFF2-40B4-BE49-F238E27FC236}">
                <a16:creationId xmlns:a16="http://schemas.microsoft.com/office/drawing/2014/main" id="{FDA3A480-2B2B-4055-87F3-0C59FB67458D}"/>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Cross checkpoint, tool-call contract, and action budget to separate coordinate policy from continued scrolling and premature clicks.</a:t>
            </a:r>
          </a:p>
        </p:txBody>
      </p:sp>
      <p:sp>
        <p:nvSpPr>
          <p:cNvPr id="28" name="">
            <a:extLst xmlns:a="http://schemas.openxmlformats.org/drawingml/2006/main">
              <a:ext uri="{FF2B5EF4-FFF2-40B4-BE49-F238E27FC236}">
                <a16:creationId xmlns:a16="http://schemas.microsoft.com/office/drawing/2014/main" id="{04CD4401-45A1-4A7E-A4BA-B7DA08178001}"/>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AEF101B-8217-476A-A905-327CE4562232}"/>
              </a:ext>
            </a:extLst>
          </p:cNvPr>
          <p:cNvSpPr>
            <a:spLocks xmlns:a="http://schemas.openxmlformats.org/drawingml/2006/main" noGrp="1"/>
          </p:cNvSpPr>
          <p:nvPr/>
        </p:nvSpPr>
        <p:spPr>
          <a:xfrm xmlns:a="http://schemas.openxmlformats.org/drawingml/2006/main">
            <a:off x="857250" y="5429250"/>
            <a:ext cx="1809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COMPLETED EVIDENCE</a:t>
            </a:r>
          </a:p>
        </p:txBody>
      </p:sp>
      <p:sp>
        <p:nvSpPr>
          <p:cNvPr id="30" name="">
            <a:extLst xmlns:a="http://schemas.openxmlformats.org/drawingml/2006/main">
              <a:ext uri="{FF2B5EF4-FFF2-40B4-BE49-F238E27FC236}">
                <a16:creationId xmlns:a16="http://schemas.microsoft.com/office/drawing/2014/main" id="{441687FE-2DC1-45B5-8022-13365B5CFEF5}"/>
              </a:ext>
            </a:extLst>
          </p:cNvPr>
          <p:cNvSpPr>
            <a:spLocks xmlns:a="http://schemas.openxmlformats.org/drawingml/2006/main" noGrp="1"/>
          </p:cNvSpPr>
          <p:nvPr/>
        </p:nvSpPr>
        <p:spPr>
          <a:xfrm xmlns:a="http://schemas.openxmlformats.org/drawingml/2006/main">
            <a:off x="2724150" y="53721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Resolution attribution, one matched hotel trajectory, and the Layer 15 causal panel</a:t>
            </a:r>
          </a:p>
        </p:txBody>
      </p:sp>
      <p:sp>
        <p:nvSpPr>
          <p:cNvPr id="31" name="">
            <a:extLst xmlns:a="http://schemas.openxmlformats.org/drawingml/2006/main">
              <a:ext uri="{FF2B5EF4-FFF2-40B4-BE49-F238E27FC236}">
                <a16:creationId xmlns:a16="http://schemas.microsoft.com/office/drawing/2014/main" id="{198DF33A-6BD3-4C63-98E4-5C817003D041}"/>
              </a:ext>
            </a:extLst>
          </p:cNvPr>
          <p:cNvSpPr>
            <a:spLocks xmlns:a="http://schemas.openxmlformats.org/drawingml/2006/main" noGrp="1"/>
          </p:cNvSpPr>
          <p:nvPr/>
        </p:nvSpPr>
        <p:spPr>
          <a:xfrm xmlns:a="http://schemas.openxmlformats.org/drawingml/2006/main">
            <a:off x="2724150" y="5724525"/>
            <a:ext cx="8096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0">
                <a:solidFill>
                  <a:srgbClr val="B9C3CD"/>
                </a:solidFill>
                <a:latin typeface="Helvetica Neue"/>
                <a:ea typeface="Helvetica Neue"/>
                <a:cs typeface="Helvetica Neue"/>
              </a:defRPr>
            </a:pPr>
            <a:r>
              <a:rPr sz="975" b="0">
                <a:solidFill>
                  <a:srgbClr val="B9C3CD"/>
                </a:solidFill>
                <a:latin typeface="Helvetica Neue"/>
                <a:ea typeface="Helvetica Neue"/>
                <a:cs typeface="Helvetica Neue"/>
              </a:rPr>
              <a:t>The next experiments isolate image sampling, output contracts, visual memory, and held-out generalization.</a:t>
            </a:r>
          </a:p>
        </p:txBody>
      </p:sp>
      <p:sp>
        <p:nvSpPr>
          <p:cNvPr id="32" name="">
            <a:extLst xmlns:a="http://schemas.openxmlformats.org/drawingml/2006/main">
              <a:ext uri="{FF2B5EF4-FFF2-40B4-BE49-F238E27FC236}">
                <a16:creationId xmlns:a16="http://schemas.microsoft.com/office/drawing/2014/main" id="{B49FA760-161F-4EB9-938E-A6E59962195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E1D3270-B01B-4E3A-801E-B681FA63822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Mechanism claims now require controlled interventions beyond the completed cohorts</a:t>
            </a:r>
          </a:p>
        </p:txBody>
      </p:sp>
    </p:spTree>
    <p:extLst>
      <p:ext uri="{BB962C8B-B14F-4D97-AF65-F5344CB8AC3E}">
        <p14:creationId xmlns:p14="http://schemas.microsoft.com/office/powerpoint/2010/main" val="1774820532"/>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0E0073E-2147-4263-9EB7-283F66009E80}"/>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KEY TAKEAWAYS</a:t>
            </a:r>
          </a:p>
        </p:txBody>
      </p:sp>
      <p:sp>
        <p:nvSpPr>
          <p:cNvPr id="2" name="">
            <a:extLst xmlns:a="http://schemas.openxmlformats.org/drawingml/2006/main">
              <a:ext uri="{FF2B5EF4-FFF2-40B4-BE49-F238E27FC236}">
                <a16:creationId xmlns:a16="http://schemas.microsoft.com/office/drawing/2014/main" id="{F338B90E-E908-453A-930F-852600B605A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63596"/>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Resolution shapes grounding</a:t>
            </a:r>
          </a:p>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Fine-tuning strengthens recoverable action state</a:t>
            </a:r>
          </a:p>
        </p:txBody>
      </p:sp>
      <p:sp>
        <p:nvSpPr>
          <p:cNvPr id="3" name="">
            <a:extLst xmlns:a="http://schemas.openxmlformats.org/drawingml/2006/main">
              <a:ext uri="{FF2B5EF4-FFF2-40B4-BE49-F238E27FC236}">
                <a16:creationId xmlns:a16="http://schemas.microsoft.com/office/drawing/2014/main" id="{319BF183-3C0C-416D-8CC2-27120FEBF64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6EE5A860-DF04-4EC8-8AD5-649C2C5B7BB6}"/>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3724FB-EE67-4BA0-8B29-46441C2EFD14}"/>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9C0AFEE2-37D2-420A-AD18-86D63DDFDA76}"/>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Resolution changes grounding</a:t>
            </a:r>
          </a:p>
        </p:txBody>
      </p:sp>
      <p:sp>
        <p:nvSpPr>
          <p:cNvPr id="7" name="">
            <a:extLst xmlns:a="http://schemas.openxmlformats.org/drawingml/2006/main">
              <a:ext uri="{FF2B5EF4-FFF2-40B4-BE49-F238E27FC236}">
                <a16:creationId xmlns:a16="http://schemas.microsoft.com/office/drawing/2014/main" id="{838F46F2-1B49-4D8F-AE45-F965A9A67D9A}"/>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Only 4 of 36 clicks survive; cohort target mass falls 24× at quarter resolution.</a:t>
            </a:r>
          </a:p>
        </p:txBody>
      </p:sp>
      <p:sp>
        <p:nvSpPr>
          <p:cNvPr id="8" name="">
            <a:extLst xmlns:a="http://schemas.openxmlformats.org/drawingml/2006/main">
              <a:ext uri="{FF2B5EF4-FFF2-40B4-BE49-F238E27FC236}">
                <a16:creationId xmlns:a16="http://schemas.microsoft.com/office/drawing/2014/main" id="{E29284F9-AFF1-4C41-B261-07C54860497A}"/>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817AD42-76B3-40CB-9BA5-0E987C186EBD}"/>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5B095116-F73F-4CE9-BC1D-AE0D8307D32A}"/>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Attention can outlive the click</a:t>
            </a:r>
          </a:p>
        </p:txBody>
      </p:sp>
      <p:sp>
        <p:nvSpPr>
          <p:cNvPr id="11" name="">
            <a:extLst xmlns:a="http://schemas.openxmlformats.org/drawingml/2006/main">
              <a:ext uri="{FF2B5EF4-FFF2-40B4-BE49-F238E27FC236}">
                <a16:creationId xmlns:a16="http://schemas.microsoft.com/office/drawing/2014/main" id="{9CC095AB-2657-49E6-871A-66D06D6FEE89}"/>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Across reduced-resolution runs, 7 of 29 misses still rank the oracle patch first.</a:t>
            </a:r>
          </a:p>
        </p:txBody>
      </p:sp>
      <p:sp>
        <p:nvSpPr>
          <p:cNvPr id="12" name="">
            <a:extLst xmlns:a="http://schemas.openxmlformats.org/drawingml/2006/main">
              <a:ext uri="{FF2B5EF4-FFF2-40B4-BE49-F238E27FC236}">
                <a16:creationId xmlns:a16="http://schemas.microsoft.com/office/drawing/2014/main" id="{4D5DA856-9E7B-4F38-92B4-E965746D659D}"/>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DAF2BF5-CF06-4DBA-9FD8-61F6F4894373}"/>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E94C520A-EE5F-47C1-B8DE-477D5FBC8169}"/>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Stopping differs in one matched case</a:t>
            </a:r>
          </a:p>
        </p:txBody>
      </p:sp>
      <p:sp>
        <p:nvSpPr>
          <p:cNvPr id="15" name="">
            <a:extLst xmlns:a="http://schemas.openxmlformats.org/drawingml/2006/main">
              <a:ext uri="{FF2B5EF4-FFF2-40B4-BE49-F238E27FC236}">
                <a16:creationId xmlns:a16="http://schemas.microsoft.com/office/drawing/2014/main" id="{8DBD7C4C-3CE8-4B51-810A-E16C90F4AEA4}"/>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Both models track €166. Holo clicks after two scrolls, while Qwen keeps searching until the action cap.</a:t>
            </a:r>
          </a:p>
        </p:txBody>
      </p:sp>
      <p:sp>
        <p:nvSpPr>
          <p:cNvPr id="16" name="">
            <a:extLst xmlns:a="http://schemas.openxmlformats.org/drawingml/2006/main">
              <a:ext uri="{FF2B5EF4-FFF2-40B4-BE49-F238E27FC236}">
                <a16:creationId xmlns:a16="http://schemas.microsoft.com/office/drawing/2014/main" id="{069B0AA1-12B4-4DAB-BE5A-BFE3E2CD6851}"/>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FEC6E5-F13A-4677-9E79-33DB205AB7C7}"/>
              </a:ext>
            </a:extLst>
          </p:cNvPr>
          <p:cNvSpPr>
            <a:spLocks xmlns:a="http://schemas.openxmlformats.org/drawingml/2006/main" noGrp="1"/>
          </p:cNvSpPr>
          <p:nvPr/>
        </p:nvSpPr>
        <p:spPr>
          <a:xfrm xmlns:a="http://schemas.openxmlformats.org/drawingml/2006/main">
            <a:off x="643890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WHAT THE CAUSAL PANEL ADDS</a:t>
            </a:r>
          </a:p>
        </p:txBody>
      </p:sp>
      <p:sp>
        <p:nvSpPr>
          <p:cNvPr id="18" name="">
            <a:extLst xmlns:a="http://schemas.openxmlformats.org/drawingml/2006/main">
              <a:ext uri="{FF2B5EF4-FFF2-40B4-BE49-F238E27FC236}">
                <a16:creationId xmlns:a16="http://schemas.microsoft.com/office/drawing/2014/main" id="{A2D903CF-68EA-436A-A54B-4DB5470BC91C}"/>
              </a:ext>
            </a:extLst>
          </p:cNvPr>
          <p:cNvSpPr>
            <a:spLocks xmlns:a="http://schemas.openxmlformats.org/drawingml/2006/main" noGrp="1"/>
          </p:cNvSpPr>
          <p:nvPr/>
        </p:nvSpPr>
        <p:spPr>
          <a:xfrm xmlns:a="http://schemas.openxmlformats.org/drawingml/2006/main">
            <a:off x="6438900" y="215265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A9C28E9-006D-4BBC-B5C3-C21E8B6B4194}"/>
              </a:ext>
            </a:extLst>
          </p:cNvPr>
          <p:cNvSpPr>
            <a:spLocks xmlns:a="http://schemas.openxmlformats.org/drawingml/2006/main" noGrp="1"/>
          </p:cNvSpPr>
          <p:nvPr/>
        </p:nvSpPr>
        <p:spPr>
          <a:xfrm xmlns:a="http://schemas.openxmlformats.org/drawingml/2006/main">
            <a:off x="6534150" y="21717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0ECF6D17-950A-47C1-9AE0-6A4ED76D3365}"/>
              </a:ext>
            </a:extLst>
          </p:cNvPr>
          <p:cNvSpPr>
            <a:spLocks xmlns:a="http://schemas.openxmlformats.org/drawingml/2006/main" noGrp="1"/>
          </p:cNvSpPr>
          <p:nvPr/>
        </p:nvSpPr>
        <p:spPr>
          <a:xfrm xmlns:a="http://schemas.openxmlformats.org/drawingml/2006/main">
            <a:off x="6953250" y="21621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Recoverable Layer 15 state</a:t>
            </a:r>
          </a:p>
        </p:txBody>
      </p:sp>
      <p:sp>
        <p:nvSpPr>
          <p:cNvPr id="21" name="">
            <a:extLst xmlns:a="http://schemas.openxmlformats.org/drawingml/2006/main">
              <a:ext uri="{FF2B5EF4-FFF2-40B4-BE49-F238E27FC236}">
                <a16:creationId xmlns:a16="http://schemas.microsoft.com/office/drawing/2014/main" id="{D7C672D3-0379-40E3-B9CD-6F65BC89DCA8}"/>
              </a:ext>
            </a:extLst>
          </p:cNvPr>
          <p:cNvSpPr>
            <a:spLocks xmlns:a="http://schemas.openxmlformats.org/drawingml/2006/main" noGrp="1"/>
          </p:cNvSpPr>
          <p:nvPr/>
        </p:nvSpPr>
        <p:spPr>
          <a:xfrm xmlns:a="http://schemas.openxmlformats.org/drawingml/2006/main">
            <a:off x="6953250" y="24479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Clean Holo state restores +1.01 nats; Qwen restores +0.10.</a:t>
            </a:r>
          </a:p>
        </p:txBody>
      </p:sp>
      <p:sp>
        <p:nvSpPr>
          <p:cNvPr id="22" name="">
            <a:extLst xmlns:a="http://schemas.openxmlformats.org/drawingml/2006/main">
              <a:ext uri="{FF2B5EF4-FFF2-40B4-BE49-F238E27FC236}">
                <a16:creationId xmlns:a16="http://schemas.microsoft.com/office/drawing/2014/main" id="{C48F932B-8435-4332-8D31-CE52F87ACC06}"/>
              </a:ext>
            </a:extLst>
          </p:cNvPr>
          <p:cNvSpPr>
            <a:spLocks xmlns:a="http://schemas.openxmlformats.org/drawingml/2006/main" noGrp="1"/>
          </p:cNvSpPr>
          <p:nvPr/>
        </p:nvSpPr>
        <p:spPr>
          <a:xfrm xmlns:a="http://schemas.openxmlformats.org/drawingml/2006/main">
            <a:off x="6438900" y="30861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80515302-CFCB-43F8-A968-C5F1DA11A7BA}"/>
              </a:ext>
            </a:extLst>
          </p:cNvPr>
          <p:cNvSpPr>
            <a:spLocks xmlns:a="http://schemas.openxmlformats.org/drawingml/2006/main" noGrp="1"/>
          </p:cNvSpPr>
          <p:nvPr/>
        </p:nvSpPr>
        <p:spPr>
          <a:xfrm xmlns:a="http://schemas.openxmlformats.org/drawingml/2006/main">
            <a:off x="6534150" y="31051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BAEEF495-0263-432F-AD2F-86C50FD675CE}"/>
              </a:ext>
            </a:extLst>
          </p:cNvPr>
          <p:cNvSpPr>
            <a:spLocks xmlns:a="http://schemas.openxmlformats.org/drawingml/2006/main" noGrp="1"/>
          </p:cNvSpPr>
          <p:nvPr/>
        </p:nvSpPr>
        <p:spPr>
          <a:xfrm xmlns:a="http://schemas.openxmlformats.org/drawingml/2006/main">
            <a:off x="6953250" y="3095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Shared coordinate machinery</a:t>
            </a:r>
          </a:p>
        </p:txBody>
      </p:sp>
      <p:sp>
        <p:nvSpPr>
          <p:cNvPr id="25" name="">
            <a:extLst xmlns:a="http://schemas.openxmlformats.org/drawingml/2006/main">
              <a:ext uri="{FF2B5EF4-FFF2-40B4-BE49-F238E27FC236}">
                <a16:creationId xmlns:a16="http://schemas.microsoft.com/office/drawing/2014/main" id="{E743C4E1-2E7C-47FB-9FA7-13126AB96ABF}"/>
              </a:ext>
            </a:extLst>
          </p:cNvPr>
          <p:cNvSpPr>
            <a:spLocks xmlns:a="http://schemas.openxmlformats.org/drawingml/2006/main" noGrp="1"/>
          </p:cNvSpPr>
          <p:nvPr/>
        </p:nvSpPr>
        <p:spPr>
          <a:xfrm xmlns:a="http://schemas.openxmlformats.org/drawingml/2006/main">
            <a:off x="6953250" y="338137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Zeroing the same state harms both checkpoints.</a:t>
            </a:r>
          </a:p>
        </p:txBody>
      </p:sp>
      <p:sp>
        <p:nvSpPr>
          <p:cNvPr id="26" name="">
            <a:extLst xmlns:a="http://schemas.openxmlformats.org/drawingml/2006/main">
              <a:ext uri="{FF2B5EF4-FFF2-40B4-BE49-F238E27FC236}">
                <a16:creationId xmlns:a16="http://schemas.microsoft.com/office/drawing/2014/main" id="{3C60895C-DD3E-49A2-89AD-9D8AA83262C4}"/>
              </a:ext>
            </a:extLst>
          </p:cNvPr>
          <p:cNvSpPr>
            <a:spLocks xmlns:a="http://schemas.openxmlformats.org/drawingml/2006/main" noGrp="1"/>
          </p:cNvSpPr>
          <p:nvPr/>
        </p:nvSpPr>
        <p:spPr>
          <a:xfrm xmlns:a="http://schemas.openxmlformats.org/drawingml/2006/main">
            <a:off x="6438900" y="40195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5702007-3B9C-47C8-BD8B-88A86774B9AB}"/>
              </a:ext>
            </a:extLst>
          </p:cNvPr>
          <p:cNvSpPr>
            <a:spLocks xmlns:a="http://schemas.openxmlformats.org/drawingml/2006/main" noGrp="1"/>
          </p:cNvSpPr>
          <p:nvPr/>
        </p:nvSpPr>
        <p:spPr>
          <a:xfrm xmlns:a="http://schemas.openxmlformats.org/drawingml/2006/main">
            <a:off x="6534150" y="40386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DC7FB26C-5759-44C4-AAAE-F8936A76FF1F}"/>
              </a:ext>
            </a:extLst>
          </p:cNvPr>
          <p:cNvSpPr>
            <a:spLocks xmlns:a="http://schemas.openxmlformats.org/drawingml/2006/main" noGrp="1"/>
          </p:cNvSpPr>
          <p:nvPr/>
        </p:nvSpPr>
        <p:spPr>
          <a:xfrm xmlns:a="http://schemas.openxmlformats.org/drawingml/2006/main">
            <a:off x="6953250" y="40290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Distributed mechanism</a:t>
            </a:r>
          </a:p>
        </p:txBody>
      </p:sp>
      <p:sp>
        <p:nvSpPr>
          <p:cNvPr id="29" name="">
            <a:extLst xmlns:a="http://schemas.openxmlformats.org/drawingml/2006/main">
              <a:ext uri="{FF2B5EF4-FFF2-40B4-BE49-F238E27FC236}">
                <a16:creationId xmlns:a16="http://schemas.microsoft.com/office/drawing/2014/main" id="{44D8A984-43A5-4568-95B4-36A8801568D7}"/>
              </a:ext>
            </a:extLst>
          </p:cNvPr>
          <p:cNvSpPr>
            <a:spLocks xmlns:a="http://schemas.openxmlformats.org/drawingml/2006/main" noGrp="1"/>
          </p:cNvSpPr>
          <p:nvPr/>
        </p:nvSpPr>
        <p:spPr>
          <a:xfrm xmlns:a="http://schemas.openxmlformats.org/drawingml/2006/main">
            <a:off x="6953250" y="43148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 single attention head explains the restoration effect.</a:t>
            </a:r>
          </a:p>
        </p:txBody>
      </p:sp>
      <p:sp>
        <p:nvSpPr>
          <p:cNvPr id="30" name="">
            <a:extLst xmlns:a="http://schemas.openxmlformats.org/drawingml/2006/main">
              <a:ext uri="{FF2B5EF4-FFF2-40B4-BE49-F238E27FC236}">
                <a16:creationId xmlns:a16="http://schemas.microsoft.com/office/drawing/2014/main" id="{C5540762-AF36-4A49-B781-9FAA3FA0DF32}"/>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9709FF7-1300-406A-83D0-8D5BAFC9F6D8}"/>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Working interpretation: fine-tuning improves coordinate readout more clearly than value-weighted target grounding</a:t>
            </a:r>
          </a:p>
        </p:txBody>
      </p:sp>
      <p:sp>
        <p:nvSpPr>
          <p:cNvPr id="32" name="">
            <a:extLst xmlns:a="http://schemas.openxmlformats.org/drawingml/2006/main">
              <a:ext uri="{FF2B5EF4-FFF2-40B4-BE49-F238E27FC236}">
                <a16:creationId xmlns:a16="http://schemas.microsoft.com/office/drawing/2014/main" id="{EACDB825-ABE8-4F7B-B997-A3FACA1621A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80CD40F-E6B7-492E-BC5C-A16ECFAFC964}"/>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End of main deck. Attention is descriptive. The eight-prompt intervention is causal within one image.</a:t>
            </a:r>
          </a:p>
        </p:txBody>
      </p:sp>
    </p:spTree>
    <p:extLst>
      <p:ext uri="{BB962C8B-B14F-4D97-AF65-F5344CB8AC3E}">
        <p14:creationId xmlns:p14="http://schemas.microsoft.com/office/powerpoint/2010/main" val="1825905337"/>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5CFC1C51-88ED-430E-A8FD-CF29A33561D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DEFINITIONS</a:t>
            </a:r>
          </a:p>
        </p:txBody>
      </p:sp>
      <p:sp>
        <p:nvSpPr>
          <p:cNvPr id="2" name="">
            <a:extLst xmlns:a="http://schemas.openxmlformats.org/drawingml/2006/main">
              <a:ext uri="{FF2B5EF4-FFF2-40B4-BE49-F238E27FC236}">
                <a16:creationId xmlns:a16="http://schemas.microsoft.com/office/drawing/2014/main" id="{D7128BD3-5646-4BA5-90AD-69F231F0B69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352FCCC0-C5C5-4DC1-878F-B670CCF8680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A1</a:t>
            </a:r>
          </a:p>
        </p:txBody>
      </p:sp>
      <p:sp>
        <p:nvSpPr>
          <p:cNvPr id="4" name="">
            <a:extLst xmlns:a="http://schemas.openxmlformats.org/drawingml/2006/main">
              <a:ext uri="{FF2B5EF4-FFF2-40B4-BE49-F238E27FC236}">
                <a16:creationId xmlns:a16="http://schemas.microsoft.com/office/drawing/2014/main" id="{57EF23B5-BE2C-4A83-8BA6-975EF2447746}"/>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61C0BC51-7E37-467F-A17A-AD637D60BDC2}"/>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30E4E47A-E875-4BC8-8F3C-487D85CC5091}"/>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576CB49-5D85-452F-B732-68ED8E228E37}"/>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32E4F4D6-D13A-4080-9B4C-CE54CFC0FFDB}"/>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D2098DBD-D520-4665-B628-1D53B630F087}"/>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2BB9700-4EFA-4BC5-B5FE-1EB0AE614DFE}"/>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03F698AA-FC76-447D-BF2B-1810AC647261}"/>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Down-weight attention paths whose value vectors carry little magnitude</a:t>
            </a:r>
          </a:p>
        </p:txBody>
      </p:sp>
      <p:sp>
        <p:nvSpPr>
          <p:cNvPr id="12" name="">
            <a:extLst xmlns:a="http://schemas.openxmlformats.org/drawingml/2006/main">
              <a:ext uri="{FF2B5EF4-FFF2-40B4-BE49-F238E27FC236}">
                <a16:creationId xmlns:a16="http://schemas.microsoft.com/office/drawing/2014/main" id="{8AE91832-B03B-4C9B-88E3-44828A82F545}"/>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B571E7F-7BB0-4581-AA4A-F651FB63B7D4}"/>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EB8EFE7-49B1-48A4-914D-1CA7F4AB0D61}"/>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CABCA086-878E-485C-B9AE-4440DA33A35C}"/>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5D89FE78-ACEF-4740-8B30-51A9F78107A4}"/>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28B62CF-7ADC-4DCE-B141-5DED5655671E}"/>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CCFFF64A-5154-4BA3-97B6-E4DCE7677619}"/>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eight captured full-attention blocks with residual flow</a:t>
            </a:r>
          </a:p>
        </p:txBody>
      </p:sp>
      <p:sp>
        <p:nvSpPr>
          <p:cNvPr id="19" name="">
            <a:extLst xmlns:a="http://schemas.openxmlformats.org/drawingml/2006/main">
              <a:ext uri="{FF2B5EF4-FFF2-40B4-BE49-F238E27FC236}">
                <a16:creationId xmlns:a16="http://schemas.microsoft.com/office/drawing/2014/main" id="{2F27CE76-72DE-4A81-932F-355E7A77661F}"/>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65E67A8D-5B27-4391-8400-309BF7815EB6}"/>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6F697E2-5FBD-41A3-9572-1A824C1A1882}"/>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3AC434BB-B781-4355-962A-C9061B40537C}"/>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TO PARAMETER</a:t>
            </a:r>
          </a:p>
        </p:txBody>
      </p:sp>
      <p:sp>
        <p:nvSpPr>
          <p:cNvPr id="23" name="">
            <a:extLst xmlns:a="http://schemas.openxmlformats.org/drawingml/2006/main">
              <a:ext uri="{FF2B5EF4-FFF2-40B4-BE49-F238E27FC236}">
                <a16:creationId xmlns:a16="http://schemas.microsoft.com/office/drawing/2014/main" id="{8CD9285A-9FEE-4238-BC5E-AC0C9285EC47}"/>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DDEF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476FD59-905E-4AD1-A793-FDDADBEE2486}"/>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DE2A2908-7A12-477C-9330-21FC3E9C52C6}"/>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the x/y value-token maps so token length cannot inflate a parameter</a:t>
            </a:r>
          </a:p>
        </p:txBody>
      </p:sp>
      <p:sp>
        <p:nvSpPr>
          <p:cNvPr id="26" name="">
            <a:extLst xmlns:a="http://schemas.openxmlformats.org/drawingml/2006/main">
              <a:ext uri="{FF2B5EF4-FFF2-40B4-BE49-F238E27FC236}">
                <a16:creationId xmlns:a16="http://schemas.microsoft.com/office/drawing/2014/main" id="{BB9E7E97-69C7-46A5-B40C-BBC6AF2AA8F4}"/>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The baseline determines the question</a:t>
            </a:r>
          </a:p>
        </p:txBody>
      </p:sp>
      <p:sp>
        <p:nvSpPr>
          <p:cNvPr id="27" name="">
            <a:extLst xmlns:a="http://schemas.openxmlformats.org/drawingml/2006/main">
              <a:ext uri="{FF2B5EF4-FFF2-40B4-BE49-F238E27FC236}">
                <a16:creationId xmlns:a16="http://schemas.microsoft.com/office/drawing/2014/main" id="{00EDB1D2-CBE1-4ADC-A2A8-59C31414497D}"/>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0410C45-883E-4BE3-95F0-1DBBC169F848}"/>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RAW VALUE-NORM MAP</a:t>
            </a:r>
          </a:p>
        </p:txBody>
      </p:sp>
      <p:sp>
        <p:nvSpPr>
          <p:cNvPr id="29" name="">
            <a:extLst xmlns:a="http://schemas.openxmlformats.org/drawingml/2006/main">
              <a:ext uri="{FF2B5EF4-FFF2-40B4-BE49-F238E27FC236}">
                <a16:creationId xmlns:a16="http://schemas.microsoft.com/office/drawing/2014/main" id="{75C1AE04-60C7-4B82-9E63-9B10D60CE0E6}"/>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Mtarget</a:t>
            </a:r>
          </a:p>
        </p:txBody>
      </p:sp>
      <p:sp>
        <p:nvSpPr>
          <p:cNvPr id="30" name="">
            <a:extLst xmlns:a="http://schemas.openxmlformats.org/drawingml/2006/main">
              <a:ext uri="{FF2B5EF4-FFF2-40B4-BE49-F238E27FC236}">
                <a16:creationId xmlns:a16="http://schemas.microsoft.com/office/drawing/2014/main" id="{160E249B-CD6F-47F3-B1E9-64594996FDFC}"/>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Where does the generated coordinate draw value-weighted attention on this image?</a:t>
            </a:r>
          </a:p>
        </p:txBody>
      </p:sp>
      <p:sp>
        <p:nvSpPr>
          <p:cNvPr id="31" name="">
            <a:extLst xmlns:a="http://schemas.openxmlformats.org/drawingml/2006/main">
              <a:ext uri="{FF2B5EF4-FFF2-40B4-BE49-F238E27FC236}">
                <a16:creationId xmlns:a16="http://schemas.microsoft.com/office/drawing/2014/main" id="{561891D6-A041-4E21-84C4-6D2E6853DF09}"/>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DF69FFC7-BECA-439D-A39C-6E3073AC0F9C}"/>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DIVERSE-INSTRUCTION BASELINE</a:t>
            </a:r>
          </a:p>
        </p:txBody>
      </p:sp>
      <p:sp>
        <p:nvSpPr>
          <p:cNvPr id="33" name="">
            <a:extLst xmlns:a="http://schemas.openxmlformats.org/drawingml/2006/main">
              <a:ext uri="{FF2B5EF4-FFF2-40B4-BE49-F238E27FC236}">
                <a16:creationId xmlns:a16="http://schemas.microsoft.com/office/drawing/2014/main" id="{1B553A68-97C6-4C97-8D49-AE9A6164D351}"/>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Mtarget − mean(Mcontrol,k)</a:t>
            </a:r>
          </a:p>
        </p:txBody>
      </p:sp>
      <p:sp>
        <p:nvSpPr>
          <p:cNvPr id="34" name="">
            <a:extLst xmlns:a="http://schemas.openxmlformats.org/drawingml/2006/main">
              <a:ext uri="{FF2B5EF4-FFF2-40B4-BE49-F238E27FC236}">
                <a16:creationId xmlns:a16="http://schemas.microsoft.com/office/drawing/2014/main" id="{9962C123-4B86-42B1-9207-89D800EE6CAC}"/>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remains specific to this instruction after shared image saliency is removed?</a:t>
            </a:r>
          </a:p>
        </p:txBody>
      </p:sp>
      <p:sp>
        <p:nvSpPr>
          <p:cNvPr id="35" name="">
            <a:extLst xmlns:a="http://schemas.openxmlformats.org/drawingml/2006/main">
              <a:ext uri="{FF2B5EF4-FFF2-40B4-BE49-F238E27FC236}">
                <a16:creationId xmlns:a16="http://schemas.microsoft.com/office/drawing/2014/main" id="{4CE35EE4-EF8A-49A4-9C26-6A1011EC153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14CA581-72BF-4990-9083-A5A8E3A29ED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a uniform residual map.</a:t>
            </a:r>
          </a:p>
        </p:txBody>
      </p:sp>
    </p:spTree>
    <p:extLst>
      <p:ext uri="{BB962C8B-B14F-4D97-AF65-F5344CB8AC3E}">
        <p14:creationId xmlns:p14="http://schemas.microsoft.com/office/powerpoint/2010/main" val="177634591"/>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E3E1A1-A8D4-4B38-99A5-0CB6A46E074E}"/>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 · BENCHMARK TAXONOMY</a:t>
            </a:r>
          </a:p>
        </p:txBody>
      </p:sp>
      <p:sp>
        <p:nvSpPr>
          <p:cNvPr id="2" name="">
            <a:extLst xmlns:a="http://schemas.openxmlformats.org/drawingml/2006/main">
              <a:ext uri="{FF2B5EF4-FFF2-40B4-BE49-F238E27FC236}">
                <a16:creationId xmlns:a16="http://schemas.microsoft.com/office/drawing/2014/main" id="{AB681266-19E8-4C47-855B-0F710FE100C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5449B966-C928-448D-A897-29B43BF9984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A2</a:t>
            </a:r>
          </a:p>
        </p:txBody>
      </p:sp>
      <p:sp>
        <p:nvSpPr>
          <p:cNvPr id="4" name="">
            <a:extLst xmlns:a="http://schemas.openxmlformats.org/drawingml/2006/main">
              <a:ext uri="{FF2B5EF4-FFF2-40B4-BE49-F238E27FC236}">
                <a16:creationId xmlns:a16="http://schemas.microsoft.com/office/drawing/2014/main" id="{57AB463E-3495-46B9-A338-E5C6A9A0F9C7}"/>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4238568C-71D6-4112-8B06-FF801686240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103A91C-315F-4D59-83D4-C553EE397C2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4145821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2026-09-22T14:50:09.8860000Z</dcterms:created>
  <dcterms:modified xsi:type="dcterms:W3CDTF">2026-09-22T14:50:09.8860000Z</dcterms:modified>
</coreProperties>
</file>