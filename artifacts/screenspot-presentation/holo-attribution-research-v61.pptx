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94c1cc4cc5a4b8a" /><Relationship Type="http://schemas.openxmlformats.org/officeDocument/2006/relationships/extended-properties" Target="/docProps/app.xml" Id="R941f219e243b4e50" /><Relationship Type="http://schemas.openxmlformats.org/officeDocument/2006/relationships/officeDocument" Target="/ppt/presentation.xml" Id="R87714cb06961422f" /></Relationships>
</file>

<file path=ppt/presentation.xml><?xml version="1.0" encoding="utf-8"?>
<p:presentation xmlns:p="http://schemas.openxmlformats.org/presentationml/2006/main">
  <p:sldMasterIdLst>
    <p:sldMasterId xmlns:r="http://schemas.openxmlformats.org/officeDocument/2006/relationships" id="2147483648" r:id="R91e8a7736a534d09"/>
  </p:sldMasterIdLst>
  <p:notesMasterIdLst>
    <p:notesMasterId xmlns:r="http://schemas.openxmlformats.org/officeDocument/2006/relationships" r:id="Rc7580987ece649bd"/>
  </p:notesMasterIdLst>
  <p:sldIdLst>
    <p:sldId xmlns:r="http://schemas.openxmlformats.org/officeDocument/2006/relationships" id="256" r:id="R526c7dfb57364635"/>
    <p:sldId xmlns:r="http://schemas.openxmlformats.org/officeDocument/2006/relationships" id="257" r:id="Rb4c11c9663424318"/>
    <p:sldId xmlns:r="http://schemas.openxmlformats.org/officeDocument/2006/relationships" id="258" r:id="R88dff69731a344dc"/>
    <p:sldId xmlns:r="http://schemas.openxmlformats.org/officeDocument/2006/relationships" id="259" r:id="Rc7bdc0f578844e4d"/>
    <p:sldId xmlns:r="http://schemas.openxmlformats.org/officeDocument/2006/relationships" id="260" r:id="R8e2dd758d61446e4"/>
    <p:sldId xmlns:r="http://schemas.openxmlformats.org/officeDocument/2006/relationships" id="261" r:id="R6c3f865f76af45c0"/>
    <p:sldId xmlns:r="http://schemas.openxmlformats.org/officeDocument/2006/relationships" id="262" r:id="R525d077225fb4c1a"/>
    <p:sldId xmlns:r="http://schemas.openxmlformats.org/officeDocument/2006/relationships" id="263" r:id="Rb81ac338dd3d4e8b"/>
    <p:sldId xmlns:r="http://schemas.openxmlformats.org/officeDocument/2006/relationships" id="264" r:id="R4bdc06d01cab481b"/>
    <p:sldId xmlns:r="http://schemas.openxmlformats.org/officeDocument/2006/relationships" id="265" r:id="Re1f1d58c310a4bfd"/>
    <p:sldId xmlns:r="http://schemas.openxmlformats.org/officeDocument/2006/relationships" id="266" r:id="Rc3cb78cf9faf4e91"/>
    <p:sldId xmlns:r="http://schemas.openxmlformats.org/officeDocument/2006/relationships" id="267" r:id="R37e32f6328fa46e8"/>
    <p:sldId xmlns:r="http://schemas.openxmlformats.org/officeDocument/2006/relationships" id="268" r:id="R33fdfc2480b34168"/>
    <p:sldId xmlns:r="http://schemas.openxmlformats.org/officeDocument/2006/relationships" id="269" r:id="Rcad0aa61aeb54d03"/>
    <p:sldId xmlns:r="http://schemas.openxmlformats.org/officeDocument/2006/relationships" id="270" r:id="R526c9dc57e2d426b"/>
    <p:sldId xmlns:r="http://schemas.openxmlformats.org/officeDocument/2006/relationships" id="271" r:id="R5dbf88d5c2e94d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94a8186e454a76" /><Relationship Type="http://schemas.openxmlformats.org/officeDocument/2006/relationships/slideMaster" Target="/ppt/slideMasters/slideMaster1.xml" Id="R91e8a7736a534d09" /><Relationship Type="http://schemas.openxmlformats.org/officeDocument/2006/relationships/notesMaster" Target="/ppt/notesMasters/notesMaster1.xml" Id="Rc7580987ece649bd" /><Relationship Type="http://schemas.openxmlformats.org/officeDocument/2006/relationships/presProps" Target="/ppt/presProps.xml" Id="R837023b0eadd4a5e" /><Relationship Type="http://schemas.openxmlformats.org/officeDocument/2006/relationships/tableStyles" Target="/ppt/tableStyles.xml" Id="R2d450d922c5c4b48" /><Relationship Type="http://schemas.openxmlformats.org/officeDocument/2006/relationships/slide" Target="/ppt/slides/slide1.xml" Id="R526c7dfb57364635" /><Relationship Type="http://schemas.openxmlformats.org/officeDocument/2006/relationships/slide" Target="/ppt/slides/slide2.xml" Id="Rb4c11c9663424318" /><Relationship Type="http://schemas.openxmlformats.org/officeDocument/2006/relationships/slide" Target="/ppt/slides/slide3.xml" Id="R88dff69731a344dc" /><Relationship Type="http://schemas.openxmlformats.org/officeDocument/2006/relationships/slide" Target="/ppt/slides/slide4.xml" Id="Rc7bdc0f578844e4d" /><Relationship Type="http://schemas.openxmlformats.org/officeDocument/2006/relationships/slide" Target="/ppt/slides/slide5.xml" Id="R8e2dd758d61446e4" /><Relationship Type="http://schemas.openxmlformats.org/officeDocument/2006/relationships/slide" Target="/ppt/slides/slide6.xml" Id="R6c3f865f76af45c0" /><Relationship Type="http://schemas.openxmlformats.org/officeDocument/2006/relationships/slide" Target="/ppt/slides/slide7.xml" Id="R525d077225fb4c1a" /><Relationship Type="http://schemas.openxmlformats.org/officeDocument/2006/relationships/slide" Target="/ppt/slides/slide8.xml" Id="Rb81ac338dd3d4e8b" /><Relationship Type="http://schemas.openxmlformats.org/officeDocument/2006/relationships/slide" Target="/ppt/slides/slide9.xml" Id="R4bdc06d01cab481b" /><Relationship Type="http://schemas.openxmlformats.org/officeDocument/2006/relationships/slide" Target="/ppt/slides/slide10.xml" Id="Re1f1d58c310a4bfd" /><Relationship Type="http://schemas.openxmlformats.org/officeDocument/2006/relationships/slide" Target="/ppt/slides/slide11.xml" Id="Rc3cb78cf9faf4e91" /><Relationship Type="http://schemas.openxmlformats.org/officeDocument/2006/relationships/slide" Target="/ppt/slides/slide12.xml" Id="R37e32f6328fa46e8" /><Relationship Type="http://schemas.openxmlformats.org/officeDocument/2006/relationships/slide" Target="/ppt/slides/slide13.xml" Id="R33fdfc2480b34168" /><Relationship Type="http://schemas.openxmlformats.org/officeDocument/2006/relationships/slide" Target="/ppt/slides/slide14.xml" Id="Rcad0aa61aeb54d03" /><Relationship Type="http://schemas.openxmlformats.org/officeDocument/2006/relationships/slide" Target="/ppt/slides/slide15.xml" Id="R526c9dc57e2d426b" /><Relationship Type="http://schemas.openxmlformats.org/officeDocument/2006/relationships/slide" Target="/ppt/slides/slide16.xml" Id="R5dbf88d5c2e94d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44771114674a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979658bed64960" /><Relationship Type="http://schemas.openxmlformats.org/officeDocument/2006/relationships/notesMaster" Target="/ppt/notesMasters/notesMaster1.xml" Id="Rd6ed83b39fd94c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d8e3c0da914240" /><Relationship Type="http://schemas.openxmlformats.org/officeDocument/2006/relationships/notesMaster" Target="/ppt/notesMasters/notesMaster1.xml" Id="R3882ae5202bc48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2adaf857484eb2" /><Relationship Type="http://schemas.openxmlformats.org/officeDocument/2006/relationships/notesMaster" Target="/ppt/notesMasters/notesMaster1.xml" Id="Ra1988ab369d44c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717e9010b844f5" /><Relationship Type="http://schemas.openxmlformats.org/officeDocument/2006/relationships/notesMaster" Target="/ppt/notesMasters/notesMaster1.xml" Id="R446fc773559241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407146853c4a4e" /><Relationship Type="http://schemas.openxmlformats.org/officeDocument/2006/relationships/notesMaster" Target="/ppt/notesMasters/notesMaster1.xml" Id="Ra2ff8ab126284c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7962d7dc614f75" /><Relationship Type="http://schemas.openxmlformats.org/officeDocument/2006/relationships/notesMaster" Target="/ppt/notesMasters/notesMaster1.xml" Id="R94be187ab2fe42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0d97b9eedb4588" /><Relationship Type="http://schemas.openxmlformats.org/officeDocument/2006/relationships/notesMaster" Target="/ppt/notesMasters/notesMaster1.xml" Id="Rdef535b72f904c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81db815e5b48f7" /><Relationship Type="http://schemas.openxmlformats.org/officeDocument/2006/relationships/notesMaster" Target="/ppt/notesMasters/notesMaster1.xml" Id="R53310683aed141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e0fec86cd945ad" /><Relationship Type="http://schemas.openxmlformats.org/officeDocument/2006/relationships/notesMaster" Target="/ppt/notesMasters/notesMaster1.xml" Id="R0b207b4133754e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bbafcc478d44a9" /><Relationship Type="http://schemas.openxmlformats.org/officeDocument/2006/relationships/notesMaster" Target="/ppt/notesMasters/notesMaster1.xml" Id="R6a877256c61345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31af96bcb244c8" /><Relationship Type="http://schemas.openxmlformats.org/officeDocument/2006/relationships/notesMaster" Target="/ppt/notesMasters/notesMaster1.xml" Id="R8a4d979f0ad349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c0c0a5f9f749d9" /><Relationship Type="http://schemas.openxmlformats.org/officeDocument/2006/relationships/notesMaster" Target="/ppt/notesMasters/notesMaster1.xml" Id="Rd52538d4cdde41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7cad70dc6146e3" /><Relationship Type="http://schemas.openxmlformats.org/officeDocument/2006/relationships/notesMaster" Target="/ppt/notesMasters/notesMaster1.xml" Id="R503f201744a84c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2a43f64d174ecf" /><Relationship Type="http://schemas.openxmlformats.org/officeDocument/2006/relationships/notesMaster" Target="/ppt/notesMasters/notesMaster1.xml" Id="Re2da6160f5e6413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ca50229930b4dd1" /><Relationship Type="http://schemas.openxmlformats.org/officeDocument/2006/relationships/notesMaster" Target="/ppt/notesMasters/notesMaster1.xml" Id="Rc3e2d9f64ebb4a4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ad3aa6ded54eac" /><Relationship Type="http://schemas.openxmlformats.org/officeDocument/2006/relationships/notesMaster" Target="/ppt/notesMasters/notesMaster1.xml" Id="Rf65baadb32094e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subject: how visual evidence reaches GUI actions, where resolution disrupts that route, and how fine-tuning changes the internal coordinate state.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ScreenSpot-Pro isolates static UI localization from one screenshot and instruction. The synthetic hotel environment tests context retrieval and action formation across a sequence of screenshots. The matched test-0010 case runs Holo and its Qwen base independently from the same frozen fixture at native resolution, using the official HoloDesktop 0.1.10 tools, normalized coordinates, a four-action cap, and the three-screenshot retention policy. The incomplete multi-case batch is excluded from the finalized evidence set because a 384-token output cap truncated four Holo responses. Sources: docs/screenspot-case-study.md and data/remote-results/hotel-freegen-paired-v1-20260922/hotel-freegen-paired-v1/{holo,qwen}/bundles/test-0010.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expands the six-case pilot to 18 native-resolution successes, balanced at three cases in each application-by-UI-type stratum across Photoshop, PowerPoint, and VS Code. Each case runs at 100, 75, 50, and 25 percent linear resolution. At every scale, Holo receives the official localization prompt and VisualLocalizerOutput contract, then the eager-attention harness traces the freely generated coordinate tokens. The primary attribution is value-norm rollout after subtracting the mean of four visible same-image alternate instructions. Median target-specific mass falls from 5.22 percent at native resolution to 2.18, 1.16, and 0.21 percent as resolution decreases, a 24-fold cohort-level reduction at quarter resolution. The paired within-case median retains 6.23 percent of native target mass at quarter resolution, with a bootstrap 95 percent interval of 0.18 to 14.47 percent. Median target lift falls from 168.7 to 5.4, and median best-target-patch rank falls from first to 6.5. Strict hits fall from 18 of 18 to 12, 10, and 3 of 18. In the exact Photoshop trace shown here, the processor records a 90 by 160 raw visual patch grid at native resolution and 22 by 40 at quarter resolution. With the model's two-by-two spatial merge, that is about 3,600 versus 220 visual tokens. The lower-resolution input is therefore not padded back to a fixed approximately one-thousand-token budget; the remaining resolution confounds are reduced spatial sampling and downsampling or aliasing. Localization loss explains most failures, but not all: 7 of 29 non-native misses still place the highest prompt-differential patch inside the oracle, including 3 of 8 misses at half resolution and 3 of 15 at quarter resolution. This repeatable dissociation motivates a separate coordinate-readout hypothesis. The cohort is conditioned on native success and remains a paired sensitivity diagnostic rather than an unconditional benchmark estimate. Sources: artifacts/screenspot-presentation/resolution-saliency-cohort18-v1/summary.json, data/remote-results/screenspot-resolution-saliency-pilot-v1, and docs/screenspot-resolution-saliency-cohort18.md.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Pull back to the larger screenshot context. The left panel is value-norm rollout for Holo's freely generated x/y coordinate tokens without an instruction baseline. It puts 4.43% of positive mass in the tiny oracle, a 110.7x lift, but also retains saliency shared across the image edge, upper-left chrome, and broad canvas structure. The right panel subtracts the mean of four separately measured same-image instructions: Cut, Copy, Send backward, and Add comment. This resting-state-like control suppresses those instruction-invariant false positives and raises target-specific concentration to 18.58% and 464.4x lift; the minimum leave-one-control-out cosine is 0.991. Both panels use the same native 2880x1800 screenshot, official localization prompt, Holo output (209,243), and x/y token aggregation. The subtraction isolates instruction-conditioned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slide reports one complete matched free-generation case and excludes the incomplete multi-case batch. Holo and Qwen start from the same frozen test-0010 fixture, use native 1280 by 800 screenshots, the official HoloDesktop 0.1.10 tool schema, normalized coordinates, and a four-action cap. Holo scrolls 500 pixels twice, inventories all six prices, then clicks Fjord Compass Lodge at normalized (1023,208). Qwen scrolls 250 pixels four times. By its third response, Qwen records €166 as the lowest observed price, but it spends the fourth action scrolling again and reaches the cap without clicking. This supports a stopping and action-readout hypothesis within one case, not a checkpoint accuracy claim. The visual uses a separately traced Holo replicate on the same fixture: two scrolls followed by click (1023,216). Its final value-norm rollout appears across the two retained history frames and the current frame. These maps remain descriptive and do not include same-image diverse-instruction subtraction. The larger batch is absent from the finalized evidence because a 384-token cap truncated four Holo responses. Sources: data/remote-results/hotel-freegen-paired-v1-20260922/hotel-freegen-paired-v1/holo/bundles/test-0010; data/remote-results/hotel-freegen-paired-v1-20260922/hotel-freegen-paired-v1/qwen/bundles/test-0010; artifacts/screenspot-presentation/hotel-freegen-paired-v1-attribution/trajectory.json.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in seven of eight prompts. Qwen's median is 0.10 nats and is positive in five of eight. The paired Holo-minus-Qwen median is 0.718 nats. Because the margin is a log target-versus-distractor sequence likelihood ratio, exponentiating the paired difference gives a 2.05-times likelihood-ratio recovery, or 105 percent larger. A paired nonparametric bootstrap gives a 95 percent interval of 1.74 to 3.15 times. An exact one-sided paired sign-flip test over all 256 assignments gives p=0.0078; with only eight mirrored prompts from four synthetic image pairs, treat this as exploratory within-panel evidence rather than population-level benchmark significance. Zero-ablation means setting that same Layer 15 coordinate residual to zero in the clean run, then measuring the clean-margin loss: 4.51 nats for Holo and 6.27 for Qwen. Both checkpoints rely on the state, so fine-tuning increases recoverability rather than creating a Holo-exclusive circuit. The all-head sweep also rejects a single-head explanation. Sources: artifacts/screenspot-presentation/causal-panel-statistics-v1.json,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9:20–10:20 — Synthesize the evidence before the proposal. ScreenSpot replication shows that geometry and resolution strongly condition localization. Only four of 36 native-success clicks survive at quarter resolution, and the balanced 18-case attribution cohort finds a 24-fold drop in median target-specific mass. Most reduced-resolution misses also lose target localization, but 7 of 29 still place the highest task-specific patch inside the annotated target. In the complete matched hotel case, both checkpoints record €166 as the lowest observed price. Holo terminates with the correct click after two scrolls, while Qwen spends all four actions scrolling. This one case motivates a stopping and action-readout hypothesis but does not estimate checkpoint accuracy. The causal panel adds the strongest model-comparison evidence: Holo develops a more recoverable Layer 15 coordinate state than Qwen, while both models rely on that state and no single attention head explains the effect. The working interpretation is that fine-tuning strengthens action-state formation and coordinate extraction more clearly than value-weighted target grounding. Transition to the final proposal: use test-time uncertainty to spend resolution only where the action remains unstable.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10:20–11:20 — End on one focused research proposal. Start with a low-resolution image, produce a batched coordinate ensemble, estimate uncertainty, and route only uncertain cases to a crop-and-resize pass. Repeat until the coordinate distribution is sufficiently stable or the crop reaches native resolution. The proposal is black-box at test time: no model updates and no hidden activations. Our first local Metal feasibility check used the official H Company localization prompt and VisualLocalizerOutput contract on two previously native-correct ScreenSpot-Pro items at 25 percent linear resolution. Four deterministic beams were valid and distinct in both cases. On the known quarter-resolution hit, RMS coordinate radius was 2.55 normalized units and all four beams hit. On the known miss, radius was only 1.12 and no beam hit; all candidates shared x equals 15 and differed only by adjacent y values. Deterministic top-beam spread therefore shows false consensus and cannot serve as the gate by itself. The next experiment should compare deterministic beams with temperature-sampled coordinate candidates plus token confidence, then test whether a calibrated gate recovers low-resolution misses while avoiding a second pass on easy cases. This direction overlaps materially with AutoFocus and UI-Zoomer, which already use sampled coordinate uncertainty for adaptive visual search, and with ZoomClick's training-free zoom prior. The research wedge is narrower: Holo-specific evaluation, deterministic beams as a cheap baseline, a resolution ladder rather than unconditional native inference, and a mechanistic link to the recoverable action state observed in this deck. InnerZoom provides an important white-box efficiency comparison because it avoids the second forward pass by reinjecting intermediate evidence. Sources: artifacts/screenspot-presentation/coordinate-beam-spread-pilot-v1.json; data/local-results/coordinate-beam-spread-smoke/summary.json; data/local-results/coordinate-beam-spread-vscode0-v1/summary.json; https://arxiv.org/abs/2605.02630; https://arxiv.org/abs/2604.14113; https://arxiv.org/abs/2512.05941; https://arxiv.org/abs/2606.30084.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Both screenshots show exact source-pixel positions after mapping normalized coordinates back with x times source width divided by 1000 and y times source height divided by 1000. The orange rectangle is the released ScreenSpot-Pro oracle box. The colored rings are the four returned deterministic beam sequences in rank order. The model did not receive the full-resolution screenshot shown here; each image was first resized to 25 percent of its original width and height with Lanczos resampling, then passed through the official H Company element-localization prompt and VisualLocalizerOutput coordinate contract. We called Transformers generate with do_sample false, num_beams four, num_return_sequences four, early_stopping true, output_scores true, and a 24-token limit except for the first smoke run, which used 64. Beam search keeps the four highest cumulative-score partial token sequences at every decoding step. These are correlated alternatives, not independent samples from the model distribution. In the PowerPoint hit, the four coordinates are (485,344), (485,349), (483,343), and (483,344); all land inside the oracle box. In the VS Code miss, the coordinates are (15,171) through (15,174); all land near the far-left gutter while the oracle refresh control lies farther right. RMS radius is computed in normalized 0–1000 coordinate space around the four-point centroid. The incorrect case has the smaller radius, 1.12 versus 2.55. This false consensus motivates temperature-sampled candidates plus token confidence for the next experiment. Sources: data/local-results/coordinate-beam-spread-smoke/summary.json; data/local-results/coordinate-beam-spread-vscode0-v1/summary.json; scripts/run_coordinate_beam_pilot.py.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105d73ef714a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671eee76484aae" /><Relationship Type="http://schemas.openxmlformats.org/officeDocument/2006/relationships/slideLayout" Target="/ppt/slideLayouts/slideLayout1.xml" Id="R549b4519faeb4c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9b4519faeb4c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ec67c4f6644af8" /><Relationship Type="http://schemas.openxmlformats.org/officeDocument/2006/relationships/image" Target="/ppt/media/image.png" Id="Rbe8b71b6fbdc44c4" /><Relationship Type="http://schemas.openxmlformats.org/officeDocument/2006/relationships/notesSlide" Target="/ppt/notesSlides/notesSlide1.xml" Id="R9e059a7ca41e44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a2ba78b3d04335" /><Relationship Type="http://schemas.openxmlformats.org/officeDocument/2006/relationships/notesSlide" Target="/ppt/notesSlides/notesSlide2.xml" Id="R474de6270ca24d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b13373863b4e36" /><Relationship Type="http://schemas.openxmlformats.org/officeDocument/2006/relationships/chart" Target="/ppt/slides/charts/chart1.xml" Id="Rb09c4dad3c9e4b02" /><Relationship Type="http://schemas.openxmlformats.org/officeDocument/2006/relationships/notesSlide" Target="/ppt/notesSlides/notesSlide3.xml" Id="R105fa280ff5c43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54c84396bc4d9c" /><Relationship Type="http://schemas.openxmlformats.org/officeDocument/2006/relationships/chart" Target="/ppt/slides/charts/chart2.xml" Id="R7baf2e4555fa409b" /><Relationship Type="http://schemas.openxmlformats.org/officeDocument/2006/relationships/notesSlide" Target="/ppt/notesSlides/notesSlide4.xml" Id="R835dc625feac46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7b0b2f15e04ae8" /><Relationship Type="http://schemas.openxmlformats.org/officeDocument/2006/relationships/chart" Target="/ppt/slides/charts/chart3.xml" Id="R78cce1bf9c4c44fa" /><Relationship Type="http://schemas.openxmlformats.org/officeDocument/2006/relationships/notesSlide" Target="/ppt/notesSlides/notesSlide5.xml" Id="Rb0a5b84500da43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936c8927924b57" /><Relationship Type="http://schemas.openxmlformats.org/officeDocument/2006/relationships/image" Target="/ppt/media/image2.png" Id="Rf88d46d37d194e2d" /><Relationship Type="http://schemas.openxmlformats.org/officeDocument/2006/relationships/image" Target="/ppt/media/image3.png" Id="Re7ff6586cfd34ae7" /><Relationship Type="http://schemas.openxmlformats.org/officeDocument/2006/relationships/image" Target="/ppt/media/image4.png" Id="R358ba43a03664a19" /><Relationship Type="http://schemas.openxmlformats.org/officeDocument/2006/relationships/image" Target="/ppt/media/image5.png" Id="R60fc33c693fc470c" /><Relationship Type="http://schemas.openxmlformats.org/officeDocument/2006/relationships/notesSlide" Target="/ppt/notesSlides/notesSlide6.xml" Id="R1ec0c8efbae742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b24a1c1bba4024" /><Relationship Type="http://schemas.openxmlformats.org/officeDocument/2006/relationships/image" Target="/ppt/media/image6.png" Id="R2a8a2f955f2e44b6" /><Relationship Type="http://schemas.openxmlformats.org/officeDocument/2006/relationships/image" Target="/ppt/media/image7.png" Id="R9ddc7ff3a51d4e7c" /><Relationship Type="http://schemas.openxmlformats.org/officeDocument/2006/relationships/notesSlide" Target="/ppt/notesSlides/notesSlide7.xml" Id="Rb43202d5d64645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a6e796477e42ca" /><Relationship Type="http://schemas.openxmlformats.org/officeDocument/2006/relationships/image" Target="/ppt/media/image8.png" Id="R999439caa5ee49d4" /><Relationship Type="http://schemas.openxmlformats.org/officeDocument/2006/relationships/notesSlide" Target="/ppt/notesSlides/notesSlide8.xml" Id="Rd708cd9235e248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a21eebb32343b8" /><Relationship Type="http://schemas.openxmlformats.org/officeDocument/2006/relationships/image" Target="/ppt/media/image9.png" Id="R474e21197d484f59" /><Relationship Type="http://schemas.openxmlformats.org/officeDocument/2006/relationships/image" Target="/ppt/media/image10.png" Id="R03ff3569302b49a6" /><Relationship Type="http://schemas.openxmlformats.org/officeDocument/2006/relationships/image" Target="/ppt/media/image11.png" Id="Rf0bdf3d611934c14" /><Relationship Type="http://schemas.openxmlformats.org/officeDocument/2006/relationships/notesSlide" Target="/ppt/notesSlides/notesSlide9.xml" Id="R5d91c22693fe44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c5641590074742" /><Relationship Type="http://schemas.openxmlformats.org/officeDocument/2006/relationships/image" Target="/ppt/media/image12.png" Id="R703fa112c6af4122" /><Relationship Type="http://schemas.openxmlformats.org/officeDocument/2006/relationships/image" Target="/ppt/media/image13.png" Id="R06c3fb257b044ff4" /><Relationship Type="http://schemas.openxmlformats.org/officeDocument/2006/relationships/notesSlide" Target="/ppt/notesSlides/notesSlide10.xml" Id="R832e3cebfb7d4c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cc4531294594e19" /><Relationship Type="http://schemas.openxmlformats.org/officeDocument/2006/relationships/notesSlide" Target="/ppt/notesSlides/notesSlide11.xml" Id="R90b34d043b1e4f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c787562bc684060" /><Relationship Type="http://schemas.openxmlformats.org/officeDocument/2006/relationships/notesSlide" Target="/ppt/notesSlides/notesSlide12.xml" Id="R22c01ccbc6ad46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8f555afc2c84b44" /><Relationship Type="http://schemas.openxmlformats.org/officeDocument/2006/relationships/notesSlide" Target="/ppt/notesSlides/notesSlide13.xml" Id="Rd03bc7dfee2e46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a707498531f4f91" /><Relationship Type="http://schemas.openxmlformats.org/officeDocument/2006/relationships/image" Target="/ppt/media/image14.png" Id="Rc6e3dd7c2ed344f7" /><Relationship Type="http://schemas.openxmlformats.org/officeDocument/2006/relationships/image" Target="/ppt/media/image15.png" Id="R4a7579a8f6ce4915" /><Relationship Type="http://schemas.openxmlformats.org/officeDocument/2006/relationships/image" Target="/ppt/media/image16.png" Id="Ra2bdce5d2f014d8d" /><Relationship Type="http://schemas.openxmlformats.org/officeDocument/2006/relationships/image" Target="/ppt/media/image17.png" Id="Rdc3e94f225ad49be" /><Relationship Type="http://schemas.openxmlformats.org/officeDocument/2006/relationships/notesSlide" Target="/ppt/notesSlides/notesSlide14.xml" Id="R3224852e77e649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194252cf6cd4546" /><Relationship Type="http://schemas.openxmlformats.org/officeDocument/2006/relationships/notesSlide" Target="/ppt/notesSlides/notesSlide15.xml" Id="R5a69f4f4b08644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f544008dd2e46df" /><Relationship Type="http://schemas.openxmlformats.org/officeDocument/2006/relationships/notesSlide" Target="/ppt/notesSlides/notesSlide16.xml" Id="R118566d1fb154f4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e8b71b6fbdc44c4"/>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D64123-5896-49FB-91F3-C237BE76F342}"/>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5C7FA9B-0A25-4131-8C3E-81BE38A7B92C}"/>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7E778F-F6D7-4AF5-84C9-F21F9E12D959}"/>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0340837-9A31-47B5-A30E-36DEF597966D}"/>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95E2B9D7-85FA-4207-9333-4047C1E20C77}"/>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Visual evidence and</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GUI action formation</a:t>
            </a:r>
          </a:p>
        </p:txBody>
      </p:sp>
      <p:sp>
        <p:nvSpPr>
          <p:cNvPr id="7" name="">
            <a:extLst xmlns:a="http://schemas.openxmlformats.org/drawingml/2006/main">
              <a:ext uri="{FF2B5EF4-FFF2-40B4-BE49-F238E27FC236}">
                <a16:creationId xmlns:a16="http://schemas.microsoft.com/office/drawing/2014/main" id="{5BEDFB03-54E0-422F-A581-909AC4631249}"/>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935701BA-BA37-4C76-8BB9-F0A266366193}"/>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and NVIDIA traces · 22 Sep 2026</a:t>
            </a:r>
          </a:p>
        </p:txBody>
      </p:sp>
    </p:spTree>
    <p:extLst>
      <p:ext uri="{BB962C8B-B14F-4D97-AF65-F5344CB8AC3E}">
        <p14:creationId xmlns:p14="http://schemas.microsoft.com/office/powerpoint/2010/main" val="1209915893"/>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04C1893-C359-4B73-B1D8-4433AF03F4B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D8590B4B-3EEC-460E-BE3F-0653C3485C1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B245770D-2FD0-4081-B69B-1CD95E87B15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6DA2AAE9-4EA0-4A18-8D06-812A8FE0ED0E}"/>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A5101FC1-20FE-4F33-A224-55BE33CF2AC3}"/>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6AD6B28-2C6E-405C-937B-B7539C400264}"/>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BF96BD0B-B126-4088-816F-8C1275CCD80B}"/>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1EE85ED8-6F5C-45BC-B505-FD1DDC9F5F5D}"/>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C6C2648D-A8B6-4CDF-9099-C37C20AF3C48}"/>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5854DC55-7833-4CD1-86E5-C407D442152D}"/>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3164FAC5-E311-4311-9643-B1EE4792A2A5}"/>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B6EB4DB-F22D-4026-8BCC-E5224805DBC1}"/>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B13C1885-C2C9-4DB8-B022-87DE3079450D}"/>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E7F2DFC-B2B4-4970-AD0E-AD2AF97CEC8A}"/>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763A519-7258-4339-AC10-F3497E4AA7C6}"/>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BE65F4BC-8A4D-451B-B446-E8284BA9315C}"/>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393DC3A7-764C-4D9F-BF61-37B2B78FE8BB}"/>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One matched case, native screenshots, four-action cap</a:t>
            </a:r>
          </a:p>
        </p:txBody>
      </p:sp>
      <p:sp>
        <p:nvSpPr>
          <p:cNvPr id="18" name="">
            <a:extLst xmlns:a="http://schemas.openxmlformats.org/drawingml/2006/main">
              <a:ext uri="{FF2B5EF4-FFF2-40B4-BE49-F238E27FC236}">
                <a16:creationId xmlns:a16="http://schemas.microsoft.com/office/drawing/2014/main" id="{8FA45740-BD4D-4AD0-B60E-ECA74FAA542B}"/>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B7BF031-388B-47D7-AD28-A2D812BF8139}"/>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4C179DE7-CB3B-486A-935A-A3319B76F627}"/>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OBSERVE</a:t>
            </a:r>
          </a:p>
        </p:txBody>
      </p:sp>
      <p:sp>
        <p:nvSpPr>
          <p:cNvPr id="21" name="">
            <a:extLst xmlns:a="http://schemas.openxmlformats.org/drawingml/2006/main">
              <a:ext uri="{FF2B5EF4-FFF2-40B4-BE49-F238E27FC236}">
                <a16:creationId xmlns:a16="http://schemas.microsoft.com/office/drawing/2014/main" id="{F02FAA3D-1EC1-4104-A1B2-10CDBD7A5862}"/>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native frame</a:t>
            </a:r>
          </a:p>
        </p:txBody>
      </p:sp>
      <p:sp>
        <p:nvSpPr>
          <p:cNvPr id="22" name="">
            <a:extLst xmlns:a="http://schemas.openxmlformats.org/drawingml/2006/main">
              <a:ext uri="{FF2B5EF4-FFF2-40B4-BE49-F238E27FC236}">
                <a16:creationId xmlns:a16="http://schemas.microsoft.com/office/drawing/2014/main" id="{BD12D60D-D8D6-499F-A596-BA4930B4C2E3}"/>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57D112D-6372-4C9D-8137-3DAFC1696233}"/>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3E394619-59E0-48AF-852D-F91EA1372360}"/>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SEARCH</a:t>
            </a:r>
          </a:p>
        </p:txBody>
      </p:sp>
      <p:sp>
        <p:nvSpPr>
          <p:cNvPr id="25" name="">
            <a:extLst xmlns:a="http://schemas.openxmlformats.org/drawingml/2006/main">
              <a:ext uri="{FF2B5EF4-FFF2-40B4-BE49-F238E27FC236}">
                <a16:creationId xmlns:a16="http://schemas.microsoft.com/office/drawing/2014/main" id="{D73DF1CF-1198-4EB9-B1C8-D9D43E6EACA5}"/>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scrolls</a:t>
            </a:r>
          </a:p>
        </p:txBody>
      </p:sp>
      <p:sp>
        <p:nvSpPr>
          <p:cNvPr id="26" name="">
            <a:extLst xmlns:a="http://schemas.openxmlformats.org/drawingml/2006/main">
              <a:ext uri="{FF2B5EF4-FFF2-40B4-BE49-F238E27FC236}">
                <a16:creationId xmlns:a16="http://schemas.microsoft.com/office/drawing/2014/main" id="{ADAE42D4-3403-48EE-BE3E-707BD13009A8}"/>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D53C64B-D5BF-4003-998A-E6ABD9AB2838}"/>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01FDABBF-8320-4613-9B53-9817D2D6106B}"/>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RETAIN</a:t>
            </a:r>
          </a:p>
        </p:txBody>
      </p:sp>
      <p:sp>
        <p:nvSpPr>
          <p:cNvPr id="29" name="">
            <a:extLst xmlns:a="http://schemas.openxmlformats.org/drawingml/2006/main">
              <a:ext uri="{FF2B5EF4-FFF2-40B4-BE49-F238E27FC236}">
                <a16:creationId xmlns:a16="http://schemas.microsoft.com/office/drawing/2014/main" id="{95EAD616-ACAD-44DD-A6BD-FFE6B87DE398}"/>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frames</a:t>
            </a:r>
          </a:p>
        </p:txBody>
      </p:sp>
      <p:sp>
        <p:nvSpPr>
          <p:cNvPr id="30" name="">
            <a:extLst xmlns:a="http://schemas.openxmlformats.org/drawingml/2006/main">
              <a:ext uri="{FF2B5EF4-FFF2-40B4-BE49-F238E27FC236}">
                <a16:creationId xmlns:a16="http://schemas.microsoft.com/office/drawing/2014/main" id="{A942B182-D0C7-40C5-8CBA-B3B4CA6D6F5E}"/>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954010F-49C9-4792-B369-5DA79330B6A2}"/>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BD3679D6-B65F-4C37-BE5B-706C479CA52B}"/>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ACT</a:t>
            </a:r>
          </a:p>
        </p:txBody>
      </p:sp>
      <p:sp>
        <p:nvSpPr>
          <p:cNvPr id="33" name="">
            <a:extLst xmlns:a="http://schemas.openxmlformats.org/drawingml/2006/main">
              <a:ext uri="{FF2B5EF4-FFF2-40B4-BE49-F238E27FC236}">
                <a16:creationId xmlns:a16="http://schemas.microsoft.com/office/drawing/2014/main" id="{2439ACD1-978D-459F-B2DF-FCAF7760B602}"/>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click or stop</a:t>
            </a:r>
          </a:p>
        </p:txBody>
      </p:sp>
      <p:sp>
        <p:nvSpPr>
          <p:cNvPr id="34" name="">
            <a:extLst xmlns:a="http://schemas.openxmlformats.org/drawingml/2006/main">
              <a:ext uri="{FF2B5EF4-FFF2-40B4-BE49-F238E27FC236}">
                <a16:creationId xmlns:a16="http://schemas.microsoft.com/office/drawing/2014/main" id="{6A1D3446-9675-491F-98C7-69EFEEA4AEBB}"/>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90529A88-97BE-43C7-9821-501EF3291DAB}"/>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2833288F-DF49-44BE-8BD6-ABC58F09AA4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9C0F61A-D880-471C-8CB3-FCC5384C16D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752873356"/>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19E7B4C-B80E-45EC-862A-72B3B59790D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E2AD21B5-8B57-4FDE-8B19-722EEE90483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EE05723F-6661-43BD-ACF5-222C42038B4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CDAB010A-74E7-46A5-8774-45A34321571B}"/>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AC799150-3552-410E-878C-C90D08FBAE6F}"/>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C9B931A2-7C04-40E9-9A1C-F65795290F15}"/>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155A9AA1-9D35-4A5D-8649-3FD1D10E3975}"/>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8C0BF542-C8DF-47D4-9CCE-D9E09E4B0C6F}"/>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A5B33A75-9D6D-40A6-8DD7-90B8E877AF6D}"/>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8BCED495-7B0F-4733-BD96-60E1E79D60D8}"/>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3FB69D-C50A-48CB-A2BA-9BC1C7669662}"/>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b09c4dad3c9e4b02"/>
          </a:graphicData>
        </a:graphic>
      </p:graphicFrame>
      <p:sp>
        <p:nvSpPr>
          <p:cNvPr id="13" name="">
            <a:extLst xmlns:a="http://schemas.openxmlformats.org/drawingml/2006/main">
              <a:ext uri="{FF2B5EF4-FFF2-40B4-BE49-F238E27FC236}">
                <a16:creationId xmlns:a16="http://schemas.microsoft.com/office/drawing/2014/main" id="{C30A2E22-3C24-43A2-B0C8-38E8621D6796}"/>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57528057-C1EC-49B1-8763-A14A240CC2E5}"/>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EF548DCC-4ACC-474E-851D-D95BF0378875}"/>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1B1BD84-56A7-4323-82DB-A594DEBA84D2}"/>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59005DB6-F255-42BC-8493-E5FF7CF90167}"/>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3D75EEAC-B189-4A84-8AE5-DDF095D5E0C6}"/>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1496BF83-E991-4FBE-AA40-13FF4D7B580F}"/>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F0CA1C56-B4E9-4E77-93CA-03419370A4EE}"/>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E798EC0F-89D3-455E-927C-5BA12F307083}"/>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A28E45DE-76B2-4873-B186-3A4FE2A9CF7B}"/>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3BBAA24B-739C-4568-81F8-3C8AA0C8523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FA5476D-D74E-4C1C-AFFC-0186EC9CF78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193224519"/>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C83B01C-F9DC-44E0-9321-6108F479424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7D5F14E4-9B66-4E07-91AE-38EE3C1F8EE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911164A3-128D-41E8-9246-1D8616CC0B5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45628FED-CD6D-48D8-9C23-B2F12FA075CF}"/>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18B4C8EF-DC45-47B3-9A25-3DAE226D974A}"/>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7baf2e4555fa409b"/>
          </a:graphicData>
        </a:graphic>
      </p:graphicFrame>
      <p:sp>
        <p:nvSpPr>
          <p:cNvPr id="7" name="">
            <a:extLst xmlns:a="http://schemas.openxmlformats.org/drawingml/2006/main">
              <a:ext uri="{FF2B5EF4-FFF2-40B4-BE49-F238E27FC236}">
                <a16:creationId xmlns:a16="http://schemas.microsoft.com/office/drawing/2014/main" id="{D348EAEE-1D12-4F6E-B4E1-166BE0D7CFD8}"/>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97F1B7C-B12C-4568-A1C0-3A3FEDE8D530}"/>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6504B2A9-904B-4A11-9D8E-DA4A6874ABDE}"/>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81760E9D-BCE4-4EF1-A022-67C84B5FC1AB}"/>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B0755892-DCB0-4482-B50E-3A897C48D82E}"/>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00679E0-1F53-47DC-A826-D18F79D5F687}"/>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32B2AB6D-5524-4D7A-B14F-02D22849B4AA}"/>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A39BE6BC-2B7C-4739-A00E-2D3DCB2594D5}"/>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29EE9DD6-C642-481B-A4F3-C09928F65C6D}"/>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5281F941-D79B-4D15-A896-6D312069BA8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883D2D8-FA4F-45E4-AB83-BEF32C3CCADD}"/>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10ECDFD9-36A9-4811-8EFC-8E6C0732E94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DA9F654-790E-4F81-8672-6FF22B37EDF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764347908"/>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6BE61FE-B398-413A-814F-CFCFC579DF6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77867420-5BF2-45D4-9C0D-1586DD59AE5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E3774F2B-617E-4012-964D-E0771B96BD3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00C6C290-AE31-4FFF-B48D-B3D21FAFEF2B}"/>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71E642C1-DAB1-4BAC-84E5-F0FE4E990F46}"/>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78cce1bf9c4c44fa"/>
          </a:graphicData>
        </a:graphic>
      </p:graphicFrame>
      <p:sp>
        <p:nvSpPr>
          <p:cNvPr id="7" name="">
            <a:extLst xmlns:a="http://schemas.openxmlformats.org/drawingml/2006/main">
              <a:ext uri="{FF2B5EF4-FFF2-40B4-BE49-F238E27FC236}">
                <a16:creationId xmlns:a16="http://schemas.microsoft.com/office/drawing/2014/main" id="{7DED59B8-B553-4DE9-81AC-99DEEFF9DB42}"/>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4AFB1A9-E5D4-4F66-A6F1-2B23F36D5774}"/>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7A8BCB09-82C3-456E-A9E3-5949B22F8E3D}"/>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78AE0ECA-753C-448C-946B-1F9A0D3D6400}"/>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5BBE9EBF-78F5-4B34-AB0A-234283737435}"/>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F4456126-C1C0-411E-8211-38FCAD384B7C}"/>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7698646-E1EF-45F8-90F5-26639F7DD65D}"/>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7FA108F5-6F52-4D57-922C-1E8D35034FF5}"/>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C18D1555-BD46-4A02-B9C4-F039A3CE72FF}"/>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38ADCD39-7DE6-421B-9C65-606DCABAA71B}"/>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A4B7B9BF-78FD-499E-A974-B3A949F4B988}"/>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6BCEC11-2D8C-4663-9B87-E4E889B5ABC4}"/>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50EAFFE9-5A3C-4991-BA46-2E8C243462F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585343E-50BB-4CA8-A8BF-19D8B114C88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1353837308"/>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9CB91B1-84CD-42BD-ACF5-9F495F6FBA0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A00060BC-6AFF-4900-A05C-A315FC080B7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09"/>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weakens 24× at quarter resolution</a:t>
            </a:r>
          </a:p>
        </p:txBody>
      </p:sp>
      <p:sp>
        <p:nvSpPr>
          <p:cNvPr id="3" name="">
            <a:extLst xmlns:a="http://schemas.openxmlformats.org/drawingml/2006/main">
              <a:ext uri="{FF2B5EF4-FFF2-40B4-BE49-F238E27FC236}">
                <a16:creationId xmlns:a16="http://schemas.microsoft.com/office/drawing/2014/main" id="{E5E01554-9D5B-4782-9CF3-7C26767AD85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9F8291B5-080E-493D-B8C8-78717CCA30C6}"/>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18 balanced native-success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484068CA-9DAA-429D-A99C-7DF2C8F1DA7E}"/>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7DC3BF0B-2667-4C52-A680-4F10E770F52C}"/>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f88d46d37d194e2d"/>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9B07F78D-0FA5-4A26-A4E4-1F8FAE02E83D}"/>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7F13E60B-FAE5-4724-AED1-79B2198B9EE5}"/>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489418E6-D909-4D89-91E2-8762E32665D5}"/>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D16EE1D9-26B8-4AE6-AEA9-D088A1F5A914}"/>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e7ff6586cfd34ae7"/>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ED0D1962-F023-465F-B8D4-E853B8027696}"/>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0F30DFEB-075A-496F-815D-B5AC2E396525}"/>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46777D6D-AD27-471F-920F-68EA3987EAFF}"/>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D3F7F856-A87D-40EB-AA11-E4B00D4CDA48}"/>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358ba43a03664a19"/>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12C5009E-2B85-4E00-A3FD-5A3A753AAB24}"/>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44D12BCE-0C6F-4848-BECD-49CA63510D95}"/>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332C7559-4918-41D7-84F2-91B23C6FD446}"/>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2BD57191-E55E-4392-A19B-8096B5112631}"/>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60fc33c693fc470c"/>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7B23A08E-2084-48EF-9F4E-323403857EDA}"/>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49FB7AFE-228C-4636-9496-A9C9E6EE16CB}"/>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3489ABC9-83D6-434F-BAE0-09DC238A5D28}"/>
              </a:ext>
            </a:extLst>
          </p:cNvPr>
          <p:cNvSpPr>
            <a:spLocks xmlns:a="http://schemas.openxmlformats.org/drawingml/2006/main" noGrp="1"/>
          </p:cNvSpPr>
          <p:nvPr/>
        </p:nvSpPr>
        <p:spPr>
          <a:xfrm xmlns:a="http://schemas.openxmlformats.org/drawingml/2006/main">
            <a:off x="609600" y="38862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BALANCED 18-CASE COHORT</a:t>
            </a:r>
          </a:p>
        </p:txBody>
      </p:sp>
      <p:graphicFrame>
        <p:nvGraphicFramePr>
          <p:cNvPr id="60"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18/18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10/18</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3/18</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0.21%</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169×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79×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29×</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5.4×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6.5</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36BFB9C3-B4EE-41D6-A72C-26EE30720EC9}"/>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D01C2E5-B8D9-484E-A3FF-8CF02A6087DC}"/>
              </a:ext>
            </a:extLst>
          </p:cNvPr>
          <p:cNvSpPr>
            <a:spLocks xmlns:a="http://schemas.openxmlformats.org/drawingml/2006/main" noGrp="1"/>
          </p:cNvSpPr>
          <p:nvPr/>
        </p:nvSpPr>
        <p:spPr>
          <a:xfrm xmlns:a="http://schemas.openxmlformats.org/drawingml/2006/main">
            <a:off x="7791450" y="4114800"/>
            <a:ext cx="295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NO FIXED-GRID PADDING CONFOUND</a:t>
            </a:r>
          </a:p>
        </p:txBody>
      </p:sp>
      <p:sp>
        <p:nvSpPr>
          <p:cNvPr id="29" name="">
            <a:extLst xmlns:a="http://schemas.openxmlformats.org/drawingml/2006/main">
              <a:ext uri="{FF2B5EF4-FFF2-40B4-BE49-F238E27FC236}">
                <a16:creationId xmlns:a16="http://schemas.microsoft.com/office/drawing/2014/main" id="{3D40ED89-0804-480F-A449-B170C96CE1AF}"/>
              </a:ext>
            </a:extLst>
          </p:cNvPr>
          <p:cNvSpPr>
            <a:spLocks xmlns:a="http://schemas.openxmlformats.org/drawingml/2006/main" noGrp="1"/>
          </p:cNvSpPr>
          <p:nvPr/>
        </p:nvSpPr>
        <p:spPr>
          <a:xfrm xmlns:a="http://schemas.openxmlformats.org/drawingml/2006/main">
            <a:off x="7791450" y="44196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90×160 → 22×40</a:t>
            </a:r>
          </a:p>
        </p:txBody>
      </p:sp>
      <p:sp>
        <p:nvSpPr>
          <p:cNvPr id="30" name="">
            <a:extLst xmlns:a="http://schemas.openxmlformats.org/drawingml/2006/main">
              <a:ext uri="{FF2B5EF4-FFF2-40B4-BE49-F238E27FC236}">
                <a16:creationId xmlns:a16="http://schemas.microsoft.com/office/drawing/2014/main" id="{E172E121-D8E8-44FD-A028-3BF14C7163B5}"/>
              </a:ext>
            </a:extLst>
          </p:cNvPr>
          <p:cNvSpPr>
            <a:spLocks xmlns:a="http://schemas.openxmlformats.org/drawingml/2006/main" noGrp="1"/>
          </p:cNvSpPr>
          <p:nvPr/>
        </p:nvSpPr>
        <p:spPr>
          <a:xfrm xmlns:a="http://schemas.openxmlformats.org/drawingml/2006/main">
            <a:off x="7791450" y="48006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raw patch grid · ≈3,600 → 220 merged visual tokens</a:t>
            </a:r>
          </a:p>
        </p:txBody>
      </p:sp>
      <p:sp>
        <p:nvSpPr>
          <p:cNvPr id="31" name="">
            <a:extLst xmlns:a="http://schemas.openxmlformats.org/drawingml/2006/main">
              <a:ext uri="{FF2B5EF4-FFF2-40B4-BE49-F238E27FC236}">
                <a16:creationId xmlns:a16="http://schemas.microsoft.com/office/drawing/2014/main" id="{CCC1595F-3FD2-40D8-A3CF-51DDD36D3A6B}"/>
              </a:ext>
            </a:extLst>
          </p:cNvPr>
          <p:cNvSpPr>
            <a:spLocks xmlns:a="http://schemas.openxmlformats.org/drawingml/2006/main" noGrp="1"/>
          </p:cNvSpPr>
          <p:nvPr/>
        </p:nvSpPr>
        <p:spPr>
          <a:xfrm xmlns:a="http://schemas.openxmlformats.org/drawingml/2006/main">
            <a:off x="7791450" y="5181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The grid shrinks with the image; it is not padded back to a fixed ≈1k-token budget.</a:t>
            </a:r>
          </a:p>
        </p:txBody>
      </p:sp>
      <p:sp>
        <p:nvSpPr>
          <p:cNvPr id="32" name="">
            <a:extLst xmlns:a="http://schemas.openxmlformats.org/drawingml/2006/main">
              <a:ext uri="{FF2B5EF4-FFF2-40B4-BE49-F238E27FC236}">
                <a16:creationId xmlns:a16="http://schemas.microsoft.com/office/drawing/2014/main" id="{EE384596-CA68-4DEF-802C-5681B48F6DE7}"/>
              </a:ext>
            </a:extLst>
          </p:cNvPr>
          <p:cNvSpPr>
            <a:spLocks xmlns:a="http://schemas.openxmlformats.org/drawingml/2006/main" noGrp="1"/>
          </p:cNvSpPr>
          <p:nvPr/>
        </p:nvSpPr>
        <p:spPr>
          <a:xfrm xmlns:a="http://schemas.openxmlformats.org/drawingml/2006/main">
            <a:off x="7791450" y="5619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744"/>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Remaining confounds: fewer spatial samples and downsampling/aliasing.</a:t>
            </a:r>
          </a:p>
        </p:txBody>
      </p:sp>
      <p:sp>
        <p:nvSpPr>
          <p:cNvPr id="33" name="">
            <a:extLst xmlns:a="http://schemas.openxmlformats.org/drawingml/2006/main">
              <a:ext uri="{FF2B5EF4-FFF2-40B4-BE49-F238E27FC236}">
                <a16:creationId xmlns:a16="http://schemas.microsoft.com/office/drawing/2014/main" id="{54F6BC6C-CE2C-4D37-909B-B23C62A05EA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F96985C-DB20-48EA-B933-43CFD47FD5B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360 deterministic requests · official localization prompt and 0–1000 contract · eager attention · n=18</a:t>
            </a:r>
          </a:p>
        </p:txBody>
      </p:sp>
    </p:spTree>
    <p:extLst>
      <p:ext uri="{BB962C8B-B14F-4D97-AF65-F5344CB8AC3E}">
        <p14:creationId xmlns:p14="http://schemas.microsoft.com/office/powerpoint/2010/main" val="1524053189"/>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C4D5379-FEEB-4504-9ACE-E1C8AEAD9A2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A16DE915-F25B-46D3-8711-1D56A55DF09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Instruction controls suppress generic edge saliency</a:t>
            </a:r>
          </a:p>
        </p:txBody>
      </p:sp>
      <p:sp>
        <p:nvSpPr>
          <p:cNvPr id="3" name="">
            <a:extLst xmlns:a="http://schemas.openxmlformats.org/drawingml/2006/main">
              <a:ext uri="{FF2B5EF4-FFF2-40B4-BE49-F238E27FC236}">
                <a16:creationId xmlns:a16="http://schemas.microsoft.com/office/drawing/2014/main" id="{D4F117A3-DD11-426F-8864-725BD0D22A3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E19E62AE-9C35-4D59-88CF-0C4FE2188F23}"/>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8426ED45-57C9-493A-AD73-E315FF8499D6}"/>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1682207-90DD-46DF-8286-EDE7F6D93CDD}"/>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D48C5D15-5748-4F70-8923-BEDCEC0E0BE7}"/>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 NO INSTRUCTION BASELINE</a:t>
            </a:r>
          </a:p>
        </p:txBody>
      </p:sp>
      <p:sp>
        <p:nvSpPr>
          <p:cNvPr id="8" name="">
            <a:extLst xmlns:a="http://schemas.openxmlformats.org/drawingml/2006/main">
              <a:ext uri="{FF2B5EF4-FFF2-40B4-BE49-F238E27FC236}">
                <a16:creationId xmlns:a16="http://schemas.microsoft.com/office/drawing/2014/main" id="{933E54A0-01FE-4ADD-8DCB-7FDA5458C8E7}"/>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MINUS 4 SAME-IMAGE INSTRUCTIONS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a8a2f955f2e44b6"/>
          <a:srcRect xmlns:a="http://schemas.openxmlformats.org/drawingml/2006/main" l="0" t="2459" r="0" b="2459"/>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DCB25C90-1E37-4DA0-AF8B-4E327093D37D}"/>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ddc7ff3a51d4e7c"/>
          <a:srcRect xmlns:a="http://schemas.openxmlformats.org/drawingml/2006/main" l="0" t="2459" r="0" b="2459"/>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55023A27-F936-42A0-BCCD-A40C841C2865}"/>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B08A95B2-822D-42BA-B69F-8247674605CC}"/>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CE8C925-4386-4912-BF17-94922B6D8A5A}"/>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9E45745C-6858-4FCC-B627-9ECD6608E513}"/>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shared edge + canvas structure remains</a:t>
            </a:r>
          </a:p>
        </p:txBody>
      </p:sp>
      <p:sp>
        <p:nvSpPr>
          <p:cNvPr id="16" name="">
            <a:extLst xmlns:a="http://schemas.openxmlformats.org/drawingml/2006/main">
              <a:ext uri="{FF2B5EF4-FFF2-40B4-BE49-F238E27FC236}">
                <a16:creationId xmlns:a16="http://schemas.microsoft.com/office/drawing/2014/main" id="{6C1DBC85-B39B-4F52-B42F-151B6C13EBAA}"/>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12F92E6-71CD-4D52-997F-28FA3E97B09F}"/>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FDC8A800-D730-4BFB-B32C-156BC89E4FCD}"/>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18.6% target mass · LOO ≥0.991</a:t>
            </a:r>
          </a:p>
        </p:txBody>
      </p:sp>
      <p:sp>
        <p:nvSpPr>
          <p:cNvPr id="19" name="">
            <a:extLst xmlns:a="http://schemas.openxmlformats.org/drawingml/2006/main">
              <a:ext uri="{FF2B5EF4-FFF2-40B4-BE49-F238E27FC236}">
                <a16:creationId xmlns:a16="http://schemas.microsoft.com/office/drawing/2014/main" id="{9F1E8D3A-75F9-4BDF-8BA9-CA01DEC6050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4CC4EB4-176F-4E98-A17A-44D1EDFB5C1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Resting-state analogy: same image and action; subtract the mean saliency shared across four visible alternate instructions</a:t>
            </a:r>
          </a:p>
        </p:txBody>
      </p:sp>
    </p:spTree>
    <p:extLst>
      <p:ext uri="{BB962C8B-B14F-4D97-AF65-F5344CB8AC3E}">
        <p14:creationId xmlns:p14="http://schemas.microsoft.com/office/powerpoint/2010/main" val="741731404"/>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8DB0492-CEC4-42E3-AA65-EB85EE73A20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5DF8016E-AE1B-403B-BCDD-975C960095F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2112ACD6-14E2-4BB8-A8AC-B2D2EF520CF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A0B6E659-D86B-464D-9E49-E230BED85C3E}"/>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1A4D43AE-6BF9-4036-973E-3E845DBD4F0E}"/>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5A29636-5600-43DD-8E14-28C59E0446C7}"/>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858899BC-6CAC-4F3B-82F7-84E2D3D6A6B8}"/>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99439caa5ee49d4"/>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E21C8C06-D002-40CC-974E-FBFEEE4D6CBF}"/>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B04164F7-A443-43F9-A3ED-7885A4772FC5}"/>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25E058-1D6B-4685-B899-D98A25DC7ACC}"/>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4E748B5-0EF1-4B17-B413-B8AB24B43657}"/>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436243FD-A477-4901-ABCE-7F82CE7198EA}"/>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7C449C55-8D93-4625-8937-D831BD6B3DC1}"/>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71C40E21-A823-4057-82B9-AE6125C15F8B}"/>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79F7376-DEBD-49A4-9214-8564AB05C842}"/>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EA68B081-31DD-4890-9306-A13275EEB69B}"/>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2B526454-6DB6-4BC9-8CE9-D9F414A7C4AE}"/>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AD42BE98-8E90-4E37-8320-24EFF7A48009}"/>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0C158DC9-9FB4-441A-AE3B-A02625481662}"/>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3B1580F6-A797-4F5D-9EEA-83FE93468DCC}"/>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D459642E-6D27-4FD0-AB19-066616724DC7}"/>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BF73469B-7D5F-4287-8636-E2CDE7C0C41A}"/>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1B849AA7-77A9-49E4-95F0-CBD9B50393F7}"/>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7B8AA560-6C8C-4486-8724-AC4A23CAFFDE}"/>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9BB6B849-8181-44DE-8B8C-BCE7D0DF94D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F0F9685-C690-45B1-9585-DEA669AEDCD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416966620"/>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795F019-40D1-4A3E-B1C5-590655DF97E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MATCHED HOTEL TRAJECTORY</a:t>
            </a:r>
          </a:p>
        </p:txBody>
      </p:sp>
      <p:sp>
        <p:nvSpPr>
          <p:cNvPr id="2" name="">
            <a:extLst xmlns:a="http://schemas.openxmlformats.org/drawingml/2006/main">
              <a:ext uri="{FF2B5EF4-FFF2-40B4-BE49-F238E27FC236}">
                <a16:creationId xmlns:a16="http://schemas.microsoft.com/office/drawing/2014/main" id="{1AD99913-F72E-462D-B4B1-62F8D3E7B8B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Holo clicks while Qwen continues searching</a:t>
            </a:r>
          </a:p>
        </p:txBody>
      </p:sp>
      <p:sp>
        <p:nvSpPr>
          <p:cNvPr id="3" name="">
            <a:extLst xmlns:a="http://schemas.openxmlformats.org/drawingml/2006/main">
              <a:ext uri="{FF2B5EF4-FFF2-40B4-BE49-F238E27FC236}">
                <a16:creationId xmlns:a16="http://schemas.microsoft.com/office/drawing/2014/main" id="{A001FB63-51FE-4ECB-B743-EA44D591CF1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193BDF7A-9785-41B0-B092-28A30EEB3EDF}"/>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Exploratory n=1 · same frozen fixture · native 1280×800 screenshots · official tools</a:t>
            </a:r>
          </a:p>
        </p:txBody>
      </p:sp>
      <p:sp>
        <p:nvSpPr>
          <p:cNvPr id="5" name="">
            <a:extLst xmlns:a="http://schemas.openxmlformats.org/drawingml/2006/main">
              <a:ext uri="{FF2B5EF4-FFF2-40B4-BE49-F238E27FC236}">
                <a16:creationId xmlns:a16="http://schemas.microsoft.com/office/drawing/2014/main" id="{DCCFDC9B-F9BA-4EB3-8FA2-FBEBCADAC76A}"/>
              </a:ext>
            </a:extLst>
          </p:cNvPr>
          <p:cNvSpPr>
            <a:spLocks xmlns:a="http://schemas.openxmlformats.org/drawingml/2006/main" noGrp="1"/>
          </p:cNvSpPr>
          <p:nvPr/>
        </p:nvSpPr>
        <p:spPr>
          <a:xfrm xmlns:a="http://schemas.openxmlformats.org/drawingml/2006/main">
            <a:off x="609600" y="1485900"/>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SAME TARGET · FJORD COMPASS LODGE · €166</a:t>
            </a:r>
          </a:p>
        </p:txBody>
      </p:sp>
      <p:graphicFrame>
        <p:nvGraphicFramePr>
          <p:cNvPr id="41" name=""/>
          <p:cNvGraphicFramePr/>
          <p:nvPr/>
        </p:nvGraphicFramePr>
        <p:xfrm>
          <a:off xmlns:a="http://schemas.openxmlformats.org/drawingml/2006/main" x="609600" y="1771650"/>
          <a:ext xmlns:a="http://schemas.openxmlformats.org/drawingml/2006/main" cx="4762500" cy="1581150"/>
        </p:xfrm>
        <a:graphic xmlns:a="http://schemas.openxmlformats.org/drawingml/2006/main">
          <a:graphicData uri="http://schemas.openxmlformats.org/drawingml/2006/table">
            <a:tbl>
              <a:tblPr/>
              <a:tblGrid>
                <a:gridCol w="685800"/>
                <a:gridCol w="723900"/>
                <a:gridCol w="723900"/>
                <a:gridCol w="876300"/>
                <a:gridCol w="723900"/>
                <a:gridCol w="1028700"/>
              </a:tblGrid>
              <a:tr h="527050">
                <a:tc>
                  <a:txBody>
                    <a:bodyPr>
                      <a:normAutofit/>
                    </a:bodyPr>
                    <a:lstStyle/>
                    <a:p>
                      <a:pPr algn="ctr"/>
                      <a:r>
                        <a:rPr sz="750" b="1">
                          <a:solidFill>
                            <a:srgbClr val="FFFFFF"/>
                          </a:solidFill>
                          <a:latin typeface="Helvetica Neue"/>
                          <a:ea typeface="Helvetica Neue"/>
                          <a:cs typeface="Helvetica Neue"/>
                        </a:rPr>
                        <a:t>MODEL</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1</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2</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3</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4</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57150" marR="57150" marT="47625" marB="47625" anchor="ctr">
                    <a:solidFill>
                      <a:srgbClr val="1C2733"/>
                    </a:solidFill>
                  </a:tcPr>
                </a:tc>
              </a:tr>
              <a:tr h="527050">
                <a:tc>
                  <a:txBody>
                    <a:bodyPr>
                      <a:normAutofit/>
                    </a:bodyPr>
                    <a:lstStyle/>
                    <a:p>
                      <a:pPr algn="ctr"/>
                      <a:r>
                        <a:rPr sz="825" b="1">
                          <a:solidFill>
                            <a:srgbClr val="10151C"/>
                          </a:solidFill>
                          <a:latin typeface="Helvetica Neue"/>
                          <a:ea typeface="Helvetica Neue"/>
                          <a:cs typeface="Helvetica Neue"/>
                        </a:rPr>
                        <a:t>Holo</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click</a:t>
                      </a:r>
                    </a:p>
                    <a:p>
                      <a:pPr algn="ctr"/>
                      <a:r>
                        <a:rPr sz="825" b="0">
                          <a:solidFill>
                            <a:srgbClr val="10151C"/>
                          </a:solidFill>
                          <a:latin typeface="Helvetica Neue"/>
                          <a:ea typeface="Helvetica Neue"/>
                          <a:cs typeface="Helvetica Neue"/>
                        </a:rPr>
                        <a:t>(1023,208)</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a:t>
                      </a:r>
                    </a:p>
                  </a:txBody>
                  <a:tcPr marL="57150" marR="57150" marT="47625" marB="47625" anchor="ctr">
                    <a:solidFill>
                      <a:srgbClr val="DDEFE7"/>
                    </a:solidFill>
                  </a:tcPr>
                </a:tc>
                <a:tc>
                  <a:txBody>
                    <a:bodyPr>
                      <a:normAutofit/>
                    </a:bodyPr>
                    <a:lstStyle/>
                    <a:p>
                      <a:pPr algn="ctr"/>
                      <a:r>
                        <a:rPr sz="825" b="1">
                          <a:solidFill>
                            <a:srgbClr val="18A875"/>
                          </a:solidFill>
                          <a:latin typeface="Helvetica Neue"/>
                          <a:ea typeface="Helvetica Neue"/>
                          <a:cs typeface="Helvetica Neue"/>
                        </a:rPr>
                        <a:t>correct click</a:t>
                      </a:r>
                    </a:p>
                  </a:txBody>
                  <a:tcPr marL="57150" marR="57150" marT="47625" marB="47625" anchor="ctr">
                    <a:solidFill>
                      <a:srgbClr val="DDEFE7"/>
                    </a:solidFill>
                  </a:tcPr>
                </a:tc>
              </a:tr>
              <a:tr h="527050">
                <a:tc>
                  <a:txBody>
                    <a:bodyPr>
                      <a:normAutofit/>
                    </a:bodyPr>
                    <a:lstStyle/>
                    <a:p>
                      <a:pPr algn="ctr"/>
                      <a:r>
                        <a:rPr sz="825" b="1">
                          <a:solidFill>
                            <a:srgbClr val="10151C"/>
                          </a:solidFill>
                          <a:latin typeface="Helvetica Neue"/>
                          <a:ea typeface="Helvetica Neue"/>
                          <a:cs typeface="Helvetica Neue"/>
                        </a:rPr>
                        <a:t>Qwen</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1">
                          <a:solidFill>
                            <a:srgbClr val="2D84D3"/>
                          </a:solidFill>
                          <a:latin typeface="Helvetica Neue"/>
                          <a:ea typeface="Helvetica Neue"/>
                          <a:cs typeface="Helvetica Neue"/>
                        </a:rPr>
                        <a:t>cap reached</a:t>
                      </a:r>
                    </a:p>
                  </a:txBody>
                  <a:tcPr marL="57150" marR="57150" marT="47625" marB="47625" anchor="ctr">
                    <a:solidFill>
                      <a:srgbClr val="DDECF9"/>
                    </a:solidFill>
                  </a:tcPr>
                </a:tc>
              </a:tr>
            </a:tbl>
          </a:graphicData>
        </a:graphic>
      </p:graphicFrame>
      <p:sp>
        <p:nvSpPr>
          <p:cNvPr id="7" name="">
            <a:extLst xmlns:a="http://schemas.openxmlformats.org/drawingml/2006/main">
              <a:ext uri="{FF2B5EF4-FFF2-40B4-BE49-F238E27FC236}">
                <a16:creationId xmlns:a16="http://schemas.microsoft.com/office/drawing/2014/main" id="{20A619F2-4CC2-4051-A98D-2DE724F4CE20}"/>
              </a:ext>
            </a:extLst>
          </p:cNvPr>
          <p:cNvSpPr>
            <a:spLocks xmlns:a="http://schemas.openxmlformats.org/drawingml/2006/main" noGrp="1"/>
          </p:cNvSpPr>
          <p:nvPr/>
        </p:nvSpPr>
        <p:spPr>
          <a:xfrm xmlns:a="http://schemas.openxmlformats.org/drawingml/2006/main">
            <a:off x="609600" y="36385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BOTH TRACK €166 BY TURN 3</a:t>
            </a:r>
          </a:p>
        </p:txBody>
      </p:sp>
      <p:sp>
        <p:nvSpPr>
          <p:cNvPr id="8" name="">
            <a:extLst xmlns:a="http://schemas.openxmlformats.org/drawingml/2006/main">
              <a:ext uri="{FF2B5EF4-FFF2-40B4-BE49-F238E27FC236}">
                <a16:creationId xmlns:a16="http://schemas.microsoft.com/office/drawing/2014/main" id="{2C358D13-8099-48ED-8B74-C736679DA2C1}"/>
              </a:ext>
            </a:extLst>
          </p:cNvPr>
          <p:cNvSpPr>
            <a:spLocks xmlns:a="http://schemas.openxmlformats.org/drawingml/2006/main" noGrp="1"/>
          </p:cNvSpPr>
          <p:nvPr/>
        </p:nvSpPr>
        <p:spPr>
          <a:xfrm xmlns:a="http://schemas.openxmlformats.org/drawingml/2006/main">
            <a:off x="609600" y="39052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Holo sees all six prices and clicks. Qwen identifies €166 as the lowest observed price, then spends its fourth action scrolling.</a:t>
            </a:r>
          </a:p>
        </p:txBody>
      </p:sp>
      <p:sp>
        <p:nvSpPr>
          <p:cNvPr id="9" name="">
            <a:extLst xmlns:a="http://schemas.openxmlformats.org/drawingml/2006/main">
              <a:ext uri="{FF2B5EF4-FFF2-40B4-BE49-F238E27FC236}">
                <a16:creationId xmlns:a16="http://schemas.microsoft.com/office/drawing/2014/main" id="{E7B52E64-7EF5-4404-9817-78EFDB960C22}"/>
              </a:ext>
            </a:extLst>
          </p:cNvPr>
          <p:cNvSpPr>
            <a:spLocks xmlns:a="http://schemas.openxmlformats.org/drawingml/2006/main" noGrp="1"/>
          </p:cNvSpPr>
          <p:nvPr/>
        </p:nvSpPr>
        <p:spPr>
          <a:xfrm xmlns:a="http://schemas.openxmlformats.org/drawingml/2006/main">
            <a:off x="609600" y="4819650"/>
            <a:ext cx="4762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E82F68FB-E5DF-4AD1-A57F-92BEAF3C442C}"/>
              </a:ext>
            </a:extLst>
          </p:cNvPr>
          <p:cNvSpPr>
            <a:spLocks xmlns:a="http://schemas.openxmlformats.org/drawingml/2006/main" noGrp="1"/>
          </p:cNvSpPr>
          <p:nvPr/>
        </p:nvSpPr>
        <p:spPr>
          <a:xfrm xmlns:a="http://schemas.openxmlformats.org/drawingml/2006/main">
            <a:off x="838200" y="50101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CLAIM BOUNDARY</a:t>
            </a:r>
          </a:p>
        </p:txBody>
      </p:sp>
      <p:sp>
        <p:nvSpPr>
          <p:cNvPr id="11" name="">
            <a:extLst xmlns:a="http://schemas.openxmlformats.org/drawingml/2006/main">
              <a:ext uri="{FF2B5EF4-FFF2-40B4-BE49-F238E27FC236}">
                <a16:creationId xmlns:a16="http://schemas.microsoft.com/office/drawing/2014/main" id="{E1226AC1-085D-4670-84BC-3FB97D240B0C}"/>
              </a:ext>
            </a:extLst>
          </p:cNvPr>
          <p:cNvSpPr>
            <a:spLocks xmlns:a="http://schemas.openxmlformats.org/drawingml/2006/main" noGrp="1"/>
          </p:cNvSpPr>
          <p:nvPr/>
        </p:nvSpPr>
        <p:spPr>
          <a:xfrm xmlns:a="http://schemas.openxmlformats.org/drawingml/2006/main">
            <a:off x="838200" y="5267325"/>
            <a:ext cx="430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22"/>
          </a:bodyPr>
          <a:lstStyle xmlns:a="http://schemas.openxmlformats.org/drawingml/2006/main"/>
          <a:p xmlns:a="http://schemas.openxmlformats.org/drawingml/2006/main">
            <a:pPr algn="l">
              <a:defRPr sz="1200" b="1">
                <a:solidFill>
                  <a:srgbClr val="10151C"/>
                </a:solidFill>
                <a:latin typeface="Helvetica Neue"/>
                <a:ea typeface="Helvetica Neue"/>
                <a:cs typeface="Helvetica Neue"/>
              </a:defRPr>
            </a:pPr>
            <a:r>
              <a:rPr sz="1200" b="1">
                <a:solidFill>
                  <a:srgbClr val="10151C"/>
                </a:solidFill>
                <a:latin typeface="Helvetica Neue"/>
                <a:ea typeface="Helvetica Neue"/>
                <a:cs typeface="Helvetica Neue"/>
              </a:rPr>
              <a:t>This matched case motivates a stopping and action-readout hypothesis. It does not estimate checkpoint accuracy.</a:t>
            </a:r>
          </a:p>
        </p:txBody>
      </p:sp>
      <p:sp>
        <p:nvSpPr>
          <p:cNvPr id="12" name="">
            <a:extLst xmlns:a="http://schemas.openxmlformats.org/drawingml/2006/main">
              <a:ext uri="{FF2B5EF4-FFF2-40B4-BE49-F238E27FC236}">
                <a16:creationId xmlns:a16="http://schemas.microsoft.com/office/drawing/2014/main" id="{7D679358-C284-4A2F-B53E-76A8CA3B220A}"/>
              </a:ext>
            </a:extLst>
          </p:cNvPr>
          <p:cNvSpPr>
            <a:spLocks xmlns:a="http://schemas.openxmlformats.org/drawingml/2006/main" noGrp="1"/>
          </p:cNvSpPr>
          <p:nvPr/>
        </p:nvSpPr>
        <p:spPr>
          <a:xfrm xmlns:a="http://schemas.openxmlformats.org/drawingml/2006/main">
            <a:off x="5676900" y="1485900"/>
            <a:ext cx="590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TRACED HOLO REPLICATE · FINAL VALUE-NORM ROLLOUT</a:t>
            </a:r>
          </a:p>
        </p:txBody>
      </p:sp>
      <p:sp>
        <p:nvSpPr>
          <p:cNvPr id="13" name="">
            <a:extLst xmlns:a="http://schemas.openxmlformats.org/drawingml/2006/main">
              <a:ext uri="{FF2B5EF4-FFF2-40B4-BE49-F238E27FC236}">
                <a16:creationId xmlns:a16="http://schemas.microsoft.com/office/drawing/2014/main" id="{3FE4DBDF-DD2D-495A-B953-A87C7E958DE8}"/>
              </a:ext>
            </a:extLst>
          </p:cNvPr>
          <p:cNvSpPr>
            <a:spLocks xmlns:a="http://schemas.openxmlformats.org/drawingml/2006/main" noGrp="1"/>
          </p:cNvSpPr>
          <p:nvPr/>
        </p:nvSpPr>
        <p:spPr>
          <a:xfrm xmlns:a="http://schemas.openxmlformats.org/drawingml/2006/main">
            <a:off x="5676900" y="17240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1</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474e21197d484f59"/>
          <a:stretch xmlns:a="http://schemas.openxmlformats.org/drawingml/2006/main"/>
        </p:blipFill>
        <p:spPr>
          <a:xfrm xmlns:a="http://schemas.openxmlformats.org/drawingml/2006/main">
            <a:off x="5676900" y="1916906"/>
            <a:ext cx="1257300" cy="785813"/>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126CC32-B078-42CA-9407-67D547EA9CC0}"/>
              </a:ext>
            </a:extLst>
          </p:cNvPr>
          <p:cNvSpPr>
            <a:spLocks xmlns:a="http://schemas.openxmlformats.org/drawingml/2006/main" noGrp="1"/>
          </p:cNvSpPr>
          <p:nvPr/>
        </p:nvSpPr>
        <p:spPr>
          <a:xfrm xmlns:a="http://schemas.openxmlformats.org/drawingml/2006/main">
            <a:off x="5676900" y="19145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5AA00F95-B38E-4A50-A3A6-7E36E2230EC2}"/>
              </a:ext>
            </a:extLst>
          </p:cNvPr>
          <p:cNvSpPr>
            <a:spLocks xmlns:a="http://schemas.openxmlformats.org/drawingml/2006/main" noGrp="1"/>
          </p:cNvSpPr>
          <p:nvPr/>
        </p:nvSpPr>
        <p:spPr>
          <a:xfrm xmlns:a="http://schemas.openxmlformats.org/drawingml/2006/main">
            <a:off x="5676900" y="28289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2</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03ff3569302b49a6"/>
          <a:stretch xmlns:a="http://schemas.openxmlformats.org/drawingml/2006/main"/>
        </p:blipFill>
        <p:spPr>
          <a:xfrm xmlns:a="http://schemas.openxmlformats.org/drawingml/2006/main">
            <a:off x="5676900" y="3021806"/>
            <a:ext cx="1257300" cy="785813"/>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19EEAE41-37C0-4A1E-A6F4-29692B86FF27}"/>
              </a:ext>
            </a:extLst>
          </p:cNvPr>
          <p:cNvSpPr>
            <a:spLocks xmlns:a="http://schemas.openxmlformats.org/drawingml/2006/main" noGrp="1"/>
          </p:cNvSpPr>
          <p:nvPr/>
        </p:nvSpPr>
        <p:spPr>
          <a:xfrm xmlns:a="http://schemas.openxmlformats.org/drawingml/2006/main">
            <a:off x="5676900" y="30194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65FA220B-83BD-4D45-858B-ED3652153EA5}"/>
              </a:ext>
            </a:extLst>
          </p:cNvPr>
          <p:cNvSpPr>
            <a:spLocks xmlns:a="http://schemas.openxmlformats.org/drawingml/2006/main" noGrp="1"/>
          </p:cNvSpPr>
          <p:nvPr/>
        </p:nvSpPr>
        <p:spPr>
          <a:xfrm xmlns:a="http://schemas.openxmlformats.org/drawingml/2006/main">
            <a:off x="7086600" y="1724025"/>
            <a:ext cx="44958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18A875"/>
                </a:solidFill>
                <a:latin typeface="Helvetica Neue"/>
                <a:ea typeface="Helvetica Neue"/>
                <a:cs typeface="Helvetica Neue"/>
              </a:defRPr>
            </a:pPr>
            <a:r>
              <a:rPr sz="675" b="1">
                <a:solidFill>
                  <a:srgbClr val="18A875"/>
                </a:solidFill>
                <a:latin typeface="Helvetica Neue"/>
                <a:ea typeface="Helvetica Neue"/>
                <a:cs typeface="Helvetica Neue"/>
              </a:rPr>
              <a:t>CURRENT FRAME</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f0bdf3d611934c14"/>
          <a:stretch xmlns:a="http://schemas.openxmlformats.org/drawingml/2006/main"/>
        </p:blipFill>
        <p:spPr>
          <a:xfrm xmlns:a="http://schemas.openxmlformats.org/drawingml/2006/main">
            <a:off x="7086600" y="1914525"/>
            <a:ext cx="4495800" cy="280987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804AEB1C-F1D6-4AA8-B3FD-980097836AC5}"/>
              </a:ext>
            </a:extLst>
          </p:cNvPr>
          <p:cNvSpPr>
            <a:spLocks xmlns:a="http://schemas.openxmlformats.org/drawingml/2006/main" noGrp="1"/>
          </p:cNvSpPr>
          <p:nvPr/>
        </p:nvSpPr>
        <p:spPr>
          <a:xfrm xmlns:a="http://schemas.openxmlformats.org/drawingml/2006/main">
            <a:off x="7086600" y="1914525"/>
            <a:ext cx="4495800" cy="2809875"/>
          </a:xfrm>
          <a:prstGeom xmlns:a="http://schemas.openxmlformats.org/drawingml/2006/main" prst="roundRect">
            <a:avLst>
              <a:gd name="adj" fmla="val 2712"/>
            </a:avLst>
          </a:prstGeom>
          <a:noFill xmlns:a="http://schemas.openxmlformats.org/drawingml/2006/main"/>
          <a:ln xmlns:a="http://schemas.openxmlformats.org/drawingml/2006/main" w="9525">
            <a:solidFill>
              <a:srgbClr val="D9D4C8"/>
            </a:solidFill>
          </a:ln>
        </p:spPr>
      </p:sp>
      <p:sp>
        <p:nvSpPr>
          <p:cNvPr id="22" name="">
            <a:extLst xmlns:a="http://schemas.openxmlformats.org/drawingml/2006/main">
              <a:ext uri="{FF2B5EF4-FFF2-40B4-BE49-F238E27FC236}">
                <a16:creationId xmlns:a16="http://schemas.microsoft.com/office/drawing/2014/main" id="{AD963062-586E-4238-A5DE-707D0FAC1F49}"/>
              </a:ext>
            </a:extLst>
          </p:cNvPr>
          <p:cNvSpPr>
            <a:spLocks xmlns:a="http://schemas.openxmlformats.org/drawingml/2006/main" noGrp="1"/>
          </p:cNvSpPr>
          <p:nvPr/>
        </p:nvSpPr>
        <p:spPr>
          <a:xfrm xmlns:a="http://schemas.openxmlformats.org/drawingml/2006/main">
            <a:off x="10518160" y="2585383"/>
            <a:ext cx="449580" cy="175617"/>
          </a:xfrm>
          <a:prstGeom xmlns:a="http://schemas.openxmlformats.org/drawingml/2006/main" prst="roundRect">
            <a:avLst>
              <a:gd name="adj" fmla="val 43390"/>
            </a:avLst>
          </a:prstGeom>
          <a:noFill xmlns:a="http://schemas.openxmlformats.org/drawingml/2006/main"/>
          <a:ln xmlns:a="http://schemas.openxmlformats.org/drawingml/2006/main" w="9525">
            <a:solidFill>
              <a:srgbClr val="18A875"/>
            </a:solidFill>
          </a:ln>
        </p:spPr>
      </p:sp>
      <p:sp>
        <p:nvSpPr>
          <p:cNvPr id="23" name="">
            <a:extLst xmlns:a="http://schemas.openxmlformats.org/drawingml/2006/main">
              <a:ext uri="{FF2B5EF4-FFF2-40B4-BE49-F238E27FC236}">
                <a16:creationId xmlns:a16="http://schemas.microsoft.com/office/drawing/2014/main" id="{0127CE2A-C5E6-4895-A18E-4BA322E8543C}"/>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24" name="">
            <a:extLst xmlns:a="http://schemas.openxmlformats.org/drawingml/2006/main">
              <a:ext uri="{FF2B5EF4-FFF2-40B4-BE49-F238E27FC236}">
                <a16:creationId xmlns:a16="http://schemas.microsoft.com/office/drawing/2014/main" id="{A541EE14-0141-429F-A7BE-1A02D6E1A731}"/>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5" name="">
            <a:extLst xmlns:a="http://schemas.openxmlformats.org/drawingml/2006/main">
              <a:ext uri="{FF2B5EF4-FFF2-40B4-BE49-F238E27FC236}">
                <a16:creationId xmlns:a16="http://schemas.microsoft.com/office/drawing/2014/main" id="{C27A08F5-AA55-452C-B93F-742329804404}"/>
              </a:ext>
            </a:extLst>
          </p:cNvPr>
          <p:cNvSpPr>
            <a:spLocks xmlns:a="http://schemas.openxmlformats.org/drawingml/2006/main" noGrp="1"/>
          </p:cNvSpPr>
          <p:nvPr/>
        </p:nvSpPr>
        <p:spPr>
          <a:xfrm xmlns:a="http://schemas.openxmlformats.org/drawingml/2006/main">
            <a:off x="10584478" y="2639854"/>
            <a:ext cx="19050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3299BCA-F3F9-47D0-AA2E-CC2E2DD94C29}"/>
              </a:ext>
            </a:extLst>
          </p:cNvPr>
          <p:cNvSpPr>
            <a:spLocks xmlns:a="http://schemas.openxmlformats.org/drawingml/2006/main" noGrp="1"/>
          </p:cNvSpPr>
          <p:nvPr/>
        </p:nvSpPr>
        <p:spPr>
          <a:xfrm xmlns:a="http://schemas.openxmlformats.org/drawingml/2006/main">
            <a:off x="10646390" y="2577941"/>
            <a:ext cx="66675" cy="1905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4B7C6CA-066F-416D-8FBB-511631FD2FDF}"/>
              </a:ext>
            </a:extLst>
          </p:cNvPr>
          <p:cNvSpPr>
            <a:spLocks xmlns:a="http://schemas.openxmlformats.org/drawingml/2006/main" noGrp="1"/>
          </p:cNvSpPr>
          <p:nvPr/>
        </p:nvSpPr>
        <p:spPr>
          <a:xfrm xmlns:a="http://schemas.openxmlformats.org/drawingml/2006/main">
            <a:off x="10584478" y="2658904"/>
            <a:ext cx="1905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AD5640C-A49F-4588-94C9-C4D67567E7AC}"/>
              </a:ext>
            </a:extLst>
          </p:cNvPr>
          <p:cNvSpPr>
            <a:spLocks xmlns:a="http://schemas.openxmlformats.org/drawingml/2006/main" noGrp="1"/>
          </p:cNvSpPr>
          <p:nvPr/>
        </p:nvSpPr>
        <p:spPr>
          <a:xfrm xmlns:a="http://schemas.openxmlformats.org/drawingml/2006/main">
            <a:off x="10665440" y="2577941"/>
            <a:ext cx="28575" cy="1905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525942A-1B5C-4764-BB00-CC82EC4C8469}"/>
              </a:ext>
            </a:extLst>
          </p:cNvPr>
          <p:cNvSpPr>
            <a:spLocks xmlns:a="http://schemas.openxmlformats.org/drawingml/2006/main" noGrp="1"/>
          </p:cNvSpPr>
          <p:nvPr/>
        </p:nvSpPr>
        <p:spPr>
          <a:xfrm xmlns:a="http://schemas.openxmlformats.org/drawingml/2006/main">
            <a:off x="5676900" y="4857750"/>
            <a:ext cx="5905500" cy="1066800"/>
          </a:xfrm>
          <a:prstGeom xmlns:a="http://schemas.openxmlformats.org/drawingml/2006/main" prst="roundRect">
            <a:avLst>
              <a:gd name="adj" fmla="val 7143"/>
            </a:avLst>
          </a:prstGeom>
          <a:solidFill xmlns:a="http://schemas.openxmlformats.org/drawingml/2006/main">
            <a:srgbClr val="1C273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22BEAC2-8839-4810-8698-B2B2A3460B7E}"/>
              </a:ext>
            </a:extLst>
          </p:cNvPr>
          <p:cNvSpPr>
            <a:spLocks xmlns:a="http://schemas.openxmlformats.org/drawingml/2006/main" noGrp="1"/>
          </p:cNvSpPr>
          <p:nvPr/>
        </p:nvSpPr>
        <p:spPr>
          <a:xfrm xmlns:a="http://schemas.openxmlformats.org/drawingml/2006/main">
            <a:off x="5905500" y="50387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TRACED REPLICATE</a:t>
            </a:r>
          </a:p>
        </p:txBody>
      </p:sp>
      <p:sp>
        <p:nvSpPr>
          <p:cNvPr id="31" name="">
            <a:extLst xmlns:a="http://schemas.openxmlformats.org/drawingml/2006/main">
              <a:ext uri="{FF2B5EF4-FFF2-40B4-BE49-F238E27FC236}">
                <a16:creationId xmlns:a16="http://schemas.microsoft.com/office/drawing/2014/main" id="{E7874937-082B-4AFF-AA55-58620CCA96CD}"/>
              </a:ext>
            </a:extLst>
          </p:cNvPr>
          <p:cNvSpPr>
            <a:spLocks xmlns:a="http://schemas.openxmlformats.org/drawingml/2006/main" noGrp="1"/>
          </p:cNvSpPr>
          <p:nvPr/>
        </p:nvSpPr>
        <p:spPr>
          <a:xfrm xmlns:a="http://schemas.openxmlformats.org/drawingml/2006/main">
            <a:off x="5905500" y="52387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Fjord Compass Lodge · €166</a:t>
            </a:r>
          </a:p>
        </p:txBody>
      </p:sp>
      <p:sp>
        <p:nvSpPr>
          <p:cNvPr id="32" name="">
            <a:extLst xmlns:a="http://schemas.openxmlformats.org/drawingml/2006/main">
              <a:ext uri="{FF2B5EF4-FFF2-40B4-BE49-F238E27FC236}">
                <a16:creationId xmlns:a16="http://schemas.microsoft.com/office/drawing/2014/main" id="{3D839321-EDAC-4F24-9EB0-8DCE1D49549B}"/>
              </a:ext>
            </a:extLst>
          </p:cNvPr>
          <p:cNvSpPr>
            <a:spLocks xmlns:a="http://schemas.openxmlformats.org/drawingml/2006/main" noGrp="1"/>
          </p:cNvSpPr>
          <p:nvPr/>
        </p:nvSpPr>
        <p:spPr>
          <a:xfrm xmlns:a="http://schemas.openxmlformats.org/drawingml/2006/main">
            <a:off x="5905500" y="55149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Two scrolls, then click (1023,216) inside the oracle button</a:t>
            </a:r>
          </a:p>
        </p:txBody>
      </p:sp>
      <p:sp>
        <p:nvSpPr>
          <p:cNvPr id="33" name="">
            <a:extLst xmlns:a="http://schemas.openxmlformats.org/drawingml/2006/main">
              <a:ext uri="{FF2B5EF4-FFF2-40B4-BE49-F238E27FC236}">
                <a16:creationId xmlns:a16="http://schemas.microsoft.com/office/drawing/2014/main" id="{499F846B-4BEC-47D8-B579-A4C946D96B8A}"/>
              </a:ext>
            </a:extLst>
          </p:cNvPr>
          <p:cNvSpPr>
            <a:spLocks xmlns:a="http://schemas.openxmlformats.org/drawingml/2006/main" noGrp="1"/>
          </p:cNvSpPr>
          <p:nvPr/>
        </p:nvSpPr>
        <p:spPr>
          <a:xfrm xmlns:a="http://schemas.openxmlformats.org/drawingml/2006/main">
            <a:off x="9239250" y="50577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BD3DB"/>
                </a:solidFill>
                <a:latin typeface="Helvetica Neue"/>
                <a:ea typeface="Helvetica Neue"/>
                <a:cs typeface="Helvetica Neue"/>
              </a:defRPr>
            </a:pPr>
            <a:r>
              <a:rPr sz="900" b="0">
                <a:solidFill>
                  <a:srgbClr val="CBD3DB"/>
                </a:solidFill>
                <a:latin typeface="Helvetica Neue"/>
                <a:ea typeface="Helvetica Neue"/>
                <a:cs typeface="Helvetica Neue"/>
              </a:rPr>
              <a:t>Attribution appears across all three retained frames. These maps are descriptive and do not yet subtract diverse-instruction controls.</a:t>
            </a:r>
          </a:p>
        </p:txBody>
      </p:sp>
      <p:sp>
        <p:nvSpPr>
          <p:cNvPr id="34" name="">
            <a:extLst xmlns:a="http://schemas.openxmlformats.org/drawingml/2006/main">
              <a:ext uri="{FF2B5EF4-FFF2-40B4-BE49-F238E27FC236}">
                <a16:creationId xmlns:a16="http://schemas.microsoft.com/office/drawing/2014/main" id="{C0ABD61B-BBB7-4D4F-A43E-300533D2F04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456FBB66-3808-4C69-8A6C-2E07960BF803}"/>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Independent free generation · HoloDesktop 0.1.10 tools · normalized 0–1000 coordinates · native resolution</a:t>
            </a:r>
          </a:p>
        </p:txBody>
      </p:sp>
    </p:spTree>
    <p:extLst>
      <p:ext uri="{BB962C8B-B14F-4D97-AF65-F5344CB8AC3E}">
        <p14:creationId xmlns:p14="http://schemas.microsoft.com/office/powerpoint/2010/main" val="602936877"/>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E544505A-5DC2-4387-832E-EDD1C414FF7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5D130831-9613-44A2-B08F-268ED2445F6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89A186EA-A68C-464E-B48D-FC0A08DBCB3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C382299C-0B1F-437A-99B9-8EF1133680BD}"/>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0694CECF-5C6E-4236-90E9-34D20EA12D24}"/>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7B95B1F-0044-4353-8FAC-8EE70C72DD3F}"/>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703fa112c6af4122"/>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86CF2B6F-B13C-49B0-9DAE-0A37E217864E}"/>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745397CF-5E68-4AE1-A64F-96892173707F}"/>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566277F8-EE61-44AF-B6D1-02E661201C21}"/>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743FEFD-4E5C-4185-870B-073D243A5A0D}"/>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06c3fb257b044ff4"/>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530E31FB-E793-4010-B1A7-29443AEC9FCE}"/>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B2889927-5F19-4CA5-B6DF-1CF217719B62}"/>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84ED42EC-5AB3-41A6-8FB9-9299A357FCF7}"/>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F1B3ED21-C584-49F6-9DA7-B2514E594DC6}"/>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E173F600-BDB3-48BD-9040-987276E8BDAF}"/>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CEF70D77-7EEC-4D6E-B69E-34422D95AE3D}"/>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A51D974F-68AB-4290-97B8-3245EE68B72C}"/>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8589F8B2-8C2F-48F6-A2BC-3380C87AB2F8}"/>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65FA995D-80BA-4C48-B051-DA8F7E4F9C26}"/>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BA7EE1A6-FD68-44C4-8444-7F57292F3B7C}"/>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D86C9E3B-FD81-4214-BAE9-8C51230E4BC2}"/>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03FE2C47-4167-40E3-A80F-25A72AF9933A}"/>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5B9F5C98-FA25-4241-8F91-B15668E723AA}"/>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23D70B1F-0B68-4DD2-82A2-D89C93003175}"/>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F908DC9C-8F74-4781-8E54-608A49E98996}"/>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9EE63B49-F693-4639-BC55-7600104D0B9E}"/>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C70FEC9C-830D-454A-8D59-D6863EBE9C16}"/>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74821599-D991-4CE8-9D34-1CC8D156A02F}"/>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A8A8D1DE-F5AA-44E4-B15E-5335C19F6874}"/>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96F30A80-6BA2-4573-9CE4-ACDC62287F5A}"/>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7526157C-79D8-493A-B98E-CCE4A4B480DC}"/>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5C010C8D-BC0C-4266-82D9-859205EE4203}"/>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7245D0D0-9440-4693-895E-ACAF13AFC1D4}"/>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8438B0B-1313-4902-A2FD-812319B131C5}"/>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9FC3E4D4-75C6-4D2C-9314-F04A279CA3F6}"/>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8E3CFA6E-6AB5-4CA6-8B23-24033FC9998A}"/>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B9D6E36D-9956-4A37-A88A-5AE403964FB4}"/>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6C3275F1-18FD-4A34-8690-946F255A55EE}"/>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7DA5EAE0-162C-48A6-9375-80459A6FC52A}"/>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3F4BD3EC-2270-4F17-B0E3-B0A174AC2979}"/>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549F3FFE-2A4E-486A-96B1-93F91AE5568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8A27F00-C4A2-45C6-A87F-ABD365C3A49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1864160935"/>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B496B7E-9EB3-499E-A349-C4F1B3180A9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302BAD25-42AC-413B-A71B-A146F58056C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doubles recovery of the coordinate state</a:t>
            </a:r>
          </a:p>
        </p:txBody>
      </p:sp>
      <p:sp>
        <p:nvSpPr>
          <p:cNvPr id="3" name="">
            <a:extLst xmlns:a="http://schemas.openxmlformats.org/drawingml/2006/main">
              <a:ext uri="{FF2B5EF4-FFF2-40B4-BE49-F238E27FC236}">
                <a16:creationId xmlns:a16="http://schemas.microsoft.com/office/drawing/2014/main" id="{5E73143A-A75A-4698-A4FD-D538C13870B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E39F1E27-08D3-4CEE-8820-4CCE26F6C8BD}"/>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3E85E637-196B-4FD9-8105-7F43DC35BCE4}"/>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4FD1ECB5-29C1-4CF5-A62D-BC55914ABD1F}"/>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FB57231D-3F22-40F7-9875-264DF4D16ACE}"/>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DAF2027B-A0CE-480F-A2D0-7C240A71963E}"/>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0DEA9695-BF5C-46DF-8BCB-61E2DA2207A7}"/>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Positive restoration: Holo 7/8 · Qwen 5/8 prompts</a:t>
            </a:r>
          </a:p>
        </p:txBody>
      </p:sp>
      <p:sp>
        <p:nvSpPr>
          <p:cNvPr id="10" name="">
            <a:extLst xmlns:a="http://schemas.openxmlformats.org/drawingml/2006/main">
              <a:ext uri="{FF2B5EF4-FFF2-40B4-BE49-F238E27FC236}">
                <a16:creationId xmlns:a16="http://schemas.microsoft.com/office/drawing/2014/main" id="{201C8231-C9DB-40E2-A0E9-30425D7AE841}"/>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6ACFBAF9-37D7-4874-BE54-4E769431F9C8}"/>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PAIRED HOLO − QWEN EFFECT</a:t>
            </a:r>
          </a:p>
        </p:txBody>
      </p:sp>
      <p:sp>
        <p:nvSpPr>
          <p:cNvPr id="12" name="">
            <a:extLst xmlns:a="http://schemas.openxmlformats.org/drawingml/2006/main">
              <a:ext uri="{FF2B5EF4-FFF2-40B4-BE49-F238E27FC236}">
                <a16:creationId xmlns:a16="http://schemas.microsoft.com/office/drawing/2014/main" id="{0C89343E-41F7-4083-A628-92E59EED3E65}"/>
              </a:ext>
            </a:extLst>
          </p:cNvPr>
          <p:cNvSpPr>
            <a:spLocks xmlns:a="http://schemas.openxmlformats.org/drawingml/2006/main" noGrp="1"/>
          </p:cNvSpPr>
          <p:nvPr/>
        </p:nvSpPr>
        <p:spPr>
          <a:xfrm xmlns:a="http://schemas.openxmlformats.org/drawingml/2006/main">
            <a:off x="6286500" y="20574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D84D3"/>
                </a:solidFill>
                <a:latin typeface="Helvetica Neue"/>
                <a:ea typeface="Helvetica Neue"/>
                <a:cs typeface="Helvetica Neue"/>
              </a:defRPr>
            </a:pPr>
            <a:r>
              <a:rPr sz="2850" b="1">
                <a:solidFill>
                  <a:srgbClr val="2D84D3"/>
                </a:solidFill>
                <a:latin typeface="Helvetica Neue"/>
                <a:ea typeface="Helvetica Neue"/>
                <a:cs typeface="Helvetica Neue"/>
              </a:rPr>
              <a:t>2.05×</a:t>
            </a:r>
          </a:p>
        </p:txBody>
      </p:sp>
      <p:sp>
        <p:nvSpPr>
          <p:cNvPr id="13" name="">
            <a:extLst xmlns:a="http://schemas.openxmlformats.org/drawingml/2006/main">
              <a:ext uri="{FF2B5EF4-FFF2-40B4-BE49-F238E27FC236}">
                <a16:creationId xmlns:a16="http://schemas.microsoft.com/office/drawing/2014/main" id="{74A0BED0-9F2E-421D-A243-A8F1D76827CF}"/>
              </a:ext>
            </a:extLst>
          </p:cNvPr>
          <p:cNvSpPr>
            <a:spLocks xmlns:a="http://schemas.openxmlformats.org/drawingml/2006/main" noGrp="1"/>
          </p:cNvSpPr>
          <p:nvPr/>
        </p:nvSpPr>
        <p:spPr>
          <a:xfrm xmlns:a="http://schemas.openxmlformats.org/drawingml/2006/main">
            <a:off x="7867650" y="21336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C2733"/>
                </a:solidFill>
                <a:latin typeface="Helvetica Neue"/>
                <a:ea typeface="Helvetica Neue"/>
                <a:cs typeface="Helvetica Neue"/>
              </a:defRPr>
            </a:pPr>
            <a:r>
              <a:rPr sz="1500" b="1">
                <a:solidFill>
                  <a:srgbClr val="1C2733"/>
                </a:solidFill>
                <a:latin typeface="Helvetica Neue"/>
                <a:ea typeface="Helvetica Neue"/>
                <a:cs typeface="Helvetica Neue"/>
              </a:rPr>
              <a:t>+105% likelihood-ratio recovery</a:t>
            </a:r>
          </a:p>
        </p:txBody>
      </p:sp>
      <p:sp>
        <p:nvSpPr>
          <p:cNvPr id="14" name="">
            <a:extLst xmlns:a="http://schemas.openxmlformats.org/drawingml/2006/main">
              <a:ext uri="{FF2B5EF4-FFF2-40B4-BE49-F238E27FC236}">
                <a16:creationId xmlns:a16="http://schemas.microsoft.com/office/drawing/2014/main" id="{3288E834-540D-4B30-9166-3D279065EC51}"/>
              </a:ext>
            </a:extLst>
          </p:cNvPr>
          <p:cNvSpPr>
            <a:spLocks xmlns:a="http://schemas.openxmlformats.org/drawingml/2006/main" noGrp="1"/>
          </p:cNvSpPr>
          <p:nvPr/>
        </p:nvSpPr>
        <p:spPr>
          <a:xfrm xmlns:a="http://schemas.openxmlformats.org/drawingml/2006/main">
            <a:off x="6286500" y="26479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bootstrap 95% CI 1.74×–3.15× · exact paired p=0.0078</a:t>
            </a:r>
          </a:p>
        </p:txBody>
      </p:sp>
      <p:sp>
        <p:nvSpPr>
          <p:cNvPr id="15" name="">
            <a:extLst xmlns:a="http://schemas.openxmlformats.org/drawingml/2006/main">
              <a:ext uri="{FF2B5EF4-FFF2-40B4-BE49-F238E27FC236}">
                <a16:creationId xmlns:a16="http://schemas.microsoft.com/office/drawing/2014/main" id="{098A434E-ADD0-4D27-A847-DD97328B795F}"/>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FE14CF9C-2FCB-419E-8479-9B6DEF0B7F8D}"/>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220CAD15-EE39-4F6B-B129-728C0D8AC292}"/>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B91FDB1-E9E7-4672-84F7-F53988D90276}"/>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6897D400-2426-4C44-AFB5-2DB18698F597}"/>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Paired margin</a:t>
            </a:r>
          </a:p>
        </p:txBody>
      </p:sp>
      <p:sp>
        <p:nvSpPr>
          <p:cNvPr id="20" name="">
            <a:extLst xmlns:a="http://schemas.openxmlformats.org/drawingml/2006/main">
              <a:ext uri="{FF2B5EF4-FFF2-40B4-BE49-F238E27FC236}">
                <a16:creationId xmlns:a16="http://schemas.microsoft.com/office/drawing/2014/main" id="{E3AEBE27-1672-4ACD-8B15-6DA89CB5DF78}"/>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The median Holo-minus-Qwen restoration is +0.72 nats; every prompt uses identical clean/corrupt images and candidate strings.</a:t>
            </a:r>
          </a:p>
        </p:txBody>
      </p:sp>
      <p:sp>
        <p:nvSpPr>
          <p:cNvPr id="21" name="">
            <a:extLst xmlns:a="http://schemas.openxmlformats.org/drawingml/2006/main">
              <a:ext uri="{FF2B5EF4-FFF2-40B4-BE49-F238E27FC236}">
                <a16:creationId xmlns:a16="http://schemas.microsoft.com/office/drawing/2014/main" id="{A1F003E6-CE17-437F-858B-2C45DB2959BA}"/>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EDCA71E0-039C-477C-9A19-4FAEB0A5B682}"/>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B2BD82E-5A0A-4A27-8041-0E7DC361CFA1}"/>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C1ADEB6A-0CA8-4042-9C0A-0763D36DBDCC}"/>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7BEE6582-847F-46CD-8066-245DD463A961}"/>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Setting the Layer 15 coordinate state to zero in a clean run costs 4.51 nats for Holo and 6.27 for Qwen: both checkpoints rely on it.</a:t>
            </a:r>
          </a:p>
        </p:txBody>
      </p:sp>
      <p:sp>
        <p:nvSpPr>
          <p:cNvPr id="26" name="">
            <a:extLst xmlns:a="http://schemas.openxmlformats.org/drawingml/2006/main">
              <a:ext uri="{FF2B5EF4-FFF2-40B4-BE49-F238E27FC236}">
                <a16:creationId xmlns:a16="http://schemas.microsoft.com/office/drawing/2014/main" id="{F6151E47-9829-494D-BC90-188DC97D2178}"/>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288C607F-DE9A-46B1-9E51-77BF4B6C5219}"/>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A1FF6B1-1EA7-4BA4-B515-6BAC7B9474A4}"/>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41B73EA6-7778-4F2A-83BC-754F01F5F074}"/>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mechanism</a:t>
            </a:r>
          </a:p>
        </p:txBody>
      </p:sp>
      <p:sp>
        <p:nvSpPr>
          <p:cNvPr id="30" name="">
            <a:extLst xmlns:a="http://schemas.openxmlformats.org/drawingml/2006/main">
              <a:ext uri="{FF2B5EF4-FFF2-40B4-BE49-F238E27FC236}">
                <a16:creationId xmlns:a16="http://schemas.microsoft.com/office/drawing/2014/main" id="{A3694360-BCC1-4C33-9B28-E3D4D9A4B0CA}"/>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No single head explains the checkpoint difference; the recoverable effect is distributed in the residual state.</a:t>
            </a:r>
          </a:p>
        </p:txBody>
      </p:sp>
      <p:sp>
        <p:nvSpPr>
          <p:cNvPr id="31" name="">
            <a:extLst xmlns:a="http://schemas.openxmlformats.org/drawingml/2006/main">
              <a:ext uri="{FF2B5EF4-FFF2-40B4-BE49-F238E27FC236}">
                <a16:creationId xmlns:a16="http://schemas.microsoft.com/office/drawing/2014/main" id="{1E2E787A-0A63-4985-BCFF-1E337D61FA95}"/>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199201B4-2DF4-46BD-B90E-AFA7913B1941}"/>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Fine-tuning strengthens recoverable action state; it does not create a Holo-only coordinate circuit.</a:t>
            </a:r>
          </a:p>
        </p:txBody>
      </p:sp>
      <p:sp>
        <p:nvSpPr>
          <p:cNvPr id="33" name="">
            <a:extLst xmlns:a="http://schemas.openxmlformats.org/drawingml/2006/main">
              <a:ext uri="{FF2B5EF4-FFF2-40B4-BE49-F238E27FC236}">
                <a16:creationId xmlns:a16="http://schemas.microsoft.com/office/drawing/2014/main" id="{D5834AC3-D1FD-4FC9-8EA1-A256E9AF6E9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841CAC6-8060-4507-9417-8191379106B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Exploratory n=8 within-image panel · paired bootstrap and all 256 sign flips · not an independent-image benchmark</a:t>
            </a:r>
          </a:p>
        </p:txBody>
      </p:sp>
    </p:spTree>
    <p:extLst>
      <p:ext uri="{BB962C8B-B14F-4D97-AF65-F5344CB8AC3E}">
        <p14:creationId xmlns:p14="http://schemas.microsoft.com/office/powerpoint/2010/main" val="723639247"/>
      </p:ext>
    </p:extLst>
  </p:cSld>
</p:sld>
</file>

<file path=ppt/slides/slide12.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D8659D3-5516-4DFE-AF51-F239CAFB01B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KEY TAKEAWAYS</a:t>
            </a:r>
          </a:p>
        </p:txBody>
      </p:sp>
      <p:sp>
        <p:nvSpPr>
          <p:cNvPr id="2" name="">
            <a:extLst xmlns:a="http://schemas.openxmlformats.org/drawingml/2006/main">
              <a:ext uri="{FF2B5EF4-FFF2-40B4-BE49-F238E27FC236}">
                <a16:creationId xmlns:a16="http://schemas.microsoft.com/office/drawing/2014/main" id="{EE8E3DE2-F45D-43D8-9A72-29A26BD893A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596"/>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Resolution shapes grounding</a:t>
            </a:r>
          </a:p>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Fine-tuning strengthens recoverable action state</a:t>
            </a:r>
          </a:p>
        </p:txBody>
      </p:sp>
      <p:sp>
        <p:nvSpPr>
          <p:cNvPr id="3" name="">
            <a:extLst xmlns:a="http://schemas.openxmlformats.org/drawingml/2006/main">
              <a:ext uri="{FF2B5EF4-FFF2-40B4-BE49-F238E27FC236}">
                <a16:creationId xmlns:a16="http://schemas.microsoft.com/office/drawing/2014/main" id="{00C53F95-4E55-4D7F-AD8F-2004B65D24B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93986AD9-2872-4008-96F9-A50B2E65A999}"/>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CA5D5D-91EE-4530-87A1-81642A488151}"/>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DA5C970-472A-4D09-A7D9-2F47696A5229}"/>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7CD8B75F-A652-459F-84E6-DA8141E05247}"/>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cohort target mass falls 24× at quarter resolution.</a:t>
            </a:r>
          </a:p>
        </p:txBody>
      </p:sp>
      <p:sp>
        <p:nvSpPr>
          <p:cNvPr id="8" name="">
            <a:extLst xmlns:a="http://schemas.openxmlformats.org/drawingml/2006/main">
              <a:ext uri="{FF2B5EF4-FFF2-40B4-BE49-F238E27FC236}">
                <a16:creationId xmlns:a16="http://schemas.microsoft.com/office/drawing/2014/main" id="{AF07FB0E-7825-4F7F-A5C0-8111C18F9AB9}"/>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DFA1C6-E6D4-447E-8172-4680E291FDB2}"/>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5EC88D92-D92D-4D79-B399-6CBC4731306E}"/>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E44A5C54-E4E2-4CD7-A75B-00EF6BF9F145}"/>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Across reduced-resolution runs, 7 of 29 misses still rank the oracle patch first.</a:t>
            </a:r>
          </a:p>
        </p:txBody>
      </p:sp>
      <p:sp>
        <p:nvSpPr>
          <p:cNvPr id="12" name="">
            <a:extLst xmlns:a="http://schemas.openxmlformats.org/drawingml/2006/main">
              <a:ext uri="{FF2B5EF4-FFF2-40B4-BE49-F238E27FC236}">
                <a16:creationId xmlns:a16="http://schemas.microsoft.com/office/drawing/2014/main" id="{7A62644F-32F4-4E83-88A2-B1B2743A788D}"/>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5236B43-5E81-4966-AB73-4AA75BE4D5B7}"/>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3C47A3FF-8B90-422E-9D8F-7E0514B54F8F}"/>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Stopping differs in one matched case</a:t>
            </a:r>
          </a:p>
        </p:txBody>
      </p:sp>
      <p:sp>
        <p:nvSpPr>
          <p:cNvPr id="15" name="">
            <a:extLst xmlns:a="http://schemas.openxmlformats.org/drawingml/2006/main">
              <a:ext uri="{FF2B5EF4-FFF2-40B4-BE49-F238E27FC236}">
                <a16:creationId xmlns:a16="http://schemas.microsoft.com/office/drawing/2014/main" id="{A99A04A4-D5FA-42BD-908E-D2635E545691}"/>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Both models track €166. Holo clicks after two scrolls, while Qwen keeps searching until the action cap.</a:t>
            </a:r>
          </a:p>
        </p:txBody>
      </p:sp>
      <p:sp>
        <p:nvSpPr>
          <p:cNvPr id="16" name="">
            <a:extLst xmlns:a="http://schemas.openxmlformats.org/drawingml/2006/main">
              <a:ext uri="{FF2B5EF4-FFF2-40B4-BE49-F238E27FC236}">
                <a16:creationId xmlns:a16="http://schemas.microsoft.com/office/drawing/2014/main" id="{E9D07069-83C8-4E45-A623-DB91C92995DD}"/>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8E8A95C-4A7A-4872-B2F3-05A0485B5974}"/>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576E532E-33B1-4915-899E-091907A4C543}"/>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C3D419D-5E29-4FF8-8589-2384BE01A92A}"/>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411B604D-076C-4865-9E2A-40FBC2F07615}"/>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DAC387FB-90D1-4FF2-B9A1-4DF108B00277}"/>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F4C3D78D-0815-4A61-9261-E641A76FF04C}"/>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6E89C96-38AB-46B8-B7AE-8D17CBE7C376}"/>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7F52D727-9864-4224-9E34-FE7D7546EA60}"/>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82B82E2B-0554-42AD-AA23-63B097EF9B76}"/>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5EC24B49-3FAC-4DC1-83AE-6955DCE7AAE4}"/>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FF95654-9C3B-4643-827E-00A5E763B90A}"/>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3133365A-C4B7-4EBA-B174-AD44196F09CB}"/>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0F80FA10-6C85-416E-840C-5DB691A47D26}"/>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ADCC803A-2163-4F20-831A-1371851CCDAD}"/>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4496891-7E27-4CCC-944E-8F46BBF5E2D1}"/>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Working interpretation: fine-tuning improves coordinate readout more clearly than value-weighted target grounding</a:t>
            </a:r>
          </a:p>
        </p:txBody>
      </p:sp>
      <p:sp>
        <p:nvSpPr>
          <p:cNvPr id="32" name="">
            <a:extLst xmlns:a="http://schemas.openxmlformats.org/drawingml/2006/main">
              <a:ext uri="{FF2B5EF4-FFF2-40B4-BE49-F238E27FC236}">
                <a16:creationId xmlns:a16="http://schemas.microsoft.com/office/drawing/2014/main" id="{48A663DE-44F8-40BB-B707-DA099517DD0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185357E-FE6F-42A3-BB9A-F0004595BE6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1170370307"/>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CAE167DF-3EFE-4108-AB16-8D2BAE251FE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PROPOSAL</a:t>
            </a:r>
          </a:p>
        </p:txBody>
      </p:sp>
      <p:sp>
        <p:nvSpPr>
          <p:cNvPr id="2" name="">
            <a:extLst xmlns:a="http://schemas.openxmlformats.org/drawingml/2006/main">
              <a:ext uri="{FF2B5EF4-FFF2-40B4-BE49-F238E27FC236}">
                <a16:creationId xmlns:a16="http://schemas.microsoft.com/office/drawing/2014/main" id="{6A7454AC-63AA-4CB8-BF87-9A45FCEA78F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Adaptive-resolution coordinate search</a:t>
            </a:r>
          </a:p>
        </p:txBody>
      </p:sp>
      <p:sp>
        <p:nvSpPr>
          <p:cNvPr id="3" name="">
            <a:extLst xmlns:a="http://schemas.openxmlformats.org/drawingml/2006/main">
              <a:ext uri="{FF2B5EF4-FFF2-40B4-BE49-F238E27FC236}">
                <a16:creationId xmlns:a16="http://schemas.microsoft.com/office/drawing/2014/main" id="{415F91A2-8C7B-4945-88B2-809BAC8F015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DDD37D3A-8520-46CE-AF9F-7C318F5CEAB6}"/>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Can uncertainty route only hard cases to a higher-resolution pass?</a:t>
            </a:r>
          </a:p>
        </p:txBody>
      </p:sp>
      <p:sp>
        <p:nvSpPr>
          <p:cNvPr id="5" name="">
            <a:extLst xmlns:a="http://schemas.openxmlformats.org/drawingml/2006/main">
              <a:ext uri="{FF2B5EF4-FFF2-40B4-BE49-F238E27FC236}">
                <a16:creationId xmlns:a16="http://schemas.microsoft.com/office/drawing/2014/main" id="{893E183E-15E0-4559-A70E-455D36E70F09}"/>
              </a:ext>
            </a:extLst>
          </p:cNvPr>
          <p:cNvSpPr>
            <a:spLocks xmlns:a="http://schemas.openxmlformats.org/drawingml/2006/main" noGrp="1"/>
          </p:cNvSpPr>
          <p:nvPr/>
        </p:nvSpPr>
        <p:spPr>
          <a:xfrm xmlns:a="http://schemas.openxmlformats.org/drawingml/2006/main">
            <a:off x="609600" y="152400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PROPOSED TEST-TIME LOOP</a:t>
            </a:r>
          </a:p>
        </p:txBody>
      </p:sp>
      <p:sp>
        <p:nvSpPr>
          <p:cNvPr id="6" name="">
            <a:extLst xmlns:a="http://schemas.openxmlformats.org/drawingml/2006/main">
              <a:ext uri="{FF2B5EF4-FFF2-40B4-BE49-F238E27FC236}">
                <a16:creationId xmlns:a16="http://schemas.microsoft.com/office/drawing/2014/main" id="{CA6A6F48-2C42-4D16-A85C-7B94E2B5395B}"/>
              </a:ext>
            </a:extLst>
          </p:cNvPr>
          <p:cNvSpPr>
            <a:spLocks xmlns:a="http://schemas.openxmlformats.org/drawingml/2006/main" noGrp="1"/>
          </p:cNvSpPr>
          <p:nvPr/>
        </p:nvSpPr>
        <p:spPr>
          <a:xfrm xmlns:a="http://schemas.openxmlformats.org/drawingml/2006/main">
            <a:off x="609600" y="1809750"/>
            <a:ext cx="1333500" cy="1162050"/>
          </a:xfrm>
          <a:prstGeom xmlns:a="http://schemas.openxmlformats.org/drawingml/2006/main" prst="roundRect">
            <a:avLst>
              <a:gd name="adj" fmla="val 6557"/>
            </a:avLst>
          </a:prstGeom>
          <a:solidFill xmlns:a="http://schemas.openxmlformats.org/drawingml/2006/main">
            <a:srgbClr val="DDECF9"/>
          </a:solidFill>
          <a:ln xmlns:a="http://schemas.openxmlformats.org/drawingml/2006/main" w="9525">
            <a:solidFill>
              <a:srgbClr val="2D84D3"/>
            </a:solidFill>
          </a:ln>
        </p:spPr>
      </p:sp>
      <p:sp>
        <p:nvSpPr>
          <p:cNvPr id="7" name="">
            <a:extLst xmlns:a="http://schemas.openxmlformats.org/drawingml/2006/main">
              <a:ext uri="{FF2B5EF4-FFF2-40B4-BE49-F238E27FC236}">
                <a16:creationId xmlns:a16="http://schemas.microsoft.com/office/drawing/2014/main" id="{0DB07393-C79D-4D40-9F57-93E2BD639264}"/>
              </a:ext>
            </a:extLst>
          </p:cNvPr>
          <p:cNvSpPr>
            <a:spLocks xmlns:a="http://schemas.openxmlformats.org/drawingml/2006/main" noGrp="1"/>
          </p:cNvSpPr>
          <p:nvPr/>
        </p:nvSpPr>
        <p:spPr>
          <a:xfrm xmlns:a="http://schemas.openxmlformats.org/drawingml/2006/main">
            <a:off x="723900" y="1924050"/>
            <a:ext cx="3238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5E693D-69A0-4BAD-8395-667558E16D44}"/>
              </a:ext>
            </a:extLst>
          </p:cNvPr>
          <p:cNvSpPr>
            <a:spLocks xmlns:a="http://schemas.openxmlformats.org/drawingml/2006/main" noGrp="1"/>
          </p:cNvSpPr>
          <p:nvPr/>
        </p:nvSpPr>
        <p:spPr>
          <a:xfrm xmlns:a="http://schemas.openxmlformats.org/drawingml/2006/main">
            <a:off x="81915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BDFD933B-6745-4C2E-91FC-9CD77CD44218}"/>
              </a:ext>
            </a:extLst>
          </p:cNvPr>
          <p:cNvSpPr>
            <a:spLocks xmlns:a="http://schemas.openxmlformats.org/drawingml/2006/main" noGrp="1"/>
          </p:cNvSpPr>
          <p:nvPr/>
        </p:nvSpPr>
        <p:spPr>
          <a:xfrm xmlns:a="http://schemas.openxmlformats.org/drawingml/2006/main">
            <a:off x="74295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LOW-RES PASS</a:t>
            </a:r>
          </a:p>
        </p:txBody>
      </p:sp>
      <p:sp>
        <p:nvSpPr>
          <p:cNvPr id="10" name="">
            <a:extLst xmlns:a="http://schemas.openxmlformats.org/drawingml/2006/main">
              <a:ext uri="{FF2B5EF4-FFF2-40B4-BE49-F238E27FC236}">
                <a16:creationId xmlns:a16="http://schemas.microsoft.com/office/drawing/2014/main" id="{62EE5AD3-3543-4137-A12E-50A3224B316C}"/>
              </a:ext>
            </a:extLst>
          </p:cNvPr>
          <p:cNvSpPr>
            <a:spLocks xmlns:a="http://schemas.openxmlformats.org/drawingml/2006/main" noGrp="1"/>
          </p:cNvSpPr>
          <p:nvPr/>
        </p:nvSpPr>
        <p:spPr>
          <a:xfrm xmlns:a="http://schemas.openxmlformats.org/drawingml/2006/main">
            <a:off x="72390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Start at 25% linear resolution</a:t>
            </a:r>
          </a:p>
        </p:txBody>
      </p:sp>
      <p:sp>
        <p:nvSpPr>
          <p:cNvPr id="11" name="">
            <a:extLst xmlns:a="http://schemas.openxmlformats.org/drawingml/2006/main">
              <a:ext uri="{FF2B5EF4-FFF2-40B4-BE49-F238E27FC236}">
                <a16:creationId xmlns:a16="http://schemas.microsoft.com/office/drawing/2014/main" id="{F67CD753-104D-4044-9E24-3FF0B053665A}"/>
              </a:ext>
            </a:extLst>
          </p:cNvPr>
          <p:cNvSpPr>
            <a:spLocks xmlns:a="http://schemas.openxmlformats.org/drawingml/2006/main" noGrp="1"/>
          </p:cNvSpPr>
          <p:nvPr/>
        </p:nvSpPr>
        <p:spPr>
          <a:xfrm xmlns:a="http://schemas.openxmlformats.org/drawingml/2006/main">
            <a:off x="1943100"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B8DD0D0-4809-46D8-AAA4-E51FF1A767B3}"/>
              </a:ext>
            </a:extLst>
          </p:cNvPr>
          <p:cNvSpPr>
            <a:spLocks xmlns:a="http://schemas.openxmlformats.org/drawingml/2006/main" noGrp="1"/>
          </p:cNvSpPr>
          <p:nvPr/>
        </p:nvSpPr>
        <p:spPr>
          <a:xfrm xmlns:a="http://schemas.openxmlformats.org/drawingml/2006/main">
            <a:off x="2085975" y="1809750"/>
            <a:ext cx="1333500" cy="1162050"/>
          </a:xfrm>
          <a:prstGeom xmlns:a="http://schemas.openxmlformats.org/drawingml/2006/main" prst="roundRect">
            <a:avLst>
              <a:gd name="adj" fmla="val 6557"/>
            </a:avLst>
          </a:prstGeom>
          <a:solidFill xmlns:a="http://schemas.openxmlformats.org/drawingml/2006/main">
            <a:srgbClr val="FCE2D9"/>
          </a:solidFill>
          <a:ln xmlns:a="http://schemas.openxmlformats.org/drawingml/2006/main" w="9525">
            <a:solidFill>
              <a:srgbClr val="F05A3C"/>
            </a:solidFill>
          </a:ln>
        </p:spPr>
      </p:sp>
      <p:sp>
        <p:nvSpPr>
          <p:cNvPr id="13" name="">
            <a:extLst xmlns:a="http://schemas.openxmlformats.org/drawingml/2006/main">
              <a:ext uri="{FF2B5EF4-FFF2-40B4-BE49-F238E27FC236}">
                <a16:creationId xmlns:a16="http://schemas.microsoft.com/office/drawing/2014/main" id="{FDF3DB77-173B-4266-BA18-7FDFBB410E64}"/>
              </a:ext>
            </a:extLst>
          </p:cNvPr>
          <p:cNvSpPr>
            <a:spLocks xmlns:a="http://schemas.openxmlformats.org/drawingml/2006/main" noGrp="1"/>
          </p:cNvSpPr>
          <p:nvPr/>
        </p:nvSpPr>
        <p:spPr>
          <a:xfrm xmlns:a="http://schemas.openxmlformats.org/drawingml/2006/main">
            <a:off x="2200275" y="1924050"/>
            <a:ext cx="323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E507DBD-337A-4DCC-85F3-C9FD227A4929}"/>
              </a:ext>
            </a:extLst>
          </p:cNvPr>
          <p:cNvSpPr>
            <a:spLocks xmlns:a="http://schemas.openxmlformats.org/drawingml/2006/main" noGrp="1"/>
          </p:cNvSpPr>
          <p:nvPr/>
        </p:nvSpPr>
        <p:spPr>
          <a:xfrm xmlns:a="http://schemas.openxmlformats.org/drawingml/2006/main">
            <a:off x="2295525"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A337B94C-C6B8-48BC-8D2C-553595A97546}"/>
              </a:ext>
            </a:extLst>
          </p:cNvPr>
          <p:cNvSpPr>
            <a:spLocks xmlns:a="http://schemas.openxmlformats.org/drawingml/2006/main" noGrp="1"/>
          </p:cNvSpPr>
          <p:nvPr/>
        </p:nvSpPr>
        <p:spPr>
          <a:xfrm xmlns:a="http://schemas.openxmlformats.org/drawingml/2006/main">
            <a:off x="2219325"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CANDIDATES</a:t>
            </a:r>
          </a:p>
        </p:txBody>
      </p:sp>
      <p:sp>
        <p:nvSpPr>
          <p:cNvPr id="16" name="">
            <a:extLst xmlns:a="http://schemas.openxmlformats.org/drawingml/2006/main">
              <a:ext uri="{FF2B5EF4-FFF2-40B4-BE49-F238E27FC236}">
                <a16:creationId xmlns:a16="http://schemas.microsoft.com/office/drawing/2014/main" id="{2EC93332-B710-4880-855D-175B255C38F6}"/>
              </a:ext>
            </a:extLst>
          </p:cNvPr>
          <p:cNvSpPr>
            <a:spLocks xmlns:a="http://schemas.openxmlformats.org/drawingml/2006/main" noGrp="1"/>
          </p:cNvSpPr>
          <p:nvPr/>
        </p:nvSpPr>
        <p:spPr>
          <a:xfrm xmlns:a="http://schemas.openxmlformats.org/drawingml/2006/main">
            <a:off x="2200275"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587"/>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Decode K coordinates in parallel</a:t>
            </a:r>
          </a:p>
        </p:txBody>
      </p:sp>
      <p:sp>
        <p:nvSpPr>
          <p:cNvPr id="17" name="">
            <a:extLst xmlns:a="http://schemas.openxmlformats.org/drawingml/2006/main">
              <a:ext uri="{FF2B5EF4-FFF2-40B4-BE49-F238E27FC236}">
                <a16:creationId xmlns:a16="http://schemas.microsoft.com/office/drawing/2014/main" id="{778881D1-F4E5-4878-BB88-F7DE7CE7DDCD}"/>
              </a:ext>
            </a:extLst>
          </p:cNvPr>
          <p:cNvSpPr>
            <a:spLocks xmlns:a="http://schemas.openxmlformats.org/drawingml/2006/main" noGrp="1"/>
          </p:cNvSpPr>
          <p:nvPr/>
        </p:nvSpPr>
        <p:spPr>
          <a:xfrm xmlns:a="http://schemas.openxmlformats.org/drawingml/2006/main">
            <a:off x="3419475"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B79FEE1-2E2F-4F05-B266-A3FFDD57735B}"/>
              </a:ext>
            </a:extLst>
          </p:cNvPr>
          <p:cNvSpPr>
            <a:spLocks xmlns:a="http://schemas.openxmlformats.org/drawingml/2006/main" noGrp="1"/>
          </p:cNvSpPr>
          <p:nvPr/>
        </p:nvSpPr>
        <p:spPr>
          <a:xfrm xmlns:a="http://schemas.openxmlformats.org/drawingml/2006/main">
            <a:off x="3562350" y="1809750"/>
            <a:ext cx="1333500" cy="1162050"/>
          </a:xfrm>
          <a:prstGeom xmlns:a="http://schemas.openxmlformats.org/drawingml/2006/main" prst="roundRect">
            <a:avLst>
              <a:gd name="adj" fmla="val 6557"/>
            </a:avLst>
          </a:prstGeom>
          <a:solidFill xmlns:a="http://schemas.openxmlformats.org/drawingml/2006/main">
            <a:srgbClr val="F3EBDD"/>
          </a:solidFill>
          <a:ln xmlns:a="http://schemas.openxmlformats.org/drawingml/2006/main" w="9525">
            <a:solidFill>
              <a:srgbClr val="E5B249"/>
            </a:solidFill>
          </a:ln>
        </p:spPr>
      </p:sp>
      <p:sp>
        <p:nvSpPr>
          <p:cNvPr id="19" name="">
            <a:extLst xmlns:a="http://schemas.openxmlformats.org/drawingml/2006/main">
              <a:ext uri="{FF2B5EF4-FFF2-40B4-BE49-F238E27FC236}">
                <a16:creationId xmlns:a16="http://schemas.microsoft.com/office/drawing/2014/main" id="{9D2856CD-616C-4579-AC02-7BF238568CC3}"/>
              </a:ext>
            </a:extLst>
          </p:cNvPr>
          <p:cNvSpPr>
            <a:spLocks xmlns:a="http://schemas.openxmlformats.org/drawingml/2006/main" noGrp="1"/>
          </p:cNvSpPr>
          <p:nvPr/>
        </p:nvSpPr>
        <p:spPr>
          <a:xfrm xmlns:a="http://schemas.openxmlformats.org/drawingml/2006/main">
            <a:off x="3676650" y="1924050"/>
            <a:ext cx="3238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9133055-32E0-46B6-8866-7BA87453FE1B}"/>
              </a:ext>
            </a:extLst>
          </p:cNvPr>
          <p:cNvSpPr>
            <a:spLocks xmlns:a="http://schemas.openxmlformats.org/drawingml/2006/main" noGrp="1"/>
          </p:cNvSpPr>
          <p:nvPr/>
        </p:nvSpPr>
        <p:spPr>
          <a:xfrm xmlns:a="http://schemas.openxmlformats.org/drawingml/2006/main">
            <a:off x="377190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CBB69261-555E-4693-8CC4-D151F2B6B1C0}"/>
              </a:ext>
            </a:extLst>
          </p:cNvPr>
          <p:cNvSpPr>
            <a:spLocks xmlns:a="http://schemas.openxmlformats.org/drawingml/2006/main" noGrp="1"/>
          </p:cNvSpPr>
          <p:nvPr/>
        </p:nvSpPr>
        <p:spPr>
          <a:xfrm xmlns:a="http://schemas.openxmlformats.org/drawingml/2006/main">
            <a:off x="369570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UNCERTAINTY</a:t>
            </a:r>
          </a:p>
        </p:txBody>
      </p:sp>
      <p:sp>
        <p:nvSpPr>
          <p:cNvPr id="22" name="">
            <a:extLst xmlns:a="http://schemas.openxmlformats.org/drawingml/2006/main">
              <a:ext uri="{FF2B5EF4-FFF2-40B4-BE49-F238E27FC236}">
                <a16:creationId xmlns:a16="http://schemas.microsoft.com/office/drawing/2014/main" id="{96F94C4C-8DC2-4386-8830-B4681356F3DD}"/>
              </a:ext>
            </a:extLst>
          </p:cNvPr>
          <p:cNvSpPr>
            <a:spLocks xmlns:a="http://schemas.openxmlformats.org/drawingml/2006/main" noGrp="1"/>
          </p:cNvSpPr>
          <p:nvPr/>
        </p:nvSpPr>
        <p:spPr>
          <a:xfrm xmlns:a="http://schemas.openxmlformats.org/drawingml/2006/main">
            <a:off x="367665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Spatial spread plus token confidence</a:t>
            </a:r>
          </a:p>
        </p:txBody>
      </p:sp>
      <p:sp>
        <p:nvSpPr>
          <p:cNvPr id="23" name="">
            <a:extLst xmlns:a="http://schemas.openxmlformats.org/drawingml/2006/main">
              <a:ext uri="{FF2B5EF4-FFF2-40B4-BE49-F238E27FC236}">
                <a16:creationId xmlns:a16="http://schemas.microsoft.com/office/drawing/2014/main" id="{063AFA1E-8B58-424F-AC9E-91EDAAC09221}"/>
              </a:ext>
            </a:extLst>
          </p:cNvPr>
          <p:cNvSpPr>
            <a:spLocks xmlns:a="http://schemas.openxmlformats.org/drawingml/2006/main" noGrp="1"/>
          </p:cNvSpPr>
          <p:nvPr/>
        </p:nvSpPr>
        <p:spPr>
          <a:xfrm xmlns:a="http://schemas.openxmlformats.org/drawingml/2006/main">
            <a:off x="4895850"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97FB155-7EED-4EF5-8BD1-DBE4DA556BE0}"/>
              </a:ext>
            </a:extLst>
          </p:cNvPr>
          <p:cNvSpPr>
            <a:spLocks xmlns:a="http://schemas.openxmlformats.org/drawingml/2006/main" noGrp="1"/>
          </p:cNvSpPr>
          <p:nvPr/>
        </p:nvSpPr>
        <p:spPr>
          <a:xfrm xmlns:a="http://schemas.openxmlformats.org/drawingml/2006/main">
            <a:off x="5038725" y="1809750"/>
            <a:ext cx="1333500" cy="1162050"/>
          </a:xfrm>
          <a:prstGeom xmlns:a="http://schemas.openxmlformats.org/drawingml/2006/main" prst="roundRect">
            <a:avLst>
              <a:gd name="adj" fmla="val 6557"/>
            </a:avLst>
          </a:prstGeom>
          <a:solidFill xmlns:a="http://schemas.openxmlformats.org/drawingml/2006/main">
            <a:srgbClr val="DDEFE7"/>
          </a:solidFill>
          <a:ln xmlns:a="http://schemas.openxmlformats.org/drawingml/2006/main" w="9525">
            <a:solidFill>
              <a:srgbClr val="18A875"/>
            </a:solidFill>
          </a:ln>
        </p:spPr>
      </p:sp>
      <p:sp>
        <p:nvSpPr>
          <p:cNvPr id="25" name="">
            <a:extLst xmlns:a="http://schemas.openxmlformats.org/drawingml/2006/main">
              <a:ext uri="{FF2B5EF4-FFF2-40B4-BE49-F238E27FC236}">
                <a16:creationId xmlns:a16="http://schemas.microsoft.com/office/drawing/2014/main" id="{C417C542-91AE-4FEC-B142-A25A756A2CB9}"/>
              </a:ext>
            </a:extLst>
          </p:cNvPr>
          <p:cNvSpPr>
            <a:spLocks xmlns:a="http://schemas.openxmlformats.org/drawingml/2006/main" noGrp="1"/>
          </p:cNvSpPr>
          <p:nvPr/>
        </p:nvSpPr>
        <p:spPr>
          <a:xfrm xmlns:a="http://schemas.openxmlformats.org/drawingml/2006/main">
            <a:off x="5153025" y="1924050"/>
            <a:ext cx="3238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A6F9D06-2272-4825-BBCB-86F64E416864}"/>
              </a:ext>
            </a:extLst>
          </p:cNvPr>
          <p:cNvSpPr>
            <a:spLocks xmlns:a="http://schemas.openxmlformats.org/drawingml/2006/main" noGrp="1"/>
          </p:cNvSpPr>
          <p:nvPr/>
        </p:nvSpPr>
        <p:spPr>
          <a:xfrm xmlns:a="http://schemas.openxmlformats.org/drawingml/2006/main">
            <a:off x="5248275"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27" name="">
            <a:extLst xmlns:a="http://schemas.openxmlformats.org/drawingml/2006/main">
              <a:ext uri="{FF2B5EF4-FFF2-40B4-BE49-F238E27FC236}">
                <a16:creationId xmlns:a16="http://schemas.microsoft.com/office/drawing/2014/main" id="{3472CFDE-D689-43FA-B264-B97AB95E46A3}"/>
              </a:ext>
            </a:extLst>
          </p:cNvPr>
          <p:cNvSpPr>
            <a:spLocks xmlns:a="http://schemas.openxmlformats.org/drawingml/2006/main" noGrp="1"/>
          </p:cNvSpPr>
          <p:nvPr/>
        </p:nvSpPr>
        <p:spPr>
          <a:xfrm xmlns:a="http://schemas.openxmlformats.org/drawingml/2006/main">
            <a:off x="5172075"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ROUTE</a:t>
            </a:r>
          </a:p>
        </p:txBody>
      </p:sp>
      <p:sp>
        <p:nvSpPr>
          <p:cNvPr id="28" name="">
            <a:extLst xmlns:a="http://schemas.openxmlformats.org/drawingml/2006/main">
              <a:ext uri="{FF2B5EF4-FFF2-40B4-BE49-F238E27FC236}">
                <a16:creationId xmlns:a16="http://schemas.microsoft.com/office/drawing/2014/main" id="{B6147233-A04C-4758-8803-766E02EC4633}"/>
              </a:ext>
            </a:extLst>
          </p:cNvPr>
          <p:cNvSpPr>
            <a:spLocks xmlns:a="http://schemas.openxmlformats.org/drawingml/2006/main" noGrp="1"/>
          </p:cNvSpPr>
          <p:nvPr/>
        </p:nvSpPr>
        <p:spPr>
          <a:xfrm xmlns:a="http://schemas.openxmlformats.org/drawingml/2006/main">
            <a:off x="5153025"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Tight: click</a:t>
            </a:r>
          </a:p>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Broad: crop</a:t>
            </a:r>
          </a:p>
        </p:txBody>
      </p:sp>
      <p:sp>
        <p:nvSpPr>
          <p:cNvPr id="29" name="">
            <a:extLst xmlns:a="http://schemas.openxmlformats.org/drawingml/2006/main">
              <a:ext uri="{FF2B5EF4-FFF2-40B4-BE49-F238E27FC236}">
                <a16:creationId xmlns:a16="http://schemas.microsoft.com/office/drawing/2014/main" id="{A93C9D9B-037F-4C34-8F77-8BB9F2F4D86E}"/>
              </a:ext>
            </a:extLst>
          </p:cNvPr>
          <p:cNvSpPr>
            <a:spLocks xmlns:a="http://schemas.openxmlformats.org/drawingml/2006/main" noGrp="1"/>
          </p:cNvSpPr>
          <p:nvPr/>
        </p:nvSpPr>
        <p:spPr>
          <a:xfrm xmlns:a="http://schemas.openxmlformats.org/drawingml/2006/main">
            <a:off x="6372225"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3E020B4-B494-44C5-A19F-42025490952A}"/>
              </a:ext>
            </a:extLst>
          </p:cNvPr>
          <p:cNvSpPr>
            <a:spLocks xmlns:a="http://schemas.openxmlformats.org/drawingml/2006/main" noGrp="1"/>
          </p:cNvSpPr>
          <p:nvPr/>
        </p:nvSpPr>
        <p:spPr>
          <a:xfrm xmlns:a="http://schemas.openxmlformats.org/drawingml/2006/main">
            <a:off x="6515100" y="1809750"/>
            <a:ext cx="1333500" cy="1162050"/>
          </a:xfrm>
          <a:prstGeom xmlns:a="http://schemas.openxmlformats.org/drawingml/2006/main" prst="roundRect">
            <a:avLst>
              <a:gd name="adj" fmla="val 6557"/>
            </a:avLst>
          </a:prstGeom>
          <a:solidFill xmlns:a="http://schemas.openxmlformats.org/drawingml/2006/main">
            <a:srgbClr val="E9EDF1"/>
          </a:solidFill>
          <a:ln xmlns:a="http://schemas.openxmlformats.org/drawingml/2006/main" w="9525">
            <a:solidFill>
              <a:srgbClr val="1C2733"/>
            </a:solidFill>
          </a:ln>
        </p:spPr>
      </p:sp>
      <p:sp>
        <p:nvSpPr>
          <p:cNvPr id="31" name="">
            <a:extLst xmlns:a="http://schemas.openxmlformats.org/drawingml/2006/main">
              <a:ext uri="{FF2B5EF4-FFF2-40B4-BE49-F238E27FC236}">
                <a16:creationId xmlns:a16="http://schemas.microsoft.com/office/drawing/2014/main" id="{5D26A6BA-72C0-480E-B9BD-C54D4815AD49}"/>
              </a:ext>
            </a:extLst>
          </p:cNvPr>
          <p:cNvSpPr>
            <a:spLocks xmlns:a="http://schemas.openxmlformats.org/drawingml/2006/main" noGrp="1"/>
          </p:cNvSpPr>
          <p:nvPr/>
        </p:nvSpPr>
        <p:spPr>
          <a:xfrm xmlns:a="http://schemas.openxmlformats.org/drawingml/2006/main">
            <a:off x="6629400" y="1924050"/>
            <a:ext cx="3238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BE72A18-9FC5-424E-A0C5-944F81892EDA}"/>
              </a:ext>
            </a:extLst>
          </p:cNvPr>
          <p:cNvSpPr>
            <a:spLocks xmlns:a="http://schemas.openxmlformats.org/drawingml/2006/main" noGrp="1"/>
          </p:cNvSpPr>
          <p:nvPr/>
        </p:nvSpPr>
        <p:spPr>
          <a:xfrm xmlns:a="http://schemas.openxmlformats.org/drawingml/2006/main">
            <a:off x="672465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a:t>
            </a:r>
          </a:p>
        </p:txBody>
      </p:sp>
      <p:sp>
        <p:nvSpPr>
          <p:cNvPr id="33" name="">
            <a:extLst xmlns:a="http://schemas.openxmlformats.org/drawingml/2006/main">
              <a:ext uri="{FF2B5EF4-FFF2-40B4-BE49-F238E27FC236}">
                <a16:creationId xmlns:a16="http://schemas.microsoft.com/office/drawing/2014/main" id="{1789ACC4-0997-449A-B9A6-07340AC25617}"/>
              </a:ext>
            </a:extLst>
          </p:cNvPr>
          <p:cNvSpPr>
            <a:spLocks xmlns:a="http://schemas.openxmlformats.org/drawingml/2006/main" noGrp="1"/>
          </p:cNvSpPr>
          <p:nvPr/>
        </p:nvSpPr>
        <p:spPr>
          <a:xfrm xmlns:a="http://schemas.openxmlformats.org/drawingml/2006/main">
            <a:off x="664845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REFINE</a:t>
            </a:r>
          </a:p>
        </p:txBody>
      </p:sp>
      <p:sp>
        <p:nvSpPr>
          <p:cNvPr id="34" name="">
            <a:extLst xmlns:a="http://schemas.openxmlformats.org/drawingml/2006/main">
              <a:ext uri="{FF2B5EF4-FFF2-40B4-BE49-F238E27FC236}">
                <a16:creationId xmlns:a16="http://schemas.microsoft.com/office/drawing/2014/main" id="{23B7EBFE-AE67-4004-9660-82C49A3870AF}"/>
              </a:ext>
            </a:extLst>
          </p:cNvPr>
          <p:cNvSpPr>
            <a:spLocks xmlns:a="http://schemas.openxmlformats.org/drawingml/2006/main" noGrp="1"/>
          </p:cNvSpPr>
          <p:nvPr/>
        </p:nvSpPr>
        <p:spPr>
          <a:xfrm xmlns:a="http://schemas.openxmlformats.org/drawingml/2006/main">
            <a:off x="662940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Raise resolution until stable or native</a:t>
            </a:r>
          </a:p>
        </p:txBody>
      </p:sp>
      <p:sp>
        <p:nvSpPr>
          <p:cNvPr id="35" name="">
            <a:extLst xmlns:a="http://schemas.openxmlformats.org/drawingml/2006/main">
              <a:ext uri="{FF2B5EF4-FFF2-40B4-BE49-F238E27FC236}">
                <a16:creationId xmlns:a16="http://schemas.microsoft.com/office/drawing/2014/main" id="{8909E5F6-288B-44DD-95B4-BC69B0DA07A0}"/>
              </a:ext>
            </a:extLst>
          </p:cNvPr>
          <p:cNvSpPr>
            <a:spLocks xmlns:a="http://schemas.openxmlformats.org/drawingml/2006/main" noGrp="1"/>
          </p:cNvSpPr>
          <p:nvPr/>
        </p:nvSpPr>
        <p:spPr>
          <a:xfrm xmlns:a="http://schemas.openxmlformats.org/drawingml/2006/main">
            <a:off x="609600" y="3200400"/>
            <a:ext cx="72390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a:solidFill>
              <a:srgbClr val="D9D4C8"/>
            </a:solidFill>
          </a:ln>
        </p:spPr>
      </p:sp>
      <p:sp>
        <p:nvSpPr>
          <p:cNvPr id="36" name="">
            <a:extLst xmlns:a="http://schemas.openxmlformats.org/drawingml/2006/main">
              <a:ext uri="{FF2B5EF4-FFF2-40B4-BE49-F238E27FC236}">
                <a16:creationId xmlns:a16="http://schemas.microsoft.com/office/drawing/2014/main" id="{A01E15B9-E694-4152-A5B1-64BCAF7F8559}"/>
              </a:ext>
            </a:extLst>
          </p:cNvPr>
          <p:cNvSpPr>
            <a:spLocks xmlns:a="http://schemas.openxmlformats.org/drawingml/2006/main" noGrp="1"/>
          </p:cNvSpPr>
          <p:nvPr/>
        </p:nvSpPr>
        <p:spPr>
          <a:xfrm xmlns:a="http://schemas.openxmlformats.org/drawingml/2006/main">
            <a:off x="838200" y="34099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RESEARCH WEDGE</a:t>
            </a:r>
          </a:p>
        </p:txBody>
      </p:sp>
      <p:sp>
        <p:nvSpPr>
          <p:cNvPr id="37" name="">
            <a:extLst xmlns:a="http://schemas.openxmlformats.org/drawingml/2006/main">
              <a:ext uri="{FF2B5EF4-FFF2-40B4-BE49-F238E27FC236}">
                <a16:creationId xmlns:a16="http://schemas.microsoft.com/office/drawing/2014/main" id="{A3F464DB-8D33-44F3-9D78-4927CAF1FF26}"/>
              </a:ext>
            </a:extLst>
          </p:cNvPr>
          <p:cNvSpPr>
            <a:spLocks xmlns:a="http://schemas.openxmlformats.org/drawingml/2006/main" noGrp="1"/>
          </p:cNvSpPr>
          <p:nvPr/>
        </p:nvSpPr>
        <p:spPr>
          <a:xfrm xmlns:a="http://schemas.openxmlformats.org/drawingml/2006/main">
            <a:off x="838200" y="369570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097"/>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Deterministic beams are a cheap baseline, but the pilot shows false consensus.</a:t>
            </a:r>
          </a:p>
        </p:txBody>
      </p:sp>
      <p:sp>
        <p:nvSpPr>
          <p:cNvPr id="38" name="">
            <a:extLst xmlns:a="http://schemas.openxmlformats.org/drawingml/2006/main">
              <a:ext uri="{FF2B5EF4-FFF2-40B4-BE49-F238E27FC236}">
                <a16:creationId xmlns:a16="http://schemas.microsoft.com/office/drawing/2014/main" id="{909E2FB3-8CA4-425D-BD1A-7CE1AA199B5E}"/>
              </a:ext>
            </a:extLst>
          </p:cNvPr>
          <p:cNvSpPr>
            <a:spLocks xmlns:a="http://schemas.openxmlformats.org/drawingml/2006/main" noGrp="1"/>
          </p:cNvSpPr>
          <p:nvPr/>
        </p:nvSpPr>
        <p:spPr>
          <a:xfrm xmlns:a="http://schemas.openxmlformats.org/drawingml/2006/main">
            <a:off x="838200" y="405765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Test temperature-sampled coordinates plus token confidence, then crop only uncertain cases. The target is a better accuracy–latency frontier for Holo 4B, without weight updates or hidden activations.</a:t>
            </a:r>
          </a:p>
        </p:txBody>
      </p:sp>
      <p:sp>
        <p:nvSpPr>
          <p:cNvPr id="39" name="">
            <a:extLst xmlns:a="http://schemas.openxmlformats.org/drawingml/2006/main">
              <a:ext uri="{FF2B5EF4-FFF2-40B4-BE49-F238E27FC236}">
                <a16:creationId xmlns:a16="http://schemas.microsoft.com/office/drawing/2014/main" id="{C5BC5414-1A76-4D6D-833E-D673EF73BC96}"/>
              </a:ext>
            </a:extLst>
          </p:cNvPr>
          <p:cNvSpPr>
            <a:spLocks xmlns:a="http://schemas.openxmlformats.org/drawingml/2006/main" noGrp="1"/>
          </p:cNvSpPr>
          <p:nvPr/>
        </p:nvSpPr>
        <p:spPr>
          <a:xfrm xmlns:a="http://schemas.openxmlformats.org/drawingml/2006/main">
            <a:off x="8134350" y="1524000"/>
            <a:ext cx="3448050" cy="3067050"/>
          </a:xfrm>
          <a:prstGeom xmlns:a="http://schemas.openxmlformats.org/drawingml/2006/main" prst="roundRect">
            <a:avLst>
              <a:gd name="adj" fmla="val 2484"/>
            </a:avLst>
          </a:prstGeom>
          <a:solidFill xmlns:a="http://schemas.openxmlformats.org/drawingml/2006/main">
            <a:srgbClr val="1C273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C2484BD-A354-457F-BCC7-277B1097930C}"/>
              </a:ext>
            </a:extLst>
          </p:cNvPr>
          <p:cNvSpPr>
            <a:spLocks xmlns:a="http://schemas.openxmlformats.org/drawingml/2006/main" noGrp="1"/>
          </p:cNvSpPr>
          <p:nvPr/>
        </p:nvSpPr>
        <p:spPr>
          <a:xfrm xmlns:a="http://schemas.openxmlformats.org/drawingml/2006/main">
            <a:off x="8382000" y="17335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LOCAL FEASIBILITY · n=2</a:t>
            </a:r>
          </a:p>
        </p:txBody>
      </p:sp>
      <p:sp>
        <p:nvSpPr>
          <p:cNvPr id="41" name="">
            <a:extLst xmlns:a="http://schemas.openxmlformats.org/drawingml/2006/main">
              <a:ext uri="{FF2B5EF4-FFF2-40B4-BE49-F238E27FC236}">
                <a16:creationId xmlns:a16="http://schemas.microsoft.com/office/drawing/2014/main" id="{8B285C52-45AF-474C-B80B-17E8BF4191FF}"/>
              </a:ext>
            </a:extLst>
          </p:cNvPr>
          <p:cNvSpPr>
            <a:spLocks xmlns:a="http://schemas.openxmlformats.org/drawingml/2006/main" noGrp="1"/>
          </p:cNvSpPr>
          <p:nvPr/>
        </p:nvSpPr>
        <p:spPr>
          <a:xfrm xmlns:a="http://schemas.openxmlformats.org/drawingml/2006/main">
            <a:off x="8382000" y="19812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9"/>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Quarter-resolution deterministic beams</a:t>
            </a:r>
          </a:p>
        </p:txBody>
      </p:sp>
      <p:sp>
        <p:nvSpPr>
          <p:cNvPr id="42" name="">
            <a:extLst xmlns:a="http://schemas.openxmlformats.org/drawingml/2006/main">
              <a:ext uri="{FF2B5EF4-FFF2-40B4-BE49-F238E27FC236}">
                <a16:creationId xmlns:a16="http://schemas.microsoft.com/office/drawing/2014/main" id="{6E706923-752A-451D-ACCA-CEF77E915ADF}"/>
              </a:ext>
            </a:extLst>
          </p:cNvPr>
          <p:cNvSpPr>
            <a:spLocks xmlns:a="http://schemas.openxmlformats.org/drawingml/2006/main" noGrp="1"/>
          </p:cNvSpPr>
          <p:nvPr/>
        </p:nvSpPr>
        <p:spPr>
          <a:xfrm xmlns:a="http://schemas.openxmlformats.org/drawingml/2006/main">
            <a:off x="8382000" y="23812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KNOWN HIT</a:t>
            </a:r>
          </a:p>
        </p:txBody>
      </p:sp>
      <p:sp>
        <p:nvSpPr>
          <p:cNvPr id="43" name="">
            <a:extLst xmlns:a="http://schemas.openxmlformats.org/drawingml/2006/main">
              <a:ext uri="{FF2B5EF4-FFF2-40B4-BE49-F238E27FC236}">
                <a16:creationId xmlns:a16="http://schemas.microsoft.com/office/drawing/2014/main" id="{2FD1A862-CCD1-4608-A643-3236B9C56E8E}"/>
              </a:ext>
            </a:extLst>
          </p:cNvPr>
          <p:cNvSpPr>
            <a:spLocks xmlns:a="http://schemas.openxmlformats.org/drawingml/2006/main" noGrp="1"/>
          </p:cNvSpPr>
          <p:nvPr/>
        </p:nvSpPr>
        <p:spPr>
          <a:xfrm xmlns:a="http://schemas.openxmlformats.org/drawingml/2006/main">
            <a:off x="8382000" y="25908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2.55 spread</a:t>
            </a:r>
          </a:p>
        </p:txBody>
      </p:sp>
      <p:sp>
        <p:nvSpPr>
          <p:cNvPr id="44" name="">
            <a:extLst xmlns:a="http://schemas.openxmlformats.org/drawingml/2006/main">
              <a:ext uri="{FF2B5EF4-FFF2-40B4-BE49-F238E27FC236}">
                <a16:creationId xmlns:a16="http://schemas.microsoft.com/office/drawing/2014/main" id="{BE61E9AE-55AE-49E9-962D-3F3E9596CFC9}"/>
              </a:ext>
            </a:extLst>
          </p:cNvPr>
          <p:cNvSpPr>
            <a:spLocks xmlns:a="http://schemas.openxmlformats.org/drawingml/2006/main" noGrp="1"/>
          </p:cNvSpPr>
          <p:nvPr/>
        </p:nvSpPr>
        <p:spPr>
          <a:xfrm xmlns:a="http://schemas.openxmlformats.org/drawingml/2006/main">
            <a:off x="9848850" y="26479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BDE7D8"/>
                </a:solidFill>
                <a:latin typeface="Helvetica Neue"/>
                <a:ea typeface="Helvetica Neue"/>
                <a:cs typeface="Helvetica Neue"/>
              </a:defRPr>
            </a:pPr>
            <a:r>
              <a:rPr sz="975" b="0">
                <a:solidFill>
                  <a:srgbClr val="BDE7D8"/>
                </a:solidFill>
                <a:latin typeface="Helvetica Neue"/>
                <a:ea typeface="Helvetica Neue"/>
                <a:cs typeface="Helvetica Neue"/>
              </a:rPr>
              <a:t>4/4 beams hit</a:t>
            </a:r>
          </a:p>
        </p:txBody>
      </p:sp>
      <p:sp>
        <p:nvSpPr>
          <p:cNvPr id="45" name="">
            <a:extLst xmlns:a="http://schemas.openxmlformats.org/drawingml/2006/main">
              <a:ext uri="{FF2B5EF4-FFF2-40B4-BE49-F238E27FC236}">
                <a16:creationId xmlns:a16="http://schemas.microsoft.com/office/drawing/2014/main" id="{D2EC20DA-2A45-4940-8186-47CFBAEADFC1}"/>
              </a:ext>
            </a:extLst>
          </p:cNvPr>
          <p:cNvSpPr>
            <a:spLocks xmlns:a="http://schemas.openxmlformats.org/drawingml/2006/main" noGrp="1"/>
          </p:cNvSpPr>
          <p:nvPr/>
        </p:nvSpPr>
        <p:spPr>
          <a:xfrm xmlns:a="http://schemas.openxmlformats.org/drawingml/2006/main">
            <a:off x="8382000" y="2990850"/>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6FECC1D5-8EE9-435E-B307-28A4B7877860}"/>
              </a:ext>
            </a:extLst>
          </p:cNvPr>
          <p:cNvSpPr>
            <a:spLocks xmlns:a="http://schemas.openxmlformats.org/drawingml/2006/main" noGrp="1"/>
          </p:cNvSpPr>
          <p:nvPr/>
        </p:nvSpPr>
        <p:spPr>
          <a:xfrm xmlns:a="http://schemas.openxmlformats.org/drawingml/2006/main">
            <a:off x="8382000" y="31813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F05A3C"/>
                </a:solidFill>
                <a:latin typeface="Helvetica Neue"/>
                <a:ea typeface="Helvetica Neue"/>
                <a:cs typeface="Helvetica Neue"/>
              </a:defRPr>
            </a:pPr>
            <a:r>
              <a:rPr sz="750" b="1">
                <a:solidFill>
                  <a:srgbClr val="F05A3C"/>
                </a:solidFill>
                <a:latin typeface="Helvetica Neue"/>
                <a:ea typeface="Helvetica Neue"/>
                <a:cs typeface="Helvetica Neue"/>
              </a:rPr>
              <a:t>KNOWN MISS</a:t>
            </a:r>
          </a:p>
        </p:txBody>
      </p:sp>
      <p:sp>
        <p:nvSpPr>
          <p:cNvPr id="47" name="">
            <a:extLst xmlns:a="http://schemas.openxmlformats.org/drawingml/2006/main">
              <a:ext uri="{FF2B5EF4-FFF2-40B4-BE49-F238E27FC236}">
                <a16:creationId xmlns:a16="http://schemas.microsoft.com/office/drawing/2014/main" id="{DF53D2ED-1BD0-4621-8382-C59E0D1424A3}"/>
              </a:ext>
            </a:extLst>
          </p:cNvPr>
          <p:cNvSpPr>
            <a:spLocks xmlns:a="http://schemas.openxmlformats.org/drawingml/2006/main" noGrp="1"/>
          </p:cNvSpPr>
          <p:nvPr/>
        </p:nvSpPr>
        <p:spPr>
          <a:xfrm xmlns:a="http://schemas.openxmlformats.org/drawingml/2006/main">
            <a:off x="8382000" y="3390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1.12 spread</a:t>
            </a:r>
          </a:p>
        </p:txBody>
      </p:sp>
      <p:sp>
        <p:nvSpPr>
          <p:cNvPr id="48" name="">
            <a:extLst xmlns:a="http://schemas.openxmlformats.org/drawingml/2006/main">
              <a:ext uri="{FF2B5EF4-FFF2-40B4-BE49-F238E27FC236}">
                <a16:creationId xmlns:a16="http://schemas.microsoft.com/office/drawing/2014/main" id="{D2689751-398F-49A3-8E06-2DF51CE03CDD}"/>
              </a:ext>
            </a:extLst>
          </p:cNvPr>
          <p:cNvSpPr>
            <a:spLocks xmlns:a="http://schemas.openxmlformats.org/drawingml/2006/main" noGrp="1"/>
          </p:cNvSpPr>
          <p:nvPr/>
        </p:nvSpPr>
        <p:spPr>
          <a:xfrm xmlns:a="http://schemas.openxmlformats.org/drawingml/2006/main">
            <a:off x="9848850" y="34480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F6B9AA"/>
                </a:solidFill>
                <a:latin typeface="Helvetica Neue"/>
                <a:ea typeface="Helvetica Neue"/>
                <a:cs typeface="Helvetica Neue"/>
              </a:defRPr>
            </a:pPr>
            <a:r>
              <a:rPr sz="975" b="0">
                <a:solidFill>
                  <a:srgbClr val="F6B9AA"/>
                </a:solidFill>
                <a:latin typeface="Helvetica Neue"/>
                <a:ea typeface="Helvetica Neue"/>
                <a:cs typeface="Helvetica Neue"/>
              </a:rPr>
              <a:t>0/4 beams hit</a:t>
            </a:r>
          </a:p>
        </p:txBody>
      </p:sp>
      <p:sp>
        <p:nvSpPr>
          <p:cNvPr id="49" name="">
            <a:extLst xmlns:a="http://schemas.openxmlformats.org/drawingml/2006/main">
              <a:ext uri="{FF2B5EF4-FFF2-40B4-BE49-F238E27FC236}">
                <a16:creationId xmlns:a16="http://schemas.microsoft.com/office/drawing/2014/main" id="{8EDF1058-9F74-4C09-9ED6-491F4732005C}"/>
              </a:ext>
            </a:extLst>
          </p:cNvPr>
          <p:cNvSpPr>
            <a:spLocks xmlns:a="http://schemas.openxmlformats.org/drawingml/2006/main" noGrp="1"/>
          </p:cNvSpPr>
          <p:nvPr/>
        </p:nvSpPr>
        <p:spPr>
          <a:xfrm xmlns:a="http://schemas.openxmlformats.org/drawingml/2006/main">
            <a:off x="8382000" y="3810000"/>
            <a:ext cx="2857500" cy="514350"/>
          </a:xfrm>
          <a:prstGeom xmlns:a="http://schemas.openxmlformats.org/drawingml/2006/main" prst="roundRect">
            <a:avLst>
              <a:gd name="adj" fmla="val 14815"/>
            </a:avLst>
          </a:prstGeom>
          <a:solidFill xmlns:a="http://schemas.openxmlformats.org/drawingml/2006/main">
            <a:srgbClr val="F05A3C"/>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56D231C7-3518-480F-A63D-8E884E4725CD}"/>
              </a:ext>
            </a:extLst>
          </p:cNvPr>
          <p:cNvSpPr>
            <a:spLocks xmlns:a="http://schemas.openxmlformats.org/drawingml/2006/main" noGrp="1"/>
          </p:cNvSpPr>
          <p:nvPr/>
        </p:nvSpPr>
        <p:spPr>
          <a:xfrm xmlns:a="http://schemas.openxmlformats.org/drawingml/2006/main">
            <a:off x="8515350" y="3924300"/>
            <a:ext cx="2590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957"/>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The wrong case clustered more tightly.</a:t>
            </a:r>
          </a:p>
        </p:txBody>
      </p:sp>
      <p:sp>
        <p:nvSpPr>
          <p:cNvPr id="51" name="">
            <a:extLst xmlns:a="http://schemas.openxmlformats.org/drawingml/2006/main">
              <a:ext uri="{FF2B5EF4-FFF2-40B4-BE49-F238E27FC236}">
                <a16:creationId xmlns:a16="http://schemas.microsoft.com/office/drawing/2014/main" id="{D78E1817-7CCC-4F9A-842B-B5F63EC1B2ED}"/>
              </a:ext>
            </a:extLst>
          </p:cNvPr>
          <p:cNvSpPr>
            <a:spLocks xmlns:a="http://schemas.openxmlformats.org/drawingml/2006/main" noGrp="1"/>
          </p:cNvSpPr>
          <p:nvPr/>
        </p:nvSpPr>
        <p:spPr>
          <a:xfrm xmlns:a="http://schemas.openxmlformats.org/drawingml/2006/main">
            <a:off x="8382000" y="4381500"/>
            <a:ext cx="285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1">
                <a:solidFill>
                  <a:srgbClr val="B9C3CD"/>
                </a:solidFill>
                <a:latin typeface="Helvetica Neue"/>
                <a:ea typeface="Helvetica Neue"/>
                <a:cs typeface="Helvetica Neue"/>
              </a:defRPr>
            </a:pPr>
            <a:r>
              <a:rPr sz="750" b="1">
                <a:solidFill>
                  <a:srgbClr val="B9C3CD"/>
                </a:solidFill>
                <a:latin typeface="Helvetica Neue"/>
                <a:ea typeface="Helvetica Neue"/>
                <a:cs typeface="Helvetica Neue"/>
              </a:rPr>
              <a:t>Exact click overlays in Appendix A1</a:t>
            </a:r>
          </a:p>
        </p:txBody>
      </p:sp>
      <p:sp>
        <p:nvSpPr>
          <p:cNvPr id="52" name="">
            <a:extLst xmlns:a="http://schemas.openxmlformats.org/drawingml/2006/main">
              <a:ext uri="{FF2B5EF4-FFF2-40B4-BE49-F238E27FC236}">
                <a16:creationId xmlns:a16="http://schemas.microsoft.com/office/drawing/2014/main" id="{90C2A629-3303-4BAD-B920-76D5712F30D1}"/>
              </a:ext>
            </a:extLst>
          </p:cNvPr>
          <p:cNvSpPr>
            <a:spLocks xmlns:a="http://schemas.openxmlformats.org/drawingml/2006/main" noGrp="1"/>
          </p:cNvSpPr>
          <p:nvPr/>
        </p:nvSpPr>
        <p:spPr>
          <a:xfrm xmlns:a="http://schemas.openxmlformats.org/drawingml/2006/main">
            <a:off x="60960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HYPOTHESIS</a:t>
            </a:r>
          </a:p>
        </p:txBody>
      </p:sp>
      <p:sp>
        <p:nvSpPr>
          <p:cNvPr id="53" name="">
            <a:extLst xmlns:a="http://schemas.openxmlformats.org/drawingml/2006/main">
              <a:ext uri="{FF2B5EF4-FFF2-40B4-BE49-F238E27FC236}">
                <a16:creationId xmlns:a16="http://schemas.microsoft.com/office/drawing/2014/main" id="{F45C01BD-779C-4016-B159-9AF1EDB77CAA}"/>
              </a:ext>
            </a:extLst>
          </p:cNvPr>
          <p:cNvSpPr>
            <a:spLocks xmlns:a="http://schemas.openxmlformats.org/drawingml/2006/main" noGrp="1"/>
          </p:cNvSpPr>
          <p:nvPr/>
        </p:nvSpPr>
        <p:spPr>
          <a:xfrm xmlns:a="http://schemas.openxmlformats.org/drawingml/2006/main">
            <a:off x="60960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Adaptive routing recovers low-resolution misses while skipping a second pass on easy cases.</a:t>
            </a:r>
          </a:p>
        </p:txBody>
      </p:sp>
      <p:sp>
        <p:nvSpPr>
          <p:cNvPr id="54" name="">
            <a:extLst xmlns:a="http://schemas.openxmlformats.org/drawingml/2006/main">
              <a:ext uri="{FF2B5EF4-FFF2-40B4-BE49-F238E27FC236}">
                <a16:creationId xmlns:a16="http://schemas.microsoft.com/office/drawing/2014/main" id="{C1AF85D4-A9FA-4DAE-9CA7-919D07FCD3E2}"/>
              </a:ext>
            </a:extLst>
          </p:cNvPr>
          <p:cNvSpPr>
            <a:spLocks xmlns:a="http://schemas.openxmlformats.org/drawingml/2006/main" noGrp="1"/>
          </p:cNvSpPr>
          <p:nvPr/>
        </p:nvSpPr>
        <p:spPr>
          <a:xfrm xmlns:a="http://schemas.openxmlformats.org/drawingml/2006/main">
            <a:off x="436245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EVALUATION</a:t>
            </a:r>
          </a:p>
        </p:txBody>
      </p:sp>
      <p:sp>
        <p:nvSpPr>
          <p:cNvPr id="55" name="">
            <a:extLst xmlns:a="http://schemas.openxmlformats.org/drawingml/2006/main">
              <a:ext uri="{FF2B5EF4-FFF2-40B4-BE49-F238E27FC236}">
                <a16:creationId xmlns:a16="http://schemas.microsoft.com/office/drawing/2014/main" id="{33C8FA4B-894A-44DF-8D78-EC6F7E3DF275}"/>
              </a:ext>
            </a:extLst>
          </p:cNvPr>
          <p:cNvSpPr>
            <a:spLocks xmlns:a="http://schemas.openxmlformats.org/drawingml/2006/main" noGrp="1"/>
          </p:cNvSpPr>
          <p:nvPr/>
        </p:nvSpPr>
        <p:spPr>
          <a:xfrm xmlns:a="http://schemas.openxmlformats.org/drawingml/2006/main">
            <a:off x="436245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Strict click accuracy against pixels processed and p50/p95 latency on the 36-case native-success cohort.</a:t>
            </a:r>
          </a:p>
        </p:txBody>
      </p:sp>
      <p:sp>
        <p:nvSpPr>
          <p:cNvPr id="56" name="">
            <a:extLst xmlns:a="http://schemas.openxmlformats.org/drawingml/2006/main">
              <a:ext uri="{FF2B5EF4-FFF2-40B4-BE49-F238E27FC236}">
                <a16:creationId xmlns:a16="http://schemas.microsoft.com/office/drawing/2014/main" id="{ACD12474-420C-404E-B054-9C0DDA7D2B2D}"/>
              </a:ext>
            </a:extLst>
          </p:cNvPr>
          <p:cNvSpPr>
            <a:spLocks xmlns:a="http://schemas.openxmlformats.org/drawingml/2006/main" noGrp="1"/>
          </p:cNvSpPr>
          <p:nvPr/>
        </p:nvSpPr>
        <p:spPr>
          <a:xfrm xmlns:a="http://schemas.openxmlformats.org/drawingml/2006/main">
            <a:off x="811530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BASELINES</a:t>
            </a:r>
          </a:p>
        </p:txBody>
      </p:sp>
      <p:sp>
        <p:nvSpPr>
          <p:cNvPr id="57" name="">
            <a:extLst xmlns:a="http://schemas.openxmlformats.org/drawingml/2006/main">
              <a:ext uri="{FF2B5EF4-FFF2-40B4-BE49-F238E27FC236}">
                <a16:creationId xmlns:a16="http://schemas.microsoft.com/office/drawing/2014/main" id="{A976E11B-7021-49D6-9160-6EB6E24EAEF0}"/>
              </a:ext>
            </a:extLst>
          </p:cNvPr>
          <p:cNvSpPr>
            <a:spLocks xmlns:a="http://schemas.openxmlformats.org/drawingml/2006/main" noGrp="1"/>
          </p:cNvSpPr>
          <p:nvPr/>
        </p:nvSpPr>
        <p:spPr>
          <a:xfrm xmlns:a="http://schemas.openxmlformats.org/drawingml/2006/main">
            <a:off x="811530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Quarter and native single pass, fixed two-pass zoom, deterministic beams, and stochastic uncertainty gating.</a:t>
            </a:r>
          </a:p>
        </p:txBody>
      </p:sp>
      <p:sp>
        <p:nvSpPr>
          <p:cNvPr id="58" name="">
            <a:extLst xmlns:a="http://schemas.openxmlformats.org/drawingml/2006/main">
              <a:ext uri="{FF2B5EF4-FFF2-40B4-BE49-F238E27FC236}">
                <a16:creationId xmlns:a16="http://schemas.microsoft.com/office/drawing/2014/main" id="{5D4C2C90-33EA-46B7-AD8D-FDC8AE7B5174}"/>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oundRect">
            <a:avLst>
              <a:gd name="adj" fmla="val 25000"/>
            </a:avLst>
          </a:prstGeom>
          <a:solidFill xmlns:a="http://schemas.openxmlformats.org/drawingml/2006/main">
            <a:srgbClr val="1C2733"/>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139A85CB-CBD7-4CB8-80B2-7C512218496F}"/>
              </a:ext>
            </a:extLst>
          </p:cNvPr>
          <p:cNvSpPr>
            <a:spLocks xmlns:a="http://schemas.openxmlformats.org/drawingml/2006/main" noGrp="1"/>
          </p:cNvSpPr>
          <p:nvPr/>
        </p:nvSpPr>
        <p:spPr>
          <a:xfrm xmlns:a="http://schemas.openxmlformats.org/drawingml/2006/main">
            <a:off x="800100" y="6067425"/>
            <a:ext cx="10591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Adjacent to AutoFocus, UI-Zoomer, and ZoomClick · Holo-specific test of cheap beams, calibrated routing, and latency</a:t>
            </a:r>
          </a:p>
        </p:txBody>
      </p:sp>
      <p:sp>
        <p:nvSpPr>
          <p:cNvPr id="60" name="">
            <a:extLst xmlns:a="http://schemas.openxmlformats.org/drawingml/2006/main">
              <a:ext uri="{FF2B5EF4-FFF2-40B4-BE49-F238E27FC236}">
                <a16:creationId xmlns:a16="http://schemas.microsoft.com/office/drawing/2014/main" id="{C06241AD-D5E6-4AED-A940-17B990DA03E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3D6167A9-4196-445E-9E4F-F7D1F56D4EA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End of main deck. Two-case pilot tests feasibility, not benchmark accuracy or calibration.</a:t>
            </a:r>
          </a:p>
        </p:txBody>
      </p:sp>
    </p:spTree>
    <p:extLst>
      <p:ext uri="{BB962C8B-B14F-4D97-AF65-F5344CB8AC3E}">
        <p14:creationId xmlns:p14="http://schemas.microsoft.com/office/powerpoint/2010/main" val="2014664748"/>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99855887-D6E8-42C0-A300-974B76CC3F2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BEAM PILOT</a:t>
            </a:r>
          </a:p>
        </p:txBody>
      </p:sp>
      <p:sp>
        <p:nvSpPr>
          <p:cNvPr id="2" name="">
            <a:extLst xmlns:a="http://schemas.openxmlformats.org/drawingml/2006/main">
              <a:ext uri="{FF2B5EF4-FFF2-40B4-BE49-F238E27FC236}">
                <a16:creationId xmlns:a16="http://schemas.microsoft.com/office/drawing/2014/main" id="{C12ABD7C-7903-4DA5-8CA8-C16B12AD4AC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known miss forms the tighter beam cluster</a:t>
            </a:r>
          </a:p>
        </p:txBody>
      </p:sp>
      <p:sp>
        <p:nvSpPr>
          <p:cNvPr id="3" name="">
            <a:extLst xmlns:a="http://schemas.openxmlformats.org/drawingml/2006/main">
              <a:ext uri="{FF2B5EF4-FFF2-40B4-BE49-F238E27FC236}">
                <a16:creationId xmlns:a16="http://schemas.microsoft.com/office/drawing/2014/main" id="{2F4FED8D-E2AE-4043-BA49-B847CD33234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A1</a:t>
            </a:r>
          </a:p>
        </p:txBody>
      </p:sp>
      <p:sp>
        <p:nvSpPr>
          <p:cNvPr id="4" name="">
            <a:extLst xmlns:a="http://schemas.openxmlformats.org/drawingml/2006/main">
              <a:ext uri="{FF2B5EF4-FFF2-40B4-BE49-F238E27FC236}">
                <a16:creationId xmlns:a16="http://schemas.microsoft.com/office/drawing/2014/main" id="{CD406269-3D90-482B-908B-07D071B3F4CB}"/>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Orange box: ScreenSpot-Pro oracle · colored rings: deterministic beam ranks 1–4 · model input: 25% linear resize</a:t>
            </a:r>
          </a:p>
        </p:txBody>
      </p:sp>
      <p:sp>
        <p:nvSpPr>
          <p:cNvPr id="5" name="">
            <a:extLst xmlns:a="http://schemas.openxmlformats.org/drawingml/2006/main">
              <a:ext uri="{FF2B5EF4-FFF2-40B4-BE49-F238E27FC236}">
                <a16:creationId xmlns:a16="http://schemas.microsoft.com/office/drawing/2014/main" id="{A6DEEDA0-7DB6-4F03-80FA-3F5745027186}"/>
              </a:ext>
            </a:extLst>
          </p:cNvPr>
          <p:cNvSpPr>
            <a:spLocks xmlns:a="http://schemas.openxmlformats.org/drawingml/2006/main" noGrp="1"/>
          </p:cNvSpPr>
          <p:nvPr/>
        </p:nvSpPr>
        <p:spPr>
          <a:xfrm xmlns:a="http://schemas.openxmlformats.org/drawingml/2006/main">
            <a:off x="609600" y="13906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KNOWN QUARTER-RESOLUTION HIT</a:t>
            </a:r>
          </a:p>
        </p:txBody>
      </p:sp>
      <p:sp>
        <p:nvSpPr>
          <p:cNvPr id="6" name="">
            <a:extLst xmlns:a="http://schemas.openxmlformats.org/drawingml/2006/main">
              <a:ext uri="{FF2B5EF4-FFF2-40B4-BE49-F238E27FC236}">
                <a16:creationId xmlns:a16="http://schemas.microsoft.com/office/drawing/2014/main" id="{FE284941-2F78-4F6E-9159-00F570A232FB}"/>
              </a:ext>
            </a:extLst>
          </p:cNvPr>
          <p:cNvSpPr>
            <a:spLocks xmlns:a="http://schemas.openxmlformats.org/drawingml/2006/main" noGrp="1"/>
          </p:cNvSpPr>
          <p:nvPr/>
        </p:nvSpPr>
        <p:spPr>
          <a:xfrm xmlns:a="http://schemas.openxmlformats.org/drawingml/2006/main">
            <a:off x="609600" y="1562100"/>
            <a:ext cx="5257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Create a “Psychedelic vibrant” presentation</a:t>
            </a:r>
          </a:p>
        </p:txBody>
      </p:sp>
      <p:sp>
        <p:nvSpPr>
          <p:cNvPr id="7" name="">
            <a:extLst xmlns:a="http://schemas.openxmlformats.org/drawingml/2006/main">
              <a:ext uri="{FF2B5EF4-FFF2-40B4-BE49-F238E27FC236}">
                <a16:creationId xmlns:a16="http://schemas.microsoft.com/office/drawing/2014/main" id="{19A079F8-490D-43CA-A4A0-18172E7DEB00}"/>
              </a:ext>
            </a:extLst>
          </p:cNvPr>
          <p:cNvSpPr>
            <a:spLocks xmlns:a="http://schemas.openxmlformats.org/drawingml/2006/main" noGrp="1"/>
          </p:cNvSpPr>
          <p:nvPr/>
        </p:nvSpPr>
        <p:spPr>
          <a:xfrm xmlns:a="http://schemas.openxmlformats.org/drawingml/2006/main">
            <a:off x="6477000" y="13906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KNOWN QUARTER-RESOLUTION MISS</a:t>
            </a:r>
          </a:p>
        </p:txBody>
      </p:sp>
      <p:sp>
        <p:nvSpPr>
          <p:cNvPr id="8" name="">
            <a:extLst xmlns:a="http://schemas.openxmlformats.org/drawingml/2006/main">
              <a:ext uri="{FF2B5EF4-FFF2-40B4-BE49-F238E27FC236}">
                <a16:creationId xmlns:a16="http://schemas.microsoft.com/office/drawing/2014/main" id="{9362E6B8-6220-4FA7-9439-54E9A5B61733}"/>
              </a:ext>
            </a:extLst>
          </p:cNvPr>
          <p:cNvSpPr>
            <a:spLocks xmlns:a="http://schemas.openxmlformats.org/drawingml/2006/main" noGrp="1"/>
          </p:cNvSpPr>
          <p:nvPr/>
        </p:nvSpPr>
        <p:spPr>
          <a:xfrm xmlns:a="http://schemas.openxmlformats.org/drawingml/2006/main">
            <a:off x="6477000" y="1562100"/>
            <a:ext cx="5105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Refresh the file explorer</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c6e3dd7c2ed344f7"/>
          <a:stretch xmlns:a="http://schemas.openxmlformats.org/drawingml/2006/main"/>
        </p:blipFill>
        <p:spPr>
          <a:xfrm xmlns:a="http://schemas.openxmlformats.org/drawingml/2006/main">
            <a:off x="609600" y="1790700"/>
            <a:ext cx="5257800" cy="32861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FFBA866-FE1B-40BF-9EF9-98C605D57795}"/>
              </a:ext>
            </a:extLst>
          </p:cNvPr>
          <p:cNvSpPr>
            <a:spLocks xmlns:a="http://schemas.openxmlformats.org/drawingml/2006/main" noGrp="1"/>
          </p:cNvSpPr>
          <p:nvPr/>
        </p:nvSpPr>
        <p:spPr>
          <a:xfrm xmlns:a="http://schemas.openxmlformats.org/drawingml/2006/main">
            <a:off x="609600" y="1790700"/>
            <a:ext cx="5257800"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30971B2E-6AB6-4DFA-88E4-EB332FCC2A48}"/>
              </a:ext>
            </a:extLst>
          </p:cNvPr>
          <p:cNvSpPr>
            <a:spLocks xmlns:a="http://schemas.openxmlformats.org/drawingml/2006/main" noGrp="1"/>
          </p:cNvSpPr>
          <p:nvPr/>
        </p:nvSpPr>
        <p:spPr>
          <a:xfrm xmlns:a="http://schemas.openxmlformats.org/drawingml/2006/main">
            <a:off x="2962831" y="2818527"/>
            <a:ext cx="365125" cy="253762"/>
          </a:xfrm>
          <a:prstGeom xmlns:a="http://schemas.openxmlformats.org/drawingml/2006/main" prst="rect">
            <a:avLst/>
          </a:prstGeom>
          <a:noFill xmlns:a="http://schemas.openxmlformats.org/drawingml/2006/main"/>
          <a:ln xmlns:a="http://schemas.openxmlformats.org/drawingml/2006/main" w="28575">
            <a:solidFill>
              <a:srgbClr val="F05A3C"/>
            </a:solidFill>
          </a:ln>
        </p:spPr>
      </p:sp>
      <p:sp>
        <p:nvSpPr>
          <p:cNvPr id="12" name="">
            <a:extLst xmlns:a="http://schemas.openxmlformats.org/drawingml/2006/main">
              <a:ext uri="{FF2B5EF4-FFF2-40B4-BE49-F238E27FC236}">
                <a16:creationId xmlns:a16="http://schemas.microsoft.com/office/drawing/2014/main" id="{A558FE5D-09B8-415B-BF61-CD7EF0B0DA1E}"/>
              </a:ext>
            </a:extLst>
          </p:cNvPr>
          <p:cNvSpPr>
            <a:spLocks xmlns:a="http://schemas.openxmlformats.org/drawingml/2006/main" noGrp="1"/>
          </p:cNvSpPr>
          <p:nvPr/>
        </p:nvSpPr>
        <p:spPr>
          <a:xfrm xmlns:a="http://schemas.openxmlformats.org/drawingml/2006/main">
            <a:off x="3076289" y="2837783"/>
            <a:ext cx="166688" cy="166688"/>
          </a:xfrm>
          <a:prstGeom xmlns:a="http://schemas.openxmlformats.org/drawingml/2006/main" prst="ellipse">
            <a:avLst/>
          </a:prstGeom>
          <a:noFill xmlns:a="http://schemas.openxmlformats.org/drawingml/2006/main"/>
          <a:ln xmlns:a="http://schemas.openxmlformats.org/drawingml/2006/main" w="23813">
            <a:solidFill>
              <a:srgbClr val="2D84D3"/>
            </a:solidFill>
          </a:ln>
        </p:spPr>
      </p:sp>
      <p:sp>
        <p:nvSpPr>
          <p:cNvPr id="13" name="">
            <a:extLst xmlns:a="http://schemas.openxmlformats.org/drawingml/2006/main">
              <a:ext uri="{FF2B5EF4-FFF2-40B4-BE49-F238E27FC236}">
                <a16:creationId xmlns:a16="http://schemas.microsoft.com/office/drawing/2014/main" id="{49EC43F8-6D0E-4BCD-9FCE-CA6EB282CFDB}"/>
              </a:ext>
            </a:extLst>
          </p:cNvPr>
          <p:cNvSpPr>
            <a:spLocks xmlns:a="http://schemas.openxmlformats.org/drawingml/2006/main" noGrp="1"/>
          </p:cNvSpPr>
          <p:nvPr/>
        </p:nvSpPr>
        <p:spPr>
          <a:xfrm xmlns:a="http://schemas.openxmlformats.org/drawingml/2006/main">
            <a:off x="3088195" y="2866120"/>
            <a:ext cx="142875" cy="142875"/>
          </a:xfrm>
          <a:prstGeom xmlns:a="http://schemas.openxmlformats.org/drawingml/2006/main" prst="ellipse">
            <a:avLst/>
          </a:prstGeom>
          <a:noFill xmlns:a="http://schemas.openxmlformats.org/drawingml/2006/main"/>
          <a:ln xmlns:a="http://schemas.openxmlformats.org/drawingml/2006/main" w="23813">
            <a:solidFill>
              <a:srgbClr val="F05A3C"/>
            </a:solidFill>
          </a:ln>
        </p:spPr>
      </p:sp>
      <p:sp>
        <p:nvSpPr>
          <p:cNvPr id="14" name="">
            <a:extLst xmlns:a="http://schemas.openxmlformats.org/drawingml/2006/main">
              <a:ext uri="{FF2B5EF4-FFF2-40B4-BE49-F238E27FC236}">
                <a16:creationId xmlns:a16="http://schemas.microsoft.com/office/drawing/2014/main" id="{BDB2460B-7941-463B-BE13-7443962FAC1C}"/>
              </a:ext>
            </a:extLst>
          </p:cNvPr>
          <p:cNvSpPr>
            <a:spLocks xmlns:a="http://schemas.openxmlformats.org/drawingml/2006/main" noGrp="1"/>
          </p:cNvSpPr>
          <p:nvPr/>
        </p:nvSpPr>
        <p:spPr>
          <a:xfrm xmlns:a="http://schemas.openxmlformats.org/drawingml/2006/main">
            <a:off x="3089586" y="2858310"/>
            <a:ext cx="119063" cy="119063"/>
          </a:xfrm>
          <a:prstGeom xmlns:a="http://schemas.openxmlformats.org/drawingml/2006/main" prst="ellipse">
            <a:avLst/>
          </a:prstGeom>
          <a:noFill xmlns:a="http://schemas.openxmlformats.org/drawingml/2006/main"/>
          <a:ln xmlns:a="http://schemas.openxmlformats.org/drawingml/2006/main" w="23813">
            <a:solidFill>
              <a:srgbClr val="E5B249"/>
            </a:solidFill>
          </a:ln>
        </p:spPr>
      </p:sp>
      <p:sp>
        <p:nvSpPr>
          <p:cNvPr id="15" name="">
            <a:extLst xmlns:a="http://schemas.openxmlformats.org/drawingml/2006/main">
              <a:ext uri="{FF2B5EF4-FFF2-40B4-BE49-F238E27FC236}">
                <a16:creationId xmlns:a16="http://schemas.microsoft.com/office/drawing/2014/main" id="{60026518-300D-441D-86C5-E28F3028C44B}"/>
              </a:ext>
            </a:extLst>
          </p:cNvPr>
          <p:cNvSpPr>
            <a:spLocks xmlns:a="http://schemas.openxmlformats.org/drawingml/2006/main" noGrp="1"/>
          </p:cNvSpPr>
          <p:nvPr/>
        </p:nvSpPr>
        <p:spPr>
          <a:xfrm xmlns:a="http://schemas.openxmlformats.org/drawingml/2006/main">
            <a:off x="3101492" y="2873502"/>
            <a:ext cx="95250" cy="95250"/>
          </a:xfrm>
          <a:prstGeom xmlns:a="http://schemas.openxmlformats.org/drawingml/2006/main" prst="ellipse">
            <a:avLst/>
          </a:prstGeom>
          <a:noFill xmlns:a="http://schemas.openxmlformats.org/drawingml/2006/main"/>
          <a:ln xmlns:a="http://schemas.openxmlformats.org/drawingml/2006/main" w="23813">
            <a:solidFill>
              <a:srgbClr val="18A875"/>
            </a:solidFill>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4a7579a8f6ce4915"/>
          <a:stretch xmlns:a="http://schemas.openxmlformats.org/drawingml/2006/main"/>
        </p:blipFill>
        <p:spPr>
          <a:xfrm xmlns:a="http://schemas.openxmlformats.org/drawingml/2006/main">
            <a:off x="6477000" y="1790700"/>
            <a:ext cx="5105400" cy="331851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C2D60A29-F114-4DF5-84DE-0BB3648FDFB2}"/>
              </a:ext>
            </a:extLst>
          </p:cNvPr>
          <p:cNvSpPr>
            <a:spLocks xmlns:a="http://schemas.openxmlformats.org/drawingml/2006/main" noGrp="1"/>
          </p:cNvSpPr>
          <p:nvPr/>
        </p:nvSpPr>
        <p:spPr>
          <a:xfrm xmlns:a="http://schemas.openxmlformats.org/drawingml/2006/main">
            <a:off x="6477000" y="1790700"/>
            <a:ext cx="5105400" cy="3318510"/>
          </a:xfrm>
          <a:prstGeom xmlns:a="http://schemas.openxmlformats.org/drawingml/2006/main" prst="roundRect">
            <a:avLst>
              <a:gd name="adj" fmla="val 2296"/>
            </a:avLst>
          </a:prstGeom>
          <a:noFill xmlns:a="http://schemas.openxmlformats.org/drawingml/2006/main"/>
          <a:ln xmlns:a="http://schemas.openxmlformats.org/drawingml/2006/main" w="9525">
            <a:solidFill>
              <a:srgbClr val="D9D4C8"/>
            </a:solidFill>
          </a:ln>
        </p:spPr>
      </p:sp>
      <p:sp>
        <p:nvSpPr>
          <p:cNvPr id="18" name="">
            <a:extLst xmlns:a="http://schemas.openxmlformats.org/drawingml/2006/main">
              <a:ext uri="{FF2B5EF4-FFF2-40B4-BE49-F238E27FC236}">
                <a16:creationId xmlns:a16="http://schemas.microsoft.com/office/drawing/2014/main" id="{59120AFD-8FF9-44D7-9FE0-50B87202D4F5}"/>
              </a:ext>
            </a:extLst>
          </p:cNvPr>
          <p:cNvSpPr>
            <a:spLocks xmlns:a="http://schemas.openxmlformats.org/drawingml/2006/main" noGrp="1"/>
          </p:cNvSpPr>
          <p:nvPr/>
        </p:nvSpPr>
        <p:spPr>
          <a:xfrm xmlns:a="http://schemas.openxmlformats.org/drawingml/2006/main">
            <a:off x="7420302" y="2155656"/>
            <a:ext cx="59829" cy="71795"/>
          </a:xfrm>
          <a:prstGeom xmlns:a="http://schemas.openxmlformats.org/drawingml/2006/main" prst="rect">
            <a:avLst/>
          </a:prstGeom>
          <a:noFill xmlns:a="http://schemas.openxmlformats.org/drawingml/2006/main"/>
          <a:ln xmlns:a="http://schemas.openxmlformats.org/drawingml/2006/main" w="28575">
            <a:solidFill>
              <a:srgbClr val="F05A3C"/>
            </a:solidFill>
          </a:ln>
        </p:spPr>
      </p:sp>
      <p:sp>
        <p:nvSpPr>
          <p:cNvPr id="19" name="">
            <a:extLst xmlns:a="http://schemas.openxmlformats.org/drawingml/2006/main">
              <a:ext uri="{FF2B5EF4-FFF2-40B4-BE49-F238E27FC236}">
                <a16:creationId xmlns:a16="http://schemas.microsoft.com/office/drawing/2014/main" id="{9899AEB8-B8A4-49D5-BF3B-377F3EFF0D43}"/>
              </a:ext>
            </a:extLst>
          </p:cNvPr>
          <p:cNvSpPr>
            <a:spLocks xmlns:a="http://schemas.openxmlformats.org/drawingml/2006/main" noGrp="1"/>
          </p:cNvSpPr>
          <p:nvPr/>
        </p:nvSpPr>
        <p:spPr>
          <a:xfrm xmlns:a="http://schemas.openxmlformats.org/drawingml/2006/main">
            <a:off x="6470237" y="2274821"/>
            <a:ext cx="166688" cy="166688"/>
          </a:xfrm>
          <a:prstGeom xmlns:a="http://schemas.openxmlformats.org/drawingml/2006/main" prst="ellipse">
            <a:avLst/>
          </a:prstGeom>
          <a:noFill xmlns:a="http://schemas.openxmlformats.org/drawingml/2006/main"/>
          <a:ln xmlns:a="http://schemas.openxmlformats.org/drawingml/2006/main" w="23813">
            <a:solidFill>
              <a:srgbClr val="2D84D3"/>
            </a:solidFill>
          </a:ln>
        </p:spPr>
      </p:sp>
      <p:sp>
        <p:nvSpPr>
          <p:cNvPr id="20" name="">
            <a:extLst xmlns:a="http://schemas.openxmlformats.org/drawingml/2006/main">
              <a:ext uri="{FF2B5EF4-FFF2-40B4-BE49-F238E27FC236}">
                <a16:creationId xmlns:a16="http://schemas.microsoft.com/office/drawing/2014/main" id="{960AB21F-C6E7-4213-BB37-4C654EE1457D}"/>
              </a:ext>
            </a:extLst>
          </p:cNvPr>
          <p:cNvSpPr>
            <a:spLocks xmlns:a="http://schemas.openxmlformats.org/drawingml/2006/main" noGrp="1"/>
          </p:cNvSpPr>
          <p:nvPr/>
        </p:nvSpPr>
        <p:spPr>
          <a:xfrm xmlns:a="http://schemas.openxmlformats.org/drawingml/2006/main">
            <a:off x="6482144" y="2290046"/>
            <a:ext cx="142875" cy="142875"/>
          </a:xfrm>
          <a:prstGeom xmlns:a="http://schemas.openxmlformats.org/drawingml/2006/main" prst="ellipse">
            <a:avLst/>
          </a:prstGeom>
          <a:noFill xmlns:a="http://schemas.openxmlformats.org/drawingml/2006/main"/>
          <a:ln xmlns:a="http://schemas.openxmlformats.org/drawingml/2006/main" w="23813">
            <a:solidFill>
              <a:srgbClr val="F05A3C"/>
            </a:solidFill>
          </a:ln>
        </p:spPr>
      </p:sp>
      <p:sp>
        <p:nvSpPr>
          <p:cNvPr id="21" name="">
            <a:extLst xmlns:a="http://schemas.openxmlformats.org/drawingml/2006/main">
              <a:ext uri="{FF2B5EF4-FFF2-40B4-BE49-F238E27FC236}">
                <a16:creationId xmlns:a16="http://schemas.microsoft.com/office/drawing/2014/main" id="{4065B284-7484-494A-879A-AE96FEC428EC}"/>
              </a:ext>
            </a:extLst>
          </p:cNvPr>
          <p:cNvSpPr>
            <a:spLocks xmlns:a="http://schemas.openxmlformats.org/drawingml/2006/main" noGrp="1"/>
          </p:cNvSpPr>
          <p:nvPr/>
        </p:nvSpPr>
        <p:spPr>
          <a:xfrm xmlns:a="http://schemas.openxmlformats.org/drawingml/2006/main">
            <a:off x="6494050" y="2305271"/>
            <a:ext cx="119063" cy="119063"/>
          </a:xfrm>
          <a:prstGeom xmlns:a="http://schemas.openxmlformats.org/drawingml/2006/main" prst="ellipse">
            <a:avLst/>
          </a:prstGeom>
          <a:noFill xmlns:a="http://schemas.openxmlformats.org/drawingml/2006/main"/>
          <a:ln xmlns:a="http://schemas.openxmlformats.org/drawingml/2006/main" w="23813">
            <a:solidFill>
              <a:srgbClr val="E5B249"/>
            </a:solidFill>
          </a:ln>
        </p:spPr>
      </p:sp>
      <p:sp>
        <p:nvSpPr>
          <p:cNvPr id="22" name="">
            <a:extLst xmlns:a="http://schemas.openxmlformats.org/drawingml/2006/main">
              <a:ext uri="{FF2B5EF4-FFF2-40B4-BE49-F238E27FC236}">
                <a16:creationId xmlns:a16="http://schemas.microsoft.com/office/drawing/2014/main" id="{2D8093DD-2383-42E2-998E-1A9FC9E9CE69}"/>
              </a:ext>
            </a:extLst>
          </p:cNvPr>
          <p:cNvSpPr>
            <a:spLocks xmlns:a="http://schemas.openxmlformats.org/drawingml/2006/main" noGrp="1"/>
          </p:cNvSpPr>
          <p:nvPr/>
        </p:nvSpPr>
        <p:spPr>
          <a:xfrm xmlns:a="http://schemas.openxmlformats.org/drawingml/2006/main">
            <a:off x="6505956" y="2320496"/>
            <a:ext cx="95250" cy="95250"/>
          </a:xfrm>
          <a:prstGeom xmlns:a="http://schemas.openxmlformats.org/drawingml/2006/main" prst="ellipse">
            <a:avLst/>
          </a:prstGeom>
          <a:noFill xmlns:a="http://schemas.openxmlformats.org/drawingml/2006/main"/>
          <a:ln xmlns:a="http://schemas.openxmlformats.org/drawingml/2006/main" w="23813">
            <a:solidFill>
              <a:srgbClr val="18A875"/>
            </a:solid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a2bdce5d2f014d8d"/>
          <a:srcRect xmlns:a="http://schemas.openxmlformats.org/drawingml/2006/main" l="29514" t="30000" r="32292" b="60000"/>
          <a:stretch xmlns:a="http://schemas.openxmlformats.org/drawingml/2006/main"/>
        </p:blipFill>
        <p:spPr>
          <a:xfrm xmlns:a="http://schemas.openxmlformats.org/drawingml/2006/main">
            <a:off x="609600" y="5257800"/>
            <a:ext cx="5257800" cy="8572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C17C3BB5-4F1C-4B8A-9F27-90D1532D7366}"/>
              </a:ext>
            </a:extLst>
          </p:cNvPr>
          <p:cNvSpPr>
            <a:spLocks xmlns:a="http://schemas.openxmlformats.org/drawingml/2006/main" noGrp="1"/>
          </p:cNvSpPr>
          <p:nvPr/>
        </p:nvSpPr>
        <p:spPr>
          <a:xfrm xmlns:a="http://schemas.openxmlformats.org/drawingml/2006/main">
            <a:off x="609600" y="5257800"/>
            <a:ext cx="5257800" cy="857250"/>
          </a:xfrm>
          <a:prstGeom xmlns:a="http://schemas.openxmlformats.org/drawingml/2006/main" prst="roundRect">
            <a:avLst>
              <a:gd name="adj" fmla="val 8889"/>
            </a:avLst>
          </a:prstGeom>
          <a:noFill xmlns:a="http://schemas.openxmlformats.org/drawingml/2006/main"/>
          <a:ln xmlns:a="http://schemas.openxmlformats.org/drawingml/2006/main" w="9525">
            <a:solidFill>
              <a:srgbClr val="D9D4C8"/>
            </a:solidFill>
          </a:ln>
        </p:spPr>
      </p:sp>
      <p:sp>
        <p:nvSpPr>
          <p:cNvPr id="25" name="">
            <a:extLst xmlns:a="http://schemas.openxmlformats.org/drawingml/2006/main">
              <a:ext uri="{FF2B5EF4-FFF2-40B4-BE49-F238E27FC236}">
                <a16:creationId xmlns:a16="http://schemas.microsoft.com/office/drawing/2014/main" id="{E1D2EE2E-5684-4EE2-B915-E277379563AA}"/>
              </a:ext>
            </a:extLst>
          </p:cNvPr>
          <p:cNvSpPr>
            <a:spLocks xmlns:a="http://schemas.openxmlformats.org/drawingml/2006/main" noGrp="1"/>
          </p:cNvSpPr>
          <p:nvPr/>
        </p:nvSpPr>
        <p:spPr>
          <a:xfrm xmlns:a="http://schemas.openxmlformats.org/drawingml/2006/main">
            <a:off x="2707940" y="5367338"/>
            <a:ext cx="955964" cy="661988"/>
          </a:xfrm>
          <a:prstGeom xmlns:a="http://schemas.openxmlformats.org/drawingml/2006/main" prst="rect">
            <a:avLst/>
          </a:prstGeom>
          <a:noFill xmlns:a="http://schemas.openxmlformats.org/drawingml/2006/main"/>
          <a:ln xmlns:a="http://schemas.openxmlformats.org/drawingml/2006/main" w="22860">
            <a:solidFill>
              <a:srgbClr val="F05A3C"/>
            </a:solidFill>
          </a:ln>
        </p:spPr>
      </p:sp>
      <p:sp>
        <p:nvSpPr>
          <p:cNvPr id="26" name="">
            <a:extLst xmlns:a="http://schemas.openxmlformats.org/drawingml/2006/main">
              <a:ext uri="{FF2B5EF4-FFF2-40B4-BE49-F238E27FC236}">
                <a16:creationId xmlns:a16="http://schemas.microsoft.com/office/drawing/2014/main" id="{EB8B48E9-6199-4F9E-AA8F-7D2334FAED5F}"/>
              </a:ext>
            </a:extLst>
          </p:cNvPr>
          <p:cNvSpPr>
            <a:spLocks xmlns:a="http://schemas.openxmlformats.org/drawingml/2006/main" noGrp="1"/>
          </p:cNvSpPr>
          <p:nvPr/>
        </p:nvSpPr>
        <p:spPr>
          <a:xfrm xmlns:a="http://schemas.openxmlformats.org/drawingml/2006/main">
            <a:off x="3156530" y="5568315"/>
            <a:ext cx="133350" cy="133350"/>
          </a:xfrm>
          <a:prstGeom xmlns:a="http://schemas.openxmlformats.org/drawingml/2006/main" prst="ellipse">
            <a:avLst/>
          </a:prstGeom>
          <a:noFill xmlns:a="http://schemas.openxmlformats.org/drawingml/2006/main"/>
          <a:ln xmlns:a="http://schemas.openxmlformats.org/drawingml/2006/main" w="19050">
            <a:solidFill>
              <a:srgbClr val="2D84D3"/>
            </a:solidFill>
          </a:ln>
        </p:spPr>
      </p:sp>
      <p:sp>
        <p:nvSpPr>
          <p:cNvPr id="27" name="">
            <a:extLst xmlns:a="http://schemas.openxmlformats.org/drawingml/2006/main">
              <a:ext uri="{FF2B5EF4-FFF2-40B4-BE49-F238E27FC236}">
                <a16:creationId xmlns:a16="http://schemas.microsoft.com/office/drawing/2014/main" id="{21770686-F6E7-4DCA-8E82-1B512A11CB74}"/>
              </a:ext>
            </a:extLst>
          </p:cNvPr>
          <p:cNvSpPr>
            <a:spLocks xmlns:a="http://schemas.openxmlformats.org/drawingml/2006/main" noGrp="1"/>
          </p:cNvSpPr>
          <p:nvPr/>
        </p:nvSpPr>
        <p:spPr>
          <a:xfrm xmlns:a="http://schemas.openxmlformats.org/drawingml/2006/main">
            <a:off x="3166055" y="5620703"/>
            <a:ext cx="114300" cy="114300"/>
          </a:xfrm>
          <a:prstGeom xmlns:a="http://schemas.openxmlformats.org/drawingml/2006/main" prst="ellipse">
            <a:avLst/>
          </a:prstGeom>
          <a:noFill xmlns:a="http://schemas.openxmlformats.org/drawingml/2006/main"/>
          <a:ln xmlns:a="http://schemas.openxmlformats.org/drawingml/2006/main" w="19050">
            <a:solidFill>
              <a:srgbClr val="F05A3C"/>
            </a:solidFill>
          </a:ln>
        </p:spPr>
      </p:sp>
      <p:sp>
        <p:nvSpPr>
          <p:cNvPr id="28" name="">
            <a:extLst xmlns:a="http://schemas.openxmlformats.org/drawingml/2006/main">
              <a:ext uri="{FF2B5EF4-FFF2-40B4-BE49-F238E27FC236}">
                <a16:creationId xmlns:a16="http://schemas.microsoft.com/office/drawing/2014/main" id="{099E8E4C-E06A-4A97-85B3-D1555687FE82}"/>
              </a:ext>
            </a:extLst>
          </p:cNvPr>
          <p:cNvSpPr>
            <a:spLocks xmlns:a="http://schemas.openxmlformats.org/drawingml/2006/main" noGrp="1"/>
          </p:cNvSpPr>
          <p:nvPr/>
        </p:nvSpPr>
        <p:spPr>
          <a:xfrm xmlns:a="http://schemas.openxmlformats.org/drawingml/2006/main">
            <a:off x="3148048" y="5578793"/>
            <a:ext cx="95250" cy="95250"/>
          </a:xfrm>
          <a:prstGeom xmlns:a="http://schemas.openxmlformats.org/drawingml/2006/main" prst="ellipse">
            <a:avLst/>
          </a:prstGeom>
          <a:noFill xmlns:a="http://schemas.openxmlformats.org/drawingml/2006/main"/>
          <a:ln xmlns:a="http://schemas.openxmlformats.org/drawingml/2006/main" w="19050">
            <a:solidFill>
              <a:srgbClr val="E5B249"/>
            </a:solidFill>
          </a:ln>
        </p:spPr>
      </p:sp>
      <p:sp>
        <p:nvSpPr>
          <p:cNvPr id="29" name="">
            <a:extLst xmlns:a="http://schemas.openxmlformats.org/drawingml/2006/main">
              <a:ext uri="{FF2B5EF4-FFF2-40B4-BE49-F238E27FC236}">
                <a16:creationId xmlns:a16="http://schemas.microsoft.com/office/drawing/2014/main" id="{2F81FF16-6465-47FA-A098-54CED4BC0B5A}"/>
              </a:ext>
            </a:extLst>
          </p:cNvPr>
          <p:cNvSpPr>
            <a:spLocks xmlns:a="http://schemas.openxmlformats.org/drawingml/2006/main" noGrp="1"/>
          </p:cNvSpPr>
          <p:nvPr/>
        </p:nvSpPr>
        <p:spPr>
          <a:xfrm xmlns:a="http://schemas.openxmlformats.org/drawingml/2006/main">
            <a:off x="3157573" y="5596890"/>
            <a:ext cx="76200" cy="76200"/>
          </a:xfrm>
          <a:prstGeom xmlns:a="http://schemas.openxmlformats.org/drawingml/2006/main" prst="ellipse">
            <a:avLst/>
          </a:prstGeom>
          <a:noFill xmlns:a="http://schemas.openxmlformats.org/drawingml/2006/main"/>
          <a:ln xmlns:a="http://schemas.openxmlformats.org/drawingml/2006/main" w="19050">
            <a:solidFill>
              <a:srgbClr val="18A875"/>
            </a:solidFill>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dc3e94f225ad49be"/>
          <a:srcRect xmlns:a="http://schemas.openxmlformats.org/drawingml/2006/main" l="0" t="8113" r="62109" b="82392"/>
          <a:stretch xmlns:a="http://schemas.openxmlformats.org/drawingml/2006/main"/>
        </p:blipFill>
        <p:spPr>
          <a:xfrm xmlns:a="http://schemas.openxmlformats.org/drawingml/2006/main">
            <a:off x="6477000" y="5257800"/>
            <a:ext cx="5105400" cy="831533"/>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3442B0AA-5A35-4B7F-BCEE-0F53BDA3E33B}"/>
              </a:ext>
            </a:extLst>
          </p:cNvPr>
          <p:cNvSpPr>
            <a:spLocks xmlns:a="http://schemas.openxmlformats.org/drawingml/2006/main" noGrp="1"/>
          </p:cNvSpPr>
          <p:nvPr/>
        </p:nvSpPr>
        <p:spPr>
          <a:xfrm xmlns:a="http://schemas.openxmlformats.org/drawingml/2006/main">
            <a:off x="6477000" y="5257800"/>
            <a:ext cx="5105400" cy="831533"/>
          </a:xfrm>
          <a:prstGeom xmlns:a="http://schemas.openxmlformats.org/drawingml/2006/main" prst="roundRect">
            <a:avLst>
              <a:gd name="adj" fmla="val 9164"/>
            </a:avLst>
          </a:prstGeom>
          <a:noFill xmlns:a="http://schemas.openxmlformats.org/drawingml/2006/main"/>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48935F13-81C6-4C70-A79F-F1D3EECE093F}"/>
              </a:ext>
            </a:extLst>
          </p:cNvPr>
          <p:cNvSpPr>
            <a:spLocks xmlns:a="http://schemas.openxmlformats.org/drawingml/2006/main" noGrp="1"/>
          </p:cNvSpPr>
          <p:nvPr/>
        </p:nvSpPr>
        <p:spPr>
          <a:xfrm xmlns:a="http://schemas.openxmlformats.org/drawingml/2006/main">
            <a:off x="8966540" y="5510417"/>
            <a:ext cx="157899" cy="189463"/>
          </a:xfrm>
          <a:prstGeom xmlns:a="http://schemas.openxmlformats.org/drawingml/2006/main" prst="rect">
            <a:avLst/>
          </a:prstGeom>
          <a:noFill xmlns:a="http://schemas.openxmlformats.org/drawingml/2006/main"/>
          <a:ln xmlns:a="http://schemas.openxmlformats.org/drawingml/2006/main" w="22860">
            <a:solidFill>
              <a:srgbClr val="F05A3C"/>
            </a:solidFill>
          </a:ln>
        </p:spPr>
      </p:sp>
      <p:sp>
        <p:nvSpPr>
          <p:cNvPr id="33" name="">
            <a:extLst xmlns:a="http://schemas.openxmlformats.org/drawingml/2006/main">
              <a:ext uri="{FF2B5EF4-FFF2-40B4-BE49-F238E27FC236}">
                <a16:creationId xmlns:a16="http://schemas.microsoft.com/office/drawing/2014/main" id="{9CE0B1A5-E03D-44E6-8E2B-3D382D1CDCF1}"/>
              </a:ext>
            </a:extLst>
          </p:cNvPr>
          <p:cNvSpPr>
            <a:spLocks xmlns:a="http://schemas.openxmlformats.org/drawingml/2006/main" noGrp="1"/>
          </p:cNvSpPr>
          <p:nvPr/>
        </p:nvSpPr>
        <p:spPr>
          <a:xfrm xmlns:a="http://schemas.openxmlformats.org/drawingml/2006/main">
            <a:off x="6612436" y="5978155"/>
            <a:ext cx="133350" cy="133350"/>
          </a:xfrm>
          <a:prstGeom xmlns:a="http://schemas.openxmlformats.org/drawingml/2006/main" prst="ellipse">
            <a:avLst/>
          </a:prstGeom>
          <a:noFill xmlns:a="http://schemas.openxmlformats.org/drawingml/2006/main"/>
          <a:ln xmlns:a="http://schemas.openxmlformats.org/drawingml/2006/main" w="19050">
            <a:solidFill>
              <a:srgbClr val="2D84D3"/>
            </a:solidFill>
          </a:ln>
        </p:spPr>
      </p:sp>
      <p:sp>
        <p:nvSpPr>
          <p:cNvPr id="34" name="">
            <a:extLst xmlns:a="http://schemas.openxmlformats.org/drawingml/2006/main">
              <a:ext uri="{FF2B5EF4-FFF2-40B4-BE49-F238E27FC236}">
                <a16:creationId xmlns:a16="http://schemas.microsoft.com/office/drawing/2014/main" id="{ABA62C0E-979E-4250-AFD6-2DFE0F9A29E6}"/>
              </a:ext>
            </a:extLst>
          </p:cNvPr>
          <p:cNvSpPr>
            <a:spLocks xmlns:a="http://schemas.openxmlformats.org/drawingml/2006/main" noGrp="1"/>
          </p:cNvSpPr>
          <p:nvPr/>
        </p:nvSpPr>
        <p:spPr>
          <a:xfrm xmlns:a="http://schemas.openxmlformats.org/drawingml/2006/main">
            <a:off x="6621961" y="5996437"/>
            <a:ext cx="114300" cy="114300"/>
          </a:xfrm>
          <a:prstGeom xmlns:a="http://schemas.openxmlformats.org/drawingml/2006/main" prst="ellipse">
            <a:avLst/>
          </a:prstGeom>
          <a:noFill xmlns:a="http://schemas.openxmlformats.org/drawingml/2006/main"/>
          <a:ln xmlns:a="http://schemas.openxmlformats.org/drawingml/2006/main" w="19050">
            <a:solidFill>
              <a:srgbClr val="F05A3C"/>
            </a:solidFill>
          </a:ln>
        </p:spPr>
      </p:sp>
      <p:sp>
        <p:nvSpPr>
          <p:cNvPr id="35" name="">
            <a:extLst xmlns:a="http://schemas.openxmlformats.org/drawingml/2006/main">
              <a:ext uri="{FF2B5EF4-FFF2-40B4-BE49-F238E27FC236}">
                <a16:creationId xmlns:a16="http://schemas.microsoft.com/office/drawing/2014/main" id="{70B5C50A-B7E2-4D86-96C5-6469672CBC54}"/>
              </a:ext>
            </a:extLst>
          </p:cNvPr>
          <p:cNvSpPr>
            <a:spLocks xmlns:a="http://schemas.openxmlformats.org/drawingml/2006/main" noGrp="1"/>
          </p:cNvSpPr>
          <p:nvPr/>
        </p:nvSpPr>
        <p:spPr>
          <a:xfrm xmlns:a="http://schemas.openxmlformats.org/drawingml/2006/main">
            <a:off x="6631486" y="6014720"/>
            <a:ext cx="95250" cy="95250"/>
          </a:xfrm>
          <a:prstGeom xmlns:a="http://schemas.openxmlformats.org/drawingml/2006/main" prst="ellipse">
            <a:avLst/>
          </a:prstGeom>
          <a:noFill xmlns:a="http://schemas.openxmlformats.org/drawingml/2006/main"/>
          <a:ln xmlns:a="http://schemas.openxmlformats.org/drawingml/2006/main" w="19050">
            <a:solidFill>
              <a:srgbClr val="E5B249"/>
            </a:solidFill>
          </a:ln>
        </p:spPr>
      </p:sp>
      <p:sp>
        <p:nvSpPr>
          <p:cNvPr id="36" name="">
            <a:extLst xmlns:a="http://schemas.openxmlformats.org/drawingml/2006/main">
              <a:ext uri="{FF2B5EF4-FFF2-40B4-BE49-F238E27FC236}">
                <a16:creationId xmlns:a16="http://schemas.microsoft.com/office/drawing/2014/main" id="{D55A7536-849F-4DE8-8C04-DC5E09789249}"/>
              </a:ext>
            </a:extLst>
          </p:cNvPr>
          <p:cNvSpPr>
            <a:spLocks xmlns:a="http://schemas.openxmlformats.org/drawingml/2006/main" noGrp="1"/>
          </p:cNvSpPr>
          <p:nvPr/>
        </p:nvSpPr>
        <p:spPr>
          <a:xfrm xmlns:a="http://schemas.openxmlformats.org/drawingml/2006/main">
            <a:off x="6641011" y="6033002"/>
            <a:ext cx="76200" cy="76200"/>
          </a:xfrm>
          <a:prstGeom xmlns:a="http://schemas.openxmlformats.org/drawingml/2006/main" prst="ellipse">
            <a:avLst/>
          </a:prstGeom>
          <a:noFill xmlns:a="http://schemas.openxmlformats.org/drawingml/2006/main"/>
          <a:ln xmlns:a="http://schemas.openxmlformats.org/drawingml/2006/main" w="19050">
            <a:solidFill>
              <a:srgbClr val="18A875"/>
            </a:solidFill>
          </a:ln>
        </p:spPr>
      </p:sp>
      <p:sp>
        <p:nvSpPr>
          <p:cNvPr id="37" name="">
            <a:extLst xmlns:a="http://schemas.openxmlformats.org/drawingml/2006/main">
              <a:ext uri="{FF2B5EF4-FFF2-40B4-BE49-F238E27FC236}">
                <a16:creationId xmlns:a16="http://schemas.microsoft.com/office/drawing/2014/main" id="{6183AE25-E1CD-4689-BEB1-E3C5AD93314F}"/>
              </a:ext>
            </a:extLst>
          </p:cNvPr>
          <p:cNvSpPr>
            <a:spLocks xmlns:a="http://schemas.openxmlformats.org/drawingml/2006/main" noGrp="1"/>
          </p:cNvSpPr>
          <p:nvPr/>
        </p:nvSpPr>
        <p:spPr>
          <a:xfrm xmlns:a="http://schemas.openxmlformats.org/drawingml/2006/main">
            <a:off x="723900" y="61722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4/4 hit · RMS radius 2.55</a:t>
            </a:r>
          </a:p>
        </p:txBody>
      </p:sp>
      <p:sp>
        <p:nvSpPr>
          <p:cNvPr id="38" name="">
            <a:extLst xmlns:a="http://schemas.openxmlformats.org/drawingml/2006/main">
              <a:ext uri="{FF2B5EF4-FFF2-40B4-BE49-F238E27FC236}">
                <a16:creationId xmlns:a16="http://schemas.microsoft.com/office/drawing/2014/main" id="{DF39DBE6-0BE3-40DC-8688-DF4D904575BE}"/>
              </a:ext>
            </a:extLst>
          </p:cNvPr>
          <p:cNvSpPr>
            <a:spLocks xmlns:a="http://schemas.openxmlformats.org/drawingml/2006/main" noGrp="1"/>
          </p:cNvSpPr>
          <p:nvPr/>
        </p:nvSpPr>
        <p:spPr>
          <a:xfrm xmlns:a="http://schemas.openxmlformats.org/drawingml/2006/main">
            <a:off x="6591300" y="61722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0/4 hit · RMS radius 1.12</a:t>
            </a:r>
          </a:p>
        </p:txBody>
      </p:sp>
      <p:sp>
        <p:nvSpPr>
          <p:cNvPr id="39" name="">
            <a:extLst xmlns:a="http://schemas.openxmlformats.org/drawingml/2006/main">
              <a:ext uri="{FF2B5EF4-FFF2-40B4-BE49-F238E27FC236}">
                <a16:creationId xmlns:a16="http://schemas.microsoft.com/office/drawing/2014/main" id="{05BE4451-DB4B-400C-9670-2650BAC3010A}"/>
              </a:ext>
            </a:extLst>
          </p:cNvPr>
          <p:cNvSpPr>
            <a:spLocks xmlns:a="http://schemas.openxmlformats.org/drawingml/2006/main" noGrp="1"/>
          </p:cNvSpPr>
          <p:nvPr/>
        </p:nvSpPr>
        <p:spPr>
          <a:xfrm xmlns:a="http://schemas.openxmlformats.org/drawingml/2006/main">
            <a:off x="8801100" y="6172200"/>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Tight beam agreement does not imply correctness</a:t>
            </a:r>
          </a:p>
        </p:txBody>
      </p:sp>
      <p:sp>
        <p:nvSpPr>
          <p:cNvPr id="40" name="">
            <a:extLst xmlns:a="http://schemas.openxmlformats.org/drawingml/2006/main">
              <a:ext uri="{FF2B5EF4-FFF2-40B4-BE49-F238E27FC236}">
                <a16:creationId xmlns:a16="http://schemas.microsoft.com/office/drawing/2014/main" id="{9C5C2C60-5889-4A0E-8635-33E3EBC29D2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D550E556-791A-4DC0-84B9-7FBAC8E9F24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Exact source-pixel overlays. The pilot compares one selected hit with one selected miss; it does not estimate calibration.</a:t>
            </a:r>
          </a:p>
        </p:txBody>
      </p:sp>
    </p:spTree>
    <p:extLst>
      <p:ext uri="{BB962C8B-B14F-4D97-AF65-F5344CB8AC3E}">
        <p14:creationId xmlns:p14="http://schemas.microsoft.com/office/powerpoint/2010/main" val="1512968143"/>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B8D3634-8E7D-4E69-B45D-A82C61C11A4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DEFINITIONS</a:t>
            </a:r>
          </a:p>
        </p:txBody>
      </p:sp>
      <p:sp>
        <p:nvSpPr>
          <p:cNvPr id="2" name="">
            <a:extLst xmlns:a="http://schemas.openxmlformats.org/drawingml/2006/main">
              <a:ext uri="{FF2B5EF4-FFF2-40B4-BE49-F238E27FC236}">
                <a16:creationId xmlns:a16="http://schemas.microsoft.com/office/drawing/2014/main" id="{0310DB01-5DC8-4CFD-A8FD-9A90B6A34F8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AEDADA3E-F551-4527-ADF3-3DE942C2EC7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A2</a:t>
            </a:r>
          </a:p>
        </p:txBody>
      </p:sp>
      <p:sp>
        <p:nvSpPr>
          <p:cNvPr id="4" name="">
            <a:extLst xmlns:a="http://schemas.openxmlformats.org/drawingml/2006/main">
              <a:ext uri="{FF2B5EF4-FFF2-40B4-BE49-F238E27FC236}">
                <a16:creationId xmlns:a16="http://schemas.microsoft.com/office/drawing/2014/main" id="{A4912D10-CBD2-4213-893E-F3BD3B104AA0}"/>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D79FC294-6DD1-4573-A93E-A477CD8D6D36}"/>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7B1D6301-F56E-4CD6-B79E-ECA696E49F03}"/>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362D68-AAFA-436F-B9EC-D78FDCA1AD56}"/>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9689C40B-5067-417B-8BD4-6C9D3C0C5B54}"/>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E2E53D7B-9D41-4BA9-9784-BF68A1627621}"/>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A758BA7-891A-4F69-AC1B-1102979ADE74}"/>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ED4EB3F3-BD1C-40B4-B91D-814EC1E60DBA}"/>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A563D52E-BD50-4677-A567-1632D1B529E8}"/>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EC2F6D54-01B4-4916-97AD-2FF146D0E90E}"/>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7D2D7B8-07DE-45D8-A0B2-A2395FFD2234}"/>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19BBAFA5-13BF-48BF-A6EC-17CD33C0BCB4}"/>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BD4795F0-26E0-4D76-BD57-A033FD09D6CC}"/>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BE9CDC6-D351-41EC-9C5A-3F5978E8853E}"/>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02E04015-1803-4884-89B9-C80BC2568B91}"/>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EFE73765-7DF0-418E-BCF7-5CCD459C721D}"/>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187C47BD-099D-466F-935E-7D67504E2B77}"/>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69E50BE-9908-4CEE-B8B1-699A8530E4DB}"/>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424AD40A-CF98-42FC-A88B-71589426B3C1}"/>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0953CD6A-360E-4674-9BCC-CDB6115A9CCE}"/>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5BF28E8-7B64-4FF9-92C9-3769193B1F76}"/>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5C15889C-30C9-41CF-98D8-F3899B1954DA}"/>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7F4997D7-5A8F-4FFA-A4B6-74F9AC2DA544}"/>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DE673E02-E156-4E4A-9B4F-1BECC9E60219}"/>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8C1DE7D-ABBC-4FFF-9C47-E16470436F46}"/>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69DC1AF2-CE8B-466E-918E-EBACA66665DE}"/>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971A1A6A-9A8C-46D0-BA88-BD0A414A7572}"/>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7FBE6EDC-6D19-4E44-874D-32EF1B56A51F}"/>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E2F90B3C-42F3-4C03-AD53-6951568079A7}"/>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931D1142-C045-4AEB-8B08-B4A707F67805}"/>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32524855-48CA-4AB0-89B7-9519B6CED705}"/>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F63A70A0-5442-4254-AFDC-C9433FEBA52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98EBAEB-D19F-450E-A928-AFDE779B0C7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1176109255"/>
      </p:ext>
    </p:extLst>
  </p:cSld>
</p:sld>
</file>

<file path=ppt/slides/slide1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8FD31E-0022-4C2C-AB27-F545C072A96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BENCHMARK TAXONOMY</a:t>
            </a:r>
          </a:p>
        </p:txBody>
      </p:sp>
      <p:sp>
        <p:nvSpPr>
          <p:cNvPr id="2" name="">
            <a:extLst xmlns:a="http://schemas.openxmlformats.org/drawingml/2006/main">
              <a:ext uri="{FF2B5EF4-FFF2-40B4-BE49-F238E27FC236}">
                <a16:creationId xmlns:a16="http://schemas.microsoft.com/office/drawing/2014/main" id="{2F5080CC-6B39-4B02-A415-BDD262BD4EB0}"/>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A27B2085-F19E-4B0C-868E-C8A562C1860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A3</a:t>
            </a:r>
          </a:p>
        </p:txBody>
      </p:sp>
      <p:sp>
        <p:nvSpPr>
          <p:cNvPr id="4" name="">
            <a:extLst xmlns:a="http://schemas.openxmlformats.org/drawingml/2006/main">
              <a:ext uri="{FF2B5EF4-FFF2-40B4-BE49-F238E27FC236}">
                <a16:creationId xmlns:a16="http://schemas.microsoft.com/office/drawing/2014/main" id="{98307283-0FC5-4C53-B5E7-A68A1842B77F}"/>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8FBE5DD9-7740-4290-9D07-9909A5FB358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3CB11C3-3BD5-4036-80FC-B8FBC05EA7A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5291032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2026-09-23T03:21:32.0440000Z</dcterms:created>
  <dcterms:modified xsi:type="dcterms:W3CDTF">2026-09-23T03:21:32.0440000Z</dcterms:modified>
</coreProperties>
</file>