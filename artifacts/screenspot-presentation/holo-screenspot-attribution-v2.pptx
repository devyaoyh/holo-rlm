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353507756a94df9" /><Relationship Type="http://schemas.openxmlformats.org/officeDocument/2006/relationships/extended-properties" Target="/docProps/app.xml" Id="R8899ad6431974aa3" /><Relationship Type="http://schemas.openxmlformats.org/officeDocument/2006/relationships/officeDocument" Target="/ppt/presentation.xml" Id="R6e9fcbb1cfb041c0" /></Relationships>
</file>

<file path=ppt/presentation.xml><?xml version="1.0" encoding="utf-8"?>
<p:presentation xmlns:p="http://schemas.openxmlformats.org/presentationml/2006/main">
  <p:sldMasterIdLst>
    <p:sldMasterId xmlns:r="http://schemas.openxmlformats.org/officeDocument/2006/relationships" id="2147483648" r:id="R949e2ca5ab504c3f"/>
  </p:sldMasterIdLst>
  <p:notesMasterIdLst>
    <p:notesMasterId xmlns:r="http://schemas.openxmlformats.org/officeDocument/2006/relationships" r:id="R837936883f4d46dd"/>
  </p:notesMasterIdLst>
  <p:sldIdLst>
    <p:sldId xmlns:r="http://schemas.openxmlformats.org/officeDocument/2006/relationships" id="256" r:id="R9ab41e1a821043aa"/>
    <p:sldId xmlns:r="http://schemas.openxmlformats.org/officeDocument/2006/relationships" id="257" r:id="Rbf08a9f50d9841fd"/>
    <p:sldId xmlns:r="http://schemas.openxmlformats.org/officeDocument/2006/relationships" id="258" r:id="Ra0fb04f340484fc1"/>
    <p:sldId xmlns:r="http://schemas.openxmlformats.org/officeDocument/2006/relationships" id="259" r:id="Rc6f0162c6ee74b5f"/>
    <p:sldId xmlns:r="http://schemas.openxmlformats.org/officeDocument/2006/relationships" id="260" r:id="Rb3d75e2c9bad4032"/>
    <p:sldId xmlns:r="http://schemas.openxmlformats.org/officeDocument/2006/relationships" id="261" r:id="R0847f5250a654bd5"/>
    <p:sldId xmlns:r="http://schemas.openxmlformats.org/officeDocument/2006/relationships" id="262" r:id="R0ef4cd9fa1a4458f"/>
    <p:sldId xmlns:r="http://schemas.openxmlformats.org/officeDocument/2006/relationships" id="263" r:id="R193d856a5a804d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ebd3354cb1463d" /><Relationship Type="http://schemas.openxmlformats.org/officeDocument/2006/relationships/slideMaster" Target="/ppt/slideMasters/slideMaster1.xml" Id="R949e2ca5ab504c3f" /><Relationship Type="http://schemas.openxmlformats.org/officeDocument/2006/relationships/notesMaster" Target="/ppt/notesMasters/notesMaster1.xml" Id="R837936883f4d46dd" /><Relationship Type="http://schemas.openxmlformats.org/officeDocument/2006/relationships/presProps" Target="/ppt/presProps.xml" Id="Ra8db0dba8741483d" /><Relationship Type="http://schemas.openxmlformats.org/officeDocument/2006/relationships/tableStyles" Target="/ppt/tableStyles.xml" Id="R34ec102a02a8460b" /><Relationship Type="http://schemas.openxmlformats.org/officeDocument/2006/relationships/slide" Target="/ppt/slides/slide1.xml" Id="R9ab41e1a821043aa" /><Relationship Type="http://schemas.openxmlformats.org/officeDocument/2006/relationships/slide" Target="/ppt/slides/slide2.xml" Id="Rbf08a9f50d9841fd" /><Relationship Type="http://schemas.openxmlformats.org/officeDocument/2006/relationships/slide" Target="/ppt/slides/slide3.xml" Id="Ra0fb04f340484fc1" /><Relationship Type="http://schemas.openxmlformats.org/officeDocument/2006/relationships/slide" Target="/ppt/slides/slide4.xml" Id="Rc6f0162c6ee74b5f" /><Relationship Type="http://schemas.openxmlformats.org/officeDocument/2006/relationships/slide" Target="/ppt/slides/slide5.xml" Id="Rb3d75e2c9bad4032" /><Relationship Type="http://schemas.openxmlformats.org/officeDocument/2006/relationships/slide" Target="/ppt/slides/slide6.xml" Id="R0847f5250a654bd5" /><Relationship Type="http://schemas.openxmlformats.org/officeDocument/2006/relationships/slide" Target="/ppt/slides/slide7.xml" Id="R0ef4cd9fa1a4458f" /><Relationship Type="http://schemas.openxmlformats.org/officeDocument/2006/relationships/slide" Target="/ppt/slides/slide8.xml" Id="R193d856a5a804d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f86aafdd9b40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19296f18a04ad0" /><Relationship Type="http://schemas.openxmlformats.org/officeDocument/2006/relationships/notesMaster" Target="/ppt/notesMasters/notesMaster1.xml" Id="R0e991c49f3e344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e3372822ed4f05" /><Relationship Type="http://schemas.openxmlformats.org/officeDocument/2006/relationships/notesMaster" Target="/ppt/notesMasters/notesMaster1.xml" Id="Rbdb72d22fac342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1977221ed84b2f" /><Relationship Type="http://schemas.openxmlformats.org/officeDocument/2006/relationships/notesMaster" Target="/ppt/notesMasters/notesMaster1.xml" Id="R7c7abe3e623e41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cf03d5a6014df9" /><Relationship Type="http://schemas.openxmlformats.org/officeDocument/2006/relationships/notesMaster" Target="/ppt/notesMasters/notesMaster1.xml" Id="R89156ccd9fd44c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f6a6a98300451f" /><Relationship Type="http://schemas.openxmlformats.org/officeDocument/2006/relationships/notesMaster" Target="/ppt/notesMasters/notesMaster1.xml" Id="Rda73bbc8099442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9da977ef76456b" /><Relationship Type="http://schemas.openxmlformats.org/officeDocument/2006/relationships/notesMaster" Target="/ppt/notesMasters/notesMaster1.xml" Id="R67432f1b8bb04d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b841e3a750424b" /><Relationship Type="http://schemas.openxmlformats.org/officeDocument/2006/relationships/notesMaster" Target="/ppt/notesMasters/notesMaster1.xml" Id="R1113e5ac879b48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127af7a65f4829" /><Relationship Type="http://schemas.openxmlformats.org/officeDocument/2006/relationships/notesMaster" Target="/ppt/notesMasters/notesMaster1.xml" Id="Rf3af0245a19747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0:00–0:45 — Frame the question: not merely where attention is high, but what is specific to the instruction after removing general image saliency. The visual is the final prompt-differential map for the success case. Source: local analysis at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0:45–1:45 — ScreenSpot-Pro contains 1,581 unique examples across 23 apps, 3 OSes and 5 industries; the paper reports an average target area of 0.07%. Explain the controlled pair and the score separation. Sources: https://arxiv.org/abs/2504.07981 ; https://github.com/likaixin2000/ScreenSpot-Pro-GUI-Grounding ; https://huggingface.co/datasets/likaixin/ScreenSpot-Pro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1:45–3:10 — Walk left to right. Value-norm changes the routing matrix before rollout. Rollout mixes attention and identity 50/50 and multiplies the eight conventional full-attention layers in model order. Then average only the generated x/y value tokens. Emphasize strict causality for the token baseline and exact same image/settings for prompt controls. Hybrid linear-attention blocks are omitted because they expose no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3:10–4:25 — The raw map is dominated by stable top-left saliency. With four diverse same-image prompts averaged after per-request L1 normalization, the peak moves inside the annotated template and lift rises from 3.85× to 16.08×. Leave-one-control-out cosine is 0.925 mean and 0.828 minimum. The repaired click is visually correct at (1394, 632), but the original tool syntax is malformed, so official correctness remains false.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4:25–5:35 — This miss is not absence of task-conditioned vision. The instruction differential clearly favors the top-left slide/ribbon region, yet the peak is on the slide thumbnail and the click lands there. The target itself is only 0.074% of the frame. This suggests a fine-grained binding/localization failure after coarse semantic routing. Source: data/attributions/screenspot-powerpoint_windows_48/analysis.json.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5:35–6:45 — Compare the three methods. The causal baseline modestly changes both cases; the prompt ensemble transforms the success diagnosis. Stress that lift normalizes by target area and can be high for tiny targets near broadly salient regions. Read lift with peak-inside, distance, and the map itself. LOO stability shows the four-prompt control mean is not driven by one prompt. Sources: both local analysis.json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6:45–8:05 — The success develops sharply from layer 15, peaks at layer 19, and remains elevated through layer 27. The miss stays relatively flat. Within the hit, layer 19 head 10 reaches 98.05× target lift. Be precise: these head statistics use direct value-norm attention because head identity is not preserved after cross-layer multiplication. This is an exploratory two-case result, suitable for a hypothesis, not a pruning or intervention claim. Source: layer_head_statistics in both local analysis.json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8:05–10:00 — Summarize three claims, then run the 90-second viewer flow if time permits. Close on the next experiment: causal validation by masking, patch swapping, or controlled head/layer interventions across the frozen test split. Q&amp;A seed: Why attention? It is a routing diagnostic, not a faithfulness guarantee. Why four prompts? Fast demo with LOO stability; scale to a larger, stratified control bank for publication. Sources: local viewers and https://arxiv.org/abs/2504.07981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26df6a9a6b4d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150aaf337f482b" /><Relationship Type="http://schemas.openxmlformats.org/officeDocument/2006/relationships/slideLayout" Target="/ppt/slideLayouts/slideLayout1.xml" Id="Rc2187f432bbc449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187f432bbc449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47662f327644ec" /><Relationship Type="http://schemas.openxmlformats.org/officeDocument/2006/relationships/image" Target="/ppt/media/image.png" Id="Rfa08defa6246441f" /><Relationship Type="http://schemas.openxmlformats.org/officeDocument/2006/relationships/notesSlide" Target="/ppt/notesSlides/notesSlide1.xml" Id="Rc019285bf52547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dc43ad9afd4528" /><Relationship Type="http://schemas.openxmlformats.org/officeDocument/2006/relationships/notesSlide" Target="/ppt/notesSlides/notesSlide2.xml" Id="R32c0b0dd13894b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9b8d1629cf4a20" /><Relationship Type="http://schemas.openxmlformats.org/officeDocument/2006/relationships/notesSlide" Target="/ppt/notesSlides/notesSlide3.xml" Id="Rada39117d2d941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3e4387a9ff470b" /><Relationship Type="http://schemas.openxmlformats.org/officeDocument/2006/relationships/image" Target="/ppt/media/image2.png" Id="Rbe8ab401e2fc48fa" /><Relationship Type="http://schemas.openxmlformats.org/officeDocument/2006/relationships/image" Target="/ppt/media/image3.png" Id="R7ede046a1d364295" /><Relationship Type="http://schemas.openxmlformats.org/officeDocument/2006/relationships/notesSlide" Target="/ppt/notesSlides/notesSlide4.xml" Id="R033191a0e1ed41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0cd548f1774a62" /><Relationship Type="http://schemas.openxmlformats.org/officeDocument/2006/relationships/image" Target="/ppt/media/image4.png" Id="R96cb42f8165f4ac8" /><Relationship Type="http://schemas.openxmlformats.org/officeDocument/2006/relationships/notesSlide" Target="/ppt/notesSlides/notesSlide5.xml" Id="Rde936652c74a4c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355e124c684a91" /><Relationship Type="http://schemas.openxmlformats.org/officeDocument/2006/relationships/notesSlide" Target="/ppt/notesSlides/notesSlide6.xml" Id="Rd9528aac699548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016a2e8be634444" /><Relationship Type="http://schemas.openxmlformats.org/officeDocument/2006/relationships/chart" Target="/ppt/slides/charts/chart1.xml" Id="Rf8f53ef4bde7434a" /><Relationship Type="http://schemas.openxmlformats.org/officeDocument/2006/relationships/notesSlide" Target="/ppt/notesSlides/notesSlide7.xml" Id="Rc2656b6630d549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2049b468e0424c" /><Relationship Type="http://schemas.openxmlformats.org/officeDocument/2006/relationships/notesSlide" Target="/ppt/notesSlides/notesSlide8.xml" Id="Racecce16924e4d9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Visual hit</c:v>
          </c:tx>
          <c:spPr>
            <a:ln xmlns:a="http://schemas.openxmlformats.org/drawingml/2006/main" w="38100">
              <a:solidFill>
                <a:srgbClr val="F05A3C"/>
              </a:solidFill>
            </a:ln>
          </c:spPr>
          <c:marker>
            <c:symbol val="circle"/>
            <c:size val="8"/>
            <c:spPr>
              <a:solidFill xmlns:a="http://schemas.openxmlformats.org/drawingml/2006/main">
                <a:srgbClr val="F05A3C"/>
              </a:solidFill>
            </c:spPr>
          </c:marker>
          <c:cat>
            <c:strRef>
              <c:f>'Chart Data'!$A$2:$A$9</c:f>
              <c:strCache>
                <c:ptCount val="8"/>
                <c:pt idx="0">
                  <c:v>L3</c:v>
                </c:pt>
                <c:pt idx="1">
                  <c:v>L7</c:v>
                </c:pt>
                <c:pt idx="2">
                  <c:v>L11</c:v>
                </c:pt>
                <c:pt idx="3">
                  <c:v>L15</c:v>
                </c:pt>
                <c:pt idx="4">
                  <c:v>L19</c:v>
                </c:pt>
                <c:pt idx="5">
                  <c:v>L23</c:v>
                </c:pt>
                <c:pt idx="6">
                  <c:v>L27</c:v>
                </c:pt>
                <c:pt idx="7">
                  <c:v>L31</c:v>
                </c:pt>
              </c:strCache>
            </c:strRef>
          </c:cat>
          <c:val>
            <c:numRef>
              <c:f>'Chart Data'!$B$2:$B$9</c:f>
              <c:numCache>
                <c:formatCode>General</c:formatCode>
                <c:ptCount val="8"/>
                <c:pt idx="0">
                  <c:v>0.28</c:v>
                </c:pt>
                <c:pt idx="1">
                  <c:v>0.69</c:v>
                </c:pt>
                <c:pt idx="2">
                  <c:v>1.9</c:v>
                </c:pt>
                <c:pt idx="3">
                  <c:v>14.26</c:v>
                </c:pt>
                <c:pt idx="4">
                  <c:v>38.99</c:v>
                </c:pt>
                <c:pt idx="5">
                  <c:v>25.62</c:v>
                </c:pt>
                <c:pt idx="6">
                  <c:v>22.37</c:v>
                </c:pt>
                <c:pt idx="7">
                  <c:v>12.16</c:v>
                </c:pt>
              </c:numCache>
            </c:numRef>
          </c:val>
          <c:smooth val="0"/>
        </c:ser>
        <c:ser>
          <c:idx val="1"/>
          <c:order val="1"/>
          <c:tx>
            <c:v>Grounding miss</c:v>
          </c:tx>
          <c:spPr>
            <a:ln xmlns:a="http://schemas.openxmlformats.org/drawingml/2006/main" w="38100">
              <a:solidFill>
                <a:srgbClr val="2D84D3"/>
              </a:solidFill>
            </a:ln>
          </c:spPr>
          <c:marker>
            <c:symbol val="circle"/>
            <c:size val="8"/>
            <c:spPr>
              <a:solidFill xmlns:a="http://schemas.openxmlformats.org/drawingml/2006/main">
                <a:srgbClr val="2D84D3"/>
              </a:solidFill>
            </c:spPr>
          </c:marker>
          <c:cat>
            <c:strRef>
              <c:f>'Chart Data'!$C$2:$C$9</c:f>
              <c:strCache>
                <c:ptCount val="8"/>
                <c:pt idx="0">
                  <c:v>L3</c:v>
                </c:pt>
                <c:pt idx="1">
                  <c:v>L7</c:v>
                </c:pt>
                <c:pt idx="2">
                  <c:v>L11</c:v>
                </c:pt>
                <c:pt idx="3">
                  <c:v>L15</c:v>
                </c:pt>
                <c:pt idx="4">
                  <c:v>L19</c:v>
                </c:pt>
                <c:pt idx="5">
                  <c:v>L23</c:v>
                </c:pt>
                <c:pt idx="6">
                  <c:v>L27</c:v>
                </c:pt>
                <c:pt idx="7">
                  <c:v>L31</c:v>
                </c:pt>
              </c:strCache>
            </c:strRef>
          </c:cat>
          <c:val>
            <c:numRef>
              <c:f>'Chart Data'!$D$2:$D$9</c:f>
              <c:numCache>
                <c:formatCode>General</c:formatCode>
                <c:ptCount val="8"/>
                <c:pt idx="0">
                  <c:v>1.71</c:v>
                </c:pt>
                <c:pt idx="1">
                  <c:v>7.6</c:v>
                </c:pt>
                <c:pt idx="2">
                  <c:v>4.02</c:v>
                </c:pt>
                <c:pt idx="3">
                  <c:v>3.27</c:v>
                </c:pt>
                <c:pt idx="4">
                  <c:v>2.88</c:v>
                </c:pt>
                <c:pt idx="5">
                  <c:v>2.73</c:v>
                </c:pt>
                <c:pt idx="6">
                  <c:v>2.37</c:v>
                </c:pt>
                <c:pt idx="7">
                  <c:v>4.26</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Captured full-attention transformer layer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Mean head target lift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a08defa6246441f"/>
          <a:srcRect xmlns:a="http://schemas.openxmlformats.org/drawingml/2006/main" l="25000" t="0" r="25000"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637C5A5-C2F1-4E8D-8DD1-D9A6EE7523D3}"/>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FF68AA-9BC8-4383-98CE-26E00CC8AB20}"/>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09300B-BC96-4377-B062-5CA1EB0394AC}"/>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99EC8B1-0A1B-40D2-98D8-E109C9AC465E}"/>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578EB54E-575C-4A4C-AAFB-78EDAF11C50E}"/>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B970314E-E3B8-4E7F-A531-4C609B1EC5C9}"/>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 ScreenSpot-Pro case study of value-norm rollout, causal token baselines, and same-image instruction contrasts</a:t>
            </a:r>
          </a:p>
        </p:txBody>
      </p:sp>
      <p:sp>
        <p:nvSpPr>
          <p:cNvPr id="8" name="">
            <a:extLst xmlns:a="http://schemas.openxmlformats.org/drawingml/2006/main">
              <a:ext uri="{FF2B5EF4-FFF2-40B4-BE49-F238E27FC236}">
                <a16:creationId xmlns:a16="http://schemas.microsoft.com/office/drawing/2014/main" id="{42E6C983-E420-4D9E-BD11-747B5BC49D67}"/>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20 Sep 2026</a:t>
            </a:r>
          </a:p>
        </p:txBody>
      </p:sp>
    </p:spTree>
    <p:extLst>
      <p:ext uri="{BB962C8B-B14F-4D97-AF65-F5344CB8AC3E}">
        <p14:creationId xmlns:p14="http://schemas.microsoft.com/office/powerpoint/2010/main" val="1018774787"/>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295A734-9A01-4527-8E96-238A43B3626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QUESTION</a:t>
            </a:r>
          </a:p>
        </p:txBody>
      </p:sp>
      <p:sp>
        <p:nvSpPr>
          <p:cNvPr id="2" name="">
            <a:extLst xmlns:a="http://schemas.openxmlformats.org/drawingml/2006/main">
              <a:ext uri="{FF2B5EF4-FFF2-40B4-BE49-F238E27FC236}">
                <a16:creationId xmlns:a16="http://schemas.microsoft.com/office/drawing/2014/main" id="{874BB2DC-EFA2-4EF4-A967-4CC20C98526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Can attention explain a GUI hit—and a miss?</a:t>
            </a:r>
          </a:p>
        </p:txBody>
      </p:sp>
      <p:sp>
        <p:nvSpPr>
          <p:cNvPr id="3" name="">
            <a:extLst xmlns:a="http://schemas.openxmlformats.org/drawingml/2006/main">
              <a:ext uri="{FF2B5EF4-FFF2-40B4-BE49-F238E27FC236}">
                <a16:creationId xmlns:a16="http://schemas.microsoft.com/office/drawing/2014/main" id="{DEC34692-09AB-422A-BD25-D33121D5E69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6BD53F3D-74A3-4E64-8EBA-535CFF62F3BF}"/>
              </a:ext>
            </a:extLst>
          </p:cNvPr>
          <p:cNvSpPr>
            <a:spLocks xmlns:a="http://schemas.openxmlformats.org/drawingml/2006/main" noGrp="1"/>
          </p:cNvSpPr>
          <p:nvPr/>
        </p:nvSpPr>
        <p:spPr>
          <a:xfrm xmlns:a="http://schemas.openxmlformats.org/drawingml/2006/main">
            <a:off x="609600" y="1371600"/>
            <a:ext cx="5219700" cy="4362450"/>
          </a:xfrm>
          <a:prstGeom xmlns:a="http://schemas.openxmlformats.org/drawingml/2006/main" prst="roundRect">
            <a:avLst>
              <a:gd name="adj" fmla="val 1747"/>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DB6B0D70-46CE-4EE3-812D-2CB9E91E78D4}"/>
              </a:ext>
            </a:extLst>
          </p:cNvPr>
          <p:cNvSpPr>
            <a:spLocks xmlns:a="http://schemas.openxmlformats.org/drawingml/2006/main" noGrp="1"/>
          </p:cNvSpPr>
          <p:nvPr/>
        </p:nvSpPr>
        <p:spPr>
          <a:xfrm xmlns:a="http://schemas.openxmlformats.org/drawingml/2006/main">
            <a:off x="876300" y="16192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Why ScreenSpot-Pro</a:t>
            </a:r>
          </a:p>
        </p:txBody>
      </p:sp>
      <p:sp>
        <p:nvSpPr>
          <p:cNvPr id="6" name="">
            <a:extLst xmlns:a="http://schemas.openxmlformats.org/drawingml/2006/main">
              <a:ext uri="{FF2B5EF4-FFF2-40B4-BE49-F238E27FC236}">
                <a16:creationId xmlns:a16="http://schemas.microsoft.com/office/drawing/2014/main" id="{3C257AA8-65A4-443C-8EED-323907D35EB0}"/>
              </a:ext>
            </a:extLst>
          </p:cNvPr>
          <p:cNvSpPr>
            <a:spLocks xmlns:a="http://schemas.openxmlformats.org/drawingml/2006/main" noGrp="1"/>
          </p:cNvSpPr>
          <p:nvPr/>
        </p:nvSpPr>
        <p:spPr>
          <a:xfrm xmlns:a="http://schemas.openxmlformats.org/drawingml/2006/main">
            <a:off x="876300" y="2133600"/>
            <a:ext cx="44577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1,581</a:t>
            </a:r>
            <a:r>
              <a:rPr sz="1500">
                <a:solidFill>
                  <a:srgbClr val="10151C"/>
                </a:solidFill>
                <a:latin typeface="Helvetica Neue"/>
                <a:ea typeface="Helvetica Neue"/>
                <a:cs typeface="Helvetica Neue"/>
              </a:rPr>
              <a:t> high-resolution screenshot/instruction pairs</a:t>
            </a:r>
          </a:p>
          <a:p xmlns:a="http://schemas.openxmlformats.org/drawingml/2006/main">
            <a:pPr>
              <a:defRPr sz="1500">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23 apps</a:t>
            </a:r>
            <a:r>
              <a:rPr sz="1500">
                <a:solidFill>
                  <a:srgbClr val="10151C"/>
                </a:solidFill>
                <a:latin typeface="Helvetica Neue"/>
                <a:ea typeface="Helvetica Neue"/>
                <a:cs typeface="Helvetica Neue"/>
              </a:rPr>
              <a:t> across 3 operating systems and 5 industries</a:t>
            </a:r>
          </a:p>
          <a:p xmlns:a="http://schemas.openxmlformats.org/drawingml/2006/main">
            <a:pPr>
              <a:defRPr sz="1500">
                <a:solidFill>
                  <a:srgbClr val="10151C"/>
                </a:solidFill>
                <a:latin typeface="Helvetica Neue"/>
                <a:ea typeface="Helvetica Neue"/>
                <a:cs typeface="Helvetica Neue"/>
              </a:defRPr>
            </a:pPr>
            <a:r>
              <a:rPr sz="1500">
                <a:solidFill>
                  <a:srgbClr val="10151C"/>
                </a:solidFill>
                <a:latin typeface="Helvetica Neue"/>
                <a:ea typeface="Helvetica Neue"/>
                <a:cs typeface="Helvetica Neue"/>
              </a:rPr>
              <a:t>Average target occupies only </a:t>
            </a:r>
            <a:r>
              <a:rPr sz="1500" b="1">
                <a:solidFill>
                  <a:srgbClr val="10151C"/>
                </a:solidFill>
                <a:latin typeface="Helvetica Neue"/>
                <a:ea typeface="Helvetica Neue"/>
                <a:cs typeface="Helvetica Neue"/>
              </a:rPr>
              <a:t>0.07%</a:t>
            </a:r>
            <a:r>
              <a:rPr sz="1500">
                <a:solidFill>
                  <a:srgbClr val="10151C"/>
                </a:solidFill>
                <a:latin typeface="Helvetica Neue"/>
                <a:ea typeface="Helvetica Neue"/>
                <a:cs typeface="Helvetica Neue"/>
              </a:rPr>
              <a:t> of the frame</a:t>
            </a:r>
          </a:p>
        </p:txBody>
      </p:sp>
      <p:sp>
        <p:nvSpPr>
          <p:cNvPr id="7" name="">
            <a:extLst xmlns:a="http://schemas.openxmlformats.org/drawingml/2006/main">
              <a:ext uri="{FF2B5EF4-FFF2-40B4-BE49-F238E27FC236}">
                <a16:creationId xmlns:a16="http://schemas.microsoft.com/office/drawing/2014/main" id="{B76F5D82-A167-4B56-9D33-25AD228D6F60}"/>
              </a:ext>
            </a:extLst>
          </p:cNvPr>
          <p:cNvSpPr>
            <a:spLocks xmlns:a="http://schemas.openxmlformats.org/drawingml/2006/main" noGrp="1"/>
          </p:cNvSpPr>
          <p:nvPr/>
        </p:nvSpPr>
        <p:spPr>
          <a:xfrm xmlns:a="http://schemas.openxmlformats.org/drawingml/2006/main">
            <a:off x="876300" y="3638550"/>
            <a:ext cx="44577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279EA0D-4090-405F-B8F7-E35ACF22066D}"/>
              </a:ext>
            </a:extLst>
          </p:cNvPr>
          <p:cNvSpPr>
            <a:spLocks xmlns:a="http://schemas.openxmlformats.org/drawingml/2006/main" noGrp="1"/>
          </p:cNvSpPr>
          <p:nvPr/>
        </p:nvSpPr>
        <p:spPr>
          <a:xfrm xmlns:a="http://schemas.openxmlformats.org/drawingml/2006/main">
            <a:off x="876300" y="3857625"/>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D84D3"/>
                </a:solidFill>
                <a:latin typeface="Helvetica Neue"/>
                <a:ea typeface="Helvetica Neue"/>
                <a:cs typeface="Helvetica Neue"/>
              </a:defRPr>
            </a:pPr>
            <a:r>
              <a:rPr sz="1200" b="1">
                <a:solidFill>
                  <a:srgbClr val="2D84D3"/>
                </a:solidFill>
                <a:latin typeface="Helvetica Neue"/>
                <a:ea typeface="Helvetica Neue"/>
                <a:cs typeface="Helvetica Neue"/>
              </a:rPr>
              <a:t>Controlled pair</a:t>
            </a:r>
          </a:p>
        </p:txBody>
      </p:sp>
      <p:sp>
        <p:nvSpPr>
          <p:cNvPr id="9" name="">
            <a:extLst xmlns:a="http://schemas.openxmlformats.org/drawingml/2006/main">
              <a:ext uri="{FF2B5EF4-FFF2-40B4-BE49-F238E27FC236}">
                <a16:creationId xmlns:a16="http://schemas.microsoft.com/office/drawing/2014/main" id="{CCF273A8-8FDC-48D4-8793-296211D58470}"/>
              </a:ext>
            </a:extLst>
          </p:cNvPr>
          <p:cNvSpPr>
            <a:spLocks xmlns:a="http://schemas.openxmlformats.org/drawingml/2006/main" noGrp="1"/>
          </p:cNvSpPr>
          <p:nvPr/>
        </p:nvSpPr>
        <p:spPr>
          <a:xfrm xmlns:a="http://schemas.openxmlformats.org/drawingml/2006/main">
            <a:off x="876300" y="41719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822"/>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Same application + OS</a:t>
            </a:r>
          </a:p>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PowerPoint on Windows</a:t>
            </a:r>
          </a:p>
        </p:txBody>
      </p:sp>
      <p:sp>
        <p:nvSpPr>
          <p:cNvPr id="10" name="">
            <a:extLst xmlns:a="http://schemas.openxmlformats.org/drawingml/2006/main">
              <a:ext uri="{FF2B5EF4-FFF2-40B4-BE49-F238E27FC236}">
                <a16:creationId xmlns:a16="http://schemas.microsoft.com/office/drawing/2014/main" id="{12C03F05-5E15-401D-A997-B12861D5FBC8}"/>
              </a:ext>
            </a:extLst>
          </p:cNvPr>
          <p:cNvSpPr>
            <a:spLocks xmlns:a="http://schemas.openxmlformats.org/drawingml/2006/main" noGrp="1"/>
          </p:cNvSpPr>
          <p:nvPr/>
        </p:nvSpPr>
        <p:spPr>
          <a:xfrm xmlns:a="http://schemas.openxmlformats.org/drawingml/2006/main">
            <a:off x="2952750" y="4171950"/>
            <a:ext cx="114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8A875"/>
                </a:solidFill>
                <a:latin typeface="Helvetica Neue"/>
                <a:ea typeface="Helvetica Neue"/>
                <a:cs typeface="Helvetica Neue"/>
              </a:defRPr>
            </a:pPr>
            <a:r>
              <a:rPr sz="1200" b="1">
                <a:solidFill>
                  <a:srgbClr val="18A875"/>
                </a:solidFill>
                <a:latin typeface="Helvetica Neue"/>
                <a:ea typeface="Helvetica Neue"/>
                <a:cs typeface="Helvetica Neue"/>
              </a:rPr>
              <a:t>Visual hit</a:t>
            </a:r>
          </a:p>
          <a:p xmlns:a="http://schemas.openxmlformats.org/drawingml/2006/main">
            <a:pPr algn="l">
              <a:defRPr sz="1200" b="1">
                <a:solidFill>
                  <a:srgbClr val="18A875"/>
                </a:solidFill>
                <a:latin typeface="Helvetica Neue"/>
                <a:ea typeface="Helvetica Neue"/>
                <a:cs typeface="Helvetica Neue"/>
              </a:defRPr>
            </a:pPr>
            <a:r>
              <a:rPr sz="1200" b="1">
                <a:solidFill>
                  <a:srgbClr val="18A875"/>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5F4E77BA-C930-4106-8970-11F551618547}"/>
              </a:ext>
            </a:extLst>
          </p:cNvPr>
          <p:cNvSpPr>
            <a:spLocks xmlns:a="http://schemas.openxmlformats.org/drawingml/2006/main" noGrp="1"/>
          </p:cNvSpPr>
          <p:nvPr/>
        </p:nvSpPr>
        <p:spPr>
          <a:xfrm xmlns:a="http://schemas.openxmlformats.org/drawingml/2006/main">
            <a:off x="4286250" y="4171950"/>
            <a:ext cx="104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05A3C"/>
                </a:solidFill>
                <a:latin typeface="Helvetica Neue"/>
                <a:ea typeface="Helvetica Neue"/>
                <a:cs typeface="Helvetica Neue"/>
              </a:defRPr>
            </a:pPr>
            <a:r>
              <a:rPr sz="1200" b="1">
                <a:solidFill>
                  <a:srgbClr val="F05A3C"/>
                </a:solidFill>
                <a:latin typeface="Helvetica Neue"/>
                <a:ea typeface="Helvetica Neue"/>
                <a:cs typeface="Helvetica Neue"/>
              </a:rPr>
              <a:t>Miss</a:t>
            </a:r>
          </a:p>
          <a:p xmlns:a="http://schemas.openxmlformats.org/drawingml/2006/main">
            <a:pPr algn="l">
              <a:defRPr sz="1200" b="1">
                <a:solidFill>
                  <a:srgbClr val="F05A3C"/>
                </a:solidFill>
                <a:latin typeface="Helvetica Neue"/>
                <a:ea typeface="Helvetica Neue"/>
                <a:cs typeface="Helvetica Neue"/>
              </a:defRPr>
            </a:pPr>
            <a:r>
              <a:rPr sz="1200" b="1">
                <a:solidFill>
                  <a:srgbClr val="F05A3C"/>
                </a:solidFill>
                <a:latin typeface="Helvetica Neue"/>
                <a:ea typeface="Helvetica Neue"/>
                <a:cs typeface="Helvetica Neue"/>
              </a:rPr>
              <a:t>Create new slide</a:t>
            </a:r>
          </a:p>
        </p:txBody>
      </p:sp>
      <p:sp>
        <p:nvSpPr>
          <p:cNvPr id="12" name="">
            <a:extLst xmlns:a="http://schemas.openxmlformats.org/drawingml/2006/main">
              <a:ext uri="{FF2B5EF4-FFF2-40B4-BE49-F238E27FC236}">
                <a16:creationId xmlns:a16="http://schemas.microsoft.com/office/drawing/2014/main" id="{0770C556-D43D-470A-A131-D05A71672EB6}"/>
              </a:ext>
            </a:extLst>
          </p:cNvPr>
          <p:cNvSpPr>
            <a:spLocks xmlns:a="http://schemas.openxmlformats.org/drawingml/2006/main" noGrp="1"/>
          </p:cNvSpPr>
          <p:nvPr/>
        </p:nvSpPr>
        <p:spPr>
          <a:xfrm xmlns:a="http://schemas.openxmlformats.org/drawingml/2006/main">
            <a:off x="6191250" y="1371600"/>
            <a:ext cx="5391150" cy="4362450"/>
          </a:xfrm>
          <a:prstGeom xmlns:a="http://schemas.openxmlformats.org/drawingml/2006/main" prst="roundRect">
            <a:avLst>
              <a:gd name="adj" fmla="val 1747"/>
            </a:avLst>
          </a:prstGeom>
          <a:solidFill xmlns:a="http://schemas.openxmlformats.org/drawingml/2006/main">
            <a:srgbClr val="1C273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9B5D149-35E8-48A2-BA06-3D7994D36993}"/>
              </a:ext>
            </a:extLst>
          </p:cNvPr>
          <p:cNvSpPr>
            <a:spLocks xmlns:a="http://schemas.openxmlformats.org/drawingml/2006/main" noGrp="1"/>
          </p:cNvSpPr>
          <p:nvPr/>
        </p:nvSpPr>
        <p:spPr>
          <a:xfrm xmlns:a="http://schemas.openxmlformats.org/drawingml/2006/main">
            <a:off x="6477000" y="161925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Three outcomes—not one</a:t>
            </a:r>
          </a:p>
        </p:txBody>
      </p:sp>
      <p:sp>
        <p:nvSpPr>
          <p:cNvPr id="14" name="">
            <a:extLst xmlns:a="http://schemas.openxmlformats.org/drawingml/2006/main">
              <a:ext uri="{FF2B5EF4-FFF2-40B4-BE49-F238E27FC236}">
                <a16:creationId xmlns:a16="http://schemas.microsoft.com/office/drawing/2014/main" id="{97D99716-5A4C-43DB-B795-FF440BEBCBEA}"/>
              </a:ext>
            </a:extLst>
          </p:cNvPr>
          <p:cNvSpPr>
            <a:spLocks xmlns:a="http://schemas.openxmlformats.org/drawingml/2006/main" noGrp="1"/>
          </p:cNvSpPr>
          <p:nvPr/>
        </p:nvSpPr>
        <p:spPr>
          <a:xfrm xmlns:a="http://schemas.openxmlformats.org/drawingml/2006/main">
            <a:off x="6477000" y="2209800"/>
            <a:ext cx="4762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D01AF05-C989-4F27-975C-036DEDF05AE8}"/>
              </a:ext>
            </a:extLst>
          </p:cNvPr>
          <p:cNvSpPr>
            <a:spLocks xmlns:a="http://schemas.openxmlformats.org/drawingml/2006/main" noGrp="1"/>
          </p:cNvSpPr>
          <p:nvPr/>
        </p:nvSpPr>
        <p:spPr>
          <a:xfrm xmlns:a="http://schemas.openxmlformats.org/drawingml/2006/main">
            <a:off x="6572250" y="222885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16" name="">
            <a:extLst xmlns:a="http://schemas.openxmlformats.org/drawingml/2006/main">
              <a:ext uri="{FF2B5EF4-FFF2-40B4-BE49-F238E27FC236}">
                <a16:creationId xmlns:a16="http://schemas.microsoft.com/office/drawing/2014/main" id="{949CF03C-83AD-4B64-A472-D6F8958AE0C2}"/>
              </a:ext>
            </a:extLst>
          </p:cNvPr>
          <p:cNvSpPr>
            <a:spLocks xmlns:a="http://schemas.openxmlformats.org/drawingml/2006/main" noGrp="1"/>
          </p:cNvSpPr>
          <p:nvPr/>
        </p:nvSpPr>
        <p:spPr>
          <a:xfrm xmlns:a="http://schemas.openxmlformats.org/drawingml/2006/main">
            <a:off x="7124700" y="2219325"/>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FORMAT VALID</a:t>
            </a:r>
          </a:p>
        </p:txBody>
      </p:sp>
      <p:sp>
        <p:nvSpPr>
          <p:cNvPr id="17" name="">
            <a:extLst xmlns:a="http://schemas.openxmlformats.org/drawingml/2006/main">
              <a:ext uri="{FF2B5EF4-FFF2-40B4-BE49-F238E27FC236}">
                <a16:creationId xmlns:a16="http://schemas.microsoft.com/office/drawing/2014/main" id="{8FB65170-5C7C-4EF3-805B-A41D08A085F4}"/>
              </a:ext>
            </a:extLst>
          </p:cNvPr>
          <p:cNvSpPr>
            <a:spLocks xmlns:a="http://schemas.openxmlformats.org/drawingml/2006/main" noGrp="1"/>
          </p:cNvSpPr>
          <p:nvPr/>
        </p:nvSpPr>
        <p:spPr>
          <a:xfrm xmlns:a="http://schemas.openxmlformats.org/drawingml/2006/main">
            <a:off x="7124700" y="24765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9C3CD"/>
                </a:solidFill>
                <a:latin typeface="Helvetica Neue"/>
                <a:ea typeface="Helvetica Neue"/>
                <a:cs typeface="Helvetica Neue"/>
              </a:defRPr>
            </a:pPr>
            <a:r>
              <a:rPr sz="1125" b="0">
                <a:solidFill>
                  <a:srgbClr val="B9C3CD"/>
                </a:solidFill>
                <a:latin typeface="Helvetica Neue"/>
                <a:ea typeface="Helvetica Neue"/>
                <a:cs typeface="Helvetica Neue"/>
              </a:rPr>
              <a:t>Strict tool schema</a:t>
            </a:r>
          </a:p>
        </p:txBody>
      </p:sp>
      <p:sp>
        <p:nvSpPr>
          <p:cNvPr id="18" name="">
            <a:extLst xmlns:a="http://schemas.openxmlformats.org/drawingml/2006/main">
              <a:ext uri="{FF2B5EF4-FFF2-40B4-BE49-F238E27FC236}">
                <a16:creationId xmlns:a16="http://schemas.microsoft.com/office/drawing/2014/main" id="{D7A6614B-2D01-44CB-BF9C-33F426F61559}"/>
              </a:ext>
            </a:extLst>
          </p:cNvPr>
          <p:cNvSpPr>
            <a:spLocks xmlns:a="http://schemas.openxmlformats.org/drawingml/2006/main" noGrp="1"/>
          </p:cNvSpPr>
          <p:nvPr/>
        </p:nvSpPr>
        <p:spPr>
          <a:xfrm xmlns:a="http://schemas.openxmlformats.org/drawingml/2006/main">
            <a:off x="6477000" y="3162300"/>
            <a:ext cx="4762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64356B3-511B-4FA2-AFDF-B840F1493773}"/>
              </a:ext>
            </a:extLst>
          </p:cNvPr>
          <p:cNvSpPr>
            <a:spLocks xmlns:a="http://schemas.openxmlformats.org/drawingml/2006/main" noGrp="1"/>
          </p:cNvSpPr>
          <p:nvPr/>
        </p:nvSpPr>
        <p:spPr>
          <a:xfrm xmlns:a="http://schemas.openxmlformats.org/drawingml/2006/main">
            <a:off x="6572250" y="318135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0" name="">
            <a:extLst xmlns:a="http://schemas.openxmlformats.org/drawingml/2006/main">
              <a:ext uri="{FF2B5EF4-FFF2-40B4-BE49-F238E27FC236}">
                <a16:creationId xmlns:a16="http://schemas.microsoft.com/office/drawing/2014/main" id="{164A0294-6FBA-4818-A9DF-81189CD66799}"/>
              </a:ext>
            </a:extLst>
          </p:cNvPr>
          <p:cNvSpPr>
            <a:spLocks xmlns:a="http://schemas.openxmlformats.org/drawingml/2006/main" noGrp="1"/>
          </p:cNvSpPr>
          <p:nvPr/>
        </p:nvSpPr>
        <p:spPr>
          <a:xfrm xmlns:a="http://schemas.openxmlformats.org/drawingml/2006/main">
            <a:off x="7124700" y="3171825"/>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VISUAL GROUNDING</a:t>
            </a:r>
          </a:p>
        </p:txBody>
      </p:sp>
      <p:sp>
        <p:nvSpPr>
          <p:cNvPr id="21" name="">
            <a:extLst xmlns:a="http://schemas.openxmlformats.org/drawingml/2006/main">
              <a:ext uri="{FF2B5EF4-FFF2-40B4-BE49-F238E27FC236}">
                <a16:creationId xmlns:a16="http://schemas.microsoft.com/office/drawing/2014/main" id="{716E3380-D20B-4FF1-9700-C82429702829}"/>
              </a:ext>
            </a:extLst>
          </p:cNvPr>
          <p:cNvSpPr>
            <a:spLocks xmlns:a="http://schemas.openxmlformats.org/drawingml/2006/main" noGrp="1"/>
          </p:cNvSpPr>
          <p:nvPr/>
        </p:nvSpPr>
        <p:spPr>
          <a:xfrm xmlns:a="http://schemas.openxmlformats.org/drawingml/2006/main">
            <a:off x="7124700" y="34290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9C3CD"/>
                </a:solidFill>
                <a:latin typeface="Helvetica Neue"/>
                <a:ea typeface="Helvetica Neue"/>
                <a:cs typeface="Helvetica Neue"/>
              </a:defRPr>
            </a:pPr>
            <a:r>
              <a:rPr sz="1125" b="0">
                <a:solidFill>
                  <a:srgbClr val="B9C3CD"/>
                </a:solidFill>
                <a:latin typeface="Helvetica Neue"/>
                <a:ea typeface="Helvetica Neue"/>
                <a:cs typeface="Helvetica Neue"/>
              </a:rPr>
              <a:t>Point-in-box after logged integer repair</a:t>
            </a:r>
          </a:p>
        </p:txBody>
      </p:sp>
      <p:sp>
        <p:nvSpPr>
          <p:cNvPr id="22" name="">
            <a:extLst xmlns:a="http://schemas.openxmlformats.org/drawingml/2006/main">
              <a:ext uri="{FF2B5EF4-FFF2-40B4-BE49-F238E27FC236}">
                <a16:creationId xmlns:a16="http://schemas.microsoft.com/office/drawing/2014/main" id="{BE4E3AD5-0A60-476F-8A63-F165CC942799}"/>
              </a:ext>
            </a:extLst>
          </p:cNvPr>
          <p:cNvSpPr>
            <a:spLocks xmlns:a="http://schemas.openxmlformats.org/drawingml/2006/main" noGrp="1"/>
          </p:cNvSpPr>
          <p:nvPr/>
        </p:nvSpPr>
        <p:spPr>
          <a:xfrm xmlns:a="http://schemas.openxmlformats.org/drawingml/2006/main">
            <a:off x="6477000" y="4114800"/>
            <a:ext cx="4762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C48A779-2A6A-43E7-AF50-E46B54F44EA2}"/>
              </a:ext>
            </a:extLst>
          </p:cNvPr>
          <p:cNvSpPr>
            <a:spLocks xmlns:a="http://schemas.openxmlformats.org/drawingml/2006/main" noGrp="1"/>
          </p:cNvSpPr>
          <p:nvPr/>
        </p:nvSpPr>
        <p:spPr>
          <a:xfrm xmlns:a="http://schemas.openxmlformats.org/drawingml/2006/main">
            <a:off x="6572250" y="4133850"/>
            <a:ext cx="28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4" name="">
            <a:extLst xmlns:a="http://schemas.openxmlformats.org/drawingml/2006/main">
              <a:ext uri="{FF2B5EF4-FFF2-40B4-BE49-F238E27FC236}">
                <a16:creationId xmlns:a16="http://schemas.microsoft.com/office/drawing/2014/main" id="{4E57DAA3-CC23-4ABF-A006-067621647491}"/>
              </a:ext>
            </a:extLst>
          </p:cNvPr>
          <p:cNvSpPr>
            <a:spLocks xmlns:a="http://schemas.openxmlformats.org/drawingml/2006/main" noGrp="1"/>
          </p:cNvSpPr>
          <p:nvPr/>
        </p:nvSpPr>
        <p:spPr>
          <a:xfrm xmlns:a="http://schemas.openxmlformats.org/drawingml/2006/main">
            <a:off x="7124700" y="4124325"/>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OFFICIAL RESULT</a:t>
            </a:r>
          </a:p>
        </p:txBody>
      </p:sp>
      <p:sp>
        <p:nvSpPr>
          <p:cNvPr id="25" name="">
            <a:extLst xmlns:a="http://schemas.openxmlformats.org/drawingml/2006/main">
              <a:ext uri="{FF2B5EF4-FFF2-40B4-BE49-F238E27FC236}">
                <a16:creationId xmlns:a16="http://schemas.microsoft.com/office/drawing/2014/main" id="{BEE0E2A6-29DD-4DD0-961E-802FF11DE33A}"/>
              </a:ext>
            </a:extLst>
          </p:cNvPr>
          <p:cNvSpPr>
            <a:spLocks xmlns:a="http://schemas.openxmlformats.org/drawingml/2006/main" noGrp="1"/>
          </p:cNvSpPr>
          <p:nvPr/>
        </p:nvSpPr>
        <p:spPr>
          <a:xfrm xmlns:a="http://schemas.openxmlformats.org/drawingml/2006/main">
            <a:off x="7124700" y="43815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9C3CD"/>
                </a:solidFill>
                <a:latin typeface="Helvetica Neue"/>
                <a:ea typeface="Helvetica Neue"/>
                <a:cs typeface="Helvetica Neue"/>
              </a:defRPr>
            </a:pPr>
            <a:r>
              <a:rPr sz="1125" b="0">
                <a:solidFill>
                  <a:srgbClr val="B9C3CD"/>
                </a:solidFill>
                <a:latin typeface="Helvetica Neue"/>
                <a:ea typeface="Helvetica Neue"/>
                <a:cs typeface="Helvetica Neue"/>
              </a:rPr>
              <a:t>Formatting and grounding must both pass</a:t>
            </a:r>
          </a:p>
        </p:txBody>
      </p:sp>
      <p:sp>
        <p:nvSpPr>
          <p:cNvPr id="26" name="">
            <a:extLst xmlns:a="http://schemas.openxmlformats.org/drawingml/2006/main">
              <a:ext uri="{FF2B5EF4-FFF2-40B4-BE49-F238E27FC236}">
                <a16:creationId xmlns:a16="http://schemas.microsoft.com/office/drawing/2014/main" id="{D1CAF305-1ED8-4324-ACC9-5845E0FF57A2}"/>
              </a:ext>
            </a:extLst>
          </p:cNvPr>
          <p:cNvSpPr>
            <a:spLocks xmlns:a="http://schemas.openxmlformats.org/drawingml/2006/main" noGrp="1"/>
          </p:cNvSpPr>
          <p:nvPr/>
        </p:nvSpPr>
        <p:spPr>
          <a:xfrm xmlns:a="http://schemas.openxmlformats.org/drawingml/2006/main">
            <a:off x="6477000" y="5029200"/>
            <a:ext cx="451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F0C7BC"/>
                </a:solidFill>
                <a:latin typeface="Helvetica Neue"/>
                <a:ea typeface="Helvetica Neue"/>
                <a:cs typeface="Helvetica Neue"/>
              </a:defRPr>
            </a:pPr>
            <a:r>
              <a:rPr sz="1050" b="0">
                <a:solidFill>
                  <a:srgbClr val="F0C7BC"/>
                </a:solidFill>
                <a:latin typeface="Helvetica Neue"/>
                <a:ea typeface="Helvetica Neue"/>
                <a:cs typeface="Helvetica Neue"/>
              </a:rPr>
              <a:t>A deterministic first-integer repair diagnoses vision separately. It never upgrades the official score.</a:t>
            </a:r>
          </a:p>
        </p:txBody>
      </p:sp>
      <p:sp>
        <p:nvSpPr>
          <p:cNvPr id="27" name="">
            <a:extLst xmlns:a="http://schemas.openxmlformats.org/drawingml/2006/main">
              <a:ext uri="{FF2B5EF4-FFF2-40B4-BE49-F238E27FC236}">
                <a16:creationId xmlns:a16="http://schemas.microsoft.com/office/drawing/2014/main" id="{9D1F3AE4-F0CB-48FB-8D0C-E7581E2E9ED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E839B21-1531-40F9-8EF6-CAE951183C9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Sources: ScreenSpot-Pro paper (arXiv:2504.07981) · official repository · official dataset</a:t>
            </a:r>
          </a:p>
        </p:txBody>
      </p:sp>
    </p:spTree>
    <p:extLst>
      <p:ext uri="{BB962C8B-B14F-4D97-AF65-F5344CB8AC3E}">
        <p14:creationId xmlns:p14="http://schemas.microsoft.com/office/powerpoint/2010/main" val="818727513"/>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034524B-9266-4DB5-B208-DED5734058E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61BE443F-100C-49FC-A025-AFB208C286C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2FE1B5E7-7F28-44AC-BA64-9967A526026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C94D360B-205E-4EF1-BABF-6F4FA0F029F8}"/>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6E0BA4A9-4591-4A42-9CB1-4729F789AC3A}"/>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EB4D5CA-4D6F-4B99-BD9C-82828494EF1B}"/>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C6964801-6DE9-4D78-AF4C-1D21B5DEE096}"/>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8" name="">
            <a:extLst xmlns:a="http://schemas.openxmlformats.org/drawingml/2006/main">
              <a:ext uri="{FF2B5EF4-FFF2-40B4-BE49-F238E27FC236}">
                <a16:creationId xmlns:a16="http://schemas.microsoft.com/office/drawing/2014/main" id="{CB7A1DF6-CAF1-4872-80D7-322A50D4E1A3}"/>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D20C3EA-5648-4E23-B1A0-5BD0EE728AA8}"/>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0" name="">
            <a:extLst xmlns:a="http://schemas.openxmlformats.org/drawingml/2006/main">
              <a:ext uri="{FF2B5EF4-FFF2-40B4-BE49-F238E27FC236}">
                <a16:creationId xmlns:a16="http://schemas.microsoft.com/office/drawing/2014/main" id="{90B867E8-651B-46E3-9B40-98FD1FDBB0FE}"/>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1" name="">
            <a:extLst xmlns:a="http://schemas.openxmlformats.org/drawingml/2006/main">
              <a:ext uri="{FF2B5EF4-FFF2-40B4-BE49-F238E27FC236}">
                <a16:creationId xmlns:a16="http://schemas.microsoft.com/office/drawing/2014/main" id="{4002FB82-7853-4F80-A7C7-069FACBCA1EB}"/>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2" name="">
            <a:extLst xmlns:a="http://schemas.openxmlformats.org/drawingml/2006/main">
              <a:ext uri="{FF2B5EF4-FFF2-40B4-BE49-F238E27FC236}">
                <a16:creationId xmlns:a16="http://schemas.microsoft.com/office/drawing/2014/main" id="{D88D1A22-B317-4D71-B6DA-334AC8F8A5EA}"/>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49AC4CF-173E-4B07-A279-FF6F1CAE9749}"/>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4" name="">
            <a:extLst xmlns:a="http://schemas.openxmlformats.org/drawingml/2006/main">
              <a:ext uri="{FF2B5EF4-FFF2-40B4-BE49-F238E27FC236}">
                <a16:creationId xmlns:a16="http://schemas.microsoft.com/office/drawing/2014/main" id="{1ABE9EBE-282A-45A3-9350-2B04D497836E}"/>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5" name="">
            <a:extLst xmlns:a="http://schemas.openxmlformats.org/drawingml/2006/main">
              <a:ext uri="{FF2B5EF4-FFF2-40B4-BE49-F238E27FC236}">
                <a16:creationId xmlns:a16="http://schemas.microsoft.com/office/drawing/2014/main" id="{A2046C8D-0CCC-42F3-9F85-CF53446520D1}"/>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CFF97B0-7FF1-422E-90C4-DDA7A6565390}"/>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7" name="">
            <a:extLst xmlns:a="http://schemas.openxmlformats.org/drawingml/2006/main">
              <a:ext uri="{FF2B5EF4-FFF2-40B4-BE49-F238E27FC236}">
                <a16:creationId xmlns:a16="http://schemas.microsoft.com/office/drawing/2014/main" id="{D3A57999-C0FF-4421-9BD7-621877DA88D2}"/>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8" name="">
            <a:extLst xmlns:a="http://schemas.openxmlformats.org/drawingml/2006/main">
              <a:ext uri="{FF2B5EF4-FFF2-40B4-BE49-F238E27FC236}">
                <a16:creationId xmlns:a16="http://schemas.microsoft.com/office/drawing/2014/main" id="{BDE29077-3C3E-4DB4-91D9-D640E34E2D23}"/>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F2B2448D-AB0C-43FF-B482-C5400C145E4F}"/>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27143FC-D56B-489D-A70A-EB00D5D4A3B6}"/>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1" name="">
            <a:extLst xmlns:a="http://schemas.openxmlformats.org/drawingml/2006/main">
              <a:ext uri="{FF2B5EF4-FFF2-40B4-BE49-F238E27FC236}">
                <a16:creationId xmlns:a16="http://schemas.microsoft.com/office/drawing/2014/main" id="{7DF53EAF-4FD7-4ED3-80EE-CC256C2C97B1}"/>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2" name="">
            <a:extLst xmlns:a="http://schemas.openxmlformats.org/drawingml/2006/main">
              <a:ext uri="{FF2B5EF4-FFF2-40B4-BE49-F238E27FC236}">
                <a16:creationId xmlns:a16="http://schemas.microsoft.com/office/drawing/2014/main" id="{3D6F42E0-5CBC-49F2-ACC5-86A2DD5EA5EB}"/>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816BF6E-E3A7-4D1B-8B62-8E80C23B90C1}"/>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4" name="">
            <a:extLst xmlns:a="http://schemas.openxmlformats.org/drawingml/2006/main">
              <a:ext uri="{FF2B5EF4-FFF2-40B4-BE49-F238E27FC236}">
                <a16:creationId xmlns:a16="http://schemas.microsoft.com/office/drawing/2014/main" id="{AAFC9E34-0056-4397-9491-66C7517F9693}"/>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5" name="">
            <a:extLst xmlns:a="http://schemas.openxmlformats.org/drawingml/2006/main">
              <a:ext uri="{FF2B5EF4-FFF2-40B4-BE49-F238E27FC236}">
                <a16:creationId xmlns:a16="http://schemas.microsoft.com/office/drawing/2014/main" id="{D3811558-6E28-4D9B-9A5A-D7E00998042C}"/>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6" name="">
            <a:extLst xmlns:a="http://schemas.openxmlformats.org/drawingml/2006/main">
              <a:ext uri="{FF2B5EF4-FFF2-40B4-BE49-F238E27FC236}">
                <a16:creationId xmlns:a16="http://schemas.microsoft.com/office/drawing/2014/main" id="{1C0F0BC0-D473-412F-9F8A-D7F108B685A2}"/>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C33EC8F-F658-416B-97B6-B16F83FDDB39}"/>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8" name="">
            <a:extLst xmlns:a="http://schemas.openxmlformats.org/drawingml/2006/main">
              <a:ext uri="{FF2B5EF4-FFF2-40B4-BE49-F238E27FC236}">
                <a16:creationId xmlns:a16="http://schemas.microsoft.com/office/drawing/2014/main" id="{8E35894C-B93E-4297-812E-7D3404283702}"/>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29" name="">
            <a:extLst xmlns:a="http://schemas.openxmlformats.org/drawingml/2006/main">
              <a:ext uri="{FF2B5EF4-FFF2-40B4-BE49-F238E27FC236}">
                <a16:creationId xmlns:a16="http://schemas.microsoft.com/office/drawing/2014/main" id="{636C7BA3-0880-418B-A16E-5829422ED1C7}"/>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0" name="">
            <a:extLst xmlns:a="http://schemas.openxmlformats.org/drawingml/2006/main">
              <a:ext uri="{FF2B5EF4-FFF2-40B4-BE49-F238E27FC236}">
                <a16:creationId xmlns:a16="http://schemas.microsoft.com/office/drawing/2014/main" id="{57655309-CDB0-4452-9242-72F0C6BA929E}"/>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1" name="">
            <a:extLst xmlns:a="http://schemas.openxmlformats.org/drawingml/2006/main">
              <a:ext uri="{FF2B5EF4-FFF2-40B4-BE49-F238E27FC236}">
                <a16:creationId xmlns:a16="http://schemas.microsoft.com/office/drawing/2014/main" id="{C260EBB8-E9A8-47DD-9AE2-68C9BB1E390E}"/>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2" name="">
            <a:extLst xmlns:a="http://schemas.openxmlformats.org/drawingml/2006/main">
              <a:ext uri="{FF2B5EF4-FFF2-40B4-BE49-F238E27FC236}">
                <a16:creationId xmlns:a16="http://schemas.microsoft.com/office/drawing/2014/main" id="{02502B81-2000-4295-8DC8-70CDC4FAD2BC}"/>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3" name="">
            <a:extLst xmlns:a="http://schemas.openxmlformats.org/drawingml/2006/main">
              <a:ext uri="{FF2B5EF4-FFF2-40B4-BE49-F238E27FC236}">
                <a16:creationId xmlns:a16="http://schemas.microsoft.com/office/drawing/2014/main" id="{3F2B3944-50FA-4C63-AAA4-7527D11FBBD9}"/>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4" name="">
            <a:extLst xmlns:a="http://schemas.openxmlformats.org/drawingml/2006/main">
              <a:ext uri="{FF2B5EF4-FFF2-40B4-BE49-F238E27FC236}">
                <a16:creationId xmlns:a16="http://schemas.microsoft.com/office/drawing/2014/main" id="{27D8DA7A-8E7F-47D6-A72F-B95F9C3D92A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B1D9FDF-6961-41AA-8798-EF335BDE11E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Implementation: docs/attention-attribution.md · tests/test_attribution.py · tests/test_contrast.py</a:t>
            </a:r>
          </a:p>
        </p:txBody>
      </p:sp>
    </p:spTree>
    <p:extLst>
      <p:ext uri="{BB962C8B-B14F-4D97-AF65-F5344CB8AC3E}">
        <p14:creationId xmlns:p14="http://schemas.microsoft.com/office/powerpoint/2010/main" val="784533317"/>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2638644-BBCB-4DE0-A057-DDFE9D648F1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SUCCESS CASE</a:t>
            </a:r>
          </a:p>
        </p:txBody>
      </p:sp>
      <p:sp>
        <p:nvSpPr>
          <p:cNvPr id="2" name="">
            <a:extLst xmlns:a="http://schemas.openxmlformats.org/drawingml/2006/main">
              <a:ext uri="{FF2B5EF4-FFF2-40B4-BE49-F238E27FC236}">
                <a16:creationId xmlns:a16="http://schemas.microsoft.com/office/drawing/2014/main" id="{D4B198E9-578A-49F7-942A-C8041CE69DD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Subtracting image saliency reveals the selected template</a:t>
            </a:r>
          </a:p>
        </p:txBody>
      </p:sp>
      <p:sp>
        <p:nvSpPr>
          <p:cNvPr id="3" name="">
            <a:extLst xmlns:a="http://schemas.openxmlformats.org/drawingml/2006/main">
              <a:ext uri="{FF2B5EF4-FFF2-40B4-BE49-F238E27FC236}">
                <a16:creationId xmlns:a16="http://schemas.microsoft.com/office/drawing/2014/main" id="{F442A0D5-B89F-4E5E-BB4E-313983C3CC0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4CB5D310-1BB9-4AEA-BE46-C5CE255BBC09}"/>
              </a:ext>
            </a:extLst>
          </p:cNvPr>
          <p:cNvSpPr>
            <a:spLocks xmlns:a="http://schemas.openxmlformats.org/drawingml/2006/main" noGrp="1"/>
          </p:cNvSpPr>
          <p:nvPr/>
        </p:nvSpPr>
        <p:spPr>
          <a:xfrm xmlns:a="http://schemas.openxmlformats.org/drawingml/2006/main">
            <a:off x="609600" y="116205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“Create a Psychedelic vibrant presentation”</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be8ab401e2fc48fa"/>
          <a:srcRect xmlns:a="http://schemas.openxmlformats.org/drawingml/2006/main" l="0" t="73" r="0" b="73"/>
          <a:stretch xmlns:a="http://schemas.openxmlformats.org/drawingml/2006/main">
            <a:fillRect l="0" t="0" r="0" b="0"/>
          </a:stretch>
        </p:blipFill>
        <p:spPr>
          <a:xfrm xmlns:a="http://schemas.openxmlformats.org/drawingml/2006/main">
            <a:off x="609600" y="1657350"/>
            <a:ext cx="5219700" cy="3257550"/>
          </a:xfrm>
          <a:prstGeom xmlns:a="http://schemas.openxmlformats.org/drawingml/2006/main" prst="roundRect">
            <a:avLst>
              <a:gd name="adj" fmla="val 3509"/>
            </a:avLst>
          </a:prstGeom>
        </p:spPr>
      </p:pic>
      <p:sp>
        <p:nvSpPr>
          <p:cNvPr id="6" name="">
            <a:extLst xmlns:a="http://schemas.openxmlformats.org/drawingml/2006/main">
              <a:ext uri="{FF2B5EF4-FFF2-40B4-BE49-F238E27FC236}">
                <a16:creationId xmlns:a16="http://schemas.microsoft.com/office/drawing/2014/main" id="{61EECFE1-B2D1-43C7-9FCB-9FE01112F108}"/>
              </a:ext>
            </a:extLst>
          </p:cNvPr>
          <p:cNvSpPr>
            <a:spLocks xmlns:a="http://schemas.openxmlformats.org/drawingml/2006/main" noGrp="1"/>
          </p:cNvSpPr>
          <p:nvPr/>
        </p:nvSpPr>
        <p:spPr>
          <a:xfrm xmlns:a="http://schemas.openxmlformats.org/drawingml/2006/main">
            <a:off x="6096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ede046a1d364295"/>
          <a:srcRect xmlns:a="http://schemas.openxmlformats.org/drawingml/2006/main" l="0" t="73" r="0" b="73"/>
          <a:stretch xmlns:a="http://schemas.openxmlformats.org/drawingml/2006/main">
            <a:fillRect l="0" t="0" r="0" b="0"/>
          </a:stretch>
        </p:blipFill>
        <p:spPr>
          <a:xfrm xmlns:a="http://schemas.openxmlformats.org/drawingml/2006/main">
            <a:off x="6362700" y="1657350"/>
            <a:ext cx="5219700" cy="3257550"/>
          </a:xfrm>
          <a:prstGeom xmlns:a="http://schemas.openxmlformats.org/drawingml/2006/main" prst="roundRect">
            <a:avLst>
              <a:gd name="adj" fmla="val 3509"/>
            </a:avLst>
          </a:prstGeom>
        </p:spPr>
      </p:pic>
      <p:sp>
        <p:nvSpPr>
          <p:cNvPr id="8" name="">
            <a:extLst xmlns:a="http://schemas.openxmlformats.org/drawingml/2006/main">
              <a:ext uri="{FF2B5EF4-FFF2-40B4-BE49-F238E27FC236}">
                <a16:creationId xmlns:a16="http://schemas.microsoft.com/office/drawing/2014/main" id="{78E05779-F480-4BA3-9D67-C71FEFE02CF2}"/>
              </a:ext>
            </a:extLst>
          </p:cNvPr>
          <p:cNvSpPr>
            <a:spLocks xmlns:a="http://schemas.openxmlformats.org/drawingml/2006/main" noGrp="1"/>
          </p:cNvSpPr>
          <p:nvPr/>
        </p:nvSpPr>
        <p:spPr>
          <a:xfrm xmlns:a="http://schemas.openxmlformats.org/drawingml/2006/main">
            <a:off x="63627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41706113-AD56-4D1A-B13B-8259B55D98E0}"/>
              </a:ext>
            </a:extLst>
          </p:cNvPr>
          <p:cNvSpPr>
            <a:spLocks xmlns:a="http://schemas.openxmlformats.org/drawingml/2006/main" noGrp="1"/>
          </p:cNvSpPr>
          <p:nvPr/>
        </p:nvSpPr>
        <p:spPr>
          <a:xfrm xmlns:a="http://schemas.openxmlformats.org/drawingml/2006/main">
            <a:off x="800100" y="1828800"/>
            <a:ext cx="11620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F05DD17-D04D-44AC-A49A-A3B96282CE2D}"/>
              </a:ext>
            </a:extLst>
          </p:cNvPr>
          <p:cNvSpPr>
            <a:spLocks xmlns:a="http://schemas.openxmlformats.org/drawingml/2006/main" noGrp="1"/>
          </p:cNvSpPr>
          <p:nvPr/>
        </p:nvSpPr>
        <p:spPr>
          <a:xfrm xmlns:a="http://schemas.openxmlformats.org/drawingml/2006/main">
            <a:off x="895350" y="184785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RAW ROLLOUT</a:t>
            </a:r>
          </a:p>
        </p:txBody>
      </p:sp>
      <p:sp>
        <p:nvSpPr>
          <p:cNvPr id="11" name="">
            <a:extLst xmlns:a="http://schemas.openxmlformats.org/drawingml/2006/main">
              <a:ext uri="{FF2B5EF4-FFF2-40B4-BE49-F238E27FC236}">
                <a16:creationId xmlns:a16="http://schemas.microsoft.com/office/drawing/2014/main" id="{CC37E024-04D1-4543-926D-EB8550AF8088}"/>
              </a:ext>
            </a:extLst>
          </p:cNvPr>
          <p:cNvSpPr>
            <a:spLocks xmlns:a="http://schemas.openxmlformats.org/drawingml/2006/main" noGrp="1"/>
          </p:cNvSpPr>
          <p:nvPr/>
        </p:nvSpPr>
        <p:spPr>
          <a:xfrm xmlns:a="http://schemas.openxmlformats.org/drawingml/2006/main">
            <a:off x="6553200" y="1828800"/>
            <a:ext cx="21717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495684F-9319-476D-8B6C-9A8DF8BF2CC7}"/>
              </a:ext>
            </a:extLst>
          </p:cNvPr>
          <p:cNvSpPr>
            <a:spLocks xmlns:a="http://schemas.openxmlformats.org/drawingml/2006/main" noGrp="1"/>
          </p:cNvSpPr>
          <p:nvPr/>
        </p:nvSpPr>
        <p:spPr>
          <a:xfrm xmlns:a="http://schemas.openxmlformats.org/drawingml/2006/main">
            <a:off x="6648450" y="1847850"/>
            <a:ext cx="1981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PROMPT BASELINE</a:t>
            </a:r>
          </a:p>
        </p:txBody>
      </p:sp>
      <p:sp>
        <p:nvSpPr>
          <p:cNvPr id="13" name="">
            <a:extLst xmlns:a="http://schemas.openxmlformats.org/drawingml/2006/main">
              <a:ext uri="{FF2B5EF4-FFF2-40B4-BE49-F238E27FC236}">
                <a16:creationId xmlns:a16="http://schemas.microsoft.com/office/drawing/2014/main" id="{97C43DFF-48BC-4672-85FA-5F0032F6A3B4}"/>
              </a:ext>
            </a:extLst>
          </p:cNvPr>
          <p:cNvSpPr>
            <a:spLocks xmlns:a="http://schemas.openxmlformats.org/drawingml/2006/main" noGrp="1"/>
          </p:cNvSpPr>
          <p:nvPr/>
        </p:nvSpPr>
        <p:spPr>
          <a:xfrm xmlns:a="http://schemas.openxmlformats.org/drawingml/2006/main">
            <a:off x="6096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9EED8B38-2661-4414-BF67-F71C43A62AE4}"/>
              </a:ext>
            </a:extLst>
          </p:cNvPr>
          <p:cNvSpPr>
            <a:spLocks xmlns:a="http://schemas.openxmlformats.org/drawingml/2006/main" noGrp="1"/>
          </p:cNvSpPr>
          <p:nvPr/>
        </p:nvSpPr>
        <p:spPr>
          <a:xfrm xmlns:a="http://schemas.openxmlformats.org/drawingml/2006/main">
            <a:off x="60960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3589FFF-812D-49B0-A5A3-5135FBE10DE9}"/>
              </a:ext>
            </a:extLst>
          </p:cNvPr>
          <p:cNvSpPr>
            <a:spLocks xmlns:a="http://schemas.openxmlformats.org/drawingml/2006/main" noGrp="1"/>
          </p:cNvSpPr>
          <p:nvPr/>
        </p:nvSpPr>
        <p:spPr>
          <a:xfrm xmlns:a="http://schemas.openxmlformats.org/drawingml/2006/main">
            <a:off x="8001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16" name="">
            <a:extLst xmlns:a="http://schemas.openxmlformats.org/drawingml/2006/main">
              <a:ext uri="{FF2B5EF4-FFF2-40B4-BE49-F238E27FC236}">
                <a16:creationId xmlns:a16="http://schemas.microsoft.com/office/drawing/2014/main" id="{219D0052-77B1-43F2-BF72-A5272E4198AC}"/>
              </a:ext>
            </a:extLst>
          </p:cNvPr>
          <p:cNvSpPr>
            <a:spLocks xmlns:a="http://schemas.openxmlformats.org/drawingml/2006/main" noGrp="1"/>
          </p:cNvSpPr>
          <p:nvPr/>
        </p:nvSpPr>
        <p:spPr>
          <a:xfrm xmlns:a="http://schemas.openxmlformats.org/drawingml/2006/main">
            <a:off x="8001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3.85×</a:t>
            </a:r>
          </a:p>
        </p:txBody>
      </p:sp>
      <p:sp>
        <p:nvSpPr>
          <p:cNvPr id="17" name="">
            <a:extLst xmlns:a="http://schemas.openxmlformats.org/drawingml/2006/main">
              <a:ext uri="{FF2B5EF4-FFF2-40B4-BE49-F238E27FC236}">
                <a16:creationId xmlns:a16="http://schemas.microsoft.com/office/drawing/2014/main" id="{67F8E5AA-4755-46FF-BA6C-7AC40972E9A5}"/>
              </a:ext>
            </a:extLst>
          </p:cNvPr>
          <p:cNvSpPr>
            <a:spLocks xmlns:a="http://schemas.openxmlformats.org/drawingml/2006/main" noGrp="1"/>
          </p:cNvSpPr>
          <p:nvPr/>
        </p:nvSpPr>
        <p:spPr>
          <a:xfrm xmlns:a="http://schemas.openxmlformats.org/drawingml/2006/main">
            <a:off x="8001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raw rollout</a:t>
            </a:r>
          </a:p>
        </p:txBody>
      </p:sp>
      <p:sp>
        <p:nvSpPr>
          <p:cNvPr id="18" name="">
            <a:extLst xmlns:a="http://schemas.openxmlformats.org/drawingml/2006/main">
              <a:ext uri="{FF2B5EF4-FFF2-40B4-BE49-F238E27FC236}">
                <a16:creationId xmlns:a16="http://schemas.microsoft.com/office/drawing/2014/main" id="{2509BF6B-AA02-4DCF-93C4-F0C0B4D964EB}"/>
              </a:ext>
            </a:extLst>
          </p:cNvPr>
          <p:cNvSpPr>
            <a:spLocks xmlns:a="http://schemas.openxmlformats.org/drawingml/2006/main" noGrp="1"/>
          </p:cNvSpPr>
          <p:nvPr/>
        </p:nvSpPr>
        <p:spPr>
          <a:xfrm xmlns:a="http://schemas.openxmlformats.org/drawingml/2006/main">
            <a:off x="31432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B07EABF1-69E0-4CA9-BB89-E83B04FC1D3E}"/>
              </a:ext>
            </a:extLst>
          </p:cNvPr>
          <p:cNvSpPr>
            <a:spLocks xmlns:a="http://schemas.openxmlformats.org/drawingml/2006/main" noGrp="1"/>
          </p:cNvSpPr>
          <p:nvPr/>
        </p:nvSpPr>
        <p:spPr>
          <a:xfrm xmlns:a="http://schemas.openxmlformats.org/drawingml/2006/main">
            <a:off x="314325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37E90FE-FD93-47EF-B8D7-B41557D88EEF}"/>
              </a:ext>
            </a:extLst>
          </p:cNvPr>
          <p:cNvSpPr>
            <a:spLocks xmlns:a="http://schemas.openxmlformats.org/drawingml/2006/main" noGrp="1"/>
          </p:cNvSpPr>
          <p:nvPr/>
        </p:nvSpPr>
        <p:spPr>
          <a:xfrm xmlns:a="http://schemas.openxmlformats.org/drawingml/2006/main">
            <a:off x="33337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21" name="">
            <a:extLst xmlns:a="http://schemas.openxmlformats.org/drawingml/2006/main">
              <a:ext uri="{FF2B5EF4-FFF2-40B4-BE49-F238E27FC236}">
                <a16:creationId xmlns:a16="http://schemas.microsoft.com/office/drawing/2014/main" id="{A075B66F-BB03-41A6-8EE0-684B1E8B6034}"/>
              </a:ext>
            </a:extLst>
          </p:cNvPr>
          <p:cNvSpPr>
            <a:spLocks xmlns:a="http://schemas.openxmlformats.org/drawingml/2006/main" noGrp="1"/>
          </p:cNvSpPr>
          <p:nvPr/>
        </p:nvSpPr>
        <p:spPr>
          <a:xfrm xmlns:a="http://schemas.openxmlformats.org/drawingml/2006/main">
            <a:off x="33337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outside</a:t>
            </a:r>
          </a:p>
        </p:txBody>
      </p:sp>
      <p:sp>
        <p:nvSpPr>
          <p:cNvPr id="22" name="">
            <a:extLst xmlns:a="http://schemas.openxmlformats.org/drawingml/2006/main">
              <a:ext uri="{FF2B5EF4-FFF2-40B4-BE49-F238E27FC236}">
                <a16:creationId xmlns:a16="http://schemas.microsoft.com/office/drawing/2014/main" id="{E7E6F077-198E-45B5-A71F-F259EB6DDD80}"/>
              </a:ext>
            </a:extLst>
          </p:cNvPr>
          <p:cNvSpPr>
            <a:spLocks xmlns:a="http://schemas.openxmlformats.org/drawingml/2006/main" noGrp="1"/>
          </p:cNvSpPr>
          <p:nvPr/>
        </p:nvSpPr>
        <p:spPr>
          <a:xfrm xmlns:a="http://schemas.openxmlformats.org/drawingml/2006/main">
            <a:off x="33337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generic top-left saliency</a:t>
            </a:r>
          </a:p>
        </p:txBody>
      </p:sp>
      <p:sp>
        <p:nvSpPr>
          <p:cNvPr id="23" name="">
            <a:extLst xmlns:a="http://schemas.openxmlformats.org/drawingml/2006/main">
              <a:ext uri="{FF2B5EF4-FFF2-40B4-BE49-F238E27FC236}">
                <a16:creationId xmlns:a16="http://schemas.microsoft.com/office/drawing/2014/main" id="{2BD95097-EA0E-4BFD-B1D8-4B7B725E172B}"/>
              </a:ext>
            </a:extLst>
          </p:cNvPr>
          <p:cNvSpPr>
            <a:spLocks xmlns:a="http://schemas.openxmlformats.org/drawingml/2006/main" noGrp="1"/>
          </p:cNvSpPr>
          <p:nvPr/>
        </p:nvSpPr>
        <p:spPr>
          <a:xfrm xmlns:a="http://schemas.openxmlformats.org/drawingml/2006/main">
            <a:off x="63627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B14EF582-B6D9-40B6-8885-74CA02F48389}"/>
              </a:ext>
            </a:extLst>
          </p:cNvPr>
          <p:cNvSpPr>
            <a:spLocks xmlns:a="http://schemas.openxmlformats.org/drawingml/2006/main" noGrp="1"/>
          </p:cNvSpPr>
          <p:nvPr/>
        </p:nvSpPr>
        <p:spPr>
          <a:xfrm xmlns:a="http://schemas.openxmlformats.org/drawingml/2006/main">
            <a:off x="6362700" y="514350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46436DC-0844-4812-B862-B52D3FB35020}"/>
              </a:ext>
            </a:extLst>
          </p:cNvPr>
          <p:cNvSpPr>
            <a:spLocks xmlns:a="http://schemas.openxmlformats.org/drawingml/2006/main" noGrp="1"/>
          </p:cNvSpPr>
          <p:nvPr/>
        </p:nvSpPr>
        <p:spPr>
          <a:xfrm xmlns:a="http://schemas.openxmlformats.org/drawingml/2006/main">
            <a:off x="65532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26" name="">
            <a:extLst xmlns:a="http://schemas.openxmlformats.org/drawingml/2006/main">
              <a:ext uri="{FF2B5EF4-FFF2-40B4-BE49-F238E27FC236}">
                <a16:creationId xmlns:a16="http://schemas.microsoft.com/office/drawing/2014/main" id="{111AA3F1-61AA-4BDC-B1AF-D9EBA5442BC6}"/>
              </a:ext>
            </a:extLst>
          </p:cNvPr>
          <p:cNvSpPr>
            <a:spLocks xmlns:a="http://schemas.openxmlformats.org/drawingml/2006/main" noGrp="1"/>
          </p:cNvSpPr>
          <p:nvPr/>
        </p:nvSpPr>
        <p:spPr>
          <a:xfrm xmlns:a="http://schemas.openxmlformats.org/drawingml/2006/main">
            <a:off x="65532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16.08×</a:t>
            </a:r>
          </a:p>
        </p:txBody>
      </p:sp>
      <p:sp>
        <p:nvSpPr>
          <p:cNvPr id="27" name="">
            <a:extLst xmlns:a="http://schemas.openxmlformats.org/drawingml/2006/main">
              <a:ext uri="{FF2B5EF4-FFF2-40B4-BE49-F238E27FC236}">
                <a16:creationId xmlns:a16="http://schemas.microsoft.com/office/drawing/2014/main" id="{358E60E4-A776-474C-AD73-228B3039C811}"/>
              </a:ext>
            </a:extLst>
          </p:cNvPr>
          <p:cNvSpPr>
            <a:spLocks xmlns:a="http://schemas.openxmlformats.org/drawingml/2006/main" noGrp="1"/>
          </p:cNvSpPr>
          <p:nvPr/>
        </p:nvSpPr>
        <p:spPr>
          <a:xfrm xmlns:a="http://schemas.openxmlformats.org/drawingml/2006/main">
            <a:off x="65532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instruction differential</a:t>
            </a:r>
          </a:p>
        </p:txBody>
      </p:sp>
      <p:sp>
        <p:nvSpPr>
          <p:cNvPr id="28" name="">
            <a:extLst xmlns:a="http://schemas.openxmlformats.org/drawingml/2006/main">
              <a:ext uri="{FF2B5EF4-FFF2-40B4-BE49-F238E27FC236}">
                <a16:creationId xmlns:a16="http://schemas.microsoft.com/office/drawing/2014/main" id="{BE095BC7-27E7-4EB1-A870-2ECE03C43B5F}"/>
              </a:ext>
            </a:extLst>
          </p:cNvPr>
          <p:cNvSpPr>
            <a:spLocks xmlns:a="http://schemas.openxmlformats.org/drawingml/2006/main" noGrp="1"/>
          </p:cNvSpPr>
          <p:nvPr/>
        </p:nvSpPr>
        <p:spPr>
          <a:xfrm xmlns:a="http://schemas.openxmlformats.org/drawingml/2006/main">
            <a:off x="88963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9" name="">
            <a:extLst xmlns:a="http://schemas.openxmlformats.org/drawingml/2006/main">
              <a:ext uri="{FF2B5EF4-FFF2-40B4-BE49-F238E27FC236}">
                <a16:creationId xmlns:a16="http://schemas.microsoft.com/office/drawing/2014/main" id="{BA810DF5-D991-434A-A1A5-3B48808BD419}"/>
              </a:ext>
            </a:extLst>
          </p:cNvPr>
          <p:cNvSpPr>
            <a:spLocks xmlns:a="http://schemas.openxmlformats.org/drawingml/2006/main" noGrp="1"/>
          </p:cNvSpPr>
          <p:nvPr/>
        </p:nvSpPr>
        <p:spPr>
          <a:xfrm xmlns:a="http://schemas.openxmlformats.org/drawingml/2006/main">
            <a:off x="8896350" y="5143500"/>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8473AE5-F0C0-4605-AEBF-541AAF15E4D4}"/>
              </a:ext>
            </a:extLst>
          </p:cNvPr>
          <p:cNvSpPr>
            <a:spLocks xmlns:a="http://schemas.openxmlformats.org/drawingml/2006/main" noGrp="1"/>
          </p:cNvSpPr>
          <p:nvPr/>
        </p:nvSpPr>
        <p:spPr>
          <a:xfrm xmlns:a="http://schemas.openxmlformats.org/drawingml/2006/main">
            <a:off x="90868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31" name="">
            <a:extLst xmlns:a="http://schemas.openxmlformats.org/drawingml/2006/main">
              <a:ext uri="{FF2B5EF4-FFF2-40B4-BE49-F238E27FC236}">
                <a16:creationId xmlns:a16="http://schemas.microsoft.com/office/drawing/2014/main" id="{270C1B47-605E-4818-B1B0-6A6177578794}"/>
              </a:ext>
            </a:extLst>
          </p:cNvPr>
          <p:cNvSpPr>
            <a:spLocks xmlns:a="http://schemas.openxmlformats.org/drawingml/2006/main" noGrp="1"/>
          </p:cNvSpPr>
          <p:nvPr/>
        </p:nvSpPr>
        <p:spPr>
          <a:xfrm xmlns:a="http://schemas.openxmlformats.org/drawingml/2006/main">
            <a:off x="90868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inside</a:t>
            </a:r>
          </a:p>
        </p:txBody>
      </p:sp>
      <p:sp>
        <p:nvSpPr>
          <p:cNvPr id="32" name="">
            <a:extLst xmlns:a="http://schemas.openxmlformats.org/drawingml/2006/main">
              <a:ext uri="{FF2B5EF4-FFF2-40B4-BE49-F238E27FC236}">
                <a16:creationId xmlns:a16="http://schemas.microsoft.com/office/drawing/2014/main" id="{95E9608C-1C6D-4670-9CC2-FE0E1F34EE8E}"/>
              </a:ext>
            </a:extLst>
          </p:cNvPr>
          <p:cNvSpPr>
            <a:spLocks xmlns:a="http://schemas.openxmlformats.org/drawingml/2006/main" noGrp="1"/>
          </p:cNvSpPr>
          <p:nvPr/>
        </p:nvSpPr>
        <p:spPr>
          <a:xfrm xmlns:a="http://schemas.openxmlformats.org/drawingml/2006/main">
            <a:off x="90868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3.2% of frame diagonal away</a:t>
            </a:r>
          </a:p>
        </p:txBody>
      </p:sp>
      <p:sp>
        <p:nvSpPr>
          <p:cNvPr id="33" name="">
            <a:extLst xmlns:a="http://schemas.openxmlformats.org/drawingml/2006/main">
              <a:ext uri="{FF2B5EF4-FFF2-40B4-BE49-F238E27FC236}">
                <a16:creationId xmlns:a16="http://schemas.microsoft.com/office/drawing/2014/main" id="{CD0C1DDF-1687-48E5-8922-166AB51C3A6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34F2E0E-4692-478C-B098-67205B14196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powerpoint_windows_59 · 4 same-image controls · LOO cosine 0.925 mean / 0.828 minimum</a:t>
            </a:r>
          </a:p>
        </p:txBody>
      </p:sp>
    </p:spTree>
    <p:extLst>
      <p:ext uri="{BB962C8B-B14F-4D97-AF65-F5344CB8AC3E}">
        <p14:creationId xmlns:p14="http://schemas.microsoft.com/office/powerpoint/2010/main" val="1323289761"/>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144919C-3731-4C8E-AD2E-CEB6B8BC2FF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FAILURE CASE</a:t>
            </a:r>
          </a:p>
        </p:txBody>
      </p:sp>
      <p:sp>
        <p:nvSpPr>
          <p:cNvPr id="2" name="">
            <a:extLst xmlns:a="http://schemas.openxmlformats.org/drawingml/2006/main">
              <a:ext uri="{FF2B5EF4-FFF2-40B4-BE49-F238E27FC236}">
                <a16:creationId xmlns:a16="http://schemas.microsoft.com/office/drawing/2014/main" id="{2CC02666-5265-4751-8BCA-274772710D8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Semantic neighborhood found; precise affordance missed</a:t>
            </a:r>
          </a:p>
        </p:txBody>
      </p:sp>
      <p:sp>
        <p:nvSpPr>
          <p:cNvPr id="3" name="">
            <a:extLst xmlns:a="http://schemas.openxmlformats.org/drawingml/2006/main">
              <a:ext uri="{FF2B5EF4-FFF2-40B4-BE49-F238E27FC236}">
                <a16:creationId xmlns:a16="http://schemas.microsoft.com/office/drawing/2014/main" id="{DAC0ACCB-E1C8-4893-9A89-721D4EF0F5F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CC2667D3-1D56-4432-AB7F-A4F5B6F0C0C5}"/>
              </a:ext>
            </a:extLst>
          </p:cNvPr>
          <p:cNvSpPr>
            <a:spLocks xmlns:a="http://schemas.openxmlformats.org/drawingml/2006/main" noGrp="1"/>
          </p:cNvSpPr>
          <p:nvPr/>
        </p:nvSpPr>
        <p:spPr>
          <a:xfrm xmlns:a="http://schemas.openxmlformats.org/drawingml/2006/main">
            <a:off x="762000" y="12001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Instruction: Create new slide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6cb42f8165f4ac8"/>
          <a:srcRect xmlns:a="http://schemas.openxmlformats.org/drawingml/2006/main" l="0" t="4494" r="0" b="4494"/>
          <a:stretch xmlns:a="http://schemas.openxmlformats.org/drawingml/2006/main">
            <a:fillRect l="0" t="0" r="0" b="0"/>
          </a:stretch>
        </p:blipFill>
        <p:spPr>
          <a:xfrm xmlns:a="http://schemas.openxmlformats.org/drawingml/2006/main">
            <a:off x="609600" y="1562100"/>
            <a:ext cx="7334250" cy="4171950"/>
          </a:xfrm>
          <a:prstGeom xmlns:a="http://schemas.openxmlformats.org/drawingml/2006/main" prst="roundRect">
            <a:avLst>
              <a:gd name="adj" fmla="val 2740"/>
            </a:avLst>
          </a:prstGeom>
        </p:spPr>
      </p:pic>
      <p:sp>
        <p:nvSpPr>
          <p:cNvPr id="6" name="">
            <a:extLst xmlns:a="http://schemas.openxmlformats.org/drawingml/2006/main">
              <a:ext uri="{FF2B5EF4-FFF2-40B4-BE49-F238E27FC236}">
                <a16:creationId xmlns:a16="http://schemas.microsoft.com/office/drawing/2014/main" id="{F84AC773-D9DA-4A64-85AE-968E614894FA}"/>
              </a:ext>
            </a:extLst>
          </p:cNvPr>
          <p:cNvSpPr>
            <a:spLocks xmlns:a="http://schemas.openxmlformats.org/drawingml/2006/main" noGrp="1"/>
          </p:cNvSpPr>
          <p:nvPr/>
        </p:nvSpPr>
        <p:spPr>
          <a:xfrm xmlns:a="http://schemas.openxmlformats.org/drawingml/2006/main">
            <a:off x="609600" y="1562100"/>
            <a:ext cx="7334250" cy="4171950"/>
          </a:xfrm>
          <a:prstGeom xmlns:a="http://schemas.openxmlformats.org/drawingml/2006/main" prst="roundRect">
            <a:avLst>
              <a:gd name="adj" fmla="val 1826"/>
            </a:avLst>
          </a:prstGeom>
          <a:noFill xmlns:a="http://schemas.openxmlformats.org/drawingml/2006/main"/>
          <a:ln xmlns:a="http://schemas.openxmlformats.org/drawingml/2006/main" w="9525">
            <a:solidFill>
              <a:srgbClr val="D9D4C8"/>
            </a:solidFill>
          </a:ln>
        </p:spPr>
      </p:sp>
      <p:sp>
        <p:nvSpPr>
          <p:cNvPr id="7" name="">
            <a:extLst xmlns:a="http://schemas.openxmlformats.org/drawingml/2006/main">
              <a:ext uri="{FF2B5EF4-FFF2-40B4-BE49-F238E27FC236}">
                <a16:creationId xmlns:a16="http://schemas.microsoft.com/office/drawing/2014/main" id="{2B8E56DE-BCEA-4B22-8C6E-5802FDD39E1A}"/>
              </a:ext>
            </a:extLst>
          </p:cNvPr>
          <p:cNvSpPr>
            <a:spLocks xmlns:a="http://schemas.openxmlformats.org/drawingml/2006/main" noGrp="1"/>
          </p:cNvSpPr>
          <p:nvPr/>
        </p:nvSpPr>
        <p:spPr>
          <a:xfrm xmlns:a="http://schemas.openxmlformats.org/drawingml/2006/main">
            <a:off x="8305800" y="1562100"/>
            <a:ext cx="3276600" cy="4171950"/>
          </a:xfrm>
          <a:prstGeom xmlns:a="http://schemas.openxmlformats.org/drawingml/2006/main" prst="roundRect">
            <a:avLst>
              <a:gd name="adj" fmla="val 2326"/>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9E4446F-CAD2-4553-994E-E99FFFEE1D9F}"/>
              </a:ext>
            </a:extLst>
          </p:cNvPr>
          <p:cNvSpPr>
            <a:spLocks xmlns:a="http://schemas.openxmlformats.org/drawingml/2006/main" noGrp="1"/>
          </p:cNvSpPr>
          <p:nvPr/>
        </p:nvSpPr>
        <p:spPr>
          <a:xfrm xmlns:a="http://schemas.openxmlformats.org/drawingml/2006/main">
            <a:off x="8572500" y="1809750"/>
            <a:ext cx="1428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65AF7E1-434B-4319-9EAD-94131FB0BDB6}"/>
              </a:ext>
            </a:extLst>
          </p:cNvPr>
          <p:cNvSpPr>
            <a:spLocks xmlns:a="http://schemas.openxmlformats.org/drawingml/2006/main" noGrp="1"/>
          </p:cNvSpPr>
          <p:nvPr/>
        </p:nvSpPr>
        <p:spPr>
          <a:xfrm xmlns:a="http://schemas.openxmlformats.org/drawingml/2006/main">
            <a:off x="8667750" y="18288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GROUNDING MISS</a:t>
            </a:r>
          </a:p>
        </p:txBody>
      </p:sp>
      <p:sp>
        <p:nvSpPr>
          <p:cNvPr id="10" name="">
            <a:extLst xmlns:a="http://schemas.openxmlformats.org/drawingml/2006/main">
              <a:ext uri="{FF2B5EF4-FFF2-40B4-BE49-F238E27FC236}">
                <a16:creationId xmlns:a16="http://schemas.microsoft.com/office/drawing/2014/main" id="{54BD282D-9154-4CA0-B00C-0A83F0273E31}"/>
              </a:ext>
            </a:extLst>
          </p:cNvPr>
          <p:cNvSpPr>
            <a:spLocks xmlns:a="http://schemas.openxmlformats.org/drawingml/2006/main" noGrp="1"/>
          </p:cNvSpPr>
          <p:nvPr/>
        </p:nvSpPr>
        <p:spPr>
          <a:xfrm xmlns:a="http://schemas.openxmlformats.org/drawingml/2006/main">
            <a:off x="8572500" y="2343150"/>
            <a:ext cx="2571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76"/>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The differential map concentrates in the correct top-left task region…</a:t>
            </a:r>
          </a:p>
        </p:txBody>
      </p:sp>
      <p:sp>
        <p:nvSpPr>
          <p:cNvPr id="11" name="">
            <a:extLst xmlns:a="http://schemas.openxmlformats.org/drawingml/2006/main">
              <a:ext uri="{FF2B5EF4-FFF2-40B4-BE49-F238E27FC236}">
                <a16:creationId xmlns:a16="http://schemas.microsoft.com/office/drawing/2014/main" id="{80C7C689-46AB-4685-9381-1D5DF4C657C2}"/>
              </a:ext>
            </a:extLst>
          </p:cNvPr>
          <p:cNvSpPr>
            <a:spLocks xmlns:a="http://schemas.openxmlformats.org/drawingml/2006/main" noGrp="1"/>
          </p:cNvSpPr>
          <p:nvPr/>
        </p:nvSpPr>
        <p:spPr>
          <a:xfrm xmlns:a="http://schemas.openxmlformats.org/drawingml/2006/main">
            <a:off x="8572500" y="3295650"/>
            <a:ext cx="2571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5CFD8"/>
                </a:solidFill>
                <a:latin typeface="Helvetica Neue"/>
                <a:ea typeface="Helvetica Neue"/>
                <a:cs typeface="Helvetica Neue"/>
              </a:defRPr>
            </a:pPr>
            <a:r>
              <a:rPr sz="1350" b="0">
                <a:solidFill>
                  <a:srgbClr val="C5CFD8"/>
                </a:solidFill>
                <a:latin typeface="Helvetica Neue"/>
                <a:ea typeface="Helvetica Neue"/>
                <a:cs typeface="Helvetica Neue"/>
              </a:rPr>
              <a:t>…but its peak lands on the slide thumbnail, not the tiny New Slide button.</a:t>
            </a:r>
          </a:p>
        </p:txBody>
      </p:sp>
      <p:sp>
        <p:nvSpPr>
          <p:cNvPr id="12" name="">
            <a:extLst xmlns:a="http://schemas.openxmlformats.org/drawingml/2006/main">
              <a:ext uri="{FF2B5EF4-FFF2-40B4-BE49-F238E27FC236}">
                <a16:creationId xmlns:a16="http://schemas.microsoft.com/office/drawing/2014/main" id="{C3E5CBB1-DFA4-4F59-81A1-B96C1FA2B31D}"/>
              </a:ext>
            </a:extLst>
          </p:cNvPr>
          <p:cNvSpPr>
            <a:spLocks xmlns:a="http://schemas.openxmlformats.org/drawingml/2006/main" noGrp="1"/>
          </p:cNvSpPr>
          <p:nvPr/>
        </p:nvSpPr>
        <p:spPr>
          <a:xfrm xmlns:a="http://schemas.openxmlformats.org/drawingml/2006/main">
            <a:off x="8572500" y="4305300"/>
            <a:ext cx="25717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03B82D0-79A4-4DDD-9DB0-2378C1676BA0}"/>
              </a:ext>
            </a:extLst>
          </p:cNvPr>
          <p:cNvSpPr>
            <a:spLocks xmlns:a="http://schemas.openxmlformats.org/drawingml/2006/main" noGrp="1"/>
          </p:cNvSpPr>
          <p:nvPr/>
        </p:nvSpPr>
        <p:spPr>
          <a:xfrm xmlns:a="http://schemas.openxmlformats.org/drawingml/2006/main">
            <a:off x="8572500" y="4514850"/>
            <a:ext cx="1257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Predicted click</a:t>
            </a:r>
          </a:p>
        </p:txBody>
      </p:sp>
      <p:sp>
        <p:nvSpPr>
          <p:cNvPr id="14" name="">
            <a:extLst xmlns:a="http://schemas.openxmlformats.org/drawingml/2006/main">
              <a:ext uri="{FF2B5EF4-FFF2-40B4-BE49-F238E27FC236}">
                <a16:creationId xmlns:a16="http://schemas.microsoft.com/office/drawing/2014/main" id="{96E4A172-75D6-45A9-A892-D8B53A13ACBD}"/>
              </a:ext>
            </a:extLst>
          </p:cNvPr>
          <p:cNvSpPr>
            <a:spLocks xmlns:a="http://schemas.openxmlformats.org/drawingml/2006/main" noGrp="1"/>
          </p:cNvSpPr>
          <p:nvPr/>
        </p:nvSpPr>
        <p:spPr>
          <a:xfrm xmlns:a="http://schemas.openxmlformats.org/drawingml/2006/main">
            <a:off x="9848850" y="4486275"/>
            <a:ext cx="1295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(331, 270)</a:t>
            </a:r>
          </a:p>
        </p:txBody>
      </p:sp>
      <p:sp>
        <p:nvSpPr>
          <p:cNvPr id="15" name="">
            <a:extLst xmlns:a="http://schemas.openxmlformats.org/drawingml/2006/main">
              <a:ext uri="{FF2B5EF4-FFF2-40B4-BE49-F238E27FC236}">
                <a16:creationId xmlns:a16="http://schemas.microsoft.com/office/drawing/2014/main" id="{2379E41A-7572-4A0B-B82F-ACE81E869697}"/>
              </a:ext>
            </a:extLst>
          </p:cNvPr>
          <p:cNvSpPr>
            <a:spLocks xmlns:a="http://schemas.openxmlformats.org/drawingml/2006/main" noGrp="1"/>
          </p:cNvSpPr>
          <p:nvPr/>
        </p:nvSpPr>
        <p:spPr>
          <a:xfrm xmlns:a="http://schemas.openxmlformats.org/drawingml/2006/main">
            <a:off x="8572500" y="48958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Prompt-diff peak</a:t>
            </a:r>
          </a:p>
        </p:txBody>
      </p:sp>
      <p:sp>
        <p:nvSpPr>
          <p:cNvPr id="16" name="">
            <a:extLst xmlns:a="http://schemas.openxmlformats.org/drawingml/2006/main">
              <a:ext uri="{FF2B5EF4-FFF2-40B4-BE49-F238E27FC236}">
                <a16:creationId xmlns:a16="http://schemas.microsoft.com/office/drawing/2014/main" id="{F7A54546-6298-4C3C-B417-05C42D9B19D1}"/>
              </a:ext>
            </a:extLst>
          </p:cNvPr>
          <p:cNvSpPr>
            <a:spLocks xmlns:a="http://schemas.openxmlformats.org/drawingml/2006/main" noGrp="1"/>
          </p:cNvSpPr>
          <p:nvPr/>
        </p:nvSpPr>
        <p:spPr>
          <a:xfrm xmlns:a="http://schemas.openxmlformats.org/drawingml/2006/main">
            <a:off x="9829800" y="4867275"/>
            <a:ext cx="131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9.9% diag away</a:t>
            </a:r>
          </a:p>
        </p:txBody>
      </p:sp>
      <p:sp>
        <p:nvSpPr>
          <p:cNvPr id="17" name="">
            <a:extLst xmlns:a="http://schemas.openxmlformats.org/drawingml/2006/main">
              <a:ext uri="{FF2B5EF4-FFF2-40B4-BE49-F238E27FC236}">
                <a16:creationId xmlns:a16="http://schemas.microsoft.com/office/drawing/2014/main" id="{3E7CDBC9-B26D-4A7D-BA64-3D6A1ABE42DD}"/>
              </a:ext>
            </a:extLst>
          </p:cNvPr>
          <p:cNvSpPr>
            <a:spLocks xmlns:a="http://schemas.openxmlformats.org/drawingml/2006/main" noGrp="1"/>
          </p:cNvSpPr>
          <p:nvPr/>
        </p:nvSpPr>
        <p:spPr>
          <a:xfrm xmlns:a="http://schemas.openxmlformats.org/drawingml/2006/main">
            <a:off x="8572500" y="52768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F1C7BC"/>
                </a:solidFill>
                <a:latin typeface="Helvetica Neue"/>
                <a:ea typeface="Helvetica Neue"/>
                <a:cs typeface="Helvetica Neue"/>
              </a:defRPr>
            </a:pPr>
            <a:r>
              <a:rPr sz="975" b="0">
                <a:solidFill>
                  <a:srgbClr val="F1C7BC"/>
                </a:solidFill>
                <a:latin typeface="Helvetica Neue"/>
                <a:ea typeface="Helvetica Neue"/>
                <a:cs typeface="Helvetica Neue"/>
              </a:rPr>
              <a:t>The model resolves the intent class, but not the target binding needed for action.</a:t>
            </a:r>
          </a:p>
        </p:txBody>
      </p:sp>
      <p:sp>
        <p:nvSpPr>
          <p:cNvPr id="18" name="">
            <a:extLst xmlns:a="http://schemas.openxmlformats.org/drawingml/2006/main">
              <a:ext uri="{FF2B5EF4-FFF2-40B4-BE49-F238E27FC236}">
                <a16:creationId xmlns:a16="http://schemas.microsoft.com/office/drawing/2014/main" id="{91D182DF-D2FA-4604-AE3A-ED69BE670F7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15575D1-BAE6-4F5C-92A8-E93A6736DB0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powerpoint_windows_48 · prompt-baseline stability 0.970 mean / 0.953 minimum</a:t>
            </a:r>
          </a:p>
        </p:txBody>
      </p:sp>
    </p:spTree>
    <p:extLst>
      <p:ext uri="{BB962C8B-B14F-4D97-AF65-F5344CB8AC3E}">
        <p14:creationId xmlns:p14="http://schemas.microsoft.com/office/powerpoint/2010/main" val="971398323"/>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7465DCA-5896-43F3-9070-B5F5867533F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BASELINE COMPARISON</a:t>
            </a:r>
          </a:p>
        </p:txBody>
      </p:sp>
      <p:sp>
        <p:nvSpPr>
          <p:cNvPr id="2" name="">
            <a:extLst xmlns:a="http://schemas.openxmlformats.org/drawingml/2006/main">
              <a:ext uri="{FF2B5EF4-FFF2-40B4-BE49-F238E27FC236}">
                <a16:creationId xmlns:a16="http://schemas.microsoft.com/office/drawing/2014/main" id="{B84ACB6A-64F0-4680-BA7D-2A98D59976F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Different controls change the diagnosis</a:t>
            </a:r>
          </a:p>
        </p:txBody>
      </p:sp>
      <p:sp>
        <p:nvSpPr>
          <p:cNvPr id="3" name="">
            <a:extLst xmlns:a="http://schemas.openxmlformats.org/drawingml/2006/main">
              <a:ext uri="{FF2B5EF4-FFF2-40B4-BE49-F238E27FC236}">
                <a16:creationId xmlns:a16="http://schemas.microsoft.com/office/drawing/2014/main" id="{C93EB267-88F6-41D5-83D0-E60847926BE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4A6B1D48-252C-47B7-9526-25964BA62A40}"/>
              </a:ext>
            </a:extLst>
          </p:cNvPr>
          <p:cNvSpPr>
            <a:spLocks xmlns:a="http://schemas.openxmlformats.org/drawingml/2006/main" noGrp="1"/>
          </p:cNvSpPr>
          <p:nvPr/>
        </p:nvSpPr>
        <p:spPr>
          <a:xfrm xmlns:a="http://schemas.openxmlformats.org/drawingml/2006/main">
            <a:off x="609600" y="116205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Positive-mass target lift; peak status shown separately</a:t>
            </a:r>
          </a:p>
        </p:txBody>
      </p:sp>
      <p:graphicFrame>
        <p:nvGraphicFramePr>
          <p:cNvPr id="22" name=""/>
          <p:cNvGraphicFramePr/>
          <p:nvPr/>
        </p:nvGraphicFramePr>
        <p:xfrm>
          <a:off xmlns:a="http://schemas.openxmlformats.org/drawingml/2006/main" x="609600" y="1676400"/>
          <a:ext xmlns:a="http://schemas.openxmlformats.org/drawingml/2006/main" cx="10972800" cy="2038350"/>
        </p:xfrm>
        <a:graphic xmlns:a="http://schemas.openxmlformats.org/drawingml/2006/main">
          <a:graphicData uri="http://schemas.openxmlformats.org/drawingml/2006/table">
            <a:tbl>
              <a:tblPr firstRow="1" bandRow="0"/>
              <a:tblGrid>
                <a:gridCol w="1828800"/>
                <a:gridCol w="1828800"/>
                <a:gridCol w="1828800"/>
                <a:gridCol w="1828800"/>
                <a:gridCol w="1828800"/>
                <a:gridCol w="1828800"/>
              </a:tblGrid>
              <a:tr h="679450">
                <a:tc>
                  <a:txBody>
                    <a:bodyPr/>
                    <a:lstStyle/>
                    <a:p>
                      <a:r>
                        <a:rPr sz="1050" b="1">
                          <a:solidFill>
                            <a:srgbClr val="FFFFFF"/>
                          </a:solidFill>
                          <a:latin typeface="Helvetica Neue"/>
                          <a:ea typeface="Helvetica Neue"/>
                          <a:cs typeface="Helvetica Neue"/>
                        </a:rPr>
                        <a:t>Case</a:t>
                      </a:r>
                    </a:p>
                  </a:txBody>
                  <a:tcPr marL="91440" marR="91440" marT="45720" marB="45720">
                    <a:solidFill>
                      <a:srgbClr val="1C2733"/>
                    </a:solidFill>
                  </a:tcPr>
                </a:tc>
                <a:tc>
                  <a:txBody>
                    <a:bodyPr/>
                    <a:lstStyle/>
                    <a:p>
                      <a:r>
                        <a:rPr sz="1050" b="1">
                          <a:solidFill>
                            <a:srgbClr val="FFFFFF"/>
                          </a:solidFill>
                          <a:latin typeface="Helvetica Neue"/>
                          <a:ea typeface="Helvetica Neue"/>
                          <a:cs typeface="Helvetica Neue"/>
                        </a:rPr>
                        <a:t>Raw rollout</a:t>
                      </a:r>
                    </a:p>
                  </a:txBody>
                  <a:tcPr marL="91440" marR="91440" marT="45720" marB="45720">
                    <a:solidFill>
                      <a:srgbClr val="1C2733"/>
                    </a:solidFill>
                  </a:tcPr>
                </a:tc>
                <a:tc>
                  <a:txBody>
                    <a:bodyPr/>
                    <a:lstStyle/>
                    <a:p>
                      <a:r>
                        <a:rPr sz="1050" b="1">
                          <a:solidFill>
                            <a:srgbClr val="FFFFFF"/>
                          </a:solidFill>
                          <a:latin typeface="Helvetica Neue"/>
                          <a:ea typeface="Helvetica Neue"/>
                          <a:cs typeface="Helvetica Neue"/>
                        </a:rPr>
                        <a:t>Causal token</a:t>
                      </a:r>
                    </a:p>
                  </a:txBody>
                  <a:tcPr marL="91440" marR="91440" marT="45720" marB="45720">
                    <a:solidFill>
                      <a:srgbClr val="1C2733"/>
                    </a:solidFill>
                  </a:tcPr>
                </a:tc>
                <a:tc>
                  <a:txBody>
                    <a:bodyPr/>
                    <a:lstStyle/>
                    <a:p>
                      <a:r>
                        <a:rPr sz="1050" b="1">
                          <a:solidFill>
                            <a:srgbClr val="FFFFFF"/>
                          </a:solidFill>
                          <a:latin typeface="Helvetica Neue"/>
                          <a:ea typeface="Helvetica Neue"/>
                          <a:cs typeface="Helvetica Neue"/>
                        </a:rPr>
                        <a:t>Prompt differential</a:t>
                      </a:r>
                    </a:p>
                  </a:txBody>
                  <a:tcPr marL="91440" marR="91440" marT="45720" marB="45720">
                    <a:solidFill>
                      <a:srgbClr val="1C2733"/>
                    </a:solidFill>
                  </a:tcPr>
                </a:tc>
                <a:tc>
                  <a:txBody>
                    <a:bodyPr/>
                    <a:lstStyle/>
                    <a:p>
                      <a:r>
                        <a:rPr sz="1050" b="1">
                          <a:solidFill>
                            <a:srgbClr val="FFFFFF"/>
                          </a:solidFill>
                          <a:latin typeface="Helvetica Neue"/>
                          <a:ea typeface="Helvetica Neue"/>
                          <a:cs typeface="Helvetica Neue"/>
                        </a:rPr>
                        <a:t>Peak in target?</a:t>
                      </a:r>
                    </a:p>
                  </a:txBody>
                  <a:tcPr marL="91440" marR="91440" marT="45720" marB="45720">
                    <a:solidFill>
                      <a:srgbClr val="1C2733"/>
                    </a:solidFill>
                  </a:tcPr>
                </a:tc>
                <a:tc>
                  <a:txBody>
                    <a:bodyPr/>
                    <a:lstStyle/>
                    <a:p>
                      <a:r>
                        <a:rPr sz="1050" b="1">
                          <a:solidFill>
                            <a:srgbClr val="FFFFFF"/>
                          </a:solidFill>
                          <a:latin typeface="Helvetica Neue"/>
                          <a:ea typeface="Helvetica Neue"/>
                          <a:cs typeface="Helvetica Neue"/>
                        </a:rPr>
                        <a:t>LOO stability</a:t>
                      </a:r>
                    </a:p>
                  </a:txBody>
                  <a:tcPr marL="91440" marR="91440" marT="45720" marB="45720">
                    <a:solidFill>
                      <a:srgbClr val="1C2733"/>
                    </a:solidFill>
                  </a:tcPr>
                </a:tc>
              </a:tr>
              <a:tr h="679450">
                <a:tc>
                  <a:txBody>
                    <a:bodyPr/>
                    <a:lstStyle/>
                    <a:p>
                      <a:r>
                        <a:rPr sz="1200">
                          <a:solidFill>
                            <a:srgbClr val="10151C"/>
                          </a:solidFill>
                          <a:latin typeface="Helvetica Neue"/>
                          <a:ea typeface="Helvetica Neue"/>
                          <a:cs typeface="Helvetica Neue"/>
                        </a:rPr>
                        <a:t>Visual hit · theme</a:t>
                      </a:r>
                    </a:p>
                  </a:txBody>
                  <a:tcPr marL="91440" marR="91440" marT="45720" marB="45720">
                    <a:solidFill>
                      <a:srgbClr val="FFFFFF"/>
                    </a:solidFill>
                  </a:tcPr>
                </a:tc>
                <a:tc>
                  <a:txBody>
                    <a:bodyPr/>
                    <a:lstStyle/>
                    <a:p>
                      <a:r>
                        <a:rPr sz="1200">
                          <a:solidFill>
                            <a:srgbClr val="10151C"/>
                          </a:solidFill>
                          <a:latin typeface="Helvetica Neue"/>
                          <a:ea typeface="Helvetica Neue"/>
                          <a:cs typeface="Helvetica Neue"/>
                        </a:rPr>
                        <a:t>3.85×</a:t>
                      </a:r>
                    </a:p>
                  </a:txBody>
                  <a:tcPr marL="91440" marR="91440" marT="45720" marB="45720">
                    <a:solidFill>
                      <a:srgbClr val="FFFFFF"/>
                    </a:solidFill>
                  </a:tcPr>
                </a:tc>
                <a:tc>
                  <a:txBody>
                    <a:bodyPr/>
                    <a:lstStyle/>
                    <a:p>
                      <a:r>
                        <a:rPr sz="1200">
                          <a:solidFill>
                            <a:srgbClr val="10151C"/>
                          </a:solidFill>
                          <a:latin typeface="Helvetica Neue"/>
                          <a:ea typeface="Helvetica Neue"/>
                          <a:cs typeface="Helvetica Neue"/>
                        </a:rPr>
                        <a:t>4.82×</a:t>
                      </a:r>
                    </a:p>
                  </a:txBody>
                  <a:tcPr marL="91440" marR="91440" marT="45720" marB="45720">
                    <a:solidFill>
                      <a:srgbClr val="FFFFFF"/>
                    </a:solidFill>
                  </a:tcPr>
                </a:tc>
                <a:tc>
                  <a:txBody>
                    <a:bodyPr/>
                    <a:lstStyle/>
                    <a:p>
                      <a:r>
                        <a:rPr sz="1200">
                          <a:solidFill>
                            <a:srgbClr val="10151C"/>
                          </a:solidFill>
                          <a:latin typeface="Helvetica Neue"/>
                          <a:ea typeface="Helvetica Neue"/>
                          <a:cs typeface="Helvetica Neue"/>
                        </a:rPr>
                        <a:t>16.08×</a:t>
                      </a:r>
                    </a:p>
                  </a:txBody>
                  <a:tcPr marL="91440" marR="91440" marT="45720" marB="45720">
                    <a:solidFill>
                      <a:srgbClr val="FCE2D9"/>
                    </a:solidFill>
                  </a:tcPr>
                </a:tc>
                <a:tc>
                  <a:txBody>
                    <a:bodyPr/>
                    <a:lstStyle/>
                    <a:p>
                      <a:r>
                        <a:rPr sz="1200">
                          <a:solidFill>
                            <a:srgbClr val="10151C"/>
                          </a:solidFill>
                          <a:latin typeface="Helvetica Neue"/>
                          <a:ea typeface="Helvetica Neue"/>
                          <a:cs typeface="Helvetica Neue"/>
                        </a:rPr>
                        <a:t>YES</a:t>
                      </a:r>
                    </a:p>
                  </a:txBody>
                  <a:tcPr marL="91440" marR="91440" marT="45720" marB="45720">
                    <a:solidFill>
                      <a:srgbClr val="DFF4EA"/>
                    </a:solidFill>
                  </a:tcPr>
                </a:tc>
                <a:tc>
                  <a:txBody>
                    <a:bodyPr/>
                    <a:lstStyle/>
                    <a:p>
                      <a:r>
                        <a:rPr sz="1200">
                          <a:solidFill>
                            <a:srgbClr val="10151C"/>
                          </a:solidFill>
                          <a:latin typeface="Helvetica Neue"/>
                          <a:ea typeface="Helvetica Neue"/>
                          <a:cs typeface="Helvetica Neue"/>
                        </a:rPr>
                        <a:t>0.925 / 0.828</a:t>
                      </a:r>
                    </a:p>
                  </a:txBody>
                  <a:tcPr marL="91440" marR="91440" marT="45720" marB="45720">
                    <a:solidFill>
                      <a:srgbClr val="FFFFFF"/>
                    </a:solidFill>
                  </a:tcPr>
                </a:tc>
              </a:tr>
              <a:tr h="679450">
                <a:tc>
                  <a:txBody>
                    <a:bodyPr/>
                    <a:lstStyle/>
                    <a:p>
                      <a:r>
                        <a:rPr sz="1200">
                          <a:solidFill>
                            <a:srgbClr val="10151C"/>
                          </a:solidFill>
                          <a:latin typeface="Helvetica Neue"/>
                          <a:ea typeface="Helvetica Neue"/>
                          <a:cs typeface="Helvetica Neue"/>
                        </a:rPr>
                        <a:t>Miss · new slide</a:t>
                      </a:r>
                    </a:p>
                  </a:txBody>
                  <a:tcPr marL="91440" marR="91440" marT="45720" marB="45720">
                    <a:solidFill>
                      <a:srgbClr val="FFFFFF"/>
                    </a:solidFill>
                  </a:tcPr>
                </a:tc>
                <a:tc>
                  <a:txBody>
                    <a:bodyPr/>
                    <a:lstStyle/>
                    <a:p>
                      <a:r>
                        <a:rPr sz="1200">
                          <a:solidFill>
                            <a:srgbClr val="10151C"/>
                          </a:solidFill>
                          <a:latin typeface="Helvetica Neue"/>
                          <a:ea typeface="Helvetica Neue"/>
                          <a:cs typeface="Helvetica Neue"/>
                        </a:rPr>
                        <a:t>13.85×</a:t>
                      </a:r>
                    </a:p>
                  </a:txBody>
                  <a:tcPr marL="91440" marR="91440" marT="45720" marB="45720">
                    <a:solidFill>
                      <a:srgbClr val="FFFFFF"/>
                    </a:solidFill>
                  </a:tcPr>
                </a:tc>
                <a:tc>
                  <a:txBody>
                    <a:bodyPr/>
                    <a:lstStyle/>
                    <a:p>
                      <a:r>
                        <a:rPr sz="1200">
                          <a:solidFill>
                            <a:srgbClr val="10151C"/>
                          </a:solidFill>
                          <a:latin typeface="Helvetica Neue"/>
                          <a:ea typeface="Helvetica Neue"/>
                          <a:cs typeface="Helvetica Neue"/>
                        </a:rPr>
                        <a:t>14.68×</a:t>
                      </a:r>
                    </a:p>
                  </a:txBody>
                  <a:tcPr marL="91440" marR="91440" marT="45720" marB="45720">
                    <a:solidFill>
                      <a:srgbClr val="FFFFFF"/>
                    </a:solidFill>
                  </a:tcPr>
                </a:tc>
                <a:tc>
                  <a:txBody>
                    <a:bodyPr/>
                    <a:lstStyle/>
                    <a:p>
                      <a:r>
                        <a:rPr sz="1200">
                          <a:solidFill>
                            <a:srgbClr val="10151C"/>
                          </a:solidFill>
                          <a:latin typeface="Helvetica Neue"/>
                          <a:ea typeface="Helvetica Neue"/>
                          <a:cs typeface="Helvetica Neue"/>
                        </a:rPr>
                        <a:t>13.50×</a:t>
                      </a:r>
                    </a:p>
                  </a:txBody>
                  <a:tcPr marL="91440" marR="91440" marT="45720" marB="45720">
                    <a:solidFill>
                      <a:srgbClr val="FFFFFF"/>
                    </a:solidFill>
                  </a:tcPr>
                </a:tc>
                <a:tc>
                  <a:txBody>
                    <a:bodyPr/>
                    <a:lstStyle/>
                    <a:p>
                      <a:r>
                        <a:rPr sz="1200">
                          <a:solidFill>
                            <a:srgbClr val="10151C"/>
                          </a:solidFill>
                          <a:latin typeface="Helvetica Neue"/>
                          <a:ea typeface="Helvetica Neue"/>
                          <a:cs typeface="Helvetica Neue"/>
                        </a:rPr>
                        <a:t>NO</a:t>
                      </a:r>
                    </a:p>
                  </a:txBody>
                  <a:tcPr marL="91440" marR="91440" marT="45720" marB="45720">
                    <a:solidFill>
                      <a:srgbClr val="FCE2D9"/>
                    </a:solidFill>
                  </a:tcPr>
                </a:tc>
                <a:tc>
                  <a:txBody>
                    <a:bodyPr/>
                    <a:lstStyle/>
                    <a:p>
                      <a:r>
                        <a:rPr sz="1200">
                          <a:solidFill>
                            <a:srgbClr val="10151C"/>
                          </a:solidFill>
                          <a:latin typeface="Helvetica Neue"/>
                          <a:ea typeface="Helvetica Neue"/>
                          <a:cs typeface="Helvetica Neue"/>
                        </a:rPr>
                        <a:t>0.970 / 0.953</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7D9DD71-80CE-45A2-ABEA-CCB3723F3164}"/>
              </a:ext>
            </a:extLst>
          </p:cNvPr>
          <p:cNvSpPr>
            <a:spLocks xmlns:a="http://schemas.openxmlformats.org/drawingml/2006/main" noGrp="1"/>
          </p:cNvSpPr>
          <p:nvPr/>
        </p:nvSpPr>
        <p:spPr>
          <a:xfrm xmlns:a="http://schemas.openxmlformats.org/drawingml/2006/main">
            <a:off x="609600" y="4095750"/>
            <a:ext cx="5219700" cy="17907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9525">
            <a:solidFill>
              <a:srgbClr val="D9D4C8"/>
            </a:solidFill>
          </a:ln>
        </p:spPr>
      </p:sp>
      <p:sp>
        <p:nvSpPr>
          <p:cNvPr id="7" name="">
            <a:extLst xmlns:a="http://schemas.openxmlformats.org/drawingml/2006/main">
              <a:ext uri="{FF2B5EF4-FFF2-40B4-BE49-F238E27FC236}">
                <a16:creationId xmlns:a16="http://schemas.microsoft.com/office/drawing/2014/main" id="{AD326293-8496-4777-9924-59B023364BC8}"/>
              </a:ext>
            </a:extLst>
          </p:cNvPr>
          <p:cNvSpPr>
            <a:spLocks xmlns:a="http://schemas.openxmlformats.org/drawingml/2006/main" noGrp="1"/>
          </p:cNvSpPr>
          <p:nvPr/>
        </p:nvSpPr>
        <p:spPr>
          <a:xfrm xmlns:a="http://schemas.openxmlformats.org/drawingml/2006/main">
            <a:off x="857250" y="43243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What each baseline removes</a:t>
            </a:r>
          </a:p>
        </p:txBody>
      </p:sp>
      <p:sp>
        <p:nvSpPr>
          <p:cNvPr id="8" name="">
            <a:extLst xmlns:a="http://schemas.openxmlformats.org/drawingml/2006/main">
              <a:ext uri="{FF2B5EF4-FFF2-40B4-BE49-F238E27FC236}">
                <a16:creationId xmlns:a16="http://schemas.microsoft.com/office/drawing/2014/main" id="{29695073-57DA-439A-BEFB-66FC304CAF00}"/>
              </a:ext>
            </a:extLst>
          </p:cNvPr>
          <p:cNvSpPr>
            <a:spLocks xmlns:a="http://schemas.openxmlformats.org/drawingml/2006/main" noGrp="1"/>
          </p:cNvSpPr>
          <p:nvPr/>
        </p:nvSpPr>
        <p:spPr>
          <a:xfrm xmlns:a="http://schemas.openxmlformats.org/drawingml/2006/main">
            <a:off x="857250" y="4800600"/>
            <a:ext cx="1285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D84D3"/>
                </a:solidFill>
                <a:latin typeface="Helvetica Neue"/>
                <a:ea typeface="Helvetica Neue"/>
                <a:cs typeface="Helvetica Neue"/>
              </a:defRPr>
            </a:pPr>
            <a:r>
              <a:rPr sz="1050" b="1">
                <a:solidFill>
                  <a:srgbClr val="2D84D3"/>
                </a:solidFill>
                <a:latin typeface="Helvetica Neue"/>
                <a:ea typeface="Helvetica Neue"/>
                <a:cs typeface="Helvetica Neue"/>
              </a:rPr>
              <a:t>Causal token</a:t>
            </a:r>
          </a:p>
        </p:txBody>
      </p:sp>
      <p:sp>
        <p:nvSpPr>
          <p:cNvPr id="9" name="">
            <a:extLst xmlns:a="http://schemas.openxmlformats.org/drawingml/2006/main">
              <a:ext uri="{FF2B5EF4-FFF2-40B4-BE49-F238E27FC236}">
                <a16:creationId xmlns:a16="http://schemas.microsoft.com/office/drawing/2014/main" id="{D5EAFDD9-EAAC-48BC-AAAF-27F0076C3F05}"/>
              </a:ext>
            </a:extLst>
          </p:cNvPr>
          <p:cNvSpPr>
            <a:spLocks xmlns:a="http://schemas.openxmlformats.org/drawingml/2006/main" noGrp="1"/>
          </p:cNvSpPr>
          <p:nvPr/>
        </p:nvSpPr>
        <p:spPr>
          <a:xfrm xmlns:a="http://schemas.openxmlformats.org/drawingml/2006/main">
            <a:off x="2209800" y="48006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Generation state before x begins</a:t>
            </a:r>
          </a:p>
        </p:txBody>
      </p:sp>
      <p:sp>
        <p:nvSpPr>
          <p:cNvPr id="10" name="">
            <a:extLst xmlns:a="http://schemas.openxmlformats.org/drawingml/2006/main">
              <a:ext uri="{FF2B5EF4-FFF2-40B4-BE49-F238E27FC236}">
                <a16:creationId xmlns:a16="http://schemas.microsoft.com/office/drawing/2014/main" id="{15FB42F4-0420-4E4A-8C96-1158731F7BC9}"/>
              </a:ext>
            </a:extLst>
          </p:cNvPr>
          <p:cNvSpPr>
            <a:spLocks xmlns:a="http://schemas.openxmlformats.org/drawingml/2006/main" noGrp="1"/>
          </p:cNvSpPr>
          <p:nvPr/>
        </p:nvSpPr>
        <p:spPr>
          <a:xfrm xmlns:a="http://schemas.openxmlformats.org/drawingml/2006/main">
            <a:off x="857250" y="5219700"/>
            <a:ext cx="1285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Prompt ensemble</a:t>
            </a:r>
          </a:p>
        </p:txBody>
      </p:sp>
      <p:sp>
        <p:nvSpPr>
          <p:cNvPr id="11" name="">
            <a:extLst xmlns:a="http://schemas.openxmlformats.org/drawingml/2006/main">
              <a:ext uri="{FF2B5EF4-FFF2-40B4-BE49-F238E27FC236}">
                <a16:creationId xmlns:a16="http://schemas.microsoft.com/office/drawing/2014/main" id="{5FD95461-589B-4499-B633-0D6F3DACF519}"/>
              </a:ext>
            </a:extLst>
          </p:cNvPr>
          <p:cNvSpPr>
            <a:spLocks xmlns:a="http://schemas.openxmlformats.org/drawingml/2006/main" noGrp="1"/>
          </p:cNvSpPr>
          <p:nvPr/>
        </p:nvSpPr>
        <p:spPr>
          <a:xfrm xmlns:a="http://schemas.openxmlformats.org/drawingml/2006/main">
            <a:off x="2209800" y="52197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Image-inherent saliency under other tasks</a:t>
            </a:r>
          </a:p>
        </p:txBody>
      </p:sp>
      <p:sp>
        <p:nvSpPr>
          <p:cNvPr id="12" name="">
            <a:extLst xmlns:a="http://schemas.openxmlformats.org/drawingml/2006/main">
              <a:ext uri="{FF2B5EF4-FFF2-40B4-BE49-F238E27FC236}">
                <a16:creationId xmlns:a16="http://schemas.microsoft.com/office/drawing/2014/main" id="{331AEA18-B55F-407D-8E4B-F2BDB7B528C9}"/>
              </a:ext>
            </a:extLst>
          </p:cNvPr>
          <p:cNvSpPr>
            <a:spLocks xmlns:a="http://schemas.openxmlformats.org/drawingml/2006/main" noGrp="1"/>
          </p:cNvSpPr>
          <p:nvPr/>
        </p:nvSpPr>
        <p:spPr>
          <a:xfrm xmlns:a="http://schemas.openxmlformats.org/drawingml/2006/main">
            <a:off x="6191250" y="4095750"/>
            <a:ext cx="5391150" cy="1790700"/>
          </a:xfrm>
          <a:prstGeom xmlns:a="http://schemas.openxmlformats.org/drawingml/2006/main" prst="roundRect">
            <a:avLst>
              <a:gd name="adj" fmla="val 4255"/>
            </a:avLst>
          </a:prstGeom>
          <a:solidFill xmlns:a="http://schemas.openxmlformats.org/drawingml/2006/main">
            <a:srgbClr val="1C273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EB3C7FB-3CB3-4335-B1F2-6C93B9BE1045}"/>
              </a:ext>
            </a:extLst>
          </p:cNvPr>
          <p:cNvSpPr>
            <a:spLocks xmlns:a="http://schemas.openxmlformats.org/drawingml/2006/main" noGrp="1"/>
          </p:cNvSpPr>
          <p:nvPr/>
        </p:nvSpPr>
        <p:spPr>
          <a:xfrm xmlns:a="http://schemas.openxmlformats.org/drawingml/2006/main">
            <a:off x="6457950" y="432435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E5B249"/>
                </a:solidFill>
                <a:latin typeface="Helvetica Neue"/>
                <a:ea typeface="Helvetica Neue"/>
                <a:cs typeface="Helvetica Neue"/>
              </a:defRPr>
            </a:pPr>
            <a:r>
              <a:rPr sz="1200" b="1">
                <a:solidFill>
                  <a:srgbClr val="E5B249"/>
                </a:solidFill>
                <a:latin typeface="Helvetica Neue"/>
                <a:ea typeface="Helvetica Neue"/>
                <a:cs typeface="Helvetica Neue"/>
              </a:rPr>
              <a:t>Key caution</a:t>
            </a:r>
          </a:p>
        </p:txBody>
      </p:sp>
      <p:sp>
        <p:nvSpPr>
          <p:cNvPr id="14" name="">
            <a:extLst xmlns:a="http://schemas.openxmlformats.org/drawingml/2006/main">
              <a:ext uri="{FF2B5EF4-FFF2-40B4-BE49-F238E27FC236}">
                <a16:creationId xmlns:a16="http://schemas.microsoft.com/office/drawing/2014/main" id="{22EACBEC-5B90-49B1-BD54-57D5894F5E10}"/>
              </a:ext>
            </a:extLst>
          </p:cNvPr>
          <p:cNvSpPr>
            <a:spLocks xmlns:a="http://schemas.openxmlformats.org/drawingml/2006/main" noGrp="1"/>
          </p:cNvSpPr>
          <p:nvPr/>
        </p:nvSpPr>
        <p:spPr>
          <a:xfrm xmlns:a="http://schemas.openxmlformats.org/drawingml/2006/main">
            <a:off x="6457950" y="4733925"/>
            <a:ext cx="4629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Target lift alone is insufficient.</a:t>
            </a:r>
          </a:p>
        </p:txBody>
      </p:sp>
      <p:sp>
        <p:nvSpPr>
          <p:cNvPr id="15" name="">
            <a:extLst xmlns:a="http://schemas.openxmlformats.org/drawingml/2006/main">
              <a:ext uri="{FF2B5EF4-FFF2-40B4-BE49-F238E27FC236}">
                <a16:creationId xmlns:a16="http://schemas.microsoft.com/office/drawing/2014/main" id="{FC35788A-836B-4FC6-A066-7EAFEA23F05C}"/>
              </a:ext>
            </a:extLst>
          </p:cNvPr>
          <p:cNvSpPr>
            <a:spLocks xmlns:a="http://schemas.openxmlformats.org/drawingml/2006/main" noGrp="1"/>
          </p:cNvSpPr>
          <p:nvPr/>
        </p:nvSpPr>
        <p:spPr>
          <a:xfrm xmlns:a="http://schemas.openxmlformats.org/drawingml/2006/main">
            <a:off x="6457950" y="5172075"/>
            <a:ext cx="4438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C4CED7"/>
                </a:solidFill>
                <a:latin typeface="Helvetica Neue"/>
                <a:ea typeface="Helvetica Neue"/>
                <a:cs typeface="Helvetica Neue"/>
              </a:defRPr>
            </a:pPr>
            <a:r>
              <a:rPr sz="1200" b="0">
                <a:solidFill>
                  <a:srgbClr val="C4CED7"/>
                </a:solidFill>
                <a:latin typeface="Helvetica Neue"/>
                <a:ea typeface="Helvetica Neue"/>
                <a:cs typeface="Helvetica Neue"/>
              </a:rPr>
              <a:t>The miss has high lift because its tiny box sits near a broadly salient corner. Peak location and the overlay reveal the binding error.</a:t>
            </a:r>
          </a:p>
        </p:txBody>
      </p:sp>
      <p:sp>
        <p:nvSpPr>
          <p:cNvPr id="16" name="">
            <a:extLst xmlns:a="http://schemas.openxmlformats.org/drawingml/2006/main">
              <a:ext uri="{FF2B5EF4-FFF2-40B4-BE49-F238E27FC236}">
                <a16:creationId xmlns:a16="http://schemas.microsoft.com/office/drawing/2014/main" id="{7541422D-5296-4288-93F8-168564D655B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74741C3-340D-4A73-BB63-A84D6F65D6A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maps use value-norm cross-layer rollout; signed maps are scored on positive attribution mass</a:t>
            </a:r>
          </a:p>
        </p:txBody>
      </p:sp>
    </p:spTree>
    <p:extLst>
      <p:ext uri="{BB962C8B-B14F-4D97-AF65-F5344CB8AC3E}">
        <p14:creationId xmlns:p14="http://schemas.microsoft.com/office/powerpoint/2010/main" val="513862098"/>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45F5041-D473-4831-AF0A-D7CCAA7AC88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LAYER + HEAD ANALYSIS</a:t>
            </a:r>
          </a:p>
        </p:txBody>
      </p:sp>
      <p:sp>
        <p:nvSpPr>
          <p:cNvPr id="2" name="">
            <a:extLst xmlns:a="http://schemas.openxmlformats.org/drawingml/2006/main">
              <a:ext uri="{FF2B5EF4-FFF2-40B4-BE49-F238E27FC236}">
                <a16:creationId xmlns:a16="http://schemas.microsoft.com/office/drawing/2014/main" id="{AD9AC380-89E9-4849-93E2-C39255CF4B5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 mid–late specialization emerges only in the hit</a:t>
            </a:r>
          </a:p>
        </p:txBody>
      </p:sp>
      <p:sp>
        <p:nvSpPr>
          <p:cNvPr id="3" name="">
            <a:extLst xmlns:a="http://schemas.openxmlformats.org/drawingml/2006/main">
              <a:ext uri="{FF2B5EF4-FFF2-40B4-BE49-F238E27FC236}">
                <a16:creationId xmlns:a16="http://schemas.microsoft.com/office/drawing/2014/main" id="{3A834662-7E81-499B-97D7-475A802775C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graphicFrame>
        <p:nvGraphicFramePr>
          <p:cNvPr id="20" name="Chart"/>
          <p:cNvGraphicFramePr/>
          <p:nvPr/>
        </p:nvGraphicFramePr>
        <p:xfrm>
          <a:off xmlns:a="http://schemas.openxmlformats.org/drawingml/2006/main" x="609600" y="1466850"/>
          <a:ext xmlns:a="http://schemas.openxmlformats.org/drawingml/2006/main" cx="7239000" cy="4210050"/>
        </p:xfrm>
        <a:graphic xmlns:a="http://schemas.openxmlformats.org/drawingml/2006/main">
          <a:graphicData uri="http://schemas.openxmlformats.org/drawingml/2006/chart">
            <c:chart xmlns:r="http://schemas.openxmlformats.org/officeDocument/2006/relationships" xmlns:c="http://schemas.openxmlformats.org/drawingml/2006/chart" r:id="Rf8f53ef4bde7434a"/>
          </a:graphicData>
        </a:graphic>
      </p:graphicFrame>
      <p:sp>
        <p:nvSpPr>
          <p:cNvPr id="5" name="">
            <a:extLst xmlns:a="http://schemas.openxmlformats.org/drawingml/2006/main">
              <a:ext uri="{FF2B5EF4-FFF2-40B4-BE49-F238E27FC236}">
                <a16:creationId xmlns:a16="http://schemas.microsoft.com/office/drawing/2014/main" id="{3D84749A-A525-4DFA-AB24-AE33F1287718}"/>
              </a:ext>
            </a:extLst>
          </p:cNvPr>
          <p:cNvSpPr>
            <a:spLocks xmlns:a="http://schemas.openxmlformats.org/drawingml/2006/main" noGrp="1"/>
          </p:cNvSpPr>
          <p:nvPr/>
        </p:nvSpPr>
        <p:spPr>
          <a:xfrm xmlns:a="http://schemas.openxmlformats.org/drawingml/2006/main">
            <a:off x="8172450" y="1466850"/>
            <a:ext cx="3409950" cy="4210050"/>
          </a:xfrm>
          <a:prstGeom xmlns:a="http://schemas.openxmlformats.org/drawingml/2006/main" prst="roundRect">
            <a:avLst>
              <a:gd name="adj" fmla="val 2235"/>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E31D50A-93CC-4919-B0C7-432D124BFCCA}"/>
              </a:ext>
            </a:extLst>
          </p:cNvPr>
          <p:cNvSpPr>
            <a:spLocks xmlns:a="http://schemas.openxmlformats.org/drawingml/2006/main" noGrp="1"/>
          </p:cNvSpPr>
          <p:nvPr/>
        </p:nvSpPr>
        <p:spPr>
          <a:xfrm xmlns:a="http://schemas.openxmlformats.org/drawingml/2006/main">
            <a:off x="8439150" y="1752600"/>
            <a:ext cx="8953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9271E87-2320-4F4A-9746-39E651E4A8C2}"/>
              </a:ext>
            </a:extLst>
          </p:cNvPr>
          <p:cNvSpPr>
            <a:spLocks xmlns:a="http://schemas.openxmlformats.org/drawingml/2006/main" noGrp="1"/>
          </p:cNvSpPr>
          <p:nvPr/>
        </p:nvSpPr>
        <p:spPr>
          <a:xfrm xmlns:a="http://schemas.openxmlformats.org/drawingml/2006/main">
            <a:off x="8534400" y="17716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SUCCESS</a:t>
            </a:r>
          </a:p>
        </p:txBody>
      </p:sp>
      <p:sp>
        <p:nvSpPr>
          <p:cNvPr id="8" name="">
            <a:extLst xmlns:a="http://schemas.openxmlformats.org/drawingml/2006/main">
              <a:ext uri="{FF2B5EF4-FFF2-40B4-BE49-F238E27FC236}">
                <a16:creationId xmlns:a16="http://schemas.microsoft.com/office/drawing/2014/main" id="{EB85AAFC-3A18-404F-B75B-6B48ECF81C17}"/>
              </a:ext>
            </a:extLst>
          </p:cNvPr>
          <p:cNvSpPr>
            <a:spLocks xmlns:a="http://schemas.openxmlformats.org/drawingml/2006/main" noGrp="1"/>
          </p:cNvSpPr>
          <p:nvPr/>
        </p:nvSpPr>
        <p:spPr>
          <a:xfrm xmlns:a="http://schemas.openxmlformats.org/drawingml/2006/main">
            <a:off x="8439150" y="2247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Layer 19</a:t>
            </a:r>
          </a:p>
        </p:txBody>
      </p:sp>
      <p:sp>
        <p:nvSpPr>
          <p:cNvPr id="9" name="">
            <a:extLst xmlns:a="http://schemas.openxmlformats.org/drawingml/2006/main">
              <a:ext uri="{FF2B5EF4-FFF2-40B4-BE49-F238E27FC236}">
                <a16:creationId xmlns:a16="http://schemas.microsoft.com/office/drawing/2014/main" id="{24A4894B-1A55-420B-A3D6-62A8562678A4}"/>
              </a:ext>
            </a:extLst>
          </p:cNvPr>
          <p:cNvSpPr>
            <a:spLocks xmlns:a="http://schemas.openxmlformats.org/drawingml/2006/main" noGrp="1"/>
          </p:cNvSpPr>
          <p:nvPr/>
        </p:nvSpPr>
        <p:spPr>
          <a:xfrm xmlns:a="http://schemas.openxmlformats.org/drawingml/2006/main">
            <a:off x="8439150" y="26860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2BDAF"/>
                </a:solidFill>
                <a:latin typeface="Helvetica Neue"/>
                <a:ea typeface="Helvetica Neue"/>
                <a:cs typeface="Helvetica Neue"/>
              </a:defRPr>
            </a:pPr>
            <a:r>
              <a:rPr sz="1350" b="0">
                <a:solidFill>
                  <a:srgbClr val="F2BDAF"/>
                </a:solidFill>
                <a:latin typeface="Helvetica Neue"/>
                <a:ea typeface="Helvetica Neue"/>
                <a:cs typeface="Helvetica Neue"/>
              </a:rPr>
              <a:t>38.99× mean head lift</a:t>
            </a:r>
          </a:p>
        </p:txBody>
      </p:sp>
      <p:sp>
        <p:nvSpPr>
          <p:cNvPr id="10" name="">
            <a:extLst xmlns:a="http://schemas.openxmlformats.org/drawingml/2006/main">
              <a:ext uri="{FF2B5EF4-FFF2-40B4-BE49-F238E27FC236}">
                <a16:creationId xmlns:a16="http://schemas.microsoft.com/office/drawing/2014/main" id="{6B556D97-AABE-46F7-99F2-F71D1FA6964B}"/>
              </a:ext>
            </a:extLst>
          </p:cNvPr>
          <p:cNvSpPr>
            <a:spLocks xmlns:a="http://schemas.openxmlformats.org/drawingml/2006/main" noGrp="1"/>
          </p:cNvSpPr>
          <p:nvPr/>
        </p:nvSpPr>
        <p:spPr>
          <a:xfrm xmlns:a="http://schemas.openxmlformats.org/drawingml/2006/main">
            <a:off x="8439150" y="3200400"/>
            <a:ext cx="28765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46209AA-ADE3-4147-B9AE-62598F5D2CDA}"/>
              </a:ext>
            </a:extLst>
          </p:cNvPr>
          <p:cNvSpPr>
            <a:spLocks xmlns:a="http://schemas.openxmlformats.org/drawingml/2006/main" noGrp="1"/>
          </p:cNvSpPr>
          <p:nvPr/>
        </p:nvSpPr>
        <p:spPr>
          <a:xfrm xmlns:a="http://schemas.openxmlformats.org/drawingml/2006/main">
            <a:off x="8439150" y="344805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9FC8F0"/>
                </a:solidFill>
                <a:latin typeface="Helvetica Neue"/>
                <a:ea typeface="Helvetica Neue"/>
                <a:cs typeface="Helvetica Neue"/>
              </a:defRPr>
            </a:pPr>
            <a:r>
              <a:rPr sz="1200" b="1">
                <a:solidFill>
                  <a:srgbClr val="9FC8F0"/>
                </a:solidFill>
                <a:latin typeface="Helvetica Neue"/>
                <a:ea typeface="Helvetica Neue"/>
                <a:cs typeface="Helvetica Neue"/>
              </a:rPr>
              <a:t>Head 10 · L19</a:t>
            </a:r>
          </a:p>
        </p:txBody>
      </p:sp>
      <p:sp>
        <p:nvSpPr>
          <p:cNvPr id="12" name="">
            <a:extLst xmlns:a="http://schemas.openxmlformats.org/drawingml/2006/main">
              <a:ext uri="{FF2B5EF4-FFF2-40B4-BE49-F238E27FC236}">
                <a16:creationId xmlns:a16="http://schemas.microsoft.com/office/drawing/2014/main" id="{175D22B3-55EF-4E64-8D69-F27B17662045}"/>
              </a:ext>
            </a:extLst>
          </p:cNvPr>
          <p:cNvSpPr>
            <a:spLocks xmlns:a="http://schemas.openxmlformats.org/drawingml/2006/main" noGrp="1"/>
          </p:cNvSpPr>
          <p:nvPr/>
        </p:nvSpPr>
        <p:spPr>
          <a:xfrm xmlns:a="http://schemas.openxmlformats.org/drawingml/2006/main">
            <a:off x="8439150" y="37719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98.05×</a:t>
            </a:r>
          </a:p>
        </p:txBody>
      </p:sp>
      <p:sp>
        <p:nvSpPr>
          <p:cNvPr id="13" name="">
            <a:extLst xmlns:a="http://schemas.openxmlformats.org/drawingml/2006/main">
              <a:ext uri="{FF2B5EF4-FFF2-40B4-BE49-F238E27FC236}">
                <a16:creationId xmlns:a16="http://schemas.microsoft.com/office/drawing/2014/main" id="{4694F6C4-A622-4A87-AB47-72C7AA55EFED}"/>
              </a:ext>
            </a:extLst>
          </p:cNvPr>
          <p:cNvSpPr>
            <a:spLocks xmlns:a="http://schemas.openxmlformats.org/drawingml/2006/main" noGrp="1"/>
          </p:cNvSpPr>
          <p:nvPr/>
        </p:nvSpPr>
        <p:spPr>
          <a:xfrm xmlns:a="http://schemas.openxmlformats.org/drawingml/2006/main">
            <a:off x="8439150" y="42481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AAB6C1"/>
                </a:solidFill>
                <a:latin typeface="Helvetica Neue"/>
                <a:ea typeface="Helvetica Neue"/>
                <a:cs typeface="Helvetica Neue"/>
              </a:defRPr>
            </a:pPr>
            <a:r>
              <a:rPr sz="975" b="0">
                <a:solidFill>
                  <a:srgbClr val="AAB6C1"/>
                </a:solidFill>
                <a:latin typeface="Helvetica Neue"/>
                <a:ea typeface="Helvetica Neue"/>
                <a:cs typeface="Helvetica Neue"/>
              </a:rPr>
              <a:t>prompt-differential target lift</a:t>
            </a:r>
          </a:p>
        </p:txBody>
      </p:sp>
      <p:sp>
        <p:nvSpPr>
          <p:cNvPr id="14" name="">
            <a:extLst xmlns:a="http://schemas.openxmlformats.org/drawingml/2006/main">
              <a:ext uri="{FF2B5EF4-FFF2-40B4-BE49-F238E27FC236}">
                <a16:creationId xmlns:a16="http://schemas.microsoft.com/office/drawing/2014/main" id="{61CBC290-D1B3-480C-87F9-675304D1FCB8}"/>
              </a:ext>
            </a:extLst>
          </p:cNvPr>
          <p:cNvSpPr>
            <a:spLocks xmlns:a="http://schemas.openxmlformats.org/drawingml/2006/main" noGrp="1"/>
          </p:cNvSpPr>
          <p:nvPr/>
        </p:nvSpPr>
        <p:spPr>
          <a:xfrm xmlns:a="http://schemas.openxmlformats.org/drawingml/2006/main">
            <a:off x="8439150" y="4819650"/>
            <a:ext cx="2724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Per-head rows are direct value-norm attention; a multiplied rollout no longer has unique head identity.</a:t>
            </a:r>
          </a:p>
        </p:txBody>
      </p:sp>
      <p:sp>
        <p:nvSpPr>
          <p:cNvPr id="15" name="">
            <a:extLst xmlns:a="http://schemas.openxmlformats.org/drawingml/2006/main">
              <a:ext uri="{FF2B5EF4-FFF2-40B4-BE49-F238E27FC236}">
                <a16:creationId xmlns:a16="http://schemas.microsoft.com/office/drawing/2014/main" id="{42AF17CD-1939-455B-86C9-F5BCBFA983A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BA96959-94C1-4DFA-8223-26894675AE6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Exploratory N=2 finding: layer/head claims require replication across the frozen test set</a:t>
            </a:r>
          </a:p>
        </p:txBody>
      </p:sp>
    </p:spTree>
    <p:extLst>
      <p:ext uri="{BB962C8B-B14F-4D97-AF65-F5344CB8AC3E}">
        <p14:creationId xmlns:p14="http://schemas.microsoft.com/office/powerpoint/2010/main" val="1399156711"/>
      </p:ext>
    </p:extLst>
  </p:cSld>
</p:sld>
</file>

<file path=ppt/slides/slide8.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827C7AD1-48F9-4558-8896-6863A35DEAD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EFF23360-3762-4365-8659-FF054C66FA0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What we can say—and what to test next</a:t>
            </a:r>
          </a:p>
        </p:txBody>
      </p:sp>
      <p:sp>
        <p:nvSpPr>
          <p:cNvPr id="3" name="">
            <a:extLst xmlns:a="http://schemas.openxmlformats.org/drawingml/2006/main">
              <a:ext uri="{FF2B5EF4-FFF2-40B4-BE49-F238E27FC236}">
                <a16:creationId xmlns:a16="http://schemas.microsoft.com/office/drawing/2014/main" id="{5D609592-B2A3-4D1C-9CCC-5EF5AF07D13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EB7ED8E4-302C-4CED-A0AB-724CCCAA1A2A}"/>
              </a:ext>
            </a:extLst>
          </p:cNvPr>
          <p:cNvSpPr>
            <a:spLocks xmlns:a="http://schemas.openxmlformats.org/drawingml/2006/main" noGrp="1"/>
          </p:cNvSpPr>
          <p:nvPr/>
        </p:nvSpPr>
        <p:spPr>
          <a:xfrm xmlns:a="http://schemas.openxmlformats.org/drawingml/2006/main">
            <a:off x="609600" y="14668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569B612-3519-4A02-B13A-BFD2EE128359}"/>
              </a:ext>
            </a:extLst>
          </p:cNvPr>
          <p:cNvSpPr>
            <a:spLocks xmlns:a="http://schemas.openxmlformats.org/drawingml/2006/main" noGrp="1"/>
          </p:cNvSpPr>
          <p:nvPr/>
        </p:nvSpPr>
        <p:spPr>
          <a:xfrm xmlns:a="http://schemas.openxmlformats.org/drawingml/2006/main">
            <a:off x="704850" y="1485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069566C4-666E-4D21-BA8F-75562EC0FA46}"/>
              </a:ext>
            </a:extLst>
          </p:cNvPr>
          <p:cNvSpPr>
            <a:spLocks xmlns:a="http://schemas.openxmlformats.org/drawingml/2006/main" noGrp="1"/>
          </p:cNvSpPr>
          <p:nvPr/>
        </p:nvSpPr>
        <p:spPr>
          <a:xfrm xmlns:a="http://schemas.openxmlformats.org/drawingml/2006/main">
            <a:off x="1314450" y="1476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Baseline choice is substantive</a:t>
            </a:r>
          </a:p>
        </p:txBody>
      </p:sp>
      <p:sp>
        <p:nvSpPr>
          <p:cNvPr id="7" name="">
            <a:extLst xmlns:a="http://schemas.openxmlformats.org/drawingml/2006/main">
              <a:ext uri="{FF2B5EF4-FFF2-40B4-BE49-F238E27FC236}">
                <a16:creationId xmlns:a16="http://schemas.microsoft.com/office/drawing/2014/main" id="{76014A58-A51B-4E80-9852-98713EEEF9AC}"/>
              </a:ext>
            </a:extLst>
          </p:cNvPr>
          <p:cNvSpPr>
            <a:spLocks xmlns:a="http://schemas.openxmlformats.org/drawingml/2006/main" noGrp="1"/>
          </p:cNvSpPr>
          <p:nvPr/>
        </p:nvSpPr>
        <p:spPr>
          <a:xfrm xmlns:a="http://schemas.openxmlformats.org/drawingml/2006/main">
            <a:off x="1314450" y="1800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Prompt controls exposed target-specific routing that raw rollout hid.</a:t>
            </a:r>
          </a:p>
        </p:txBody>
      </p:sp>
      <p:sp>
        <p:nvSpPr>
          <p:cNvPr id="8" name="">
            <a:extLst xmlns:a="http://schemas.openxmlformats.org/drawingml/2006/main">
              <a:ext uri="{FF2B5EF4-FFF2-40B4-BE49-F238E27FC236}">
                <a16:creationId xmlns:a16="http://schemas.microsoft.com/office/drawing/2014/main" id="{8181441D-C932-4BD7-B993-A78DFE684B03}"/>
              </a:ext>
            </a:extLst>
          </p:cNvPr>
          <p:cNvSpPr>
            <a:spLocks xmlns:a="http://schemas.openxmlformats.org/drawingml/2006/main" noGrp="1"/>
          </p:cNvSpPr>
          <p:nvPr/>
        </p:nvSpPr>
        <p:spPr>
          <a:xfrm xmlns:a="http://schemas.openxmlformats.org/drawingml/2006/main">
            <a:off x="609600" y="25717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DCB6843-6109-43A2-9C5D-501DDCC04AFD}"/>
              </a:ext>
            </a:extLst>
          </p:cNvPr>
          <p:cNvSpPr>
            <a:spLocks xmlns:a="http://schemas.openxmlformats.org/drawingml/2006/main" noGrp="1"/>
          </p:cNvSpPr>
          <p:nvPr/>
        </p:nvSpPr>
        <p:spPr>
          <a:xfrm xmlns:a="http://schemas.openxmlformats.org/drawingml/2006/main">
            <a:off x="704850" y="2590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706D9B33-7313-4B3E-ADBD-9CB669BA266D}"/>
              </a:ext>
            </a:extLst>
          </p:cNvPr>
          <p:cNvSpPr>
            <a:spLocks xmlns:a="http://schemas.openxmlformats.org/drawingml/2006/main" noGrp="1"/>
          </p:cNvSpPr>
          <p:nvPr/>
        </p:nvSpPr>
        <p:spPr>
          <a:xfrm xmlns:a="http://schemas.openxmlformats.org/drawingml/2006/main">
            <a:off x="1314450" y="2581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The miss is a binding failure</a:t>
            </a:r>
          </a:p>
        </p:txBody>
      </p:sp>
      <p:sp>
        <p:nvSpPr>
          <p:cNvPr id="11" name="">
            <a:extLst xmlns:a="http://schemas.openxmlformats.org/drawingml/2006/main">
              <a:ext uri="{FF2B5EF4-FFF2-40B4-BE49-F238E27FC236}">
                <a16:creationId xmlns:a16="http://schemas.microsoft.com/office/drawing/2014/main" id="{AFC283CE-700F-4702-91D2-3998A726E729}"/>
              </a:ext>
            </a:extLst>
          </p:cNvPr>
          <p:cNvSpPr>
            <a:spLocks xmlns:a="http://schemas.openxmlformats.org/drawingml/2006/main" noGrp="1"/>
          </p:cNvSpPr>
          <p:nvPr/>
        </p:nvSpPr>
        <p:spPr>
          <a:xfrm xmlns:a="http://schemas.openxmlformats.org/drawingml/2006/main">
            <a:off x="1314450" y="2905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task region is found; the precise toolbar affordance is not.</a:t>
            </a:r>
          </a:p>
        </p:txBody>
      </p:sp>
      <p:sp>
        <p:nvSpPr>
          <p:cNvPr id="12" name="">
            <a:extLst xmlns:a="http://schemas.openxmlformats.org/drawingml/2006/main">
              <a:ext uri="{FF2B5EF4-FFF2-40B4-BE49-F238E27FC236}">
                <a16:creationId xmlns:a16="http://schemas.microsoft.com/office/drawing/2014/main" id="{9A128380-9A6E-4712-8BC1-067F82118D13}"/>
              </a:ext>
            </a:extLst>
          </p:cNvPr>
          <p:cNvSpPr>
            <a:spLocks xmlns:a="http://schemas.openxmlformats.org/drawingml/2006/main" noGrp="1"/>
          </p:cNvSpPr>
          <p:nvPr/>
        </p:nvSpPr>
        <p:spPr>
          <a:xfrm xmlns:a="http://schemas.openxmlformats.org/drawingml/2006/main">
            <a:off x="609600" y="36766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3E1CC77-4944-4AC1-AD76-1A7F9FADE4DD}"/>
              </a:ext>
            </a:extLst>
          </p:cNvPr>
          <p:cNvSpPr>
            <a:spLocks xmlns:a="http://schemas.openxmlformats.org/drawingml/2006/main" noGrp="1"/>
          </p:cNvSpPr>
          <p:nvPr/>
        </p:nvSpPr>
        <p:spPr>
          <a:xfrm xmlns:a="http://schemas.openxmlformats.org/drawingml/2006/main">
            <a:off x="704850" y="36957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E507E352-252C-4B21-AD0E-E18D4693201C}"/>
              </a:ext>
            </a:extLst>
          </p:cNvPr>
          <p:cNvSpPr>
            <a:spLocks xmlns:a="http://schemas.openxmlformats.org/drawingml/2006/main" noGrp="1"/>
          </p:cNvSpPr>
          <p:nvPr/>
        </p:nvSpPr>
        <p:spPr>
          <a:xfrm xmlns:a="http://schemas.openxmlformats.org/drawingml/2006/main">
            <a:off x="1314450" y="36861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Layer 19 is a testable hypothesis</a:t>
            </a:r>
          </a:p>
        </p:txBody>
      </p:sp>
      <p:sp>
        <p:nvSpPr>
          <p:cNvPr id="15" name="">
            <a:extLst xmlns:a="http://schemas.openxmlformats.org/drawingml/2006/main">
              <a:ext uri="{FF2B5EF4-FFF2-40B4-BE49-F238E27FC236}">
                <a16:creationId xmlns:a16="http://schemas.microsoft.com/office/drawing/2014/main" id="{1410B590-E9E0-4313-90AB-5CF1DD0F6113}"/>
              </a:ext>
            </a:extLst>
          </p:cNvPr>
          <p:cNvSpPr>
            <a:spLocks xmlns:a="http://schemas.openxmlformats.org/drawingml/2006/main" noGrp="1"/>
          </p:cNvSpPr>
          <p:nvPr/>
        </p:nvSpPr>
        <p:spPr>
          <a:xfrm xmlns:a="http://schemas.openxmlformats.org/drawingml/2006/main">
            <a:off x="1314450" y="40100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Intervene or ablate; do not infer causality from attention alone.</a:t>
            </a:r>
          </a:p>
        </p:txBody>
      </p:sp>
      <p:sp>
        <p:nvSpPr>
          <p:cNvPr id="16" name="">
            <a:extLst xmlns:a="http://schemas.openxmlformats.org/drawingml/2006/main">
              <a:ext uri="{FF2B5EF4-FFF2-40B4-BE49-F238E27FC236}">
                <a16:creationId xmlns:a16="http://schemas.microsoft.com/office/drawing/2014/main" id="{D8532114-C16B-40CD-93D1-B286A97819B0}"/>
              </a:ext>
            </a:extLst>
          </p:cNvPr>
          <p:cNvSpPr>
            <a:spLocks xmlns:a="http://schemas.openxmlformats.org/drawingml/2006/main" noGrp="1"/>
          </p:cNvSpPr>
          <p:nvPr/>
        </p:nvSpPr>
        <p:spPr>
          <a:xfrm xmlns:a="http://schemas.openxmlformats.org/drawingml/2006/main">
            <a:off x="6153150" y="1390650"/>
            <a:ext cx="5429250" cy="3771900"/>
          </a:xfrm>
          <a:prstGeom xmlns:a="http://schemas.openxmlformats.org/drawingml/2006/main" prst="roundRect">
            <a:avLst>
              <a:gd name="adj" fmla="val 2020"/>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54754C0-3969-4C9D-9C7C-E3BC1669F6D9}"/>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CE4831B8-E79A-4EBD-A095-3525034957FC}"/>
              </a:ext>
            </a:extLst>
          </p:cNvPr>
          <p:cNvSpPr>
            <a:spLocks xmlns:a="http://schemas.openxmlformats.org/drawingml/2006/main" noGrp="1"/>
          </p:cNvSpPr>
          <p:nvPr/>
        </p:nvSpPr>
        <p:spPr>
          <a:xfrm xmlns:a="http://schemas.openxmlformats.org/drawingml/2006/main">
            <a:off x="6438900" y="2095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1. Start on raw rollout</a:t>
            </a:r>
          </a:p>
        </p:txBody>
      </p:sp>
      <p:sp>
        <p:nvSpPr>
          <p:cNvPr id="19" name="">
            <a:extLst xmlns:a="http://schemas.openxmlformats.org/drawingml/2006/main">
              <a:ext uri="{FF2B5EF4-FFF2-40B4-BE49-F238E27FC236}">
                <a16:creationId xmlns:a16="http://schemas.microsoft.com/office/drawing/2014/main" id="{8EE19E79-97AF-4E8F-AAC6-E3B01673AEF0}"/>
              </a:ext>
            </a:extLst>
          </p:cNvPr>
          <p:cNvSpPr>
            <a:spLocks xmlns:a="http://schemas.openxmlformats.org/drawingml/2006/main" noGrp="1"/>
          </p:cNvSpPr>
          <p:nvPr/>
        </p:nvSpPr>
        <p:spPr>
          <a:xfrm xmlns:a="http://schemas.openxmlformats.org/drawingml/2006/main">
            <a:off x="6686550" y="241935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Generic corner saliency dominates.</a:t>
            </a:r>
          </a:p>
        </p:txBody>
      </p:sp>
      <p:sp>
        <p:nvSpPr>
          <p:cNvPr id="20" name="">
            <a:extLst xmlns:a="http://schemas.openxmlformats.org/drawingml/2006/main">
              <a:ext uri="{FF2B5EF4-FFF2-40B4-BE49-F238E27FC236}">
                <a16:creationId xmlns:a16="http://schemas.microsoft.com/office/drawing/2014/main" id="{6D4BED91-58C5-4A77-A970-E144D26DD985}"/>
              </a:ext>
            </a:extLst>
          </p:cNvPr>
          <p:cNvSpPr>
            <a:spLocks xmlns:a="http://schemas.openxmlformats.org/drawingml/2006/main" noGrp="1"/>
          </p:cNvSpPr>
          <p:nvPr/>
        </p:nvSpPr>
        <p:spPr>
          <a:xfrm xmlns:a="http://schemas.openxmlformats.org/drawingml/2006/main">
            <a:off x="6438900" y="28575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2. Switch to target − prompt baseline</a:t>
            </a:r>
          </a:p>
        </p:txBody>
      </p:sp>
      <p:sp>
        <p:nvSpPr>
          <p:cNvPr id="21" name="">
            <a:extLst xmlns:a="http://schemas.openxmlformats.org/drawingml/2006/main">
              <a:ext uri="{FF2B5EF4-FFF2-40B4-BE49-F238E27FC236}">
                <a16:creationId xmlns:a16="http://schemas.microsoft.com/office/drawing/2014/main" id="{BEB9E65D-EA19-4E75-B78D-30E864AB0DA4}"/>
              </a:ext>
            </a:extLst>
          </p:cNvPr>
          <p:cNvSpPr>
            <a:spLocks xmlns:a="http://schemas.openxmlformats.org/drawingml/2006/main" noGrp="1"/>
          </p:cNvSpPr>
          <p:nvPr/>
        </p:nvSpPr>
        <p:spPr>
          <a:xfrm xmlns:a="http://schemas.openxmlformats.org/drawingml/2006/main">
            <a:off x="6686550" y="318135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Peak moves into the success target.</a:t>
            </a:r>
          </a:p>
        </p:txBody>
      </p:sp>
      <p:sp>
        <p:nvSpPr>
          <p:cNvPr id="22" name="">
            <a:extLst xmlns:a="http://schemas.openxmlformats.org/drawingml/2006/main">
              <a:ext uri="{FF2B5EF4-FFF2-40B4-BE49-F238E27FC236}">
                <a16:creationId xmlns:a16="http://schemas.microsoft.com/office/drawing/2014/main" id="{CE727795-8A94-4BD6-8AF3-A055504E2397}"/>
              </a:ext>
            </a:extLst>
          </p:cNvPr>
          <p:cNvSpPr>
            <a:spLocks xmlns:a="http://schemas.openxmlformats.org/drawingml/2006/main" noGrp="1"/>
          </p:cNvSpPr>
          <p:nvPr/>
        </p:nvSpPr>
        <p:spPr>
          <a:xfrm xmlns:a="http://schemas.openxmlformats.org/drawingml/2006/main">
            <a:off x="6438900" y="36195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3. Sort heads by prompt difference</a:t>
            </a:r>
          </a:p>
        </p:txBody>
      </p:sp>
      <p:sp>
        <p:nvSpPr>
          <p:cNvPr id="23" name="">
            <a:extLst xmlns:a="http://schemas.openxmlformats.org/drawingml/2006/main">
              <a:ext uri="{FF2B5EF4-FFF2-40B4-BE49-F238E27FC236}">
                <a16:creationId xmlns:a16="http://schemas.microsoft.com/office/drawing/2014/main" id="{170E22FA-5E5E-445A-8499-8A4AE6597E54}"/>
              </a:ext>
            </a:extLst>
          </p:cNvPr>
          <p:cNvSpPr>
            <a:spLocks xmlns:a="http://schemas.openxmlformats.org/drawingml/2006/main" noGrp="1"/>
          </p:cNvSpPr>
          <p:nvPr/>
        </p:nvSpPr>
        <p:spPr>
          <a:xfrm xmlns:a="http://schemas.openxmlformats.org/drawingml/2006/main">
            <a:off x="6686550" y="394335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Layer 19 / head 10 rises to the top.</a:t>
            </a:r>
          </a:p>
        </p:txBody>
      </p:sp>
      <p:sp>
        <p:nvSpPr>
          <p:cNvPr id="24" name="">
            <a:extLst xmlns:a="http://schemas.openxmlformats.org/drawingml/2006/main">
              <a:ext uri="{FF2B5EF4-FFF2-40B4-BE49-F238E27FC236}">
                <a16:creationId xmlns:a16="http://schemas.microsoft.com/office/drawing/2014/main" id="{E688DDE0-6802-47F6-B3DC-F5282F553AC0}"/>
              </a:ext>
            </a:extLst>
          </p:cNvPr>
          <p:cNvSpPr>
            <a:spLocks xmlns:a="http://schemas.openxmlformats.org/drawingml/2006/main" noGrp="1"/>
          </p:cNvSpPr>
          <p:nvPr/>
        </p:nvSpPr>
        <p:spPr>
          <a:xfrm xmlns:a="http://schemas.openxmlformats.org/drawingml/2006/main">
            <a:off x="6438900" y="4381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4. Open the miss</a:t>
            </a:r>
          </a:p>
        </p:txBody>
      </p:sp>
      <p:sp>
        <p:nvSpPr>
          <p:cNvPr id="25" name="">
            <a:extLst xmlns:a="http://schemas.openxmlformats.org/drawingml/2006/main">
              <a:ext uri="{FF2B5EF4-FFF2-40B4-BE49-F238E27FC236}">
                <a16:creationId xmlns:a16="http://schemas.microsoft.com/office/drawing/2014/main" id="{81E6FDF7-0860-43C7-B3CE-EB30C53B33BF}"/>
              </a:ext>
            </a:extLst>
          </p:cNvPr>
          <p:cNvSpPr>
            <a:spLocks xmlns:a="http://schemas.openxmlformats.org/drawingml/2006/main" noGrp="1"/>
          </p:cNvSpPr>
          <p:nvPr/>
        </p:nvSpPr>
        <p:spPr>
          <a:xfrm xmlns:a="http://schemas.openxmlformats.org/drawingml/2006/main">
            <a:off x="6686550" y="470535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Show region-level success but click-level failure.</a:t>
            </a:r>
          </a:p>
        </p:txBody>
      </p:sp>
      <p:sp>
        <p:nvSpPr>
          <p:cNvPr id="26" name="">
            <a:extLst xmlns:a="http://schemas.openxmlformats.org/drawingml/2006/main">
              <a:ext uri="{FF2B5EF4-FFF2-40B4-BE49-F238E27FC236}">
                <a16:creationId xmlns:a16="http://schemas.microsoft.com/office/drawing/2014/main" id="{BF551B3C-6F2A-4B99-A9CE-7A3CCF542609}"/>
              </a:ext>
            </a:extLst>
          </p:cNvPr>
          <p:cNvSpPr>
            <a:spLocks xmlns:a="http://schemas.openxmlformats.org/drawingml/2006/main" noGrp="1"/>
          </p:cNvSpPr>
          <p:nvPr/>
        </p:nvSpPr>
        <p:spPr>
          <a:xfrm xmlns:a="http://schemas.openxmlformats.org/drawingml/2006/main">
            <a:off x="609600" y="5486400"/>
            <a:ext cx="10972800" cy="590550"/>
          </a:xfrm>
          <a:prstGeom xmlns:a="http://schemas.openxmlformats.org/drawingml/2006/main" prst="roundRect">
            <a:avLst>
              <a:gd name="adj" fmla="val 12903"/>
            </a:avLst>
          </a:prstGeom>
          <a:solidFill xmlns:a="http://schemas.openxmlformats.org/drawingml/2006/main">
            <a:srgbClr val="202C3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D18101E-E4DC-4003-99A3-3291DC087227}"/>
              </a:ext>
            </a:extLst>
          </p:cNvPr>
          <p:cNvSpPr>
            <a:spLocks xmlns:a="http://schemas.openxmlformats.org/drawingml/2006/main" noGrp="1"/>
          </p:cNvSpPr>
          <p:nvPr/>
        </p:nvSpPr>
        <p:spPr>
          <a:xfrm xmlns:a="http://schemas.openxmlformats.org/drawingml/2006/main">
            <a:off x="857250" y="5629275"/>
            <a:ext cx="10458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Next: intervention-based validation across the frozen ScreenSpot-Pro split</a:t>
            </a:r>
          </a:p>
        </p:txBody>
      </p:sp>
      <p:sp>
        <p:nvSpPr>
          <p:cNvPr id="28" name="">
            <a:extLst xmlns:a="http://schemas.openxmlformats.org/drawingml/2006/main">
              <a:ext uri="{FF2B5EF4-FFF2-40B4-BE49-F238E27FC236}">
                <a16:creationId xmlns:a16="http://schemas.microsoft.com/office/drawing/2014/main" id="{E109EC82-394A-4E8B-969F-FD50D4B4219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A1783D3-E4F9-4E14-8F9B-0361F95FC7A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data/attributions/screenspot-powerpoint_windows_{59,48}/viewer.html · code + docs in repository</a:t>
            </a:r>
          </a:p>
        </p:txBody>
      </p:sp>
    </p:spTree>
    <p:extLst>
      <p:ext uri="{BB962C8B-B14F-4D97-AF65-F5344CB8AC3E}">
        <p14:creationId xmlns:p14="http://schemas.microsoft.com/office/powerpoint/2010/main" val="11683074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2026-09-20T15:15:40.1590000Z</dcterms:created>
  <dcterms:modified xsi:type="dcterms:W3CDTF">2026-09-20T15:15:40.1590000Z</dcterms:modified>
</coreProperties>
</file>